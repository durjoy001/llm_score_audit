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812" r:id="rId4"/>
    <p:sldId id="795" r:id="rId5"/>
    <p:sldId id="796" r:id="rId6"/>
    <p:sldId id="283" r:id="rId7"/>
    <p:sldId id="801" r:id="rId8"/>
    <p:sldId id="263" r:id="rId9"/>
    <p:sldId id="793" r:id="rId10"/>
    <p:sldId id="799" r:id="rId11"/>
    <p:sldId id="813" r:id="rId12"/>
    <p:sldId id="295" r:id="rId13"/>
    <p:sldId id="276" r:id="rId14"/>
    <p:sldId id="264" r:id="rId15"/>
    <p:sldId id="810" r:id="rId16"/>
    <p:sldId id="811" r:id="rId17"/>
    <p:sldId id="272" r:id="rId18"/>
    <p:sldId id="274" r:id="rId19"/>
    <p:sldId id="271" r:id="rId20"/>
    <p:sldId id="266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CCFF"/>
    <a:srgbClr val="9966FF"/>
    <a:srgbClr val="FFFF99"/>
    <a:srgbClr val="FFFFFE"/>
    <a:srgbClr val="FFFF66"/>
    <a:srgbClr val="E1C49A"/>
    <a:srgbClr val="FDF9EE"/>
    <a:srgbClr val="A8825C"/>
    <a:srgbClr val="B28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5E6"/>
          </a:solidFill>
        </a:fill>
      </a:tcStyle>
    </a:wholeTbl>
    <a:band2H>
      <a:tcTxStyle/>
      <a:tcStyle>
        <a:tcBdr/>
        <a:fill>
          <a:solidFill>
            <a:srgbClr val="E6EB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4CA"/>
          </a:solidFill>
        </a:fill>
      </a:tcStyle>
    </a:wholeTbl>
    <a:band2H>
      <a:tcTxStyle/>
      <a:tcStyle>
        <a:tcBdr/>
        <a:fill>
          <a:solidFill>
            <a:srgbClr val="E7F2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CBD6"/>
          </a:solidFill>
        </a:fill>
      </a:tcStyle>
    </a:wholeTbl>
    <a:band2H>
      <a:tcTxStyle/>
      <a:tcStyle>
        <a:tcBdr/>
        <a:fill>
          <a:solidFill>
            <a:srgbClr val="F6E7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364" autoAdjust="0"/>
  </p:normalViewPr>
  <p:slideViewPr>
    <p:cSldViewPr snapToGrid="0">
      <p:cViewPr varScale="1">
        <p:scale>
          <a:sx n="58" d="100"/>
          <a:sy n="58" d="100"/>
        </p:scale>
        <p:origin x="426" y="10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9" d="100"/>
        <a:sy n="2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Flora\Working%20Record\QA%20Team%20Training\Steve\&#23565;&#22806;QMS%20presentation%20file\DPPM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3.9446569063645652E-2"/>
          <c:y val="0.23203962152530741"/>
          <c:w val="0.94400221102325899"/>
          <c:h val="0.6005205119942685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DPPM</c:v>
                </c:pt>
              </c:strCache>
            </c:strRef>
          </c:tx>
          <c:spPr>
            <a:ln w="57150">
              <a:solidFill>
                <a:srgbClr val="F8BA00">
                  <a:lumMod val="75000"/>
                </a:srgbClr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 H1 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2.2000000000000002</c:v>
                </c:pt>
                <c:pt idx="1">
                  <c:v>4.3</c:v>
                </c:pt>
                <c:pt idx="2">
                  <c:v>3.7</c:v>
                </c:pt>
                <c:pt idx="3">
                  <c:v>4.0999999999999996</c:v>
                </c:pt>
                <c:pt idx="4">
                  <c:v>3.5</c:v>
                </c:pt>
                <c:pt idx="5">
                  <c:v>2.6</c:v>
                </c:pt>
                <c:pt idx="6">
                  <c:v>3</c:v>
                </c:pt>
                <c:pt idx="7">
                  <c:v>2.7</c:v>
                </c:pt>
                <c:pt idx="8">
                  <c:v>2.5</c:v>
                </c:pt>
                <c:pt idx="9">
                  <c:v>2</c:v>
                </c:pt>
                <c:pt idx="10">
                  <c:v>1.45</c:v>
                </c:pt>
                <c:pt idx="11">
                  <c:v>1.6900000000000033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48-44C1-8422-1A2ED6F3F8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Industrial market and Japan market required DPPM &lt; 100
</c:v>
                </c:pt>
              </c:strCache>
            </c:strRef>
          </c:tx>
          <c:spPr>
            <a:ln w="76200" cmpd="sng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 H1 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48-44C1-8422-1A2ED6F3F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574560272"/>
        <c:axId val="-1574565712"/>
      </c:lineChart>
      <c:catAx>
        <c:axId val="-15745602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</c:spPr>
        <c:txPr>
          <a:bodyPr rot="-2700000"/>
          <a:lstStyle/>
          <a:p>
            <a:pPr>
              <a:defRPr sz="2000"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pPr>
            <a:endParaRPr lang="zh-CN"/>
          </a:p>
        </c:txPr>
        <c:crossAx val="-1574565712"/>
        <c:crosses val="autoZero"/>
        <c:auto val="1"/>
        <c:lblAlgn val="ctr"/>
        <c:lblOffset val="100"/>
        <c:noMultiLvlLbl val="0"/>
      </c:catAx>
      <c:valAx>
        <c:axId val="-1574565712"/>
        <c:scaling>
          <c:orientation val="minMax"/>
          <c:max val="10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aseline="0">
                <a:solidFill>
                  <a:schemeClr val="tx2">
                    <a:lumMod val="20000"/>
                    <a:lumOff val="80000"/>
                  </a:schemeClr>
                </a:solidFill>
              </a:defRPr>
            </a:pPr>
            <a:endParaRPr lang="zh-CN"/>
          </a:p>
        </c:txPr>
        <c:crossAx val="-15745602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9003899360546663"/>
          <c:y val="0.28196045313094198"/>
          <c:w val="0.40395483085289952"/>
          <c:h val="0.3599495286688188"/>
        </c:manualLayout>
      </c:layout>
      <c:overlay val="0"/>
      <c:txPr>
        <a:bodyPr/>
        <a:lstStyle/>
        <a:p>
          <a:pPr>
            <a:defRPr sz="2000" baseline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2100" baseline="0">
          <a:latin typeface="Microsoft JhengHei" pitchFamily="34" charset="-120"/>
          <a:ea typeface="Microsoft JhengHei" pitchFamily="34" charset="-120"/>
        </a:defRPr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3200982770156979E-2"/>
          <c:y val="2.6863212543326707E-2"/>
          <c:w val="0.93829016142545929"/>
          <c:h val="0.90377026294905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整体准时交货达成率
Overall CSD meet%</c:v>
                </c:pt>
              </c:strCache>
            </c:strRef>
          </c:tx>
          <c:spPr>
            <a:ln w="124460" cap="rnd" cmpd="sng" algn="ctr">
              <a:solidFill>
                <a:srgbClr val="A37B47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</c:numCache>
            </c:numRef>
          </c:cat>
          <c:val>
            <c:numRef>
              <c:f>Sheet1!$B$2:$B$13</c:f>
              <c:numCache>
                <c:formatCode>0%</c:formatCode>
                <c:ptCount val="12"/>
                <c:pt idx="0">
                  <c:v>0.84000000000000064</c:v>
                </c:pt>
                <c:pt idx="1">
                  <c:v>0.77000000000000079</c:v>
                </c:pt>
                <c:pt idx="2">
                  <c:v>0.88</c:v>
                </c:pt>
                <c:pt idx="3">
                  <c:v>0.88</c:v>
                </c:pt>
                <c:pt idx="4">
                  <c:v>0.87000000000000066</c:v>
                </c:pt>
                <c:pt idx="5">
                  <c:v>0.83000000000000063</c:v>
                </c:pt>
                <c:pt idx="6">
                  <c:v>0.81</c:v>
                </c:pt>
                <c:pt idx="7">
                  <c:v>0.73000000000000065</c:v>
                </c:pt>
                <c:pt idx="8">
                  <c:v>0.69000000000000061</c:v>
                </c:pt>
                <c:pt idx="9">
                  <c:v>0.76000000000000079</c:v>
                </c:pt>
                <c:pt idx="10">
                  <c:v>0.68</c:v>
                </c:pt>
                <c:pt idx="11">
                  <c:v>0.83000000000000063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16-4C5F-9F0F-EAFD8F7291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有需求预测订单准时交货达成率
Green order CSD meet%</c:v>
                </c:pt>
              </c:strCache>
            </c:strRef>
          </c:tx>
          <c:spPr>
            <a:ln w="95175" cap="rnd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</c:numCache>
            </c:numRef>
          </c:cat>
          <c:val>
            <c:numRef>
              <c:f>Sheet1!$C$2:$C$13</c:f>
              <c:numCache>
                <c:formatCode>0%</c:formatCode>
                <c:ptCount val="12"/>
                <c:pt idx="0">
                  <c:v>0.95000000000000062</c:v>
                </c:pt>
                <c:pt idx="1">
                  <c:v>0.87000000000000066</c:v>
                </c:pt>
                <c:pt idx="2">
                  <c:v>0.97000000000000064</c:v>
                </c:pt>
                <c:pt idx="3">
                  <c:v>0.97000000000000064</c:v>
                </c:pt>
                <c:pt idx="4">
                  <c:v>0.96000000000000063</c:v>
                </c:pt>
                <c:pt idx="5">
                  <c:v>0.96000000000000063</c:v>
                </c:pt>
                <c:pt idx="6">
                  <c:v>0.96000000000000063</c:v>
                </c:pt>
                <c:pt idx="7">
                  <c:v>0.92</c:v>
                </c:pt>
                <c:pt idx="8">
                  <c:v>0.83000000000000063</c:v>
                </c:pt>
                <c:pt idx="9">
                  <c:v>0.94000000000000061</c:v>
                </c:pt>
                <c:pt idx="10">
                  <c:v>0.74000000000000066</c:v>
                </c:pt>
                <c:pt idx="11">
                  <c:v>0.86000000000000065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16-4C5F-9F0F-EAFD8F7291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业界平均准时交货达成率
Fabless competitor average CSD meet% </c:v>
                </c:pt>
              </c:strCache>
            </c:strRef>
          </c:tx>
          <c:spPr>
            <a:ln w="102497" cap="rnd" cmpd="sng" algn="ctr">
              <a:solidFill>
                <a:schemeClr val="accent5">
                  <a:lumMod val="20000"/>
                  <a:lumOff val="8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</c:numCache>
            </c:numRef>
          </c:cat>
          <c:val>
            <c:numRef>
              <c:f>Sheet1!$D$2:$D$13</c:f>
              <c:numCache>
                <c:formatCode>0%</c:formatCode>
                <c:ptCount val="12"/>
                <c:pt idx="0">
                  <c:v>0.69000000000000061</c:v>
                </c:pt>
                <c:pt idx="1">
                  <c:v>0.69000000000000061</c:v>
                </c:pt>
                <c:pt idx="2">
                  <c:v>0.69000000000000061</c:v>
                </c:pt>
                <c:pt idx="3">
                  <c:v>0.69000000000000061</c:v>
                </c:pt>
                <c:pt idx="4">
                  <c:v>0.69000000000000061</c:v>
                </c:pt>
                <c:pt idx="5">
                  <c:v>0.69000000000000061</c:v>
                </c:pt>
                <c:pt idx="6">
                  <c:v>0.69000000000000061</c:v>
                </c:pt>
                <c:pt idx="7">
                  <c:v>0.69000000000000061</c:v>
                </c:pt>
                <c:pt idx="8">
                  <c:v>0.69000000000000061</c:v>
                </c:pt>
                <c:pt idx="9">
                  <c:v>0.69000000000000061</c:v>
                </c:pt>
                <c:pt idx="10">
                  <c:v>0.69000000000000061</c:v>
                </c:pt>
                <c:pt idx="11">
                  <c:v>0.69000000000000061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16-4C5F-9F0F-EAFD8F729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754795200"/>
        <c:axId val="-1754801184"/>
      </c:lineChart>
      <c:catAx>
        <c:axId val="-1754795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36606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vert="horz"/>
          <a:lstStyle/>
          <a:p>
            <a:pPr>
              <a:defRPr sz="2100" baseline="0"/>
            </a:pPr>
            <a:endParaRPr lang="zh-CN"/>
          </a:p>
        </c:txPr>
        <c:crossAx val="-1754801184"/>
        <c:crosses val="autoZero"/>
        <c:auto val="1"/>
        <c:lblAlgn val="ctr"/>
        <c:lblOffset val="100"/>
        <c:noMultiLvlLbl val="0"/>
      </c:catAx>
      <c:valAx>
        <c:axId val="-17548011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51248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vert="horz"/>
          <a:lstStyle/>
          <a:p>
            <a:pPr>
              <a:defRPr sz="2100" baseline="0"/>
            </a:pPr>
            <a:endParaRPr lang="zh-CN"/>
          </a:p>
        </c:txPr>
        <c:crossAx val="-1754795200"/>
        <c:crosses val="autoZero"/>
        <c:crossBetween val="between"/>
      </c:valAx>
      <c:spPr>
        <a:noFill/>
        <a:ln w="58569">
          <a:noFill/>
        </a:ln>
      </c:spPr>
    </c:plotArea>
    <c:legend>
      <c:legendPos val="r"/>
      <c:layout>
        <c:manualLayout>
          <c:xMode val="edge"/>
          <c:yMode val="edge"/>
          <c:x val="6.3557261937167112E-2"/>
          <c:y val="0.51031912952893532"/>
          <c:w val="0.90244518686807562"/>
          <c:h val="0.27261360508519206"/>
        </c:manualLayout>
      </c:layout>
      <c:overlay val="0"/>
      <c:txPr>
        <a:bodyPr/>
        <a:lstStyle/>
        <a:p>
          <a:pPr>
            <a:defRPr sz="3000">
              <a:latin typeface="+mn-ea"/>
              <a:ea typeface="+mn-ea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aseline="0">
          <a:solidFill>
            <a:schemeClr val="tx2">
              <a:lumMod val="20000"/>
              <a:lumOff val="80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832776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014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922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3669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我们的愿景就是打造中国自己的，可以和世界一流厂商</a:t>
            </a:r>
            <a:r>
              <a:rPr lang="en-US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compete</a:t>
            </a:r>
            <a:r>
              <a:rPr lang="zh-CN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的</a:t>
            </a:r>
            <a:r>
              <a:rPr lang="en-US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BLE</a:t>
            </a:r>
            <a:r>
              <a:rPr lang="zh-CN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芯片及解决方案</a:t>
            </a:r>
            <a:endParaRPr lang="en-US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r>
              <a:rPr lang="zh-CN" altLang="en-US" sz="2200" b="1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为啥蓝牙会是局域物联网的王者？</a:t>
            </a:r>
            <a:endParaRPr lang="zh-CN" altLang="en-US" sz="2200" b="0" i="0" u="none" strike="noStrike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1. </a:t>
            </a:r>
            <a:r>
              <a:rPr lang="en-US" altLang="zh-CN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WiFi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用于大流量场景，功耗大，价格高，多用于带屏幕的设备，如手机电脑；前些年白电用</a:t>
            </a:r>
            <a:r>
              <a:rPr lang="en-US" altLang="zh-CN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WiFi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联网，是因为那时候蓝牙组网还没出来呢，彼时路由器只有</a:t>
            </a:r>
            <a:r>
              <a:rPr lang="en-US" altLang="zh-CN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wifi</a:t>
            </a:r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(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路由器带蓝牙是趋势</a:t>
            </a:r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)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。</a:t>
            </a:r>
          </a:p>
          <a:p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2. </a:t>
            </a:r>
            <a:r>
              <a:rPr lang="en-US" altLang="zh-CN" sz="2200" b="0" i="0" u="none" strike="noStrike" dirty="0" err="1">
                <a:effectLst/>
                <a:latin typeface="+mn-lt"/>
                <a:ea typeface="+mn-ea"/>
                <a:cs typeface="+mn-cs"/>
                <a:sym typeface="Helvetica Neue"/>
              </a:rPr>
              <a:t>NBIoT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价格相比蓝牙高，功耗比蓝牙大，需要交资费，适合更广域的场景。</a:t>
            </a:r>
          </a:p>
          <a:p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3. Zigbee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，你的手机、电脑、平板、路由器、汽车上有</a:t>
            </a:r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Zigbee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吗？</a:t>
            </a:r>
          </a:p>
          <a:p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蓝牙</a:t>
            </a:r>
            <a:r>
              <a:rPr lang="en-US" altLang="zh-CN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SIG</a:t>
            </a:r>
            <a:r>
              <a:rPr lang="zh-CN" altLang="en-US" sz="2200" b="0" i="0" u="none" strike="noStrike" dirty="0">
                <a:effectLst/>
                <a:latin typeface="+mn-lt"/>
                <a:ea typeface="+mn-ea"/>
                <a:cs typeface="+mn-cs"/>
                <a:sym typeface="Helvetica Neue"/>
              </a:rPr>
              <a:t>联盟，集合了几乎产业界的所有大厂；不断地优化蓝牙协议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我是作为</a:t>
            </a:r>
            <a:r>
              <a:rPr lang="en-US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MKT</a:t>
            </a: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进来的，后来转产品经理。</a:t>
            </a:r>
            <a:endParaRPr lang="en-US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带过一些比较前瞻性的产品预研，像是人脸识别，图像处理室内定位，深度学习</a:t>
            </a:r>
            <a:endParaRPr lang="en-US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以早期的项目</a:t>
            </a:r>
            <a:r>
              <a:rPr lang="zh-CN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预研</a:t>
            </a: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居多</a:t>
            </a:r>
            <a:r>
              <a:rPr lang="zh-CN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，</a:t>
            </a: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为整个公司未来的战略布局提供信息支撑</a:t>
            </a:r>
            <a:endParaRPr lang="en-US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作为非技术背景管理一帮工程师，我需要比工科背景的人投入更多的时间，去学习深入了解</a:t>
            </a:r>
            <a:endParaRPr lang="en-US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但是因为我是</a:t>
            </a:r>
            <a:r>
              <a:rPr lang="en-US" altLang="zh-CN" sz="2200" dirty="0">
                <a:effectLst/>
                <a:latin typeface="+mn-lt"/>
                <a:ea typeface="+mn-ea"/>
                <a:cs typeface="+mn-cs"/>
                <a:sym typeface="Helvetica Neue"/>
              </a:rPr>
              <a:t>MKT</a:t>
            </a:r>
            <a:r>
              <a:rPr lang="zh-CN" altLang="en-US" sz="2200" dirty="0">
                <a:effectLst/>
                <a:latin typeface="+mn-lt"/>
                <a:ea typeface="+mn-ea"/>
                <a:cs typeface="+mn-cs"/>
                <a:sym typeface="Helvetica Neue"/>
              </a:rPr>
              <a:t>出身转产品精力，所以我的优势在于，我会较为敏锐的捕捉市场发展的动向，会更有全局观的来带产品，管理团队。带团队走心，跟他们做朋友，发现他们的需求，你一次次的帮他们解决困扰他们的问题，他们会跟你绑定的更紧密。</a:t>
            </a:r>
            <a:endParaRPr lang="zh-CN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220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2453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346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74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xfrm>
            <a:off x="463716" y="13002623"/>
            <a:ext cx="453238" cy="46105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 descr="图像"/>
          <p:cNvSpPr>
            <a:spLocks noGrp="1"/>
          </p:cNvSpPr>
          <p:nvPr>
            <p:ph type="pic" idx="13"/>
          </p:nvPr>
        </p:nvSpPr>
        <p:spPr>
          <a:xfrm>
            <a:off x="3125967" y="673100"/>
            <a:ext cx="18135603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 descr="图像"/>
          <p:cNvSpPr>
            <a:spLocks noGrp="1"/>
          </p:cNvSpPr>
          <p:nvPr>
            <p:ph type="pic" sz="half" idx="13"/>
          </p:nvPr>
        </p:nvSpPr>
        <p:spPr>
          <a:xfrm>
            <a:off x="13169900" y="952500"/>
            <a:ext cx="95250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 descr="图像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 descr="图像"/>
          <p:cNvSpPr>
            <a:spLocks noGrp="1"/>
          </p:cNvSpPr>
          <p:nvPr>
            <p:ph type="pic" sz="quarter" idx="13"/>
          </p:nvPr>
        </p:nvSpPr>
        <p:spPr>
          <a:xfrm>
            <a:off x="15760700" y="68707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 descr="图像"/>
          <p:cNvSpPr>
            <a:spLocks noGrp="1"/>
          </p:cNvSpPr>
          <p:nvPr>
            <p:ph type="pic" sz="quarter" idx="14"/>
          </p:nvPr>
        </p:nvSpPr>
        <p:spPr>
          <a:xfrm>
            <a:off x="15760700" y="952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 descr="图像"/>
          <p:cNvSpPr>
            <a:spLocks noGrp="1"/>
          </p:cNvSpPr>
          <p:nvPr>
            <p:ph type="pic" idx="15"/>
          </p:nvPr>
        </p:nvSpPr>
        <p:spPr>
          <a:xfrm>
            <a:off x="1206500" y="9525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  <a:lvl2pPr marL="1058333" indent="-423333" algn="ctr">
              <a:spcBef>
                <a:spcPts val="0"/>
              </a:spcBef>
              <a:defRPr sz="3200" i="1"/>
            </a:lvl2pPr>
            <a:lvl3pPr marL="1693333" indent="-423333" algn="ctr">
              <a:spcBef>
                <a:spcPts val="0"/>
              </a:spcBef>
              <a:defRPr sz="3200" i="1"/>
            </a:lvl3pPr>
            <a:lvl4pPr marL="2328333" indent="-423333" algn="ctr">
              <a:spcBef>
                <a:spcPts val="0"/>
              </a:spcBef>
              <a:defRPr sz="3200" i="1"/>
            </a:lvl4pPr>
            <a:lvl5pPr marL="2963333" indent="-423333" algn="ctr">
              <a:spcBef>
                <a:spcPts val="0"/>
              </a:spcBef>
              <a:defRPr sz="3200" i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Shape 94" descr="“在此键入引文。”"/>
          <p:cNvSpPr>
            <a:spLocks noGrp="1"/>
          </p:cNvSpPr>
          <p:nvPr>
            <p:ph type="body" sz="quarter" idx="13"/>
          </p:nvPr>
        </p:nvSpPr>
        <p:spPr>
          <a:xfrm>
            <a:off x="2387600" y="6013450"/>
            <a:ext cx="19621500" cy="95250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 descr="图像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385339" y="12871994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hf sldNum="0" hdr="0" ftr="0" dt="0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1.jpeg"/><Relationship Id="rId16" Type="http://schemas.openxmlformats.org/officeDocument/2006/relationships/image" Target="../media/image21.jpe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24" Type="http://schemas.openxmlformats.org/officeDocument/2006/relationships/image" Target="../media/image28.jpeg"/><Relationship Id="rId5" Type="http://schemas.openxmlformats.org/officeDocument/2006/relationships/image" Target="../media/image10.jpeg"/><Relationship Id="rId15" Type="http://schemas.openxmlformats.org/officeDocument/2006/relationships/image" Target="../media/image20.png"/><Relationship Id="rId23" Type="http://schemas.openxmlformats.org/officeDocument/2006/relationships/image" Target="../media/image2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jpeg"/><Relationship Id="rId22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1.jpeg" descr="图片 4"/>
          <p:cNvPicPr>
            <a:picLocks noChangeAspect="1"/>
          </p:cNvPicPr>
          <p:nvPr/>
        </p:nvPicPr>
        <p:blipFill>
          <a:blip r:embed="rId3" cstate="print"/>
          <a:srcRect l="12622" t="1246" r="12621" b="14640"/>
          <a:stretch>
            <a:fillRect/>
          </a:stretch>
        </p:blipFill>
        <p:spPr>
          <a:xfrm>
            <a:off x="0" y="-159478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hape 120" descr="商     业     计     划     书"/>
          <p:cNvSpPr/>
          <p:nvPr/>
        </p:nvSpPr>
        <p:spPr>
          <a:xfrm>
            <a:off x="8118817" y="5911160"/>
            <a:ext cx="8617744" cy="1272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600">
                <a:solidFill>
                  <a:srgbClr val="B28B6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大</a:t>
            </a:r>
            <a:r>
              <a:rPr dirty="0">
                <a:solidFill>
                  <a:srgbClr val="FFFFFF"/>
                </a:solidFill>
              </a:rPr>
              <a:t>     </a:t>
            </a:r>
            <a:r>
              <a:rPr lang="zh-CN" altLang="en-US" dirty="0">
                <a:solidFill>
                  <a:srgbClr val="FFFFFF"/>
                </a:solidFill>
              </a:rPr>
              <a:t>瞬</a:t>
            </a:r>
            <a:r>
              <a:rPr dirty="0">
                <a:solidFill>
                  <a:srgbClr val="FFFFFF"/>
                </a:solidFill>
              </a:rPr>
              <a:t>     </a:t>
            </a:r>
            <a:r>
              <a:rPr lang="zh-CN" altLang="en-US" dirty="0">
                <a:solidFill>
                  <a:srgbClr val="FFFFFF"/>
                </a:solidFill>
              </a:rPr>
              <a:t>技</a:t>
            </a:r>
            <a:r>
              <a:rPr dirty="0">
                <a:solidFill>
                  <a:srgbClr val="FFFFFF"/>
                </a:solidFill>
              </a:rPr>
              <a:t>     </a:t>
            </a:r>
            <a:r>
              <a:rPr lang="zh-CN" altLang="en-US" dirty="0">
                <a:solidFill>
                  <a:srgbClr val="FFFFFF"/>
                </a:solidFill>
              </a:rPr>
              <a:t>术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21" name="Shape 121" descr="Business Proposal"/>
          <p:cNvSpPr/>
          <p:nvPr/>
        </p:nvSpPr>
        <p:spPr>
          <a:xfrm>
            <a:off x="12020138" y="5321346"/>
            <a:ext cx="4536498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pc="1200">
                <a:solidFill>
                  <a:srgbClr val="B28B6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spc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BigMoment Technology</a:t>
            </a:r>
            <a:endParaRPr spc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" name="image1.png" descr="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01104" y="3949744"/>
            <a:ext cx="3125167" cy="1371602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Shape 123" descr="2019.10.10"/>
          <p:cNvSpPr/>
          <p:nvPr/>
        </p:nvSpPr>
        <p:spPr>
          <a:xfrm>
            <a:off x="11573277" y="8443725"/>
            <a:ext cx="2511906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rgbClr val="FFFFFF">
                    <a:alpha val="45446"/>
                  </a:srgbClr>
                </a:solidFill>
                <a:latin typeface="Droid Sans Fallback"/>
                <a:ea typeface="Droid Sans Fallback"/>
                <a:cs typeface="Droid Sans Fallback"/>
                <a:sym typeface="Droid Sans Fallback"/>
              </a:defRPr>
            </a:lvl1pPr>
          </a:lstStyle>
          <a:p>
            <a:r>
              <a:rPr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Q3/Q4</a:t>
            </a: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 descr="矩形 8"/>
          <p:cNvSpPr/>
          <p:nvPr/>
        </p:nvSpPr>
        <p:spPr>
          <a:xfrm>
            <a:off x="610458" y="513588"/>
            <a:ext cx="2890851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公司简介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7" name="image1.tif" descr="图像"/>
          <p:cNvPicPr>
            <a:picLocks noChangeAspect="1"/>
          </p:cNvPicPr>
          <p:nvPr/>
        </p:nvPicPr>
        <p:blipFill>
          <a:blip r:embed="rId3" cstate="print">
            <a:alphaModFix amt="38318"/>
          </a:blip>
          <a:stretch>
            <a:fillRect/>
          </a:stretch>
        </p:blipFill>
        <p:spPr>
          <a:xfrm>
            <a:off x="94833" y="8737600"/>
            <a:ext cx="24333200" cy="497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hape 131" descr="2020年营业额预估九千万人民币；…"/>
          <p:cNvSpPr/>
          <p:nvPr/>
        </p:nvSpPr>
        <p:spPr>
          <a:xfrm>
            <a:off x="1872521" y="2766704"/>
            <a:ext cx="21047440" cy="7396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71500" indent="-5715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大瞬科技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平潭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是一家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Fabless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公司，专注于高端模拟，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和混合信号芯片设计；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2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产品：手机高端快充芯片、高精度电量计以及笔电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CPU DC/DC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转换芯片、共享单车充电产品、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TWS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耳机充电芯片和最先进的</a:t>
            </a:r>
            <a:r>
              <a:rPr lang="en-US" altLang="zh-CN" sz="36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IoT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 BLE MESH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芯片等；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/>
            </a:endParaRPr>
          </a:p>
          <a:p>
            <a:pPr marL="571500" indent="-5715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 algn="l" defTabSz="914400"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解决技术难点：散热的挑战、高昂的线材成本以及系统设计的稳定性；共享单车弱光下太阳能充电解决方案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以打破美国公司垄断高端产品市场；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 algn="l" defTabSz="914400"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 algn="l" defTabSz="914400"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年营业额预估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1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亿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9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千万到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2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亿</a:t>
            </a:r>
            <a:r>
              <a:rPr lang="en-US" altLang="zh-CN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3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千万人民币</a:t>
            </a: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/>
              </a:rPr>
              <a:t>；</a:t>
            </a:r>
          </a:p>
          <a:p>
            <a:pPr marL="571500" indent="-571500" algn="l" defTabSz="914400"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/>
              <a:sym typeface="宋体"/>
            </a:endParaRPr>
          </a:p>
          <a:p>
            <a:pPr marL="571500" indent="-571500" algn="l" defTabSz="914400"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团队由</a:t>
            </a: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70</a:t>
            </a: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余位经验丰富的工程师组成，其中硕士以上学历者占大多数。</a:t>
            </a:r>
          </a:p>
        </p:txBody>
      </p:sp>
      <p:pic>
        <p:nvPicPr>
          <p:cNvPr id="8" name="image1.png" descr="logo.png">
            <a:extLst>
              <a:ext uri="{FF2B5EF4-FFF2-40B4-BE49-F238E27FC236}">
                <a16:creationId xmlns:a16="http://schemas.microsoft.com/office/drawing/2014/main" id="{428FA479-AFDA-4ECC-9E82-1CAA022E182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1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 descr="矩形 8"/>
          <p:cNvSpPr/>
          <p:nvPr/>
        </p:nvSpPr>
        <p:spPr>
          <a:xfrm>
            <a:off x="610458" y="513588"/>
            <a:ext cx="3607581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公司产品图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7" name="image1.tif" descr="图像"/>
          <p:cNvPicPr>
            <a:picLocks noChangeAspect="1"/>
          </p:cNvPicPr>
          <p:nvPr/>
        </p:nvPicPr>
        <p:blipFill>
          <a:blip r:embed="rId3" cstate="print">
            <a:alphaModFix amt="38318"/>
          </a:blip>
          <a:stretch>
            <a:fillRect/>
          </a:stretch>
        </p:blipFill>
        <p:spPr>
          <a:xfrm>
            <a:off x="0" y="8948615"/>
            <a:ext cx="24333200" cy="497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age1.png" descr="logo.png">
            <a:extLst>
              <a:ext uri="{FF2B5EF4-FFF2-40B4-BE49-F238E27FC236}">
                <a16:creationId xmlns:a16="http://schemas.microsoft.com/office/drawing/2014/main" id="{428FA479-AFDA-4ECC-9E82-1CAA022E182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360" y="1839518"/>
            <a:ext cx="6203978" cy="7772400"/>
          </a:xfrm>
          <a:prstGeom prst="rect">
            <a:avLst/>
          </a:prstGeom>
        </p:spPr>
      </p:pic>
      <p:sp>
        <p:nvSpPr>
          <p:cNvPr id="9" name="Shape 130" descr="Rectangle 28">
            <a:extLst>
              <a:ext uri="{FF2B5EF4-FFF2-40B4-BE49-F238E27FC236}">
                <a16:creationId xmlns:a16="http://schemas.microsoft.com/office/drawing/2014/main" id="{AF69BB6C-FC6A-4AC2-A2D6-92E1C4167426}"/>
              </a:ext>
            </a:extLst>
          </p:cNvPr>
          <p:cNvSpPr/>
          <p:nvPr/>
        </p:nvSpPr>
        <p:spPr>
          <a:xfrm>
            <a:off x="2354556" y="10275221"/>
            <a:ext cx="20632444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l" defTabSz="914400"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en-US" altLang="zh-CN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BLE5.0</a:t>
            </a: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芯片真实线路图                   </a:t>
            </a:r>
            <a:r>
              <a:rPr lang="en-US" altLang="zh-CN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20V </a:t>
            </a: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充电</a:t>
            </a:r>
            <a:r>
              <a:rPr lang="en-US" altLang="zh-CN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PUMP(</a:t>
            </a: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电荷泵</a:t>
            </a:r>
            <a:r>
              <a:rPr lang="en-US" altLang="zh-CN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真实线路图</a:t>
            </a:r>
            <a:endParaRPr lang="en-US" altLang="zh-CN" sz="8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906039" y="3301783"/>
            <a:ext cx="7620000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4039150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 advAuto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1.jpeg" descr="图片 4"/>
          <p:cNvPicPr>
            <a:picLocks noChangeAspect="1"/>
          </p:cNvPicPr>
          <p:nvPr/>
        </p:nvPicPr>
        <p:blipFill>
          <a:blip r:embed="rId3" cstate="print"/>
          <a:srcRect l="12622" t="1246" r="12621" b="14640"/>
          <a:stretch>
            <a:fillRect/>
          </a:stretch>
        </p:blipFill>
        <p:spPr>
          <a:xfrm>
            <a:off x="1930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矩形 17"/>
          <p:cNvSpPr/>
          <p:nvPr/>
        </p:nvSpPr>
        <p:spPr>
          <a:xfrm>
            <a:off x="-1" y="15753"/>
            <a:ext cx="24289167" cy="13700247"/>
          </a:xfrm>
          <a:prstGeom prst="rect">
            <a:avLst/>
          </a:prstGeom>
          <a:blipFill dpi="0" rotWithShape="1">
            <a:blip r:embed="rId4" cstate="print">
              <a:alphaModFix amt="33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76"/>
          <p:cNvSpPr txBox="1"/>
          <p:nvPr/>
        </p:nvSpPr>
        <p:spPr>
          <a:xfrm>
            <a:off x="1635071" y="894048"/>
            <a:ext cx="2435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hangingPunct="1"/>
            <a:r>
              <a:rPr lang="zh-CN" altLang="en-US" sz="7200" b="1" kern="1200" dirty="0">
                <a:solidFill>
                  <a:srgbClr val="ED40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愿景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66388" y="2160354"/>
            <a:ext cx="5070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hangingPunct="1">
              <a:spcBef>
                <a:spcPct val="0"/>
              </a:spcBef>
            </a:pPr>
            <a:r>
              <a:rPr lang="en-US" altLang="zh-CN" sz="3200" b="1" kern="1200" dirty="0">
                <a:solidFill>
                  <a:prstClr val="white">
                    <a:lumMod val="9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Vision</a:t>
            </a:r>
          </a:p>
        </p:txBody>
      </p:sp>
      <p:sp>
        <p:nvSpPr>
          <p:cNvPr id="15" name="Freeform 5"/>
          <p:cNvSpPr/>
          <p:nvPr/>
        </p:nvSpPr>
        <p:spPr bwMode="auto">
          <a:xfrm flipH="1">
            <a:off x="-1" y="666078"/>
            <a:ext cx="1302327" cy="1842081"/>
          </a:xfrm>
          <a:custGeom>
            <a:avLst/>
            <a:gdLst>
              <a:gd name="T0" fmla="*/ 1462 w 2332"/>
              <a:gd name="T1" fmla="*/ 0 h 3907"/>
              <a:gd name="T2" fmla="*/ 2332 w 2332"/>
              <a:gd name="T3" fmla="*/ 0 h 3907"/>
              <a:gd name="T4" fmla="*/ 2332 w 2332"/>
              <a:gd name="T5" fmla="*/ 3907 h 3907"/>
              <a:gd name="T6" fmla="*/ 0 w 2332"/>
              <a:gd name="T7" fmla="*/ 2595 h 3907"/>
              <a:gd name="T8" fmla="*/ 1462 w 2332"/>
              <a:gd name="T9" fmla="*/ 0 h 3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32" h="3907">
                <a:moveTo>
                  <a:pt x="1462" y="0"/>
                </a:moveTo>
                <a:lnTo>
                  <a:pt x="2332" y="0"/>
                </a:lnTo>
                <a:lnTo>
                  <a:pt x="2332" y="3907"/>
                </a:lnTo>
                <a:lnTo>
                  <a:pt x="0" y="2595"/>
                </a:lnTo>
                <a:lnTo>
                  <a:pt x="1462" y="0"/>
                </a:lnTo>
                <a:close/>
              </a:path>
            </a:pathLst>
          </a:custGeom>
          <a:solidFill>
            <a:srgbClr val="ED4022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en-US" sz="200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19" name="image1.png" descr="logo.png">
            <a:extLst>
              <a:ext uri="{FF2B5EF4-FFF2-40B4-BE49-F238E27FC236}">
                <a16:creationId xmlns:a16="http://schemas.microsoft.com/office/drawing/2014/main" id="{D679DFB7-E7B3-4FA7-ACED-BE3BF401A9B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hape 130" descr="Rectangle 28">
            <a:extLst>
              <a:ext uri="{FF2B5EF4-FFF2-40B4-BE49-F238E27FC236}">
                <a16:creationId xmlns:a16="http://schemas.microsoft.com/office/drawing/2014/main" id="{ABBED529-F0C8-4915-BBF9-C04D92D2F15E}"/>
              </a:ext>
            </a:extLst>
          </p:cNvPr>
          <p:cNvSpPr/>
          <p:nvPr/>
        </p:nvSpPr>
        <p:spPr>
          <a:xfrm>
            <a:off x="1147640" y="5205371"/>
            <a:ext cx="22037920" cy="7755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l" defTabSz="914400">
              <a:lnSpc>
                <a:spcPct val="150000"/>
              </a:lnSpc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手机高端模拟电源管理芯片，大瞬将协助中国手机厂商全面去</a:t>
            </a:r>
            <a:r>
              <a:rPr lang="en-US" altLang="zh-CN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化，提供自主可控的技术，不受欧美厂商制约而“卡”脖子；</a:t>
            </a:r>
            <a:endParaRPr lang="en-US" altLang="zh-CN" sz="48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48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笔记本电脑</a:t>
            </a:r>
            <a:r>
              <a:rPr lang="en-US" altLang="zh-CN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DCDC</a:t>
            </a:r>
            <a:r>
              <a:rPr lang="zh-CN" altLang="en-US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、电源管理芯片，一直是欧美企业的天下，大瞬科技将打破这一魔咒，全方位支持国产</a:t>
            </a:r>
            <a:r>
              <a:rPr lang="en-US" altLang="zh-CN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平台，飞腾、兆芯、龙芯，中国人的</a:t>
            </a:r>
            <a:r>
              <a:rPr lang="en-US" altLang="zh-CN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48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，中国人的责任。</a:t>
            </a:r>
            <a:endParaRPr lang="en-US" altLang="zh-CN" sz="48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lnSpc>
                <a:spcPct val="150000"/>
              </a:lnSpc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36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30" descr="Rectangle 28">
            <a:extLst>
              <a:ext uri="{FF2B5EF4-FFF2-40B4-BE49-F238E27FC236}">
                <a16:creationId xmlns:a16="http://schemas.microsoft.com/office/drawing/2014/main" id="{D4036F5B-EFD6-4B95-AAF6-BD4DFDB6A3BB}"/>
              </a:ext>
            </a:extLst>
          </p:cNvPr>
          <p:cNvSpPr/>
          <p:nvPr/>
        </p:nvSpPr>
        <p:spPr>
          <a:xfrm>
            <a:off x="1147639" y="3415389"/>
            <a:ext cx="20378399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l" defTabSz="914400"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国产替代是趋势、是风口、是政府导向 ，更是中国半导体人的责任</a:t>
            </a:r>
            <a:endParaRPr lang="en-US" altLang="zh-CN" sz="5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875014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tif" descr="图像">
            <a:extLst>
              <a:ext uri="{FF2B5EF4-FFF2-40B4-BE49-F238E27FC236}">
                <a16:creationId xmlns:a16="http://schemas.microsoft.com/office/drawing/2014/main" id="{30ABA5B6-1326-4644-BEE7-7C0512E9B9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38318"/>
          </a:blip>
          <a:stretch>
            <a:fillRect/>
          </a:stretch>
        </p:blipFill>
        <p:spPr>
          <a:xfrm>
            <a:off x="0" y="8737600"/>
            <a:ext cx="24333200" cy="49784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126" descr="矩形 8">
            <a:extLst>
              <a:ext uri="{FF2B5EF4-FFF2-40B4-BE49-F238E27FC236}">
                <a16:creationId xmlns:a16="http://schemas.microsoft.com/office/drawing/2014/main" id="{DFC995E7-5219-446E-A3B1-1FB04300A1F2}"/>
              </a:ext>
            </a:extLst>
          </p:cNvPr>
          <p:cNvSpPr/>
          <p:nvPr/>
        </p:nvSpPr>
        <p:spPr>
          <a:xfrm>
            <a:off x="610457" y="513588"/>
            <a:ext cx="10094713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总体有效市场 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130" descr="Rectangle 28">
            <a:extLst>
              <a:ext uri="{FF2B5EF4-FFF2-40B4-BE49-F238E27FC236}">
                <a16:creationId xmlns:a16="http://schemas.microsoft.com/office/drawing/2014/main" id="{820C3100-F939-4ADD-82D4-89238D4599BA}"/>
              </a:ext>
            </a:extLst>
          </p:cNvPr>
          <p:cNvSpPr/>
          <p:nvPr/>
        </p:nvSpPr>
        <p:spPr>
          <a:xfrm>
            <a:off x="1051866" y="5682676"/>
            <a:ext cx="22805897" cy="3785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3" algn="l" defTabSz="914400">
              <a:lnSpc>
                <a:spcPct val="150000"/>
              </a:lnSpc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8" algn="l" defTabSz="914400">
              <a:lnSpc>
                <a:spcPct val="150000"/>
              </a:lnSpc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纵横结合手机、笔记本电脑、中国芯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飞腾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龙芯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兆芯等国产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市场）、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TWS(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安卓系统市场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、共享单车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太阳能充电芯片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+GPS/BD3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定位芯片）、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BLE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市场，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TAM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总量大约每年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2000KK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，以大瞬芯片为计价，折合约人民币</a:t>
            </a:r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</a:t>
            </a:r>
            <a:r>
              <a:rPr lang="en-US" altLang="zh-CN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年。</a:t>
            </a:r>
            <a:endParaRPr lang="en-US" altLang="zh-CN" sz="36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endParaRPr lang="en-US" altLang="zh-CN" sz="36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130" descr="Rectangle 28">
            <a:extLst>
              <a:ext uri="{FF2B5EF4-FFF2-40B4-BE49-F238E27FC236}">
                <a16:creationId xmlns:a16="http://schemas.microsoft.com/office/drawing/2014/main" id="{AF69BB6C-FC6A-4AC2-A2D6-92E1C4167426}"/>
              </a:ext>
            </a:extLst>
          </p:cNvPr>
          <p:cNvSpPr/>
          <p:nvPr/>
        </p:nvSpPr>
        <p:spPr>
          <a:xfrm>
            <a:off x="9157829" y="4045305"/>
            <a:ext cx="17313442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l" defTabSz="914400">
              <a:defRPr sz="3600">
                <a:solidFill>
                  <a:srgbClr val="716B64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en-US" altLang="zh-CN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TAM </a:t>
            </a: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总体有效市场</a:t>
            </a:r>
            <a:endParaRPr lang="en-US" altLang="zh-CN" sz="8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image1.png" descr="logo.png">
            <a:extLst>
              <a:ext uri="{FF2B5EF4-FFF2-40B4-BE49-F238E27FC236}">
                <a16:creationId xmlns:a16="http://schemas.microsoft.com/office/drawing/2014/main" id="{A2C39BF6-9399-4A92-8756-45276892E2A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197737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  <p:bldP spid="10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30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Shape 248" descr="矩形 8"/>
          <p:cNvSpPr/>
          <p:nvPr/>
        </p:nvSpPr>
        <p:spPr>
          <a:xfrm>
            <a:off x="610458" y="576667"/>
            <a:ext cx="3023739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1" name="Shape 251"/>
          <p:cNvSpPr/>
          <p:nvPr/>
        </p:nvSpPr>
        <p:spPr>
          <a:xfrm>
            <a:off x="2646827" y="3651567"/>
            <a:ext cx="102657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25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809C6CB-A602-499E-A933-77BBB50D839C}"/>
              </a:ext>
            </a:extLst>
          </p:cNvPr>
          <p:cNvSpPr/>
          <p:nvPr/>
        </p:nvSpPr>
        <p:spPr>
          <a:xfrm>
            <a:off x="6430551" y="3553140"/>
            <a:ext cx="4593041" cy="2121432"/>
          </a:xfrm>
          <a:prstGeom prst="roundRect">
            <a:avLst/>
          </a:prstGeom>
          <a:noFill/>
          <a:ln w="19050">
            <a:solidFill>
              <a:srgbClr val="A882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高压直充</a:t>
            </a:r>
            <a:endParaRPr lang="en-US" altLang="zh-CN" sz="4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Charge Pump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B9B57E0-8593-4972-B485-88222357D61C}"/>
              </a:ext>
            </a:extLst>
          </p:cNvPr>
          <p:cNvSpPr/>
          <p:nvPr/>
        </p:nvSpPr>
        <p:spPr>
          <a:xfrm>
            <a:off x="14118451" y="1877028"/>
            <a:ext cx="5055317" cy="2182725"/>
          </a:xfrm>
          <a:prstGeom prst="roundRect">
            <a:avLst/>
          </a:prstGeom>
          <a:noFill/>
          <a:ln w="19050">
            <a:solidFill>
              <a:srgbClr val="A882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笔记本</a:t>
            </a:r>
            <a:endParaRPr lang="en-US" altLang="zh-CN" sz="4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Intel/AMD DCDC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AE6EF17-072E-410E-B391-7C5F9A64D01D}"/>
              </a:ext>
            </a:extLst>
          </p:cNvPr>
          <p:cNvSpPr/>
          <p:nvPr/>
        </p:nvSpPr>
        <p:spPr>
          <a:xfrm>
            <a:off x="14133443" y="4613856"/>
            <a:ext cx="5055316" cy="2121432"/>
          </a:xfrm>
          <a:prstGeom prst="roundRect">
            <a:avLst/>
          </a:prstGeom>
          <a:noFill/>
          <a:ln w="19050">
            <a:solidFill>
              <a:srgbClr val="A882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笔记本</a:t>
            </a:r>
            <a:endParaRPr lang="en-US" altLang="zh-CN" sz="4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DCDC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69464C1-DFED-432A-B46B-F23884DBDF4E}"/>
              </a:ext>
            </a:extLst>
          </p:cNvPr>
          <p:cNvSpPr/>
          <p:nvPr/>
        </p:nvSpPr>
        <p:spPr>
          <a:xfrm>
            <a:off x="14234795" y="7303824"/>
            <a:ext cx="4938973" cy="2182725"/>
          </a:xfrm>
          <a:prstGeom prst="roundRect">
            <a:avLst/>
          </a:prstGeom>
          <a:noFill/>
          <a:ln w="19050">
            <a:solidFill>
              <a:srgbClr val="A882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笔记本            </a:t>
            </a:r>
            <a:endParaRPr lang="en-US" altLang="zh-CN" sz="4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快速响应充电器</a:t>
            </a:r>
            <a:endParaRPr lang="en-US" altLang="zh-CN" sz="4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E2FC494-2715-4EB0-A0A2-195021EAED5C}"/>
              </a:ext>
            </a:extLst>
          </p:cNvPr>
          <p:cNvSpPr/>
          <p:nvPr/>
        </p:nvSpPr>
        <p:spPr>
          <a:xfrm>
            <a:off x="6430549" y="6453146"/>
            <a:ext cx="4593041" cy="1458555"/>
          </a:xfrm>
          <a:prstGeom prst="roundRect">
            <a:avLst/>
          </a:prstGeom>
          <a:noFill/>
          <a:ln w="19050">
            <a:solidFill>
              <a:srgbClr val="A882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54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折叠屏充电</a:t>
            </a:r>
            <a:endParaRPr lang="en-US" altLang="zh-CN" sz="5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F44891-AF13-4192-83F6-C1C771D90DED}"/>
              </a:ext>
            </a:extLst>
          </p:cNvPr>
          <p:cNvSpPr/>
          <p:nvPr/>
        </p:nvSpPr>
        <p:spPr>
          <a:xfrm>
            <a:off x="3634197" y="5674572"/>
            <a:ext cx="21196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cap="none" spc="0" dirty="0">
                <a:ln/>
                <a:solidFill>
                  <a:srgbClr val="E1C49A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</a:p>
        </p:txBody>
      </p:sp>
      <p:pic>
        <p:nvPicPr>
          <p:cNvPr id="28" name="image1.png" descr="logo.png">
            <a:extLst>
              <a:ext uri="{FF2B5EF4-FFF2-40B4-BE49-F238E27FC236}">
                <a16:creationId xmlns:a16="http://schemas.microsoft.com/office/drawing/2014/main" id="{1DCE6A8B-416A-41B0-8650-A2B7754D8D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0AE18B-9746-48DD-8BDA-81C092F413A9}"/>
              </a:ext>
            </a:extLst>
          </p:cNvPr>
          <p:cNvSpPr/>
          <p:nvPr/>
        </p:nvSpPr>
        <p:spPr>
          <a:xfrm>
            <a:off x="6430549" y="8689766"/>
            <a:ext cx="4593041" cy="2244019"/>
          </a:xfrm>
          <a:prstGeom prst="roundRect">
            <a:avLst/>
          </a:prstGeom>
          <a:noFill/>
          <a:ln w="19050">
            <a:solidFill>
              <a:srgbClr val="A882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TWS</a:t>
            </a:r>
            <a:r>
              <a:rPr lang="zh-CN" altLang="en-US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充电仓</a:t>
            </a:r>
            <a:endParaRPr lang="en-US" altLang="zh-CN" sz="48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4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充电方案</a:t>
            </a:r>
            <a:endParaRPr lang="en-US" altLang="zh-CN" sz="54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8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96B2A4-4C67-4EEF-8777-2B7189A225B0}"/>
              </a:ext>
            </a:extLst>
          </p:cNvPr>
          <p:cNvSpPr/>
          <p:nvPr/>
        </p:nvSpPr>
        <p:spPr>
          <a:xfrm>
            <a:off x="19837526" y="4946746"/>
            <a:ext cx="36481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dirty="0">
                <a:ln/>
                <a:solidFill>
                  <a:srgbClr val="E1C49A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笔记本电脑 </a:t>
            </a:r>
            <a:endParaRPr lang="zh-CN" altLang="en-US" sz="5400" b="1" cap="none" spc="0" dirty="0">
              <a:ln/>
              <a:solidFill>
                <a:srgbClr val="E1C49A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22982827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nimBg="1" advAuto="0"/>
      <p:bldP spid="18" grpId="0" animBg="1"/>
      <p:bldP spid="19" grpId="0" animBg="1"/>
      <p:bldP spid="20" grpId="0" animBg="1"/>
      <p:bldP spid="21" grpId="0" animBg="1"/>
      <p:bldP spid="22" grpId="0" animBg="1"/>
      <p:bldP spid="2" grpId="0"/>
      <p:bldP spid="23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30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Shape 248" descr="矩形 8"/>
          <p:cNvSpPr/>
          <p:nvPr/>
        </p:nvSpPr>
        <p:spPr>
          <a:xfrm>
            <a:off x="610458" y="576667"/>
            <a:ext cx="3023739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1" name="Shape 251"/>
          <p:cNvSpPr/>
          <p:nvPr/>
        </p:nvSpPr>
        <p:spPr>
          <a:xfrm>
            <a:off x="2646827" y="3651567"/>
            <a:ext cx="102657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25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28" name="image1.png" descr="logo.png">
            <a:extLst>
              <a:ext uri="{FF2B5EF4-FFF2-40B4-BE49-F238E27FC236}">
                <a16:creationId xmlns:a16="http://schemas.microsoft.com/office/drawing/2014/main" id="{1DCE6A8B-416A-41B0-8650-A2B7754D8D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7A19E04-2A3D-45CE-B60A-0F8D2B7DF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400918"/>
              </p:ext>
            </p:extLst>
          </p:nvPr>
        </p:nvGraphicFramePr>
        <p:xfrm>
          <a:off x="1197609" y="1618688"/>
          <a:ext cx="20742763" cy="109689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7560">
                  <a:extLst>
                    <a:ext uri="{9D8B030D-6E8A-4147-A177-3AD203B41FA5}">
                      <a16:colId xmlns:a16="http://schemas.microsoft.com/office/drawing/2014/main" val="3191504831"/>
                    </a:ext>
                  </a:extLst>
                </a:gridCol>
                <a:gridCol w="6756837">
                  <a:extLst>
                    <a:ext uri="{9D8B030D-6E8A-4147-A177-3AD203B41FA5}">
                      <a16:colId xmlns:a16="http://schemas.microsoft.com/office/drawing/2014/main" val="230945831"/>
                    </a:ext>
                  </a:extLst>
                </a:gridCol>
                <a:gridCol w="3923325">
                  <a:extLst>
                    <a:ext uri="{9D8B030D-6E8A-4147-A177-3AD203B41FA5}">
                      <a16:colId xmlns:a16="http://schemas.microsoft.com/office/drawing/2014/main" val="2434114752"/>
                    </a:ext>
                  </a:extLst>
                </a:gridCol>
                <a:gridCol w="4431905">
                  <a:extLst>
                    <a:ext uri="{9D8B030D-6E8A-4147-A177-3AD203B41FA5}">
                      <a16:colId xmlns:a16="http://schemas.microsoft.com/office/drawing/2014/main" val="3336711145"/>
                    </a:ext>
                  </a:extLst>
                </a:gridCol>
                <a:gridCol w="5013136">
                  <a:extLst>
                    <a:ext uri="{9D8B030D-6E8A-4147-A177-3AD203B41FA5}">
                      <a16:colId xmlns:a16="http://schemas.microsoft.com/office/drawing/2014/main" val="3596172699"/>
                    </a:ext>
                  </a:extLst>
                </a:gridCol>
              </a:tblGrid>
              <a:tr h="979724">
                <a:tc>
                  <a:txBody>
                    <a:bodyPr/>
                    <a:lstStyle/>
                    <a:p>
                      <a:pPr algn="l" fontAlgn="ctr"/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芯片产品</a:t>
                      </a:r>
                      <a:endParaRPr lang="zh-CN" altLang="en-US" sz="3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48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大瞬科技</a:t>
                      </a:r>
                      <a:endParaRPr lang="zh-CN" altLang="en-US" sz="4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endParaRPr lang="zh-CN" altLang="en-US" sz="3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52250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高端手机快充</a:t>
                      </a:r>
                      <a:r>
                        <a:rPr 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IC</a:t>
                      </a:r>
                      <a:endParaRPr 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切换型架构充电方案</a:t>
                      </a:r>
                      <a:endParaRPr lang="zh-CN" altLang="en-US" sz="3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zh-CN" altLang="en-US" sz="48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此部分产品是欧美半导体企业天下</a:t>
                      </a:r>
                      <a:endParaRPr lang="en-US" altLang="zh-CN" sz="4800" u="none" strike="noStrike" dirty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48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（模拟芯片）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142602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精准电量计</a:t>
                      </a:r>
                      <a:r>
                        <a:rPr 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IC</a:t>
                      </a:r>
                      <a:endParaRPr 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88479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手机系统端</a:t>
                      </a:r>
                      <a:r>
                        <a:rPr lang="en-US" altLang="zh-CN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Charge Pump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255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255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极高转换效率</a:t>
                      </a: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98%</a:t>
                      </a:r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，优于传统</a:t>
                      </a: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Buck92%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4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专用单</a:t>
                      </a: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/</a:t>
                      </a:r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多节锂电池保护</a:t>
                      </a: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IC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822796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5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笔电</a:t>
                      </a:r>
                      <a:r>
                        <a:rPr 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DC/DC</a:t>
                      </a:r>
                      <a:endParaRPr lang="en-US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高效，可以大负载</a:t>
                      </a:r>
                      <a:endParaRPr lang="zh-CN" altLang="en-US" sz="3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63659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6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笔电</a:t>
                      </a:r>
                      <a:r>
                        <a:rPr 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Charger</a:t>
                      </a:r>
                      <a:endParaRPr lang="en-US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切换型架构充电方案</a:t>
                      </a:r>
                      <a:endParaRPr lang="zh-CN" altLang="en-US" sz="3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540779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7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b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中国芯平台</a:t>
                      </a:r>
                      <a:r>
                        <a:rPr lang="en-US" sz="3200" b="0" u="none" strike="noStrike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DC/DC</a:t>
                      </a:r>
                      <a:endParaRPr lang="en-US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790681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8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b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中国芯平台</a:t>
                      </a:r>
                      <a:r>
                        <a:rPr lang="en-US" sz="3200" b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Charger</a:t>
                      </a:r>
                      <a:endParaRPr 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切换型架构充电方案</a:t>
                      </a:r>
                      <a:endParaRPr lang="zh-CN" altLang="en-US" sz="32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992033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b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太阳能电池充电</a:t>
                      </a:r>
                      <a:r>
                        <a:rPr lang="en-US" altLang="zh-CN" sz="3200" b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IC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79128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单频亚米级</a:t>
                      </a:r>
                      <a:r>
                        <a:rPr lang="en-US" altLang="zh-CN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GPS</a:t>
                      </a:r>
                      <a:r>
                        <a:rPr lang="zh-CN" altLang="en-US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定位芯片</a:t>
                      </a:r>
                      <a:endParaRPr lang="nb-NO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255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11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BLE</a:t>
                      </a:r>
                      <a:r>
                        <a:rPr lang="zh-CN" altLang="en-US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车用芯片（汽车</a:t>
                      </a:r>
                      <a:r>
                        <a:rPr lang="en-US" altLang="zh-CN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&amp;</a:t>
                      </a:r>
                      <a:r>
                        <a:rPr lang="zh-CN" altLang="en-US" sz="3200" b="0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单车）</a:t>
                      </a:r>
                      <a:endParaRPr lang="nb-NO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255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>
                        <a:alpha val="54902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12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b-NO" sz="3200" u="none" strike="noStrike">
                          <a:solidFill>
                            <a:srgbClr val="FFFFFF"/>
                          </a:solidFill>
                          <a:effectLst/>
                        </a:rPr>
                        <a:t>BLE 智能AI MESH IC</a:t>
                      </a:r>
                      <a:endParaRPr lang="nb-NO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503196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13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TWS</a:t>
                      </a:r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充电</a:t>
                      </a: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IC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线性充电方案主流</a:t>
                      </a:r>
                      <a:endParaRPr lang="zh-CN" altLang="en-US" sz="32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237241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marL="0" marR="0" indent="0" algn="ctr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 14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充电宝充电</a:t>
                      </a:r>
                      <a:r>
                        <a:rPr 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IC</a:t>
                      </a:r>
                      <a:endParaRPr lang="en-US" sz="32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切换型架构充电方案</a:t>
                      </a:r>
                      <a:endParaRPr lang="zh-CN" altLang="en-US" sz="32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86034"/>
                  </a:ext>
                </a:extLst>
              </a:tr>
              <a:tr h="146314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15</a:t>
                      </a:r>
                      <a:endParaRPr lang="en-US" altLang="zh-CN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Buck-boost </a:t>
                      </a:r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升降压充电</a:t>
                      </a:r>
                      <a:r>
                        <a:rPr lang="en-US" altLang="zh-CN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IC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200" b="0" i="0" u="none" strike="noStrike">
                        <a:solidFill>
                          <a:srgbClr val="FFFFFF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3200" u="none" strike="noStrike">
                          <a:solidFill>
                            <a:srgbClr val="FFFFFF"/>
                          </a:solidFill>
                          <a:effectLst/>
                        </a:rPr>
                        <a:t>切换型架构充电方案</a:t>
                      </a:r>
                      <a:endParaRPr lang="zh-CN" altLang="en-US" sz="32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32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切换型电源离线应用于充电宝，应用于手机和电脑系统，切换型电压线上</a:t>
                      </a:r>
                      <a:endParaRPr lang="zh-CN" altLang="en-US" sz="32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  <a:alpha val="5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762228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914400" y="2076660"/>
            <a:ext cx="20828000" cy="696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9871" y="1525147"/>
            <a:ext cx="20854220" cy="7791491"/>
          </a:xfrm>
          <a:prstGeom prst="rect">
            <a:avLst/>
          </a:prstGeom>
          <a:noFill/>
          <a:ln w="101600">
            <a:solidFill>
              <a:schemeClr val="accent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4449603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30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 descr="矩形 8"/>
          <p:cNvSpPr/>
          <p:nvPr/>
        </p:nvSpPr>
        <p:spPr>
          <a:xfrm>
            <a:off x="610458" y="870035"/>
            <a:ext cx="865620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8" name="Shape 258"/>
          <p:cNvSpPr/>
          <p:nvPr/>
        </p:nvSpPr>
        <p:spPr>
          <a:xfrm>
            <a:off x="2356939" y="5177698"/>
            <a:ext cx="19037332" cy="5034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marL="571500" indent="-571500" algn="l" defTabSz="914400">
              <a:lnSpc>
                <a:spcPct val="150000"/>
              </a:lnSpc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  <a:defRPr sz="3200">
                <a:solidFill>
                  <a:srgbClr val="B28B6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SD77313 芯片可以将外置的线材电流控制在高压10V/2A，抵达手机内部再转换成5V/4A，以便大电流电池充电；</a:t>
            </a:r>
          </a:p>
          <a:p>
            <a:pPr marL="571500" indent="-571500" algn="l" defTabSz="914400">
              <a:lnSpc>
                <a:spcPct val="200000"/>
              </a:lnSpc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  <a:defRPr sz="3200">
                <a:solidFill>
                  <a:srgbClr val="B28B6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36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将线材直接成本大幅减低</a:t>
            </a:r>
            <a:r>
              <a:rPr sz="4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三分之二</a:t>
            </a: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571500" indent="-571500" algn="l" defTabSz="914400">
              <a:lnSpc>
                <a:spcPct val="200000"/>
              </a:lnSpc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  <a:defRPr sz="3200">
                <a:solidFill>
                  <a:srgbClr val="B28B6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36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通过高难度控制芯片同时支持传统的非快充方案</a:t>
            </a: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571500" indent="-571500" algn="l" defTabSz="914400">
              <a:lnSpc>
                <a:spcPct val="200000"/>
              </a:lnSpc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  <a:defRPr sz="3200">
                <a:solidFill>
                  <a:srgbClr val="B28B6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36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专利已获授权</a:t>
            </a:r>
            <a:r>
              <a:rPr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（号码CN108574120，CN200810007736.6，CN108092373A）。</a:t>
            </a:r>
          </a:p>
        </p:txBody>
      </p:sp>
      <p:sp>
        <p:nvSpPr>
          <p:cNvPr id="259" name="Shape 259"/>
          <p:cNvSpPr/>
          <p:nvPr/>
        </p:nvSpPr>
        <p:spPr>
          <a:xfrm>
            <a:off x="4831198" y="3585638"/>
            <a:ext cx="12405640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5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Charge </a:t>
            </a:r>
            <a:r>
              <a:rPr sz="54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Pump（现已量产,客户推广中</a:t>
            </a:r>
            <a:r>
              <a:rPr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image1.png" descr="logo.png">
            <a:extLst>
              <a:ext uri="{FF2B5EF4-FFF2-40B4-BE49-F238E27FC236}">
                <a16:creationId xmlns:a16="http://schemas.microsoft.com/office/drawing/2014/main" id="{C27C159E-E280-4DFF-9F42-9BED4193899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248" descr="矩形 8">
            <a:extLst>
              <a:ext uri="{FF2B5EF4-FFF2-40B4-BE49-F238E27FC236}">
                <a16:creationId xmlns:a16="http://schemas.microsoft.com/office/drawing/2014/main" id="{0A9C1E04-84D1-47CF-B825-7DB8416E841B}"/>
              </a:ext>
            </a:extLst>
          </p:cNvPr>
          <p:cNvSpPr/>
          <p:nvPr/>
        </p:nvSpPr>
        <p:spPr>
          <a:xfrm>
            <a:off x="7933954" y="2181670"/>
            <a:ext cx="7019831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6000" dirty="0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手机快充  </a:t>
            </a:r>
            <a:endParaRPr lang="en-US" altLang="zh-CN" sz="60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1" animBg="1" advAuto="0"/>
      <p:bldP spid="258" grpId="0" animBg="1"/>
      <p:bldP spid="259" grpId="0" animBg="1"/>
      <p:bldP spid="10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-44655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 descr="矩形 8"/>
          <p:cNvSpPr/>
          <p:nvPr/>
        </p:nvSpPr>
        <p:spPr>
          <a:xfrm>
            <a:off x="610458" y="870035"/>
            <a:ext cx="865620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9" name="Shape 259"/>
          <p:cNvSpPr/>
          <p:nvPr/>
        </p:nvSpPr>
        <p:spPr>
          <a:xfrm>
            <a:off x="14399099" y="3414444"/>
            <a:ext cx="6873677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左边屏、右边屏电池互动</a:t>
            </a:r>
            <a:endParaRPr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image1.png" descr="logo.png">
            <a:extLst>
              <a:ext uri="{FF2B5EF4-FFF2-40B4-BE49-F238E27FC236}">
                <a16:creationId xmlns:a16="http://schemas.microsoft.com/office/drawing/2014/main" id="{C27C159E-E280-4DFF-9F42-9BED4193899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248" descr="矩形 8">
            <a:extLst>
              <a:ext uri="{FF2B5EF4-FFF2-40B4-BE49-F238E27FC236}">
                <a16:creationId xmlns:a16="http://schemas.microsoft.com/office/drawing/2014/main" id="{0A9C1E04-84D1-47CF-B825-7DB8416E841B}"/>
              </a:ext>
            </a:extLst>
          </p:cNvPr>
          <p:cNvSpPr/>
          <p:nvPr/>
        </p:nvSpPr>
        <p:spPr>
          <a:xfrm>
            <a:off x="3634154" y="1847287"/>
            <a:ext cx="12791802" cy="1569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lvl="1" algn="l"/>
            <a:r>
              <a:rPr lang="zh-CN" altLang="en-US" sz="5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高端双电池手机电源管理 </a:t>
            </a:r>
            <a:r>
              <a:rPr lang="zh-CN" altLang="en-US" sz="4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（两个小空间能塞就塞小电池） 以折叠手机为例，但不限于折叠手机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945FDA-C4C9-40BA-8551-58700993C4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029" y="4274934"/>
            <a:ext cx="10327997" cy="6801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箭头: 右弧形 14">
            <a:extLst>
              <a:ext uri="{FF2B5EF4-FFF2-40B4-BE49-F238E27FC236}">
                <a16:creationId xmlns:a16="http://schemas.microsoft.com/office/drawing/2014/main" id="{C546CF66-823D-4082-BCF1-900A7C85FCA8}"/>
              </a:ext>
            </a:extLst>
          </p:cNvPr>
          <p:cNvSpPr/>
          <p:nvPr/>
        </p:nvSpPr>
        <p:spPr>
          <a:xfrm>
            <a:off x="14643611" y="10444505"/>
            <a:ext cx="731520" cy="1216152"/>
          </a:xfrm>
          <a:prstGeom prst="curvedLeftArrow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右弧形 15">
            <a:extLst>
              <a:ext uri="{FF2B5EF4-FFF2-40B4-BE49-F238E27FC236}">
                <a16:creationId xmlns:a16="http://schemas.microsoft.com/office/drawing/2014/main" id="{7C8547C7-4C88-44EC-8018-1009D0C6EF1F}"/>
              </a:ext>
            </a:extLst>
          </p:cNvPr>
          <p:cNvSpPr/>
          <p:nvPr/>
        </p:nvSpPr>
        <p:spPr>
          <a:xfrm>
            <a:off x="2322095" y="8001000"/>
            <a:ext cx="12321516" cy="2443505"/>
          </a:xfrm>
          <a:prstGeom prst="curvedLeftArrow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531B692-AE73-4111-A806-E657F3720A51}"/>
              </a:ext>
            </a:extLst>
          </p:cNvPr>
          <p:cNvSpPr/>
          <p:nvPr/>
        </p:nvSpPr>
        <p:spPr>
          <a:xfrm>
            <a:off x="12885821" y="7471611"/>
            <a:ext cx="1757790" cy="830178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8AC34B8-6A30-48B1-A4D3-A97002CCCA98}"/>
              </a:ext>
            </a:extLst>
          </p:cNvPr>
          <p:cNvGrpSpPr/>
          <p:nvPr/>
        </p:nvGrpSpPr>
        <p:grpSpPr>
          <a:xfrm>
            <a:off x="12885821" y="4454537"/>
            <a:ext cx="10449747" cy="5431872"/>
            <a:chOff x="6345593" y="3368990"/>
            <a:chExt cx="13861788" cy="7205482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1C33924-2DE0-46A8-BC05-2E9E37AB9769}"/>
                </a:ext>
              </a:extLst>
            </p:cNvPr>
            <p:cNvGrpSpPr/>
            <p:nvPr/>
          </p:nvGrpSpPr>
          <p:grpSpPr>
            <a:xfrm>
              <a:off x="6381786" y="3368990"/>
              <a:ext cx="13825595" cy="7205482"/>
              <a:chOff x="5022218" y="3754001"/>
              <a:chExt cx="13825595" cy="7205482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A46AFCD8-7F91-4E6C-9E7C-C1ED460EDFD1}"/>
                  </a:ext>
                </a:extLst>
              </p:cNvPr>
              <p:cNvGrpSpPr/>
              <p:nvPr/>
            </p:nvGrpSpPr>
            <p:grpSpPr>
              <a:xfrm>
                <a:off x="5022218" y="3754001"/>
                <a:ext cx="11694303" cy="2017461"/>
                <a:chOff x="0" y="328239"/>
                <a:chExt cx="5047098" cy="870867"/>
              </a:xfrm>
            </p:grpSpPr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9184042B-FB13-4D8F-A7F3-0EA4EC64BE92}"/>
                    </a:ext>
                  </a:extLst>
                </p:cNvPr>
                <p:cNvSpPr/>
                <p:nvPr/>
              </p:nvSpPr>
              <p:spPr>
                <a:xfrm>
                  <a:off x="786008" y="347336"/>
                  <a:ext cx="1431099" cy="85177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48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大电池</a:t>
                  </a:r>
                </a:p>
              </p:txBody>
            </p:sp>
            <p:sp>
              <p:nvSpPr>
                <p:cNvPr id="49" name="矩形: 圆角 48">
                  <a:extLst>
                    <a:ext uri="{FF2B5EF4-FFF2-40B4-BE49-F238E27FC236}">
                      <a16:creationId xmlns:a16="http://schemas.microsoft.com/office/drawing/2014/main" id="{FE9357BE-35CD-4599-AD1A-7B1D5E63C534}"/>
                    </a:ext>
                  </a:extLst>
                </p:cNvPr>
                <p:cNvSpPr/>
                <p:nvPr/>
              </p:nvSpPr>
              <p:spPr>
                <a:xfrm>
                  <a:off x="2927959" y="563410"/>
                  <a:ext cx="873691" cy="51983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32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小电池</a:t>
                  </a:r>
                </a:p>
              </p:txBody>
            </p:sp>
            <p:sp>
              <p:nvSpPr>
                <p:cNvPr id="50" name="流程图: 接点 49">
                  <a:extLst>
                    <a:ext uri="{FF2B5EF4-FFF2-40B4-BE49-F238E27FC236}">
                      <a16:creationId xmlns:a16="http://schemas.microsoft.com/office/drawing/2014/main" id="{00B7BD0E-52BF-4458-BAAE-590F09388DF7}"/>
                    </a:ext>
                  </a:extLst>
                </p:cNvPr>
                <p:cNvSpPr/>
                <p:nvPr/>
              </p:nvSpPr>
              <p:spPr>
                <a:xfrm>
                  <a:off x="0" y="579068"/>
                  <a:ext cx="400833" cy="400833"/>
                </a:xfrm>
                <a:prstGeom prst="flowChartConnector">
                  <a:avLst/>
                </a:prstGeom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sz="44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lang="zh-CN" sz="4400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加号 50">
                  <a:extLst>
                    <a:ext uri="{FF2B5EF4-FFF2-40B4-BE49-F238E27FC236}">
                      <a16:creationId xmlns:a16="http://schemas.microsoft.com/office/drawing/2014/main" id="{115898E3-8496-49B1-A4BB-8B369FCCDAAB}"/>
                    </a:ext>
                  </a:extLst>
                </p:cNvPr>
                <p:cNvSpPr/>
                <p:nvPr/>
              </p:nvSpPr>
              <p:spPr>
                <a:xfrm>
                  <a:off x="2379945" y="682408"/>
                  <a:ext cx="310019" cy="310019"/>
                </a:xfrm>
                <a:prstGeom prst="math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F4BDFE3E-0DC3-412F-ADFD-9260FAE3187A}"/>
                    </a:ext>
                  </a:extLst>
                </p:cNvPr>
                <p:cNvSpPr/>
                <p:nvPr/>
              </p:nvSpPr>
              <p:spPr>
                <a:xfrm>
                  <a:off x="675674" y="642193"/>
                  <a:ext cx="112587" cy="2590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E97BD846-64E1-4B2E-8364-7F48F9080819}"/>
                    </a:ext>
                  </a:extLst>
                </p:cNvPr>
                <p:cNvSpPr/>
                <p:nvPr/>
              </p:nvSpPr>
              <p:spPr>
                <a:xfrm>
                  <a:off x="2818356" y="741906"/>
                  <a:ext cx="109603" cy="1691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对话气泡: 椭圆形 53">
                  <a:extLst>
                    <a:ext uri="{FF2B5EF4-FFF2-40B4-BE49-F238E27FC236}">
                      <a16:creationId xmlns:a16="http://schemas.microsoft.com/office/drawing/2014/main" id="{C85E52B8-B7CC-4553-A575-FA51D3064A67}"/>
                    </a:ext>
                  </a:extLst>
                </p:cNvPr>
                <p:cNvSpPr/>
                <p:nvPr/>
              </p:nvSpPr>
              <p:spPr>
                <a:xfrm>
                  <a:off x="4010778" y="328239"/>
                  <a:ext cx="1036320" cy="535305"/>
                </a:xfrm>
                <a:prstGeom prst="wedgeEllipseCallout">
                  <a:avLst>
                    <a:gd name="adj1" fmla="val -58303"/>
                    <a:gd name="adj2" fmla="val 39100"/>
                  </a:avLst>
                </a:prstGeom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齐充</a:t>
                  </a:r>
                  <a:endParaRPr lang="en-US" altLang="zh-CN" sz="2800" b="1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zh-CN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齐放</a:t>
                  </a:r>
                  <a:endParaRPr lang="zh-CN" sz="28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59873D26-D0EA-4F19-AE7F-04EE501A7516}"/>
                  </a:ext>
                </a:extLst>
              </p:cNvPr>
              <p:cNvGrpSpPr/>
              <p:nvPr/>
            </p:nvGrpSpPr>
            <p:grpSpPr>
              <a:xfrm>
                <a:off x="5022218" y="8500212"/>
                <a:ext cx="13337453" cy="2459271"/>
                <a:chOff x="0" y="137525"/>
                <a:chExt cx="5756259" cy="1061581"/>
              </a:xfrm>
            </p:grpSpPr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C182447B-687F-4E71-AD70-29EF7DA9869D}"/>
                    </a:ext>
                  </a:extLst>
                </p:cNvPr>
                <p:cNvSpPr/>
                <p:nvPr/>
              </p:nvSpPr>
              <p:spPr>
                <a:xfrm>
                  <a:off x="786008" y="347336"/>
                  <a:ext cx="1431099" cy="85177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48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大电池</a:t>
                  </a:r>
                </a:p>
              </p:txBody>
            </p:sp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6CC76A11-49E7-4C6D-BB2B-C04479E8B115}"/>
                    </a:ext>
                  </a:extLst>
                </p:cNvPr>
                <p:cNvSpPr/>
                <p:nvPr/>
              </p:nvSpPr>
              <p:spPr>
                <a:xfrm>
                  <a:off x="2927959" y="563410"/>
                  <a:ext cx="873691" cy="51983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32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小电池</a:t>
                  </a:r>
                </a:p>
              </p:txBody>
            </p:sp>
            <p:sp>
              <p:nvSpPr>
                <p:cNvPr id="43" name="流程图: 接点 42">
                  <a:extLst>
                    <a:ext uri="{FF2B5EF4-FFF2-40B4-BE49-F238E27FC236}">
                      <a16:creationId xmlns:a16="http://schemas.microsoft.com/office/drawing/2014/main" id="{2CB34607-3357-4678-ABBC-E64F29BB9A42}"/>
                    </a:ext>
                  </a:extLst>
                </p:cNvPr>
                <p:cNvSpPr/>
                <p:nvPr/>
              </p:nvSpPr>
              <p:spPr>
                <a:xfrm>
                  <a:off x="0" y="579068"/>
                  <a:ext cx="400833" cy="400833"/>
                </a:xfrm>
                <a:prstGeom prst="flowChartConnector">
                  <a:avLst/>
                </a:prstGeom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en-US" altLang="zh-CN" sz="44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3</a:t>
                  </a:r>
                  <a:endParaRPr lang="zh-CN" sz="44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加号 43">
                  <a:extLst>
                    <a:ext uri="{FF2B5EF4-FFF2-40B4-BE49-F238E27FC236}">
                      <a16:creationId xmlns:a16="http://schemas.microsoft.com/office/drawing/2014/main" id="{3FE942E0-48CC-4FA6-90FD-D389CBC53FB0}"/>
                    </a:ext>
                  </a:extLst>
                </p:cNvPr>
                <p:cNvSpPr/>
                <p:nvPr/>
              </p:nvSpPr>
              <p:spPr>
                <a:xfrm>
                  <a:off x="2379945" y="682408"/>
                  <a:ext cx="310019" cy="310019"/>
                </a:xfrm>
                <a:prstGeom prst="math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DA10EE65-B458-48DD-AD5D-CC958CBE6C33}"/>
                    </a:ext>
                  </a:extLst>
                </p:cNvPr>
                <p:cNvSpPr/>
                <p:nvPr/>
              </p:nvSpPr>
              <p:spPr>
                <a:xfrm>
                  <a:off x="676894" y="634139"/>
                  <a:ext cx="112587" cy="2590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BDC5E8BB-A50D-4CE8-9013-1DEFC9B036EB}"/>
                    </a:ext>
                  </a:extLst>
                </p:cNvPr>
                <p:cNvSpPr/>
                <p:nvPr/>
              </p:nvSpPr>
              <p:spPr>
                <a:xfrm>
                  <a:off x="2818356" y="741906"/>
                  <a:ext cx="109603" cy="1691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对话气泡: 椭圆形 46">
                  <a:extLst>
                    <a:ext uri="{FF2B5EF4-FFF2-40B4-BE49-F238E27FC236}">
                      <a16:creationId xmlns:a16="http://schemas.microsoft.com/office/drawing/2014/main" id="{9241744B-0D27-4E45-8A97-08EBBFBF467B}"/>
                    </a:ext>
                  </a:extLst>
                </p:cNvPr>
                <p:cNvSpPr/>
                <p:nvPr/>
              </p:nvSpPr>
              <p:spPr>
                <a:xfrm>
                  <a:off x="4022828" y="137525"/>
                  <a:ext cx="1733431" cy="851770"/>
                </a:xfrm>
                <a:prstGeom prst="wedgeEllipseCallout">
                  <a:avLst>
                    <a:gd name="adj1" fmla="val -58303"/>
                    <a:gd name="adj2" fmla="val 39100"/>
                  </a:avLst>
                </a:prstGeom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齐</a:t>
                  </a:r>
                  <a:r>
                    <a:rPr lang="zh-CN" altLang="en-US" sz="2800" b="1" kern="1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快充</a:t>
                  </a:r>
                  <a:endParaRPr lang="en-US" altLang="zh-CN" sz="2800" b="1" kern="100" dirty="0"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zh-CN" altLang="en-US" sz="2800" b="1" kern="1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一个一个</a:t>
                  </a:r>
                  <a:r>
                    <a:rPr lang="zh-CN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放</a:t>
                  </a:r>
                  <a:endParaRPr lang="zh-CN" sz="28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85C9313-10A4-4285-B914-67E8FCE2F680}"/>
                  </a:ext>
                </a:extLst>
              </p:cNvPr>
              <p:cNvGrpSpPr/>
              <p:nvPr/>
            </p:nvGrpSpPr>
            <p:grpSpPr>
              <a:xfrm>
                <a:off x="6686798" y="5787423"/>
                <a:ext cx="12161015" cy="2582836"/>
                <a:chOff x="982509" y="77932"/>
                <a:chExt cx="5248525" cy="1114920"/>
              </a:xfrm>
            </p:grpSpPr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C4CF5EA2-F1E0-4742-A522-61E1F0D4B53E}"/>
                    </a:ext>
                  </a:extLst>
                </p:cNvPr>
                <p:cNvSpPr/>
                <p:nvPr/>
              </p:nvSpPr>
              <p:spPr>
                <a:xfrm>
                  <a:off x="2973532" y="341082"/>
                  <a:ext cx="1431099" cy="85177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48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大电池</a:t>
                  </a:r>
                </a:p>
              </p:txBody>
            </p:sp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EF6F8B94-8C18-4655-8E66-5742E10C6685}"/>
                    </a:ext>
                  </a:extLst>
                </p:cNvPr>
                <p:cNvSpPr/>
                <p:nvPr/>
              </p:nvSpPr>
              <p:spPr>
                <a:xfrm>
                  <a:off x="1092112" y="481750"/>
                  <a:ext cx="873691" cy="519830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3200" b="1" kern="100" dirty="0">
                      <a:solidFill>
                        <a:srgbClr val="FFFFFF"/>
                      </a:solidFill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小电池</a:t>
                  </a:r>
                </a:p>
              </p:txBody>
            </p:sp>
            <p:sp>
              <p:nvSpPr>
                <p:cNvPr id="37" name="加号 36">
                  <a:extLst>
                    <a:ext uri="{FF2B5EF4-FFF2-40B4-BE49-F238E27FC236}">
                      <a16:creationId xmlns:a16="http://schemas.microsoft.com/office/drawing/2014/main" id="{B05070DE-CBC3-4376-9B9A-480D3BC0C9D6}"/>
                    </a:ext>
                  </a:extLst>
                </p:cNvPr>
                <p:cNvSpPr/>
                <p:nvPr/>
              </p:nvSpPr>
              <p:spPr>
                <a:xfrm>
                  <a:off x="2379945" y="682408"/>
                  <a:ext cx="310019" cy="310019"/>
                </a:xfrm>
                <a:prstGeom prst="mathPlus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4768CC1C-C318-426E-8235-2CE6FD3BBAAD}"/>
                    </a:ext>
                  </a:extLst>
                </p:cNvPr>
                <p:cNvSpPr/>
                <p:nvPr/>
              </p:nvSpPr>
              <p:spPr>
                <a:xfrm>
                  <a:off x="2872126" y="635360"/>
                  <a:ext cx="112587" cy="25908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4260CFF0-CC76-456A-B932-532946B8A1B7}"/>
                    </a:ext>
                  </a:extLst>
                </p:cNvPr>
                <p:cNvSpPr/>
                <p:nvPr/>
              </p:nvSpPr>
              <p:spPr>
                <a:xfrm>
                  <a:off x="982509" y="660246"/>
                  <a:ext cx="109603" cy="16910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对话气泡: 椭圆形 39">
                  <a:extLst>
                    <a:ext uri="{FF2B5EF4-FFF2-40B4-BE49-F238E27FC236}">
                      <a16:creationId xmlns:a16="http://schemas.microsoft.com/office/drawing/2014/main" id="{1EF7B3BF-CFDA-4AE1-B385-051759206BB3}"/>
                    </a:ext>
                  </a:extLst>
                </p:cNvPr>
                <p:cNvSpPr/>
                <p:nvPr/>
              </p:nvSpPr>
              <p:spPr>
                <a:xfrm>
                  <a:off x="4688199" y="77932"/>
                  <a:ext cx="1542835" cy="796942"/>
                </a:xfrm>
                <a:prstGeom prst="wedgeEllipseCallout">
                  <a:avLst>
                    <a:gd name="adj1" fmla="val -58303"/>
                    <a:gd name="adj2" fmla="val 39100"/>
                  </a:avLst>
                </a:prstGeom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Aft>
                      <a:spcPts val="0"/>
                    </a:spcAft>
                  </a:pPr>
                  <a:r>
                    <a:rPr lang="zh-CN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齐</a:t>
                  </a:r>
                  <a:r>
                    <a:rPr lang="zh-CN" altLang="en-US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快充</a:t>
                  </a:r>
                  <a:endParaRPr lang="en-US" altLang="zh-CN" sz="2800" b="1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ctr">
                    <a:spcAft>
                      <a:spcPts val="0"/>
                    </a:spcAft>
                  </a:pPr>
                  <a:r>
                    <a:rPr lang="zh-CN" altLang="en-US" sz="2800" b="1" kern="100" dirty="0"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正规</a:t>
                  </a:r>
                  <a:r>
                    <a:rPr lang="zh-CN" sz="2800" b="1" kern="100" dirty="0">
                      <a:effectLst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放</a:t>
                  </a:r>
                  <a:endParaRPr lang="zh-CN" sz="28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32" name="连接符: 肘形 31">
                <a:extLst>
                  <a:ext uri="{FF2B5EF4-FFF2-40B4-BE49-F238E27FC236}">
                    <a16:creationId xmlns:a16="http://schemas.microsoft.com/office/drawing/2014/main" id="{DAD8F6C2-886E-42B7-BBC4-35A4550E5FBC}"/>
                  </a:ext>
                </a:extLst>
              </p:cNvPr>
              <p:cNvCxnSpPr>
                <a:stCxn id="41" idx="0"/>
                <a:endCxn id="42" idx="0"/>
              </p:cNvCxnSpPr>
              <p:nvPr/>
            </p:nvCxnSpPr>
            <p:spPr>
              <a:xfrm rot="16200000" flipH="1">
                <a:off x="10409704" y="7077938"/>
                <a:ext cx="500561" cy="4317209"/>
              </a:xfrm>
              <a:prstGeom prst="bentConnector3">
                <a:avLst>
                  <a:gd name="adj1" fmla="val -45669"/>
                </a:avLst>
              </a:prstGeom>
              <a:noFill/>
              <a:ln w="57150" cap="flat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7" name="流程图: 接点 26">
              <a:extLst>
                <a:ext uri="{FF2B5EF4-FFF2-40B4-BE49-F238E27FC236}">
                  <a16:creationId xmlns:a16="http://schemas.microsoft.com/office/drawing/2014/main" id="{74B15922-F98F-4722-A8F7-DD2004B187BD}"/>
                </a:ext>
              </a:extLst>
            </p:cNvPr>
            <p:cNvSpPr/>
            <p:nvPr/>
          </p:nvSpPr>
          <p:spPr>
            <a:xfrm>
              <a:off x="6345593" y="6393712"/>
              <a:ext cx="928744" cy="928575"/>
            </a:xfrm>
            <a:prstGeom prst="flowChartConnector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4400" b="1" kern="100" dirty="0">
                  <a:solidFill>
                    <a:srgbClr val="FFFFFF"/>
                  </a:solidFill>
                  <a:ea typeface="等线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sz="4400" kern="100" dirty="0">
                <a:solidFill>
                  <a:srgbClr val="FFFFFF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2990D4A-175E-4118-AEDE-4269B2D6EF09}"/>
              </a:ext>
            </a:extLst>
          </p:cNvPr>
          <p:cNvGrpSpPr/>
          <p:nvPr/>
        </p:nvGrpSpPr>
        <p:grpSpPr>
          <a:xfrm>
            <a:off x="15535880" y="9684063"/>
            <a:ext cx="3254539" cy="760442"/>
            <a:chOff x="15535881" y="9684063"/>
            <a:chExt cx="3254539" cy="760442"/>
          </a:xfrm>
        </p:grpSpPr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5D0CAB44-4B7F-4803-84AC-D771DF7AEED3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 rot="16200000" flipH="1">
              <a:off x="16895754" y="8526536"/>
              <a:ext cx="534792" cy="3254538"/>
            </a:xfrm>
            <a:prstGeom prst="bentConnector2">
              <a:avLst/>
            </a:prstGeom>
            <a:noFill/>
            <a:ln w="57150" cap="flat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1FBE08F-E4E3-4925-A8A3-CD6D3137B98C}"/>
                </a:ext>
              </a:extLst>
            </p:cNvPr>
            <p:cNvCxnSpPr>
              <a:stCxn id="42" idx="2"/>
            </p:cNvCxnSpPr>
            <p:nvPr/>
          </p:nvCxnSpPr>
          <p:spPr>
            <a:xfrm flipH="1">
              <a:off x="18790419" y="9684063"/>
              <a:ext cx="1" cy="760442"/>
            </a:xfrm>
            <a:prstGeom prst="line">
              <a:avLst/>
            </a:prstGeom>
            <a:noFill/>
            <a:ln w="57150" cap="flat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9" name="箭头: 下 18">
            <a:extLst>
              <a:ext uri="{FF2B5EF4-FFF2-40B4-BE49-F238E27FC236}">
                <a16:creationId xmlns:a16="http://schemas.microsoft.com/office/drawing/2014/main" id="{705B2589-2F17-4102-84A4-E1B44F3970AA}"/>
              </a:ext>
            </a:extLst>
          </p:cNvPr>
          <p:cNvSpPr/>
          <p:nvPr/>
        </p:nvSpPr>
        <p:spPr>
          <a:xfrm>
            <a:off x="16953714" y="10447447"/>
            <a:ext cx="514839" cy="5347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2EDDB9-2786-4F98-816A-C92ED4027DE4}"/>
              </a:ext>
            </a:extLst>
          </p:cNvPr>
          <p:cNvSpPr txBox="1"/>
          <p:nvPr/>
        </p:nvSpPr>
        <p:spPr>
          <a:xfrm>
            <a:off x="16425956" y="10782143"/>
            <a:ext cx="384765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GND(</a:t>
            </a: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地</a:t>
            </a:r>
            <a:r>
              <a:rPr kumimoji="0" lang="en-US" altLang="zh-CN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)</a:t>
            </a:r>
            <a:endParaRPr kumimoji="0" lang="zh-CN" altLang="en-US" sz="40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50769045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animBg="1" advAuto="0"/>
      <p:bldP spid="259" grpId="0" animBg="1"/>
      <p:bldP spid="10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1.jpeg" descr="图片 4">
            <a:extLst>
              <a:ext uri="{FF2B5EF4-FFF2-40B4-BE49-F238E27FC236}">
                <a16:creationId xmlns:a16="http://schemas.microsoft.com/office/drawing/2014/main" id="{21BE2672-B449-420A-BAB9-94A91928A6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0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 descr="矩形 8"/>
          <p:cNvSpPr/>
          <p:nvPr/>
        </p:nvSpPr>
        <p:spPr>
          <a:xfrm>
            <a:off x="610458" y="870035"/>
            <a:ext cx="865620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image1.png" descr="logo.png">
            <a:extLst>
              <a:ext uri="{FF2B5EF4-FFF2-40B4-BE49-F238E27FC236}">
                <a16:creationId xmlns:a16="http://schemas.microsoft.com/office/drawing/2014/main" id="{C27C159E-E280-4DFF-9F42-9BED4193899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箭头: 直角上 30">
            <a:extLst>
              <a:ext uri="{FF2B5EF4-FFF2-40B4-BE49-F238E27FC236}">
                <a16:creationId xmlns:a16="http://schemas.microsoft.com/office/drawing/2014/main" id="{C0189D74-784F-4816-A621-E2B6E407D474}"/>
              </a:ext>
            </a:extLst>
          </p:cNvPr>
          <p:cNvSpPr/>
          <p:nvPr/>
        </p:nvSpPr>
        <p:spPr>
          <a:xfrm flipV="1">
            <a:off x="9018270" y="2468880"/>
            <a:ext cx="10509724" cy="2160270"/>
          </a:xfrm>
          <a:prstGeom prst="bentUpArrow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" name="箭头: 直角上 282">
            <a:extLst>
              <a:ext uri="{FF2B5EF4-FFF2-40B4-BE49-F238E27FC236}">
                <a16:creationId xmlns:a16="http://schemas.microsoft.com/office/drawing/2014/main" id="{5C2458FE-0674-4F9D-8A49-756DD6065473}"/>
              </a:ext>
            </a:extLst>
          </p:cNvPr>
          <p:cNvSpPr/>
          <p:nvPr/>
        </p:nvSpPr>
        <p:spPr>
          <a:xfrm>
            <a:off x="1337481" y="5235416"/>
            <a:ext cx="14289184" cy="1702843"/>
          </a:xfrm>
          <a:prstGeom prst="bentUpArrow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21">
            <a:extLst>
              <a:ext uri="{FF2B5EF4-FFF2-40B4-BE49-F238E27FC236}">
                <a16:creationId xmlns:a16="http://schemas.microsoft.com/office/drawing/2014/main" id="{59FAE36F-77E7-426F-AD07-580B34E4E3A4}"/>
              </a:ext>
            </a:extLst>
          </p:cNvPr>
          <p:cNvCxnSpPr>
            <a:cxnSpLocks/>
          </p:cNvCxnSpPr>
          <p:nvPr/>
        </p:nvCxnSpPr>
        <p:spPr>
          <a:xfrm>
            <a:off x="16831738" y="4495800"/>
            <a:ext cx="4724" cy="1048352"/>
          </a:xfrm>
          <a:prstGeom prst="line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直接连接符 21">
            <a:extLst>
              <a:ext uri="{FF2B5EF4-FFF2-40B4-BE49-F238E27FC236}">
                <a16:creationId xmlns:a16="http://schemas.microsoft.com/office/drawing/2014/main" id="{59FAE36F-77E7-426F-AD07-580B34E4E3A4}"/>
              </a:ext>
            </a:extLst>
          </p:cNvPr>
          <p:cNvCxnSpPr>
            <a:cxnSpLocks/>
          </p:cNvCxnSpPr>
          <p:nvPr/>
        </p:nvCxnSpPr>
        <p:spPr>
          <a:xfrm>
            <a:off x="16840201" y="7975600"/>
            <a:ext cx="4728" cy="701219"/>
          </a:xfrm>
          <a:prstGeom prst="line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5BFFA0-DF42-4F2C-A99C-3F6F030461C9}"/>
              </a:ext>
            </a:extLst>
          </p:cNvPr>
          <p:cNvGrpSpPr/>
          <p:nvPr/>
        </p:nvGrpSpPr>
        <p:grpSpPr>
          <a:xfrm>
            <a:off x="610458" y="2856491"/>
            <a:ext cx="22905808" cy="9737877"/>
            <a:chOff x="477504" y="2196976"/>
            <a:chExt cx="22905808" cy="9737877"/>
          </a:xfrm>
        </p:grpSpPr>
        <p:grpSp>
          <p:nvGrpSpPr>
            <p:cNvPr id="2" name="组合 86">
              <a:extLst>
                <a:ext uri="{FF2B5EF4-FFF2-40B4-BE49-F238E27FC236}">
                  <a16:creationId xmlns:a16="http://schemas.microsoft.com/office/drawing/2014/main" id="{170A167D-82FC-4433-89A7-B6D4034FBEE1}"/>
                </a:ext>
              </a:extLst>
            </p:cNvPr>
            <p:cNvGrpSpPr/>
            <p:nvPr/>
          </p:nvGrpSpPr>
          <p:grpSpPr>
            <a:xfrm>
              <a:off x="8463014" y="2393768"/>
              <a:ext cx="14920298" cy="9541085"/>
              <a:chOff x="5450025" y="3138985"/>
              <a:chExt cx="14920298" cy="9541085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6296963D-F9CF-4004-B456-78BA9ED0D7F7}"/>
                  </a:ext>
                </a:extLst>
              </p:cNvPr>
              <p:cNvSpPr/>
              <p:nvPr/>
            </p:nvSpPr>
            <p:spPr>
              <a:xfrm>
                <a:off x="11344254" y="4137653"/>
                <a:ext cx="8714375" cy="8542417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6C666E7C-4D46-462D-81EE-11F44454516C}"/>
                  </a:ext>
                </a:extLst>
              </p:cNvPr>
              <p:cNvSpPr/>
              <p:nvPr/>
            </p:nvSpPr>
            <p:spPr>
              <a:xfrm>
                <a:off x="16368375" y="6760081"/>
                <a:ext cx="3159619" cy="295654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US" altLang="zh-CN" sz="48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CPU</a:t>
                </a:r>
              </a:p>
              <a:p>
                <a:pPr algn="ctr">
                  <a:spcAft>
                    <a:spcPts val="0"/>
                  </a:spcAft>
                </a:pPr>
                <a:r>
                  <a:rPr lang="zh-CN" altLang="en-US" sz="48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超频</a:t>
                </a:r>
                <a:endParaRPr lang="en-US" altLang="zh-CN" sz="4800" b="1" kern="100" dirty="0">
                  <a:solidFill>
                    <a:srgbClr val="FFFFFF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37B506F8-C9DF-48D1-83EA-7E655DC681F6}"/>
                  </a:ext>
                </a:extLst>
              </p:cNvPr>
              <p:cNvSpPr/>
              <p:nvPr/>
            </p:nvSpPr>
            <p:spPr>
              <a:xfrm>
                <a:off x="13003623" y="9716630"/>
                <a:ext cx="1704639" cy="260978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ea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sz="60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电池</a:t>
                </a:r>
                <a:endParaRPr lang="zh-CN" sz="6000" b="1" kern="100" dirty="0">
                  <a:solidFill>
                    <a:srgbClr val="FFFFFF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79F55DC-4FF8-495A-9102-598476DD1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8824" y="5233092"/>
                <a:ext cx="9413215" cy="7257"/>
              </a:xfrm>
              <a:prstGeom prst="line">
                <a:avLst/>
              </a:prstGeom>
              <a:noFill/>
              <a:ln w="76200" cap="flat" cmpd="sng">
                <a:solidFill>
                  <a:schemeClr val="accent1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9FAE36F-77E7-426F-AD07-580B34E4E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29154" y="5214815"/>
                <a:ext cx="2097" cy="1545266"/>
              </a:xfrm>
              <a:prstGeom prst="line">
                <a:avLst/>
              </a:prstGeom>
              <a:noFill/>
              <a:ln w="76200" cap="flat" cmpd="sng">
                <a:solidFill>
                  <a:schemeClr val="accent1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CD6C5D23-C965-4F73-B53A-FC2E7C91B438}"/>
                  </a:ext>
                </a:extLst>
              </p:cNvPr>
              <p:cNvSpPr/>
              <p:nvPr/>
            </p:nvSpPr>
            <p:spPr>
              <a:xfrm>
                <a:off x="13523068" y="9387454"/>
                <a:ext cx="665748" cy="36206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ea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endParaRPr lang="zh-CN" sz="4400" b="1" kern="100" dirty="0">
                  <a:solidFill>
                    <a:srgbClr val="FFFFFF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4" name="箭头: 直角上 223">
                <a:extLst>
                  <a:ext uri="{FF2B5EF4-FFF2-40B4-BE49-F238E27FC236}">
                    <a16:creationId xmlns:a16="http://schemas.microsoft.com/office/drawing/2014/main" id="{D552AF05-E122-4C5F-8295-260684830C6D}"/>
                  </a:ext>
                </a:extLst>
              </p:cNvPr>
              <p:cNvSpPr/>
              <p:nvPr/>
            </p:nvSpPr>
            <p:spPr>
              <a:xfrm>
                <a:off x="9566910" y="3560139"/>
                <a:ext cx="10309178" cy="954711"/>
              </a:xfrm>
              <a:prstGeom prst="bentUp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箭头: 直角上 224">
                <a:extLst>
                  <a:ext uri="{FF2B5EF4-FFF2-40B4-BE49-F238E27FC236}">
                    <a16:creationId xmlns:a16="http://schemas.microsoft.com/office/drawing/2014/main" id="{47BC8209-D998-4801-8900-1A8BD4EF2949}"/>
                  </a:ext>
                </a:extLst>
              </p:cNvPr>
              <p:cNvSpPr/>
              <p:nvPr/>
            </p:nvSpPr>
            <p:spPr>
              <a:xfrm>
                <a:off x="8366078" y="3138985"/>
                <a:ext cx="12004245" cy="3890207"/>
              </a:xfrm>
              <a:prstGeom prst="bentUp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箭头: 直角上 225">
                <a:extLst>
                  <a:ext uri="{FF2B5EF4-FFF2-40B4-BE49-F238E27FC236}">
                    <a16:creationId xmlns:a16="http://schemas.microsoft.com/office/drawing/2014/main" id="{182CAE24-CBCD-443A-BC67-4B5A6369A2F0}"/>
                  </a:ext>
                </a:extLst>
              </p:cNvPr>
              <p:cNvSpPr/>
              <p:nvPr/>
            </p:nvSpPr>
            <p:spPr>
              <a:xfrm>
                <a:off x="11259403" y="4514850"/>
                <a:ext cx="7792872" cy="2160270"/>
              </a:xfrm>
              <a:prstGeom prst="bentUp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箭头: 上弧形 269">
                <a:extLst>
                  <a:ext uri="{FF2B5EF4-FFF2-40B4-BE49-F238E27FC236}">
                    <a16:creationId xmlns:a16="http://schemas.microsoft.com/office/drawing/2014/main" id="{F3C24668-C52C-4680-8B5E-0A9A66A8C96E}"/>
                  </a:ext>
                </a:extLst>
              </p:cNvPr>
              <p:cNvSpPr/>
              <p:nvPr/>
            </p:nvSpPr>
            <p:spPr>
              <a:xfrm>
                <a:off x="8038531" y="4899546"/>
                <a:ext cx="10873554" cy="2406670"/>
              </a:xfrm>
              <a:prstGeom prst="curvedDown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箭头: 直角上 279">
                <a:extLst>
                  <a:ext uri="{FF2B5EF4-FFF2-40B4-BE49-F238E27FC236}">
                    <a16:creationId xmlns:a16="http://schemas.microsoft.com/office/drawing/2014/main" id="{4D881C16-15D6-4089-9A3F-620422764092}"/>
                  </a:ext>
                </a:extLst>
              </p:cNvPr>
              <p:cNvSpPr/>
              <p:nvPr/>
            </p:nvSpPr>
            <p:spPr>
              <a:xfrm>
                <a:off x="8366078" y="3560139"/>
                <a:ext cx="10509724" cy="3428909"/>
              </a:xfrm>
              <a:prstGeom prst="bentUp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箭头: 直角上 280">
                <a:extLst>
                  <a:ext uri="{FF2B5EF4-FFF2-40B4-BE49-F238E27FC236}">
                    <a16:creationId xmlns:a16="http://schemas.microsoft.com/office/drawing/2014/main" id="{848AB737-7431-4859-BD02-CC575F346D99}"/>
                  </a:ext>
                </a:extLst>
              </p:cNvPr>
              <p:cNvSpPr/>
              <p:nvPr/>
            </p:nvSpPr>
            <p:spPr>
              <a:xfrm>
                <a:off x="11405121" y="6548772"/>
                <a:ext cx="850392" cy="731520"/>
              </a:xfrm>
              <a:prstGeom prst="bentUp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86" name="连接符: 肘形 285">
                <a:extLst>
                  <a:ext uri="{FF2B5EF4-FFF2-40B4-BE49-F238E27FC236}">
                    <a16:creationId xmlns:a16="http://schemas.microsoft.com/office/drawing/2014/main" id="{E21CF017-AE5C-46AA-B8D2-91D2E6A78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49245" y="4789732"/>
                <a:ext cx="8384163" cy="2669552"/>
              </a:xfrm>
              <a:prstGeom prst="bentConnector3">
                <a:avLst>
                  <a:gd name="adj1" fmla="val 99886"/>
                </a:avLst>
              </a:prstGeom>
              <a:noFill/>
              <a:ln w="152400" cap="flat">
                <a:solidFill>
                  <a:srgbClr val="FF0000"/>
                </a:solidFill>
                <a:prstDash val="solid"/>
                <a:round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0" name="连接符: 肘形 99">
                <a:extLst>
                  <a:ext uri="{FF2B5EF4-FFF2-40B4-BE49-F238E27FC236}">
                    <a16:creationId xmlns:a16="http://schemas.microsoft.com/office/drawing/2014/main" id="{7F20A56E-43B9-4BD5-A0B2-27B696A090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59255" y="5508738"/>
                <a:ext cx="6986013" cy="2141256"/>
              </a:xfrm>
              <a:prstGeom prst="bentConnector3">
                <a:avLst>
                  <a:gd name="adj1" fmla="val 100012"/>
                </a:avLst>
              </a:prstGeom>
              <a:noFill/>
              <a:ln w="152400" cap="flat">
                <a:solidFill>
                  <a:srgbClr val="00B050">
                    <a:alpha val="60000"/>
                  </a:srgbClr>
                </a:solidFill>
                <a:prstDash val="solid"/>
                <a:round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5DD5F863-65E8-4945-BE0E-CF9C8F8B7F28}"/>
                  </a:ext>
                </a:extLst>
              </p:cNvPr>
              <p:cNvSpPr/>
              <p:nvPr/>
            </p:nvSpPr>
            <p:spPr>
              <a:xfrm>
                <a:off x="12585404" y="6206218"/>
                <a:ext cx="2519265" cy="258638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altLang="zh-CN" sz="5400" b="1" kern="100" dirty="0">
                    <a:solidFill>
                      <a:srgbClr val="FFFFFF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HPB</a:t>
                </a:r>
              </a:p>
              <a:p>
                <a:r>
                  <a:rPr lang="zh-CN" altLang="en-US" sz="5400" b="1" kern="100" dirty="0">
                    <a:solidFill>
                      <a:srgbClr val="FFFFFF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充</a:t>
                </a:r>
                <a:r>
                  <a:rPr lang="zh-CN" sz="54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电</a:t>
                </a:r>
                <a:endParaRPr lang="en-US" altLang="zh-CN" sz="5400" b="1" kern="100" dirty="0">
                  <a:solidFill>
                    <a:srgbClr val="FFFFFF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54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线路</a:t>
                </a:r>
                <a:endParaRPr lang="zh-CN" sz="5400" b="1" kern="100" dirty="0">
                  <a:solidFill>
                    <a:srgbClr val="FFFFFF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箭头: 下 81">
                <a:extLst>
                  <a:ext uri="{FF2B5EF4-FFF2-40B4-BE49-F238E27FC236}">
                    <a16:creationId xmlns:a16="http://schemas.microsoft.com/office/drawing/2014/main" id="{A1342451-EC2F-46A2-9562-1DD7E33663D4}"/>
                  </a:ext>
                </a:extLst>
              </p:cNvPr>
              <p:cNvSpPr/>
              <p:nvPr/>
            </p:nvSpPr>
            <p:spPr>
              <a:xfrm>
                <a:off x="5450025" y="10630871"/>
                <a:ext cx="923263" cy="864840"/>
              </a:xfrm>
              <a:prstGeom prst="downArrow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箭头: 上 82">
                <a:extLst>
                  <a:ext uri="{FF2B5EF4-FFF2-40B4-BE49-F238E27FC236}">
                    <a16:creationId xmlns:a16="http://schemas.microsoft.com/office/drawing/2014/main" id="{B7938B11-35AD-434D-BE2B-83D8778DE3F4}"/>
                  </a:ext>
                </a:extLst>
              </p:cNvPr>
              <p:cNvSpPr/>
              <p:nvPr/>
            </p:nvSpPr>
            <p:spPr>
              <a:xfrm>
                <a:off x="18577005" y="8022028"/>
                <a:ext cx="805216" cy="1005733"/>
              </a:xfrm>
              <a:prstGeom prst="upArrow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</a:pPr>
                <a:endParaRPr lang="zh-CN" altLang="en-US" sz="3600" spc="50" dirty="0">
                  <a:ln w="0"/>
                  <a:solidFill>
                    <a:srgbClr val="FFFFFF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1CC7442A-7F08-4BD8-B341-FC2E83930827}"/>
                  </a:ext>
                </a:extLst>
              </p:cNvPr>
              <p:cNvSpPr/>
              <p:nvPr/>
            </p:nvSpPr>
            <p:spPr>
              <a:xfrm>
                <a:off x="6949664" y="4402342"/>
                <a:ext cx="2499705" cy="342890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ea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altLang="en-US" sz="6000" b="1" kern="100" dirty="0">
                    <a:solidFill>
                      <a:srgbClr val="FFFFFF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适配器</a:t>
                </a:r>
                <a:endParaRPr lang="zh-CN" sz="6000" b="1" kern="100" dirty="0">
                  <a:solidFill>
                    <a:srgbClr val="FFFFFF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0" name="连接符: 肘形 109">
                <a:extLst>
                  <a:ext uri="{FF2B5EF4-FFF2-40B4-BE49-F238E27FC236}">
                    <a16:creationId xmlns:a16="http://schemas.microsoft.com/office/drawing/2014/main" id="{A151C8B2-6F0E-4DB8-AFF7-5CA5E3EE6AC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14499440" y="8186352"/>
                <a:ext cx="2427436" cy="2210328"/>
              </a:xfrm>
              <a:prstGeom prst="bentConnector3">
                <a:avLst>
                  <a:gd name="adj1" fmla="val 229624"/>
                </a:avLst>
              </a:prstGeom>
              <a:noFill/>
              <a:ln w="152400" cap="flat">
                <a:solidFill>
                  <a:srgbClr val="FF0000"/>
                </a:solidFill>
                <a:prstDash val="solid"/>
                <a:round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75" name="Shape 258">
              <a:extLst>
                <a:ext uri="{FF2B5EF4-FFF2-40B4-BE49-F238E27FC236}">
                  <a16:creationId xmlns:a16="http://schemas.microsoft.com/office/drawing/2014/main" id="{57F6AC31-C281-4BD9-9629-926B3298CEFD}"/>
                </a:ext>
              </a:extLst>
            </p:cNvPr>
            <p:cNvSpPr/>
            <p:nvPr/>
          </p:nvSpPr>
          <p:spPr>
            <a:xfrm>
              <a:off x="477504" y="3710942"/>
              <a:ext cx="9207672" cy="58169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marL="571500" indent="-571500" algn="l" defTabSz="914400">
                <a:lnSpc>
                  <a:spcPct val="150000"/>
                </a:lnSpc>
                <a:buClr>
                  <a:srgbClr val="FFFFFF"/>
                </a:buClr>
                <a:buSzPct val="100000"/>
                <a:buFont typeface="Wingdings" panose="05000000000000000000" pitchFamily="2" charset="2"/>
                <a:buChar char="Ø"/>
                <a:defRPr sz="3200">
                  <a:solidFill>
                    <a:srgbClr val="B28B61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en-US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Hybrid Power Boost(HPB)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功能，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让</a:t>
              </a:r>
              <a:r>
                <a:rPr lang="en-US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CPU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超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频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工作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时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，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锂电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池可以即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时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加入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适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配器的供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电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行列。符合多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数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使用者所期待的即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时运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算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处理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。</a:t>
              </a:r>
              <a:endParaRPr lang="en-US" altLang="zh-TW" sz="3200" dirty="0">
                <a:solidFill>
                  <a:schemeClr val="tx2">
                    <a:lumMod val="20000"/>
                    <a:lumOff val="80000"/>
                  </a:schemeClr>
                </a:solidFill>
                <a:sym typeface="微软雅黑"/>
              </a:endParaRPr>
            </a:p>
            <a:p>
              <a:pPr marL="571500" indent="-571500" algn="l" defTabSz="914400">
                <a:lnSpc>
                  <a:spcPct val="150000"/>
                </a:lnSpc>
                <a:buClr>
                  <a:srgbClr val="FFFFFF"/>
                </a:buClr>
                <a:buSzPct val="100000"/>
                <a:buFont typeface="Wingdings" panose="05000000000000000000" pitchFamily="2" charset="2"/>
                <a:buChar char="Ø"/>
                <a:defRPr sz="3200">
                  <a:solidFill>
                    <a:srgbClr val="B28B61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lang="en-US" altLang="zh-TW" sz="3200" dirty="0">
                <a:solidFill>
                  <a:schemeClr val="tx2">
                    <a:lumMod val="20000"/>
                    <a:lumOff val="80000"/>
                  </a:schemeClr>
                </a:solidFill>
                <a:sym typeface="微软雅黑"/>
              </a:endParaRPr>
            </a:p>
            <a:p>
              <a:pPr marL="571500" indent="-571500" algn="l" defTabSz="914400">
                <a:lnSpc>
                  <a:spcPct val="150000"/>
                </a:lnSpc>
                <a:buClr>
                  <a:srgbClr val="FFFFFF"/>
                </a:buClr>
                <a:buSzPct val="100000"/>
                <a:buFont typeface="Wingdings" panose="05000000000000000000" pitchFamily="2" charset="2"/>
                <a:buChar char="Ø"/>
                <a:defRPr sz="3200">
                  <a:solidFill>
                    <a:srgbClr val="B28B61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多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项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且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弹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性的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过载监控机制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。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开发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人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员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能精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确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的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调整参数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，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让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系</a:t>
              </a:r>
              <a:r>
                <a:rPr lang="zh-CN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统统</a:t>
              </a:r>
              <a:r>
                <a:rPr lang="zh-TW" altLang="zh-TW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效能最大化</a:t>
              </a:r>
              <a:r>
                <a:rPr lang="zh-TW" altLang="en-US" sz="3200" dirty="0">
                  <a:solidFill>
                    <a:schemeClr val="tx2">
                      <a:lumMod val="20000"/>
                      <a:lumOff val="80000"/>
                    </a:schemeClr>
                  </a:solidFill>
                  <a:sym typeface="微软雅黑"/>
                </a:rPr>
                <a:t>及更安全。</a:t>
              </a:r>
              <a:endParaRPr lang="en-US" altLang="zh-TW" sz="3200" dirty="0">
                <a:solidFill>
                  <a:schemeClr val="tx2">
                    <a:lumMod val="20000"/>
                    <a:lumOff val="80000"/>
                  </a:schemeClr>
                </a:solidFill>
                <a:sym typeface="微软雅黑"/>
              </a:endParaRPr>
            </a:p>
            <a:p>
              <a:pPr marL="571500" indent="-571500" algn="l" defTabSz="914400">
                <a:lnSpc>
                  <a:spcPct val="150000"/>
                </a:lnSpc>
                <a:buClr>
                  <a:srgbClr val="FFFFFF"/>
                </a:buClr>
                <a:buSzPct val="100000"/>
                <a:defRPr sz="3200">
                  <a:solidFill>
                    <a:srgbClr val="B28B61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br>
                <a:rPr lang="en-US" altLang="zh-TW" sz="3200" dirty="0">
                  <a:sym typeface="微软雅黑"/>
                </a:rPr>
              </a:br>
              <a:endParaRPr sz="3600" baseline="70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Shape 259"/>
            <p:cNvSpPr/>
            <p:nvPr/>
          </p:nvSpPr>
          <p:spPr>
            <a:xfrm>
              <a:off x="14983778" y="2196976"/>
              <a:ext cx="7292061" cy="71814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defTabSz="914400">
                <a:defRPr sz="4000">
                  <a:solidFill>
                    <a:srgbClr val="EBCF9B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r>
                <a:rPr lang="en-US" altLang="zh-TW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HPB</a:t>
              </a:r>
              <a:r>
                <a:rPr lang="zh-TW" altLang="en-US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笔记本电上脑</a:t>
              </a:r>
              <a:r>
                <a:rPr lang="zh-TW" altLang="en-US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</a:t>
              </a:r>
              <a:r>
                <a:rPr lang="zh-TW" altLang="en-US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</a:t>
              </a:r>
              <a:r>
                <a:rPr lang="zh-CN" altLang="en-US" sz="4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</a:t>
              </a:r>
              <a:endParaRPr sz="4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0" name="连接符: 肘形 99">
            <a:extLst>
              <a:ext uri="{FF2B5EF4-FFF2-40B4-BE49-F238E27FC236}">
                <a16:creationId xmlns:a16="http://schemas.microsoft.com/office/drawing/2014/main" id="{7F20A56E-43B9-4BD5-A0B2-27B696A0903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598725" y="5582108"/>
            <a:ext cx="4103656" cy="2796199"/>
          </a:xfrm>
          <a:prstGeom prst="bentConnector3">
            <a:avLst>
              <a:gd name="adj1" fmla="val -932"/>
            </a:avLst>
          </a:prstGeom>
          <a:noFill/>
          <a:ln w="152400" cap="flat">
            <a:solidFill>
              <a:srgbClr val="00B050">
                <a:alpha val="60000"/>
              </a:srgbClr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Shape 248" descr="矩形 8">
            <a:extLst>
              <a:ext uri="{FF2B5EF4-FFF2-40B4-BE49-F238E27FC236}">
                <a16:creationId xmlns:a16="http://schemas.microsoft.com/office/drawing/2014/main" id="{5115C5DF-2B57-4795-8A84-7A269CBC9C7C}"/>
              </a:ext>
            </a:extLst>
          </p:cNvPr>
          <p:cNvSpPr/>
          <p:nvPr/>
        </p:nvSpPr>
        <p:spPr>
          <a:xfrm>
            <a:off x="6513070" y="1871384"/>
            <a:ext cx="7823490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6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笔记本电脑</a:t>
            </a:r>
            <a:r>
              <a:rPr lang="en-US" altLang="zh-CN" sz="6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HPB</a:t>
            </a:r>
            <a:r>
              <a:rPr lang="zh-CN" altLang="en-US" sz="6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47142740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animBg="1" advAuto="0"/>
      <p:bldP spid="33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1.tif" descr="图像"/>
          <p:cNvPicPr>
            <a:picLocks noChangeAspect="1"/>
          </p:cNvPicPr>
          <p:nvPr/>
        </p:nvPicPr>
        <p:blipFill>
          <a:blip r:embed="rId3" cstate="print">
            <a:alphaModFix amt="38318"/>
          </a:blip>
          <a:stretch>
            <a:fillRect/>
          </a:stretch>
        </p:blipFill>
        <p:spPr>
          <a:xfrm>
            <a:off x="94833" y="8737600"/>
            <a:ext cx="24333200" cy="497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hape 131" descr="2020年营业额预估九千万人民币；…"/>
          <p:cNvSpPr/>
          <p:nvPr/>
        </p:nvSpPr>
        <p:spPr>
          <a:xfrm>
            <a:off x="1872521" y="6047313"/>
            <a:ext cx="21047440" cy="835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71500" indent="-571500" algn="l" defTabSz="914400">
              <a:lnSpc>
                <a:spcPct val="150000"/>
              </a:lnSpc>
              <a:buFont typeface="Wingdings" panose="05000000000000000000" pitchFamily="2" charset="2"/>
              <a:buChar char="Ø"/>
              <a:defRPr sz="3200">
                <a:solidFill>
                  <a:srgbClr val="FFFFFF"/>
                </a:solidFill>
                <a:latin typeface="宋体"/>
                <a:ea typeface="宋体"/>
                <a:cs typeface="宋体"/>
                <a:sym typeface="宋体"/>
              </a:defRPr>
            </a:pPr>
            <a:r>
              <a:rPr 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Gerry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填写</a:t>
            </a:r>
            <a:endParaRPr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image1.png" descr="logo.png">
            <a:extLst>
              <a:ext uri="{FF2B5EF4-FFF2-40B4-BE49-F238E27FC236}">
                <a16:creationId xmlns:a16="http://schemas.microsoft.com/office/drawing/2014/main" id="{428FA479-AFDA-4ECC-9E82-1CAA022E182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  <p:sp>
        <p:nvSpPr>
          <p:cNvPr id="7" name="Shape 255" descr="矩形 8"/>
          <p:cNvSpPr/>
          <p:nvPr/>
        </p:nvSpPr>
        <p:spPr>
          <a:xfrm>
            <a:off x="610458" y="870035"/>
            <a:ext cx="865620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Shape 248" descr="矩形 8">
            <a:extLst>
              <a:ext uri="{FF2B5EF4-FFF2-40B4-BE49-F238E27FC236}">
                <a16:creationId xmlns:a16="http://schemas.microsoft.com/office/drawing/2014/main" id="{5115C5DF-2B57-4795-8A84-7A269CBC9C7C}"/>
              </a:ext>
            </a:extLst>
          </p:cNvPr>
          <p:cNvSpPr/>
          <p:nvPr/>
        </p:nvSpPr>
        <p:spPr>
          <a:xfrm>
            <a:off x="8133322" y="2942660"/>
            <a:ext cx="10796362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笔记本电脑系统电源管理技术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074211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dvAuto="0"/>
      <p:bldP spid="10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30" y="0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 descr="矩形 8"/>
          <p:cNvSpPr/>
          <p:nvPr/>
        </p:nvSpPr>
        <p:spPr>
          <a:xfrm>
            <a:off x="610458" y="870035"/>
            <a:ext cx="865620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sz="5400" dirty="0" err="1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8" name="Shape 258"/>
          <p:cNvSpPr/>
          <p:nvPr/>
        </p:nvSpPr>
        <p:spPr>
          <a:xfrm>
            <a:off x="2356939" y="5177698"/>
            <a:ext cx="19037332" cy="825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 marL="571500" indent="-571500" algn="l" defTabSz="914400">
              <a:lnSpc>
                <a:spcPct val="150000"/>
              </a:lnSpc>
              <a:buClr>
                <a:srgbClr val="FFFFFF"/>
              </a:buClr>
              <a:buSzPct val="100000"/>
              <a:buFont typeface="Wingdings" panose="05000000000000000000" pitchFamily="2" charset="2"/>
              <a:buChar char="Ø"/>
              <a:defRPr sz="3200">
                <a:solidFill>
                  <a:srgbClr val="B28B61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image1.png" descr="logo.png">
            <a:extLst>
              <a:ext uri="{FF2B5EF4-FFF2-40B4-BE49-F238E27FC236}">
                <a16:creationId xmlns:a16="http://schemas.microsoft.com/office/drawing/2014/main" id="{C27C159E-E280-4DFF-9F42-9BED4193899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248" descr="矩形 8">
            <a:extLst>
              <a:ext uri="{FF2B5EF4-FFF2-40B4-BE49-F238E27FC236}">
                <a16:creationId xmlns:a16="http://schemas.microsoft.com/office/drawing/2014/main" id="{0A9C1E04-84D1-47CF-B825-7DB8416E841B}"/>
              </a:ext>
            </a:extLst>
          </p:cNvPr>
          <p:cNvSpPr/>
          <p:nvPr/>
        </p:nvSpPr>
        <p:spPr>
          <a:xfrm>
            <a:off x="1918962" y="5844945"/>
            <a:ext cx="20546076" cy="3231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深度学习</a:t>
            </a:r>
            <a:r>
              <a:rPr lang="en-US" altLang="zh-CN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BLE AI MESH</a:t>
            </a:r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运用中继点</a:t>
            </a:r>
            <a:r>
              <a:rPr lang="en-US" altLang="zh-CN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自主发令</a:t>
            </a:r>
            <a:r>
              <a:rPr lang="en-US" altLang="zh-CN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)</a:t>
            </a:r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ea typeface="微软雅黑" panose="020B0503020204020204" pitchFamily="34" charset="-122"/>
              </a:rPr>
              <a:t>为基础，产生覆盖范围：</a:t>
            </a:r>
            <a:endParaRPr lang="en-US" altLang="zh-CN" sz="3600" dirty="0">
              <a:solidFill>
                <a:srgbClr val="FFFFFF">
                  <a:alpha val="89311"/>
                </a:srgbClr>
              </a:solidFill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solidFill>
                <a:srgbClr val="FFFFFF">
                  <a:alpha val="89311"/>
                </a:srgbClr>
              </a:solidFill>
              <a:ea typeface="微软雅黑" panose="020B0503020204020204" pitchFamily="34" charset="-122"/>
            </a:endParaRPr>
          </a:p>
          <a:p>
            <a:pPr algn="l"/>
            <a:r>
              <a:rPr lang="en-US" altLang="zh-CN" sz="36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，在组网覆盖范围内，激化中继点深度学习，连接友谊点，收敛震荡组网；</a:t>
            </a:r>
            <a:endParaRPr lang="en-US" altLang="zh-CN" sz="36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，组网覆盖范围通过深度学习不断优化；</a:t>
            </a:r>
            <a:endParaRPr lang="en-US" altLang="zh-CN" sz="36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36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，利用深度学习，将指令的跳散层数不断简化。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248" descr="矩形 8">
            <a:extLst>
              <a:ext uri="{FF2B5EF4-FFF2-40B4-BE49-F238E27FC236}">
                <a16:creationId xmlns:a16="http://schemas.microsoft.com/office/drawing/2014/main" id="{BBF05DE7-BE57-420B-BD4F-FFE4EB49B6C8}"/>
              </a:ext>
            </a:extLst>
          </p:cNvPr>
          <p:cNvSpPr/>
          <p:nvPr/>
        </p:nvSpPr>
        <p:spPr>
          <a:xfrm>
            <a:off x="1918961" y="3920749"/>
            <a:ext cx="5302453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en-US" altLang="zh-CN" sz="5400" dirty="0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BLE AI MESH</a:t>
            </a:r>
            <a:endParaRPr lang="en-US" altLang="zh-CN" sz="54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57099809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animBg="1" advAuto="0"/>
      <p:bldP spid="10" grpId="0" animBg="1" advAuto="0"/>
      <p:bldP spid="11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4056" y="1084"/>
            <a:ext cx="24382071" cy="13714916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1.png" descr="logo.png">
            <a:extLst>
              <a:ext uri="{FF2B5EF4-FFF2-40B4-BE49-F238E27FC236}">
                <a16:creationId xmlns:a16="http://schemas.microsoft.com/office/drawing/2014/main" id="{E7D43B15-0512-4BE7-A2BF-13D787020BF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hape 255" descr="矩形 8">
            <a:extLst>
              <a:ext uri="{FF2B5EF4-FFF2-40B4-BE49-F238E27FC236}">
                <a16:creationId xmlns:a16="http://schemas.microsoft.com/office/drawing/2014/main" id="{324AB169-B28E-40F0-9B9C-5D56979F5CC5}"/>
              </a:ext>
            </a:extLst>
          </p:cNvPr>
          <p:cNvSpPr/>
          <p:nvPr/>
        </p:nvSpPr>
        <p:spPr>
          <a:xfrm>
            <a:off x="610458" y="576667"/>
            <a:ext cx="4439214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54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大瞬技术对比</a:t>
            </a:r>
            <a:endParaRPr sz="54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BD537C-9364-4FAB-A7B8-7373C3A217D5}"/>
              </a:ext>
            </a:extLst>
          </p:cNvPr>
          <p:cNvSpPr/>
          <p:nvPr/>
        </p:nvSpPr>
        <p:spPr>
          <a:xfrm>
            <a:off x="1016070" y="4632630"/>
            <a:ext cx="21781826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大瞬科技融合多年的</a:t>
            </a:r>
            <a:r>
              <a:rPr lang="en-US" altLang="zh-CN" sz="3200" dirty="0" err="1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AI+Deep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Learning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经验于蓝牙网络，使设备连接的稳定性及时效性大量提高，特别是大设备量的组网，把丢包率从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1.12%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降至</a:t>
            </a:r>
            <a:r>
              <a:rPr lang="en-US" altLang="zh-CN" sz="3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0.28%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。对于</a:t>
            </a:r>
            <a:r>
              <a:rPr lang="en-US" altLang="zh-CN" sz="3200" dirty="0" err="1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IoT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在商业以及智能楼宇，室内定位中的应用，稳定链接的设备数量将是决定性因素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</a:p>
          <a:p>
            <a:pPr marL="571500" indent="-5715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拥有自主的专利，蓝牙协议栈，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RF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及模拟电路设计部分，对于产品迭代及方向的转换有很强的灵活性。可以根据市场动向灵活应用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</a:p>
          <a:p>
            <a:pPr marL="571500" indent="-5715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我们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Mesh 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协议栈的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FLASH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空间仅及竞争对手一半，事半功倍，有效降低成本，且大瞬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BLE5.0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芯片已通过蓝牙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BQB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等国际认证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</a:p>
          <a:p>
            <a:pPr marL="571500" indent="-571500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操作温度</a:t>
            </a:r>
            <a:r>
              <a:rPr lang="en-US" altLang="zh-CN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-40~105</a:t>
            </a:r>
            <a:r>
              <a:rPr lang="zh-CN" altLang="en-US" sz="32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度，满足严苛的环境应用。</a:t>
            </a:r>
            <a:endParaRPr lang="en-US" altLang="zh-CN" sz="32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F8CBD7-5E8F-465A-8813-51DB0C537C9B}"/>
              </a:ext>
            </a:extLst>
          </p:cNvPr>
          <p:cNvSpPr txBox="1"/>
          <p:nvPr/>
        </p:nvSpPr>
        <p:spPr>
          <a:xfrm>
            <a:off x="1451265" y="3352458"/>
            <a:ext cx="214563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8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IoT</a:t>
            </a: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领域</a:t>
            </a:r>
            <a:endParaRPr lang="en-US" altLang="zh-CN" sz="4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4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1787327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964" y="28979"/>
            <a:ext cx="24382071" cy="137149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image7.png" descr="PA-图片 102"/>
          <p:cNvPicPr>
            <a:picLocks noChangeAspect="1"/>
          </p:cNvPicPr>
          <p:nvPr/>
        </p:nvPicPr>
        <p:blipFill>
          <a:blip r:embed="rId3" cstate="print"/>
          <a:srcRect l="15583" t="32622" r="21818" b="41942"/>
          <a:stretch>
            <a:fillRect/>
          </a:stretch>
        </p:blipFill>
        <p:spPr>
          <a:xfrm>
            <a:off x="12663701" y="4265290"/>
            <a:ext cx="2769261" cy="718795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66" name="image8.png"/>
          <p:cNvPicPr>
            <a:picLocks/>
          </p:cNvPicPr>
          <p:nvPr/>
        </p:nvPicPr>
        <p:blipFill>
          <a:blip r:embed="rId4" cstate="print"/>
          <a:srcRect b="42165"/>
          <a:stretch>
            <a:fillRect/>
          </a:stretch>
        </p:blipFill>
        <p:spPr>
          <a:xfrm>
            <a:off x="16504494" y="6926205"/>
            <a:ext cx="3119978" cy="571501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67" name="image9.jpeg" descr="PA-图片 1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677280" y="4145810"/>
            <a:ext cx="2805415" cy="957702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68" name="image10.jpeg" descr="PA-图片 3"/>
          <p:cNvPicPr>
            <a:picLocks noChangeAspect="1"/>
          </p:cNvPicPr>
          <p:nvPr/>
        </p:nvPicPr>
        <p:blipFill>
          <a:blip r:embed="rId6" cstate="print"/>
          <a:srcRect r="25211" b="1863"/>
          <a:stretch>
            <a:fillRect/>
          </a:stretch>
        </p:blipFill>
        <p:spPr>
          <a:xfrm>
            <a:off x="4853892" y="8229213"/>
            <a:ext cx="2747678" cy="803429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69" name="Shape 269" descr="PA-矩形 91"/>
          <p:cNvSpPr/>
          <p:nvPr/>
        </p:nvSpPr>
        <p:spPr>
          <a:xfrm>
            <a:off x="16569307" y="8019500"/>
            <a:ext cx="2799758" cy="9270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45719" rIns="45719" anchor="ctr"/>
          <a:lstStyle/>
          <a:p>
            <a:pPr defTabSz="914400">
              <a:defRPr sz="1800">
                <a:solidFill>
                  <a:srgbClr val="21A3D0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endParaRPr/>
          </a:p>
        </p:txBody>
      </p:sp>
      <p:pic>
        <p:nvPicPr>
          <p:cNvPr id="270" name="image12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6541644" y="5624860"/>
            <a:ext cx="2855082" cy="476437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71" name="image13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6541644" y="4182953"/>
            <a:ext cx="2683302" cy="695938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72" name="image14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860736" y="8310678"/>
            <a:ext cx="2438502" cy="6404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" name="image15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736205" y="4303661"/>
            <a:ext cx="2628187" cy="642001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74" name="image16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856683" y="7215996"/>
            <a:ext cx="2314727" cy="287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image17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661277" y="5616477"/>
            <a:ext cx="2778043" cy="789037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76" name="image18.jpe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2734618" y="8324957"/>
            <a:ext cx="2661356" cy="764878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77" name="image19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7125" y="5604198"/>
            <a:ext cx="2625810" cy="81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image20.jpeg" descr="PA-图片 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8048902" y="9454756"/>
            <a:ext cx="1397179" cy="1044014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79" name="image21.png" descr="图片 109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853892" y="6821519"/>
            <a:ext cx="2713577" cy="859371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80" name="image22.png" descr="图片 110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6616112" y="9454755"/>
            <a:ext cx="1127159" cy="1050794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81" name="image23.png" descr="图片 111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2766059" y="6844576"/>
            <a:ext cx="2666904" cy="853384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82" name="image24.png" descr="图片 11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2715674" y="9715617"/>
            <a:ext cx="2763961" cy="836036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83" name="image25.png" descr="图片 113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4855337" y="9654382"/>
            <a:ext cx="2788004" cy="836036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284" name="image26.png" descr="图片 114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2663701" y="5604108"/>
            <a:ext cx="2732273" cy="813774"/>
          </a:xfrm>
          <a:prstGeom prst="rect">
            <a:avLst/>
          </a:prstGeom>
          <a:ln w="12700">
            <a:noFill/>
            <a:miter lim="4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6" name="Shape 255" descr="矩形 8">
            <a:extLst>
              <a:ext uri="{FF2B5EF4-FFF2-40B4-BE49-F238E27FC236}">
                <a16:creationId xmlns:a16="http://schemas.microsoft.com/office/drawing/2014/main" id="{0253B406-B47B-4519-A202-1798500F4861}"/>
              </a:ext>
            </a:extLst>
          </p:cNvPr>
          <p:cNvSpPr/>
          <p:nvPr/>
        </p:nvSpPr>
        <p:spPr>
          <a:xfrm>
            <a:off x="610458" y="576667"/>
            <a:ext cx="2993590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大瞬客户</a:t>
            </a:r>
            <a:endParaRPr sz="5400" dirty="0">
              <a:solidFill>
                <a:srgbClr val="FFFFFF">
                  <a:alpha val="89311"/>
                </a:srgb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9E1769A-AC51-4957-9AAD-8EEE0B6DDF2E}"/>
              </a:ext>
            </a:extLst>
          </p:cNvPr>
          <p:cNvSpPr txBox="1"/>
          <p:nvPr/>
        </p:nvSpPr>
        <p:spPr>
          <a:xfrm>
            <a:off x="8766371" y="2480755"/>
            <a:ext cx="5976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已量产客户</a:t>
            </a:r>
          </a:p>
        </p:txBody>
      </p:sp>
      <p:pic>
        <p:nvPicPr>
          <p:cNvPr id="30" name="image1.png" descr="logo.png">
            <a:extLst>
              <a:ext uri="{FF2B5EF4-FFF2-40B4-BE49-F238E27FC236}">
                <a16:creationId xmlns:a16="http://schemas.microsoft.com/office/drawing/2014/main" id="{C7B7C6FA-698D-4659-BE7F-852855E5CA19}"/>
              </a:ext>
            </a:extLst>
          </p:cNvPr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D5B1E3-FC9C-455F-A8B7-12B952515BD4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371" y="9736776"/>
            <a:ext cx="2763961" cy="72712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30" y="1084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hape 251"/>
          <p:cNvSpPr/>
          <p:nvPr/>
        </p:nvSpPr>
        <p:spPr>
          <a:xfrm>
            <a:off x="2646827" y="3651567"/>
            <a:ext cx="102657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25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28" name="image1.png" descr="logo.png">
            <a:extLst>
              <a:ext uri="{FF2B5EF4-FFF2-40B4-BE49-F238E27FC236}">
                <a16:creationId xmlns:a16="http://schemas.microsoft.com/office/drawing/2014/main" id="{1DCE6A8B-416A-41B0-8650-A2B7754D8D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217" descr="矩形 8"/>
          <p:cNvSpPr/>
          <p:nvPr/>
        </p:nvSpPr>
        <p:spPr>
          <a:xfrm>
            <a:off x="507801" y="576667"/>
            <a:ext cx="3126396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大瞬产品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328742" y="5666014"/>
          <a:ext cx="21144615" cy="39571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085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1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1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7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12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83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412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手机</a:t>
                      </a:r>
                      <a:endParaRPr lang="zh-CN" altLang="en-US" sz="34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智能音箱</a:t>
                      </a:r>
                      <a:endParaRPr lang="zh-CN" altLang="en-US" sz="34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共享单车</a:t>
                      </a:r>
                      <a:endParaRPr lang="zh-CN" altLang="en-US" sz="34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笔记本电脑</a:t>
                      </a:r>
                      <a:endParaRPr lang="zh-CN" altLang="en-US" sz="34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台式电脑</a:t>
                      </a:r>
                      <a:endParaRPr lang="zh-CN" altLang="en-US" sz="34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TWS</a:t>
                      </a:r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耳机</a:t>
                      </a:r>
                      <a:endParaRPr lang="zh-CN" altLang="en-US" sz="34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充电宝</a:t>
                      </a:r>
                      <a:endParaRPr lang="zh-CN" altLang="en-US" sz="34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快充芯片</a:t>
                      </a:r>
                      <a:endParaRPr lang="zh-CN" altLang="en-US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精密电量计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BLE</a:t>
                      </a:r>
                      <a:endParaRPr 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下一代目标产品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GPS</a:t>
                      </a:r>
                      <a:endParaRPr 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CPU DC/DC</a:t>
                      </a:r>
                      <a:endParaRPr 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31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折叠手机开合电源管理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400" u="none" strike="noStrike">
                          <a:solidFill>
                            <a:srgbClr val="FFFFFF"/>
                          </a:solidFill>
                          <a:effectLst/>
                        </a:rPr>
                        <a:t>※</a:t>
                      </a:r>
                      <a:endParaRPr lang="en-US" altLang="zh-CN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4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4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9754" marR="29754" marT="2975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259"/>
          <p:cNvSpPr/>
          <p:nvPr/>
        </p:nvSpPr>
        <p:spPr>
          <a:xfrm>
            <a:off x="1347328" y="4497218"/>
            <a:ext cx="3795911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产品对标市场</a:t>
            </a:r>
            <a:endParaRPr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5499914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30" y="-31573"/>
            <a:ext cx="24382070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hape 251"/>
          <p:cNvSpPr/>
          <p:nvPr/>
        </p:nvSpPr>
        <p:spPr>
          <a:xfrm>
            <a:off x="2646827" y="3651567"/>
            <a:ext cx="102657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25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pic>
        <p:nvPicPr>
          <p:cNvPr id="28" name="image1.png" descr="logo.png">
            <a:extLst>
              <a:ext uri="{FF2B5EF4-FFF2-40B4-BE49-F238E27FC236}">
                <a16:creationId xmlns:a16="http://schemas.microsoft.com/office/drawing/2014/main" id="{1DCE6A8B-416A-41B0-8650-A2B7754D8D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217" descr="矩形 8"/>
          <p:cNvSpPr/>
          <p:nvPr/>
        </p:nvSpPr>
        <p:spPr>
          <a:xfrm>
            <a:off x="507801" y="576667"/>
            <a:ext cx="3126396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大瞬产品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259"/>
          <p:cNvSpPr/>
          <p:nvPr/>
        </p:nvSpPr>
        <p:spPr>
          <a:xfrm>
            <a:off x="1412643" y="4138880"/>
            <a:ext cx="3795911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914400">
              <a:defRPr sz="4000">
                <a:solidFill>
                  <a:srgbClr val="EBCF9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产品竞争对手</a:t>
            </a:r>
            <a:endParaRPr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23557"/>
              </p:ext>
            </p:extLst>
          </p:nvPr>
        </p:nvGraphicFramePr>
        <p:xfrm>
          <a:off x="1354728" y="5269672"/>
          <a:ext cx="21839930" cy="57352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8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9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1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2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86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274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手机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智能音箱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共享单车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笔记本电脑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台式电脑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TWS</a:t>
                      </a:r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耳机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7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充电宝</a:t>
                      </a:r>
                      <a:endParaRPr lang="zh-CN" altLang="en-US" sz="37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3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快充芯片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TI, MTK,</a:t>
                      </a:r>
                      <a:r>
                        <a:rPr lang="zh-CN" alt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圣邦</a:t>
                      </a:r>
                      <a:endParaRPr lang="zh-CN" alt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TI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TI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TI, </a:t>
                      </a:r>
                      <a:r>
                        <a:rPr lang="en-US" sz="3000" u="none" strike="noStrike" dirty="0" err="1">
                          <a:solidFill>
                            <a:srgbClr val="FFFFFF"/>
                          </a:solidFill>
                          <a:effectLst/>
                        </a:rPr>
                        <a:t>Intersil</a:t>
                      </a:r>
                      <a:r>
                        <a:rPr 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,  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矽力杰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TI, Maxim, </a:t>
                      </a:r>
                      <a:r>
                        <a:rPr lang="zh-CN" alt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圣邦</a:t>
                      </a:r>
                      <a:endParaRPr lang="zh-CN" alt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圣邦，</a:t>
                      </a:r>
                      <a:endParaRPr lang="en-US" altLang="zh-CN" sz="3000" u="none" strike="noStrike" dirty="0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英集芯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6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精密电量计</a:t>
                      </a:r>
                      <a:endParaRPr lang="zh-CN" alt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TI,Cellwise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MTK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TI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TI</a:t>
                      </a:r>
                      <a:endParaRPr 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BLE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Nordiac,TYLink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3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GPS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\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Ublox,  </a:t>
                      </a:r>
                      <a:r>
                        <a:rPr lang="zh-CN" alt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泰斗</a:t>
                      </a:r>
                      <a:endParaRPr lang="zh-CN" alt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3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CPU DC/DC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Intersil,TI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Intersil,TI,MTK</a:t>
                      </a:r>
                      <a:endParaRPr 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\</a:t>
                      </a:r>
                      <a:r>
                        <a:rPr lang="zh-CN" altLang="en-US" sz="3000" u="none" strike="noStrike" dirty="0">
                          <a:solidFill>
                            <a:srgbClr val="FFFFFF"/>
                          </a:solidFill>
                          <a:effectLst/>
                        </a:rPr>
                        <a:t>　</a:t>
                      </a:r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99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3000" u="none" strike="noStrike">
                          <a:solidFill>
                            <a:srgbClr val="FFFFFF"/>
                          </a:solidFill>
                          <a:effectLst/>
                        </a:rPr>
                        <a:t>折叠手机开合电源管理</a:t>
                      </a:r>
                      <a:endParaRPr lang="zh-CN" altLang="en-US" sz="3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无竞争对手　　</a:t>
                      </a:r>
                      <a:endParaRPr lang="zh-CN" altLang="en-US" sz="3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3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6404" marR="26404" marT="26404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58490947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dvAuto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0" y="-80774"/>
            <a:ext cx="24382071" cy="13714916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4" name="Chart 15">
            <a:extLst>
              <a:ext uri="{FF2B5EF4-FFF2-40B4-BE49-F238E27FC236}">
                <a16:creationId xmlns:a16="http://schemas.microsoft.com/office/drawing/2014/main" id="{1E9DBD47-A446-496E-94FB-1415E447F3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677414"/>
              </p:ext>
            </p:extLst>
          </p:nvPr>
        </p:nvGraphicFramePr>
        <p:xfrm>
          <a:off x="817143" y="2585168"/>
          <a:ext cx="20855502" cy="7091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文字方塊 2">
            <a:extLst>
              <a:ext uri="{FF2B5EF4-FFF2-40B4-BE49-F238E27FC236}">
                <a16:creationId xmlns:a16="http://schemas.microsoft.com/office/drawing/2014/main" id="{751F2495-15F6-472C-88B9-DE1F96EDDFE2}"/>
              </a:ext>
            </a:extLst>
          </p:cNvPr>
          <p:cNvSpPr txBox="1"/>
          <p:nvPr/>
        </p:nvSpPr>
        <p:spPr>
          <a:xfrm>
            <a:off x="977541" y="9525237"/>
            <a:ext cx="10981630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Note: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 ten years RFA actual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DPPM</a:t>
            </a: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5</a:t>
            </a:r>
          </a:p>
          <a:p>
            <a:pPr algn="l">
              <a:lnSpc>
                <a:spcPct val="150000"/>
              </a:lnSpc>
              <a:defRPr/>
            </a:pP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Industrial market and Japan market required </a:t>
            </a:r>
            <a:r>
              <a:rPr lang="en-US" altLang="zh-CN" sz="2000" u="sng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DPPM</a:t>
            </a:r>
            <a:r>
              <a:rPr lang="en-US" altLang="zh-TW" sz="2000" u="sng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100</a:t>
            </a:r>
          </a:p>
          <a:p>
            <a:pPr algn="l">
              <a:lnSpc>
                <a:spcPct val="150000"/>
              </a:lnSpc>
              <a:defRPr/>
            </a:pP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TW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 market normal required </a:t>
            </a:r>
            <a:r>
              <a:rPr lang="en-US" altLang="zh-CN" sz="2000" u="sng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DPPM</a:t>
            </a:r>
            <a:r>
              <a:rPr lang="en-US" altLang="zh-TW" sz="2000" u="sng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1000</a:t>
            </a:r>
            <a:endParaRPr lang="zh-TW" altLang="en-US" sz="2000" u="sng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Shape 255" descr="矩形 8">
            <a:extLst>
              <a:ext uri="{FF2B5EF4-FFF2-40B4-BE49-F238E27FC236}">
                <a16:creationId xmlns:a16="http://schemas.microsoft.com/office/drawing/2014/main" id="{B02CA8C0-EF83-44A3-8CE3-94D5F83C92A0}"/>
              </a:ext>
            </a:extLst>
          </p:cNvPr>
          <p:cNvSpPr/>
          <p:nvPr/>
        </p:nvSpPr>
        <p:spPr>
          <a:xfrm>
            <a:off x="498037" y="507694"/>
            <a:ext cx="5821120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大瞬团队历史记录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159BCA-432C-4083-94AC-14DC3709E738}"/>
              </a:ext>
            </a:extLst>
          </p:cNvPr>
          <p:cNvSpPr/>
          <p:nvPr/>
        </p:nvSpPr>
        <p:spPr>
          <a:xfrm>
            <a:off x="2106319" y="2585168"/>
            <a:ext cx="26468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产品品质</a:t>
            </a:r>
          </a:p>
        </p:txBody>
      </p:sp>
      <p:pic>
        <p:nvPicPr>
          <p:cNvPr id="10" name="image1.png" descr="logo.png">
            <a:hlinkClick r:id="rId4" action="ppaction://hlinksldjump"/>
            <a:extLst>
              <a:ext uri="{FF2B5EF4-FFF2-40B4-BE49-F238E27FC236}">
                <a16:creationId xmlns:a16="http://schemas.microsoft.com/office/drawing/2014/main" id="{718BBFF7-151E-490B-9264-1543F2AEB4F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369BA44-7964-4BFB-8A25-8E8F6E1DEBED}"/>
              </a:ext>
            </a:extLst>
          </p:cNvPr>
          <p:cNvSpPr txBox="1"/>
          <p:nvPr/>
        </p:nvSpPr>
        <p:spPr>
          <a:xfrm>
            <a:off x="3780080" y="6329506"/>
            <a:ext cx="8620075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9600" b="1" i="1" u="none" strike="noStrike" cap="none" spc="0" normalizeH="0" baseline="0" dirty="0">
                <a:ln>
                  <a:noFill/>
                </a:ln>
                <a:solidFill>
                  <a:srgbClr val="E1C49A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DPPM</a:t>
            </a:r>
            <a:r>
              <a:rPr kumimoji="0" lang="en-US" altLang="zh-CN" sz="3600" b="1" i="1" u="none" strike="noStrike" cap="none" spc="0" normalizeH="0" baseline="0" dirty="0">
                <a:ln>
                  <a:noFill/>
                </a:ln>
                <a:solidFill>
                  <a:srgbClr val="E1C49A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(</a:t>
            </a:r>
            <a:r>
              <a:rPr kumimoji="0" lang="zh-CN" altLang="en-US" sz="3600" b="1" i="1" u="none" strike="noStrike" cap="none" spc="0" normalizeH="0" baseline="0" dirty="0">
                <a:ln>
                  <a:noFill/>
                </a:ln>
                <a:solidFill>
                  <a:srgbClr val="E1C49A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百万不良率</a:t>
            </a:r>
            <a:r>
              <a:rPr kumimoji="0" lang="en-US" altLang="zh-CN" sz="3600" b="1" i="1" u="none" strike="noStrike" cap="none" spc="0" normalizeH="0" baseline="0" dirty="0">
                <a:ln>
                  <a:noFill/>
                </a:ln>
                <a:solidFill>
                  <a:srgbClr val="E1C49A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)</a:t>
            </a:r>
            <a:r>
              <a:rPr kumimoji="0" lang="en-US" altLang="zh-CN" sz="9600" b="1" i="1" u="none" strike="noStrike" cap="none" spc="0" normalizeH="0" baseline="0" dirty="0">
                <a:ln>
                  <a:noFill/>
                </a:ln>
                <a:solidFill>
                  <a:srgbClr val="E1C49A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&lt;5</a:t>
            </a:r>
            <a:endParaRPr kumimoji="0" lang="zh-CN" altLang="en-US" sz="9600" b="1" i="1" u="none" strike="noStrike" cap="none" spc="0" normalizeH="0" baseline="0" dirty="0">
              <a:ln>
                <a:noFill/>
              </a:ln>
              <a:solidFill>
                <a:srgbClr val="E1C49A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40969572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  <p:bldP spid="25" grpId="0"/>
      <p:bldP spid="48" grpId="0" animBg="1" advAuto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94833" y="-4740"/>
            <a:ext cx="24382071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文本框 2">
            <a:extLst>
              <a:ext uri="{FF2B5EF4-FFF2-40B4-BE49-F238E27FC236}">
                <a16:creationId xmlns:a16="http://schemas.microsoft.com/office/drawing/2014/main" id="{B8733829-89FE-4D81-8847-970A49FF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58" y="10710747"/>
            <a:ext cx="89631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Note: CSD=Customer Shipping Date, </a:t>
            </a: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订单实际交货时间</a:t>
            </a:r>
          </a:p>
        </p:txBody>
      </p:sp>
      <p:graphicFrame>
        <p:nvGraphicFramePr>
          <p:cNvPr id="2" name="图表 6">
            <a:extLst>
              <a:ext uri="{FF2B5EF4-FFF2-40B4-BE49-F238E27FC236}">
                <a16:creationId xmlns:a16="http://schemas.microsoft.com/office/drawing/2014/main" id="{B7CC8458-0CE0-4EC5-9C6F-33D5DDA0B0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532416"/>
              </p:ext>
            </p:extLst>
          </p:nvPr>
        </p:nvGraphicFramePr>
        <p:xfrm>
          <a:off x="1565839" y="4507854"/>
          <a:ext cx="20362911" cy="5971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255" descr="矩形 8">
            <a:extLst>
              <a:ext uri="{FF2B5EF4-FFF2-40B4-BE49-F238E27FC236}">
                <a16:creationId xmlns:a16="http://schemas.microsoft.com/office/drawing/2014/main" id="{15863C66-2AA3-422F-965C-2E7D5D281062}"/>
              </a:ext>
            </a:extLst>
          </p:cNvPr>
          <p:cNvSpPr/>
          <p:nvPr/>
        </p:nvSpPr>
        <p:spPr>
          <a:xfrm>
            <a:off x="610458" y="576468"/>
            <a:ext cx="5673111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lang="zh-CN" altLang="en-US" sz="5400" dirty="0">
                <a:solidFill>
                  <a:srgbClr val="FFFFFF">
                    <a:alpha val="8931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大瞬团队历史记录</a:t>
            </a:r>
            <a:endParaRPr sz="5400" dirty="0">
              <a:solidFill>
                <a:srgbClr val="FFFFFF">
                  <a:alpha val="8931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FA835E-C1CF-4D42-BBEB-F82F41075733}"/>
              </a:ext>
            </a:extLst>
          </p:cNvPr>
          <p:cNvSpPr/>
          <p:nvPr/>
        </p:nvSpPr>
        <p:spPr>
          <a:xfrm>
            <a:off x="1837839" y="2774420"/>
            <a:ext cx="387798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快捷准时交货</a:t>
            </a:r>
          </a:p>
        </p:txBody>
      </p:sp>
      <p:pic>
        <p:nvPicPr>
          <p:cNvPr id="11" name="image1.png" descr="logo.png">
            <a:extLst>
              <a:ext uri="{FF2B5EF4-FFF2-40B4-BE49-F238E27FC236}">
                <a16:creationId xmlns:a16="http://schemas.microsoft.com/office/drawing/2014/main" id="{00EE7E00-ACFA-4FA5-BD3A-D93CBF4BBA4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2A3E54-AFB0-4367-BE07-030FD0ED9C98}"/>
              </a:ext>
            </a:extLst>
          </p:cNvPr>
          <p:cNvSpPr/>
          <p:nvPr/>
        </p:nvSpPr>
        <p:spPr>
          <a:xfrm>
            <a:off x="7293753" y="3304996"/>
            <a:ext cx="10685939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1">
              <a:spcBef>
                <a:spcPct val="0"/>
              </a:spcBef>
            </a:pPr>
            <a:r>
              <a:rPr lang="en-US" altLang="zh-CN" sz="88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&gt;30</a:t>
            </a:r>
            <a:r>
              <a:rPr lang="zh-CN" altLang="en-US" sz="88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亿</a:t>
            </a:r>
            <a:r>
              <a:rPr lang="zh-CN" altLang="en-US" sz="4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颗 完美记录</a:t>
            </a:r>
            <a:r>
              <a:rPr lang="en-US" altLang="zh-CN" sz="4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-</a:t>
            </a:r>
            <a:r>
              <a:rPr lang="zh-CN" altLang="en-US" sz="48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  <a:sym typeface="Microsoft YaHei" panose="020B0503020204020204" pitchFamily="34" charset="-122"/>
              </a:rPr>
              <a:t>从未生产断线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A290408-3147-42C7-BBA3-10D119E304CA}"/>
              </a:ext>
            </a:extLst>
          </p:cNvPr>
          <p:cNvSpPr/>
          <p:nvPr/>
        </p:nvSpPr>
        <p:spPr>
          <a:xfrm>
            <a:off x="10872439" y="3605417"/>
            <a:ext cx="6869151" cy="902437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12A2C3F-3873-4CFC-8E1B-BCDEFFBE9702}"/>
              </a:ext>
            </a:extLst>
          </p:cNvPr>
          <p:cNvSpPr/>
          <p:nvPr/>
        </p:nvSpPr>
        <p:spPr>
          <a:xfrm>
            <a:off x="11747294" y="2910468"/>
            <a:ext cx="3184189" cy="12255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endParaRPr lang="zh-CN" altLang="en-US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81523039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Graphic spid="2" grpId="0">
        <p:bldAsOne/>
      </p:bldGraphic>
      <p:bldP spid="14" grpId="0" animBg="1" advAuto="0"/>
      <p:bldP spid="5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0" y="-26386"/>
            <a:ext cx="24382071" cy="13714916"/>
          </a:xfrm>
          <a:prstGeom prst="rect">
            <a:avLst/>
          </a:prstGeom>
          <a:solidFill>
            <a:srgbClr val="D8BB86">
              <a:alpha val="99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26" name="Shape 255" descr="矩形 8">
            <a:extLst>
              <a:ext uri="{FF2B5EF4-FFF2-40B4-BE49-F238E27FC236}">
                <a16:creationId xmlns:a16="http://schemas.microsoft.com/office/drawing/2014/main" id="{0253B406-B47B-4519-A202-1798500F4861}"/>
              </a:ext>
            </a:extLst>
          </p:cNvPr>
          <p:cNvSpPr/>
          <p:nvPr/>
        </p:nvSpPr>
        <p:spPr>
          <a:xfrm>
            <a:off x="610458" y="576667"/>
            <a:ext cx="7867972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 defTabSz="914400">
              <a:defRPr sz="3400">
                <a:solidFill>
                  <a:srgbClr val="806F5A">
                    <a:alpha val="89311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pPr algn="l"/>
            <a:r>
              <a:rPr lang="zh-CN" altLang="en-US" sz="5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为什么投资大瞬科技</a:t>
            </a:r>
            <a:endParaRPr sz="5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rc 37">
            <a:extLst>
              <a:ext uri="{FF2B5EF4-FFF2-40B4-BE49-F238E27FC236}">
                <a16:creationId xmlns:a16="http://schemas.microsoft.com/office/drawing/2014/main" id="{33EEF11D-9089-4BC2-A546-AB138E87EC94}"/>
              </a:ext>
            </a:extLst>
          </p:cNvPr>
          <p:cNvSpPr>
            <a:spLocks noChangeAspect="1"/>
          </p:cNvSpPr>
          <p:nvPr/>
        </p:nvSpPr>
        <p:spPr>
          <a:xfrm flipH="1">
            <a:off x="11192683" y="4520552"/>
            <a:ext cx="1141412" cy="1143000"/>
          </a:xfrm>
          <a:prstGeom prst="arc">
            <a:avLst>
              <a:gd name="adj1" fmla="val 11287850"/>
              <a:gd name="adj2" fmla="val 18926039"/>
            </a:avLst>
          </a:prstGeom>
          <a:noFill/>
          <a:ln w="19050">
            <a:solidFill>
              <a:schemeClr val="bg1">
                <a:lumMod val="95000"/>
              </a:schemeClr>
            </a:solidFill>
            <a:prstDash val="sysDot"/>
            <a:headEnd type="triangle" w="med" len="med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bg-BG" sz="120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Microsoft YaHei" panose="020B0503020204020204" pitchFamily="34" charset="-122"/>
            </a:endParaRPr>
          </a:p>
        </p:txBody>
      </p:sp>
      <p:sp>
        <p:nvSpPr>
          <p:cNvPr id="31" name="Arc 38">
            <a:extLst>
              <a:ext uri="{FF2B5EF4-FFF2-40B4-BE49-F238E27FC236}">
                <a16:creationId xmlns:a16="http://schemas.microsoft.com/office/drawing/2014/main" id="{7FAF3246-FA73-42AD-92C6-AC572C2E0199}"/>
              </a:ext>
            </a:extLst>
          </p:cNvPr>
          <p:cNvSpPr>
            <a:spLocks noChangeAspect="1"/>
          </p:cNvSpPr>
          <p:nvPr/>
        </p:nvSpPr>
        <p:spPr>
          <a:xfrm>
            <a:off x="11130156" y="6676587"/>
            <a:ext cx="1141413" cy="1141412"/>
          </a:xfrm>
          <a:prstGeom prst="arc">
            <a:avLst>
              <a:gd name="adj1" fmla="val 20847945"/>
              <a:gd name="adj2" fmla="val 6100071"/>
            </a:avLst>
          </a:prstGeom>
          <a:noFill/>
          <a:ln w="19050">
            <a:solidFill>
              <a:schemeClr val="bg1">
                <a:lumMod val="95000"/>
              </a:schemeClr>
            </a:solidFill>
            <a:prstDash val="sysDot"/>
            <a:headEnd type="triangle" w="med" len="med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bg-BG" sz="120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Microsoft YaHei" panose="020B0503020204020204" pitchFamily="34" charset="-122"/>
            </a:endParaRP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4BED4108-6C53-4A72-96EF-E01E285C677E}"/>
              </a:ext>
            </a:extLst>
          </p:cNvPr>
          <p:cNvSpPr>
            <a:spLocks noChangeAspect="1"/>
          </p:cNvSpPr>
          <p:nvPr/>
        </p:nvSpPr>
        <p:spPr>
          <a:xfrm>
            <a:off x="13623475" y="3287480"/>
            <a:ext cx="911225" cy="911225"/>
          </a:xfrm>
          <a:prstGeom prst="ellipse">
            <a:avLst/>
          </a:prstGeom>
          <a:solidFill>
            <a:srgbClr val="C00000">
              <a:alpha val="28000"/>
            </a:srgbClr>
          </a:solidFill>
          <a:ln>
            <a:noFill/>
          </a:ln>
          <a:effectLst>
            <a:outerShdw blurRad="50800" dist="38100" dir="81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bg-BG" sz="14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" name="Oval 9">
            <a:extLst>
              <a:ext uri="{FF2B5EF4-FFF2-40B4-BE49-F238E27FC236}">
                <a16:creationId xmlns:a16="http://schemas.microsoft.com/office/drawing/2014/main" id="{B7A68AD6-7DF4-4719-A9BC-24AE6D08DB46}"/>
              </a:ext>
            </a:extLst>
          </p:cNvPr>
          <p:cNvSpPr>
            <a:spLocks noChangeAspect="1"/>
          </p:cNvSpPr>
          <p:nvPr/>
        </p:nvSpPr>
        <p:spPr>
          <a:xfrm>
            <a:off x="13623475" y="8458562"/>
            <a:ext cx="911225" cy="911225"/>
          </a:xfrm>
          <a:prstGeom prst="ellipse">
            <a:avLst/>
          </a:prstGeom>
          <a:solidFill>
            <a:srgbClr val="C00000">
              <a:alpha val="28000"/>
            </a:srgbClr>
          </a:solidFill>
          <a:ln>
            <a:noFill/>
          </a:ln>
          <a:effectLst>
            <a:outerShdw blurRad="50800" dist="38100" dir="135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bg-BG" sz="140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71DDA826-73BD-45C7-BDE5-BE26E8FA5CCD}"/>
              </a:ext>
            </a:extLst>
          </p:cNvPr>
          <p:cNvSpPr>
            <a:spLocks noChangeAspect="1"/>
          </p:cNvSpPr>
          <p:nvPr/>
        </p:nvSpPr>
        <p:spPr>
          <a:xfrm>
            <a:off x="12808370" y="5108453"/>
            <a:ext cx="912812" cy="911225"/>
          </a:xfrm>
          <a:prstGeom prst="ellipse">
            <a:avLst/>
          </a:prstGeom>
          <a:solidFill>
            <a:srgbClr val="C00000">
              <a:alpha val="28000"/>
            </a:srgbClr>
          </a:solidFill>
          <a:ln>
            <a:noFill/>
          </a:ln>
          <a:effectLst>
            <a:outerShdw blurRad="50800" dist="38100" dir="108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bg-BG" sz="140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cxnSp>
        <p:nvCxnSpPr>
          <p:cNvPr id="35" name="Straight Connector 39">
            <a:extLst>
              <a:ext uri="{FF2B5EF4-FFF2-40B4-BE49-F238E27FC236}">
                <a16:creationId xmlns:a16="http://schemas.microsoft.com/office/drawing/2014/main" id="{D16A9ED3-899E-438A-84C7-62B0DDA47547}"/>
              </a:ext>
            </a:extLst>
          </p:cNvPr>
          <p:cNvCxnSpPr>
            <a:cxnSpLocks/>
          </p:cNvCxnSpPr>
          <p:nvPr/>
        </p:nvCxnSpPr>
        <p:spPr>
          <a:xfrm flipH="1">
            <a:off x="13849771" y="5490991"/>
            <a:ext cx="1369218" cy="25801"/>
          </a:xfrm>
          <a:prstGeom prst="line">
            <a:avLst/>
          </a:prstGeom>
          <a:noFill/>
          <a:ln w="19050">
            <a:solidFill>
              <a:schemeClr val="bg1">
                <a:lumMod val="95000"/>
              </a:schemeClr>
            </a:solidFill>
            <a:prstDash val="sysDot"/>
            <a:headEnd type="triangle" w="med" len="med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框 49">
            <a:extLst>
              <a:ext uri="{FF2B5EF4-FFF2-40B4-BE49-F238E27FC236}">
                <a16:creationId xmlns:a16="http://schemas.microsoft.com/office/drawing/2014/main" id="{19E28F5C-4586-4171-AA08-F716FB684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8381" y="3188510"/>
            <a:ext cx="11414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 dirty="0">
                <a:solidFill>
                  <a:srgbClr val="FFFFFF"/>
                </a:solidFill>
                <a:latin typeface="+mn-ea"/>
                <a:ea typeface="+mn-ea"/>
                <a:sym typeface="Microsoft YaHei" panose="020B0503020204020204" pitchFamily="34" charset="-122"/>
              </a:rPr>
              <a:t>01</a:t>
            </a:r>
            <a:endParaRPr lang="zh-CN" altLang="en-US" sz="5400" dirty="0">
              <a:solidFill>
                <a:srgbClr val="FFFFFF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37" name="文本框 85">
            <a:extLst>
              <a:ext uri="{FF2B5EF4-FFF2-40B4-BE49-F238E27FC236}">
                <a16:creationId xmlns:a16="http://schemas.microsoft.com/office/drawing/2014/main" id="{B7EB2DC0-E699-4320-B196-E9F872897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3955" y="5015625"/>
            <a:ext cx="11414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eaLnBrk="1" hangingPunct="1">
              <a:spcBef>
                <a:spcPct val="0"/>
              </a:spcBef>
              <a:defRPr sz="5400">
                <a:solidFill>
                  <a:srgbClr val="FFFFFF"/>
                </a:solidFill>
                <a:latin typeface="+mn-ea"/>
                <a:ea typeface="+mn-ea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02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38" name="文本框 86">
            <a:extLst>
              <a:ext uri="{FF2B5EF4-FFF2-40B4-BE49-F238E27FC236}">
                <a16:creationId xmlns:a16="http://schemas.microsoft.com/office/drawing/2014/main" id="{02B291F9-755E-435A-8109-5C1FCCBB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8616" y="8382334"/>
            <a:ext cx="100094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eaLnBrk="1" hangingPunct="1">
              <a:spcBef>
                <a:spcPct val="0"/>
              </a:spcBef>
              <a:defRPr sz="5400">
                <a:solidFill>
                  <a:srgbClr val="FFFFFF"/>
                </a:solidFill>
                <a:latin typeface="+mn-ea"/>
                <a:ea typeface="+mn-ea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04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39" name="矩形 50">
            <a:extLst>
              <a:ext uri="{FF2B5EF4-FFF2-40B4-BE49-F238E27FC236}">
                <a16:creationId xmlns:a16="http://schemas.microsoft.com/office/drawing/2014/main" id="{7AB23B89-EA57-43BD-AFB7-A3D5F339A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3359" y="5269437"/>
            <a:ext cx="7205819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拥有多年量产准时交货的优良纪录</a:t>
            </a:r>
            <a:endParaRPr lang="en-US" altLang="zh-CN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88">
            <a:extLst>
              <a:ext uri="{FF2B5EF4-FFF2-40B4-BE49-F238E27FC236}">
                <a16:creationId xmlns:a16="http://schemas.microsoft.com/office/drawing/2014/main" id="{FD093743-4B19-42B9-B419-5443A618D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714" y="3398142"/>
            <a:ext cx="120356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电池容量大幅升级，</a:t>
            </a:r>
            <a:r>
              <a:rPr lang="en-US" altLang="zh-CN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市场，快充</a:t>
            </a:r>
            <a:r>
              <a:rPr lang="en-US" altLang="zh-CN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及共享单车机会无限</a:t>
            </a:r>
            <a:endParaRPr lang="en-US" altLang="zh-CN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89">
            <a:extLst>
              <a:ext uri="{FF2B5EF4-FFF2-40B4-BE49-F238E27FC236}">
                <a16:creationId xmlns:a16="http://schemas.microsoft.com/office/drawing/2014/main" id="{24988278-914A-402E-B860-1041F835A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257" y="8678289"/>
            <a:ext cx="726352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现有超过</a:t>
            </a:r>
            <a:r>
              <a:rPr lang="en-US" altLang="zh-CN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家已量产世界顶级客户</a:t>
            </a:r>
            <a:endParaRPr lang="en-US" altLang="zh-CN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Oval 8">
            <a:extLst>
              <a:ext uri="{FF2B5EF4-FFF2-40B4-BE49-F238E27FC236}">
                <a16:creationId xmlns:a16="http://schemas.microsoft.com/office/drawing/2014/main" id="{7AAF8D05-A37A-4EA5-82FF-D1ACCF7DBBFB}"/>
              </a:ext>
            </a:extLst>
          </p:cNvPr>
          <p:cNvSpPr>
            <a:spLocks noChangeAspect="1"/>
          </p:cNvSpPr>
          <p:nvPr/>
        </p:nvSpPr>
        <p:spPr>
          <a:xfrm>
            <a:off x="12912556" y="6900260"/>
            <a:ext cx="912812" cy="911225"/>
          </a:xfrm>
          <a:prstGeom prst="ellipse">
            <a:avLst/>
          </a:prstGeom>
          <a:solidFill>
            <a:srgbClr val="C00000">
              <a:alpha val="28000"/>
            </a:srgbClr>
          </a:solidFill>
          <a:ln>
            <a:noFill/>
          </a:ln>
          <a:effectLst>
            <a:outerShdw blurRad="50800" dist="38100" dir="10800000" algn="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bg-BG" sz="140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4" name="文本框 85">
            <a:extLst>
              <a:ext uri="{FF2B5EF4-FFF2-40B4-BE49-F238E27FC236}">
                <a16:creationId xmlns:a16="http://schemas.microsoft.com/office/drawing/2014/main" id="{9B509B57-5C05-4A58-932F-B67611B56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1971" y="6842740"/>
            <a:ext cx="10605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eaLnBrk="1" hangingPunct="1">
              <a:spcBef>
                <a:spcPct val="0"/>
              </a:spcBef>
              <a:defRPr sz="5400">
                <a:solidFill>
                  <a:srgbClr val="FFFFFF"/>
                </a:solidFill>
                <a:latin typeface="+mn-ea"/>
                <a:ea typeface="+mn-ea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03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239C735-D295-4A8F-B73D-D6F28771D5D2}"/>
              </a:ext>
            </a:extLst>
          </p:cNvPr>
          <p:cNvSpPr/>
          <p:nvPr/>
        </p:nvSpPr>
        <p:spPr>
          <a:xfrm>
            <a:off x="8586004" y="7088078"/>
            <a:ext cx="3929282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zh-CN" altLang="en-US" sz="3600" spc="50" dirty="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每年营收大幅成长</a:t>
            </a:r>
            <a:endParaRPr lang="en-US" altLang="zh-CN" sz="3600" spc="50" dirty="0">
              <a:ln w="0"/>
              <a:solidFill>
                <a:srgbClr val="FFFFFF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image1.png" descr="logo.png">
            <a:extLst>
              <a:ext uri="{FF2B5EF4-FFF2-40B4-BE49-F238E27FC236}">
                <a16:creationId xmlns:a16="http://schemas.microsoft.com/office/drawing/2014/main" id="{C7357B22-F398-4C92-9AD2-0528E4270A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31227" r="281"/>
          <a:stretch/>
        </p:blipFill>
        <p:spPr>
          <a:xfrm>
            <a:off x="15218989" y="5546489"/>
            <a:ext cx="4243893" cy="1284583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415650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dvAuto="0"/>
      <p:bldP spid="32" grpId="0" animBg="1"/>
      <p:bldP spid="33" grpId="0" animBg="1"/>
      <p:bldP spid="34" grpId="0" animBg="1"/>
      <p:bldP spid="36" grpId="0"/>
      <p:bldP spid="37" grpId="0"/>
      <p:bldP spid="38" grpId="0"/>
      <p:bldP spid="39" grpId="0"/>
      <p:bldP spid="40" grpId="0"/>
      <p:bldP spid="41" grpId="0"/>
      <p:bldP spid="43" grpId="0" animBg="1"/>
      <p:bldP spid="44" grpId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1.jpeg" descr="图片 4"/>
          <p:cNvPicPr>
            <a:picLocks noChangeAspect="1"/>
          </p:cNvPicPr>
          <p:nvPr/>
        </p:nvPicPr>
        <p:blipFill>
          <a:blip r:embed="rId2" cstate="print"/>
          <a:srcRect l="12622" t="1246" r="12621" b="14640"/>
          <a:stretch>
            <a:fillRect/>
          </a:stretch>
        </p:blipFill>
        <p:spPr>
          <a:xfrm>
            <a:off x="1929" y="-32095"/>
            <a:ext cx="24382071" cy="13714916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Shape 316" descr="Title 1"/>
          <p:cNvSpPr/>
          <p:nvPr/>
        </p:nvSpPr>
        <p:spPr>
          <a:xfrm>
            <a:off x="8746293" y="5664737"/>
            <a:ext cx="5453310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4300">
                <a:solidFill>
                  <a:srgbClr val="B89A6A">
                    <a:alpha val="50000"/>
                  </a:srgbClr>
                </a:solidFill>
                <a:latin typeface="庞门正道标题体"/>
                <a:ea typeface="庞门正道标题体"/>
                <a:cs typeface="庞门正道标题体"/>
                <a:sym typeface="庞门正道标题体"/>
              </a:defRPr>
            </a:lvl1pPr>
          </a:lstStyle>
          <a:p>
            <a:r>
              <a:rPr sz="6000" dirty="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</a:p>
        </p:txBody>
      </p:sp>
      <p:pic>
        <p:nvPicPr>
          <p:cNvPr id="9" name="image1.png" descr="logo.png">
            <a:extLst>
              <a:ext uri="{FF2B5EF4-FFF2-40B4-BE49-F238E27FC236}">
                <a16:creationId xmlns:a16="http://schemas.microsoft.com/office/drawing/2014/main" id="{53E66EED-47D8-49D9-A925-04D4094729D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526039" y="513588"/>
            <a:ext cx="2247503" cy="98640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2C5009-F934-4AF0-ACAE-DF57D71C9E1C}"/>
              </a:ext>
            </a:extLst>
          </p:cNvPr>
          <p:cNvSpPr txBox="1"/>
          <p:nvPr/>
        </p:nvSpPr>
        <p:spPr>
          <a:xfrm>
            <a:off x="21526039" y="12689451"/>
            <a:ext cx="276312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请严格保密 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BPs</a:t>
            </a:r>
            <a:r>
              <a:rPr kumimoji="0" lang="en-US" altLang="zh-CN" sz="30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 Medium"/>
              </a:rPr>
              <a:t> 4.1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 Medium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1" animBg="1" advAuto="0"/>
    </p:bldLst>
  </p:timing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>
        <a:spAutoFit/>
      </a:bodyPr>
      <a:lstStyle>
        <a:defPPr>
          <a:lnSpc>
            <a:spcPct val="90000"/>
          </a:lnSpc>
          <a:spcBef>
            <a:spcPts val="1000"/>
          </a:spcBef>
          <a:buFont typeface="Arial" panose="020B0604020202020204" pitchFamily="34" charset="0"/>
          <a:defRPr sz="3600" spc="50" dirty="0">
            <a:ln w="0"/>
            <a:solidFill>
              <a:srgbClr val="FFFFFF"/>
            </a:solidFill>
            <a:effectLst>
              <a:innerShdw blurRad="63500" dist="50800" dir="13500000">
                <a:srgbClr val="000000">
                  <a:alpha val="50000"/>
                </a:srgbClr>
              </a:innerShdw>
            </a:effectLst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Custom 10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FF9900"/>
    </a:hlink>
    <a:folHlink>
      <a:srgbClr val="FF9900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Phoenix">
    <a:fillStyleLst>
      <a:solidFill>
        <a:schemeClr val="phClr">
          <a:tint val="100000"/>
          <a:shade val="100000"/>
          <a:hueMod val="100000"/>
          <a:satMod val="100000"/>
        </a:schemeClr>
      </a:solidFill>
      <a:gradFill rotWithShape="1">
        <a:gsLst>
          <a:gs pos="0">
            <a:schemeClr val="phClr">
              <a:tint val="65000"/>
              <a:satMod val="180000"/>
            </a:schemeClr>
          </a:gs>
          <a:gs pos="50000">
            <a:schemeClr val="phClr">
              <a:tint val="40000"/>
              <a:satMod val="175000"/>
            </a:schemeClr>
          </a:gs>
          <a:gs pos="100000">
            <a:schemeClr val="phClr">
              <a:tint val="65000"/>
              <a:satMod val="180000"/>
            </a:schemeClr>
          </a:gs>
        </a:gsLst>
        <a:lin ang="0" scaled="1"/>
      </a:gradFill>
      <a:gradFill rotWithShape="1">
        <a:gsLst>
          <a:gs pos="0">
            <a:schemeClr val="phClr">
              <a:shade val="38000"/>
              <a:satMod val="150000"/>
            </a:schemeClr>
          </a:gs>
          <a:gs pos="50000">
            <a:schemeClr val="phClr">
              <a:shade val="100000"/>
              <a:satMod val="100000"/>
            </a:schemeClr>
          </a:gs>
          <a:gs pos="100000">
            <a:schemeClr val="phClr">
              <a:shade val="38000"/>
              <a:satMod val="150000"/>
            </a:schemeClr>
          </a:gs>
        </a:gsLst>
        <a:lin ang="0" scaled="1"/>
      </a:gradFill>
    </a:fillStyleLst>
    <a:lnStyleLst>
      <a:ln w="12700" cap="flat" cmpd="sng" algn="ctr">
        <a:solidFill>
          <a:schemeClr val="phClr"/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dbl" algn="ctr">
        <a:solidFill>
          <a:schemeClr val="phClr"/>
        </a:solidFill>
        <a:prstDash val="solid"/>
      </a:ln>
    </a:lnStyleLst>
    <a:effectStyleLst>
      <a:effectStyle>
        <a:effectLst>
          <a:outerShdw blurRad="190500" dist="78600" dir="2700000" rotWithShape="0">
            <a:srgbClr val="000000">
              <a:alpha val="35500"/>
            </a:srgbClr>
          </a:outerShdw>
        </a:effectLst>
      </a:effectStyle>
      <a:effectStyle>
        <a:effectLst>
          <a:outerShdw blurRad="190500" dist="78600" dir="2700000" rotWithShape="0">
            <a:srgbClr val="000000">
              <a:alpha val="35500"/>
            </a:srgbClr>
          </a:outerShdw>
        </a:effectLst>
      </a:effectStyle>
      <a:effectStyle>
        <a:effectLst>
          <a:outerShdw blurRad="190500" dist="78600" dir="2700000" rotWithShape="0">
            <a:srgbClr val="000000">
              <a:alpha val="35500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100000"/>
          </a:lightRig>
        </a:scene3d>
        <a:sp3d>
          <a:bevelT w="50800" h="50800"/>
        </a:sp3d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9382</TotalTime>
  <Words>2479</Words>
  <Application>Microsoft Office PowerPoint</Application>
  <PresentationFormat>Custom</PresentationFormat>
  <Paragraphs>339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Helvetica Neue</vt:lpstr>
      <vt:lpstr>Helvetica Neue Light</vt:lpstr>
      <vt:lpstr>Helvetica Neue Medium</vt:lpstr>
      <vt:lpstr>等线</vt:lpstr>
      <vt:lpstr>黑体</vt:lpstr>
      <vt:lpstr>庞门正道标题体</vt:lpstr>
      <vt:lpstr>SimSun</vt:lpstr>
      <vt:lpstr>Microsoft YaHei</vt:lpstr>
      <vt:lpstr>Microsoft YaHei</vt:lpstr>
      <vt:lpstr>Arial</vt:lpstr>
      <vt:lpstr>Calibri</vt:lpstr>
      <vt:lpstr>Wingdings</vt:lpstr>
      <vt:lpstr>Black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Yuki Wang(CD)</dc:creator>
  <cp:lastModifiedBy>Sunny Mao(CD)</cp:lastModifiedBy>
  <cp:revision>388</cp:revision>
  <dcterms:modified xsi:type="dcterms:W3CDTF">2020-07-09T08:40:07Z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SEDS_HWMT_d46a6755">
    <vt:lpwstr>f2457fae_mFV0yz84Kyk0O8pNknv4rxWXyCo=_8QYrr2hyP1RFVcUczxyW899sYU3Zce9oIM+Ew+F0EgAI5RDFlZAwSk698Q0UoSdnak1tpcf6c2moCfsA_d19d1567</vt:lpwstr>
  </property>
</Properties>
</file>