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1.xml" ContentType="application/vnd.openxmlformats-officedocument.themeOverr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423" r:id="rId2"/>
    <p:sldId id="531" r:id="rId3"/>
    <p:sldId id="534" r:id="rId4"/>
    <p:sldId id="616" r:id="rId5"/>
    <p:sldId id="617" r:id="rId6"/>
    <p:sldId id="629" r:id="rId7"/>
    <p:sldId id="694" r:id="rId8"/>
    <p:sldId id="630" r:id="rId9"/>
    <p:sldId id="740" r:id="rId10"/>
    <p:sldId id="637" r:id="rId11"/>
    <p:sldId id="729" r:id="rId12"/>
    <p:sldId id="745" r:id="rId13"/>
    <p:sldId id="730" r:id="rId14"/>
    <p:sldId id="653" r:id="rId15"/>
    <p:sldId id="734" r:id="rId16"/>
    <p:sldId id="735" r:id="rId17"/>
    <p:sldId id="741" r:id="rId18"/>
    <p:sldId id="742" r:id="rId19"/>
    <p:sldId id="683" r:id="rId20"/>
    <p:sldId id="731" r:id="rId21"/>
    <p:sldId id="744" r:id="rId22"/>
    <p:sldId id="716" r:id="rId23"/>
    <p:sldId id="563" r:id="rId24"/>
    <p:sldId id="650" r:id="rId25"/>
    <p:sldId id="623" r:id="rId26"/>
    <p:sldId id="743" r:id="rId27"/>
    <p:sldId id="727" r:id="rId28"/>
    <p:sldId id="625" r:id="rId29"/>
    <p:sldId id="736" r:id="rId30"/>
    <p:sldId id="737" r:id="rId31"/>
    <p:sldId id="621" r:id="rId32"/>
    <p:sldId id="620" r:id="rId33"/>
    <p:sldId id="722" r:id="rId34"/>
    <p:sldId id="626" r:id="rId35"/>
    <p:sldId id="426" r:id="rId36"/>
  </p:sldIdLst>
  <p:sldSz cx="9144000" cy="5143500" type="screen16x9"/>
  <p:notesSz cx="6858000" cy="9144000"/>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1pPr>
    <a:lvl2pPr marL="498475" lvl="1" indent="-41275"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96950" lvl="2" indent="-8255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495425" lvl="3" indent="-123825"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995805" lvl="4" indent="-167005"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167005"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167005"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167005"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167005"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71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贺帅帅" initials="h" lastIdx="1" clrIdx="0">
    <p:extLst>
      <p:ext uri="{19B8F6BF-5375-455C-9EA6-DF929625EA0E}">
        <p15:presenceInfo xmlns:p15="http://schemas.microsoft.com/office/powerpoint/2012/main" userId="贺帅帅"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00"/>
    <a:srgbClr val="215DE8"/>
    <a:srgbClr val="E0DE1E"/>
    <a:srgbClr val="C12B37"/>
    <a:srgbClr val="FFFFFF"/>
    <a:srgbClr val="B07D0F"/>
    <a:srgbClr val="0097DE"/>
    <a:srgbClr val="D58323"/>
    <a:srgbClr val="242491"/>
    <a:srgbClr val="007C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57" autoAdjust="0"/>
    <p:restoredTop sz="71849" autoAdjust="0"/>
  </p:normalViewPr>
  <p:slideViewPr>
    <p:cSldViewPr showGuides="1">
      <p:cViewPr varScale="1">
        <p:scale>
          <a:sx n="65" d="100"/>
          <a:sy n="65" d="100"/>
        </p:scale>
        <p:origin x="1412" y="24"/>
      </p:cViewPr>
      <p:guideLst>
        <p:guide orient="horz" pos="171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5" cy="720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charts/_rels/chart1.xml.rels><?xml version="1.0" encoding="UTF-8" standalone="yes"?>
<Relationships xmlns="http://schemas.openxmlformats.org/package/2006/relationships"><Relationship Id="rId3" Type="http://schemas.openxmlformats.org/officeDocument/2006/relationships/oleObject" Target="file:///D:\&#33455;&#38084;&#25237;&#36164;\MTM&#22522;&#37329;\2021&#24180;&#39033;&#30446;\210205&#21271;&#20140;&#22823;&#30636;&#31185;&#25216;\3.&#31435;&#39033;&#25253;&#21578;\1.&#20225;&#19994;&#36164;&#26009;.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33455;&#38084;&#25237;&#36164;\MTM&#22522;&#37329;\200310&#21335;&#40607;&#30005;&#23376;\202003&#31435;&#39033;&#36164;&#26009;\&#31454;&#20105;&#23545;&#25163;&#20998;&#26512;.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dPt>
            <c:idx val="0"/>
            <c:bubble3D val="0"/>
            <c:spPr>
              <a:solidFill>
                <a:srgbClr val="FF0000"/>
              </a:solidFill>
              <a:ln w="19050">
                <a:solidFill>
                  <a:schemeClr val="lt1"/>
                </a:solidFill>
              </a:ln>
              <a:effectLst/>
            </c:spPr>
            <c:extLst>
              <c:ext xmlns:c16="http://schemas.microsoft.com/office/drawing/2014/chart" uri="{C3380CC4-5D6E-409C-BE32-E72D297353CC}">
                <c16:uniqueId val="{00000001-15D4-4C3D-9A34-40F4F0916470}"/>
              </c:ext>
            </c:extLst>
          </c:dPt>
          <c:dPt>
            <c:idx val="1"/>
            <c:bubble3D val="0"/>
            <c:explosion val="14"/>
            <c:spPr>
              <a:solidFill>
                <a:schemeClr val="accent1"/>
              </a:solidFill>
              <a:ln w="19050">
                <a:solidFill>
                  <a:schemeClr val="lt1"/>
                </a:solidFill>
              </a:ln>
              <a:effectLst/>
            </c:spPr>
            <c:extLst>
              <c:ext xmlns:c16="http://schemas.microsoft.com/office/drawing/2014/chart" uri="{C3380CC4-5D6E-409C-BE32-E72D297353CC}">
                <c16:uniqueId val="{00000003-15D4-4C3D-9A34-40F4F0916470}"/>
              </c:ext>
            </c:extLst>
          </c:dPt>
          <c:dLbls>
            <c:dLbl>
              <c:idx val="0"/>
              <c:tx>
                <c:rich>
                  <a:bodyPr/>
                  <a:lstStyle/>
                  <a:p>
                    <a:fld id="{F5540788-1724-48F1-B503-A94549A16897}" type="CATEGORYNAME">
                      <a:rPr lang="zh-CN" altLang="en-US"/>
                      <a:pPr/>
                      <a:t>[CATEGORY NAME]</a:t>
                    </a:fld>
                    <a:r>
                      <a:rPr lang="en-US" altLang="zh-CN" baseline="0"/>
                      <a:t>, 70</a:t>
                    </a:r>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15D4-4C3D-9A34-40F4F0916470}"/>
                </c:ext>
              </c:extLst>
            </c:dLbl>
            <c:dLbl>
              <c:idx val="1"/>
              <c:layout>
                <c:manualLayout>
                  <c:x val="0.18208541119860017"/>
                  <c:y val="-0.167888597258676"/>
                </c:manualLayout>
              </c:layout>
              <c:tx>
                <c:rich>
                  <a:bodyPr/>
                  <a:lstStyle/>
                  <a:p>
                    <a:fld id="{8476C864-D35C-41C1-91FD-AC9F15C713B8}" type="CATEGORYNAME">
                      <a:rPr lang="en-US" altLang="zh-CN" smtClean="0"/>
                      <a:pPr/>
                      <a:t>[CATEGORY NAME]</a:t>
                    </a:fld>
                    <a:r>
                      <a:rPr lang="zh-CN" altLang="en-US"/>
                      <a:t>中国</a:t>
                    </a:r>
                    <a:r>
                      <a:rPr lang="en-US" altLang="zh-CN" baseline="0"/>
                      <a:t>, </a:t>
                    </a:r>
                    <a:fld id="{FB0B0CA2-4395-4B47-A640-628A20A2FA0D}" type="VALUE">
                      <a:rPr lang="en-US" altLang="zh-CN" baseline="0"/>
                      <a:pPr/>
                      <a:t>[VALUE]</a:t>
                    </a:fld>
                    <a:endParaRPr lang="en-US" altLang="zh-CN" baseline="0"/>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15D4-4C3D-9A34-40F4F0916470}"/>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mn-lt"/>
                    <a:ea typeface="+mn-ea"/>
                    <a:cs typeface="+mn-cs"/>
                  </a:defRPr>
                </a:pPr>
                <a:endParaRPr lang="zh-CN"/>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人员分析!$D$7:$D$8</c:f>
              <c:strCache>
                <c:ptCount val="2"/>
                <c:pt idx="0">
                  <c:v>大瞬科技</c:v>
                </c:pt>
                <c:pt idx="1">
                  <c:v>O2Micro</c:v>
                </c:pt>
              </c:strCache>
            </c:strRef>
          </c:cat>
          <c:val>
            <c:numRef>
              <c:f>人员分析!$E$7:$E$8</c:f>
              <c:numCache>
                <c:formatCode>General</c:formatCode>
                <c:ptCount val="2"/>
                <c:pt idx="0">
                  <c:v>77</c:v>
                </c:pt>
                <c:pt idx="1">
                  <c:v>185</c:v>
                </c:pt>
              </c:numCache>
            </c:numRef>
          </c:val>
          <c:extLst>
            <c:ext xmlns:c16="http://schemas.microsoft.com/office/drawing/2014/chart" uri="{C3380CC4-5D6E-409C-BE32-E72D297353CC}">
              <c16:uniqueId val="{00000004-15D4-4C3D-9A34-40F4F0916470}"/>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CN" sz="1200">
                <a:latin typeface="仿宋" panose="02010609060101010101" pitchFamily="49" charset="-122"/>
                <a:ea typeface="仿宋" panose="02010609060101010101" pitchFamily="49" charset="-122"/>
              </a:rPr>
              <a:t>2012</a:t>
            </a:r>
            <a:r>
              <a:rPr lang="zh-CN" altLang="en-US" sz="1200">
                <a:latin typeface="仿宋" panose="02010609060101010101" pitchFamily="49" charset="-122"/>
                <a:ea typeface="仿宋" panose="02010609060101010101" pitchFamily="49" charset="-122"/>
              </a:rPr>
              <a:t>年</a:t>
            </a:r>
            <a:r>
              <a:rPr lang="en-US" altLang="zh-CN" sz="1200">
                <a:latin typeface="仿宋" panose="02010609060101010101" pitchFamily="49" charset="-122"/>
                <a:ea typeface="仿宋" panose="02010609060101010101" pitchFamily="49" charset="-122"/>
              </a:rPr>
              <a:t>-2018</a:t>
            </a:r>
            <a:r>
              <a:rPr lang="zh-CN" altLang="en-US" sz="1200">
                <a:latin typeface="仿宋" panose="02010609060101010101" pitchFamily="49" charset="-122"/>
                <a:ea typeface="仿宋" panose="02010609060101010101" pitchFamily="49" charset="-122"/>
              </a:rPr>
              <a:t>年国内</a:t>
            </a:r>
            <a:r>
              <a:rPr lang="zh-CN" altLang="zh-CN" sz="1200" b="0" i="0" u="none" strike="noStrike" baseline="0">
                <a:effectLst/>
                <a:latin typeface="仿宋" panose="02010609060101010101" pitchFamily="49" charset="-122"/>
                <a:ea typeface="仿宋" panose="02010609060101010101" pitchFamily="49" charset="-122"/>
              </a:rPr>
              <a:t>电源管理芯片市场</a:t>
            </a:r>
            <a:r>
              <a:rPr lang="zh-CN" altLang="en-US" sz="1200" b="0" i="0" u="none" strike="noStrike" baseline="0">
                <a:effectLst/>
                <a:latin typeface="仿宋" panose="02010609060101010101" pitchFamily="49" charset="-122"/>
                <a:ea typeface="仿宋" panose="02010609060101010101" pitchFamily="49" charset="-122"/>
              </a:rPr>
              <a:t>规模</a:t>
            </a:r>
            <a:endParaRPr lang="zh-CN" altLang="en-US" sz="1200">
              <a:latin typeface="仿宋" panose="02010609060101010101" pitchFamily="49" charset="-122"/>
              <a:ea typeface="仿宋" panose="02010609060101010101" pitchFamily="49" charset="-122"/>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Sheet1!$F$4</c:f>
              <c:strCache>
                <c:ptCount val="1"/>
                <c:pt idx="0">
                  <c:v>市场规模/亿元</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Sheet1!$G$3:$M$3</c:f>
              <c:strCache>
                <c:ptCount val="7"/>
                <c:pt idx="0">
                  <c:v>2012年</c:v>
                </c:pt>
                <c:pt idx="1">
                  <c:v>2013年</c:v>
                </c:pt>
                <c:pt idx="2">
                  <c:v>2014年</c:v>
                </c:pt>
                <c:pt idx="3">
                  <c:v>2015年</c:v>
                </c:pt>
                <c:pt idx="4">
                  <c:v>2016年</c:v>
                </c:pt>
                <c:pt idx="5">
                  <c:v>2017年</c:v>
                </c:pt>
                <c:pt idx="6">
                  <c:v>2018年</c:v>
                </c:pt>
              </c:strCache>
            </c:strRef>
          </c:cat>
          <c:val>
            <c:numRef>
              <c:f>Sheet1!$G$4:$M$4</c:f>
              <c:numCache>
                <c:formatCode>General</c:formatCode>
                <c:ptCount val="7"/>
                <c:pt idx="0">
                  <c:v>430.68</c:v>
                </c:pt>
                <c:pt idx="1">
                  <c:v>462.5</c:v>
                </c:pt>
                <c:pt idx="2">
                  <c:v>505.68</c:v>
                </c:pt>
                <c:pt idx="3">
                  <c:v>537.5</c:v>
                </c:pt>
                <c:pt idx="4">
                  <c:v>583.19000000000005</c:v>
                </c:pt>
                <c:pt idx="5">
                  <c:v>637.77</c:v>
                </c:pt>
                <c:pt idx="6">
                  <c:v>681.53</c:v>
                </c:pt>
              </c:numCache>
            </c:numRef>
          </c:val>
          <c:extLst>
            <c:ext xmlns:c16="http://schemas.microsoft.com/office/drawing/2014/chart" uri="{C3380CC4-5D6E-409C-BE32-E72D297353CC}">
              <c16:uniqueId val="{00000000-29A4-4950-9E94-240169D64CD7}"/>
            </c:ext>
          </c:extLst>
        </c:ser>
        <c:dLbls>
          <c:showLegendKey val="0"/>
          <c:showVal val="0"/>
          <c:showCatName val="0"/>
          <c:showSerName val="0"/>
          <c:showPercent val="0"/>
          <c:showBubbleSize val="0"/>
        </c:dLbls>
        <c:gapWidth val="219"/>
        <c:overlap val="-27"/>
        <c:axId val="138823551"/>
        <c:axId val="1609308463"/>
      </c:barChart>
      <c:lineChart>
        <c:grouping val="standard"/>
        <c:varyColors val="0"/>
        <c:ser>
          <c:idx val="1"/>
          <c:order val="1"/>
          <c:tx>
            <c:strRef>
              <c:f>Sheet1!$F$5</c:f>
              <c:strCache>
                <c:ptCount val="1"/>
                <c:pt idx="0">
                  <c:v>增长率</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Sheet1!$G$5:$M$5</c:f>
              <c:numCache>
                <c:formatCode>0.00%</c:formatCode>
                <c:ptCount val="7"/>
                <c:pt idx="1">
                  <c:v>7.3883161512027451E-2</c:v>
                </c:pt>
                <c:pt idx="2">
                  <c:v>9.3362162162162088E-2</c:v>
                </c:pt>
                <c:pt idx="3">
                  <c:v>6.2925170068027114E-2</c:v>
                </c:pt>
                <c:pt idx="4">
                  <c:v>8.5004651162790879E-2</c:v>
                </c:pt>
                <c:pt idx="5">
                  <c:v>9.3588710368833317E-2</c:v>
                </c:pt>
                <c:pt idx="6">
                  <c:v>6.8614077175157107E-2</c:v>
                </c:pt>
              </c:numCache>
            </c:numRef>
          </c:val>
          <c:smooth val="0"/>
          <c:extLst>
            <c:ext xmlns:c16="http://schemas.microsoft.com/office/drawing/2014/chart" uri="{C3380CC4-5D6E-409C-BE32-E72D297353CC}">
              <c16:uniqueId val="{00000001-29A4-4950-9E94-240169D64CD7}"/>
            </c:ext>
          </c:extLst>
        </c:ser>
        <c:dLbls>
          <c:showLegendKey val="0"/>
          <c:showVal val="0"/>
          <c:showCatName val="0"/>
          <c:showSerName val="0"/>
          <c:showPercent val="0"/>
          <c:showBubbleSize val="0"/>
        </c:dLbls>
        <c:marker val="1"/>
        <c:smooth val="0"/>
        <c:axId val="206493103"/>
        <c:axId val="205608479"/>
      </c:lineChart>
      <c:catAx>
        <c:axId val="1388235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609308463"/>
        <c:crosses val="autoZero"/>
        <c:auto val="1"/>
        <c:lblAlgn val="ctr"/>
        <c:lblOffset val="100"/>
        <c:noMultiLvlLbl val="0"/>
      </c:catAx>
      <c:valAx>
        <c:axId val="160930846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仿宋" panose="02010609060101010101" pitchFamily="49" charset="-122"/>
                <a:ea typeface="仿宋" panose="02010609060101010101" pitchFamily="49" charset="-122"/>
                <a:cs typeface="+mn-cs"/>
              </a:defRPr>
            </a:pPr>
            <a:endParaRPr lang="zh-CN"/>
          </a:p>
        </c:txPr>
        <c:crossAx val="138823551"/>
        <c:crosses val="autoZero"/>
        <c:crossBetween val="between"/>
      </c:valAx>
      <c:valAx>
        <c:axId val="205608479"/>
        <c:scaling>
          <c:orientation val="minMax"/>
          <c:max val="0.1"/>
          <c:min val="0"/>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仿宋" panose="02010609060101010101" pitchFamily="49" charset="-122"/>
                <a:ea typeface="仿宋" panose="02010609060101010101" pitchFamily="49" charset="-122"/>
                <a:cs typeface="+mn-cs"/>
              </a:defRPr>
            </a:pPr>
            <a:endParaRPr lang="zh-CN"/>
          </a:p>
        </c:txPr>
        <c:crossAx val="206493103"/>
        <c:crosses val="max"/>
        <c:crossBetween val="between"/>
      </c:valAx>
      <c:catAx>
        <c:axId val="206493103"/>
        <c:scaling>
          <c:orientation val="minMax"/>
        </c:scaling>
        <c:delete val="1"/>
        <c:axPos val="b"/>
        <c:majorTickMark val="out"/>
        <c:minorTickMark val="none"/>
        <c:tickLblPos val="nextTo"/>
        <c:crossAx val="205608479"/>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仿宋" panose="02010609060101010101" pitchFamily="49" charset="-122"/>
              <a:ea typeface="仿宋" panose="02010609060101010101" pitchFamily="49"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zh-CN" altLang="en-US" sz="1200" b="0" i="0" baseline="0">
                <a:effectLst/>
                <a:latin typeface="仿宋" panose="02010609060101010101" pitchFamily="49" charset="-122"/>
                <a:ea typeface="仿宋" panose="02010609060101010101" pitchFamily="49" charset="-122"/>
              </a:rPr>
              <a:t>大瞬科技</a:t>
            </a:r>
            <a:r>
              <a:rPr lang="zh-CN" altLang="zh-CN" sz="1200" b="0" i="0" baseline="0">
                <a:effectLst/>
                <a:latin typeface="仿宋" panose="02010609060101010101" pitchFamily="49" charset="-122"/>
                <a:ea typeface="仿宋" panose="02010609060101010101" pitchFamily="49" charset="-122"/>
              </a:rPr>
              <a:t>近</a:t>
            </a:r>
            <a:r>
              <a:rPr lang="en-US" altLang="zh-CN" sz="1200" b="0" i="0" baseline="0">
                <a:effectLst/>
                <a:latin typeface="仿宋" panose="02010609060101010101" pitchFamily="49" charset="-122"/>
                <a:ea typeface="仿宋" panose="02010609060101010101" pitchFamily="49" charset="-122"/>
              </a:rPr>
              <a:t>12</a:t>
            </a:r>
            <a:r>
              <a:rPr lang="zh-CN" altLang="zh-CN" sz="1200" b="0" i="0" baseline="0">
                <a:effectLst/>
                <a:latin typeface="仿宋" panose="02010609060101010101" pitchFamily="49" charset="-122"/>
                <a:ea typeface="仿宋" panose="02010609060101010101" pitchFamily="49" charset="-122"/>
              </a:rPr>
              <a:t>个月的月度营业收入情况</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仿宋" panose="02010609060101010101" pitchFamily="49" charset="-122"/>
                    <a:ea typeface="仿宋" panose="02010609060101010101" pitchFamily="49" charset="-122"/>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销售预测!$C$1:$N$1</c:f>
              <c:numCache>
                <c:formatCode>yyyy"年"m"月"</c:formatCode>
                <c:ptCount val="12"/>
                <c:pt idx="0">
                  <c:v>44197</c:v>
                </c:pt>
                <c:pt idx="1">
                  <c:v>44228</c:v>
                </c:pt>
                <c:pt idx="2">
                  <c:v>44256</c:v>
                </c:pt>
                <c:pt idx="3">
                  <c:v>44287</c:v>
                </c:pt>
                <c:pt idx="4">
                  <c:v>44317</c:v>
                </c:pt>
                <c:pt idx="5">
                  <c:v>44348</c:v>
                </c:pt>
                <c:pt idx="6">
                  <c:v>44378</c:v>
                </c:pt>
                <c:pt idx="7">
                  <c:v>44409</c:v>
                </c:pt>
                <c:pt idx="8">
                  <c:v>44440</c:v>
                </c:pt>
                <c:pt idx="9">
                  <c:v>44470</c:v>
                </c:pt>
                <c:pt idx="10">
                  <c:v>44501</c:v>
                </c:pt>
                <c:pt idx="11">
                  <c:v>44531</c:v>
                </c:pt>
              </c:numCache>
            </c:numRef>
          </c:cat>
          <c:val>
            <c:numRef>
              <c:f>销售预测!$C$2:$N$2</c:f>
              <c:numCache>
                <c:formatCode>#,##0.00</c:formatCode>
                <c:ptCount val="12"/>
                <c:pt idx="0">
                  <c:v>692.55104900000003</c:v>
                </c:pt>
                <c:pt idx="1">
                  <c:v>599.66296900000009</c:v>
                </c:pt>
                <c:pt idx="2" formatCode="General">
                  <c:v>363.47</c:v>
                </c:pt>
                <c:pt idx="3" formatCode="0.00">
                  <c:v>842.7</c:v>
                </c:pt>
                <c:pt idx="4" formatCode="General">
                  <c:v>1000</c:v>
                </c:pt>
                <c:pt idx="5" formatCode="General">
                  <c:v>1300</c:v>
                </c:pt>
                <c:pt idx="6" formatCode="General">
                  <c:v>1500</c:v>
                </c:pt>
                <c:pt idx="7" formatCode="General">
                  <c:v>1800</c:v>
                </c:pt>
                <c:pt idx="8" formatCode="General">
                  <c:v>2000</c:v>
                </c:pt>
                <c:pt idx="9" formatCode="General">
                  <c:v>2100</c:v>
                </c:pt>
                <c:pt idx="10" formatCode="General">
                  <c:v>2300</c:v>
                </c:pt>
                <c:pt idx="11" formatCode="General">
                  <c:v>2500</c:v>
                </c:pt>
              </c:numCache>
            </c:numRef>
          </c:val>
          <c:smooth val="0"/>
          <c:extLst>
            <c:ext xmlns:c16="http://schemas.microsoft.com/office/drawing/2014/chart" uri="{C3380CC4-5D6E-409C-BE32-E72D297353CC}">
              <c16:uniqueId val="{00000000-98EC-4EFA-9098-7065360D4634}"/>
            </c:ext>
          </c:extLst>
        </c:ser>
        <c:dLbls>
          <c:showLegendKey val="0"/>
          <c:showVal val="0"/>
          <c:showCatName val="0"/>
          <c:showSerName val="0"/>
          <c:showPercent val="0"/>
          <c:showBubbleSize val="0"/>
        </c:dLbls>
        <c:smooth val="0"/>
        <c:axId val="1010815823"/>
        <c:axId val="1124511439"/>
      </c:lineChart>
      <c:dateAx>
        <c:axId val="1010815823"/>
        <c:scaling>
          <c:orientation val="minMax"/>
        </c:scaling>
        <c:delete val="0"/>
        <c:axPos val="b"/>
        <c:numFmt formatCode="yyyy&quot;年&quot;m&quot;月&quot;"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仿宋" panose="02010609060101010101" pitchFamily="49" charset="-122"/>
                <a:ea typeface="仿宋" panose="02010609060101010101" pitchFamily="49" charset="-122"/>
                <a:cs typeface="+mn-cs"/>
              </a:defRPr>
            </a:pPr>
            <a:endParaRPr lang="zh-CN"/>
          </a:p>
        </c:txPr>
        <c:crossAx val="1124511439"/>
        <c:crosses val="autoZero"/>
        <c:auto val="1"/>
        <c:lblOffset val="100"/>
        <c:baseTimeUnit val="months"/>
      </c:dateAx>
      <c:valAx>
        <c:axId val="1124511439"/>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仿宋" panose="02010609060101010101" pitchFamily="49" charset="-122"/>
                <a:ea typeface="仿宋" panose="02010609060101010101" pitchFamily="49" charset="-122"/>
                <a:cs typeface="+mn-cs"/>
              </a:defRPr>
            </a:pPr>
            <a:endParaRPr lang="zh-CN"/>
          </a:p>
        </c:txPr>
        <c:crossAx val="101081582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493323-A1C8-4C69-9925-B02E4400982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zh-CN" altLang="en-US"/>
        </a:p>
      </dgm:t>
    </dgm:pt>
    <dgm:pt modelId="{D09ADCD2-5F44-43B6-8100-19C72FA678B3}">
      <dgm:prSet phldrT="[文本]"/>
      <dgm:spPr/>
      <dgm:t>
        <a:bodyPr/>
        <a:lstStyle/>
        <a:p>
          <a:pPr algn="ctr"/>
          <a:r>
            <a:rPr lang="zh-CN" altLang="en-US" b="1" dirty="0">
              <a:latin typeface="仿宋" panose="02010609060101010101" pitchFamily="49" charset="-122"/>
              <a:ea typeface="仿宋" panose="02010609060101010101" pitchFamily="49" charset="-122"/>
            </a:rPr>
            <a:t>北京大瞬</a:t>
          </a:r>
        </a:p>
      </dgm:t>
    </dgm:pt>
    <dgm:pt modelId="{4FDE6ACF-65E0-4B5B-AD67-A3E72245ECBF}" type="parTrans" cxnId="{D0158E35-39CF-405C-B1B0-B6A2F8E87A90}">
      <dgm:prSet/>
      <dgm:spPr/>
      <dgm:t>
        <a:bodyPr/>
        <a:lstStyle/>
        <a:p>
          <a:pPr algn="ctr"/>
          <a:endParaRPr lang="zh-CN" altLang="en-US">
            <a:latin typeface="仿宋" panose="02010609060101010101" pitchFamily="49" charset="-122"/>
            <a:ea typeface="仿宋" panose="02010609060101010101" pitchFamily="49" charset="-122"/>
          </a:endParaRPr>
        </a:p>
      </dgm:t>
    </dgm:pt>
    <dgm:pt modelId="{3A2550D0-02CE-445C-98DD-A05AFC57D5F1}" type="sibTrans" cxnId="{D0158E35-39CF-405C-B1B0-B6A2F8E87A90}">
      <dgm:prSet/>
      <dgm:spPr/>
      <dgm:t>
        <a:bodyPr/>
        <a:lstStyle/>
        <a:p>
          <a:pPr algn="ctr"/>
          <a:endParaRPr lang="zh-CN" altLang="en-US">
            <a:latin typeface="仿宋" panose="02010609060101010101" pitchFamily="49" charset="-122"/>
            <a:ea typeface="仿宋" panose="02010609060101010101" pitchFamily="49" charset="-122"/>
          </a:endParaRPr>
        </a:p>
      </dgm:t>
    </dgm:pt>
    <dgm:pt modelId="{EE0F8B29-E52A-4C15-BDF9-0E318F4D90E4}">
      <dgm:prSet phldrT="[文本]"/>
      <dgm:spPr/>
      <dgm:t>
        <a:bodyPr/>
        <a:lstStyle/>
        <a:p>
          <a:pPr algn="ctr"/>
          <a:r>
            <a:rPr lang="zh-CN" altLang="en-US">
              <a:latin typeface="仿宋" panose="02010609060101010101" pitchFamily="49" charset="-122"/>
              <a:ea typeface="仿宋" panose="02010609060101010101" pitchFamily="49" charset="-122"/>
            </a:rPr>
            <a:t>上海</a:t>
          </a:r>
        </a:p>
      </dgm:t>
    </dgm:pt>
    <dgm:pt modelId="{D00268C8-58E5-4341-8874-F2C3AC1BA7B0}" type="parTrans" cxnId="{A1A3FA88-5084-42A9-AC33-537812208844}">
      <dgm:prSet/>
      <dgm:spPr/>
      <dgm:t>
        <a:bodyPr/>
        <a:lstStyle/>
        <a:p>
          <a:pPr algn="ctr"/>
          <a:endParaRPr lang="zh-CN" altLang="en-US">
            <a:latin typeface="仿宋" panose="02010609060101010101" pitchFamily="49" charset="-122"/>
            <a:ea typeface="仿宋" panose="02010609060101010101" pitchFamily="49" charset="-122"/>
          </a:endParaRPr>
        </a:p>
      </dgm:t>
    </dgm:pt>
    <dgm:pt modelId="{6043D352-C96F-4543-A338-DD37C83987E6}" type="sibTrans" cxnId="{A1A3FA88-5084-42A9-AC33-537812208844}">
      <dgm:prSet/>
      <dgm:spPr/>
      <dgm:t>
        <a:bodyPr/>
        <a:lstStyle/>
        <a:p>
          <a:pPr algn="ctr"/>
          <a:endParaRPr lang="zh-CN" altLang="en-US">
            <a:latin typeface="仿宋" panose="02010609060101010101" pitchFamily="49" charset="-122"/>
            <a:ea typeface="仿宋" panose="02010609060101010101" pitchFamily="49" charset="-122"/>
          </a:endParaRPr>
        </a:p>
      </dgm:t>
    </dgm:pt>
    <dgm:pt modelId="{45106832-3B1E-4895-B15E-29342502A2F0}">
      <dgm:prSet phldrT="[文本]"/>
      <dgm:spPr/>
      <dgm:t>
        <a:bodyPr/>
        <a:lstStyle/>
        <a:p>
          <a:pPr algn="ctr"/>
          <a:r>
            <a:rPr lang="zh-CN" altLang="en-US" dirty="0">
              <a:latin typeface="仿宋" panose="02010609060101010101" pitchFamily="49" charset="-122"/>
              <a:ea typeface="仿宋" panose="02010609060101010101" pitchFamily="49" charset="-122"/>
            </a:rPr>
            <a:t>武汉</a:t>
          </a:r>
        </a:p>
      </dgm:t>
    </dgm:pt>
    <dgm:pt modelId="{F2A8F166-AC94-4A7A-9548-803C2469C6A9}" type="parTrans" cxnId="{90DDF50F-1F16-4C65-A0E6-DD1A9D9B17A9}">
      <dgm:prSet/>
      <dgm:spPr/>
      <dgm:t>
        <a:bodyPr/>
        <a:lstStyle/>
        <a:p>
          <a:pPr algn="ctr"/>
          <a:endParaRPr lang="zh-CN" altLang="en-US">
            <a:latin typeface="仿宋" panose="02010609060101010101" pitchFamily="49" charset="-122"/>
            <a:ea typeface="仿宋" panose="02010609060101010101" pitchFamily="49" charset="-122"/>
          </a:endParaRPr>
        </a:p>
      </dgm:t>
    </dgm:pt>
    <dgm:pt modelId="{D114819D-AE46-46F7-9EE6-9850496A33E4}" type="sibTrans" cxnId="{90DDF50F-1F16-4C65-A0E6-DD1A9D9B17A9}">
      <dgm:prSet/>
      <dgm:spPr/>
      <dgm:t>
        <a:bodyPr/>
        <a:lstStyle/>
        <a:p>
          <a:pPr algn="ctr"/>
          <a:endParaRPr lang="zh-CN" altLang="en-US">
            <a:latin typeface="仿宋" panose="02010609060101010101" pitchFamily="49" charset="-122"/>
            <a:ea typeface="仿宋" panose="02010609060101010101" pitchFamily="49" charset="-122"/>
          </a:endParaRPr>
        </a:p>
      </dgm:t>
    </dgm:pt>
    <dgm:pt modelId="{9B62265F-5224-4FCB-BC48-ED92B9567E33}">
      <dgm:prSet phldrT="[文本]"/>
      <dgm:spPr/>
      <dgm:t>
        <a:bodyPr/>
        <a:lstStyle/>
        <a:p>
          <a:pPr algn="ctr"/>
          <a:r>
            <a:rPr lang="zh-CN" altLang="en-US">
              <a:latin typeface="仿宋" panose="02010609060101010101" pitchFamily="49" charset="-122"/>
              <a:ea typeface="仿宋" panose="02010609060101010101" pitchFamily="49" charset="-122"/>
            </a:rPr>
            <a:t>成都</a:t>
          </a:r>
        </a:p>
      </dgm:t>
    </dgm:pt>
    <dgm:pt modelId="{E77BFE7D-F3B6-4D4A-8910-E0F9A6AF1964}" type="parTrans" cxnId="{7A1C595A-4B90-43A7-BCE5-2C88ACBD7946}">
      <dgm:prSet/>
      <dgm:spPr/>
      <dgm:t>
        <a:bodyPr/>
        <a:lstStyle/>
        <a:p>
          <a:pPr algn="ctr"/>
          <a:endParaRPr lang="zh-CN" altLang="en-US">
            <a:latin typeface="仿宋" panose="02010609060101010101" pitchFamily="49" charset="-122"/>
            <a:ea typeface="仿宋" panose="02010609060101010101" pitchFamily="49" charset="-122"/>
          </a:endParaRPr>
        </a:p>
      </dgm:t>
    </dgm:pt>
    <dgm:pt modelId="{B517A155-985A-48C5-998C-E68D325BB5E2}" type="sibTrans" cxnId="{7A1C595A-4B90-43A7-BCE5-2C88ACBD7946}">
      <dgm:prSet/>
      <dgm:spPr/>
      <dgm:t>
        <a:bodyPr/>
        <a:lstStyle/>
        <a:p>
          <a:pPr algn="ctr"/>
          <a:endParaRPr lang="zh-CN" altLang="en-US">
            <a:latin typeface="仿宋" panose="02010609060101010101" pitchFamily="49" charset="-122"/>
            <a:ea typeface="仿宋" panose="02010609060101010101" pitchFamily="49" charset="-122"/>
          </a:endParaRPr>
        </a:p>
      </dgm:t>
    </dgm:pt>
    <dgm:pt modelId="{502FC841-6094-4A4C-838E-F6BDEB380F1C}">
      <dgm:prSet/>
      <dgm:spPr/>
      <dgm:t>
        <a:bodyPr/>
        <a:lstStyle/>
        <a:p>
          <a:pPr algn="ctr"/>
          <a:r>
            <a:rPr lang="zh-CN" altLang="en-US">
              <a:latin typeface="仿宋" panose="02010609060101010101" pitchFamily="49" charset="-122"/>
              <a:ea typeface="仿宋" panose="02010609060101010101" pitchFamily="49" charset="-122"/>
            </a:rPr>
            <a:t>深圳</a:t>
          </a:r>
        </a:p>
      </dgm:t>
    </dgm:pt>
    <dgm:pt modelId="{37E3E58C-6C9F-4614-B1AC-EC1B95730155}" type="parTrans" cxnId="{FE39717A-5785-45B0-B097-29FA31075A91}">
      <dgm:prSet/>
      <dgm:spPr/>
      <dgm:t>
        <a:bodyPr/>
        <a:lstStyle/>
        <a:p>
          <a:pPr algn="ctr"/>
          <a:endParaRPr lang="zh-CN" altLang="en-US">
            <a:latin typeface="仿宋" panose="02010609060101010101" pitchFamily="49" charset="-122"/>
            <a:ea typeface="仿宋" panose="02010609060101010101" pitchFamily="49" charset="-122"/>
          </a:endParaRPr>
        </a:p>
      </dgm:t>
    </dgm:pt>
    <dgm:pt modelId="{94953773-F5BA-4387-B101-F9930F506890}" type="sibTrans" cxnId="{FE39717A-5785-45B0-B097-29FA31075A91}">
      <dgm:prSet/>
      <dgm:spPr/>
      <dgm:t>
        <a:bodyPr/>
        <a:lstStyle/>
        <a:p>
          <a:pPr algn="ctr"/>
          <a:endParaRPr lang="zh-CN" altLang="en-US">
            <a:latin typeface="仿宋" panose="02010609060101010101" pitchFamily="49" charset="-122"/>
            <a:ea typeface="仿宋" panose="02010609060101010101" pitchFamily="49" charset="-122"/>
          </a:endParaRPr>
        </a:p>
      </dgm:t>
    </dgm:pt>
    <dgm:pt modelId="{70BA4846-E158-4776-ACE3-678D8DDB7ED2}">
      <dgm:prSet/>
      <dgm:spPr/>
      <dgm:t>
        <a:bodyPr/>
        <a:lstStyle/>
        <a:p>
          <a:pPr algn="ctr"/>
          <a:r>
            <a:rPr lang="zh-CN" altLang="en-US">
              <a:latin typeface="仿宋" panose="02010609060101010101" pitchFamily="49" charset="-122"/>
              <a:ea typeface="仿宋" panose="02010609060101010101" pitchFamily="49" charset="-122"/>
            </a:rPr>
            <a:t>香港</a:t>
          </a:r>
        </a:p>
      </dgm:t>
    </dgm:pt>
    <dgm:pt modelId="{864A5300-715D-4CF3-BA33-54CEF94A6EA8}" type="parTrans" cxnId="{877C117F-748A-4AC8-9AF1-7CD451D58959}">
      <dgm:prSet/>
      <dgm:spPr/>
      <dgm:t>
        <a:bodyPr/>
        <a:lstStyle/>
        <a:p>
          <a:pPr algn="ctr"/>
          <a:endParaRPr lang="zh-CN" altLang="en-US">
            <a:latin typeface="仿宋" panose="02010609060101010101" pitchFamily="49" charset="-122"/>
            <a:ea typeface="仿宋" panose="02010609060101010101" pitchFamily="49" charset="-122"/>
          </a:endParaRPr>
        </a:p>
      </dgm:t>
    </dgm:pt>
    <dgm:pt modelId="{6E91349F-3A00-44F0-BDC5-3A3C87C70D05}" type="sibTrans" cxnId="{877C117F-748A-4AC8-9AF1-7CD451D58959}">
      <dgm:prSet/>
      <dgm:spPr/>
      <dgm:t>
        <a:bodyPr/>
        <a:lstStyle/>
        <a:p>
          <a:pPr algn="ctr"/>
          <a:endParaRPr lang="zh-CN" altLang="en-US">
            <a:latin typeface="仿宋" panose="02010609060101010101" pitchFamily="49" charset="-122"/>
            <a:ea typeface="仿宋" panose="02010609060101010101" pitchFamily="49" charset="-122"/>
          </a:endParaRPr>
        </a:p>
      </dgm:t>
    </dgm:pt>
    <dgm:pt modelId="{964B16E1-7B6F-44B0-9C47-8A8A3465CB4F}">
      <dgm:prSet/>
      <dgm:spPr/>
      <dgm:t>
        <a:bodyPr/>
        <a:lstStyle/>
        <a:p>
          <a:pPr algn="ctr"/>
          <a:r>
            <a:rPr lang="zh-CN" altLang="en-US">
              <a:latin typeface="仿宋" panose="02010609060101010101" pitchFamily="49" charset="-122"/>
              <a:ea typeface="仿宋" panose="02010609060101010101" pitchFamily="49" charset="-122"/>
            </a:rPr>
            <a:t>平潭</a:t>
          </a:r>
        </a:p>
      </dgm:t>
    </dgm:pt>
    <dgm:pt modelId="{C184176F-284D-48B5-9AE3-8BAF6DBB4B75}" type="parTrans" cxnId="{69C5345A-55CE-4AF6-BD3E-54FCE6DF71CC}">
      <dgm:prSet/>
      <dgm:spPr/>
      <dgm:t>
        <a:bodyPr/>
        <a:lstStyle/>
        <a:p>
          <a:pPr algn="ctr"/>
          <a:endParaRPr lang="zh-CN" altLang="en-US">
            <a:latin typeface="仿宋" panose="02010609060101010101" pitchFamily="49" charset="-122"/>
            <a:ea typeface="仿宋" panose="02010609060101010101" pitchFamily="49" charset="-122"/>
          </a:endParaRPr>
        </a:p>
      </dgm:t>
    </dgm:pt>
    <dgm:pt modelId="{D0A7834E-2827-41C0-B2F6-05D852D85381}" type="sibTrans" cxnId="{69C5345A-55CE-4AF6-BD3E-54FCE6DF71CC}">
      <dgm:prSet/>
      <dgm:spPr/>
      <dgm:t>
        <a:bodyPr/>
        <a:lstStyle/>
        <a:p>
          <a:pPr algn="ctr"/>
          <a:endParaRPr lang="zh-CN" altLang="en-US">
            <a:latin typeface="仿宋" panose="02010609060101010101" pitchFamily="49" charset="-122"/>
            <a:ea typeface="仿宋" panose="02010609060101010101" pitchFamily="49" charset="-122"/>
          </a:endParaRPr>
        </a:p>
      </dgm:t>
    </dgm:pt>
    <dgm:pt modelId="{8C4346E0-AE63-4F1A-A627-1B29B08B4D9D}" type="pres">
      <dgm:prSet presAssocID="{8A493323-A1C8-4C69-9925-B02E44009828}" presName="hierChild1" presStyleCnt="0">
        <dgm:presLayoutVars>
          <dgm:orgChart val="1"/>
          <dgm:chPref val="1"/>
          <dgm:dir/>
          <dgm:animOne val="branch"/>
          <dgm:animLvl val="lvl"/>
          <dgm:resizeHandles/>
        </dgm:presLayoutVars>
      </dgm:prSet>
      <dgm:spPr/>
    </dgm:pt>
    <dgm:pt modelId="{32D3BCDB-E304-43DB-B694-9B9A31F51005}" type="pres">
      <dgm:prSet presAssocID="{D09ADCD2-5F44-43B6-8100-19C72FA678B3}" presName="hierRoot1" presStyleCnt="0">
        <dgm:presLayoutVars>
          <dgm:hierBranch val="init"/>
        </dgm:presLayoutVars>
      </dgm:prSet>
      <dgm:spPr/>
    </dgm:pt>
    <dgm:pt modelId="{13DBED48-9ECD-4781-8DA4-EDF7C914F367}" type="pres">
      <dgm:prSet presAssocID="{D09ADCD2-5F44-43B6-8100-19C72FA678B3}" presName="rootComposite1" presStyleCnt="0"/>
      <dgm:spPr/>
    </dgm:pt>
    <dgm:pt modelId="{9C610278-54DD-44B8-9676-EC65D4D042F3}" type="pres">
      <dgm:prSet presAssocID="{D09ADCD2-5F44-43B6-8100-19C72FA678B3}" presName="rootText1" presStyleLbl="node0" presStyleIdx="0" presStyleCnt="1">
        <dgm:presLayoutVars>
          <dgm:chPref val="3"/>
        </dgm:presLayoutVars>
      </dgm:prSet>
      <dgm:spPr/>
    </dgm:pt>
    <dgm:pt modelId="{A0730B1F-EFBA-4F78-B5B6-D358B0150857}" type="pres">
      <dgm:prSet presAssocID="{D09ADCD2-5F44-43B6-8100-19C72FA678B3}" presName="rootConnector1" presStyleLbl="node1" presStyleIdx="0" presStyleCnt="0"/>
      <dgm:spPr/>
    </dgm:pt>
    <dgm:pt modelId="{C9DDE5D4-F07D-4DE8-853A-902E8B81DC4D}" type="pres">
      <dgm:prSet presAssocID="{D09ADCD2-5F44-43B6-8100-19C72FA678B3}" presName="hierChild2" presStyleCnt="0"/>
      <dgm:spPr/>
    </dgm:pt>
    <dgm:pt modelId="{46CF1638-0A96-4AA9-A3DA-72DA8A83A093}" type="pres">
      <dgm:prSet presAssocID="{D00268C8-58E5-4341-8874-F2C3AC1BA7B0}" presName="Name37" presStyleLbl="parChTrans1D2" presStyleIdx="0" presStyleCnt="6"/>
      <dgm:spPr/>
    </dgm:pt>
    <dgm:pt modelId="{22803CC7-BFD5-40AB-A2BE-7DF6F5599724}" type="pres">
      <dgm:prSet presAssocID="{EE0F8B29-E52A-4C15-BDF9-0E318F4D90E4}" presName="hierRoot2" presStyleCnt="0">
        <dgm:presLayoutVars>
          <dgm:hierBranch val="init"/>
        </dgm:presLayoutVars>
      </dgm:prSet>
      <dgm:spPr/>
    </dgm:pt>
    <dgm:pt modelId="{CC76105E-E888-4104-BBDB-964C73A6D185}" type="pres">
      <dgm:prSet presAssocID="{EE0F8B29-E52A-4C15-BDF9-0E318F4D90E4}" presName="rootComposite" presStyleCnt="0"/>
      <dgm:spPr/>
    </dgm:pt>
    <dgm:pt modelId="{EF905D94-D7E9-448D-8305-75470558CE97}" type="pres">
      <dgm:prSet presAssocID="{EE0F8B29-E52A-4C15-BDF9-0E318F4D90E4}" presName="rootText" presStyleLbl="node2" presStyleIdx="0" presStyleCnt="6">
        <dgm:presLayoutVars>
          <dgm:chPref val="3"/>
        </dgm:presLayoutVars>
      </dgm:prSet>
      <dgm:spPr/>
    </dgm:pt>
    <dgm:pt modelId="{D04B0923-4DC8-45F9-99ED-54648479B799}" type="pres">
      <dgm:prSet presAssocID="{EE0F8B29-E52A-4C15-BDF9-0E318F4D90E4}" presName="rootConnector" presStyleLbl="node2" presStyleIdx="0" presStyleCnt="6"/>
      <dgm:spPr/>
    </dgm:pt>
    <dgm:pt modelId="{CDDCCB97-B584-4643-8838-0528C2956F2D}" type="pres">
      <dgm:prSet presAssocID="{EE0F8B29-E52A-4C15-BDF9-0E318F4D90E4}" presName="hierChild4" presStyleCnt="0"/>
      <dgm:spPr/>
    </dgm:pt>
    <dgm:pt modelId="{C024B14A-236D-4168-9870-C411164D0E10}" type="pres">
      <dgm:prSet presAssocID="{EE0F8B29-E52A-4C15-BDF9-0E318F4D90E4}" presName="hierChild5" presStyleCnt="0"/>
      <dgm:spPr/>
    </dgm:pt>
    <dgm:pt modelId="{962F062E-C9DC-45DC-BF42-B3821910007E}" type="pres">
      <dgm:prSet presAssocID="{F2A8F166-AC94-4A7A-9548-803C2469C6A9}" presName="Name37" presStyleLbl="parChTrans1D2" presStyleIdx="1" presStyleCnt="6"/>
      <dgm:spPr/>
    </dgm:pt>
    <dgm:pt modelId="{A0B50CF9-8E32-496D-97E1-AEA69D3392B9}" type="pres">
      <dgm:prSet presAssocID="{45106832-3B1E-4895-B15E-29342502A2F0}" presName="hierRoot2" presStyleCnt="0">
        <dgm:presLayoutVars>
          <dgm:hierBranch val="init"/>
        </dgm:presLayoutVars>
      </dgm:prSet>
      <dgm:spPr/>
    </dgm:pt>
    <dgm:pt modelId="{BA6476BD-9C77-4A40-80C9-DD3CB1757C0C}" type="pres">
      <dgm:prSet presAssocID="{45106832-3B1E-4895-B15E-29342502A2F0}" presName="rootComposite" presStyleCnt="0"/>
      <dgm:spPr/>
    </dgm:pt>
    <dgm:pt modelId="{839CFAA3-0D4C-4BBB-B2ED-B9A6A611539A}" type="pres">
      <dgm:prSet presAssocID="{45106832-3B1E-4895-B15E-29342502A2F0}" presName="rootText" presStyleLbl="node2" presStyleIdx="1" presStyleCnt="6">
        <dgm:presLayoutVars>
          <dgm:chPref val="3"/>
        </dgm:presLayoutVars>
      </dgm:prSet>
      <dgm:spPr/>
    </dgm:pt>
    <dgm:pt modelId="{71C3F24E-6789-4A56-9708-3A4FA7637A9C}" type="pres">
      <dgm:prSet presAssocID="{45106832-3B1E-4895-B15E-29342502A2F0}" presName="rootConnector" presStyleLbl="node2" presStyleIdx="1" presStyleCnt="6"/>
      <dgm:spPr/>
    </dgm:pt>
    <dgm:pt modelId="{752474A2-0E09-4E5F-944E-CEE4F220B6DE}" type="pres">
      <dgm:prSet presAssocID="{45106832-3B1E-4895-B15E-29342502A2F0}" presName="hierChild4" presStyleCnt="0"/>
      <dgm:spPr/>
    </dgm:pt>
    <dgm:pt modelId="{830C63C0-4E3B-41A4-9060-7666EF02D19E}" type="pres">
      <dgm:prSet presAssocID="{45106832-3B1E-4895-B15E-29342502A2F0}" presName="hierChild5" presStyleCnt="0"/>
      <dgm:spPr/>
    </dgm:pt>
    <dgm:pt modelId="{D37E47A0-93A9-4EC0-A2D4-3B30E00A29B5}" type="pres">
      <dgm:prSet presAssocID="{E77BFE7D-F3B6-4D4A-8910-E0F9A6AF1964}" presName="Name37" presStyleLbl="parChTrans1D2" presStyleIdx="2" presStyleCnt="6"/>
      <dgm:spPr/>
    </dgm:pt>
    <dgm:pt modelId="{9BBD42B1-737F-4AF3-A1D8-A0A5CB46BED6}" type="pres">
      <dgm:prSet presAssocID="{9B62265F-5224-4FCB-BC48-ED92B9567E33}" presName="hierRoot2" presStyleCnt="0">
        <dgm:presLayoutVars>
          <dgm:hierBranch val="init"/>
        </dgm:presLayoutVars>
      </dgm:prSet>
      <dgm:spPr/>
    </dgm:pt>
    <dgm:pt modelId="{E77672DD-3477-4542-83DB-CE9A931F4116}" type="pres">
      <dgm:prSet presAssocID="{9B62265F-5224-4FCB-BC48-ED92B9567E33}" presName="rootComposite" presStyleCnt="0"/>
      <dgm:spPr/>
    </dgm:pt>
    <dgm:pt modelId="{E4B9C9D2-978D-4FE3-9A41-2F4D0A1595CD}" type="pres">
      <dgm:prSet presAssocID="{9B62265F-5224-4FCB-BC48-ED92B9567E33}" presName="rootText" presStyleLbl="node2" presStyleIdx="2" presStyleCnt="6">
        <dgm:presLayoutVars>
          <dgm:chPref val="3"/>
        </dgm:presLayoutVars>
      </dgm:prSet>
      <dgm:spPr/>
    </dgm:pt>
    <dgm:pt modelId="{DEF7AA1A-FE10-421F-B824-727B1A064970}" type="pres">
      <dgm:prSet presAssocID="{9B62265F-5224-4FCB-BC48-ED92B9567E33}" presName="rootConnector" presStyleLbl="node2" presStyleIdx="2" presStyleCnt="6"/>
      <dgm:spPr/>
    </dgm:pt>
    <dgm:pt modelId="{307ADB3A-01F0-4A40-81AB-B355D1B8CB77}" type="pres">
      <dgm:prSet presAssocID="{9B62265F-5224-4FCB-BC48-ED92B9567E33}" presName="hierChild4" presStyleCnt="0"/>
      <dgm:spPr/>
    </dgm:pt>
    <dgm:pt modelId="{50D367CB-B9E7-4338-AFD6-A7F02044FBDA}" type="pres">
      <dgm:prSet presAssocID="{9B62265F-5224-4FCB-BC48-ED92B9567E33}" presName="hierChild5" presStyleCnt="0"/>
      <dgm:spPr/>
    </dgm:pt>
    <dgm:pt modelId="{36040B5E-71A9-4499-91BF-38CE0AE51C37}" type="pres">
      <dgm:prSet presAssocID="{37E3E58C-6C9F-4614-B1AC-EC1B95730155}" presName="Name37" presStyleLbl="parChTrans1D2" presStyleIdx="3" presStyleCnt="6"/>
      <dgm:spPr/>
    </dgm:pt>
    <dgm:pt modelId="{7AC07AD8-C61B-42D2-8218-74728E02B515}" type="pres">
      <dgm:prSet presAssocID="{502FC841-6094-4A4C-838E-F6BDEB380F1C}" presName="hierRoot2" presStyleCnt="0">
        <dgm:presLayoutVars>
          <dgm:hierBranch val="init"/>
        </dgm:presLayoutVars>
      </dgm:prSet>
      <dgm:spPr/>
    </dgm:pt>
    <dgm:pt modelId="{F2DA0240-0553-4DB9-ACB7-90436CD9398C}" type="pres">
      <dgm:prSet presAssocID="{502FC841-6094-4A4C-838E-F6BDEB380F1C}" presName="rootComposite" presStyleCnt="0"/>
      <dgm:spPr/>
    </dgm:pt>
    <dgm:pt modelId="{1CC0DDFA-5A19-4F30-9C36-ECAD47D1F629}" type="pres">
      <dgm:prSet presAssocID="{502FC841-6094-4A4C-838E-F6BDEB380F1C}" presName="rootText" presStyleLbl="node2" presStyleIdx="3" presStyleCnt="6">
        <dgm:presLayoutVars>
          <dgm:chPref val="3"/>
        </dgm:presLayoutVars>
      </dgm:prSet>
      <dgm:spPr/>
    </dgm:pt>
    <dgm:pt modelId="{23B6C997-B1DC-4402-BBE8-470A7996047D}" type="pres">
      <dgm:prSet presAssocID="{502FC841-6094-4A4C-838E-F6BDEB380F1C}" presName="rootConnector" presStyleLbl="node2" presStyleIdx="3" presStyleCnt="6"/>
      <dgm:spPr/>
    </dgm:pt>
    <dgm:pt modelId="{A254C016-C035-48B0-9084-51C345303768}" type="pres">
      <dgm:prSet presAssocID="{502FC841-6094-4A4C-838E-F6BDEB380F1C}" presName="hierChild4" presStyleCnt="0"/>
      <dgm:spPr/>
    </dgm:pt>
    <dgm:pt modelId="{B59F9116-BCAF-4B86-8137-A0DEF3FDBAD1}" type="pres">
      <dgm:prSet presAssocID="{502FC841-6094-4A4C-838E-F6BDEB380F1C}" presName="hierChild5" presStyleCnt="0"/>
      <dgm:spPr/>
    </dgm:pt>
    <dgm:pt modelId="{C41E3DDB-30DA-45DA-8314-F3E814D8A69B}" type="pres">
      <dgm:prSet presAssocID="{C184176F-284D-48B5-9AE3-8BAF6DBB4B75}" presName="Name37" presStyleLbl="parChTrans1D2" presStyleIdx="4" presStyleCnt="6"/>
      <dgm:spPr/>
    </dgm:pt>
    <dgm:pt modelId="{10D9AD60-43ED-47D2-8C67-B579A44BE5AD}" type="pres">
      <dgm:prSet presAssocID="{964B16E1-7B6F-44B0-9C47-8A8A3465CB4F}" presName="hierRoot2" presStyleCnt="0">
        <dgm:presLayoutVars>
          <dgm:hierBranch val="init"/>
        </dgm:presLayoutVars>
      </dgm:prSet>
      <dgm:spPr/>
    </dgm:pt>
    <dgm:pt modelId="{23160774-F3D7-4841-BD31-F96385075E71}" type="pres">
      <dgm:prSet presAssocID="{964B16E1-7B6F-44B0-9C47-8A8A3465CB4F}" presName="rootComposite" presStyleCnt="0"/>
      <dgm:spPr/>
    </dgm:pt>
    <dgm:pt modelId="{FAC8E42E-F769-4507-A5C0-3D95A60D0619}" type="pres">
      <dgm:prSet presAssocID="{964B16E1-7B6F-44B0-9C47-8A8A3465CB4F}" presName="rootText" presStyleLbl="node2" presStyleIdx="4" presStyleCnt="6">
        <dgm:presLayoutVars>
          <dgm:chPref val="3"/>
        </dgm:presLayoutVars>
      </dgm:prSet>
      <dgm:spPr/>
    </dgm:pt>
    <dgm:pt modelId="{6195FC93-675F-4BD5-AC26-FFD2AF3681E7}" type="pres">
      <dgm:prSet presAssocID="{964B16E1-7B6F-44B0-9C47-8A8A3465CB4F}" presName="rootConnector" presStyleLbl="node2" presStyleIdx="4" presStyleCnt="6"/>
      <dgm:spPr/>
    </dgm:pt>
    <dgm:pt modelId="{CE028E25-25E0-49BD-A57F-0E2BF4D0695D}" type="pres">
      <dgm:prSet presAssocID="{964B16E1-7B6F-44B0-9C47-8A8A3465CB4F}" presName="hierChild4" presStyleCnt="0"/>
      <dgm:spPr/>
    </dgm:pt>
    <dgm:pt modelId="{5C1C2195-64BC-4FD1-853A-FEE6F8ED44D1}" type="pres">
      <dgm:prSet presAssocID="{964B16E1-7B6F-44B0-9C47-8A8A3465CB4F}" presName="hierChild5" presStyleCnt="0"/>
      <dgm:spPr/>
    </dgm:pt>
    <dgm:pt modelId="{E8C75975-092F-4154-9CC5-48771580D2C7}" type="pres">
      <dgm:prSet presAssocID="{864A5300-715D-4CF3-BA33-54CEF94A6EA8}" presName="Name37" presStyleLbl="parChTrans1D2" presStyleIdx="5" presStyleCnt="6"/>
      <dgm:spPr/>
    </dgm:pt>
    <dgm:pt modelId="{FECA1F25-86A8-4836-B8A1-FBA984780702}" type="pres">
      <dgm:prSet presAssocID="{70BA4846-E158-4776-ACE3-678D8DDB7ED2}" presName="hierRoot2" presStyleCnt="0">
        <dgm:presLayoutVars>
          <dgm:hierBranch val="init"/>
        </dgm:presLayoutVars>
      </dgm:prSet>
      <dgm:spPr/>
    </dgm:pt>
    <dgm:pt modelId="{25DC8830-8CDB-473D-A4FE-6C03E84131ED}" type="pres">
      <dgm:prSet presAssocID="{70BA4846-E158-4776-ACE3-678D8DDB7ED2}" presName="rootComposite" presStyleCnt="0"/>
      <dgm:spPr/>
    </dgm:pt>
    <dgm:pt modelId="{26F8A298-A63B-4286-A997-858ED493933A}" type="pres">
      <dgm:prSet presAssocID="{70BA4846-E158-4776-ACE3-678D8DDB7ED2}" presName="rootText" presStyleLbl="node2" presStyleIdx="5" presStyleCnt="6">
        <dgm:presLayoutVars>
          <dgm:chPref val="3"/>
        </dgm:presLayoutVars>
      </dgm:prSet>
      <dgm:spPr/>
    </dgm:pt>
    <dgm:pt modelId="{FFDEF46D-6956-498B-9B4E-61BCEABC2837}" type="pres">
      <dgm:prSet presAssocID="{70BA4846-E158-4776-ACE3-678D8DDB7ED2}" presName="rootConnector" presStyleLbl="node2" presStyleIdx="5" presStyleCnt="6"/>
      <dgm:spPr/>
    </dgm:pt>
    <dgm:pt modelId="{93C0380C-07D0-4C15-A9EB-61E2FA42ACCE}" type="pres">
      <dgm:prSet presAssocID="{70BA4846-E158-4776-ACE3-678D8DDB7ED2}" presName="hierChild4" presStyleCnt="0"/>
      <dgm:spPr/>
    </dgm:pt>
    <dgm:pt modelId="{78125601-AC54-45F3-B03B-DDAF69036148}" type="pres">
      <dgm:prSet presAssocID="{70BA4846-E158-4776-ACE3-678D8DDB7ED2}" presName="hierChild5" presStyleCnt="0"/>
      <dgm:spPr/>
    </dgm:pt>
    <dgm:pt modelId="{660F746A-FFCC-4E6E-AA76-C5982CC92F38}" type="pres">
      <dgm:prSet presAssocID="{D09ADCD2-5F44-43B6-8100-19C72FA678B3}" presName="hierChild3" presStyleCnt="0"/>
      <dgm:spPr/>
    </dgm:pt>
  </dgm:ptLst>
  <dgm:cxnLst>
    <dgm:cxn modelId="{90DDF50F-1F16-4C65-A0E6-DD1A9D9B17A9}" srcId="{D09ADCD2-5F44-43B6-8100-19C72FA678B3}" destId="{45106832-3B1E-4895-B15E-29342502A2F0}" srcOrd="1" destOrd="0" parTransId="{F2A8F166-AC94-4A7A-9548-803C2469C6A9}" sibTransId="{D114819D-AE46-46F7-9EE6-9850496A33E4}"/>
    <dgm:cxn modelId="{941E4810-97EB-48AA-8985-B957AB3CD392}" type="presOf" srcId="{F2A8F166-AC94-4A7A-9548-803C2469C6A9}" destId="{962F062E-C9DC-45DC-BF42-B3821910007E}" srcOrd="0" destOrd="0" presId="urn:microsoft.com/office/officeart/2005/8/layout/orgChart1"/>
    <dgm:cxn modelId="{6C62E712-1153-4559-B255-824F3BBB400E}" type="presOf" srcId="{37E3E58C-6C9F-4614-B1AC-EC1B95730155}" destId="{36040B5E-71A9-4499-91BF-38CE0AE51C37}" srcOrd="0" destOrd="0" presId="urn:microsoft.com/office/officeart/2005/8/layout/orgChart1"/>
    <dgm:cxn modelId="{703F6C1A-35F9-4D45-BD00-C019CE13C5AF}" type="presOf" srcId="{EE0F8B29-E52A-4C15-BDF9-0E318F4D90E4}" destId="{D04B0923-4DC8-45F9-99ED-54648479B799}" srcOrd="1" destOrd="0" presId="urn:microsoft.com/office/officeart/2005/8/layout/orgChart1"/>
    <dgm:cxn modelId="{99ABA71C-E3AF-47B6-BFBA-95337AB7D14C}" type="presOf" srcId="{D09ADCD2-5F44-43B6-8100-19C72FA678B3}" destId="{9C610278-54DD-44B8-9676-EC65D4D042F3}" srcOrd="0" destOrd="0" presId="urn:microsoft.com/office/officeart/2005/8/layout/orgChart1"/>
    <dgm:cxn modelId="{21155E1E-95F8-435B-9AC0-A6CEA02A9AAE}" type="presOf" srcId="{9B62265F-5224-4FCB-BC48-ED92B9567E33}" destId="{E4B9C9D2-978D-4FE3-9A41-2F4D0A1595CD}" srcOrd="0" destOrd="0" presId="urn:microsoft.com/office/officeart/2005/8/layout/orgChart1"/>
    <dgm:cxn modelId="{F890C41F-000D-4D85-B6EC-56323A30FA96}" type="presOf" srcId="{502FC841-6094-4A4C-838E-F6BDEB380F1C}" destId="{23B6C997-B1DC-4402-BBE8-470A7996047D}" srcOrd="1" destOrd="0" presId="urn:microsoft.com/office/officeart/2005/8/layout/orgChart1"/>
    <dgm:cxn modelId="{BB574B31-C984-4135-BDB1-5F5C8688EE98}" type="presOf" srcId="{70BA4846-E158-4776-ACE3-678D8DDB7ED2}" destId="{26F8A298-A63B-4286-A997-858ED493933A}" srcOrd="0" destOrd="0" presId="urn:microsoft.com/office/officeart/2005/8/layout/orgChart1"/>
    <dgm:cxn modelId="{D0158E35-39CF-405C-B1B0-B6A2F8E87A90}" srcId="{8A493323-A1C8-4C69-9925-B02E44009828}" destId="{D09ADCD2-5F44-43B6-8100-19C72FA678B3}" srcOrd="0" destOrd="0" parTransId="{4FDE6ACF-65E0-4B5B-AD67-A3E72245ECBF}" sibTransId="{3A2550D0-02CE-445C-98DD-A05AFC57D5F1}"/>
    <dgm:cxn modelId="{19B80837-8EC8-4443-9EDD-0F9D0A95134D}" type="presOf" srcId="{D09ADCD2-5F44-43B6-8100-19C72FA678B3}" destId="{A0730B1F-EFBA-4F78-B5B6-D358B0150857}" srcOrd="1" destOrd="0" presId="urn:microsoft.com/office/officeart/2005/8/layout/orgChart1"/>
    <dgm:cxn modelId="{609F613A-ACE5-4FF4-9C62-1E60B1A0DAF6}" type="presOf" srcId="{9B62265F-5224-4FCB-BC48-ED92B9567E33}" destId="{DEF7AA1A-FE10-421F-B824-727B1A064970}" srcOrd="1" destOrd="0" presId="urn:microsoft.com/office/officeart/2005/8/layout/orgChart1"/>
    <dgm:cxn modelId="{1ED73865-1420-4562-A032-58B01F80E6CC}" type="presOf" srcId="{C184176F-284D-48B5-9AE3-8BAF6DBB4B75}" destId="{C41E3DDB-30DA-45DA-8314-F3E814D8A69B}" srcOrd="0" destOrd="0" presId="urn:microsoft.com/office/officeart/2005/8/layout/orgChart1"/>
    <dgm:cxn modelId="{A733C069-B93E-4C93-A203-C53749B11E7A}" type="presOf" srcId="{8A493323-A1C8-4C69-9925-B02E44009828}" destId="{8C4346E0-AE63-4F1A-A627-1B29B08B4D9D}" srcOrd="0" destOrd="0" presId="urn:microsoft.com/office/officeart/2005/8/layout/orgChart1"/>
    <dgm:cxn modelId="{69C5345A-55CE-4AF6-BD3E-54FCE6DF71CC}" srcId="{D09ADCD2-5F44-43B6-8100-19C72FA678B3}" destId="{964B16E1-7B6F-44B0-9C47-8A8A3465CB4F}" srcOrd="4" destOrd="0" parTransId="{C184176F-284D-48B5-9AE3-8BAF6DBB4B75}" sibTransId="{D0A7834E-2827-41C0-B2F6-05D852D85381}"/>
    <dgm:cxn modelId="{FE39717A-5785-45B0-B097-29FA31075A91}" srcId="{D09ADCD2-5F44-43B6-8100-19C72FA678B3}" destId="{502FC841-6094-4A4C-838E-F6BDEB380F1C}" srcOrd="3" destOrd="0" parTransId="{37E3E58C-6C9F-4614-B1AC-EC1B95730155}" sibTransId="{94953773-F5BA-4387-B101-F9930F506890}"/>
    <dgm:cxn modelId="{7A1C595A-4B90-43A7-BCE5-2C88ACBD7946}" srcId="{D09ADCD2-5F44-43B6-8100-19C72FA678B3}" destId="{9B62265F-5224-4FCB-BC48-ED92B9567E33}" srcOrd="2" destOrd="0" parTransId="{E77BFE7D-F3B6-4D4A-8910-E0F9A6AF1964}" sibTransId="{B517A155-985A-48C5-998C-E68D325BB5E2}"/>
    <dgm:cxn modelId="{877C117F-748A-4AC8-9AF1-7CD451D58959}" srcId="{D09ADCD2-5F44-43B6-8100-19C72FA678B3}" destId="{70BA4846-E158-4776-ACE3-678D8DDB7ED2}" srcOrd="5" destOrd="0" parTransId="{864A5300-715D-4CF3-BA33-54CEF94A6EA8}" sibTransId="{6E91349F-3A00-44F0-BDC5-3A3C87C70D05}"/>
    <dgm:cxn modelId="{A1A3FA88-5084-42A9-AC33-537812208844}" srcId="{D09ADCD2-5F44-43B6-8100-19C72FA678B3}" destId="{EE0F8B29-E52A-4C15-BDF9-0E318F4D90E4}" srcOrd="0" destOrd="0" parTransId="{D00268C8-58E5-4341-8874-F2C3AC1BA7B0}" sibTransId="{6043D352-C96F-4543-A338-DD37C83987E6}"/>
    <dgm:cxn modelId="{E2995F97-03EA-4093-8FCE-FC562121EFEC}" type="presOf" srcId="{E77BFE7D-F3B6-4D4A-8910-E0F9A6AF1964}" destId="{D37E47A0-93A9-4EC0-A2D4-3B30E00A29B5}" srcOrd="0" destOrd="0" presId="urn:microsoft.com/office/officeart/2005/8/layout/orgChart1"/>
    <dgm:cxn modelId="{3350A5A4-6A30-4A7E-A01E-7A286A648FD3}" type="presOf" srcId="{45106832-3B1E-4895-B15E-29342502A2F0}" destId="{839CFAA3-0D4C-4BBB-B2ED-B9A6A611539A}" srcOrd="0" destOrd="0" presId="urn:microsoft.com/office/officeart/2005/8/layout/orgChart1"/>
    <dgm:cxn modelId="{2473A8A4-9B25-47AC-AE9E-5BAF96A71043}" type="presOf" srcId="{964B16E1-7B6F-44B0-9C47-8A8A3465CB4F}" destId="{6195FC93-675F-4BD5-AC26-FFD2AF3681E7}" srcOrd="1" destOrd="0" presId="urn:microsoft.com/office/officeart/2005/8/layout/orgChart1"/>
    <dgm:cxn modelId="{8F8E67A5-4453-449E-AFAC-880B5839438E}" type="presOf" srcId="{45106832-3B1E-4895-B15E-29342502A2F0}" destId="{71C3F24E-6789-4A56-9708-3A4FA7637A9C}" srcOrd="1" destOrd="0" presId="urn:microsoft.com/office/officeart/2005/8/layout/orgChart1"/>
    <dgm:cxn modelId="{97B0C2AB-87E7-45DB-BDF6-A0CED5855E7F}" type="presOf" srcId="{964B16E1-7B6F-44B0-9C47-8A8A3465CB4F}" destId="{FAC8E42E-F769-4507-A5C0-3D95A60D0619}" srcOrd="0" destOrd="0" presId="urn:microsoft.com/office/officeart/2005/8/layout/orgChart1"/>
    <dgm:cxn modelId="{A13C8EB7-7F1D-4B56-9AE0-0605B2DD0DA5}" type="presOf" srcId="{864A5300-715D-4CF3-BA33-54CEF94A6EA8}" destId="{E8C75975-092F-4154-9CC5-48771580D2C7}" srcOrd="0" destOrd="0" presId="urn:microsoft.com/office/officeart/2005/8/layout/orgChart1"/>
    <dgm:cxn modelId="{9F04C7D7-8C16-4F32-A50C-CC8A91E29789}" type="presOf" srcId="{70BA4846-E158-4776-ACE3-678D8DDB7ED2}" destId="{FFDEF46D-6956-498B-9B4E-61BCEABC2837}" srcOrd="1" destOrd="0" presId="urn:microsoft.com/office/officeart/2005/8/layout/orgChart1"/>
    <dgm:cxn modelId="{6B6102F1-FCD9-49E1-90D4-3E2537F75CB2}" type="presOf" srcId="{EE0F8B29-E52A-4C15-BDF9-0E318F4D90E4}" destId="{EF905D94-D7E9-448D-8305-75470558CE97}" srcOrd="0" destOrd="0" presId="urn:microsoft.com/office/officeart/2005/8/layout/orgChart1"/>
    <dgm:cxn modelId="{C16C40FB-EEA4-4582-ADC6-0E9611927A05}" type="presOf" srcId="{D00268C8-58E5-4341-8874-F2C3AC1BA7B0}" destId="{46CF1638-0A96-4AA9-A3DA-72DA8A83A093}" srcOrd="0" destOrd="0" presId="urn:microsoft.com/office/officeart/2005/8/layout/orgChart1"/>
    <dgm:cxn modelId="{EE9DF5FF-7E1F-4482-A831-E4241B0988AB}" type="presOf" srcId="{502FC841-6094-4A4C-838E-F6BDEB380F1C}" destId="{1CC0DDFA-5A19-4F30-9C36-ECAD47D1F629}" srcOrd="0" destOrd="0" presId="urn:microsoft.com/office/officeart/2005/8/layout/orgChart1"/>
    <dgm:cxn modelId="{BF98B056-021A-459C-A70F-557D05933344}" type="presParOf" srcId="{8C4346E0-AE63-4F1A-A627-1B29B08B4D9D}" destId="{32D3BCDB-E304-43DB-B694-9B9A31F51005}" srcOrd="0" destOrd="0" presId="urn:microsoft.com/office/officeart/2005/8/layout/orgChart1"/>
    <dgm:cxn modelId="{8F94B40F-2238-4775-9E6D-96E5786C4E68}" type="presParOf" srcId="{32D3BCDB-E304-43DB-B694-9B9A31F51005}" destId="{13DBED48-9ECD-4781-8DA4-EDF7C914F367}" srcOrd="0" destOrd="0" presId="urn:microsoft.com/office/officeart/2005/8/layout/orgChart1"/>
    <dgm:cxn modelId="{8D4DC7C5-3102-4EA3-BD3B-F6CEC686186D}" type="presParOf" srcId="{13DBED48-9ECD-4781-8DA4-EDF7C914F367}" destId="{9C610278-54DD-44B8-9676-EC65D4D042F3}" srcOrd="0" destOrd="0" presId="urn:microsoft.com/office/officeart/2005/8/layout/orgChart1"/>
    <dgm:cxn modelId="{4AEB9979-1974-482D-9DD6-F03D3A4977BE}" type="presParOf" srcId="{13DBED48-9ECD-4781-8DA4-EDF7C914F367}" destId="{A0730B1F-EFBA-4F78-B5B6-D358B0150857}" srcOrd="1" destOrd="0" presId="urn:microsoft.com/office/officeart/2005/8/layout/orgChart1"/>
    <dgm:cxn modelId="{43194D48-B9C1-4051-80BB-EF76ABEC6DE4}" type="presParOf" srcId="{32D3BCDB-E304-43DB-B694-9B9A31F51005}" destId="{C9DDE5D4-F07D-4DE8-853A-902E8B81DC4D}" srcOrd="1" destOrd="0" presId="urn:microsoft.com/office/officeart/2005/8/layout/orgChart1"/>
    <dgm:cxn modelId="{6CB0F536-7CA8-40EE-8A13-3414A457956E}" type="presParOf" srcId="{C9DDE5D4-F07D-4DE8-853A-902E8B81DC4D}" destId="{46CF1638-0A96-4AA9-A3DA-72DA8A83A093}" srcOrd="0" destOrd="0" presId="urn:microsoft.com/office/officeart/2005/8/layout/orgChart1"/>
    <dgm:cxn modelId="{FAE8EC53-5157-4910-BE92-7BBB44D8B556}" type="presParOf" srcId="{C9DDE5D4-F07D-4DE8-853A-902E8B81DC4D}" destId="{22803CC7-BFD5-40AB-A2BE-7DF6F5599724}" srcOrd="1" destOrd="0" presId="urn:microsoft.com/office/officeart/2005/8/layout/orgChart1"/>
    <dgm:cxn modelId="{99387136-6808-461D-B79C-C2E203FB0949}" type="presParOf" srcId="{22803CC7-BFD5-40AB-A2BE-7DF6F5599724}" destId="{CC76105E-E888-4104-BBDB-964C73A6D185}" srcOrd="0" destOrd="0" presId="urn:microsoft.com/office/officeart/2005/8/layout/orgChart1"/>
    <dgm:cxn modelId="{61BB2A77-1EC5-4648-AD8F-6E93E275AAD1}" type="presParOf" srcId="{CC76105E-E888-4104-BBDB-964C73A6D185}" destId="{EF905D94-D7E9-448D-8305-75470558CE97}" srcOrd="0" destOrd="0" presId="urn:microsoft.com/office/officeart/2005/8/layout/orgChart1"/>
    <dgm:cxn modelId="{22246CE9-A773-4DBA-975F-A64A668D3FAF}" type="presParOf" srcId="{CC76105E-E888-4104-BBDB-964C73A6D185}" destId="{D04B0923-4DC8-45F9-99ED-54648479B799}" srcOrd="1" destOrd="0" presId="urn:microsoft.com/office/officeart/2005/8/layout/orgChart1"/>
    <dgm:cxn modelId="{AB6C6A44-B9C1-4E98-A493-057E8C1CC2C4}" type="presParOf" srcId="{22803CC7-BFD5-40AB-A2BE-7DF6F5599724}" destId="{CDDCCB97-B584-4643-8838-0528C2956F2D}" srcOrd="1" destOrd="0" presId="urn:microsoft.com/office/officeart/2005/8/layout/orgChart1"/>
    <dgm:cxn modelId="{58A41BA1-8C24-4234-9224-6F38777479F9}" type="presParOf" srcId="{22803CC7-BFD5-40AB-A2BE-7DF6F5599724}" destId="{C024B14A-236D-4168-9870-C411164D0E10}" srcOrd="2" destOrd="0" presId="urn:microsoft.com/office/officeart/2005/8/layout/orgChart1"/>
    <dgm:cxn modelId="{5CC6FBAF-A405-4987-9EA9-7425FF61A723}" type="presParOf" srcId="{C9DDE5D4-F07D-4DE8-853A-902E8B81DC4D}" destId="{962F062E-C9DC-45DC-BF42-B3821910007E}" srcOrd="2" destOrd="0" presId="urn:microsoft.com/office/officeart/2005/8/layout/orgChart1"/>
    <dgm:cxn modelId="{DA46851D-C204-4E82-A4B1-DEAF97DF5AF6}" type="presParOf" srcId="{C9DDE5D4-F07D-4DE8-853A-902E8B81DC4D}" destId="{A0B50CF9-8E32-496D-97E1-AEA69D3392B9}" srcOrd="3" destOrd="0" presId="urn:microsoft.com/office/officeart/2005/8/layout/orgChart1"/>
    <dgm:cxn modelId="{8295DD61-3E24-4F20-936D-1C65C31C73B1}" type="presParOf" srcId="{A0B50CF9-8E32-496D-97E1-AEA69D3392B9}" destId="{BA6476BD-9C77-4A40-80C9-DD3CB1757C0C}" srcOrd="0" destOrd="0" presId="urn:microsoft.com/office/officeart/2005/8/layout/orgChart1"/>
    <dgm:cxn modelId="{717D78B4-44CC-4F5A-96B3-BB63D0F4880F}" type="presParOf" srcId="{BA6476BD-9C77-4A40-80C9-DD3CB1757C0C}" destId="{839CFAA3-0D4C-4BBB-B2ED-B9A6A611539A}" srcOrd="0" destOrd="0" presId="urn:microsoft.com/office/officeart/2005/8/layout/orgChart1"/>
    <dgm:cxn modelId="{1139D257-B968-4813-BBF9-2968E57FD195}" type="presParOf" srcId="{BA6476BD-9C77-4A40-80C9-DD3CB1757C0C}" destId="{71C3F24E-6789-4A56-9708-3A4FA7637A9C}" srcOrd="1" destOrd="0" presId="urn:microsoft.com/office/officeart/2005/8/layout/orgChart1"/>
    <dgm:cxn modelId="{6710DEC0-02D5-49EE-9012-1255E9E27873}" type="presParOf" srcId="{A0B50CF9-8E32-496D-97E1-AEA69D3392B9}" destId="{752474A2-0E09-4E5F-944E-CEE4F220B6DE}" srcOrd="1" destOrd="0" presId="urn:microsoft.com/office/officeart/2005/8/layout/orgChart1"/>
    <dgm:cxn modelId="{0C264E1D-8187-4E59-B16E-BF062DC4B927}" type="presParOf" srcId="{A0B50CF9-8E32-496D-97E1-AEA69D3392B9}" destId="{830C63C0-4E3B-41A4-9060-7666EF02D19E}" srcOrd="2" destOrd="0" presId="urn:microsoft.com/office/officeart/2005/8/layout/orgChart1"/>
    <dgm:cxn modelId="{81CE61C6-A866-49E2-9FC1-434CECC50124}" type="presParOf" srcId="{C9DDE5D4-F07D-4DE8-853A-902E8B81DC4D}" destId="{D37E47A0-93A9-4EC0-A2D4-3B30E00A29B5}" srcOrd="4" destOrd="0" presId="urn:microsoft.com/office/officeart/2005/8/layout/orgChart1"/>
    <dgm:cxn modelId="{24F28C98-B46F-42A7-A8A2-A5B4ED8E73F0}" type="presParOf" srcId="{C9DDE5D4-F07D-4DE8-853A-902E8B81DC4D}" destId="{9BBD42B1-737F-4AF3-A1D8-A0A5CB46BED6}" srcOrd="5" destOrd="0" presId="urn:microsoft.com/office/officeart/2005/8/layout/orgChart1"/>
    <dgm:cxn modelId="{F0D05028-0EBF-4BA7-8F95-8DBDDAD06D33}" type="presParOf" srcId="{9BBD42B1-737F-4AF3-A1D8-A0A5CB46BED6}" destId="{E77672DD-3477-4542-83DB-CE9A931F4116}" srcOrd="0" destOrd="0" presId="urn:microsoft.com/office/officeart/2005/8/layout/orgChart1"/>
    <dgm:cxn modelId="{09589718-E847-47F1-8E1E-8429CA0F5FB2}" type="presParOf" srcId="{E77672DD-3477-4542-83DB-CE9A931F4116}" destId="{E4B9C9D2-978D-4FE3-9A41-2F4D0A1595CD}" srcOrd="0" destOrd="0" presId="urn:microsoft.com/office/officeart/2005/8/layout/orgChart1"/>
    <dgm:cxn modelId="{B5021C41-7416-4BEA-A25C-43BE8102D931}" type="presParOf" srcId="{E77672DD-3477-4542-83DB-CE9A931F4116}" destId="{DEF7AA1A-FE10-421F-B824-727B1A064970}" srcOrd="1" destOrd="0" presId="urn:microsoft.com/office/officeart/2005/8/layout/orgChart1"/>
    <dgm:cxn modelId="{C645C0FC-EB4F-4B78-8D69-DFF1E68E6F0E}" type="presParOf" srcId="{9BBD42B1-737F-4AF3-A1D8-A0A5CB46BED6}" destId="{307ADB3A-01F0-4A40-81AB-B355D1B8CB77}" srcOrd="1" destOrd="0" presId="urn:microsoft.com/office/officeart/2005/8/layout/orgChart1"/>
    <dgm:cxn modelId="{58E8A88D-3648-46F9-A1EF-F8299F428963}" type="presParOf" srcId="{9BBD42B1-737F-4AF3-A1D8-A0A5CB46BED6}" destId="{50D367CB-B9E7-4338-AFD6-A7F02044FBDA}" srcOrd="2" destOrd="0" presId="urn:microsoft.com/office/officeart/2005/8/layout/orgChart1"/>
    <dgm:cxn modelId="{3DC20439-8AF7-4DD2-8FCB-18C2A415DB87}" type="presParOf" srcId="{C9DDE5D4-F07D-4DE8-853A-902E8B81DC4D}" destId="{36040B5E-71A9-4499-91BF-38CE0AE51C37}" srcOrd="6" destOrd="0" presId="urn:microsoft.com/office/officeart/2005/8/layout/orgChart1"/>
    <dgm:cxn modelId="{EC941774-906A-4BD7-93B5-8589F21AC6D6}" type="presParOf" srcId="{C9DDE5D4-F07D-4DE8-853A-902E8B81DC4D}" destId="{7AC07AD8-C61B-42D2-8218-74728E02B515}" srcOrd="7" destOrd="0" presId="urn:microsoft.com/office/officeart/2005/8/layout/orgChart1"/>
    <dgm:cxn modelId="{70DFA2CE-26B7-4E06-8012-68791381C50D}" type="presParOf" srcId="{7AC07AD8-C61B-42D2-8218-74728E02B515}" destId="{F2DA0240-0553-4DB9-ACB7-90436CD9398C}" srcOrd="0" destOrd="0" presId="urn:microsoft.com/office/officeart/2005/8/layout/orgChart1"/>
    <dgm:cxn modelId="{5F849846-4BDB-4656-A6BD-41F98EED94DA}" type="presParOf" srcId="{F2DA0240-0553-4DB9-ACB7-90436CD9398C}" destId="{1CC0DDFA-5A19-4F30-9C36-ECAD47D1F629}" srcOrd="0" destOrd="0" presId="urn:microsoft.com/office/officeart/2005/8/layout/orgChart1"/>
    <dgm:cxn modelId="{003369CB-8A7A-4CCF-8977-40178EC7D391}" type="presParOf" srcId="{F2DA0240-0553-4DB9-ACB7-90436CD9398C}" destId="{23B6C997-B1DC-4402-BBE8-470A7996047D}" srcOrd="1" destOrd="0" presId="urn:microsoft.com/office/officeart/2005/8/layout/orgChart1"/>
    <dgm:cxn modelId="{4DAEDE59-66F2-4AE4-8654-321FC95DD8C8}" type="presParOf" srcId="{7AC07AD8-C61B-42D2-8218-74728E02B515}" destId="{A254C016-C035-48B0-9084-51C345303768}" srcOrd="1" destOrd="0" presId="urn:microsoft.com/office/officeart/2005/8/layout/orgChart1"/>
    <dgm:cxn modelId="{9D6C2CFC-9E7C-4A0E-AB0E-507A933E42C7}" type="presParOf" srcId="{7AC07AD8-C61B-42D2-8218-74728E02B515}" destId="{B59F9116-BCAF-4B86-8137-A0DEF3FDBAD1}" srcOrd="2" destOrd="0" presId="urn:microsoft.com/office/officeart/2005/8/layout/orgChart1"/>
    <dgm:cxn modelId="{976DA5DC-B3F0-4EA4-B106-EE557D833BCA}" type="presParOf" srcId="{C9DDE5D4-F07D-4DE8-853A-902E8B81DC4D}" destId="{C41E3DDB-30DA-45DA-8314-F3E814D8A69B}" srcOrd="8" destOrd="0" presId="urn:microsoft.com/office/officeart/2005/8/layout/orgChart1"/>
    <dgm:cxn modelId="{2C5F4301-1699-425E-935F-EFAA3516556E}" type="presParOf" srcId="{C9DDE5D4-F07D-4DE8-853A-902E8B81DC4D}" destId="{10D9AD60-43ED-47D2-8C67-B579A44BE5AD}" srcOrd="9" destOrd="0" presId="urn:microsoft.com/office/officeart/2005/8/layout/orgChart1"/>
    <dgm:cxn modelId="{2C1FC2F2-DD41-4939-B3C2-F2C65D430A0C}" type="presParOf" srcId="{10D9AD60-43ED-47D2-8C67-B579A44BE5AD}" destId="{23160774-F3D7-4841-BD31-F96385075E71}" srcOrd="0" destOrd="0" presId="urn:microsoft.com/office/officeart/2005/8/layout/orgChart1"/>
    <dgm:cxn modelId="{8E504E05-36F2-44EF-B33D-5EA6C0678BF3}" type="presParOf" srcId="{23160774-F3D7-4841-BD31-F96385075E71}" destId="{FAC8E42E-F769-4507-A5C0-3D95A60D0619}" srcOrd="0" destOrd="0" presId="urn:microsoft.com/office/officeart/2005/8/layout/orgChart1"/>
    <dgm:cxn modelId="{89A2B3B3-0847-45BA-8B78-CDD7D2E6360A}" type="presParOf" srcId="{23160774-F3D7-4841-BD31-F96385075E71}" destId="{6195FC93-675F-4BD5-AC26-FFD2AF3681E7}" srcOrd="1" destOrd="0" presId="urn:microsoft.com/office/officeart/2005/8/layout/orgChart1"/>
    <dgm:cxn modelId="{C2508DFF-1331-4ECE-A15F-DC2407C75C51}" type="presParOf" srcId="{10D9AD60-43ED-47D2-8C67-B579A44BE5AD}" destId="{CE028E25-25E0-49BD-A57F-0E2BF4D0695D}" srcOrd="1" destOrd="0" presId="urn:microsoft.com/office/officeart/2005/8/layout/orgChart1"/>
    <dgm:cxn modelId="{31092E05-532F-4239-A356-89ADB6E5108B}" type="presParOf" srcId="{10D9AD60-43ED-47D2-8C67-B579A44BE5AD}" destId="{5C1C2195-64BC-4FD1-853A-FEE6F8ED44D1}" srcOrd="2" destOrd="0" presId="urn:microsoft.com/office/officeart/2005/8/layout/orgChart1"/>
    <dgm:cxn modelId="{685F3B13-0B2B-4777-A120-EDFED66B61FC}" type="presParOf" srcId="{C9DDE5D4-F07D-4DE8-853A-902E8B81DC4D}" destId="{E8C75975-092F-4154-9CC5-48771580D2C7}" srcOrd="10" destOrd="0" presId="urn:microsoft.com/office/officeart/2005/8/layout/orgChart1"/>
    <dgm:cxn modelId="{D856E0CB-128F-40A7-A8A5-1CE48674300B}" type="presParOf" srcId="{C9DDE5D4-F07D-4DE8-853A-902E8B81DC4D}" destId="{FECA1F25-86A8-4836-B8A1-FBA984780702}" srcOrd="11" destOrd="0" presId="urn:microsoft.com/office/officeart/2005/8/layout/orgChart1"/>
    <dgm:cxn modelId="{D4EA3E04-5C0B-4DAB-9500-BBC3A6712A19}" type="presParOf" srcId="{FECA1F25-86A8-4836-B8A1-FBA984780702}" destId="{25DC8830-8CDB-473D-A4FE-6C03E84131ED}" srcOrd="0" destOrd="0" presId="urn:microsoft.com/office/officeart/2005/8/layout/orgChart1"/>
    <dgm:cxn modelId="{A223EA0A-05B7-456F-97A5-294B76A5B29E}" type="presParOf" srcId="{25DC8830-8CDB-473D-A4FE-6C03E84131ED}" destId="{26F8A298-A63B-4286-A997-858ED493933A}" srcOrd="0" destOrd="0" presId="urn:microsoft.com/office/officeart/2005/8/layout/orgChart1"/>
    <dgm:cxn modelId="{08FEFC6E-F7F2-44FB-A9DB-250F279BB1CE}" type="presParOf" srcId="{25DC8830-8CDB-473D-A4FE-6C03E84131ED}" destId="{FFDEF46D-6956-498B-9B4E-61BCEABC2837}" srcOrd="1" destOrd="0" presId="urn:microsoft.com/office/officeart/2005/8/layout/orgChart1"/>
    <dgm:cxn modelId="{D20453AC-FA61-4B66-8424-D101D4BC4022}" type="presParOf" srcId="{FECA1F25-86A8-4836-B8A1-FBA984780702}" destId="{93C0380C-07D0-4C15-A9EB-61E2FA42ACCE}" srcOrd="1" destOrd="0" presId="urn:microsoft.com/office/officeart/2005/8/layout/orgChart1"/>
    <dgm:cxn modelId="{2DA846A8-F68E-4EFD-93D8-585C356846F3}" type="presParOf" srcId="{FECA1F25-86A8-4836-B8A1-FBA984780702}" destId="{78125601-AC54-45F3-B03B-DDAF69036148}" srcOrd="2" destOrd="0" presId="urn:microsoft.com/office/officeart/2005/8/layout/orgChart1"/>
    <dgm:cxn modelId="{7D48EA73-611D-450E-8892-B902598D08D3}" type="presParOf" srcId="{32D3BCDB-E304-43DB-B694-9B9A31F51005}" destId="{660F746A-FFCC-4E6E-AA76-C5982CC92F38}" srcOrd="2" destOrd="0" presId="urn:microsoft.com/office/officeart/2005/8/layout/orgChar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C75975-092F-4154-9CC5-48771580D2C7}">
      <dsp:nvSpPr>
        <dsp:cNvPr id="0" name=""/>
        <dsp:cNvSpPr/>
      </dsp:nvSpPr>
      <dsp:spPr>
        <a:xfrm>
          <a:off x="2124147" y="299132"/>
          <a:ext cx="1807969" cy="125511"/>
        </a:xfrm>
        <a:custGeom>
          <a:avLst/>
          <a:gdLst/>
          <a:ahLst/>
          <a:cxnLst/>
          <a:rect l="0" t="0" r="0" b="0"/>
          <a:pathLst>
            <a:path>
              <a:moveTo>
                <a:pt x="0" y="0"/>
              </a:moveTo>
              <a:lnTo>
                <a:pt x="0" y="62755"/>
              </a:lnTo>
              <a:lnTo>
                <a:pt x="1807969" y="62755"/>
              </a:lnTo>
              <a:lnTo>
                <a:pt x="1807969" y="12551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41E3DDB-30DA-45DA-8314-F3E814D8A69B}">
      <dsp:nvSpPr>
        <dsp:cNvPr id="0" name=""/>
        <dsp:cNvSpPr/>
      </dsp:nvSpPr>
      <dsp:spPr>
        <a:xfrm>
          <a:off x="2124147" y="299132"/>
          <a:ext cx="1084781" cy="125511"/>
        </a:xfrm>
        <a:custGeom>
          <a:avLst/>
          <a:gdLst/>
          <a:ahLst/>
          <a:cxnLst/>
          <a:rect l="0" t="0" r="0" b="0"/>
          <a:pathLst>
            <a:path>
              <a:moveTo>
                <a:pt x="0" y="0"/>
              </a:moveTo>
              <a:lnTo>
                <a:pt x="0" y="62755"/>
              </a:lnTo>
              <a:lnTo>
                <a:pt x="1084781" y="62755"/>
              </a:lnTo>
              <a:lnTo>
                <a:pt x="1084781" y="12551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6040B5E-71A9-4499-91BF-38CE0AE51C37}">
      <dsp:nvSpPr>
        <dsp:cNvPr id="0" name=""/>
        <dsp:cNvSpPr/>
      </dsp:nvSpPr>
      <dsp:spPr>
        <a:xfrm>
          <a:off x="2124147" y="299132"/>
          <a:ext cx="361593" cy="125511"/>
        </a:xfrm>
        <a:custGeom>
          <a:avLst/>
          <a:gdLst/>
          <a:ahLst/>
          <a:cxnLst/>
          <a:rect l="0" t="0" r="0" b="0"/>
          <a:pathLst>
            <a:path>
              <a:moveTo>
                <a:pt x="0" y="0"/>
              </a:moveTo>
              <a:lnTo>
                <a:pt x="0" y="62755"/>
              </a:lnTo>
              <a:lnTo>
                <a:pt x="361593" y="62755"/>
              </a:lnTo>
              <a:lnTo>
                <a:pt x="361593" y="12551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7E47A0-93A9-4EC0-A2D4-3B30E00A29B5}">
      <dsp:nvSpPr>
        <dsp:cNvPr id="0" name=""/>
        <dsp:cNvSpPr/>
      </dsp:nvSpPr>
      <dsp:spPr>
        <a:xfrm>
          <a:off x="1762553" y="299132"/>
          <a:ext cx="361593" cy="125511"/>
        </a:xfrm>
        <a:custGeom>
          <a:avLst/>
          <a:gdLst/>
          <a:ahLst/>
          <a:cxnLst/>
          <a:rect l="0" t="0" r="0" b="0"/>
          <a:pathLst>
            <a:path>
              <a:moveTo>
                <a:pt x="361593" y="0"/>
              </a:moveTo>
              <a:lnTo>
                <a:pt x="361593" y="62755"/>
              </a:lnTo>
              <a:lnTo>
                <a:pt x="0" y="62755"/>
              </a:lnTo>
              <a:lnTo>
                <a:pt x="0" y="12551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62F062E-C9DC-45DC-BF42-B3821910007E}">
      <dsp:nvSpPr>
        <dsp:cNvPr id="0" name=""/>
        <dsp:cNvSpPr/>
      </dsp:nvSpPr>
      <dsp:spPr>
        <a:xfrm>
          <a:off x="1039365" y="299132"/>
          <a:ext cx="1084781" cy="125511"/>
        </a:xfrm>
        <a:custGeom>
          <a:avLst/>
          <a:gdLst/>
          <a:ahLst/>
          <a:cxnLst/>
          <a:rect l="0" t="0" r="0" b="0"/>
          <a:pathLst>
            <a:path>
              <a:moveTo>
                <a:pt x="1084781" y="0"/>
              </a:moveTo>
              <a:lnTo>
                <a:pt x="1084781" y="62755"/>
              </a:lnTo>
              <a:lnTo>
                <a:pt x="0" y="62755"/>
              </a:lnTo>
              <a:lnTo>
                <a:pt x="0" y="12551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6CF1638-0A96-4AA9-A3DA-72DA8A83A093}">
      <dsp:nvSpPr>
        <dsp:cNvPr id="0" name=""/>
        <dsp:cNvSpPr/>
      </dsp:nvSpPr>
      <dsp:spPr>
        <a:xfrm>
          <a:off x="316178" y="299132"/>
          <a:ext cx="1807969" cy="125511"/>
        </a:xfrm>
        <a:custGeom>
          <a:avLst/>
          <a:gdLst/>
          <a:ahLst/>
          <a:cxnLst/>
          <a:rect l="0" t="0" r="0" b="0"/>
          <a:pathLst>
            <a:path>
              <a:moveTo>
                <a:pt x="1807969" y="0"/>
              </a:moveTo>
              <a:lnTo>
                <a:pt x="1807969" y="62755"/>
              </a:lnTo>
              <a:lnTo>
                <a:pt x="0" y="62755"/>
              </a:lnTo>
              <a:lnTo>
                <a:pt x="0" y="12551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C610278-54DD-44B8-9676-EC65D4D042F3}">
      <dsp:nvSpPr>
        <dsp:cNvPr id="0" name=""/>
        <dsp:cNvSpPr/>
      </dsp:nvSpPr>
      <dsp:spPr>
        <a:xfrm>
          <a:off x="1825309" y="294"/>
          <a:ext cx="597675" cy="2988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altLang="en-US" sz="1100" b="1" kern="1200" dirty="0">
              <a:latin typeface="仿宋" panose="02010609060101010101" pitchFamily="49" charset="-122"/>
              <a:ea typeface="仿宋" panose="02010609060101010101" pitchFamily="49" charset="-122"/>
            </a:rPr>
            <a:t>北京大瞬</a:t>
          </a:r>
        </a:p>
      </dsp:txBody>
      <dsp:txXfrm>
        <a:off x="1825309" y="294"/>
        <a:ext cx="597675" cy="298837"/>
      </dsp:txXfrm>
    </dsp:sp>
    <dsp:sp modelId="{EF905D94-D7E9-448D-8305-75470558CE97}">
      <dsp:nvSpPr>
        <dsp:cNvPr id="0" name=""/>
        <dsp:cNvSpPr/>
      </dsp:nvSpPr>
      <dsp:spPr>
        <a:xfrm>
          <a:off x="17340" y="424644"/>
          <a:ext cx="597675" cy="2988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altLang="en-US" sz="1100" kern="1200">
              <a:latin typeface="仿宋" panose="02010609060101010101" pitchFamily="49" charset="-122"/>
              <a:ea typeface="仿宋" panose="02010609060101010101" pitchFamily="49" charset="-122"/>
            </a:rPr>
            <a:t>上海</a:t>
          </a:r>
        </a:p>
      </dsp:txBody>
      <dsp:txXfrm>
        <a:off x="17340" y="424644"/>
        <a:ext cx="597675" cy="298837"/>
      </dsp:txXfrm>
    </dsp:sp>
    <dsp:sp modelId="{839CFAA3-0D4C-4BBB-B2ED-B9A6A611539A}">
      <dsp:nvSpPr>
        <dsp:cNvPr id="0" name=""/>
        <dsp:cNvSpPr/>
      </dsp:nvSpPr>
      <dsp:spPr>
        <a:xfrm>
          <a:off x="740528" y="424644"/>
          <a:ext cx="597675" cy="2988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altLang="en-US" sz="1100" kern="1200" dirty="0">
              <a:latin typeface="仿宋" panose="02010609060101010101" pitchFamily="49" charset="-122"/>
              <a:ea typeface="仿宋" panose="02010609060101010101" pitchFamily="49" charset="-122"/>
            </a:rPr>
            <a:t>武汉</a:t>
          </a:r>
        </a:p>
      </dsp:txBody>
      <dsp:txXfrm>
        <a:off x="740528" y="424644"/>
        <a:ext cx="597675" cy="298837"/>
      </dsp:txXfrm>
    </dsp:sp>
    <dsp:sp modelId="{E4B9C9D2-978D-4FE3-9A41-2F4D0A1595CD}">
      <dsp:nvSpPr>
        <dsp:cNvPr id="0" name=""/>
        <dsp:cNvSpPr/>
      </dsp:nvSpPr>
      <dsp:spPr>
        <a:xfrm>
          <a:off x="1463715" y="424644"/>
          <a:ext cx="597675" cy="2988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altLang="en-US" sz="1100" kern="1200">
              <a:latin typeface="仿宋" panose="02010609060101010101" pitchFamily="49" charset="-122"/>
              <a:ea typeface="仿宋" panose="02010609060101010101" pitchFamily="49" charset="-122"/>
            </a:rPr>
            <a:t>成都</a:t>
          </a:r>
        </a:p>
      </dsp:txBody>
      <dsp:txXfrm>
        <a:off x="1463715" y="424644"/>
        <a:ext cx="597675" cy="298837"/>
      </dsp:txXfrm>
    </dsp:sp>
    <dsp:sp modelId="{1CC0DDFA-5A19-4F30-9C36-ECAD47D1F629}">
      <dsp:nvSpPr>
        <dsp:cNvPr id="0" name=""/>
        <dsp:cNvSpPr/>
      </dsp:nvSpPr>
      <dsp:spPr>
        <a:xfrm>
          <a:off x="2186903" y="424644"/>
          <a:ext cx="597675" cy="2988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altLang="en-US" sz="1100" kern="1200">
              <a:latin typeface="仿宋" panose="02010609060101010101" pitchFamily="49" charset="-122"/>
              <a:ea typeface="仿宋" panose="02010609060101010101" pitchFamily="49" charset="-122"/>
            </a:rPr>
            <a:t>深圳</a:t>
          </a:r>
        </a:p>
      </dsp:txBody>
      <dsp:txXfrm>
        <a:off x="2186903" y="424644"/>
        <a:ext cx="597675" cy="298837"/>
      </dsp:txXfrm>
    </dsp:sp>
    <dsp:sp modelId="{FAC8E42E-F769-4507-A5C0-3D95A60D0619}">
      <dsp:nvSpPr>
        <dsp:cNvPr id="0" name=""/>
        <dsp:cNvSpPr/>
      </dsp:nvSpPr>
      <dsp:spPr>
        <a:xfrm>
          <a:off x="2910091" y="424644"/>
          <a:ext cx="597675" cy="2988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altLang="en-US" sz="1100" kern="1200">
              <a:latin typeface="仿宋" panose="02010609060101010101" pitchFamily="49" charset="-122"/>
              <a:ea typeface="仿宋" panose="02010609060101010101" pitchFamily="49" charset="-122"/>
            </a:rPr>
            <a:t>平潭</a:t>
          </a:r>
        </a:p>
      </dsp:txBody>
      <dsp:txXfrm>
        <a:off x="2910091" y="424644"/>
        <a:ext cx="597675" cy="298837"/>
      </dsp:txXfrm>
    </dsp:sp>
    <dsp:sp modelId="{26F8A298-A63B-4286-A997-858ED493933A}">
      <dsp:nvSpPr>
        <dsp:cNvPr id="0" name=""/>
        <dsp:cNvSpPr/>
      </dsp:nvSpPr>
      <dsp:spPr>
        <a:xfrm>
          <a:off x="3633278" y="424644"/>
          <a:ext cx="597675" cy="2988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CN" altLang="en-US" sz="1100" kern="1200">
              <a:latin typeface="仿宋" panose="02010609060101010101" pitchFamily="49" charset="-122"/>
              <a:ea typeface="仿宋" panose="02010609060101010101" pitchFamily="49" charset="-122"/>
            </a:rPr>
            <a:t>香港</a:t>
          </a:r>
        </a:p>
      </dsp:txBody>
      <dsp:txXfrm>
        <a:off x="3633278" y="424644"/>
        <a:ext cx="597675" cy="298837"/>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F9060D-3B51-4359-97B2-FB9FB074FCDE}" type="datetimeFigureOut">
              <a:rPr lang="zh-CN" altLang="en-US" smtClean="0"/>
              <a:t>2021/7/5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B296A9-64E8-4B0F-8A40-DB128CAA2C51}" type="slidenum">
              <a:rPr lang="zh-CN" altLang="en-US" smtClean="0"/>
              <a:t>‹#›</a:t>
            </a:fld>
            <a:endParaRPr lang="zh-CN" altLang="en-US"/>
          </a:p>
        </p:txBody>
      </p:sp>
    </p:spTree>
    <p:extLst>
      <p:ext uri="{BB962C8B-B14F-4D97-AF65-F5344CB8AC3E}">
        <p14:creationId xmlns:p14="http://schemas.microsoft.com/office/powerpoint/2010/main" val="21558847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mp.weixin.qq.com/s?__biz=MzIzNjEwOTA1MA==&amp;mid=2650461313&amp;idx=3&amp;sn=0a08c5e03e8b0288700dd59d301fa353&amp;chksm=f0d29914c7a51002e9774c7eb01e5d888c422265d1aac80dd59a6027d97aba5aab6c80c36b1a&amp;scene=21#wechat_redirect"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DB296A9-64E8-4B0F-8A40-DB128CAA2C51}" type="slidenum">
              <a:rPr lang="zh-CN" altLang="en-US" smtClean="0"/>
              <a:t>1</a:t>
            </a:fld>
            <a:endParaRPr lang="zh-CN" altLang="en-US"/>
          </a:p>
        </p:txBody>
      </p:sp>
    </p:spTree>
    <p:extLst>
      <p:ext uri="{BB962C8B-B14F-4D97-AF65-F5344CB8AC3E}">
        <p14:creationId xmlns:p14="http://schemas.microsoft.com/office/powerpoint/2010/main" val="27310180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spcAft>
                <a:spcPts val="1000"/>
              </a:spcAft>
            </a:pPr>
            <a:r>
              <a:rPr lang="zh-CN" altLang="en-US" sz="1800" kern="100" dirty="0">
                <a:effectLst/>
                <a:ea typeface="仿宋" panose="02010609060101010101" pitchFamily="49" charset="-122"/>
                <a:cs typeface="Times New Roman" panose="02020603050405020304" pitchFamily="18" charset="0"/>
              </a:rPr>
              <a:t>大瞬科技的</a:t>
            </a:r>
            <a:r>
              <a:rPr lang="zh-CN" altLang="zh-CN" sz="1800" kern="100" dirty="0">
                <a:effectLst/>
                <a:ea typeface="仿宋" panose="02010609060101010101" pitchFamily="49" charset="-122"/>
                <a:cs typeface="Times New Roman" panose="02020603050405020304" pitchFamily="18" charset="0"/>
              </a:rPr>
              <a:t>大瞬科技专注高端电源管理芯片的设计研发，产品包括</a:t>
            </a:r>
            <a:r>
              <a:rPr lang="zh-CN" altLang="en-US" sz="1800" kern="100" dirty="0">
                <a:effectLst/>
                <a:ea typeface="仿宋" panose="02010609060101010101" pitchFamily="49" charset="-122"/>
                <a:cs typeface="Times New Roman" panose="02020603050405020304" pitchFamily="18" charset="0"/>
              </a:rPr>
              <a:t>手机快充</a:t>
            </a:r>
            <a:r>
              <a:rPr lang="en-US" altLang="zh-CN" sz="1800" kern="100" dirty="0">
                <a:effectLst/>
                <a:ea typeface="仿宋" panose="02010609060101010101" pitchFamily="49" charset="-122"/>
                <a:cs typeface="Times New Roman" panose="02020603050405020304" pitchFamily="18" charset="0"/>
              </a:rPr>
              <a:t>Charge Pump</a:t>
            </a:r>
            <a:r>
              <a:rPr lang="zh-CN" altLang="zh-CN" sz="1800" kern="100" dirty="0">
                <a:effectLst/>
                <a:ea typeface="仿宋" panose="02010609060101010101" pitchFamily="49" charset="-122"/>
                <a:cs typeface="Times New Roman" panose="02020603050405020304" pitchFamily="18" charset="0"/>
              </a:rPr>
              <a:t>、</a:t>
            </a:r>
            <a:r>
              <a:rPr lang="en-US" altLang="zh-CN" sz="1800" kern="100" dirty="0">
                <a:effectLst/>
                <a:ea typeface="仿宋" panose="02010609060101010101" pitchFamily="49" charset="-122"/>
                <a:cs typeface="Times New Roman" panose="02020603050405020304" pitchFamily="18" charset="0"/>
              </a:rPr>
              <a:t>E-Marker</a:t>
            </a:r>
            <a:r>
              <a:rPr lang="zh-CN" altLang="en-US" sz="1800" kern="100" dirty="0">
                <a:effectLst/>
                <a:ea typeface="仿宋" panose="02010609060101010101" pitchFamily="49" charset="-122"/>
                <a:cs typeface="Times New Roman" panose="02020603050405020304" pitchFamily="18" charset="0"/>
              </a:rPr>
              <a:t>、</a:t>
            </a:r>
            <a:r>
              <a:rPr lang="en-US" altLang="zh-CN" sz="1800" kern="100" dirty="0">
                <a:effectLst/>
                <a:ea typeface="仿宋" panose="02010609060101010101" pitchFamily="49" charset="-122"/>
                <a:cs typeface="Times New Roman" panose="02020603050405020304" pitchFamily="18" charset="0"/>
              </a:rPr>
              <a:t>DC/DC</a:t>
            </a:r>
            <a:r>
              <a:rPr lang="zh-CN" altLang="zh-CN" sz="1800" kern="100" dirty="0">
                <a:effectLst/>
                <a:ea typeface="仿宋" panose="02010609060101010101" pitchFamily="49" charset="-122"/>
                <a:cs typeface="Times New Roman" panose="02020603050405020304" pitchFamily="18" charset="0"/>
              </a:rPr>
              <a:t>电源管理芯片、电池充电芯片等，广泛应用于手机、</a:t>
            </a:r>
            <a:r>
              <a:rPr lang="en-US" altLang="zh-CN" sz="1800" kern="100" dirty="0">
                <a:effectLst/>
                <a:ea typeface="仿宋" panose="02010609060101010101" pitchFamily="49" charset="-122"/>
                <a:cs typeface="Times New Roman" panose="02020603050405020304" pitchFamily="18" charset="0"/>
              </a:rPr>
              <a:t>PC</a:t>
            </a:r>
            <a:r>
              <a:rPr lang="zh-CN" altLang="en-US" sz="1800" kern="100" dirty="0">
                <a:effectLst/>
                <a:ea typeface="仿宋" panose="02010609060101010101" pitchFamily="49" charset="-122"/>
                <a:cs typeface="Times New Roman" panose="02020603050405020304" pitchFamily="18" charset="0"/>
              </a:rPr>
              <a:t>、</a:t>
            </a:r>
            <a:r>
              <a:rPr lang="en-US" altLang="zh-CN" sz="1800" kern="100" dirty="0">
                <a:effectLst/>
                <a:ea typeface="仿宋" panose="02010609060101010101" pitchFamily="49" charset="-122"/>
                <a:cs typeface="Times New Roman" panose="02020603050405020304" pitchFamily="18" charset="0"/>
              </a:rPr>
              <a:t>TWS</a:t>
            </a:r>
            <a:r>
              <a:rPr lang="zh-CN" altLang="zh-CN" sz="1800" kern="100" dirty="0">
                <a:effectLst/>
                <a:ea typeface="仿宋" panose="02010609060101010101" pitchFamily="49" charset="-122"/>
                <a:cs typeface="Times New Roman" panose="02020603050405020304" pitchFamily="18" charset="0"/>
              </a:rPr>
              <a:t>、</a:t>
            </a:r>
            <a:r>
              <a:rPr lang="zh-CN" altLang="en-US" sz="1800" kern="100" dirty="0">
                <a:effectLst/>
                <a:ea typeface="仿宋" panose="02010609060101010101" pitchFamily="49" charset="-122"/>
                <a:cs typeface="Times New Roman" panose="02020603050405020304" pitchFamily="18" charset="0"/>
              </a:rPr>
              <a:t>充电宝、共享单车</a:t>
            </a:r>
            <a:r>
              <a:rPr lang="en-US" altLang="zh-CN" sz="1800" kern="100" dirty="0">
                <a:effectLst/>
                <a:ea typeface="仿宋" panose="02010609060101010101" pitchFamily="49" charset="-122"/>
                <a:cs typeface="Times New Roman" panose="02020603050405020304" pitchFamily="18" charset="0"/>
              </a:rPr>
              <a:t>5</a:t>
            </a:r>
            <a:r>
              <a:rPr lang="zh-CN" altLang="en-US" sz="1800" kern="100" dirty="0">
                <a:effectLst/>
                <a:ea typeface="仿宋" panose="02010609060101010101" pitchFamily="49" charset="-122"/>
                <a:cs typeface="Times New Roman" panose="02020603050405020304" pitchFamily="18" charset="0"/>
              </a:rPr>
              <a:t>大应用领域</a:t>
            </a:r>
            <a:r>
              <a:rPr lang="zh-CN" altLang="zh-CN" sz="1800" kern="100" dirty="0">
                <a:effectLst/>
                <a:ea typeface="仿宋" panose="02010609060101010101" pitchFamily="49" charset="-122"/>
                <a:cs typeface="Times New Roman" panose="02020603050405020304" pitchFamily="18" charset="0"/>
              </a:rPr>
              <a:t>。</a:t>
            </a:r>
            <a:endParaRPr lang="en-US" altLang="zh-CN" sz="1800" kern="100" dirty="0">
              <a:effectLst/>
              <a:ea typeface="仿宋" panose="02010609060101010101" pitchFamily="49"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kern="100" dirty="0">
                <a:effectLst/>
                <a:ea typeface="仿宋" panose="02010609060101010101" pitchFamily="49" charset="-122"/>
                <a:cs typeface="Times New Roman" panose="02020603050405020304" pitchFamily="18" charset="0"/>
              </a:rPr>
              <a:t>前身是前凹凸员工设立的</a:t>
            </a:r>
            <a:r>
              <a:rPr lang="zh-CN" altLang="zh-CN" sz="1800" dirty="0"/>
              <a:t>东莞星空之南</a:t>
            </a:r>
            <a:r>
              <a:rPr lang="zh-CN" altLang="en-US" sz="1800" dirty="0"/>
              <a:t>，公司当时主要做</a:t>
            </a:r>
            <a:r>
              <a:rPr lang="en-US" altLang="zh-CN" sz="1800" dirty="0"/>
              <a:t>GPS</a:t>
            </a:r>
            <a:r>
              <a:rPr lang="zh-CN" altLang="en-US" sz="1800" dirty="0"/>
              <a:t>芯片研发，规模较小，</a:t>
            </a:r>
            <a:r>
              <a:rPr lang="en-US" altLang="zh-CN" sz="1800" dirty="0"/>
              <a:t>2019</a:t>
            </a:r>
            <a:r>
              <a:rPr lang="zh-CN" altLang="en-US" sz="1800" dirty="0"/>
              <a:t>年收入为</a:t>
            </a:r>
            <a:r>
              <a:rPr lang="en-US" altLang="zh-CN" sz="1800" dirty="0"/>
              <a:t>0</a:t>
            </a:r>
            <a:r>
              <a:rPr lang="zh-CN" altLang="en-US" sz="1800" dirty="0"/>
              <a:t>。</a:t>
            </a:r>
            <a:endParaRPr lang="en-US" altLang="zh-CN" sz="1800" kern="100" dirty="0">
              <a:effectLst/>
              <a:ea typeface="仿宋" panose="02010609060101010101" pitchFamily="49" charset="-122"/>
              <a:cs typeface="Times New Roman" panose="02020603050405020304" pitchFamily="18" charset="0"/>
            </a:endParaRPr>
          </a:p>
          <a:p>
            <a:r>
              <a:rPr lang="en-US" altLang="zh-CN" sz="1800" kern="100" dirty="0">
                <a:effectLst/>
                <a:ea typeface="仿宋" panose="02010609060101010101" pitchFamily="49" charset="-122"/>
                <a:cs typeface="Times New Roman" panose="02020603050405020304" pitchFamily="18" charset="0"/>
              </a:rPr>
              <a:t>2020</a:t>
            </a:r>
            <a:r>
              <a:rPr lang="zh-CN" altLang="zh-CN" sz="1800" kern="100" dirty="0">
                <a:effectLst/>
                <a:ea typeface="仿宋" panose="02010609060101010101" pitchFamily="49" charset="-122"/>
                <a:cs typeface="Times New Roman" panose="02020603050405020304" pitchFamily="18" charset="0"/>
              </a:rPr>
              <a:t>年</a:t>
            </a:r>
            <a:r>
              <a:rPr lang="en-US" altLang="zh-CN" sz="1800" kern="100" dirty="0">
                <a:effectLst/>
                <a:ea typeface="仿宋" panose="02010609060101010101" pitchFamily="49" charset="-122"/>
                <a:cs typeface="Times New Roman" panose="02020603050405020304" pitchFamily="18" charset="0"/>
              </a:rPr>
              <a:t>5</a:t>
            </a:r>
            <a:r>
              <a:rPr lang="zh-CN" altLang="zh-CN" sz="1800" kern="100" dirty="0">
                <a:effectLst/>
                <a:ea typeface="仿宋" panose="02010609060101010101" pitchFamily="49" charset="-122"/>
                <a:cs typeface="Times New Roman" panose="02020603050405020304" pitchFamily="18" charset="0"/>
              </a:rPr>
              <a:t>月，公司</a:t>
            </a:r>
            <a:r>
              <a:rPr lang="zh-CN" altLang="en-US" sz="1800" kern="100" dirty="0">
                <a:effectLst/>
                <a:ea typeface="仿宋" panose="02010609060101010101" pitchFamily="49" charset="-122"/>
                <a:cs typeface="Times New Roman" panose="02020603050405020304" pitchFamily="18" charset="0"/>
              </a:rPr>
              <a:t>购买</a:t>
            </a:r>
            <a:r>
              <a:rPr lang="zh-CN" altLang="zh-CN" sz="1800" kern="100" dirty="0">
                <a:effectLst/>
                <a:ea typeface="仿宋" panose="02010609060101010101" pitchFamily="49" charset="-122"/>
                <a:cs typeface="Times New Roman" panose="02020603050405020304" pitchFamily="18" charset="0"/>
              </a:rPr>
              <a:t>承接美国纳斯达克上市公司</a:t>
            </a:r>
            <a:r>
              <a:rPr lang="en-US" altLang="zh-CN" sz="1800" kern="100" dirty="0">
                <a:effectLst/>
                <a:ea typeface="仿宋" panose="02010609060101010101" pitchFamily="49" charset="-122"/>
                <a:cs typeface="Times New Roman" panose="02020603050405020304" pitchFamily="18" charset="0"/>
              </a:rPr>
              <a:t>O2Micro(OIIM.O)</a:t>
            </a:r>
            <a:r>
              <a:rPr lang="zh-CN" altLang="zh-CN" sz="1800" kern="100" dirty="0">
                <a:effectLst/>
                <a:ea typeface="仿宋" panose="02010609060101010101" pitchFamily="49" charset="-122"/>
                <a:cs typeface="Times New Roman" panose="02020603050405020304" pitchFamily="18" charset="0"/>
              </a:rPr>
              <a:t>的单</a:t>
            </a:r>
            <a:r>
              <a:rPr lang="en-US" altLang="zh-CN" sz="1800" kern="100" dirty="0">
                <a:effectLst/>
                <a:ea typeface="仿宋" panose="02010609060101010101" pitchFamily="49" charset="-122"/>
                <a:cs typeface="Times New Roman" panose="02020603050405020304" pitchFamily="18" charset="0"/>
              </a:rPr>
              <a:t>/</a:t>
            </a:r>
            <a:r>
              <a:rPr lang="zh-CN" altLang="zh-CN" sz="1800" kern="100" dirty="0">
                <a:effectLst/>
                <a:ea typeface="仿宋" panose="02010609060101010101" pitchFamily="49" charset="-122"/>
                <a:cs typeface="Times New Roman" panose="02020603050405020304" pitchFamily="18" charset="0"/>
              </a:rPr>
              <a:t>双串电池管理芯片业务</a:t>
            </a:r>
            <a:r>
              <a:rPr lang="zh-CN" altLang="en-US" sz="1800" kern="100" dirty="0">
                <a:effectLst/>
                <a:ea typeface="仿宋" panose="02010609060101010101" pitchFamily="49" charset="-122"/>
                <a:cs typeface="Times New Roman" panose="02020603050405020304" pitchFamily="18" charset="0"/>
              </a:rPr>
              <a:t>，也就是笔记本电脑和智能手机业务</a:t>
            </a:r>
            <a:r>
              <a:rPr lang="zh-CN" altLang="zh-CN" sz="1800" kern="100" dirty="0">
                <a:effectLst/>
                <a:ea typeface="仿宋" panose="02010609060101010101" pitchFamily="49" charset="-122"/>
                <a:cs typeface="Times New Roman" panose="02020603050405020304" pitchFamily="18" charset="0"/>
              </a:rPr>
              <a:t>，</a:t>
            </a:r>
            <a:r>
              <a:rPr lang="zh-CN" altLang="en-US" sz="1800" kern="100" dirty="0">
                <a:effectLst/>
                <a:ea typeface="仿宋" panose="02010609060101010101" pitchFamily="49" charset="-122"/>
                <a:cs typeface="Times New Roman" panose="02020603050405020304" pitchFamily="18" charset="0"/>
              </a:rPr>
              <a:t>在上市公司里面是亏损的，上市公司召开董事会砍掉这两块业务，并将相关人员裁撤；承接之后</a:t>
            </a:r>
            <a:r>
              <a:rPr lang="zh-CN" altLang="zh-CN" sz="1800" kern="100" dirty="0">
                <a:effectLst/>
                <a:ea typeface="仿宋" panose="02010609060101010101" pitchFamily="49" charset="-122"/>
                <a:cs typeface="Times New Roman" panose="02020603050405020304" pitchFamily="18" charset="0"/>
              </a:rPr>
              <a:t>并变更为北京大瞬科技有限公司，总部迁至北京市。</a:t>
            </a:r>
            <a:endParaRPr lang="en-US" altLang="zh-CN" sz="1800" kern="100" dirty="0">
              <a:effectLst/>
              <a:ea typeface="仿宋" panose="02010609060101010101" pitchFamily="49" charset="-122"/>
              <a:cs typeface="Times New Roman" panose="02020603050405020304" pitchFamily="18" charset="0"/>
            </a:endParaRPr>
          </a:p>
          <a:p>
            <a:pPr marL="0" algn="l" defTabSz="914400" rtl="0" eaLnBrk="1" latinLnBrk="0" hangingPunct="1"/>
            <a:r>
              <a:rPr lang="zh-CN" altLang="en-US" sz="180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rPr>
              <a:t>中间的图可以的看到，大瞬科技的人员规模等于把凹凸中国</a:t>
            </a:r>
            <a:r>
              <a:rPr lang="en-US" altLang="zh-CN" sz="180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rPr>
              <a:t>2/5</a:t>
            </a:r>
            <a:r>
              <a:rPr lang="zh-CN" altLang="en-US" sz="180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rPr>
              <a:t>的人给切出来了。留下来的业务做三串及以上的电池管理，比如电动车、电动工具等，还有老的背光驱动业务；大瞬这边主要做单</a:t>
            </a:r>
            <a:r>
              <a:rPr lang="en-US" altLang="zh-CN" sz="180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rPr>
              <a:t>/</a:t>
            </a:r>
            <a:r>
              <a:rPr lang="zh-CN" altLang="en-US" sz="180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rPr>
              <a:t>双串的笔电和智能手机等消费领域，当然也是国内成长性最高的市场。</a:t>
            </a:r>
            <a:endParaRPr lang="en-US" altLang="zh-CN" sz="180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endParaRPr>
          </a:p>
          <a:p>
            <a:pPr marL="0" algn="l" defTabSz="914400" rtl="0" eaLnBrk="1" latinLnBrk="0" hangingPunct="1"/>
            <a:r>
              <a:rPr lang="zh-CN" altLang="en-US" sz="180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rPr>
              <a:t>本轮融资为</a:t>
            </a:r>
            <a:r>
              <a:rPr lang="en-US" altLang="zh-CN" sz="180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rPr>
              <a:t>C</a:t>
            </a:r>
            <a:r>
              <a:rPr lang="zh-CN" altLang="en-US" sz="180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rPr>
              <a:t>轮融资。投前估值</a:t>
            </a:r>
            <a:r>
              <a:rPr lang="en-US" altLang="zh-CN" sz="180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rPr>
              <a:t>9.2</a:t>
            </a:r>
            <a:r>
              <a:rPr lang="zh-CN" altLang="en-US" sz="180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rPr>
              <a:t>亿元。</a:t>
            </a:r>
            <a:r>
              <a:rPr lang="en-US" altLang="zh-CN" sz="180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rPr>
              <a:t>MTM</a:t>
            </a:r>
            <a:r>
              <a:rPr lang="zh-CN" altLang="en-US" sz="180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rPr>
              <a:t>采用独家投资的方式进行本轮投资。公司计划</a:t>
            </a:r>
            <a:r>
              <a:rPr lang="en-US" altLang="zh-CN" sz="180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rPr>
              <a:t>2023</a:t>
            </a:r>
            <a:r>
              <a:rPr lang="zh-CN" altLang="en-US" sz="180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rPr>
              <a:t>年申报科创板。</a:t>
            </a:r>
            <a:endParaRPr lang="en-US" altLang="zh-CN" sz="180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endParaRPr>
          </a:p>
        </p:txBody>
      </p:sp>
      <p:sp>
        <p:nvSpPr>
          <p:cNvPr id="4" name="灯片编号占位符 3"/>
          <p:cNvSpPr>
            <a:spLocks noGrp="1"/>
          </p:cNvSpPr>
          <p:nvPr>
            <p:ph type="sldNum" sz="quarter" idx="5"/>
          </p:nvPr>
        </p:nvSpPr>
        <p:spPr/>
        <p:txBody>
          <a:bodyPr/>
          <a:lstStyle/>
          <a:p>
            <a:fld id="{EDB296A9-64E8-4B0F-8A40-DB128CAA2C51}" type="slidenum">
              <a:rPr lang="zh-CN" altLang="en-US" smtClean="0"/>
              <a:t>3</a:t>
            </a:fld>
            <a:endParaRPr lang="zh-CN" altLang="en-US"/>
          </a:p>
        </p:txBody>
      </p:sp>
    </p:spTree>
    <p:extLst>
      <p:ext uri="{BB962C8B-B14F-4D97-AF65-F5344CB8AC3E}">
        <p14:creationId xmlns:p14="http://schemas.microsoft.com/office/powerpoint/2010/main" val="1905317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fontAlgn="base"/>
            <a:r>
              <a:rPr lang="zh-CN" altLang="zh-CN" sz="1800" dirty="0">
                <a:effectLst/>
                <a:latin typeface="宋体" panose="02010600030101010101" pitchFamily="2" charset="-122"/>
                <a:ea typeface="仿宋" panose="02010609060101010101" pitchFamily="49" charset="-122"/>
                <a:cs typeface="宋体" panose="02010600030101010101" pitchFamily="2" charset="-122"/>
              </a:rPr>
              <a:t>公司股东主要分为公司的高管团队</a:t>
            </a:r>
            <a:r>
              <a:rPr lang="zh-CN" altLang="en-US" sz="1800" dirty="0">
                <a:effectLst/>
                <a:latin typeface="宋体" panose="02010600030101010101" pitchFamily="2" charset="-122"/>
                <a:ea typeface="仿宋" panose="02010609060101010101" pitchFamily="49" charset="-122"/>
                <a:cs typeface="宋体" panose="02010600030101010101" pitchFamily="2" charset="-122"/>
              </a:rPr>
              <a:t>、员工持股，境内、境外持股平台都有。股权结构上，公司实际控制人是</a:t>
            </a:r>
            <a:r>
              <a:rPr lang="zh-CN" altLang="en-US" sz="1400" dirty="0">
                <a:latin typeface="仿宋" panose="02010609060101010101" pitchFamily="49" charset="-122"/>
                <a:ea typeface="仿宋" panose="02010609060101010101" pitchFamily="49" charset="-122"/>
              </a:rPr>
              <a:t>董事长张立业，</a:t>
            </a:r>
            <a:r>
              <a:rPr lang="zh-CN" altLang="en-US" sz="1800" dirty="0">
                <a:latin typeface="仿宋" panose="02010609060101010101" pitchFamily="49" charset="-122"/>
                <a:ea typeface="仿宋" panose="02010609060101010101" pitchFamily="49" charset="-122"/>
              </a:rPr>
              <a:t>合计控制大瞬科技</a:t>
            </a:r>
            <a:r>
              <a:rPr lang="en-US" altLang="zh-CN" sz="1800" b="1" kern="100" dirty="0">
                <a:effectLst/>
                <a:latin typeface="仿宋" panose="02010609060101010101" pitchFamily="49" charset="-122"/>
                <a:cs typeface="Times New Roman" panose="02020603050405020304" pitchFamily="18" charset="0"/>
              </a:rPr>
              <a:t>37.93%</a:t>
            </a:r>
            <a:r>
              <a:rPr lang="zh-CN" altLang="zh-CN" sz="1800" dirty="0">
                <a:latin typeface="仿宋" panose="02010609060101010101" pitchFamily="49" charset="-122"/>
                <a:ea typeface="仿宋" panose="02010609060101010101" pitchFamily="49" charset="-122"/>
              </a:rPr>
              <a:t>的股权</a:t>
            </a:r>
            <a:r>
              <a:rPr lang="zh-CN" altLang="en-US" sz="1800" dirty="0">
                <a:latin typeface="仿宋" panose="02010609060101010101" pitchFamily="49" charset="-122"/>
                <a:ea typeface="仿宋" panose="02010609060101010101" pitchFamily="49" charset="-122"/>
              </a:rPr>
              <a:t>。</a:t>
            </a:r>
            <a:endParaRPr lang="en-US" altLang="zh-CN" sz="1800" dirty="0">
              <a:latin typeface="仿宋" panose="02010609060101010101" pitchFamily="49" charset="-122"/>
              <a:ea typeface="仿宋" panose="02010609060101010101" pitchFamily="49" charset="-122"/>
            </a:endParaRPr>
          </a:p>
          <a:p>
            <a:pPr fontAlgn="base"/>
            <a:r>
              <a:rPr lang="zh-CN" altLang="en-US" sz="1800" dirty="0">
                <a:effectLst/>
                <a:latin typeface="仿宋" panose="02010609060101010101" pitchFamily="49" charset="-122"/>
                <a:ea typeface="仿宋" panose="02010609060101010101" pitchFamily="49" charset="-122"/>
                <a:cs typeface="宋体" panose="02010600030101010101" pitchFamily="2" charset="-122"/>
              </a:rPr>
              <a:t>董事长张立业今年</a:t>
            </a:r>
            <a:r>
              <a:rPr lang="en-US" altLang="zh-CN" sz="1800" dirty="0">
                <a:effectLst/>
                <a:latin typeface="仿宋" panose="02010609060101010101" pitchFamily="49" charset="-122"/>
                <a:ea typeface="仿宋" panose="02010609060101010101" pitchFamily="49" charset="-122"/>
                <a:cs typeface="宋体" panose="02010600030101010101" pitchFamily="2" charset="-122"/>
              </a:rPr>
              <a:t>62</a:t>
            </a:r>
            <a:r>
              <a:rPr lang="zh-CN" altLang="en-US" sz="1800" dirty="0">
                <a:effectLst/>
                <a:latin typeface="仿宋" panose="02010609060101010101" pitchFamily="49" charset="-122"/>
                <a:ea typeface="仿宋" panose="02010609060101010101" pitchFamily="49" charset="-122"/>
                <a:cs typeface="宋体" panose="02010600030101010101" pitchFamily="2" charset="-122"/>
              </a:rPr>
              <a:t>岁，</a:t>
            </a:r>
            <a:r>
              <a:rPr lang="en-US" altLang="zh-CN" sz="1800" kern="100" dirty="0">
                <a:effectLst/>
                <a:latin typeface="仿宋" panose="02010609060101010101" pitchFamily="49" charset="-122"/>
                <a:cs typeface="Times New Roman" panose="02020603050405020304" pitchFamily="18" charset="0"/>
              </a:rPr>
              <a:t>1982</a:t>
            </a:r>
            <a:r>
              <a:rPr lang="zh-CN" altLang="zh-CN" sz="1800" kern="100" dirty="0">
                <a:effectLst/>
                <a:ea typeface="仿宋" panose="02010609060101010101" pitchFamily="49" charset="-122"/>
                <a:cs typeface="Times New Roman" panose="02020603050405020304" pitchFamily="18" charset="0"/>
              </a:rPr>
              <a:t>年毕业于</a:t>
            </a:r>
            <a:r>
              <a:rPr lang="zh-CN" altLang="zh-CN" sz="1800" b="1" kern="100" dirty="0">
                <a:effectLst/>
                <a:ea typeface="仿宋" panose="02010609060101010101" pitchFamily="49" charset="-122"/>
                <a:cs typeface="Times New Roman" panose="02020603050405020304" pitchFamily="18" charset="0"/>
              </a:rPr>
              <a:t>台湾大学法律系</a:t>
            </a:r>
            <a:r>
              <a:rPr lang="zh-CN" altLang="en-US" sz="1800" b="1" kern="100" dirty="0">
                <a:effectLst/>
                <a:ea typeface="仿宋" panose="02010609060101010101" pitchFamily="49" charset="-122"/>
                <a:cs typeface="Times New Roman" panose="02020603050405020304" pitchFamily="18" charset="0"/>
              </a:rPr>
              <a:t>，从事知识产权法律业务</a:t>
            </a:r>
            <a:r>
              <a:rPr lang="en-US" altLang="zh-CN" sz="1800" b="1" kern="100" dirty="0">
                <a:effectLst/>
                <a:ea typeface="仿宋" panose="02010609060101010101" pitchFamily="49" charset="-122"/>
                <a:cs typeface="Times New Roman" panose="02020603050405020304" pitchFamily="18" charset="0"/>
              </a:rPr>
              <a:t>30</a:t>
            </a:r>
            <a:r>
              <a:rPr lang="zh-CN" altLang="en-US" sz="1800" b="1" kern="100" dirty="0">
                <a:effectLst/>
                <a:ea typeface="仿宋" panose="02010609060101010101" pitchFamily="49" charset="-122"/>
                <a:cs typeface="Times New Roman" panose="02020603050405020304" pitchFamily="18" charset="0"/>
              </a:rPr>
              <a:t>多年，</a:t>
            </a:r>
            <a:r>
              <a:rPr lang="zh-CN" altLang="zh-CN" sz="1800" b="1" kern="100" dirty="0">
                <a:effectLst/>
                <a:ea typeface="仿宋" panose="02010609060101010101" pitchFamily="49" charset="-122"/>
                <a:cs typeface="Times New Roman" panose="02020603050405020304" pitchFamily="18" charset="0"/>
              </a:rPr>
              <a:t>曾担任是</a:t>
            </a:r>
            <a:r>
              <a:rPr lang="en-US" altLang="zh-CN" sz="1800" b="1" kern="100" dirty="0">
                <a:effectLst/>
                <a:ea typeface="仿宋" panose="02010609060101010101" pitchFamily="49" charset="-122"/>
                <a:cs typeface="Times New Roman" panose="02020603050405020304" pitchFamily="18" charset="0"/>
              </a:rPr>
              <a:t>O2Micro</a:t>
            </a:r>
            <a:r>
              <a:rPr lang="zh-CN" altLang="zh-CN" sz="1800" b="1" kern="100" dirty="0">
                <a:effectLst/>
                <a:ea typeface="仿宋" panose="02010609060101010101" pitchFamily="49" charset="-122"/>
                <a:cs typeface="Times New Roman" panose="02020603050405020304" pitchFamily="18" charset="0"/>
              </a:rPr>
              <a:t>凹凸科技的常年法律顾问</a:t>
            </a:r>
            <a:r>
              <a:rPr lang="zh-CN" altLang="en-US" sz="1800" b="1" kern="100" dirty="0">
                <a:effectLst/>
                <a:ea typeface="仿宋" panose="02010609060101010101" pitchFamily="49" charset="-122"/>
                <a:cs typeface="Times New Roman" panose="02020603050405020304" pitchFamily="18" charset="0"/>
              </a:rPr>
              <a:t>。</a:t>
            </a:r>
            <a:endParaRPr lang="en-US" altLang="zh-CN" sz="1800" dirty="0">
              <a:effectLst/>
              <a:latin typeface="宋体" panose="02010600030101010101" pitchFamily="2" charset="-122"/>
              <a:ea typeface="仿宋" panose="02010609060101010101" pitchFamily="49" charset="-122"/>
              <a:cs typeface="宋体" panose="02010600030101010101" pitchFamily="2" charset="-122"/>
            </a:endParaRPr>
          </a:p>
          <a:p>
            <a:pPr fontAlgn="base"/>
            <a:r>
              <a:rPr lang="zh-CN" altLang="en-US" sz="1800" dirty="0">
                <a:effectLst/>
                <a:latin typeface="宋体" panose="02010600030101010101" pitchFamily="2" charset="-122"/>
                <a:ea typeface="仿宋" panose="02010609060101010101" pitchFamily="49" charset="-122"/>
                <a:cs typeface="宋体" panose="02010600030101010101" pitchFamily="2" charset="-122"/>
              </a:rPr>
              <a:t>和其他国内设计企业不同的是，公司目前现在阶段晶圆资源和客户资源较为稳定，产品也非常成熟并已经导入大客户进入量产阶段，本轮融资主要目的是业绩拉升需要晶圆备货资金的支持，另外在上市方面得到国内知名产业资本的资源支持。</a:t>
            </a:r>
            <a:endParaRPr lang="en-US" altLang="zh-CN" sz="1800" dirty="0">
              <a:effectLst/>
              <a:latin typeface="宋体" panose="02010600030101010101" pitchFamily="2" charset="-122"/>
              <a:ea typeface="仿宋" panose="02010609060101010101" pitchFamily="49" charset="-122"/>
              <a:cs typeface="宋体" panose="02010600030101010101" pitchFamily="2" charset="-122"/>
            </a:endParaRPr>
          </a:p>
          <a:p>
            <a:pPr fontAlgn="base"/>
            <a:r>
              <a:rPr lang="zh-CN" altLang="en-US" sz="1800" dirty="0">
                <a:effectLst/>
                <a:latin typeface="宋体" panose="02010600030101010101" pitchFamily="2" charset="-122"/>
                <a:ea typeface="仿宋" panose="02010609060101010101" pitchFamily="49" charset="-122"/>
                <a:cs typeface="宋体" panose="02010600030101010101" pitchFamily="2" charset="-122"/>
              </a:rPr>
              <a:t>总经理唐晓作为实际业务运营管理者，合计持有</a:t>
            </a:r>
            <a:r>
              <a:rPr lang="en-US" altLang="zh-CN" sz="1800" dirty="0">
                <a:solidFill>
                  <a:srgbClr val="222222"/>
                </a:solidFill>
                <a:effectLst/>
                <a:latin typeface="仿宋" panose="02010609060101010101" pitchFamily="49" charset="-122"/>
                <a:cs typeface="宋体" panose="02010600030101010101" pitchFamily="2" charset="-122"/>
              </a:rPr>
              <a:t>25.06%</a:t>
            </a:r>
            <a:r>
              <a:rPr lang="zh-CN" altLang="en-US" sz="1800" dirty="0">
                <a:solidFill>
                  <a:srgbClr val="222222"/>
                </a:solidFill>
                <a:effectLst/>
                <a:latin typeface="仿宋" panose="02010609060101010101" pitchFamily="49" charset="-122"/>
                <a:cs typeface="宋体" panose="02010600030101010101" pitchFamily="2" charset="-122"/>
              </a:rPr>
              <a:t>的股份；除了</a:t>
            </a:r>
            <a:r>
              <a:rPr lang="en-US" altLang="zh-CN" sz="1800" dirty="0">
                <a:solidFill>
                  <a:srgbClr val="222222"/>
                </a:solidFill>
                <a:effectLst/>
                <a:latin typeface="仿宋" panose="02010609060101010101" pitchFamily="49" charset="-122"/>
                <a:cs typeface="宋体" panose="02010600030101010101" pitchFamily="2" charset="-122"/>
              </a:rPr>
              <a:t>4</a:t>
            </a:r>
            <a:r>
              <a:rPr lang="zh-CN" altLang="en-US" sz="1800" dirty="0">
                <a:solidFill>
                  <a:srgbClr val="222222"/>
                </a:solidFill>
                <a:effectLst/>
                <a:latin typeface="仿宋" panose="02010609060101010101" pitchFamily="49" charset="-122"/>
                <a:cs typeface="宋体" panose="02010600030101010101" pitchFamily="2" charset="-122"/>
              </a:rPr>
              <a:t>个员工持股平台，合计持有</a:t>
            </a:r>
            <a:r>
              <a:rPr lang="en-US" altLang="zh-CN" sz="1800" dirty="0">
                <a:solidFill>
                  <a:srgbClr val="222222"/>
                </a:solidFill>
                <a:effectLst/>
                <a:latin typeface="仿宋" panose="02010609060101010101" pitchFamily="49" charset="-122"/>
                <a:cs typeface="宋体" panose="02010600030101010101" pitchFamily="2" charset="-122"/>
              </a:rPr>
              <a:t>20.20%</a:t>
            </a:r>
            <a:r>
              <a:rPr lang="zh-CN" altLang="en-US" sz="1800" dirty="0">
                <a:solidFill>
                  <a:srgbClr val="222222"/>
                </a:solidFill>
                <a:effectLst/>
                <a:latin typeface="仿宋" panose="02010609060101010101" pitchFamily="49" charset="-122"/>
                <a:cs typeface="宋体" panose="02010600030101010101" pitchFamily="2" charset="-122"/>
              </a:rPr>
              <a:t>，其余为公司高管持股平台；</a:t>
            </a:r>
            <a:endParaRPr lang="en-US" altLang="zh-CN" sz="1800" dirty="0">
              <a:effectLst/>
              <a:latin typeface="宋体" panose="02010600030101010101" pitchFamily="2" charset="-122"/>
              <a:ea typeface="仿宋" panose="02010609060101010101" pitchFamily="49" charset="-122"/>
              <a:cs typeface="宋体" panose="02010600030101010101" pitchFamily="2" charset="-122"/>
            </a:endParaRPr>
          </a:p>
        </p:txBody>
      </p:sp>
      <p:sp>
        <p:nvSpPr>
          <p:cNvPr id="4" name="灯片编号占位符 3"/>
          <p:cNvSpPr>
            <a:spLocks noGrp="1"/>
          </p:cNvSpPr>
          <p:nvPr>
            <p:ph type="sldNum" sz="quarter" idx="5"/>
          </p:nvPr>
        </p:nvSpPr>
        <p:spPr/>
        <p:txBody>
          <a:bodyPr/>
          <a:lstStyle/>
          <a:p>
            <a:fld id="{EDB296A9-64E8-4B0F-8A40-DB128CAA2C51}" type="slidenum">
              <a:rPr lang="zh-CN" altLang="en-US" smtClean="0"/>
              <a:t>4</a:t>
            </a:fld>
            <a:endParaRPr lang="zh-CN" altLang="en-US"/>
          </a:p>
        </p:txBody>
      </p:sp>
    </p:spTree>
    <p:extLst>
      <p:ext uri="{BB962C8B-B14F-4D97-AF65-F5344CB8AC3E}">
        <p14:creationId xmlns:p14="http://schemas.microsoft.com/office/powerpoint/2010/main" val="16708547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274320" algn="l" defTabSz="914400" rtl="0" eaLnBrk="1" fontAlgn="base" latinLnBrk="0" hangingPunct="1">
              <a:lnSpc>
                <a:spcPct val="150000"/>
              </a:lnSpc>
              <a:spcBef>
                <a:spcPts val="0"/>
              </a:spcBef>
              <a:spcAft>
                <a:spcPts val="0"/>
              </a:spcAft>
              <a:buClrTx/>
              <a:buSzTx/>
              <a:buFontTx/>
              <a:buNone/>
              <a:tabLst>
                <a:tab pos="457200" algn="l"/>
                <a:tab pos="914400" algn="l"/>
              </a:tabLst>
              <a:defRPr/>
            </a:pP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截至</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2021</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年</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4</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月</a:t>
            </a: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底</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，公司一共有</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70</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名员工，</a:t>
            </a:r>
            <a:r>
              <a:rPr lang="zh-CN" altLang="en-US" sz="1800" dirty="0">
                <a:latin typeface="仿宋" panose="02010609060101010101" pitchFamily="49" charset="-122"/>
                <a:ea typeface="仿宋" panose="02010609060101010101" pitchFamily="49" charset="-122"/>
              </a:rPr>
              <a:t>分布在上海、武汉、成都、深圳、平潭、香港</a:t>
            </a:r>
            <a:r>
              <a:rPr lang="en-US" altLang="zh-CN" sz="1800" dirty="0">
                <a:latin typeface="仿宋" panose="02010609060101010101" pitchFamily="49" charset="-122"/>
                <a:ea typeface="仿宋" panose="02010609060101010101" pitchFamily="49" charset="-122"/>
              </a:rPr>
              <a:t>6</a:t>
            </a:r>
            <a:r>
              <a:rPr lang="zh-CN" altLang="en-US" sz="1800" dirty="0">
                <a:latin typeface="仿宋" panose="02010609060101010101" pitchFamily="49" charset="-122"/>
                <a:ea typeface="仿宋" panose="02010609060101010101" pitchFamily="49" charset="-122"/>
              </a:rPr>
              <a:t>地</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a:t>
            </a:r>
            <a:r>
              <a:rPr lang="zh-CN" altLang="zh-CN" sz="1800" kern="100" dirty="0">
                <a:effectLst/>
                <a:latin typeface="Times New Roman" panose="02020603050405020304" pitchFamily="18" charset="0"/>
                <a:ea typeface="仿宋" panose="02010609060101010101" pitchFamily="49" charset="-122"/>
              </a:rPr>
              <a:t>其中上海</a:t>
            </a:r>
            <a:r>
              <a:rPr lang="en-US" altLang="zh-CN" sz="1800" kern="100" dirty="0">
                <a:effectLst/>
                <a:latin typeface="Times New Roman" panose="02020603050405020304" pitchFamily="18" charset="0"/>
                <a:ea typeface="仿宋" panose="02010609060101010101" pitchFamily="49" charset="-122"/>
              </a:rPr>
              <a:t>8</a:t>
            </a:r>
            <a:r>
              <a:rPr lang="zh-CN" altLang="zh-CN" sz="1800" kern="100" dirty="0">
                <a:effectLst/>
                <a:latin typeface="Times New Roman" panose="02020603050405020304" pitchFamily="18" charset="0"/>
                <a:ea typeface="仿宋" panose="02010609060101010101" pitchFamily="49" charset="-122"/>
              </a:rPr>
              <a:t>人、武汉</a:t>
            </a:r>
            <a:r>
              <a:rPr lang="en-US" altLang="zh-CN" sz="1800" kern="100" dirty="0">
                <a:effectLst/>
                <a:latin typeface="Times New Roman" panose="02020603050405020304" pitchFamily="18" charset="0"/>
                <a:ea typeface="仿宋" panose="02010609060101010101" pitchFamily="49" charset="-122"/>
              </a:rPr>
              <a:t>15</a:t>
            </a:r>
            <a:r>
              <a:rPr lang="zh-CN" altLang="zh-CN" sz="1800" kern="100" dirty="0">
                <a:effectLst/>
                <a:latin typeface="Times New Roman" panose="02020603050405020304" pitchFamily="18" charset="0"/>
                <a:ea typeface="仿宋" panose="02010609060101010101" pitchFamily="49" charset="-122"/>
              </a:rPr>
              <a:t>人、成都</a:t>
            </a:r>
            <a:r>
              <a:rPr lang="en-US" altLang="zh-CN" sz="1800" kern="100" dirty="0">
                <a:effectLst/>
                <a:latin typeface="Times New Roman" panose="02020603050405020304" pitchFamily="18" charset="0"/>
                <a:ea typeface="仿宋" panose="02010609060101010101" pitchFamily="49" charset="-122"/>
              </a:rPr>
              <a:t>29</a:t>
            </a:r>
            <a:r>
              <a:rPr lang="zh-CN" altLang="zh-CN" sz="1800" kern="100" dirty="0">
                <a:effectLst/>
                <a:latin typeface="Times New Roman" panose="02020603050405020304" pitchFamily="18" charset="0"/>
                <a:ea typeface="仿宋" panose="02010609060101010101" pitchFamily="49" charset="-122"/>
              </a:rPr>
              <a:t>人、深圳</a:t>
            </a:r>
            <a:r>
              <a:rPr lang="en-US" altLang="zh-CN" sz="1800" kern="100" dirty="0">
                <a:effectLst/>
                <a:latin typeface="Times New Roman" panose="02020603050405020304" pitchFamily="18" charset="0"/>
                <a:ea typeface="仿宋" panose="02010609060101010101" pitchFamily="49" charset="-122"/>
              </a:rPr>
              <a:t>17</a:t>
            </a:r>
            <a:r>
              <a:rPr lang="zh-CN" altLang="zh-CN" sz="1800" kern="100" dirty="0">
                <a:effectLst/>
                <a:latin typeface="Times New Roman" panose="02020603050405020304" pitchFamily="18" charset="0"/>
                <a:ea typeface="仿宋" panose="02010609060101010101" pitchFamily="49" charset="-122"/>
              </a:rPr>
              <a:t>人、平潭</a:t>
            </a:r>
            <a:r>
              <a:rPr lang="en-US" altLang="zh-CN" sz="1800" kern="100" dirty="0">
                <a:effectLst/>
                <a:latin typeface="Times New Roman" panose="02020603050405020304" pitchFamily="18" charset="0"/>
                <a:ea typeface="仿宋" panose="02010609060101010101" pitchFamily="49" charset="-122"/>
              </a:rPr>
              <a:t>5</a:t>
            </a:r>
            <a:r>
              <a:rPr lang="zh-CN" altLang="zh-CN" sz="1800" kern="100" dirty="0">
                <a:effectLst/>
                <a:latin typeface="Times New Roman" panose="02020603050405020304" pitchFamily="18" charset="0"/>
                <a:ea typeface="仿宋" panose="02010609060101010101" pitchFamily="49" charset="-122"/>
              </a:rPr>
              <a:t>人、香港</a:t>
            </a:r>
            <a:r>
              <a:rPr lang="en-US" altLang="zh-CN" sz="1800" kern="100" dirty="0">
                <a:effectLst/>
                <a:latin typeface="Times New Roman" panose="02020603050405020304" pitchFamily="18" charset="0"/>
                <a:ea typeface="仿宋" panose="02010609060101010101" pitchFamily="49" charset="-122"/>
              </a:rPr>
              <a:t>3</a:t>
            </a:r>
            <a:r>
              <a:rPr lang="zh-CN" altLang="zh-CN" sz="1800" kern="100" dirty="0">
                <a:effectLst/>
                <a:latin typeface="Times New Roman" panose="02020603050405020304" pitchFamily="18" charset="0"/>
                <a:ea typeface="仿宋" panose="02010609060101010101" pitchFamily="49" charset="-122"/>
              </a:rPr>
              <a:t>人。</a:t>
            </a:r>
            <a:endParaRPr lang="en-US" altLang="zh-CN" sz="1800" kern="100" dirty="0">
              <a:effectLst/>
              <a:latin typeface="Times New Roman" panose="02020603050405020304" pitchFamily="18" charset="0"/>
              <a:ea typeface="仿宋" panose="02010609060101010101" pitchFamily="49" charset="-122"/>
            </a:endParaRPr>
          </a:p>
          <a:p>
            <a:pPr marL="0" marR="0" lvl="0" indent="274320" algn="l" defTabSz="914400" rtl="0" eaLnBrk="1" fontAlgn="base" latinLnBrk="0" hangingPunct="1">
              <a:lnSpc>
                <a:spcPct val="150000"/>
              </a:lnSpc>
              <a:spcBef>
                <a:spcPts val="0"/>
              </a:spcBef>
              <a:spcAft>
                <a:spcPts val="0"/>
              </a:spcAft>
              <a:buClrTx/>
              <a:buSzTx/>
              <a:buFontTx/>
              <a:buNone/>
              <a:tabLst>
                <a:tab pos="457200" algn="l"/>
                <a:tab pos="914400" algn="l"/>
              </a:tabLst>
              <a:defRPr/>
            </a:pPr>
            <a:r>
              <a:rPr lang="zh-CN" altLang="en-US" sz="1800" kern="100" dirty="0">
                <a:effectLst/>
                <a:latin typeface="Times New Roman" panose="02020603050405020304" pitchFamily="18" charset="0"/>
                <a:ea typeface="仿宋" panose="02010609060101010101" pitchFamily="49" charset="-122"/>
              </a:rPr>
              <a:t>为了保持研发人才及团队的完整度，武汉和成都研发人员从凹凸科技出来之后就地组建研发中心，目前也是公司的主要研发力量。</a:t>
            </a:r>
            <a:endParaRPr lang="en-US" altLang="zh-CN" sz="1800" kern="100" dirty="0">
              <a:effectLst/>
              <a:latin typeface="Times New Roman" panose="02020603050405020304" pitchFamily="18" charset="0"/>
              <a:ea typeface="仿宋" panose="02010609060101010101" pitchFamily="49" charset="-122"/>
            </a:endParaRPr>
          </a:p>
          <a:p>
            <a:pPr marL="0" marR="0" lvl="0" indent="274320" algn="l" defTabSz="914400" rtl="0" eaLnBrk="1" fontAlgn="base" latinLnBrk="0" hangingPunct="1">
              <a:lnSpc>
                <a:spcPct val="150000"/>
              </a:lnSpc>
              <a:spcBef>
                <a:spcPts val="0"/>
              </a:spcBef>
              <a:spcAft>
                <a:spcPts val="0"/>
              </a:spcAft>
              <a:buClrTx/>
              <a:buSzTx/>
              <a:buFontTx/>
              <a:buNone/>
              <a:tabLst>
                <a:tab pos="457200" algn="l"/>
                <a:tab pos="914400" algn="l"/>
              </a:tabLst>
              <a:defRPr/>
            </a:pPr>
            <a:r>
              <a:rPr lang="zh-CN" altLang="en-US" sz="1800" kern="100" dirty="0">
                <a:effectLst/>
                <a:latin typeface="Times New Roman" panose="02020603050405020304" pitchFamily="18" charset="0"/>
                <a:ea typeface="仿宋" panose="02010609060101010101" pitchFamily="49" charset="-122"/>
                <a:cs typeface="宋体" panose="02010600030101010101" pitchFamily="2" charset="-122"/>
              </a:rPr>
              <a:t>公司</a:t>
            </a:r>
            <a:r>
              <a:rPr lang="zh-CN" altLang="zh-CN" sz="1800" kern="100" dirty="0">
                <a:effectLst/>
                <a:ea typeface="仿宋" panose="02010609060101010101" pitchFamily="49" charset="-122"/>
                <a:cs typeface="Times New Roman" panose="02020603050405020304" pitchFamily="18" charset="0"/>
              </a:rPr>
              <a:t>研发</a:t>
            </a:r>
            <a:r>
              <a:rPr lang="zh-CN" altLang="en-US" sz="1800" kern="100" dirty="0">
                <a:effectLst/>
                <a:ea typeface="仿宋" panose="02010609060101010101" pitchFamily="49" charset="-122"/>
                <a:cs typeface="Times New Roman" panose="02020603050405020304" pitchFamily="18" charset="0"/>
              </a:rPr>
              <a:t>部门人员</a:t>
            </a:r>
            <a:r>
              <a:rPr lang="en-US" altLang="zh-CN" sz="1800" kern="100" dirty="0">
                <a:effectLst/>
                <a:ea typeface="仿宋" panose="02010609060101010101" pitchFamily="49" charset="-122"/>
                <a:cs typeface="Times New Roman" panose="02020603050405020304" pitchFamily="18" charset="0"/>
              </a:rPr>
              <a:t>57</a:t>
            </a:r>
            <a:r>
              <a:rPr lang="zh-CN" altLang="zh-CN" sz="1800" kern="100" dirty="0">
                <a:effectLst/>
                <a:ea typeface="仿宋" panose="02010609060101010101" pitchFamily="49" charset="-122"/>
                <a:cs typeface="Times New Roman" panose="02020603050405020304" pitchFamily="18" charset="0"/>
              </a:rPr>
              <a:t>人</a:t>
            </a:r>
            <a:r>
              <a:rPr lang="zh-CN" altLang="en-US" sz="1800" kern="100" dirty="0">
                <a:effectLst/>
                <a:ea typeface="仿宋" panose="02010609060101010101" pitchFamily="49" charset="-122"/>
                <a:cs typeface="Times New Roman" panose="02020603050405020304" pitchFamily="18" charset="0"/>
              </a:rPr>
              <a:t>，占比</a:t>
            </a:r>
            <a:r>
              <a:rPr lang="en-US" altLang="zh-CN" sz="1800" kern="100" dirty="0">
                <a:effectLst/>
                <a:ea typeface="仿宋" panose="02010609060101010101" pitchFamily="49" charset="-122"/>
                <a:cs typeface="Times New Roman" panose="02020603050405020304" pitchFamily="18" charset="0"/>
              </a:rPr>
              <a:t>81%</a:t>
            </a:r>
            <a:r>
              <a:rPr lang="zh-CN" altLang="en-US" sz="1800" kern="100" dirty="0">
                <a:effectLst/>
                <a:ea typeface="仿宋" panose="02010609060101010101" pitchFamily="49" charset="-122"/>
                <a:cs typeface="Times New Roman" panose="02020603050405020304" pitchFamily="18" charset="0"/>
              </a:rPr>
              <a:t>，</a:t>
            </a:r>
            <a:r>
              <a:rPr lang="zh-CN" altLang="zh-CN" sz="1800" kern="100" dirty="0">
                <a:effectLst/>
                <a:ea typeface="仿宋" panose="02010609060101010101" pitchFamily="49" charset="-122"/>
                <a:cs typeface="Times New Roman" panose="02020603050405020304" pitchFamily="18" charset="0"/>
              </a:rPr>
              <a:t>其中硕士以上学历者占大多数</a:t>
            </a:r>
            <a:r>
              <a:rPr lang="zh-CN" altLang="en-US" sz="1800" kern="100" dirty="0">
                <a:effectLst/>
                <a:ea typeface="仿宋" panose="02010609060101010101" pitchFamily="49" charset="-122"/>
                <a:cs typeface="Times New Roman" panose="02020603050405020304" pitchFamily="18" charset="0"/>
              </a:rPr>
              <a:t>。</a:t>
            </a:r>
            <a:endParaRPr lang="en-US" altLang="zh-CN" sz="1800" kern="100" dirty="0">
              <a:effectLst/>
              <a:ea typeface="仿宋" panose="02010609060101010101" pitchFamily="49" charset="-122"/>
              <a:cs typeface="Times New Roman" panose="02020603050405020304" pitchFamily="18" charset="0"/>
            </a:endParaRPr>
          </a:p>
          <a:p>
            <a:pPr marL="0" marR="0" lvl="0" indent="274320" algn="l" defTabSz="914400" rtl="0" eaLnBrk="1" fontAlgn="base" latinLnBrk="0" hangingPunct="1">
              <a:lnSpc>
                <a:spcPct val="150000"/>
              </a:lnSpc>
              <a:spcBef>
                <a:spcPts val="0"/>
              </a:spcBef>
              <a:spcAft>
                <a:spcPts val="0"/>
              </a:spcAft>
              <a:buClrTx/>
              <a:buSzTx/>
              <a:buFontTx/>
              <a:buNone/>
              <a:tabLst>
                <a:tab pos="457200" algn="l"/>
                <a:tab pos="914400" algn="l"/>
              </a:tabLst>
              <a:defRPr/>
            </a:pPr>
            <a:r>
              <a:rPr lang="zh-CN" altLang="en-US" sz="1800" kern="100" dirty="0">
                <a:effectLst/>
                <a:latin typeface="仿宋" panose="02010609060101010101" pitchFamily="49" charset="-122"/>
                <a:ea typeface="仿宋" panose="02010609060101010101" pitchFamily="49" charset="-122"/>
                <a:cs typeface="Times New Roman" panose="02020603050405020304" pitchFamily="18" charset="0"/>
              </a:rPr>
              <a:t>后续我们进驻公司董事会之后，将和企业进行</a:t>
            </a:r>
            <a:r>
              <a:rPr lang="zh-CN" altLang="en-US" sz="1800" b="0" i="0" kern="1200" dirty="0">
                <a:solidFill>
                  <a:srgbClr val="333333"/>
                </a:solidFill>
                <a:effectLst/>
                <a:latin typeface="Arial" panose="020B0604020202020204" pitchFamily="34" charset="0"/>
                <a:ea typeface="仿宋" panose="02010609060101010101" pitchFamily="49" charset="-122"/>
                <a:cs typeface="Times New Roman" panose="02020603050405020304" pitchFamily="18" charset="0"/>
              </a:rPr>
              <a:t>临港、张家港等落地政策的宣传。</a:t>
            </a:r>
            <a:endParaRPr lang="zh-CN" altLang="en-US" dirty="0"/>
          </a:p>
        </p:txBody>
      </p:sp>
      <p:sp>
        <p:nvSpPr>
          <p:cNvPr id="4" name="灯片编号占位符 3"/>
          <p:cNvSpPr>
            <a:spLocks noGrp="1"/>
          </p:cNvSpPr>
          <p:nvPr>
            <p:ph type="sldNum" sz="quarter" idx="5"/>
          </p:nvPr>
        </p:nvSpPr>
        <p:spPr/>
        <p:txBody>
          <a:bodyPr/>
          <a:lstStyle/>
          <a:p>
            <a:fld id="{EDB296A9-64E8-4B0F-8A40-DB128CAA2C51}" type="slidenum">
              <a:rPr lang="zh-CN" altLang="en-US" smtClean="0"/>
              <a:t>5</a:t>
            </a:fld>
            <a:endParaRPr lang="zh-CN" altLang="en-US"/>
          </a:p>
        </p:txBody>
      </p:sp>
    </p:spTree>
    <p:extLst>
      <p:ext uri="{BB962C8B-B14F-4D97-AF65-F5344CB8AC3E}">
        <p14:creationId xmlns:p14="http://schemas.microsoft.com/office/powerpoint/2010/main" val="1066139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74320" fontAlgn="base">
              <a:lnSpc>
                <a:spcPct val="150000"/>
              </a:lnSpc>
              <a:tabLst>
                <a:tab pos="457200" algn="l"/>
                <a:tab pos="914400" algn="l"/>
              </a:tabLst>
            </a:pP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3</a:t>
            </a: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月在上海举办的</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2021</a:t>
            </a: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中国</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IC</a:t>
            </a: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领袖峰会上，公司</a:t>
            </a:r>
            <a:r>
              <a:rPr lang="zh-CN" altLang="zh-CN" sz="1800" dirty="0">
                <a:latin typeface="仿宋" panose="02010609060101010101" pitchFamily="49" charset="-122"/>
                <a:ea typeface="仿宋" panose="02010609060101010101" pitchFamily="49" charset="-122"/>
              </a:rPr>
              <a:t>荣获</a:t>
            </a:r>
            <a:r>
              <a:rPr lang="zh-CN" altLang="zh-CN" sz="1800" b="1" dirty="0">
                <a:latin typeface="仿宋" panose="02010609060101010101" pitchFamily="49" charset="-122"/>
                <a:ea typeface="仿宋" panose="02010609060101010101" pitchFamily="49" charset="-122"/>
              </a:rPr>
              <a:t>“年度中国潜力</a:t>
            </a:r>
            <a:r>
              <a:rPr lang="en-US" altLang="zh-CN" sz="1800" b="1" dirty="0">
                <a:latin typeface="仿宋" panose="02010609060101010101" pitchFamily="49" charset="-122"/>
                <a:ea typeface="仿宋" panose="02010609060101010101" pitchFamily="49" charset="-122"/>
              </a:rPr>
              <a:t>IC</a:t>
            </a:r>
            <a:r>
              <a:rPr lang="zh-CN" altLang="zh-CN" sz="1800" b="1" dirty="0">
                <a:latin typeface="仿宋" panose="02010609060101010101" pitchFamily="49" charset="-122"/>
                <a:ea typeface="仿宋" panose="02010609060101010101" pitchFamily="49" charset="-122"/>
              </a:rPr>
              <a:t>设计公司”中国</a:t>
            </a:r>
            <a:r>
              <a:rPr lang="en-US" altLang="zh-CN" sz="1800" b="1" dirty="0">
                <a:latin typeface="仿宋" panose="02010609060101010101" pitchFamily="49" charset="-122"/>
                <a:ea typeface="仿宋" panose="02010609060101010101" pitchFamily="49" charset="-122"/>
              </a:rPr>
              <a:t>IC</a:t>
            </a:r>
            <a:r>
              <a:rPr lang="zh-CN" altLang="zh-CN" sz="1800" b="1" dirty="0">
                <a:latin typeface="仿宋" panose="02010609060101010101" pitchFamily="49" charset="-122"/>
                <a:ea typeface="仿宋" panose="02010609060101010101" pitchFamily="49" charset="-122"/>
              </a:rPr>
              <a:t>设计成就奖</a:t>
            </a:r>
            <a:r>
              <a:rPr lang="zh-CN" altLang="en-US" sz="1800" b="1" dirty="0">
                <a:latin typeface="仿宋" panose="02010609060101010101" pitchFamily="49" charset="-122"/>
                <a:ea typeface="仿宋" panose="02010609060101010101" pitchFamily="49" charset="-122"/>
              </a:rPr>
              <a:t>。</a:t>
            </a:r>
            <a:endParaRPr lang="en-US" altLang="zh-CN" sz="1800" b="1" dirty="0">
              <a:latin typeface="仿宋" panose="02010609060101010101" pitchFamily="49" charset="-122"/>
              <a:ea typeface="仿宋" panose="02010609060101010101" pitchFamily="49" charset="-122"/>
            </a:endParaRPr>
          </a:p>
          <a:p>
            <a:pPr marL="0" marR="0" lvl="0" indent="274320" algn="l" defTabSz="914400" rtl="0" eaLnBrk="1" fontAlgn="base" latinLnBrk="0" hangingPunct="1">
              <a:lnSpc>
                <a:spcPct val="150000"/>
              </a:lnSpc>
              <a:spcBef>
                <a:spcPts val="0"/>
              </a:spcBef>
              <a:spcAft>
                <a:spcPts val="0"/>
              </a:spcAft>
              <a:buClrTx/>
              <a:buSzTx/>
              <a:buFontTx/>
              <a:buNone/>
              <a:tabLst>
                <a:tab pos="457200" algn="l"/>
                <a:tab pos="914400" algn="l"/>
              </a:tabLst>
              <a:defRPr/>
            </a:pPr>
            <a:r>
              <a:rPr lang="zh-CN" altLang="zh-CN" sz="1800" kern="100" dirty="0">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专利方面，</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公司拥有</a:t>
            </a:r>
            <a:r>
              <a:rPr lang="zh-CN" altLang="zh-CN" sz="1800" dirty="0">
                <a:latin typeface="仿宋" panose="02010609060101010101" pitchFamily="49" charset="-122"/>
                <a:ea typeface="仿宋" panose="02010609060101010101" pitchFamily="49" charset="-122"/>
              </a:rPr>
              <a:t>拥有</a:t>
            </a:r>
            <a:r>
              <a:rPr lang="en-US" altLang="zh-CN" sz="1800" dirty="0">
                <a:latin typeface="仿宋" panose="02010609060101010101" pitchFamily="49" charset="-122"/>
                <a:ea typeface="仿宋" panose="02010609060101010101" pitchFamily="49" charset="-122"/>
              </a:rPr>
              <a:t>14</a:t>
            </a:r>
            <a:r>
              <a:rPr lang="zh-CN" altLang="zh-CN" sz="1800" dirty="0">
                <a:latin typeface="仿宋" panose="02010609060101010101" pitchFamily="49" charset="-122"/>
                <a:ea typeface="仿宋" panose="02010609060101010101" pitchFamily="49" charset="-122"/>
              </a:rPr>
              <a:t>项专利，包括</a:t>
            </a:r>
            <a:r>
              <a:rPr lang="en-US" altLang="zh-CN" sz="1800" dirty="0">
                <a:latin typeface="仿宋" panose="02010609060101010101" pitchFamily="49" charset="-122"/>
                <a:ea typeface="仿宋" panose="02010609060101010101" pitchFamily="49" charset="-122"/>
              </a:rPr>
              <a:t>11</a:t>
            </a:r>
            <a:r>
              <a:rPr lang="zh-CN" altLang="zh-CN" sz="1800" dirty="0">
                <a:latin typeface="仿宋" panose="02010609060101010101" pitchFamily="49" charset="-122"/>
                <a:ea typeface="仿宋" panose="02010609060101010101" pitchFamily="49" charset="-122"/>
              </a:rPr>
              <a:t>项发明授权专利，</a:t>
            </a:r>
            <a:r>
              <a:rPr lang="en-US" altLang="zh-CN" sz="1800" dirty="0">
                <a:latin typeface="仿宋" panose="02010609060101010101" pitchFamily="49" charset="-122"/>
                <a:ea typeface="仿宋" panose="02010609060101010101" pitchFamily="49" charset="-122"/>
              </a:rPr>
              <a:t>3</a:t>
            </a:r>
            <a:r>
              <a:rPr lang="zh-CN" altLang="zh-CN" sz="1800" dirty="0">
                <a:latin typeface="仿宋" panose="02010609060101010101" pitchFamily="49" charset="-122"/>
                <a:ea typeface="仿宋" panose="02010609060101010101" pitchFamily="49" charset="-122"/>
              </a:rPr>
              <a:t>项发明公布专利，其中</a:t>
            </a:r>
            <a:r>
              <a:rPr lang="en-US" altLang="zh-CN" sz="1800" dirty="0">
                <a:latin typeface="仿宋" panose="02010609060101010101" pitchFamily="49" charset="-122"/>
                <a:ea typeface="仿宋" panose="02010609060101010101" pitchFamily="49" charset="-122"/>
              </a:rPr>
              <a:t>10</a:t>
            </a:r>
            <a:r>
              <a:rPr lang="zh-CN" altLang="zh-CN" sz="1800" dirty="0">
                <a:latin typeface="仿宋" panose="02010609060101010101" pitchFamily="49" charset="-122"/>
                <a:ea typeface="仿宋" panose="02010609060101010101" pitchFamily="49" charset="-122"/>
              </a:rPr>
              <a:t>个专利属地在中国，</a:t>
            </a:r>
            <a:r>
              <a:rPr lang="en-US" altLang="zh-CN" sz="1800" dirty="0">
                <a:latin typeface="仿宋" panose="02010609060101010101" pitchFamily="49" charset="-122"/>
                <a:ea typeface="仿宋" panose="02010609060101010101" pitchFamily="49" charset="-122"/>
              </a:rPr>
              <a:t>4</a:t>
            </a:r>
            <a:r>
              <a:rPr lang="zh-CN" altLang="zh-CN" sz="1800" dirty="0">
                <a:latin typeface="仿宋" panose="02010609060101010101" pitchFamily="49" charset="-122"/>
                <a:ea typeface="仿宋" panose="02010609060101010101" pitchFamily="49" charset="-122"/>
              </a:rPr>
              <a:t>个专利属地在美国。 </a:t>
            </a:r>
            <a:endParaRPr lang="en-US" altLang="zh-CN" sz="1800" dirty="0">
              <a:latin typeface="仿宋" panose="02010609060101010101" pitchFamily="49" charset="-122"/>
              <a:ea typeface="仿宋" panose="02010609060101010101" pitchFamily="49" charset="-122"/>
            </a:endParaRPr>
          </a:p>
          <a:p>
            <a:pPr indent="274320" fontAlgn="base">
              <a:lnSpc>
                <a:spcPct val="150000"/>
              </a:lnSpc>
              <a:tabLst>
                <a:tab pos="457200" algn="l"/>
                <a:tab pos="914400" algn="l"/>
              </a:tabLst>
            </a:pPr>
            <a:r>
              <a:rPr lang="zh-CN" altLang="zh-CN" sz="1800" dirty="0">
                <a:effectLst/>
                <a:latin typeface="宋体" panose="02010600030101010101" pitchFamily="2" charset="-122"/>
                <a:ea typeface="宋体" panose="02010600030101010101" pitchFamily="2" charset="-122"/>
                <a:cs typeface="宋体" panose="02010600030101010101" pitchFamily="2" charset="-122"/>
              </a:rPr>
              <a:t>公司</a:t>
            </a:r>
            <a:r>
              <a:rPr lang="zh-CN" altLang="en-US" sz="1800" dirty="0">
                <a:effectLst/>
                <a:latin typeface="宋体" panose="02010600030101010101" pitchFamily="2" charset="-122"/>
                <a:ea typeface="宋体" panose="02010600030101010101" pitchFamily="2" charset="-122"/>
                <a:cs typeface="宋体" panose="02010600030101010101" pitchFamily="2" charset="-122"/>
              </a:rPr>
              <a:t>拥有</a:t>
            </a:r>
            <a:r>
              <a:rPr lang="zh-CN" altLang="zh-CN" sz="1800" dirty="0">
                <a:latin typeface="仿宋" panose="02010609060101010101" pitchFamily="49" charset="-122"/>
                <a:ea typeface="仿宋" panose="02010609060101010101" pitchFamily="49" charset="-122"/>
              </a:rPr>
              <a:t>高电流技术、高效率降压变换、高精度电流控制等核心技术</a:t>
            </a:r>
            <a:r>
              <a:rPr lang="zh-CN" altLang="en-US" sz="1800" dirty="0">
                <a:effectLst/>
                <a:latin typeface="宋体" panose="02010600030101010101" pitchFamily="2" charset="-122"/>
                <a:ea typeface="宋体" panose="02010600030101010101" pitchFamily="2" charset="-122"/>
                <a:cs typeface="宋体" panose="02010600030101010101" pitchFamily="2" charset="-122"/>
              </a:rPr>
              <a:t>，</a:t>
            </a:r>
            <a:r>
              <a:rPr lang="en-US" altLang="zh-CN" sz="2000" b="1" u="sng" dirty="0">
                <a:latin typeface="仿宋" panose="02010609060101010101" pitchFamily="49" charset="-122"/>
                <a:ea typeface="仿宋" panose="02010609060101010101" pitchFamily="49" charset="-122"/>
              </a:rPr>
              <a:t>98%</a:t>
            </a:r>
            <a:r>
              <a:rPr lang="zh-CN" altLang="zh-CN" sz="2000" b="1" u="sng" dirty="0">
                <a:latin typeface="仿宋" panose="02010609060101010101" pitchFamily="49" charset="-122"/>
                <a:ea typeface="仿宋" panose="02010609060101010101" pitchFamily="49" charset="-122"/>
              </a:rPr>
              <a:t>极高</a:t>
            </a:r>
            <a:r>
              <a:rPr lang="zh-CN" altLang="zh-CN" sz="1800" b="1" u="sng" dirty="0">
                <a:latin typeface="仿宋" panose="02010609060101010101" pitchFamily="49" charset="-122"/>
                <a:ea typeface="仿宋" panose="02010609060101010101" pitchFamily="49" charset="-122"/>
              </a:rPr>
              <a:t>的转换效率</a:t>
            </a:r>
            <a:r>
              <a:rPr lang="zh-CN" altLang="en-US" sz="1800" dirty="0">
                <a:latin typeface="仿宋" panose="02010609060101010101" pitchFamily="49" charset="-122"/>
                <a:ea typeface="仿宋" panose="02010609060101010101" pitchFamily="49" charset="-122"/>
              </a:rPr>
              <a:t>的</a:t>
            </a:r>
            <a:r>
              <a:rPr lang="zh-CN" altLang="zh-CN" sz="1800" dirty="0">
                <a:latin typeface="仿宋" panose="02010609060101010101" pitchFamily="49" charset="-122"/>
                <a:ea typeface="仿宋" panose="02010609060101010101" pitchFamily="49" charset="-122"/>
              </a:rPr>
              <a:t>切换型架构</a:t>
            </a:r>
            <a:r>
              <a:rPr lang="en-US" altLang="zh-CN" sz="1800" dirty="0">
                <a:latin typeface="仿宋" panose="02010609060101010101" pitchFamily="49" charset="-122"/>
                <a:ea typeface="仿宋" panose="02010609060101010101" pitchFamily="49" charset="-122"/>
              </a:rPr>
              <a:t>Charge Pump</a:t>
            </a:r>
            <a:r>
              <a:rPr lang="zh-CN" altLang="zh-CN" sz="1800" dirty="0">
                <a:latin typeface="仿宋" panose="02010609060101010101" pitchFamily="49" charset="-122"/>
                <a:ea typeface="仿宋" panose="02010609060101010101" pitchFamily="49" charset="-122"/>
              </a:rPr>
              <a:t>芯片</a:t>
            </a:r>
            <a:r>
              <a:rPr lang="zh-CN" altLang="en-US" sz="1800" dirty="0">
                <a:latin typeface="仿宋" panose="02010609060101010101" pitchFamily="49" charset="-122"/>
                <a:ea typeface="仿宋" panose="02010609060101010101" pitchFamily="49" charset="-122"/>
              </a:rPr>
              <a:t>技术获得</a:t>
            </a:r>
            <a:r>
              <a:rPr lang="en-US" altLang="zh-CN" sz="1800" dirty="0">
                <a:latin typeface="仿宋" panose="02010609060101010101" pitchFamily="49" charset="-122"/>
                <a:ea typeface="仿宋" panose="02010609060101010101" pitchFamily="49" charset="-122"/>
              </a:rPr>
              <a:t>OPPO</a:t>
            </a:r>
            <a:r>
              <a:rPr lang="zh-CN" altLang="en-US" sz="1800" dirty="0">
                <a:latin typeface="仿宋" panose="02010609060101010101" pitchFamily="49" charset="-122"/>
                <a:ea typeface="仿宋" panose="02010609060101010101" pitchFamily="49" charset="-122"/>
              </a:rPr>
              <a:t>的认可并量产出货，也是目前可以大规模量产并于</a:t>
            </a:r>
            <a:r>
              <a:rPr lang="en-US" altLang="zh-CN" sz="1800" dirty="0">
                <a:latin typeface="仿宋" panose="02010609060101010101" pitchFamily="49" charset="-122"/>
                <a:ea typeface="仿宋" panose="02010609060101010101" pitchFamily="49" charset="-122"/>
              </a:rPr>
              <a:t>TI</a:t>
            </a:r>
            <a:r>
              <a:rPr lang="zh-CN" altLang="en-US" sz="1800" dirty="0">
                <a:latin typeface="仿宋" panose="02010609060101010101" pitchFamily="49" charset="-122"/>
                <a:ea typeface="仿宋" panose="02010609060101010101" pitchFamily="49" charset="-122"/>
              </a:rPr>
              <a:t>、</a:t>
            </a:r>
            <a:r>
              <a:rPr lang="en-US" altLang="zh-CN" sz="1800" dirty="0">
                <a:latin typeface="仿宋" panose="02010609060101010101" pitchFamily="49" charset="-122"/>
                <a:ea typeface="仿宋" panose="02010609060101010101" pitchFamily="49" charset="-122"/>
              </a:rPr>
              <a:t>dialog</a:t>
            </a:r>
            <a:r>
              <a:rPr lang="zh-CN" altLang="en-US" sz="1800" dirty="0">
                <a:latin typeface="仿宋" panose="02010609060101010101" pitchFamily="49" charset="-122"/>
                <a:ea typeface="仿宋" panose="02010609060101010101" pitchFamily="49" charset="-122"/>
              </a:rPr>
              <a:t>抗衡的全球仅有的</a:t>
            </a:r>
            <a:r>
              <a:rPr lang="en-US" altLang="zh-CN" sz="1800" dirty="0">
                <a:latin typeface="仿宋" panose="02010609060101010101" pitchFamily="49" charset="-122"/>
                <a:ea typeface="仿宋" panose="02010609060101010101" pitchFamily="49" charset="-122"/>
              </a:rPr>
              <a:t>3</a:t>
            </a:r>
            <a:r>
              <a:rPr lang="zh-CN" altLang="en-US" sz="1800" dirty="0">
                <a:latin typeface="仿宋" panose="02010609060101010101" pitchFamily="49" charset="-122"/>
                <a:ea typeface="仿宋" panose="02010609060101010101" pitchFamily="49" charset="-122"/>
              </a:rPr>
              <a:t>款芯片之一。</a:t>
            </a:r>
            <a:endParaRPr lang="en-US" altLang="zh-CN" sz="1800" dirty="0">
              <a:effectLst/>
              <a:latin typeface="宋体" panose="02010600030101010101" pitchFamily="2" charset="-122"/>
              <a:ea typeface="宋体" panose="02010600030101010101" pitchFamily="2" charset="-122"/>
              <a:cs typeface="宋体" panose="02010600030101010101" pitchFamily="2" charset="-122"/>
            </a:endParaRPr>
          </a:p>
          <a:p>
            <a:pPr indent="274320" fontAlgn="base">
              <a:lnSpc>
                <a:spcPct val="150000"/>
              </a:lnSpc>
              <a:tabLst>
                <a:tab pos="457200" algn="l"/>
                <a:tab pos="914400" algn="l"/>
              </a:tabLst>
            </a:pP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下面的电路图可以看到公司的</a:t>
            </a:r>
            <a:r>
              <a:rPr lang="en-US" altLang="zh-CN" sz="1800" dirty="0">
                <a:latin typeface="仿宋" panose="02010609060101010101" pitchFamily="49" charset="-122"/>
                <a:ea typeface="仿宋" panose="02010609060101010101" pitchFamily="49" charset="-122"/>
              </a:rPr>
              <a:t>Charge Pump</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芯片</a:t>
            </a: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版图极其紧凑，电容电路部分也清晰可见。我们也对该技术的门槛，访谈了几个业内专家，韦尔股份的电源团队</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2-3</a:t>
            </a: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年前打算开发电荷泵，打开电荷泵产品反向研究了几个月，放弃了。目前国内也没有其他团队能大规模量产出货。芯片采购晶圆级</a:t>
            </a:r>
            <a:r>
              <a:rPr lang="en-US" altLang="zh-CN" sz="2800" b="0" i="0" dirty="0">
                <a:solidFill>
                  <a:srgbClr val="F73131"/>
                </a:solidFill>
                <a:effectLst/>
                <a:latin typeface="Arial" panose="020B0604020202020204" pitchFamily="34" charset="0"/>
              </a:rPr>
              <a:t>WLCSP</a:t>
            </a:r>
            <a:r>
              <a:rPr lang="zh-CN" altLang="en-US" sz="2800" b="0" i="0" dirty="0">
                <a:solidFill>
                  <a:srgbClr val="F73131"/>
                </a:solidFill>
                <a:effectLst/>
                <a:latin typeface="Arial" panose="020B0604020202020204" pitchFamily="34" charset="0"/>
              </a:rPr>
              <a:t>封装，封装难度系数也比较高。</a:t>
            </a:r>
            <a:r>
              <a:rPr lang="en-US" altLang="zh-CN" sz="2800" b="0" i="0" dirty="0">
                <a:solidFill>
                  <a:srgbClr val="F73131"/>
                </a:solidFill>
                <a:effectLst/>
                <a:latin typeface="Arial" panose="020B0604020202020204" pitchFamily="34" charset="0"/>
              </a:rPr>
              <a:t>Die</a:t>
            </a:r>
            <a:r>
              <a:rPr lang="zh-CN" altLang="en-US" sz="2800" b="0" i="0" dirty="0">
                <a:solidFill>
                  <a:srgbClr val="F73131"/>
                </a:solidFill>
                <a:effectLst/>
                <a:latin typeface="Arial" panose="020B0604020202020204" pitchFamily="34" charset="0"/>
              </a:rPr>
              <a:t>很难缩小、封装成本也没有下降空间，未来</a:t>
            </a:r>
            <a:r>
              <a:rPr lang="en-US" altLang="zh-CN" sz="2800" b="0" i="0" dirty="0">
                <a:solidFill>
                  <a:srgbClr val="F73131"/>
                </a:solidFill>
                <a:effectLst/>
                <a:latin typeface="Arial" panose="020B0604020202020204" pitchFamily="34" charset="0"/>
              </a:rPr>
              <a:t>2-3</a:t>
            </a:r>
            <a:r>
              <a:rPr lang="zh-CN" altLang="en-US" sz="2800" b="0" i="0" dirty="0">
                <a:solidFill>
                  <a:srgbClr val="F73131"/>
                </a:solidFill>
                <a:effectLst/>
                <a:latin typeface="Arial" panose="020B0604020202020204" pitchFamily="34" charset="0"/>
              </a:rPr>
              <a:t>年不存在</a:t>
            </a:r>
            <a:r>
              <a:rPr lang="en-US" altLang="zh-CN" sz="2800" b="0" i="0" dirty="0">
                <a:solidFill>
                  <a:srgbClr val="F73131"/>
                </a:solidFill>
                <a:effectLst/>
                <a:latin typeface="Arial" panose="020B0604020202020204" pitchFamily="34" charset="0"/>
              </a:rPr>
              <a:t>cost-down</a:t>
            </a:r>
            <a:r>
              <a:rPr lang="zh-CN" altLang="en-US" sz="2800" b="0" i="0" dirty="0">
                <a:solidFill>
                  <a:srgbClr val="F73131"/>
                </a:solidFill>
                <a:effectLst/>
                <a:latin typeface="Arial" panose="020B0604020202020204" pitchFamily="34" charset="0"/>
              </a:rPr>
              <a:t>空间。</a:t>
            </a:r>
            <a:endPar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endParaRPr>
          </a:p>
          <a:p>
            <a:pPr indent="274320" fontAlgn="base">
              <a:lnSpc>
                <a:spcPct val="150000"/>
              </a:lnSpc>
              <a:tabLst>
                <a:tab pos="457200" algn="l"/>
                <a:tab pos="914400" algn="l"/>
              </a:tabLst>
            </a:pPr>
            <a:r>
              <a:rPr lang="zh-CN" altLang="en-US" sz="1800" b="0" i="0" u="none" strike="noStrike" baseline="0" dirty="0">
                <a:solidFill>
                  <a:srgbClr val="FFFFFF"/>
                </a:solidFill>
                <a:latin typeface="CIDFont+F1"/>
              </a:rPr>
              <a:t>高精密度电量计</a:t>
            </a:r>
            <a:r>
              <a:rPr lang="zh-CN" altLang="en-US" sz="1800" b="0" i="0" u="none" strike="noStrike" kern="1200" baseline="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也打破欧美垄断，全球领先的共享单车充电芯片的</a:t>
            </a:r>
            <a:r>
              <a:rPr lang="zh-CN" altLang="en-US" sz="1800" b="0" i="0" u="none" strike="noStrike" baseline="0" dirty="0">
                <a:solidFill>
                  <a:srgbClr val="FFFFFF"/>
                </a:solidFill>
                <a:latin typeface="CIDFont+F1"/>
              </a:rPr>
              <a:t>弱光充电性能也做到极致，产品在桥底暗光也能实现充电，受到客户的青睐，市占率在</a:t>
            </a:r>
            <a:r>
              <a:rPr lang="en-US" altLang="zh-CN" sz="1800" b="0" i="0" u="none" strike="noStrike" baseline="0" dirty="0">
                <a:solidFill>
                  <a:srgbClr val="FFFFFF"/>
                </a:solidFill>
                <a:latin typeface="CIDFont+F1"/>
              </a:rPr>
              <a:t>60%</a:t>
            </a:r>
            <a:r>
              <a:rPr lang="zh-CN" altLang="en-US" sz="1800" b="0" i="0" u="none" strike="noStrike" baseline="0" dirty="0">
                <a:solidFill>
                  <a:srgbClr val="FFFFFF"/>
                </a:solidFill>
                <a:latin typeface="CIDFont+F1"/>
              </a:rPr>
              <a:t>以上。</a:t>
            </a:r>
            <a:endParaRPr lang="zh-CN" altLang="en-US" dirty="0"/>
          </a:p>
        </p:txBody>
      </p:sp>
      <p:sp>
        <p:nvSpPr>
          <p:cNvPr id="4" name="灯片编号占位符 3"/>
          <p:cNvSpPr>
            <a:spLocks noGrp="1"/>
          </p:cNvSpPr>
          <p:nvPr>
            <p:ph type="sldNum" sz="quarter" idx="5"/>
          </p:nvPr>
        </p:nvSpPr>
        <p:spPr/>
        <p:txBody>
          <a:bodyPr/>
          <a:lstStyle/>
          <a:p>
            <a:fld id="{EDB296A9-64E8-4B0F-8A40-DB128CAA2C51}" type="slidenum">
              <a:rPr lang="zh-CN" altLang="en-US" smtClean="0"/>
              <a:t>6</a:t>
            </a:fld>
            <a:endParaRPr lang="zh-CN" altLang="en-US"/>
          </a:p>
        </p:txBody>
      </p:sp>
    </p:spTree>
    <p:extLst>
      <p:ext uri="{BB962C8B-B14F-4D97-AF65-F5344CB8AC3E}">
        <p14:creationId xmlns:p14="http://schemas.microsoft.com/office/powerpoint/2010/main" val="33810815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274320" algn="l" defTabSz="914400" rtl="0" eaLnBrk="1" fontAlgn="base" latinLnBrk="0" hangingPunct="1">
              <a:lnSpc>
                <a:spcPct val="150000"/>
              </a:lnSpc>
              <a:spcBef>
                <a:spcPts val="0"/>
              </a:spcBef>
              <a:spcAft>
                <a:spcPts val="0"/>
              </a:spcAft>
              <a:buClrTx/>
              <a:buSzTx/>
              <a:buFontTx/>
              <a:buNone/>
              <a:tabLst>
                <a:tab pos="457200" algn="l"/>
                <a:tab pos="914400" algn="l"/>
              </a:tabLst>
              <a:defRPr/>
            </a:pPr>
            <a:r>
              <a:rPr lang="zh-CN" altLang="en-US" sz="1800" b="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rPr>
              <a:t>董事长张立业，</a:t>
            </a:r>
            <a:r>
              <a:rPr lang="zh-CN" altLang="zh-CN" sz="1800" kern="100" dirty="0">
                <a:effectLst/>
                <a:latin typeface="仿宋" panose="02010609060101010101" pitchFamily="49" charset="-122"/>
                <a:ea typeface="仿宋" panose="02010609060101010101" pitchFamily="49" charset="-122"/>
                <a:cs typeface="Times New Roman" panose="02020603050405020304" pitchFamily="18" charset="0"/>
              </a:rPr>
              <a:t>毕业于</a:t>
            </a:r>
            <a:r>
              <a:rPr lang="zh-CN" altLang="zh-CN" sz="1800" b="1" kern="100" dirty="0">
                <a:effectLst/>
                <a:latin typeface="仿宋" panose="02010609060101010101" pitchFamily="49" charset="-122"/>
                <a:ea typeface="仿宋" panose="02010609060101010101" pitchFamily="49" charset="-122"/>
                <a:cs typeface="Times New Roman" panose="02020603050405020304" pitchFamily="18" charset="0"/>
              </a:rPr>
              <a:t>台湾大学法律系</a:t>
            </a:r>
            <a:r>
              <a:rPr lang="zh-CN" altLang="zh-CN" sz="1800" kern="100" dirty="0">
                <a:effectLst/>
                <a:latin typeface="仿宋" panose="02010609060101010101" pitchFamily="49" charset="-122"/>
                <a:ea typeface="仿宋" panose="02010609060101010101" pitchFamily="49" charset="-122"/>
                <a:cs typeface="Times New Roman" panose="02020603050405020304" pitchFamily="18" charset="0"/>
              </a:rPr>
              <a:t>，</a:t>
            </a:r>
            <a:r>
              <a:rPr lang="en-US" altLang="zh-CN" sz="1800" kern="100" dirty="0">
                <a:effectLst/>
                <a:latin typeface="仿宋" panose="02010609060101010101" pitchFamily="49" charset="-122"/>
                <a:ea typeface="仿宋" panose="02010609060101010101" pitchFamily="49" charset="-122"/>
                <a:cs typeface="Times New Roman" panose="02020603050405020304" pitchFamily="18" charset="0"/>
              </a:rPr>
              <a:t>1988</a:t>
            </a:r>
            <a:r>
              <a:rPr lang="zh-CN" altLang="zh-CN" sz="1800" kern="100" dirty="0">
                <a:effectLst/>
                <a:latin typeface="仿宋" panose="02010609060101010101" pitchFamily="49" charset="-122"/>
                <a:ea typeface="仿宋" panose="02010609060101010101" pitchFamily="49" charset="-122"/>
                <a:cs typeface="Times New Roman" panose="02020603050405020304" pitchFamily="18" charset="0"/>
              </a:rPr>
              <a:t>年至今担任台湾地区</a:t>
            </a:r>
            <a:r>
              <a:rPr lang="zh-CN" altLang="en-US" sz="1800" kern="100" dirty="0">
                <a:effectLst/>
                <a:latin typeface="仿宋" panose="02010609060101010101" pitchFamily="49" charset="-122"/>
                <a:ea typeface="仿宋" panose="02010609060101010101" pitchFamily="49" charset="-122"/>
                <a:cs typeface="Times New Roman" panose="02020603050405020304" pitchFamily="18" charset="0"/>
              </a:rPr>
              <a:t>电子、半导体等行业知识产权</a:t>
            </a:r>
            <a:r>
              <a:rPr lang="zh-CN" altLang="zh-CN" sz="1800" kern="100" dirty="0">
                <a:effectLst/>
                <a:latin typeface="仿宋" panose="02010609060101010101" pitchFamily="49" charset="-122"/>
                <a:ea typeface="仿宋" panose="02010609060101010101" pitchFamily="49" charset="-122"/>
                <a:cs typeface="Times New Roman" panose="02020603050405020304" pitchFamily="18" charset="0"/>
              </a:rPr>
              <a:t>执业律师</a:t>
            </a:r>
            <a:r>
              <a:rPr lang="zh-CN" altLang="en-US" sz="1800" kern="100" dirty="0">
                <a:effectLst/>
                <a:latin typeface="仿宋" panose="02010609060101010101" pitchFamily="49" charset="-122"/>
                <a:ea typeface="仿宋" panose="02010609060101010101" pitchFamily="49" charset="-122"/>
                <a:cs typeface="Times New Roman" panose="02020603050405020304" pitchFamily="18" charset="0"/>
              </a:rPr>
              <a:t>，曾长期担任</a:t>
            </a:r>
            <a:r>
              <a:rPr lang="en-US" altLang="zh-CN" sz="1800" b="1" kern="100" dirty="0">
                <a:effectLst/>
                <a:latin typeface="仿宋" panose="02010609060101010101" pitchFamily="49" charset="-122"/>
                <a:ea typeface="仿宋" panose="02010609060101010101" pitchFamily="49" charset="-122"/>
                <a:cs typeface="Times New Roman" panose="02020603050405020304" pitchFamily="18" charset="0"/>
              </a:rPr>
              <a:t>O2Micro</a:t>
            </a:r>
            <a:r>
              <a:rPr lang="zh-CN" altLang="zh-CN" sz="1800" b="1" kern="100" dirty="0">
                <a:effectLst/>
                <a:latin typeface="仿宋" panose="02010609060101010101" pitchFamily="49" charset="-122"/>
                <a:ea typeface="仿宋" panose="02010609060101010101" pitchFamily="49" charset="-122"/>
                <a:cs typeface="Times New Roman" panose="02020603050405020304" pitchFamily="18" charset="0"/>
              </a:rPr>
              <a:t>凹凸科技的常年法律顾问</a:t>
            </a:r>
            <a:r>
              <a:rPr lang="zh-CN" altLang="en-US" sz="1800" dirty="0">
                <a:latin typeface="仿宋" panose="02010609060101010101" pitchFamily="49" charset="-122"/>
                <a:ea typeface="仿宋" panose="02010609060101010101" pitchFamily="49" charset="-122"/>
              </a:rPr>
              <a:t>，在台湾半导体圈和政商界比较有资源，根据访谈和调研，台积电的</a:t>
            </a:r>
            <a:r>
              <a:rPr lang="zh-CN" altLang="zh-CN" sz="1800" dirty="0">
                <a:effectLst/>
                <a:ea typeface="楷体" panose="02010609060101010101" pitchFamily="49" charset="-122"/>
                <a:cs typeface="Times New Roman" panose="02020603050405020304" pitchFamily="18" charset="0"/>
              </a:rPr>
              <a:t>副法务长</a:t>
            </a:r>
            <a:r>
              <a:rPr lang="zh-CN" altLang="en-US" sz="1800" dirty="0">
                <a:effectLst/>
                <a:ea typeface="楷体" panose="02010609060101010101" pitchFamily="49" charset="-122"/>
                <a:cs typeface="Times New Roman" panose="02020603050405020304" pitchFamily="18" charset="0"/>
              </a:rPr>
              <a:t>是关系很好大学同学、</a:t>
            </a:r>
            <a:r>
              <a:rPr lang="en-US" altLang="zh-CN" sz="1800" dirty="0">
                <a:effectLst/>
                <a:ea typeface="楷体" panose="02010609060101010101" pitchFamily="49" charset="-122"/>
                <a:cs typeface="Times New Roman" panose="02020603050405020304" pitchFamily="18" charset="0"/>
              </a:rPr>
              <a:t>UMC</a:t>
            </a:r>
            <a:r>
              <a:rPr lang="zh-CN" altLang="en-US" sz="1800" dirty="0">
                <a:effectLst/>
                <a:ea typeface="楷体" panose="02010609060101010101" pitchFamily="49" charset="-122"/>
                <a:cs typeface="Times New Roman" panose="02020603050405020304" pitchFamily="18" charset="0"/>
              </a:rPr>
              <a:t>联电高层私教很好。</a:t>
            </a:r>
            <a:r>
              <a:rPr lang="zh-CN" altLang="en-US" sz="1800" dirty="0">
                <a:latin typeface="仿宋" panose="02010609060101010101" pitchFamily="49" charset="-122"/>
                <a:ea typeface="仿宋" panose="02010609060101010101" pitchFamily="49" charset="-122"/>
              </a:rPr>
              <a:t>在大瞬承接</a:t>
            </a:r>
            <a:r>
              <a:rPr lang="zh-CN" altLang="zh-CN" sz="1800" b="1" kern="100" dirty="0">
                <a:effectLst/>
                <a:latin typeface="Times New Roman" panose="02020603050405020304" pitchFamily="18" charset="0"/>
                <a:ea typeface="仿宋" panose="02010609060101010101" pitchFamily="49" charset="-122"/>
              </a:rPr>
              <a:t>上市公司产品线业务剥离时做了详细的规划和谨慎专业的处理，还在产能和资金上给予北京大瞬实际业务运营的支持</a:t>
            </a:r>
            <a:r>
              <a:rPr lang="zh-CN" altLang="zh-CN" sz="1800" kern="100" dirty="0">
                <a:effectLst/>
                <a:latin typeface="Times New Roman" panose="02020603050405020304" pitchFamily="18" charset="0"/>
                <a:ea typeface="仿宋" panose="02010609060101010101" pitchFamily="49" charset="-122"/>
              </a:rPr>
              <a:t>。</a:t>
            </a:r>
            <a:endParaRPr lang="en-US" altLang="zh-CN" sz="1800" b="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endParaRPr>
          </a:p>
          <a:p>
            <a:pPr indent="274320" fontAlgn="base">
              <a:lnSpc>
                <a:spcPct val="150000"/>
              </a:lnSpc>
              <a:tabLst>
                <a:tab pos="457200" algn="l"/>
                <a:tab pos="914400" algn="l"/>
              </a:tabLst>
            </a:pPr>
            <a:r>
              <a:rPr lang="zh-CN" altLang="zh-CN" sz="1800" b="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rPr>
              <a:t>公司的总经理</a:t>
            </a:r>
            <a:r>
              <a:rPr lang="zh-CN" altLang="en-US" sz="1800" b="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rPr>
              <a:t>唐晓</a:t>
            </a:r>
            <a:r>
              <a:rPr lang="zh-CN" altLang="zh-CN" sz="1800" b="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rPr>
              <a:t>，</a:t>
            </a:r>
            <a:r>
              <a:rPr lang="zh-CN" altLang="en-US" sz="1800" b="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rPr>
              <a:t>任职于凹凸科技</a:t>
            </a:r>
            <a:r>
              <a:rPr lang="en-US" altLang="zh-CN" sz="1800" b="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rPr>
              <a:t>15</a:t>
            </a:r>
            <a:r>
              <a:rPr lang="zh-CN" altLang="en-US" sz="1800" b="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rPr>
              <a:t>年时间，并曾担任</a:t>
            </a:r>
            <a:r>
              <a:rPr lang="zh-CN" altLang="zh-CN" sz="1800" b="0" kern="100" dirty="0">
                <a:latin typeface="Times New Roman" panose="02020603050405020304" pitchFamily="18" charset="0"/>
                <a:ea typeface="仿宋" panose="02010609060101010101" pitchFamily="49" charset="-122"/>
              </a:rPr>
              <a:t>凹凸科技中国公司总经理</a:t>
            </a:r>
            <a:r>
              <a:rPr lang="zh-CN" altLang="en-US" sz="1800" b="0" kern="100" dirty="0">
                <a:latin typeface="Times New Roman" panose="02020603050405020304" pitchFamily="18" charset="0"/>
                <a:ea typeface="仿宋" panose="02010609060101010101" pitchFamily="49" charset="-122"/>
              </a:rPr>
              <a:t>；在公司治理、财务、法务等具有丰富的经验。离开凹凸之前，担任手机产品线的经理。</a:t>
            </a:r>
            <a:endParaRPr lang="en-US" altLang="zh-CN" sz="1800" b="0" kern="100" dirty="0">
              <a:latin typeface="Times New Roman" panose="02020603050405020304" pitchFamily="18" charset="0"/>
              <a:ea typeface="仿宋" panose="02010609060101010101" pitchFamily="49" charset="-122"/>
            </a:endParaRPr>
          </a:p>
          <a:p>
            <a:pPr marL="0" marR="0" lvl="0" indent="274320" algn="l" defTabSz="914400" rtl="0" eaLnBrk="1" fontAlgn="base" latinLnBrk="0" hangingPunct="1">
              <a:lnSpc>
                <a:spcPct val="150000"/>
              </a:lnSpc>
              <a:spcBef>
                <a:spcPts val="0"/>
              </a:spcBef>
              <a:spcAft>
                <a:spcPts val="0"/>
              </a:spcAft>
              <a:buClrTx/>
              <a:buSzTx/>
              <a:buFontTx/>
              <a:buNone/>
              <a:tabLst>
                <a:tab pos="457200" algn="l"/>
                <a:tab pos="914400" algn="l"/>
              </a:tabLst>
              <a:defRPr/>
            </a:pPr>
            <a:r>
              <a:rPr lang="zh-CN" altLang="en-US" sz="1800" b="1" dirty="0">
                <a:solidFill>
                  <a:srgbClr val="C00000"/>
                </a:solidFill>
                <a:latin typeface="仿宋" panose="02010609060101010101" pitchFamily="49" charset="-122"/>
                <a:ea typeface="仿宋" panose="02010609060101010101" pitchFamily="49" charset="-122"/>
              </a:rPr>
              <a:t>公司</a:t>
            </a:r>
            <a:r>
              <a:rPr lang="en-US" altLang="zh-CN" sz="1800" b="1" dirty="0">
                <a:solidFill>
                  <a:srgbClr val="C00000"/>
                </a:solidFill>
                <a:latin typeface="仿宋" panose="02010609060101010101" pitchFamily="49" charset="-122"/>
                <a:ea typeface="仿宋" panose="02010609060101010101" pitchFamily="49" charset="-122"/>
              </a:rPr>
              <a:t>CTO</a:t>
            </a:r>
            <a:r>
              <a:rPr lang="zh-CN" altLang="zh-CN" sz="1800" b="1" dirty="0">
                <a:solidFill>
                  <a:srgbClr val="C00000"/>
                </a:solidFill>
                <a:latin typeface="仿宋" panose="02010609060101010101" pitchFamily="49" charset="-122"/>
                <a:ea typeface="仿宋" panose="02010609060101010101" pitchFamily="49" charset="-122"/>
              </a:rPr>
              <a:t>陈</a:t>
            </a:r>
            <a:r>
              <a:rPr lang="zh-CN" altLang="en-US" sz="1800" b="1" dirty="0">
                <a:solidFill>
                  <a:srgbClr val="C00000"/>
                </a:solidFill>
                <a:latin typeface="仿宋" panose="02010609060101010101" pitchFamily="49" charset="-122"/>
                <a:ea typeface="仿宋" panose="02010609060101010101" pitchFamily="49" charset="-122"/>
              </a:rPr>
              <a:t>之翔，研发</a:t>
            </a:r>
            <a:r>
              <a:rPr lang="en-US" altLang="zh-CN" sz="1800" b="1" dirty="0">
                <a:solidFill>
                  <a:srgbClr val="C00000"/>
                </a:solidFill>
                <a:latin typeface="仿宋" panose="02010609060101010101" pitchFamily="49" charset="-122"/>
                <a:ea typeface="仿宋" panose="02010609060101010101" pitchFamily="49" charset="-122"/>
              </a:rPr>
              <a:t>VP</a:t>
            </a:r>
            <a:r>
              <a:rPr lang="zh-CN" altLang="en-US" sz="1800" b="1" dirty="0">
                <a:solidFill>
                  <a:srgbClr val="C00000"/>
                </a:solidFill>
                <a:latin typeface="仿宋" panose="02010609060101010101" pitchFamily="49" charset="-122"/>
                <a:ea typeface="仿宋" panose="02010609060101010101" pitchFamily="49" charset="-122"/>
              </a:rPr>
              <a:t>，</a:t>
            </a:r>
            <a:r>
              <a:rPr lang="zh-CN" altLang="zh-CN" sz="1800" kern="100" dirty="0">
                <a:latin typeface="仿宋" panose="02010609060101010101" pitchFamily="49" charset="-122"/>
                <a:ea typeface="仿宋" panose="02010609060101010101" pitchFamily="49" charset="-122"/>
              </a:rPr>
              <a:t>毕业于美国德州大学电子硕士</a:t>
            </a:r>
            <a:r>
              <a:rPr lang="zh-CN" altLang="en-US" sz="1800" kern="100" dirty="0">
                <a:latin typeface="仿宋" panose="02010609060101010101" pitchFamily="49" charset="-122"/>
                <a:ea typeface="仿宋" panose="02010609060101010101" pitchFamily="49" charset="-122"/>
              </a:rPr>
              <a:t>，</a:t>
            </a:r>
            <a:r>
              <a:rPr lang="zh-CN" altLang="zh-CN" sz="1800" kern="100" dirty="0">
                <a:latin typeface="Times New Roman" panose="02020603050405020304" pitchFamily="18" charset="0"/>
                <a:ea typeface="仿宋" panose="02010609060101010101" pitchFamily="49" charset="-122"/>
              </a:rPr>
              <a:t>在半导体设计以及工程领域拥有</a:t>
            </a:r>
            <a:r>
              <a:rPr lang="en-US" altLang="zh-CN" sz="1800" kern="100" dirty="0">
                <a:latin typeface="Times New Roman" panose="02020603050405020304" pitchFamily="18" charset="0"/>
                <a:ea typeface="仿宋" panose="02010609060101010101" pitchFamily="49" charset="-122"/>
              </a:rPr>
              <a:t>35</a:t>
            </a:r>
            <a:r>
              <a:rPr lang="zh-CN" altLang="zh-CN" sz="1800" kern="100" dirty="0">
                <a:latin typeface="Times New Roman" panose="02020603050405020304" pitchFamily="18" charset="0"/>
                <a:ea typeface="仿宋" panose="02010609060101010101" pitchFamily="49" charset="-122"/>
              </a:rPr>
              <a:t>年以上的经验</a:t>
            </a:r>
            <a:r>
              <a:rPr lang="zh-CN" altLang="en-US" sz="1800" kern="100" dirty="0">
                <a:latin typeface="Times New Roman" panose="02020603050405020304" pitchFamily="18" charset="0"/>
                <a:ea typeface="仿宋" panose="02010609060101010101" pitchFamily="49" charset="-122"/>
              </a:rPr>
              <a:t>，在</a:t>
            </a:r>
            <a:r>
              <a:rPr lang="zh-CN" altLang="zh-CN" sz="1800" kern="100" dirty="0">
                <a:latin typeface="仿宋" panose="02010609060101010101" pitchFamily="49" charset="-122"/>
                <a:ea typeface="仿宋" panose="02010609060101010101" pitchFamily="49" charset="-122"/>
              </a:rPr>
              <a:t>英飞凌</a:t>
            </a:r>
            <a:r>
              <a:rPr lang="zh-CN" altLang="en-US" sz="1800" kern="100" dirty="0">
                <a:latin typeface="仿宋" panose="02010609060101010101" pitchFamily="49" charset="-122"/>
                <a:ea typeface="仿宋" panose="02010609060101010101" pitchFamily="49" charset="-122"/>
              </a:rPr>
              <a:t>、</a:t>
            </a:r>
            <a:r>
              <a:rPr lang="en-US" altLang="zh-CN" sz="1800" kern="100" dirty="0">
                <a:latin typeface="仿宋" panose="02010609060101010101" pitchFamily="49" charset="-122"/>
                <a:ea typeface="仿宋" panose="02010609060101010101" pitchFamily="49" charset="-122"/>
              </a:rPr>
              <a:t>CISCO</a:t>
            </a:r>
            <a:r>
              <a:rPr lang="zh-CN" altLang="zh-CN" sz="1800" kern="100" dirty="0">
                <a:latin typeface="仿宋" panose="02010609060101010101" pitchFamily="49" charset="-122"/>
                <a:ea typeface="仿宋" panose="02010609060101010101" pitchFamily="49" charset="-122"/>
              </a:rPr>
              <a:t>、</a:t>
            </a:r>
            <a:r>
              <a:rPr lang="en-US" altLang="zh-CN" sz="1800" kern="100" dirty="0">
                <a:latin typeface="仿宋" panose="02010609060101010101" pitchFamily="49" charset="-122"/>
                <a:ea typeface="仿宋" panose="02010609060101010101" pitchFamily="49" charset="-122"/>
              </a:rPr>
              <a:t>S3</a:t>
            </a:r>
            <a:r>
              <a:rPr lang="zh-CN" altLang="en-US" sz="1800" kern="100" dirty="0">
                <a:latin typeface="仿宋" panose="02010609060101010101" pitchFamily="49" charset="-122"/>
                <a:ea typeface="仿宋" panose="02010609060101010101" pitchFamily="49" charset="-122"/>
              </a:rPr>
              <a:t>、</a:t>
            </a:r>
            <a:r>
              <a:rPr lang="en-US" altLang="zh-CN" sz="1800" kern="100" dirty="0">
                <a:latin typeface="仿宋" panose="02010609060101010101" pitchFamily="49" charset="-122"/>
                <a:ea typeface="仿宋" panose="02010609060101010101" pitchFamily="49" charset="-122"/>
              </a:rPr>
              <a:t>LSI</a:t>
            </a:r>
            <a:r>
              <a:rPr lang="zh-CN" altLang="zh-CN" sz="1800" kern="100" dirty="0">
                <a:latin typeface="仿宋" panose="02010609060101010101" pitchFamily="49" charset="-122"/>
                <a:ea typeface="仿宋" panose="02010609060101010101" pitchFamily="49" charset="-122"/>
              </a:rPr>
              <a:t>等科技公司</a:t>
            </a:r>
            <a:r>
              <a:rPr lang="zh-CN" altLang="en-US" sz="1800" kern="100" dirty="0">
                <a:latin typeface="仿宋" panose="02010609060101010101" pitchFamily="49" charset="-122"/>
                <a:ea typeface="仿宋" panose="02010609060101010101" pitchFamily="49" charset="-122"/>
              </a:rPr>
              <a:t>从事</a:t>
            </a:r>
            <a:r>
              <a:rPr lang="zh-CN" altLang="zh-CN" sz="1800" kern="100" dirty="0">
                <a:latin typeface="仿宋" panose="02010609060101010101" pitchFamily="49" charset="-122"/>
                <a:ea typeface="仿宋" panose="02010609060101010101" pitchFamily="49" charset="-122"/>
              </a:rPr>
              <a:t>模拟混合信号芯片设计和系统研发</a:t>
            </a:r>
            <a:r>
              <a:rPr lang="zh-CN" altLang="en-US" sz="1800" kern="100" dirty="0">
                <a:latin typeface="仿宋" panose="02010609060101010101" pitchFamily="49" charset="-122"/>
                <a:ea typeface="仿宋" panose="02010609060101010101" pitchFamily="49" charset="-122"/>
              </a:rPr>
              <a:t>，也</a:t>
            </a:r>
            <a:r>
              <a:rPr lang="zh-CN" altLang="en-US" sz="1800" kern="100" dirty="0">
                <a:latin typeface="Times New Roman" panose="02020603050405020304" pitchFamily="18" charset="0"/>
                <a:ea typeface="仿宋" panose="02010609060101010101" pitchFamily="49" charset="-122"/>
              </a:rPr>
              <a:t>曾担任凹凸科技的</a:t>
            </a:r>
            <a:r>
              <a:rPr lang="en-US" altLang="zh-CN" sz="1800" kern="100" dirty="0">
                <a:latin typeface="Times New Roman" panose="02020603050405020304" pitchFamily="18" charset="0"/>
                <a:ea typeface="仿宋" panose="02010609060101010101" pitchFamily="49" charset="-122"/>
              </a:rPr>
              <a:t>CTO</a:t>
            </a:r>
            <a:r>
              <a:rPr lang="zh-CN" altLang="en-US" sz="1800" kern="100" dirty="0">
                <a:latin typeface="Times New Roman" panose="02020603050405020304" pitchFamily="18" charset="0"/>
                <a:ea typeface="仿宋" panose="02010609060101010101" pitchFamily="49" charset="-122"/>
              </a:rPr>
              <a:t>，</a:t>
            </a:r>
            <a:r>
              <a:rPr lang="zh-CN" altLang="zh-CN" sz="1800" kern="100" dirty="0">
                <a:latin typeface="Times New Roman" panose="02020603050405020304" pitchFamily="18" charset="0"/>
                <a:ea typeface="仿宋" panose="02010609060101010101" pitchFamily="49" charset="-122"/>
              </a:rPr>
              <a:t>拥有数个国际专利</a:t>
            </a:r>
            <a:r>
              <a:rPr lang="zh-CN" altLang="en-US" sz="1800" kern="100" dirty="0">
                <a:latin typeface="Times New Roman" panose="02020603050405020304" pitchFamily="18" charset="0"/>
                <a:ea typeface="仿宋" panose="02010609060101010101" pitchFamily="49" charset="-122"/>
              </a:rPr>
              <a:t>。目前</a:t>
            </a:r>
            <a:r>
              <a:rPr lang="zh-CN" altLang="zh-CN" sz="1800" b="1" dirty="0">
                <a:effectLst/>
                <a:ea typeface="楷体" panose="02010609060101010101" pitchFamily="49" charset="-122"/>
                <a:cs typeface="Times New Roman" panose="02020603050405020304" pitchFamily="18" charset="0"/>
              </a:rPr>
              <a:t>重要</a:t>
            </a:r>
            <a:r>
              <a:rPr lang="zh-CN" altLang="en-US" sz="1800" b="1" dirty="0">
                <a:effectLst/>
                <a:ea typeface="楷体" panose="02010609060101010101" pitchFamily="49" charset="-122"/>
                <a:cs typeface="Times New Roman" panose="02020603050405020304" pitchFamily="18" charset="0"/>
              </a:rPr>
              <a:t>的</a:t>
            </a:r>
            <a:r>
              <a:rPr lang="zh-CN" altLang="zh-CN" sz="1800" b="1" dirty="0">
                <a:effectLst/>
                <a:ea typeface="楷体" panose="02010609060101010101" pitchFamily="49" charset="-122"/>
                <a:cs typeface="Times New Roman" panose="02020603050405020304" pitchFamily="18" charset="0"/>
              </a:rPr>
              <a:t>职责</a:t>
            </a:r>
            <a:r>
              <a:rPr lang="zh-CN" altLang="en-US" sz="1800" dirty="0">
                <a:effectLst/>
                <a:ea typeface="楷体" panose="02010609060101010101" pitchFamily="49" charset="-122"/>
                <a:cs typeface="Times New Roman" panose="02020603050405020304" pitchFamily="18" charset="0"/>
              </a:rPr>
              <a:t>是，</a:t>
            </a:r>
            <a:r>
              <a:rPr lang="zh-CN" altLang="zh-CN" sz="1800" b="1" dirty="0">
                <a:effectLst/>
                <a:ea typeface="楷体" panose="02010609060101010101" pitchFamily="49" charset="-122"/>
                <a:cs typeface="Times New Roman" panose="02020603050405020304" pitchFamily="18" charset="0"/>
              </a:rPr>
              <a:t>在前沿技术上，成为大瞬的引擎，根据产品定义、找到对的合适</a:t>
            </a:r>
            <a:r>
              <a:rPr lang="en-US" altLang="zh-CN" sz="1800" b="1" dirty="0">
                <a:effectLst/>
                <a:ea typeface="楷体" panose="02010609060101010101" pitchFamily="49" charset="-122"/>
                <a:cs typeface="Times New Roman" panose="02020603050405020304" pitchFamily="18" charset="0"/>
              </a:rPr>
              <a:t>Foundry</a:t>
            </a:r>
            <a:r>
              <a:rPr lang="zh-CN" altLang="zh-CN" sz="1800" b="1" dirty="0">
                <a:effectLst/>
                <a:ea typeface="楷体" panose="02010609060101010101" pitchFamily="49" charset="-122"/>
                <a:cs typeface="Times New Roman" panose="02020603050405020304" pitchFamily="18" charset="0"/>
              </a:rPr>
              <a:t>和前沿技术</a:t>
            </a:r>
            <a:r>
              <a:rPr lang="zh-CN" altLang="en-US" sz="1800" b="1" dirty="0">
                <a:effectLst/>
                <a:ea typeface="楷体" panose="02010609060101010101" pitchFamily="49" charset="-122"/>
                <a:cs typeface="Times New Roman" panose="02020603050405020304" pitchFamily="18" charset="0"/>
              </a:rPr>
              <a:t>路线</a:t>
            </a:r>
            <a:r>
              <a:rPr lang="zh-CN" altLang="zh-CN" sz="1800" b="1" dirty="0">
                <a:effectLst/>
                <a:ea typeface="楷体" panose="02010609060101010101" pitchFamily="49" charset="-122"/>
                <a:cs typeface="Times New Roman" panose="02020603050405020304" pitchFamily="18" charset="0"/>
              </a:rPr>
              <a:t>，把事情做对</a:t>
            </a:r>
            <a:r>
              <a:rPr lang="zh-CN" altLang="en-US" sz="1800" b="1" dirty="0">
                <a:effectLst/>
                <a:ea typeface="楷体" panose="02010609060101010101" pitchFamily="49" charset="-122"/>
                <a:cs typeface="Times New Roman" panose="02020603050405020304" pitchFamily="18" charset="0"/>
              </a:rPr>
              <a:t>做快。</a:t>
            </a:r>
            <a:endParaRPr lang="en-US" altLang="zh-CN" sz="1800" b="0" kern="100" dirty="0">
              <a:latin typeface="Times New Roman" panose="02020603050405020304" pitchFamily="18" charset="0"/>
              <a:ea typeface="仿宋" panose="02010609060101010101" pitchFamily="49" charset="-122"/>
            </a:endParaRPr>
          </a:p>
          <a:p>
            <a:pPr indent="274320" fontAlgn="base">
              <a:lnSpc>
                <a:spcPct val="150000"/>
              </a:lnSpc>
              <a:tabLst>
                <a:tab pos="457200" algn="l"/>
                <a:tab pos="914400" algn="l"/>
              </a:tabLst>
            </a:pPr>
            <a:r>
              <a:rPr lang="zh-CN" altLang="en-US" sz="1800" b="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rPr>
              <a:t>公司的轮值主席刘志国，负责公司的电源产品线研发。在凹凸科技任职</a:t>
            </a:r>
            <a:r>
              <a:rPr lang="en-US" altLang="zh-CN" sz="1800" b="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rPr>
              <a:t>15</a:t>
            </a:r>
            <a:r>
              <a:rPr lang="zh-CN" altLang="en-US" sz="1800" b="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rPr>
              <a:t>年时间，</a:t>
            </a:r>
            <a:r>
              <a:rPr lang="zh-CN" altLang="zh-CN" sz="1800" kern="100" dirty="0">
                <a:latin typeface="Times New Roman" panose="02020603050405020304" pitchFamily="18" charset="0"/>
                <a:ea typeface="仿宋" panose="02010609060101010101" pitchFamily="49" charset="-122"/>
              </a:rPr>
              <a:t>先后担任电源芯片产品的研发及测试工程师、研发经理、副总经理等职位，成功主导公司业界第一款直通充电方案并在</a:t>
            </a:r>
            <a:r>
              <a:rPr lang="en-US" altLang="zh-CN" sz="1800" kern="100" dirty="0">
                <a:latin typeface="Times New Roman" panose="02020603050405020304" pitchFamily="18" charset="0"/>
                <a:ea typeface="仿宋" panose="02010609060101010101" pitchFamily="49" charset="-122"/>
              </a:rPr>
              <a:t>DELL</a:t>
            </a:r>
            <a:r>
              <a:rPr lang="zh-CN" altLang="zh-CN" sz="1800" kern="100" dirty="0">
                <a:latin typeface="Times New Roman" panose="02020603050405020304" pitchFamily="18" charset="0"/>
                <a:ea typeface="仿宋" panose="02010609060101010101" pitchFamily="49" charset="-122"/>
              </a:rPr>
              <a:t>笔记本电脑量产，并领导团队研发业界领先的太阳能充电芯片（在共享单车领域占有率接近</a:t>
            </a:r>
            <a:r>
              <a:rPr lang="en-US" altLang="zh-CN" sz="1800" kern="100" dirty="0">
                <a:latin typeface="Times New Roman" panose="02020603050405020304" pitchFamily="18" charset="0"/>
                <a:ea typeface="仿宋" panose="02010609060101010101" pitchFamily="49" charset="-122"/>
              </a:rPr>
              <a:t>7</a:t>
            </a:r>
            <a:r>
              <a:rPr lang="zh-CN" altLang="zh-CN" sz="1800" kern="100" dirty="0">
                <a:latin typeface="Times New Roman" panose="02020603050405020304" pitchFamily="18" charset="0"/>
                <a:ea typeface="仿宋" panose="02010609060101010101" pitchFamily="49" charset="-122"/>
              </a:rPr>
              <a:t>成）。在芯片设计工程、高压低压电池管理和</a:t>
            </a:r>
            <a:r>
              <a:rPr lang="en-US" altLang="zh-CN" sz="1800" kern="100" dirty="0">
                <a:latin typeface="Times New Roman" panose="02020603050405020304" pitchFamily="18" charset="0"/>
                <a:ea typeface="仿宋" panose="02010609060101010101" pitchFamily="49" charset="-122"/>
              </a:rPr>
              <a:t>CPU DC/DC</a:t>
            </a:r>
            <a:r>
              <a:rPr lang="zh-CN" altLang="zh-CN" sz="1800" kern="100" dirty="0">
                <a:latin typeface="Times New Roman" panose="02020603050405020304" pitchFamily="18" charset="0"/>
                <a:ea typeface="仿宋" panose="02010609060101010101" pitchFamily="49" charset="-122"/>
              </a:rPr>
              <a:t>架构设计方面拥有多项世界专利</a:t>
            </a:r>
            <a:r>
              <a:rPr lang="zh-CN" altLang="en-US" sz="1800" kern="100" dirty="0">
                <a:latin typeface="Times New Roman" panose="02020603050405020304" pitchFamily="18" charset="0"/>
                <a:ea typeface="仿宋" panose="02010609060101010101" pitchFamily="49" charset="-122"/>
              </a:rPr>
              <a:t>。</a:t>
            </a:r>
            <a:endParaRPr lang="en-US" altLang="zh-CN" sz="1800" b="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endParaRPr>
          </a:p>
          <a:p>
            <a:pPr indent="274320" fontAlgn="base">
              <a:lnSpc>
                <a:spcPct val="150000"/>
              </a:lnSpc>
              <a:tabLst>
                <a:tab pos="457200" algn="l"/>
                <a:tab pos="914400" algn="l"/>
              </a:tabLst>
            </a:pPr>
            <a:r>
              <a:rPr lang="zh-CN" altLang="en-US" sz="1800" b="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rPr>
              <a:t>台湾的</a:t>
            </a:r>
            <a:r>
              <a:rPr lang="zh-CN" altLang="zh-CN" sz="1800" b="1" dirty="0">
                <a:solidFill>
                  <a:srgbClr val="C00000"/>
                </a:solidFill>
                <a:latin typeface="仿宋" panose="02010609060101010101" pitchFamily="49" charset="-122"/>
                <a:ea typeface="仿宋" panose="02010609060101010101" pitchFamily="49" charset="-122"/>
              </a:rPr>
              <a:t>黄浩程</a:t>
            </a:r>
            <a:r>
              <a:rPr lang="zh-CN" altLang="en-US" sz="1800" b="1" dirty="0">
                <a:solidFill>
                  <a:srgbClr val="C00000"/>
                </a:solidFill>
                <a:latin typeface="仿宋" panose="02010609060101010101" pitchFamily="49" charset="-122"/>
                <a:ea typeface="仿宋" panose="02010609060101010101" pitchFamily="49" charset="-122"/>
              </a:rPr>
              <a:t>，任职于凹凸科技近</a:t>
            </a:r>
            <a:r>
              <a:rPr lang="en-US" altLang="zh-CN" sz="1800" b="1" dirty="0">
                <a:solidFill>
                  <a:srgbClr val="C00000"/>
                </a:solidFill>
                <a:latin typeface="仿宋" panose="02010609060101010101" pitchFamily="49" charset="-122"/>
                <a:ea typeface="仿宋" panose="02010609060101010101" pitchFamily="49" charset="-122"/>
              </a:rPr>
              <a:t>17</a:t>
            </a:r>
            <a:r>
              <a:rPr lang="zh-CN" altLang="en-US" sz="1800" b="1" dirty="0">
                <a:solidFill>
                  <a:srgbClr val="C00000"/>
                </a:solidFill>
                <a:latin typeface="仿宋" panose="02010609060101010101" pitchFamily="49" charset="-122"/>
                <a:ea typeface="仿宋" panose="02010609060101010101" pitchFamily="49" charset="-122"/>
              </a:rPr>
              <a:t>年时间，曾担任</a:t>
            </a:r>
            <a:r>
              <a:rPr lang="en-US" altLang="zh-CN" sz="1800" b="1" kern="100" dirty="0">
                <a:effectLst/>
                <a:latin typeface="Times New Roman" panose="02020603050405020304" pitchFamily="18" charset="0"/>
                <a:ea typeface="仿宋" panose="02010609060101010101" pitchFamily="49" charset="-122"/>
              </a:rPr>
              <a:t>O2Micro </a:t>
            </a:r>
            <a:r>
              <a:rPr lang="zh-CN" altLang="en-US" sz="1800" b="1" kern="100" dirty="0">
                <a:effectLst/>
                <a:latin typeface="Times New Roman" panose="02020603050405020304" pitchFamily="18" charset="0"/>
                <a:ea typeface="仿宋" panose="02010609060101010101" pitchFamily="49" charset="-122"/>
              </a:rPr>
              <a:t>电源</a:t>
            </a:r>
            <a:r>
              <a:rPr lang="zh-CN" altLang="zh-CN" sz="1800" b="1" kern="100" dirty="0">
                <a:effectLst/>
                <a:latin typeface="Times New Roman" panose="02020603050405020304" pitchFamily="18" charset="0"/>
                <a:ea typeface="仿宋" panose="02010609060101010101" pitchFamily="49" charset="-122"/>
              </a:rPr>
              <a:t>事业部技术总监</a:t>
            </a:r>
            <a:r>
              <a:rPr lang="zh-CN" altLang="en-US" sz="1800" b="1" kern="100" dirty="0">
                <a:effectLst/>
                <a:latin typeface="Times New Roman" panose="02020603050405020304" pitchFamily="18" charset="0"/>
                <a:ea typeface="仿宋" panose="02010609060101010101" pitchFamily="49" charset="-122"/>
              </a:rPr>
              <a:t>，</a:t>
            </a:r>
            <a:r>
              <a:rPr lang="zh-CN" altLang="zh-CN" sz="1800" kern="100" dirty="0">
                <a:effectLst/>
                <a:latin typeface="Times New Roman" panose="02020603050405020304" pitchFamily="18" charset="0"/>
                <a:ea typeface="仿宋" panose="02010609060101010101" pitchFamily="49" charset="-122"/>
              </a:rPr>
              <a:t>具有</a:t>
            </a:r>
            <a:r>
              <a:rPr lang="en-US" altLang="zh-CN" sz="1800" b="1" kern="100" dirty="0">
                <a:effectLst/>
                <a:latin typeface="Times New Roman" panose="02020603050405020304" pitchFamily="18" charset="0"/>
                <a:ea typeface="仿宋" panose="02010609060101010101" pitchFamily="49" charset="-122"/>
              </a:rPr>
              <a:t>21</a:t>
            </a:r>
            <a:r>
              <a:rPr lang="zh-CN" altLang="zh-CN" sz="1800" b="1" kern="100" dirty="0">
                <a:effectLst/>
                <a:latin typeface="Times New Roman" panose="02020603050405020304" pitchFamily="18" charset="0"/>
                <a:ea typeface="仿宋" panose="02010609060101010101" pitchFamily="49" charset="-122"/>
              </a:rPr>
              <a:t>年的电源管理芯片</a:t>
            </a:r>
            <a:r>
              <a:rPr lang="zh-CN" altLang="zh-CN" sz="1800" kern="100" dirty="0">
                <a:effectLst/>
                <a:latin typeface="Times New Roman" panose="02020603050405020304" pitchFamily="18" charset="0"/>
                <a:ea typeface="仿宋" panose="02010609060101010101" pitchFamily="49" charset="-122"/>
              </a:rPr>
              <a:t>的定义、研发、测试及量产经验</a:t>
            </a:r>
            <a:r>
              <a:rPr lang="zh-CN" altLang="en-US" sz="1800" kern="100" dirty="0">
                <a:effectLst/>
                <a:latin typeface="Times New Roman" panose="02020603050405020304" pitchFamily="18" charset="0"/>
                <a:ea typeface="仿宋" panose="02010609060101010101" pitchFamily="49" charset="-122"/>
              </a:rPr>
              <a:t>，在量产、品控上有独到见解，</a:t>
            </a:r>
            <a:r>
              <a:rPr lang="zh-CN" altLang="zh-CN" sz="1800" b="1" kern="100" dirty="0">
                <a:effectLst/>
                <a:latin typeface="Times New Roman" panose="02020603050405020304" pitchFamily="18" charset="0"/>
                <a:ea typeface="仿宋" panose="02010609060101010101" pitchFamily="49" charset="-122"/>
              </a:rPr>
              <a:t>数十颗芯片成功热销案例</a:t>
            </a:r>
            <a:r>
              <a:rPr lang="zh-CN" altLang="en-US" sz="1800" b="1" kern="100" dirty="0">
                <a:effectLst/>
                <a:latin typeface="Times New Roman" panose="02020603050405020304" pitchFamily="18" charset="0"/>
                <a:ea typeface="仿宋" panose="02010609060101010101" pitchFamily="49" charset="-122"/>
              </a:rPr>
              <a:t>，</a:t>
            </a:r>
            <a:r>
              <a:rPr lang="zh-CN" altLang="zh-CN" sz="1800" b="1" kern="100" dirty="0">
                <a:effectLst/>
                <a:latin typeface="Times New Roman" panose="02020603050405020304" pitchFamily="18" charset="0"/>
                <a:ea typeface="仿宋" panose="02010609060101010101" pitchFamily="49" charset="-122"/>
              </a:rPr>
              <a:t>拥有多项电源管理</a:t>
            </a:r>
            <a:r>
              <a:rPr lang="en-US" altLang="zh-CN" sz="1800" b="1" kern="100" dirty="0">
                <a:effectLst/>
                <a:latin typeface="Times New Roman" panose="02020603050405020304" pitchFamily="18" charset="0"/>
                <a:ea typeface="仿宋" panose="02010609060101010101" pitchFamily="49" charset="-122"/>
              </a:rPr>
              <a:t>IC</a:t>
            </a:r>
            <a:r>
              <a:rPr lang="zh-CN" altLang="zh-CN" sz="1800" b="1" kern="100" dirty="0">
                <a:effectLst/>
                <a:latin typeface="Times New Roman" panose="02020603050405020304" pitchFamily="18" charset="0"/>
                <a:ea typeface="仿宋" panose="02010609060101010101" pitchFamily="49" charset="-122"/>
              </a:rPr>
              <a:t>国内外专利</a:t>
            </a:r>
            <a:r>
              <a:rPr lang="zh-CN" altLang="en-US" sz="1800" b="1" kern="100" dirty="0">
                <a:effectLst/>
                <a:latin typeface="Times New Roman" panose="02020603050405020304" pitchFamily="18" charset="0"/>
                <a:ea typeface="仿宋" panose="02010609060101010101" pitchFamily="49" charset="-122"/>
              </a:rPr>
              <a:t>。</a:t>
            </a:r>
            <a:endParaRPr lang="en-US" altLang="zh-CN" sz="1800" b="1" kern="100" dirty="0">
              <a:effectLst/>
              <a:latin typeface="Times New Roman" panose="02020603050405020304" pitchFamily="18" charset="0"/>
              <a:ea typeface="仿宋" panose="02010609060101010101" pitchFamily="49" charset="-122"/>
            </a:endParaRPr>
          </a:p>
          <a:p>
            <a:pPr indent="274320" fontAlgn="base">
              <a:lnSpc>
                <a:spcPct val="150000"/>
              </a:lnSpc>
              <a:tabLst>
                <a:tab pos="457200" algn="l"/>
                <a:tab pos="914400" algn="l"/>
              </a:tabLst>
            </a:pPr>
            <a:r>
              <a:rPr lang="zh-CN" altLang="en-US" sz="1800" b="1" kern="100" dirty="0">
                <a:solidFill>
                  <a:srgbClr val="C00000"/>
                </a:solidFill>
                <a:effectLst/>
                <a:latin typeface="Times New Roman" panose="02020603050405020304" pitchFamily="18" charset="0"/>
                <a:ea typeface="仿宋" panose="02010609060101010101" pitchFamily="49" charset="-122"/>
                <a:cs typeface="Times New Roman" panose="02020603050405020304" pitchFamily="18" charset="0"/>
              </a:rPr>
              <a:t>单车事业部负责人</a:t>
            </a:r>
            <a:r>
              <a:rPr lang="zh-CN" altLang="zh-CN" sz="1800" b="1" dirty="0">
                <a:solidFill>
                  <a:srgbClr val="C00000"/>
                </a:solidFill>
                <a:latin typeface="仿宋" panose="02010609060101010101" pitchFamily="49" charset="-122"/>
                <a:ea typeface="仿宋" panose="02010609060101010101" pitchFamily="49" charset="-122"/>
              </a:rPr>
              <a:t>李雅婷</a:t>
            </a:r>
            <a:r>
              <a:rPr lang="zh-CN" altLang="en-US" sz="1800" b="1" dirty="0">
                <a:solidFill>
                  <a:srgbClr val="C00000"/>
                </a:solidFill>
                <a:latin typeface="仿宋" panose="02010609060101010101" pitchFamily="49" charset="-122"/>
                <a:ea typeface="仿宋" panose="02010609060101010101" pitchFamily="49" charset="-122"/>
              </a:rPr>
              <a:t>，任职凹凸</a:t>
            </a:r>
            <a:r>
              <a:rPr lang="en-US" altLang="zh-CN" sz="1800" b="1" dirty="0">
                <a:solidFill>
                  <a:srgbClr val="C00000"/>
                </a:solidFill>
                <a:latin typeface="仿宋" panose="02010609060101010101" pitchFamily="49" charset="-122"/>
                <a:ea typeface="仿宋" panose="02010609060101010101" pitchFamily="49" charset="-122"/>
              </a:rPr>
              <a:t>11</a:t>
            </a:r>
            <a:r>
              <a:rPr lang="zh-CN" altLang="en-US" sz="1800" b="1" dirty="0">
                <a:solidFill>
                  <a:srgbClr val="C00000"/>
                </a:solidFill>
                <a:latin typeface="仿宋" panose="02010609060101010101" pitchFamily="49" charset="-122"/>
                <a:ea typeface="仿宋" panose="02010609060101010101" pitchFamily="49" charset="-122"/>
              </a:rPr>
              <a:t>年时间，项目开发经验丰富，曾获得</a:t>
            </a:r>
            <a:r>
              <a:rPr lang="zh-CN" altLang="zh-CN" sz="1800" b="1" kern="100" dirty="0">
                <a:latin typeface="Times New Roman" panose="02020603050405020304" pitchFamily="18" charset="0"/>
                <a:ea typeface="仿宋" panose="02010609060101010101" pitchFamily="49" charset="-122"/>
              </a:rPr>
              <a:t>美国</a:t>
            </a:r>
            <a:r>
              <a:rPr lang="en-US" altLang="zh-CN" sz="1800" b="1" kern="100" dirty="0">
                <a:latin typeface="Times New Roman" panose="02020603050405020304" pitchFamily="18" charset="0"/>
                <a:ea typeface="仿宋" panose="02010609060101010101" pitchFamily="49" charset="-122"/>
              </a:rPr>
              <a:t>CES</a:t>
            </a:r>
            <a:r>
              <a:rPr lang="zh-CN" altLang="zh-CN" sz="1800" b="1" kern="100" dirty="0">
                <a:latin typeface="Times New Roman" panose="02020603050405020304" pitchFamily="18" charset="0"/>
                <a:ea typeface="仿宋" panose="02010609060101010101" pitchFamily="49" charset="-122"/>
              </a:rPr>
              <a:t>创新大奖</a:t>
            </a:r>
            <a:r>
              <a:rPr lang="zh-CN" altLang="en-US" sz="1800" b="1" kern="100" dirty="0">
                <a:latin typeface="Times New Roman" panose="02020603050405020304" pitchFamily="18" charset="0"/>
                <a:ea typeface="仿宋" panose="02010609060101010101" pitchFamily="49" charset="-122"/>
              </a:rPr>
              <a:t>等，</a:t>
            </a:r>
            <a:r>
              <a:rPr lang="zh-CN" altLang="zh-CN" sz="1800" kern="100" dirty="0">
                <a:latin typeface="Times New Roman" panose="02020603050405020304" pitchFamily="18" charset="0"/>
                <a:ea typeface="仿宋" panose="02010609060101010101" pitchFamily="49" charset="-122"/>
              </a:rPr>
              <a:t>擅长团队战略制定</a:t>
            </a:r>
            <a:r>
              <a:rPr lang="zh-CN" altLang="en-US" sz="1800" kern="100" dirty="0">
                <a:latin typeface="Times New Roman" panose="02020603050405020304" pitchFamily="18" charset="0"/>
                <a:ea typeface="仿宋" panose="02010609060101010101" pitchFamily="49" charset="-122"/>
              </a:rPr>
              <a:t>、</a:t>
            </a:r>
            <a:r>
              <a:rPr lang="zh-CN" altLang="zh-CN" sz="1800" kern="100" dirty="0">
                <a:latin typeface="Times New Roman" panose="02020603050405020304" pitchFamily="18" charset="0"/>
                <a:ea typeface="仿宋" panose="02010609060101010101" pitchFamily="49" charset="-122"/>
              </a:rPr>
              <a:t>精通运营管理</a:t>
            </a:r>
            <a:r>
              <a:rPr lang="zh-CN" altLang="en-US" sz="1800" kern="100" dirty="0">
                <a:latin typeface="Times New Roman" panose="02020603050405020304" pitchFamily="18" charset="0"/>
                <a:ea typeface="仿宋" panose="02010609060101010101" pitchFamily="49" charset="-122"/>
              </a:rPr>
              <a:t>。</a:t>
            </a:r>
            <a:endParaRPr lang="en-US" altLang="zh-CN" sz="1800" b="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endParaRPr>
          </a:p>
          <a:p>
            <a:pPr indent="274320" fontAlgn="base">
              <a:lnSpc>
                <a:spcPct val="150000"/>
              </a:lnSpc>
              <a:tabLst>
                <a:tab pos="457200" algn="l"/>
                <a:tab pos="914400" algn="l"/>
              </a:tabLst>
            </a:pPr>
            <a:r>
              <a:rPr lang="zh-CN" altLang="zh-CN" sz="1800" kern="1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公司的核心技术团队从</a:t>
            </a:r>
            <a:r>
              <a:rPr lang="zh-CN" altLang="en-US" sz="1800" kern="1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产能到技术到产品到品控</a:t>
            </a:r>
            <a:r>
              <a:rPr lang="zh-CN" altLang="zh-CN" sz="1800" kern="1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都具有丰富的</a:t>
            </a:r>
            <a:r>
              <a:rPr lang="zh-CN" altLang="en-US" sz="1800" kern="1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国际化</a:t>
            </a:r>
            <a:r>
              <a:rPr lang="zh-CN" altLang="zh-CN" sz="1800" kern="1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经验，</a:t>
            </a:r>
            <a:r>
              <a:rPr lang="zh-CN" altLang="en-US" sz="1800" kern="1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在高端电源领域具有超高品质的超过</a:t>
            </a:r>
            <a:r>
              <a:rPr lang="en-US" altLang="zh-CN" sz="1800" kern="1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30</a:t>
            </a:r>
            <a:r>
              <a:rPr lang="zh-CN" altLang="en-US" sz="1800" kern="1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亿颗芯片的完美交付记录。</a:t>
            </a:r>
            <a:r>
              <a:rPr lang="zh-CN" altLang="zh-CN" sz="1800" kern="1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团队的</a:t>
            </a:r>
            <a:r>
              <a:rPr lang="zh-CN" altLang="zh-CN" sz="180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rPr>
              <a:t>互补性</a:t>
            </a:r>
            <a:r>
              <a:rPr lang="zh-CN" altLang="en-US" sz="180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rPr>
              <a:t>和完整性</a:t>
            </a:r>
            <a:r>
              <a:rPr lang="zh-CN" altLang="zh-CN" sz="180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rPr>
              <a:t>很强。</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EDB296A9-64E8-4B0F-8A40-DB128CAA2C51}" type="slidenum">
              <a:rPr lang="zh-CN" altLang="en-US" smtClean="0"/>
              <a:t>7</a:t>
            </a:fld>
            <a:endParaRPr lang="zh-CN" altLang="en-US"/>
          </a:p>
        </p:txBody>
      </p:sp>
    </p:spTree>
    <p:extLst>
      <p:ext uri="{BB962C8B-B14F-4D97-AF65-F5344CB8AC3E}">
        <p14:creationId xmlns:p14="http://schemas.microsoft.com/office/powerpoint/2010/main" val="37539574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74320" fontAlgn="base">
              <a:lnSpc>
                <a:spcPct val="150000"/>
              </a:lnSpc>
              <a:tabLst>
                <a:tab pos="457200" algn="l"/>
                <a:tab pos="914400" algn="l"/>
              </a:tabLst>
            </a:pP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公司的</a:t>
            </a: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高端充电芯片主要应用在旗舰手机、高端充电宝、共享单车、笔记本电脑上，</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E-marker</a:t>
            </a: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标签芯片主要用在</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OPPO</a:t>
            </a: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等闪充线上。</a:t>
            </a:r>
            <a:endPar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endParaRPr>
          </a:p>
          <a:p>
            <a:pPr marL="0" marR="0" lvl="0" indent="274320" algn="l" defTabSz="914400" rtl="0" eaLnBrk="1" fontAlgn="base" latinLnBrk="0" hangingPunct="1">
              <a:lnSpc>
                <a:spcPct val="150000"/>
              </a:lnSpc>
              <a:spcBef>
                <a:spcPts val="0"/>
              </a:spcBef>
              <a:spcAft>
                <a:spcPts val="0"/>
              </a:spcAft>
              <a:buClrTx/>
              <a:buSzTx/>
              <a:buFontTx/>
              <a:buNone/>
              <a:tabLst>
                <a:tab pos="457200" algn="l"/>
                <a:tab pos="914400" algn="l"/>
              </a:tabLst>
              <a:defRPr/>
            </a:pP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公司的</a:t>
            </a:r>
            <a:r>
              <a:rPr lang="en-US" altLang="zh-CN" sz="1800" kern="0" dirty="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Charge Pump</a:t>
            </a:r>
            <a:r>
              <a:rPr lang="zh-CN" altLang="en-US" sz="1800" kern="0" dirty="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是针对</a:t>
            </a:r>
            <a:r>
              <a:rPr lang="en-US" altLang="zh-CN" sz="1800" kern="0" dirty="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OPPO</a:t>
            </a:r>
            <a:r>
              <a:rPr lang="zh-CN" altLang="en-US" sz="1800" kern="0" dirty="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方案打造的</a:t>
            </a:r>
            <a:r>
              <a:rPr lang="en-US" altLang="zh-CN" sz="1800" kern="0" dirty="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SD77313</a:t>
            </a:r>
            <a:r>
              <a:rPr lang="zh-CN" altLang="en-US" sz="1800" kern="0" dirty="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芯片，目前是全球大规模量产出货的唯一可以和</a:t>
            </a:r>
            <a:r>
              <a:rPr lang="en-US" altLang="zh-CN" sz="1800" kern="0" dirty="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dialog</a:t>
            </a:r>
            <a:r>
              <a:rPr lang="zh-CN" altLang="en-US" sz="1800" kern="0" dirty="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的</a:t>
            </a:r>
            <a:r>
              <a:rPr lang="en-US" altLang="zh-CN" sz="1800" kern="0" dirty="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DA9313</a:t>
            </a:r>
            <a:r>
              <a:rPr lang="zh-CN" altLang="en-US" sz="1800" kern="100" dirty="0">
                <a:effectLst/>
                <a:latin typeface="仿宋" panose="02010609060101010101" pitchFamily="49" charset="-122"/>
                <a:cs typeface="Times New Roman" panose="02020603050405020304" pitchFamily="18" charset="0"/>
              </a:rPr>
              <a:t>这款芯片竞争的产品，也是唯二的后置电荷泵芯片之一。在</a:t>
            </a:r>
            <a:r>
              <a:rPr lang="en-US" altLang="zh-CN" sz="1800" kern="100" dirty="0">
                <a:effectLst/>
                <a:latin typeface="仿宋" panose="02010609060101010101" pitchFamily="49" charset="-122"/>
                <a:cs typeface="Times New Roman" panose="02020603050405020304" pitchFamily="18" charset="0"/>
              </a:rPr>
              <a:t>313</a:t>
            </a:r>
            <a:r>
              <a:rPr lang="zh-CN" altLang="en-US" sz="1800" kern="100" dirty="0">
                <a:effectLst/>
                <a:latin typeface="仿宋" panose="02010609060101010101" pitchFamily="49" charset="-122"/>
                <a:cs typeface="Times New Roman" panose="02020603050405020304" pitchFamily="18" charset="0"/>
              </a:rPr>
              <a:t>的基础上，去掉高效率、小电流的精细工作模式电路模块，降维推出</a:t>
            </a:r>
            <a:r>
              <a:rPr lang="en-US" altLang="zh-CN" sz="1800" kern="100" dirty="0">
                <a:effectLst/>
                <a:latin typeface="仿宋" panose="02010609060101010101" pitchFamily="49" charset="-122"/>
                <a:cs typeface="Times New Roman" panose="02020603050405020304" pitchFamily="18" charset="0"/>
              </a:rPr>
              <a:t>SD77316</a:t>
            </a:r>
            <a:r>
              <a:rPr lang="zh-CN" altLang="en-US" sz="1800" kern="100" dirty="0">
                <a:effectLst/>
                <a:latin typeface="仿宋" panose="02010609060101010101" pitchFamily="49" charset="-122"/>
                <a:cs typeface="Times New Roman" panose="02020603050405020304" pitchFamily="18" charset="0"/>
              </a:rPr>
              <a:t>前置电荷泵芯片；预计年底量产将实现对</a:t>
            </a:r>
            <a:r>
              <a:rPr lang="en-US" altLang="zh-CN" sz="1800" kern="100" dirty="0">
                <a:effectLst/>
                <a:latin typeface="仿宋" panose="02010609060101010101" pitchFamily="49" charset="-122"/>
                <a:cs typeface="Times New Roman" panose="02020603050405020304" pitchFamily="18" charset="0"/>
              </a:rPr>
              <a:t>TI</a:t>
            </a:r>
            <a:r>
              <a:rPr lang="zh-CN" altLang="en-US" sz="1800" kern="100" dirty="0">
                <a:effectLst/>
                <a:latin typeface="仿宋" panose="02010609060101010101" pitchFamily="49" charset="-122"/>
                <a:cs typeface="Times New Roman" panose="02020603050405020304" pitchFamily="18" charset="0"/>
              </a:rPr>
              <a:t>的</a:t>
            </a:r>
            <a:r>
              <a:rPr lang="en-US" altLang="zh-CN" sz="1800" kern="100" dirty="0">
                <a:effectLst/>
                <a:latin typeface="仿宋" panose="02010609060101010101" pitchFamily="49" charset="-122"/>
                <a:cs typeface="Times New Roman" panose="02020603050405020304" pitchFamily="18" charset="0"/>
              </a:rPr>
              <a:t>BQ25970</a:t>
            </a:r>
            <a:r>
              <a:rPr lang="zh-CN" altLang="en-US" sz="1800" kern="100" dirty="0">
                <a:effectLst/>
                <a:latin typeface="仿宋" panose="02010609060101010101" pitchFamily="49" charset="-122"/>
                <a:cs typeface="Times New Roman" panose="02020603050405020304" pitchFamily="18" charset="0"/>
              </a:rPr>
              <a:t>的</a:t>
            </a:r>
            <a:r>
              <a:rPr lang="en-US" altLang="zh-CN" sz="1800" kern="100" dirty="0">
                <a:effectLst/>
                <a:latin typeface="仿宋" panose="02010609060101010101" pitchFamily="49" charset="-122"/>
                <a:cs typeface="Times New Roman" panose="02020603050405020304" pitchFamily="18" charset="0"/>
              </a:rPr>
              <a:t>pin2pin</a:t>
            </a:r>
            <a:r>
              <a:rPr lang="zh-CN" altLang="en-US" sz="1800" kern="100" dirty="0">
                <a:effectLst/>
                <a:latin typeface="仿宋" panose="02010609060101010101" pitchFamily="49" charset="-122"/>
                <a:cs typeface="Times New Roman" panose="02020603050405020304" pitchFamily="18" charset="0"/>
              </a:rPr>
              <a:t>，</a:t>
            </a:r>
            <a:r>
              <a:rPr lang="en-US" altLang="zh-CN" sz="1800" kern="100" dirty="0">
                <a:effectLst/>
                <a:latin typeface="仿宋" panose="02010609060101010101" pitchFamily="49" charset="-122"/>
                <a:cs typeface="Times New Roman" panose="02020603050405020304" pitchFamily="18" charset="0"/>
              </a:rPr>
              <a:t>316</a:t>
            </a:r>
            <a:r>
              <a:rPr lang="zh-CN" altLang="en-US" sz="1800" kern="100" dirty="0">
                <a:effectLst/>
                <a:latin typeface="仿宋" panose="02010609060101010101" pitchFamily="49" charset="-122"/>
                <a:cs typeface="Times New Roman" panose="02020603050405020304" pitchFamily="18" charset="0"/>
              </a:rPr>
              <a:t>量产后将大量使用在小米、</a:t>
            </a:r>
            <a:r>
              <a:rPr lang="en-US" altLang="zh-CN" sz="1800" kern="100" dirty="0">
                <a:effectLst/>
                <a:latin typeface="仿宋" panose="02010609060101010101" pitchFamily="49" charset="-122"/>
                <a:cs typeface="Times New Roman" panose="02020603050405020304" pitchFamily="18" charset="0"/>
              </a:rPr>
              <a:t>vivo</a:t>
            </a:r>
            <a:r>
              <a:rPr lang="zh-CN" altLang="en-US" sz="1800" kern="100" dirty="0">
                <a:effectLst/>
                <a:latin typeface="仿宋" panose="02010609060101010101" pitchFamily="49" charset="-122"/>
                <a:cs typeface="Times New Roman" panose="02020603050405020304" pitchFamily="18" charset="0"/>
              </a:rPr>
              <a:t>中高端手机上。</a:t>
            </a:r>
            <a:endParaRPr lang="en-US" altLang="zh-CN" sz="1800" kern="100" dirty="0">
              <a:effectLst/>
              <a:latin typeface="仿宋" panose="02010609060101010101" pitchFamily="49" charset="-122"/>
              <a:cs typeface="Times New Roman" panose="02020603050405020304" pitchFamily="18" charset="0"/>
            </a:endParaRPr>
          </a:p>
          <a:p>
            <a:pPr indent="274320" fontAlgn="base">
              <a:lnSpc>
                <a:spcPct val="150000"/>
              </a:lnSpc>
              <a:tabLst>
                <a:tab pos="457200" algn="l"/>
                <a:tab pos="914400" algn="l"/>
              </a:tabLst>
            </a:pPr>
            <a:r>
              <a:rPr lang="en-US" altLang="zh-CN" sz="1800" kern="100" dirty="0">
                <a:effectLst/>
                <a:latin typeface="仿宋" panose="02010609060101010101" pitchFamily="49" charset="-122"/>
                <a:cs typeface="Times New Roman" panose="02020603050405020304" pitchFamily="18" charset="0"/>
              </a:rPr>
              <a:t>Buck</a:t>
            </a:r>
            <a:r>
              <a:rPr lang="zh-CN" altLang="zh-CN" sz="1800" kern="100" dirty="0">
                <a:effectLst/>
                <a:ea typeface="仿宋" panose="02010609060101010101" pitchFamily="49" charset="-122"/>
                <a:cs typeface="Times New Roman" panose="02020603050405020304" pitchFamily="18" charset="0"/>
              </a:rPr>
              <a:t>芯片具有高电流技术指标，具有高效率降压变换、高精度电流控制、提供更快的充电速度</a:t>
            </a:r>
            <a:r>
              <a:rPr lang="zh-CN" altLang="en-US" sz="1800" kern="100" dirty="0">
                <a:effectLst/>
                <a:latin typeface="仿宋" panose="02010609060101010101" pitchFamily="49" charset="-122"/>
                <a:ea typeface="仿宋" panose="02010609060101010101" pitchFamily="49" charset="-122"/>
                <a:cs typeface="Times New Roman" panose="02020603050405020304" pitchFamily="18" charset="0"/>
              </a:rPr>
              <a:t>，其中</a:t>
            </a:r>
            <a:r>
              <a:rPr lang="en-US" altLang="zh-CN" sz="1800" kern="100" dirty="0">
                <a:effectLst/>
                <a:latin typeface="仿宋" panose="02010609060101010101" pitchFamily="49" charset="-122"/>
                <a:ea typeface="宋体" panose="02010600030101010101" pitchFamily="2" charset="-122"/>
              </a:rPr>
              <a:t>SD77141T</a:t>
            </a:r>
            <a:r>
              <a:rPr lang="zh-CN" altLang="zh-CN" sz="1800" kern="100" dirty="0">
                <a:effectLst/>
                <a:latin typeface="Times New Roman" panose="02020603050405020304" pitchFamily="18" charset="0"/>
                <a:ea typeface="仿宋" panose="02010609060101010101" pitchFamily="49" charset="-122"/>
              </a:rPr>
              <a:t>在酷派、步步高平板电脑等大量出货，</a:t>
            </a:r>
            <a:r>
              <a:rPr lang="en-US" altLang="zh-CN" sz="1800" kern="100" dirty="0">
                <a:effectLst/>
                <a:latin typeface="Times New Roman" panose="02020603050405020304" pitchFamily="18" charset="0"/>
                <a:ea typeface="仿宋" panose="02010609060101010101" pitchFamily="49" charset="-122"/>
              </a:rPr>
              <a:t>SD7605C</a:t>
            </a:r>
            <a:r>
              <a:rPr lang="zh-CN" altLang="zh-CN" sz="1800" kern="100" dirty="0">
                <a:effectLst/>
                <a:latin typeface="Times New Roman" panose="02020603050405020304" pitchFamily="18" charset="0"/>
                <a:ea typeface="仿宋" panose="02010609060101010101" pitchFamily="49" charset="-122"/>
              </a:rPr>
              <a:t>在道格</a:t>
            </a:r>
            <a:r>
              <a:rPr lang="en-US" altLang="zh-CN" sz="1800" kern="100" dirty="0">
                <a:effectLst/>
                <a:latin typeface="Times New Roman" panose="02020603050405020304" pitchFamily="18" charset="0"/>
                <a:ea typeface="仿宋" panose="02010609060101010101" pitchFamily="49" charset="-122"/>
              </a:rPr>
              <a:t>BL5000</a:t>
            </a:r>
            <a:r>
              <a:rPr lang="zh-CN" altLang="zh-CN" sz="1800" kern="100" dirty="0">
                <a:effectLst/>
                <a:latin typeface="Times New Roman" panose="02020603050405020304" pitchFamily="18" charset="0"/>
                <a:ea typeface="仿宋" panose="02010609060101010101" pitchFamily="49" charset="-122"/>
              </a:rPr>
              <a:t>手机、道格</a:t>
            </a:r>
            <a:r>
              <a:rPr lang="en-US" altLang="zh-CN" sz="1800" kern="100" dirty="0">
                <a:effectLst/>
                <a:latin typeface="Times New Roman" panose="02020603050405020304" pitchFamily="18" charset="0"/>
                <a:ea typeface="仿宋" panose="02010609060101010101" pitchFamily="49" charset="-122"/>
              </a:rPr>
              <a:t>BL7000</a:t>
            </a:r>
            <a:r>
              <a:rPr lang="zh-CN" altLang="zh-CN" sz="1800" kern="100" dirty="0">
                <a:effectLst/>
                <a:latin typeface="Times New Roman" panose="02020603050405020304" pitchFamily="18" charset="0"/>
                <a:ea typeface="仿宋" panose="02010609060101010101" pitchFamily="49" charset="-122"/>
              </a:rPr>
              <a:t>手机等大量出货。</a:t>
            </a:r>
            <a:r>
              <a:rPr lang="zh-CN" altLang="en-US" sz="1800" kern="100" dirty="0">
                <a:effectLst/>
                <a:latin typeface="Times New Roman" panose="02020603050405020304" pitchFamily="18" charset="0"/>
                <a:ea typeface="仿宋" panose="02010609060101010101" pitchFamily="49" charset="-122"/>
              </a:rPr>
              <a:t>在给小米开发的</a:t>
            </a:r>
            <a:r>
              <a:rPr lang="en-US" altLang="zh-CN" sz="1800" kern="100" dirty="0">
                <a:effectLst/>
                <a:latin typeface="Times New Roman" panose="02020603050405020304" pitchFamily="18" charset="0"/>
                <a:ea typeface="仿宋" panose="02010609060101010101" pitchFamily="49" charset="-122"/>
              </a:rPr>
              <a:t>SD77060</a:t>
            </a:r>
            <a:r>
              <a:rPr lang="zh-CN" altLang="en-US" sz="1800" kern="100" dirty="0">
                <a:effectLst/>
                <a:latin typeface="Times New Roman" panose="02020603050405020304" pitchFamily="18" charset="0"/>
                <a:ea typeface="仿宋" panose="02010609060101010101" pitchFamily="49" charset="-122"/>
              </a:rPr>
              <a:t>双串电池包括芯片年下个月实现上量阶段。</a:t>
            </a:r>
            <a:endParaRPr lang="en-US" altLang="zh-CN" sz="1800" kern="100" dirty="0">
              <a:effectLst/>
              <a:latin typeface="Times New Roman" panose="02020603050405020304" pitchFamily="18" charset="0"/>
              <a:ea typeface="仿宋" panose="02010609060101010101" pitchFamily="49" charset="-122"/>
            </a:endParaRPr>
          </a:p>
          <a:p>
            <a:pPr marL="0" marR="0" lvl="0" indent="274320" algn="l" defTabSz="914400" rtl="0" eaLnBrk="1" fontAlgn="base" latinLnBrk="0" hangingPunct="1">
              <a:lnSpc>
                <a:spcPct val="150000"/>
              </a:lnSpc>
              <a:spcBef>
                <a:spcPts val="0"/>
              </a:spcBef>
              <a:spcAft>
                <a:spcPts val="0"/>
              </a:spcAft>
              <a:buClrTx/>
              <a:buSzTx/>
              <a:buFontTx/>
              <a:buNone/>
              <a:tabLst>
                <a:tab pos="457200" algn="l"/>
                <a:tab pos="914400" algn="l"/>
              </a:tabLst>
              <a:defRPr/>
            </a:pPr>
            <a:r>
              <a:rPr lang="en-US" altLang="zh-CN" sz="1800" kern="100" dirty="0">
                <a:effectLst/>
                <a:latin typeface="仿宋" panose="02010609060101010101" pitchFamily="49" charset="-122"/>
                <a:ea typeface="宋体" panose="02010600030101010101" pitchFamily="2" charset="-122"/>
              </a:rPr>
              <a:t>E-Marker</a:t>
            </a:r>
            <a:r>
              <a:rPr lang="zh-CN" altLang="zh-CN" sz="1800" kern="100" dirty="0">
                <a:effectLst/>
                <a:latin typeface="Times New Roman" panose="02020603050405020304" pitchFamily="18" charset="0"/>
                <a:ea typeface="仿宋" panose="02010609060101010101" pitchFamily="49" charset="-122"/>
              </a:rPr>
              <a:t>电子标签芯片可以实现充电线材承载高达</a:t>
            </a:r>
            <a:r>
              <a:rPr lang="en-US" altLang="zh-CN" sz="1800" kern="100" dirty="0">
                <a:effectLst/>
                <a:latin typeface="Times New Roman" panose="02020603050405020304" pitchFamily="18" charset="0"/>
                <a:ea typeface="仿宋" panose="02010609060101010101" pitchFamily="49" charset="-122"/>
              </a:rPr>
              <a:t>5A</a:t>
            </a:r>
            <a:r>
              <a:rPr lang="zh-CN" altLang="zh-CN" sz="1800" kern="100" dirty="0">
                <a:effectLst/>
                <a:latin typeface="Times New Roman" panose="02020603050405020304" pitchFamily="18" charset="0"/>
                <a:ea typeface="仿宋" panose="02010609060101010101" pitchFamily="49" charset="-122"/>
              </a:rPr>
              <a:t>的大电流及最高</a:t>
            </a:r>
            <a:r>
              <a:rPr lang="en-US" altLang="zh-CN" sz="1800" kern="100" dirty="0">
                <a:effectLst/>
                <a:latin typeface="Times New Roman" panose="02020603050405020304" pitchFamily="18" charset="0"/>
                <a:ea typeface="仿宋" panose="02010609060101010101" pitchFamily="49" charset="-122"/>
              </a:rPr>
              <a:t>100W</a:t>
            </a:r>
            <a:r>
              <a:rPr lang="zh-CN" altLang="zh-CN" sz="1800" kern="100" dirty="0">
                <a:effectLst/>
                <a:latin typeface="Times New Roman" panose="02020603050405020304" pitchFamily="18" charset="0"/>
                <a:ea typeface="仿宋" panose="02010609060101010101" pitchFamily="49" charset="-122"/>
              </a:rPr>
              <a:t>的大功率充电。公司主要产品型号包括</a:t>
            </a:r>
            <a:r>
              <a:rPr lang="en-US" altLang="zh-CN" sz="1800" kern="100" dirty="0">
                <a:effectLst/>
                <a:latin typeface="Times New Roman" panose="02020603050405020304" pitchFamily="18" charset="0"/>
                <a:ea typeface="仿宋" panose="02010609060101010101" pitchFamily="49" charset="-122"/>
              </a:rPr>
              <a:t>SD77007</a:t>
            </a:r>
            <a:r>
              <a:rPr lang="zh-CN" altLang="zh-CN" sz="1800" kern="100" dirty="0">
                <a:effectLst/>
                <a:latin typeface="Times New Roman" panose="02020603050405020304" pitchFamily="18" charset="0"/>
                <a:ea typeface="仿宋" panose="02010609060101010101" pitchFamily="49" charset="-122"/>
              </a:rPr>
              <a:t>，也是国内最早一批通过</a:t>
            </a:r>
            <a:r>
              <a:rPr lang="en-US" altLang="zh-CN" sz="1800" kern="100" dirty="0">
                <a:effectLst/>
                <a:latin typeface="Times New Roman" panose="02020603050405020304" pitchFamily="18" charset="0"/>
                <a:ea typeface="仿宋" panose="02010609060101010101" pitchFamily="49" charset="-122"/>
              </a:rPr>
              <a:t>USB-IF USB4</a:t>
            </a:r>
            <a:r>
              <a:rPr lang="zh-CN" altLang="zh-CN" sz="1800" kern="100" dirty="0">
                <a:effectLst/>
                <a:latin typeface="Times New Roman" panose="02020603050405020304" pitchFamily="18" charset="0"/>
                <a:ea typeface="仿宋" panose="02010609060101010101" pitchFamily="49" charset="-122"/>
              </a:rPr>
              <a:t>认证的</a:t>
            </a:r>
            <a:r>
              <a:rPr lang="en-US" altLang="zh-CN" sz="1800" kern="100" dirty="0">
                <a:effectLst/>
                <a:latin typeface="Times New Roman" panose="02020603050405020304" pitchFamily="18" charset="0"/>
                <a:ea typeface="仿宋" panose="02010609060101010101" pitchFamily="49" charset="-122"/>
              </a:rPr>
              <a:t>E-Marker</a:t>
            </a:r>
            <a:r>
              <a:rPr lang="zh-CN" altLang="zh-CN" sz="1800" kern="100" dirty="0">
                <a:effectLst/>
                <a:latin typeface="Times New Roman" panose="02020603050405020304" pitchFamily="18" charset="0"/>
                <a:ea typeface="仿宋" panose="02010609060101010101" pitchFamily="49" charset="-122"/>
              </a:rPr>
              <a:t>芯片。</a:t>
            </a:r>
            <a:endPar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endParaRPr>
          </a:p>
          <a:p>
            <a:pPr indent="274320" fontAlgn="base">
              <a:lnSpc>
                <a:spcPct val="150000"/>
              </a:lnSpc>
              <a:tabLst>
                <a:tab pos="457200" algn="l"/>
                <a:tab pos="914400" algn="l"/>
              </a:tabLst>
            </a:pPr>
            <a:endPar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EDB296A9-64E8-4B0F-8A40-DB128CAA2C51}" type="slidenum">
              <a:rPr lang="zh-CN" altLang="en-US" smtClean="0"/>
              <a:t>8</a:t>
            </a:fld>
            <a:endParaRPr lang="zh-CN" altLang="en-US"/>
          </a:p>
        </p:txBody>
      </p:sp>
    </p:spTree>
    <p:extLst>
      <p:ext uri="{BB962C8B-B14F-4D97-AF65-F5344CB8AC3E}">
        <p14:creationId xmlns:p14="http://schemas.microsoft.com/office/powerpoint/2010/main" val="1041515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dirty="0">
                <a:latin typeface="仿宋" panose="02010609060101010101" pitchFamily="49" charset="-122"/>
                <a:ea typeface="仿宋" panose="02010609060101010101" pitchFamily="49" charset="-122"/>
              </a:rPr>
              <a:t>主力销售产品为</a:t>
            </a:r>
            <a:r>
              <a:rPr lang="zh-CN" altLang="en-US" sz="1200" u="sng" dirty="0">
                <a:latin typeface="仿宋" panose="02010609060101010101" pitchFamily="49" charset="-122"/>
                <a:ea typeface="仿宋" panose="02010609060101010101" pitchFamily="49" charset="-122"/>
              </a:rPr>
              <a:t>电荷泵芯片</a:t>
            </a:r>
            <a:r>
              <a:rPr lang="zh-CN" altLang="zh-CN" sz="1200" dirty="0">
                <a:latin typeface="仿宋" panose="02010609060101010101" pitchFamily="49" charset="-122"/>
                <a:ea typeface="仿宋" panose="02010609060101010101" pitchFamily="49" charset="-122"/>
              </a:rPr>
              <a:t>和</a:t>
            </a:r>
            <a:r>
              <a:rPr lang="en-US" altLang="zh-CN" sz="1200" u="sng" dirty="0">
                <a:latin typeface="仿宋" panose="02010609060101010101" pitchFamily="49" charset="-122"/>
                <a:ea typeface="仿宋" panose="02010609060101010101" pitchFamily="49" charset="-122"/>
              </a:rPr>
              <a:t>E-Marker</a:t>
            </a:r>
            <a:r>
              <a:rPr lang="zh-CN" altLang="en-US" sz="1200" u="sng" dirty="0">
                <a:latin typeface="仿宋" panose="02010609060101010101" pitchFamily="49" charset="-122"/>
                <a:ea typeface="仿宋" panose="02010609060101010101" pitchFamily="49" charset="-122"/>
              </a:rPr>
              <a:t>芯片</a:t>
            </a:r>
            <a:r>
              <a:rPr lang="zh-CN" altLang="en-US" sz="1200" dirty="0">
                <a:latin typeface="仿宋" panose="02010609060101010101" pitchFamily="49" charset="-122"/>
                <a:ea typeface="仿宋" panose="02010609060101010101" pitchFamily="49" charset="-122"/>
              </a:rPr>
              <a:t>，占比销售额</a:t>
            </a:r>
            <a:r>
              <a:rPr lang="en-US" altLang="zh-CN" sz="1200" dirty="0">
                <a:latin typeface="仿宋" panose="02010609060101010101" pitchFamily="49" charset="-122"/>
                <a:ea typeface="仿宋" panose="02010609060101010101" pitchFamily="49" charset="-122"/>
              </a:rPr>
              <a:t>50%</a:t>
            </a:r>
            <a:r>
              <a:rPr lang="zh-CN" altLang="en-US" sz="1200" dirty="0">
                <a:latin typeface="仿宋" panose="02010609060101010101" pitchFamily="49" charset="-122"/>
                <a:ea typeface="仿宋" panose="02010609060101010101" pitchFamily="49" charset="-122"/>
              </a:rPr>
              <a:t>以上。</a:t>
            </a:r>
            <a:endParaRPr lang="en-US" altLang="zh-CN" sz="1200" dirty="0">
              <a:latin typeface="仿宋" panose="02010609060101010101" pitchFamily="49" charset="-122"/>
              <a:ea typeface="仿宋" panose="02010609060101010101" pitchFamily="49" charset="-122"/>
            </a:endParaRPr>
          </a:p>
          <a:p>
            <a:r>
              <a:rPr lang="zh-CN" altLang="en-US" dirty="0"/>
              <a:t>左边是刚才提到的电荷泵芯片，一颗近</a:t>
            </a:r>
            <a:r>
              <a:rPr lang="en-US" altLang="zh-CN" dirty="0"/>
              <a:t>5</a:t>
            </a:r>
            <a:r>
              <a:rPr lang="zh-CN" altLang="en-US" dirty="0"/>
              <a:t>块多人民币。目前公司的后置电荷泵芯片</a:t>
            </a:r>
            <a:r>
              <a:rPr lang="en-US" altLang="zh-CN" dirty="0"/>
              <a:t>SD77313</a:t>
            </a:r>
            <a:r>
              <a:rPr lang="zh-CN" altLang="en-US" dirty="0"/>
              <a:t>主要用在</a:t>
            </a:r>
            <a:r>
              <a:rPr lang="en-US" altLang="zh-CN" dirty="0"/>
              <a:t>OPPO</a:t>
            </a:r>
            <a:r>
              <a:rPr lang="zh-CN" altLang="en-US" dirty="0"/>
              <a:t>的中端旗舰机</a:t>
            </a:r>
            <a:r>
              <a:rPr lang="en-US" altLang="zh-CN" dirty="0"/>
              <a:t>K9</a:t>
            </a:r>
            <a:r>
              <a:rPr lang="zh-CN" altLang="en-US" dirty="0"/>
              <a:t>上，作为中端旗舰新标杆，</a:t>
            </a:r>
            <a:r>
              <a:rPr lang="en-US" altLang="zh-CN" dirty="0"/>
              <a:t>K9</a:t>
            </a:r>
            <a:r>
              <a:rPr lang="zh-CN" altLang="en-US" dirty="0"/>
              <a:t>支持</a:t>
            </a:r>
            <a:r>
              <a:rPr lang="en-US" altLang="zh-CN" dirty="0"/>
              <a:t>65W</a:t>
            </a:r>
            <a:r>
              <a:rPr lang="zh-CN" altLang="en-US" dirty="0"/>
              <a:t>快充；年底出来的前置电荷泵芯片将全面覆盖市面所有快充方案；</a:t>
            </a:r>
            <a:r>
              <a:rPr lang="en-US" altLang="zh-CN" dirty="0"/>
              <a:t>30W</a:t>
            </a:r>
            <a:r>
              <a:rPr lang="zh-CN" altLang="en-US" dirty="0"/>
              <a:t>以上的快充手机至少</a:t>
            </a:r>
            <a:r>
              <a:rPr lang="en-US" altLang="zh-CN" dirty="0"/>
              <a:t>1</a:t>
            </a:r>
            <a:r>
              <a:rPr lang="zh-CN" altLang="en-US" dirty="0"/>
              <a:t>颗；</a:t>
            </a:r>
            <a:r>
              <a:rPr lang="en-US" altLang="zh-CN" dirty="0"/>
              <a:t>100W</a:t>
            </a:r>
            <a:r>
              <a:rPr lang="zh-CN" altLang="en-US" dirty="0"/>
              <a:t>的手机至少</a:t>
            </a:r>
            <a:r>
              <a:rPr lang="en-US" altLang="zh-CN" dirty="0"/>
              <a:t>2-4</a:t>
            </a:r>
            <a:r>
              <a:rPr lang="zh-CN" altLang="en-US" dirty="0"/>
              <a:t>颗；</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右边是</a:t>
            </a:r>
            <a:r>
              <a:rPr lang="en-US" altLang="zh-CN" sz="1200" u="sng" dirty="0">
                <a:latin typeface="仿宋" panose="02010609060101010101" pitchFamily="49" charset="-122"/>
                <a:ea typeface="仿宋" panose="02010609060101010101" pitchFamily="49" charset="-122"/>
              </a:rPr>
              <a:t>E-Marker</a:t>
            </a:r>
            <a:r>
              <a:rPr lang="zh-CN" altLang="en-US" dirty="0"/>
              <a:t>标签芯片，一颗</a:t>
            </a:r>
            <a:r>
              <a:rPr lang="en-US" altLang="zh-CN" dirty="0"/>
              <a:t>3</a:t>
            </a:r>
            <a:r>
              <a:rPr lang="zh-CN" altLang="en-US" dirty="0"/>
              <a:t>毛</a:t>
            </a:r>
            <a:r>
              <a:rPr lang="en-US" altLang="zh-CN" dirty="0"/>
              <a:t>5</a:t>
            </a:r>
            <a:r>
              <a:rPr lang="zh-CN" altLang="en-US" dirty="0"/>
              <a:t>人民币。公司的</a:t>
            </a:r>
            <a:r>
              <a:rPr lang="en-US" altLang="zh-CN" sz="1200" u="sng" dirty="0">
                <a:latin typeface="仿宋" panose="02010609060101010101" pitchFamily="49" charset="-122"/>
                <a:ea typeface="仿宋" panose="02010609060101010101" pitchFamily="49" charset="-122"/>
              </a:rPr>
              <a:t>E-Marker</a:t>
            </a:r>
            <a:r>
              <a:rPr lang="zh-CN" altLang="en-US" sz="1200" u="sng" dirty="0">
                <a:latin typeface="仿宋" panose="02010609060101010101" pitchFamily="49" charset="-122"/>
                <a:ea typeface="仿宋" panose="02010609060101010101" pitchFamily="49" charset="-122"/>
              </a:rPr>
              <a:t>芯片，开发历程，</a:t>
            </a:r>
            <a:r>
              <a:rPr lang="en-US" altLang="zh-CN" sz="1200" u="sng" dirty="0">
                <a:latin typeface="仿宋" panose="02010609060101010101" pitchFamily="49" charset="-122"/>
                <a:ea typeface="仿宋" panose="02010609060101010101" pitchFamily="49" charset="-122"/>
              </a:rPr>
              <a:t>OPPO</a:t>
            </a:r>
            <a:r>
              <a:rPr lang="zh-CN" altLang="en-US" sz="1200" u="sng" dirty="0">
                <a:latin typeface="仿宋" panose="02010609060101010101" pitchFamily="49" charset="-122"/>
                <a:ea typeface="仿宋" panose="02010609060101010101" pitchFamily="49" charset="-122"/>
              </a:rPr>
              <a:t>最开始找的珠海的瑞芯微，大瞬比它做得快，就目前全部独占</a:t>
            </a:r>
            <a:r>
              <a:rPr lang="en-US" altLang="zh-CN" sz="1200" u="sng" dirty="0">
                <a:latin typeface="仿宋" panose="02010609060101010101" pitchFamily="49" charset="-122"/>
                <a:ea typeface="仿宋" panose="02010609060101010101" pitchFamily="49" charset="-122"/>
              </a:rPr>
              <a:t>OPPO</a:t>
            </a:r>
            <a:r>
              <a:rPr lang="zh-CN" altLang="en-US" sz="1200" u="sng" dirty="0">
                <a:latin typeface="仿宋" panose="02010609060101010101" pitchFamily="49" charset="-122"/>
                <a:ea typeface="仿宋" panose="02010609060101010101" pitchFamily="49" charset="-122"/>
              </a:rPr>
              <a:t>的</a:t>
            </a:r>
            <a:r>
              <a:rPr lang="en-US" altLang="zh-CN" sz="1200" u="sng" dirty="0">
                <a:latin typeface="仿宋" panose="02010609060101010101" pitchFamily="49" charset="-122"/>
                <a:ea typeface="仿宋" panose="02010609060101010101" pitchFamily="49" charset="-122"/>
              </a:rPr>
              <a:t>E-Marker</a:t>
            </a:r>
            <a:r>
              <a:rPr lang="zh-CN" altLang="en-US" sz="1200" u="sng" dirty="0">
                <a:latin typeface="仿宋" panose="02010609060101010101" pitchFamily="49" charset="-122"/>
                <a:ea typeface="仿宋" panose="02010609060101010101" pitchFamily="49" charset="-122"/>
              </a:rPr>
              <a:t>芯片市场份额。</a:t>
            </a:r>
            <a:r>
              <a:rPr lang="zh-CN" altLang="en-US" dirty="0"/>
              <a:t>当然这个量很大，预计单颗芯片今年能出</a:t>
            </a:r>
            <a:r>
              <a:rPr lang="en-US" altLang="zh-CN" dirty="0"/>
              <a:t>1.35</a:t>
            </a:r>
            <a:r>
              <a:rPr lang="zh-CN" altLang="en-US" dirty="0"/>
              <a:t>亿颗。</a:t>
            </a:r>
          </a:p>
          <a:p>
            <a:r>
              <a:rPr lang="zh-CN" altLang="en-US" dirty="0"/>
              <a:t>下图是笔电的产品图，在</a:t>
            </a:r>
            <a:r>
              <a:rPr lang="en-US" altLang="zh-CN" dirty="0"/>
              <a:t>HP</a:t>
            </a:r>
            <a:r>
              <a:rPr lang="zh-CN" altLang="en-US" dirty="0"/>
              <a:t>和华硕在稳定出货，目前在</a:t>
            </a:r>
            <a:r>
              <a:rPr lang="en-US" altLang="zh-CN" dirty="0"/>
              <a:t>PC tier1</a:t>
            </a:r>
            <a:r>
              <a:rPr lang="zh-CN" altLang="en-US" dirty="0"/>
              <a:t>出货还基本都是欧美品牌，国产芯片几乎没有身影。目前公司买断了上市公司笔电产品线的设计文档、测试流程、流片版图等所有各种</a:t>
            </a:r>
            <a:r>
              <a:rPr lang="en-US" altLang="zh-CN" dirty="0"/>
              <a:t>IP</a:t>
            </a:r>
            <a:r>
              <a:rPr lang="zh-CN" altLang="en-US" dirty="0"/>
              <a:t>的</a:t>
            </a:r>
            <a:r>
              <a:rPr lang="en-US" altLang="zh-CN" dirty="0"/>
              <a:t>2</a:t>
            </a:r>
            <a:r>
              <a:rPr lang="zh-CN" altLang="en-US" dirty="0"/>
              <a:t>年时间；目前公司也在自有产品型号的切换过程中；相关产品也在和龙芯等国产</a:t>
            </a:r>
            <a:r>
              <a:rPr lang="en-US" altLang="zh-CN" dirty="0"/>
              <a:t>CPU</a:t>
            </a:r>
            <a:r>
              <a:rPr lang="zh-CN" altLang="en-US" dirty="0"/>
              <a:t>厂商合作，自有品牌和客户切换同步进行。</a:t>
            </a:r>
            <a:endParaRPr lang="en-US" altLang="zh-CN" dirty="0"/>
          </a:p>
        </p:txBody>
      </p:sp>
      <p:sp>
        <p:nvSpPr>
          <p:cNvPr id="4" name="灯片编号占位符 3"/>
          <p:cNvSpPr>
            <a:spLocks noGrp="1"/>
          </p:cNvSpPr>
          <p:nvPr>
            <p:ph type="sldNum" sz="quarter" idx="5"/>
          </p:nvPr>
        </p:nvSpPr>
        <p:spPr/>
        <p:txBody>
          <a:bodyPr/>
          <a:lstStyle/>
          <a:p>
            <a:fld id="{EDB296A9-64E8-4B0F-8A40-DB128CAA2C51}" type="slidenum">
              <a:rPr lang="zh-CN" altLang="en-US" smtClean="0"/>
              <a:t>9</a:t>
            </a:fld>
            <a:endParaRPr lang="zh-CN" altLang="en-US"/>
          </a:p>
        </p:txBody>
      </p:sp>
    </p:spTree>
    <p:extLst>
      <p:ext uri="{BB962C8B-B14F-4D97-AF65-F5344CB8AC3E}">
        <p14:creationId xmlns:p14="http://schemas.microsoft.com/office/powerpoint/2010/main" val="2699772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3210" marR="0" lvl="0" indent="-45720" algn="l" defTabSz="914400" rtl="0" eaLnBrk="1" fontAlgn="base" latinLnBrk="0" hangingPunct="1">
              <a:lnSpc>
                <a:spcPct val="150000"/>
              </a:lnSpc>
              <a:spcBef>
                <a:spcPts val="0"/>
              </a:spcBef>
              <a:spcAft>
                <a:spcPts val="0"/>
              </a:spcAft>
              <a:buClrTx/>
              <a:buSzTx/>
              <a:buFontTx/>
              <a:buNone/>
              <a:tabLst>
                <a:tab pos="457200" algn="l"/>
                <a:tab pos="914400" algn="l"/>
              </a:tabLst>
              <a:defRPr/>
            </a:pPr>
            <a:r>
              <a:rPr lang="zh-CN" altLang="zh-CN" sz="1800" dirty="0">
                <a:effectLst/>
                <a:latin typeface="宋体" panose="02010600030101010101" pitchFamily="2" charset="-122"/>
                <a:ea typeface="仿宋" panose="02010609060101010101" pitchFamily="49" charset="-122"/>
                <a:cs typeface="宋体" panose="02010600030101010101" pitchFamily="2" charset="-122"/>
              </a:rPr>
              <a:t>公司</a:t>
            </a:r>
            <a:r>
              <a:rPr lang="zh-CN" altLang="en-US" sz="1800" dirty="0">
                <a:effectLst/>
                <a:latin typeface="宋体" panose="02010600030101010101" pitchFamily="2" charset="-122"/>
                <a:ea typeface="仿宋" panose="02010609060101010101" pitchFamily="49" charset="-122"/>
                <a:cs typeface="宋体" panose="02010600030101010101" pitchFamily="2" charset="-122"/>
              </a:rPr>
              <a:t>是经典的</a:t>
            </a:r>
            <a:r>
              <a:rPr lang="en-US" altLang="zh-CN" sz="1800" kern="1200" dirty="0">
                <a:solidFill>
                  <a:srgbClr val="000000"/>
                </a:solidFill>
                <a:effectLst/>
                <a:latin typeface="仿宋" panose="02010609060101010101" pitchFamily="49" charset="-122"/>
                <a:ea typeface="宋体" panose="02010600030101010101" pitchFamily="2" charset="-122"/>
                <a:cs typeface="Times New Roman" panose="02020603050405020304" pitchFamily="18" charset="0"/>
              </a:rPr>
              <a:t>Fabless</a:t>
            </a:r>
            <a:r>
              <a:rPr lang="zh-CN" altLang="zh-CN" sz="1800" kern="1200" dirty="0">
                <a:solidFill>
                  <a:srgbClr val="000000"/>
                </a:solidFill>
                <a:effectLst/>
                <a:latin typeface="宋体" panose="02010600030101010101" pitchFamily="2" charset="-122"/>
                <a:ea typeface="仿宋" panose="02010609060101010101" pitchFamily="49" charset="-122"/>
                <a:cs typeface="宋体" panose="02010600030101010101" pitchFamily="2" charset="-122"/>
              </a:rPr>
              <a:t>模式，在国内和国外均有流片。</a:t>
            </a:r>
            <a:r>
              <a:rPr lang="zh-CN" altLang="en-US" sz="1800" kern="1200" dirty="0">
                <a:solidFill>
                  <a:srgbClr val="000000"/>
                </a:solidFill>
                <a:effectLst/>
                <a:latin typeface="宋体" panose="02010600030101010101" pitchFamily="2" charset="-122"/>
                <a:ea typeface="仿宋" panose="02010609060101010101" pitchFamily="49" charset="-122"/>
                <a:cs typeface="宋体" panose="02010600030101010101" pitchFamily="2" charset="-122"/>
              </a:rPr>
              <a:t>晶圆主要是在</a:t>
            </a:r>
            <a:r>
              <a:rPr lang="en-US" altLang="zh-CN" sz="1800" kern="1200" dirty="0">
                <a:solidFill>
                  <a:srgbClr val="000000"/>
                </a:solidFill>
                <a:effectLst/>
                <a:latin typeface="宋体" panose="02010600030101010101" pitchFamily="2" charset="-122"/>
                <a:ea typeface="仿宋" panose="02010609060101010101" pitchFamily="49" charset="-122"/>
                <a:cs typeface="宋体" panose="02010600030101010101" pitchFamily="2" charset="-122"/>
              </a:rPr>
              <a:t>VIS</a:t>
            </a:r>
            <a:r>
              <a:rPr lang="zh-CN" altLang="en-US" sz="1800" kern="1200" dirty="0">
                <a:solidFill>
                  <a:srgbClr val="000000"/>
                </a:solidFill>
                <a:effectLst/>
                <a:latin typeface="宋体" panose="02010600030101010101" pitchFamily="2" charset="-122"/>
                <a:ea typeface="仿宋" panose="02010609060101010101" pitchFamily="49" charset="-122"/>
                <a:cs typeface="宋体" panose="02010600030101010101" pitchFamily="2" charset="-122"/>
              </a:rPr>
              <a:t>世界先进、韩国东部、华润上华等。调研过程中发现，在今年产能最紧张的</a:t>
            </a:r>
            <a:r>
              <a:rPr lang="en-US" altLang="zh-CN" sz="1800" kern="1200" dirty="0">
                <a:solidFill>
                  <a:srgbClr val="000000"/>
                </a:solidFill>
                <a:effectLst/>
                <a:latin typeface="宋体" panose="02010600030101010101" pitchFamily="2" charset="-122"/>
                <a:ea typeface="仿宋" panose="02010609060101010101" pitchFamily="49" charset="-122"/>
                <a:cs typeface="宋体" panose="02010600030101010101" pitchFamily="2" charset="-122"/>
              </a:rPr>
              <a:t>3-4</a:t>
            </a:r>
            <a:r>
              <a:rPr lang="zh-CN" altLang="en-US" sz="1800" kern="1200" dirty="0">
                <a:solidFill>
                  <a:srgbClr val="000000"/>
                </a:solidFill>
                <a:effectLst/>
                <a:latin typeface="宋体" panose="02010600030101010101" pitchFamily="2" charset="-122"/>
                <a:ea typeface="仿宋" panose="02010609060101010101" pitchFamily="49" charset="-122"/>
                <a:cs typeface="宋体" panose="02010600030101010101" pitchFamily="2" charset="-122"/>
              </a:rPr>
              <a:t>月份，我们拿到比订单数据更靠谱的晶圆下线数据，公司半年的晶圆下线数据显示，</a:t>
            </a:r>
            <a:r>
              <a:rPr lang="zh-CN" altLang="en-US" sz="1800" b="1" dirty="0">
                <a:latin typeface="仿宋" panose="02010609060101010101" pitchFamily="49" charset="-122"/>
                <a:ea typeface="仿宋" panose="02010609060101010101" pitchFamily="49" charset="-122"/>
              </a:rPr>
              <a:t>台湾世界先进平均</a:t>
            </a:r>
            <a:r>
              <a:rPr lang="en-US" altLang="zh-CN" sz="1800" b="1" dirty="0">
                <a:latin typeface="仿宋" panose="02010609060101010101" pitchFamily="49" charset="-122"/>
                <a:ea typeface="仿宋" panose="02010609060101010101" pitchFamily="49" charset="-122"/>
              </a:rPr>
              <a:t>1100</a:t>
            </a:r>
            <a:r>
              <a:rPr lang="zh-CN" altLang="en-US" sz="1800" b="1" dirty="0">
                <a:latin typeface="仿宋" panose="02010609060101010101" pitchFamily="49" charset="-122"/>
                <a:ea typeface="仿宋" panose="02010609060101010101" pitchFamily="49" charset="-122"/>
              </a:rPr>
              <a:t>片</a:t>
            </a:r>
            <a:r>
              <a:rPr lang="en-US" altLang="zh-CN" sz="1800" b="1" dirty="0">
                <a:latin typeface="仿宋" panose="02010609060101010101" pitchFamily="49" charset="-122"/>
                <a:ea typeface="仿宋" panose="02010609060101010101" pitchFamily="49" charset="-122"/>
              </a:rPr>
              <a:t>/</a:t>
            </a:r>
            <a:r>
              <a:rPr lang="zh-CN" altLang="en-US" sz="1800" b="1" dirty="0">
                <a:latin typeface="仿宋" panose="02010609060101010101" pitchFamily="49" charset="-122"/>
                <a:ea typeface="仿宋" panose="02010609060101010101" pitchFamily="49" charset="-122"/>
              </a:rPr>
              <a:t>月，韩国东部平均</a:t>
            </a:r>
            <a:r>
              <a:rPr lang="en-US" altLang="zh-CN" sz="1800" b="1" dirty="0">
                <a:latin typeface="仿宋" panose="02010609060101010101" pitchFamily="49" charset="-122"/>
                <a:ea typeface="仿宋" panose="02010609060101010101" pitchFamily="49" charset="-122"/>
              </a:rPr>
              <a:t>700</a:t>
            </a:r>
            <a:r>
              <a:rPr lang="zh-CN" altLang="en-US" sz="1800" b="1" dirty="0">
                <a:latin typeface="仿宋" panose="02010609060101010101" pitchFamily="49" charset="-122"/>
                <a:ea typeface="仿宋" panose="02010609060101010101" pitchFamily="49" charset="-122"/>
              </a:rPr>
              <a:t>片</a:t>
            </a:r>
            <a:r>
              <a:rPr lang="en-US" altLang="zh-CN" sz="1800" b="1" dirty="0">
                <a:latin typeface="仿宋" panose="02010609060101010101" pitchFamily="49" charset="-122"/>
                <a:ea typeface="仿宋" panose="02010609060101010101" pitchFamily="49" charset="-122"/>
              </a:rPr>
              <a:t>/</a:t>
            </a:r>
            <a:r>
              <a:rPr lang="zh-CN" altLang="en-US" sz="1800" b="1" dirty="0">
                <a:latin typeface="仿宋" panose="02010609060101010101" pitchFamily="49" charset="-122"/>
                <a:ea typeface="仿宋" panose="02010609060101010101" pitchFamily="49" charset="-122"/>
              </a:rPr>
              <a:t>月，</a:t>
            </a:r>
            <a:r>
              <a:rPr lang="en-US" altLang="zh-CN" sz="1800" b="1" dirty="0">
                <a:latin typeface="仿宋" panose="02010609060101010101" pitchFamily="49" charset="-122"/>
                <a:ea typeface="仿宋" panose="02010609060101010101" pitchFamily="49" charset="-122"/>
              </a:rPr>
              <a:t>3</a:t>
            </a:r>
            <a:r>
              <a:rPr lang="zh-CN" altLang="en-US" sz="1800" b="1" dirty="0">
                <a:latin typeface="仿宋" panose="02010609060101010101" pitchFamily="49" charset="-122"/>
                <a:ea typeface="仿宋" panose="02010609060101010101" pitchFamily="49" charset="-122"/>
              </a:rPr>
              <a:t>月</a:t>
            </a:r>
            <a:r>
              <a:rPr lang="en-US" altLang="zh-CN" sz="1800" b="1" dirty="0">
                <a:latin typeface="仿宋" panose="02010609060101010101" pitchFamily="49" charset="-122"/>
                <a:ea typeface="仿宋" panose="02010609060101010101" pitchFamily="49" charset="-122"/>
              </a:rPr>
              <a:t>30</a:t>
            </a:r>
            <a:r>
              <a:rPr lang="zh-CN" altLang="en-US" sz="1800" b="1" dirty="0">
                <a:latin typeface="仿宋" panose="02010609060101010101" pitchFamily="49" charset="-122"/>
                <a:ea typeface="仿宋" panose="02010609060101010101" pitchFamily="49" charset="-122"/>
              </a:rPr>
              <a:t>日在下线</a:t>
            </a:r>
            <a:r>
              <a:rPr lang="en-US" altLang="zh-CN" sz="1800" b="1" dirty="0">
                <a:latin typeface="仿宋" panose="02010609060101010101" pitchFamily="49" charset="-122"/>
                <a:ea typeface="仿宋" panose="02010609060101010101" pitchFamily="49" charset="-122"/>
              </a:rPr>
              <a:t>525</a:t>
            </a:r>
            <a:r>
              <a:rPr lang="zh-CN" altLang="en-US" sz="1800" b="1" dirty="0">
                <a:latin typeface="仿宋" panose="02010609060101010101" pitchFamily="49" charset="-122"/>
                <a:ea typeface="仿宋" panose="02010609060101010101" pitchFamily="49" charset="-122"/>
              </a:rPr>
              <a:t>片</a:t>
            </a:r>
            <a:r>
              <a:rPr lang="zh-CN" altLang="en-US" sz="1800" dirty="0">
                <a:latin typeface="仿宋" panose="02010609060101010101" pitchFamily="49" charset="-122"/>
                <a:ea typeface="仿宋" panose="02010609060101010101" pitchFamily="49" charset="-122"/>
              </a:rPr>
              <a:t>。按一片万元左右的销售额简单估算，一个月</a:t>
            </a:r>
            <a:r>
              <a:rPr lang="en-US" altLang="zh-CN" sz="1800" dirty="0">
                <a:latin typeface="仿宋" panose="02010609060101010101" pitchFamily="49" charset="-122"/>
                <a:ea typeface="仿宋" panose="02010609060101010101" pitchFamily="49" charset="-122"/>
              </a:rPr>
              <a:t>1000</a:t>
            </a:r>
            <a:r>
              <a:rPr lang="zh-CN" altLang="en-US" sz="1800" dirty="0">
                <a:latin typeface="仿宋" panose="02010609060101010101" pitchFamily="49" charset="-122"/>
                <a:ea typeface="仿宋" panose="02010609060101010101" pitchFamily="49" charset="-122"/>
              </a:rPr>
              <a:t>多万的销售额问题不大。根据</a:t>
            </a:r>
            <a:r>
              <a:rPr lang="en-US" altLang="zh-CN" sz="1800" dirty="0">
                <a:latin typeface="仿宋" panose="02010609060101010101" pitchFamily="49" charset="-122"/>
                <a:ea typeface="仿宋" panose="02010609060101010101" pitchFamily="49" charset="-122"/>
              </a:rPr>
              <a:t>5</a:t>
            </a:r>
            <a:r>
              <a:rPr lang="zh-CN" altLang="en-US" sz="1800" dirty="0">
                <a:latin typeface="仿宋" panose="02010609060101010101" pitchFamily="49" charset="-122"/>
                <a:ea typeface="仿宋" panose="02010609060101010101" pitchFamily="49" charset="-122"/>
              </a:rPr>
              <a:t>月实现</a:t>
            </a:r>
            <a:r>
              <a:rPr lang="en-US" altLang="zh-CN" sz="1800" dirty="0">
                <a:latin typeface="仿宋" panose="02010609060101010101" pitchFamily="49" charset="-122"/>
                <a:ea typeface="仿宋" panose="02010609060101010101" pitchFamily="49" charset="-122"/>
              </a:rPr>
              <a:t>1000</a:t>
            </a:r>
            <a:r>
              <a:rPr lang="zh-CN" altLang="en-US" sz="1800" dirty="0">
                <a:latin typeface="仿宋" panose="02010609060101010101" pitchFamily="49" charset="-122"/>
                <a:ea typeface="仿宋" panose="02010609060101010101" pitchFamily="49" charset="-122"/>
              </a:rPr>
              <a:t>万的销售额，也验证了我们当初的判断。其他包括封测资源也拿到和凹凸科技一样的条件，企业在产业链的地位还是比较强势的。</a:t>
            </a:r>
            <a:endParaRPr lang="en-US" altLang="zh-CN" sz="1800" dirty="0">
              <a:latin typeface="仿宋" panose="02010609060101010101" pitchFamily="49" charset="-122"/>
              <a:ea typeface="仿宋" panose="02010609060101010101" pitchFamily="49" charset="-122"/>
            </a:endParaRPr>
          </a:p>
          <a:p>
            <a:pPr marL="283210" marR="0" lvl="0" indent="-45720" algn="l" defTabSz="914400" rtl="0" eaLnBrk="1" fontAlgn="base" latinLnBrk="0" hangingPunct="1">
              <a:lnSpc>
                <a:spcPct val="150000"/>
              </a:lnSpc>
              <a:spcBef>
                <a:spcPts val="0"/>
              </a:spcBef>
              <a:spcAft>
                <a:spcPts val="0"/>
              </a:spcAft>
              <a:buClrTx/>
              <a:buSzTx/>
              <a:buFontTx/>
              <a:buNone/>
              <a:tabLst>
                <a:tab pos="457200" algn="l"/>
                <a:tab pos="914400" algn="l"/>
              </a:tabLst>
              <a:defRPr/>
            </a:pPr>
            <a:r>
              <a:rPr lang="zh-CN" altLang="en-US" sz="1800" dirty="0">
                <a:latin typeface="仿宋" panose="02010609060101010101" pitchFamily="49" charset="-122"/>
                <a:ea typeface="仿宋" panose="02010609060101010101" pitchFamily="49" charset="-122"/>
              </a:rPr>
              <a:t>订单方面，公司在手订单和项目充足，今年</a:t>
            </a:r>
            <a:r>
              <a:rPr lang="en-US" altLang="zh-CN" sz="1800" dirty="0">
                <a:latin typeface="仿宋" panose="02010609060101010101" pitchFamily="49" charset="-122"/>
                <a:ea typeface="仿宋" panose="02010609060101010101" pitchFamily="49" charset="-122"/>
              </a:rPr>
              <a:t>1.5</a:t>
            </a:r>
            <a:r>
              <a:rPr lang="zh-CN" altLang="en-US" sz="1800" dirty="0">
                <a:latin typeface="仿宋" panose="02010609060101010101" pitchFamily="49" charset="-122"/>
                <a:ea typeface="仿宋" panose="02010609060101010101" pitchFamily="49" charset="-122"/>
              </a:rPr>
              <a:t>亿营收问题不大。</a:t>
            </a:r>
            <a:endParaRPr lang="en-US" altLang="zh-CN" sz="1800" dirty="0">
              <a:latin typeface="仿宋" panose="02010609060101010101" pitchFamily="49" charset="-122"/>
              <a:ea typeface="仿宋" panose="02010609060101010101" pitchFamily="49" charset="-122"/>
            </a:endParaRPr>
          </a:p>
          <a:p>
            <a:pPr marL="283210" marR="0" lvl="0" indent="-45720" algn="l" defTabSz="914400" rtl="0" eaLnBrk="1" fontAlgn="base" latinLnBrk="0" hangingPunct="1">
              <a:lnSpc>
                <a:spcPct val="150000"/>
              </a:lnSpc>
              <a:spcBef>
                <a:spcPts val="0"/>
              </a:spcBef>
              <a:spcAft>
                <a:spcPts val="0"/>
              </a:spcAft>
              <a:buClrTx/>
              <a:buSzTx/>
              <a:buFontTx/>
              <a:buNone/>
              <a:tabLst>
                <a:tab pos="457200" algn="l"/>
                <a:tab pos="914400" algn="l"/>
              </a:tabLst>
              <a:defRPr/>
            </a:pPr>
            <a:r>
              <a:rPr lang="zh-CN" altLang="en-US" sz="1800" dirty="0">
                <a:latin typeface="仿宋" panose="02010609060101010101" pitchFamily="49" charset="-122"/>
                <a:ea typeface="仿宋" panose="02010609060101010101" pitchFamily="49" charset="-122"/>
              </a:rPr>
              <a:t>销售模式上，终端客户指定大瞬为芯片原厂，后续大瞬指定代理商发货；企业产品和技术过硬，对代理商比较强势，</a:t>
            </a:r>
            <a:r>
              <a:rPr lang="en-US" altLang="zh-CN" sz="1800" dirty="0">
                <a:latin typeface="仿宋" panose="02010609060101010101" pitchFamily="49" charset="-122"/>
                <a:ea typeface="仿宋" panose="02010609060101010101" pitchFamily="49" charset="-122"/>
              </a:rPr>
              <a:t>0</a:t>
            </a:r>
            <a:r>
              <a:rPr lang="zh-CN" altLang="en-US" sz="1800" dirty="0">
                <a:latin typeface="仿宋" panose="02010609060101010101" pitchFamily="49" charset="-122"/>
                <a:ea typeface="仿宋" panose="02010609060101010101" pitchFamily="49" charset="-122"/>
              </a:rPr>
              <a:t>账期；后续进入董事会后，将建议企业做相应更适合国内国情的账期调整。</a:t>
            </a:r>
            <a:endParaRPr lang="en-US" altLang="zh-CN" sz="1800" dirty="0">
              <a:latin typeface="仿宋" panose="02010609060101010101" pitchFamily="49" charset="-122"/>
              <a:ea typeface="仿宋" panose="02010609060101010101" pitchFamily="49" charset="-122"/>
            </a:endParaRPr>
          </a:p>
          <a:p>
            <a:pPr marL="283210" marR="0" lvl="0" indent="-45720" algn="l" defTabSz="914400" rtl="0" eaLnBrk="1" fontAlgn="base" latinLnBrk="0" hangingPunct="1">
              <a:lnSpc>
                <a:spcPct val="150000"/>
              </a:lnSpc>
              <a:spcBef>
                <a:spcPts val="0"/>
              </a:spcBef>
              <a:spcAft>
                <a:spcPts val="0"/>
              </a:spcAft>
              <a:buClrTx/>
              <a:buSzTx/>
              <a:buFontTx/>
              <a:buNone/>
              <a:tabLst>
                <a:tab pos="457200" algn="l"/>
                <a:tab pos="914400" algn="l"/>
              </a:tabLst>
              <a:defRPr/>
            </a:pPr>
            <a:endParaRPr lang="en-US" altLang="zh-CN" sz="1800" dirty="0">
              <a:latin typeface="仿宋" panose="02010609060101010101" pitchFamily="49" charset="-122"/>
              <a:ea typeface="仿宋" panose="02010609060101010101" pitchFamily="49" charset="-122"/>
            </a:endParaRPr>
          </a:p>
        </p:txBody>
      </p:sp>
      <p:sp>
        <p:nvSpPr>
          <p:cNvPr id="4" name="灯片编号占位符 3"/>
          <p:cNvSpPr>
            <a:spLocks noGrp="1"/>
          </p:cNvSpPr>
          <p:nvPr>
            <p:ph type="sldNum" sz="quarter" idx="5"/>
          </p:nvPr>
        </p:nvSpPr>
        <p:spPr/>
        <p:txBody>
          <a:bodyPr/>
          <a:lstStyle/>
          <a:p>
            <a:fld id="{EDB296A9-64E8-4B0F-8A40-DB128CAA2C51}" type="slidenum">
              <a:rPr lang="zh-CN" altLang="en-US" smtClean="0"/>
              <a:t>10</a:t>
            </a:fld>
            <a:endParaRPr lang="zh-CN" altLang="en-US"/>
          </a:p>
        </p:txBody>
      </p:sp>
    </p:spTree>
    <p:extLst>
      <p:ext uri="{BB962C8B-B14F-4D97-AF65-F5344CB8AC3E}">
        <p14:creationId xmlns:p14="http://schemas.microsoft.com/office/powerpoint/2010/main" val="37691455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304800" algn="just" defTabSz="914400" rtl="0" eaLnBrk="1" fontAlgn="auto" latinLnBrk="0" hangingPunct="1">
              <a:lnSpc>
                <a:spcPct val="120000"/>
              </a:lnSpc>
              <a:spcBef>
                <a:spcPts val="0"/>
              </a:spcBef>
              <a:spcAft>
                <a:spcPts val="0"/>
              </a:spcAft>
              <a:buClrTx/>
              <a:buSzTx/>
              <a:buFontTx/>
              <a:buNone/>
              <a:tabLst>
                <a:tab pos="457200" algn="l"/>
                <a:tab pos="914400" algn="l"/>
              </a:tabLst>
              <a:defRPr/>
            </a:pPr>
            <a:r>
              <a:rPr lang="zh-CN" altLang="zh-CN" sz="1800" kern="100" dirty="0">
                <a:effectLst/>
                <a:latin typeface="Times New Roman" panose="02020603050405020304" pitchFamily="18" charset="0"/>
                <a:ea typeface="仿宋" panose="02010609060101010101" pitchFamily="49" charset="-122"/>
              </a:rPr>
              <a:t>公司主要提供高端手机快充芯片、高精度电量计、笔电</a:t>
            </a:r>
            <a:r>
              <a:rPr lang="en-US" altLang="zh-CN" sz="1800" kern="100" dirty="0">
                <a:effectLst/>
                <a:latin typeface="Times New Roman" panose="02020603050405020304" pitchFamily="18" charset="0"/>
                <a:ea typeface="仿宋" panose="02010609060101010101" pitchFamily="49" charset="-122"/>
              </a:rPr>
              <a:t>DC/DC</a:t>
            </a:r>
            <a:r>
              <a:rPr lang="zh-CN" altLang="zh-CN" sz="1800" kern="100" dirty="0">
                <a:effectLst/>
                <a:latin typeface="Times New Roman" panose="02020603050405020304" pitchFamily="18" charset="0"/>
                <a:ea typeface="仿宋" panose="02010609060101010101" pitchFamily="49" charset="-122"/>
              </a:rPr>
              <a:t>转换芯片、共享单车充电芯片等，相关终端客户包括</a:t>
            </a:r>
            <a:r>
              <a:rPr lang="en-US" altLang="zh-CN" sz="1800" kern="100" dirty="0">
                <a:effectLst/>
                <a:latin typeface="Times New Roman" panose="02020603050405020304" pitchFamily="18" charset="0"/>
                <a:ea typeface="仿宋" panose="02010609060101010101" pitchFamily="49" charset="-122"/>
              </a:rPr>
              <a:t>OPPO</a:t>
            </a:r>
            <a:r>
              <a:rPr lang="zh-CN" altLang="zh-CN" sz="1800" kern="100" dirty="0">
                <a:effectLst/>
                <a:latin typeface="Times New Roman" panose="02020603050405020304" pitchFamily="18" charset="0"/>
                <a:ea typeface="仿宋" panose="02010609060101010101" pitchFamily="49" charset="-122"/>
              </a:rPr>
              <a:t>、</a:t>
            </a:r>
            <a:r>
              <a:rPr lang="zh-CN" altLang="en-US" sz="1800" kern="100" dirty="0">
                <a:effectLst/>
                <a:latin typeface="Times New Roman" panose="02020603050405020304" pitchFamily="18" charset="0"/>
                <a:ea typeface="仿宋" panose="02010609060101010101" pitchFamily="49" charset="-122"/>
              </a:rPr>
              <a:t>小米、</a:t>
            </a:r>
            <a:r>
              <a:rPr lang="zh-CN" altLang="zh-CN" sz="1800" kern="100" dirty="0">
                <a:effectLst/>
                <a:latin typeface="Times New Roman" panose="02020603050405020304" pitchFamily="18" charset="0"/>
                <a:ea typeface="仿宋" panose="02010609060101010101" pitchFamily="49" charset="-122"/>
              </a:rPr>
              <a:t>酷派、小米、</a:t>
            </a:r>
            <a:r>
              <a:rPr lang="en-US" altLang="zh-CN" sz="1800" kern="100" dirty="0">
                <a:effectLst/>
                <a:latin typeface="Times New Roman" panose="02020603050405020304" pitchFamily="18" charset="0"/>
                <a:ea typeface="仿宋" panose="02010609060101010101" pitchFamily="49" charset="-122"/>
              </a:rPr>
              <a:t>vivo</a:t>
            </a:r>
            <a:r>
              <a:rPr lang="zh-CN" altLang="zh-CN" sz="1800" kern="100" dirty="0">
                <a:effectLst/>
                <a:latin typeface="Times New Roman" panose="02020603050405020304" pitchFamily="18" charset="0"/>
                <a:ea typeface="仿宋" panose="02010609060101010101" pitchFamily="49" charset="-122"/>
              </a:rPr>
              <a:t>、联想、滴滴、美团、</a:t>
            </a:r>
            <a:r>
              <a:rPr lang="en-US" altLang="zh-CN" sz="1800" kern="100" dirty="0">
                <a:effectLst/>
                <a:latin typeface="Times New Roman" panose="02020603050405020304" pitchFamily="18" charset="0"/>
                <a:ea typeface="仿宋" panose="02010609060101010101" pitchFamily="49" charset="-122"/>
              </a:rPr>
              <a:t>Acer</a:t>
            </a:r>
            <a:r>
              <a:rPr lang="zh-CN" altLang="zh-CN" sz="1800" kern="100" dirty="0">
                <a:effectLst/>
                <a:latin typeface="Times New Roman" panose="02020603050405020304" pitchFamily="18" charset="0"/>
                <a:ea typeface="仿宋" panose="02010609060101010101" pitchFamily="49" charset="-122"/>
              </a:rPr>
              <a:t>、广达电脑、松下、步步高</a:t>
            </a:r>
            <a:r>
              <a:rPr lang="zh-CN" altLang="en-US" sz="1800" kern="100" dirty="0">
                <a:effectLst/>
                <a:latin typeface="Times New Roman" panose="02020603050405020304" pitchFamily="18" charset="0"/>
                <a:ea typeface="仿宋" panose="02010609060101010101" pitchFamily="49" charset="-122"/>
              </a:rPr>
              <a:t>、华勤、禾苗</a:t>
            </a:r>
            <a:r>
              <a:rPr lang="zh-CN" altLang="zh-CN" sz="1800" kern="100" dirty="0">
                <a:effectLst/>
                <a:latin typeface="Times New Roman" panose="02020603050405020304" pitchFamily="18" charset="0"/>
                <a:ea typeface="仿宋" panose="02010609060101010101" pitchFamily="49" charset="-122"/>
              </a:rPr>
              <a:t>等下游大客户。</a:t>
            </a:r>
            <a:r>
              <a:rPr lang="en-US" altLang="zh-CN" sz="1800" kern="100" dirty="0">
                <a:effectLst/>
                <a:latin typeface="Times New Roman" panose="02020603050405020304" pitchFamily="18" charset="0"/>
                <a:ea typeface="仿宋" panose="02010609060101010101" pitchFamily="49" charset="-122"/>
              </a:rPr>
              <a:t>OPPO</a:t>
            </a:r>
            <a:r>
              <a:rPr lang="zh-CN" altLang="en-US" sz="1800" kern="100" dirty="0">
                <a:effectLst/>
                <a:latin typeface="Times New Roman" panose="02020603050405020304" pitchFamily="18" charset="0"/>
                <a:ea typeface="仿宋" panose="02010609060101010101" pitchFamily="49" charset="-122"/>
              </a:rPr>
              <a:t>的导入开发周期是最长的。</a:t>
            </a:r>
            <a:r>
              <a:rPr lang="en-US" altLang="zh-CN" sz="1800" kern="100" dirty="0">
                <a:effectLst/>
                <a:latin typeface="Times New Roman" panose="02020603050405020304" pitchFamily="18" charset="0"/>
                <a:ea typeface="仿宋" panose="02010609060101010101" pitchFamily="49" charset="-122"/>
              </a:rPr>
              <a:t>2-2.5</a:t>
            </a:r>
            <a:r>
              <a:rPr lang="zh-CN" altLang="en-US" sz="1800" kern="100" dirty="0">
                <a:effectLst/>
                <a:latin typeface="Times New Roman" panose="02020603050405020304" pitchFamily="18" charset="0"/>
                <a:ea typeface="仿宋" panose="02010609060101010101" pitchFamily="49" charset="-122"/>
              </a:rPr>
              <a:t>年，</a:t>
            </a:r>
            <a:r>
              <a:rPr lang="en-US" altLang="zh-CN" sz="1800" kern="100" dirty="0">
                <a:effectLst/>
                <a:latin typeface="Times New Roman" panose="02020603050405020304" pitchFamily="18" charset="0"/>
                <a:ea typeface="仿宋" panose="02010609060101010101" pitchFamily="49" charset="-122"/>
              </a:rPr>
              <a:t>vivo</a:t>
            </a:r>
            <a:r>
              <a:rPr lang="zh-CN" altLang="en-US" sz="1800" kern="100" dirty="0">
                <a:effectLst/>
                <a:latin typeface="Times New Roman" panose="02020603050405020304" pitchFamily="18" charset="0"/>
                <a:ea typeface="仿宋" panose="02010609060101010101" pitchFamily="49" charset="-122"/>
              </a:rPr>
              <a:t>在</a:t>
            </a:r>
            <a:r>
              <a:rPr lang="en-US" altLang="zh-CN" sz="1800" kern="100" dirty="0">
                <a:effectLst/>
                <a:latin typeface="Times New Roman" panose="02020603050405020304" pitchFamily="18" charset="0"/>
                <a:ea typeface="仿宋" panose="02010609060101010101" pitchFamily="49" charset="-122"/>
              </a:rPr>
              <a:t>2</a:t>
            </a:r>
            <a:r>
              <a:rPr lang="zh-CN" altLang="en-US" sz="1800" kern="100" dirty="0">
                <a:effectLst/>
                <a:latin typeface="Times New Roman" panose="02020603050405020304" pitchFamily="18" charset="0"/>
                <a:ea typeface="仿宋" panose="02010609060101010101" pitchFamily="49" charset="-122"/>
              </a:rPr>
              <a:t>年时间，小米在</a:t>
            </a:r>
            <a:r>
              <a:rPr lang="en-US" altLang="zh-CN" sz="1800" kern="100" dirty="0">
                <a:effectLst/>
                <a:latin typeface="Times New Roman" panose="02020603050405020304" pitchFamily="18" charset="0"/>
                <a:ea typeface="仿宋" panose="02010609060101010101" pitchFamily="49" charset="-122"/>
              </a:rPr>
              <a:t>1.5</a:t>
            </a:r>
            <a:r>
              <a:rPr lang="zh-CN" altLang="en-US" sz="1800" kern="100" dirty="0">
                <a:effectLst/>
                <a:latin typeface="Times New Roman" panose="02020603050405020304" pitchFamily="18" charset="0"/>
                <a:ea typeface="仿宋" panose="02010609060101010101" pitchFamily="49" charset="-122"/>
              </a:rPr>
              <a:t>年，而且均要验厂，其余包括华勤等</a:t>
            </a:r>
            <a:r>
              <a:rPr lang="en-US" altLang="zh-CN" sz="1800" kern="100" dirty="0">
                <a:effectLst/>
                <a:latin typeface="Times New Roman" panose="02020603050405020304" pitchFamily="18" charset="0"/>
                <a:ea typeface="仿宋" panose="02010609060101010101" pitchFamily="49" charset="-122"/>
              </a:rPr>
              <a:t>ODM</a:t>
            </a:r>
            <a:r>
              <a:rPr lang="zh-CN" altLang="en-US" sz="1800" kern="100" dirty="0">
                <a:effectLst/>
                <a:latin typeface="Times New Roman" panose="02020603050405020304" pitchFamily="18" charset="0"/>
                <a:ea typeface="仿宋" panose="02010609060101010101" pitchFamily="49" charset="-122"/>
              </a:rPr>
              <a:t>厂商在</a:t>
            </a:r>
            <a:r>
              <a:rPr lang="en-US" altLang="zh-CN" sz="1800" kern="100" dirty="0">
                <a:effectLst/>
                <a:latin typeface="Times New Roman" panose="02020603050405020304" pitchFamily="18" charset="0"/>
                <a:ea typeface="仿宋" panose="02010609060101010101" pitchFamily="49" charset="-122"/>
              </a:rPr>
              <a:t>1</a:t>
            </a:r>
            <a:r>
              <a:rPr lang="zh-CN" altLang="en-US" sz="1800" kern="100" dirty="0">
                <a:effectLst/>
                <a:latin typeface="Times New Roman" panose="02020603050405020304" pitchFamily="18" charset="0"/>
                <a:ea typeface="仿宋" panose="02010609060101010101" pitchFamily="49" charset="-122"/>
              </a:rPr>
              <a:t>年时间。</a:t>
            </a:r>
            <a:r>
              <a:rPr lang="en-US" altLang="zh-CN" sz="1800" kern="100" dirty="0">
                <a:effectLst/>
                <a:latin typeface="Times New Roman" panose="02020603050405020304" pitchFamily="18" charset="0"/>
                <a:ea typeface="仿宋" panose="02010609060101010101" pitchFamily="49" charset="-122"/>
              </a:rPr>
              <a:t>OPPO</a:t>
            </a:r>
            <a:r>
              <a:rPr lang="zh-CN" altLang="en-US" sz="1800" kern="100" dirty="0">
                <a:effectLst/>
                <a:latin typeface="Times New Roman" panose="02020603050405020304" pitchFamily="18" charset="0"/>
                <a:ea typeface="仿宋" panose="02010609060101010101" pitchFamily="49" charset="-122"/>
              </a:rPr>
              <a:t>是要求最严格的，后续公司进入小米、</a:t>
            </a:r>
            <a:r>
              <a:rPr lang="en-US" altLang="zh-CN" sz="1800" kern="100" dirty="0">
                <a:effectLst/>
                <a:latin typeface="Times New Roman" panose="02020603050405020304" pitchFamily="18" charset="0"/>
                <a:ea typeface="仿宋" panose="02010609060101010101" pitchFamily="49" charset="-122"/>
              </a:rPr>
              <a:t>vivo</a:t>
            </a:r>
            <a:r>
              <a:rPr lang="zh-CN" altLang="en-US" sz="1800" kern="100" dirty="0">
                <a:effectLst/>
                <a:latin typeface="Times New Roman" panose="02020603050405020304" pitchFamily="18" charset="0"/>
                <a:ea typeface="仿宋" panose="02010609060101010101" pitchFamily="49" charset="-122"/>
              </a:rPr>
              <a:t>产业链实现量产更容易。在</a:t>
            </a:r>
            <a:r>
              <a:rPr lang="en-US" altLang="zh-CN" sz="1800" kern="100" dirty="0">
                <a:effectLst/>
                <a:latin typeface="Times New Roman" panose="02020603050405020304" pitchFamily="18" charset="0"/>
                <a:ea typeface="仿宋" panose="02010609060101010101" pitchFamily="49" charset="-122"/>
              </a:rPr>
              <a:t>ODM</a:t>
            </a:r>
            <a:r>
              <a:rPr lang="zh-CN" altLang="en-US" sz="1800" kern="100" dirty="0">
                <a:effectLst/>
                <a:latin typeface="Times New Roman" panose="02020603050405020304" pitchFamily="18" charset="0"/>
                <a:ea typeface="仿宋" panose="02010609060101010101" pitchFamily="49" charset="-122"/>
              </a:rPr>
              <a:t>领域，第一大厂商华勤等也实现量产出货；笔电方面，公司将一致保持大厂</a:t>
            </a:r>
            <a:r>
              <a:rPr lang="en-US" altLang="zh-CN" sz="1800" kern="100" dirty="0">
                <a:effectLst/>
                <a:latin typeface="Times New Roman" panose="02020603050405020304" pitchFamily="18" charset="0"/>
                <a:ea typeface="仿宋" panose="02010609060101010101" pitchFamily="49" charset="-122"/>
              </a:rPr>
              <a:t>10%-20%</a:t>
            </a:r>
            <a:r>
              <a:rPr lang="zh-CN" altLang="en-US" sz="1800" kern="100" dirty="0">
                <a:effectLst/>
                <a:latin typeface="Times New Roman" panose="02020603050405020304" pitchFamily="18" charset="0"/>
                <a:ea typeface="仿宋" panose="02010609060101010101" pitchFamily="49" charset="-122"/>
              </a:rPr>
              <a:t>的市场份额，比较稳定；目前也在开拓信创市场，“春晓”计划，和</a:t>
            </a:r>
            <a:r>
              <a:rPr lang="zh-CN" altLang="zh-CN" sz="1800" b="1" dirty="0">
                <a:effectLst/>
                <a:latin typeface="Tahoma" panose="020B0604030504040204" pitchFamily="34" charset="0"/>
                <a:ea typeface="仿宋" panose="02010609060101010101" pitchFamily="49" charset="-122"/>
                <a:cs typeface="Times New Roman" panose="02020603050405020304" pitchFamily="18" charset="0"/>
              </a:rPr>
              <a:t>飞腾、龙芯、兆芯都在密切合作中，</a:t>
            </a:r>
            <a:r>
              <a:rPr lang="zh-CN" altLang="en-US" sz="1800" b="1" dirty="0">
                <a:effectLst/>
                <a:latin typeface="Tahoma" panose="020B0604030504040204" pitchFamily="34" charset="0"/>
                <a:ea typeface="仿宋" panose="02010609060101010101" pitchFamily="49" charset="-122"/>
                <a:cs typeface="Times New Roman" panose="02020603050405020304" pitchFamily="18" charset="0"/>
              </a:rPr>
              <a:t>也在</a:t>
            </a:r>
            <a:r>
              <a:rPr lang="zh-CN" altLang="zh-CN" sz="1800" b="1" dirty="0">
                <a:effectLst/>
                <a:latin typeface="Tahoma" panose="020B0604030504040204" pitchFamily="34" charset="0"/>
                <a:ea typeface="仿宋" panose="02010609060101010101" pitchFamily="49" charset="-122"/>
                <a:cs typeface="Times New Roman" panose="02020603050405020304" pitchFamily="18" charset="0"/>
              </a:rPr>
              <a:t>深度测试产品</a:t>
            </a:r>
            <a:r>
              <a:rPr lang="zh-CN" altLang="en-US" sz="1800" b="1" dirty="0">
                <a:effectLst/>
                <a:latin typeface="Tahoma" panose="020B0604030504040204" pitchFamily="34" charset="0"/>
                <a:ea typeface="仿宋" panose="02010609060101010101" pitchFamily="49" charset="-122"/>
                <a:cs typeface="Times New Roman" panose="02020603050405020304" pitchFamily="18" charset="0"/>
              </a:rPr>
              <a:t>。</a:t>
            </a:r>
            <a:endParaRPr lang="en-US" altLang="zh-CN" sz="1800" b="1" dirty="0">
              <a:effectLst/>
              <a:latin typeface="Tahoma" panose="020B0604030504040204" pitchFamily="34" charset="0"/>
              <a:ea typeface="仿宋" panose="02010609060101010101" pitchFamily="49" charset="-122"/>
              <a:cs typeface="Times New Roman" panose="02020603050405020304" pitchFamily="18" charset="0"/>
            </a:endParaRPr>
          </a:p>
          <a:p>
            <a:pPr marL="0" marR="0" lvl="0" indent="304800" algn="just" defTabSz="914400" rtl="0" eaLnBrk="1" fontAlgn="auto" latinLnBrk="0" hangingPunct="1">
              <a:lnSpc>
                <a:spcPct val="120000"/>
              </a:lnSpc>
              <a:spcBef>
                <a:spcPts val="0"/>
              </a:spcBef>
              <a:spcAft>
                <a:spcPts val="0"/>
              </a:spcAft>
              <a:buClrTx/>
              <a:buSzTx/>
              <a:buFontTx/>
              <a:buNone/>
              <a:tabLst>
                <a:tab pos="457200" algn="l"/>
                <a:tab pos="914400" algn="l"/>
              </a:tabLst>
              <a:defRPr/>
            </a:pPr>
            <a:r>
              <a:rPr lang="zh-CN" altLang="en-US" sz="1800" b="1" dirty="0">
                <a:effectLst/>
                <a:latin typeface="Tahoma" panose="020B0604030504040204" pitchFamily="34" charset="0"/>
                <a:ea typeface="仿宋" panose="02010609060101010101" pitchFamily="49" charset="-122"/>
                <a:cs typeface="Times New Roman" panose="02020603050405020304" pitchFamily="18" charset="0"/>
              </a:rPr>
              <a:t>整体来看，公司手机和笔电产品对一线大厂实现量产和导入的几乎全面覆盖。</a:t>
            </a:r>
            <a:endParaRPr lang="en-US" altLang="zh-CN" sz="1800" b="1" dirty="0">
              <a:effectLst/>
              <a:latin typeface="Tahoma" panose="020B0604030504040204" pitchFamily="34" charset="0"/>
              <a:ea typeface="仿宋" panose="02010609060101010101" pitchFamily="49" charset="-122"/>
              <a:cs typeface="Times New Roman" panose="02020603050405020304" pitchFamily="18" charset="0"/>
            </a:endParaRPr>
          </a:p>
          <a:p>
            <a:pPr marL="0" marR="0" lvl="0" indent="304800" algn="just" defTabSz="914400" rtl="0" eaLnBrk="1" fontAlgn="auto" latinLnBrk="0" hangingPunct="1">
              <a:lnSpc>
                <a:spcPct val="120000"/>
              </a:lnSpc>
              <a:spcBef>
                <a:spcPts val="0"/>
              </a:spcBef>
              <a:spcAft>
                <a:spcPts val="0"/>
              </a:spcAft>
              <a:buClrTx/>
              <a:buSzTx/>
              <a:buFontTx/>
              <a:buNone/>
              <a:tabLst>
                <a:tab pos="457200" algn="l"/>
                <a:tab pos="914400" algn="l"/>
              </a:tabLst>
              <a:defRPr/>
            </a:pPr>
            <a:endParaRPr lang="zh-CN" altLang="zh-CN" sz="1800" dirty="0">
              <a:effectLst/>
              <a:latin typeface="Tahoma" panose="020B0604030504040204" pitchFamily="34" charset="0"/>
              <a:ea typeface="微软雅黑" panose="020B0503020204020204" pitchFamily="34" charset="-122"/>
              <a:cs typeface="Times New Roman" panose="02020603050405020304" pitchFamily="18" charset="0"/>
            </a:endParaRPr>
          </a:p>
          <a:p>
            <a:pPr marL="0" marR="0" lvl="0" indent="304800" algn="just" defTabSz="914400" rtl="0" eaLnBrk="1" fontAlgn="auto" latinLnBrk="0" hangingPunct="1">
              <a:lnSpc>
                <a:spcPct val="120000"/>
              </a:lnSpc>
              <a:spcBef>
                <a:spcPts val="0"/>
              </a:spcBef>
              <a:spcAft>
                <a:spcPts val="0"/>
              </a:spcAft>
              <a:buClrTx/>
              <a:buSzTx/>
              <a:buFontTx/>
              <a:buNone/>
              <a:tabLst>
                <a:tab pos="457200" algn="l"/>
                <a:tab pos="914400" algn="l"/>
              </a:tabLst>
              <a:defRPr/>
            </a:pPr>
            <a:endParaRPr lang="en-US" altLang="zh-CN" sz="1800" kern="100" dirty="0">
              <a:effectLst/>
              <a:latin typeface="Times New Roman" panose="02020603050405020304" pitchFamily="18" charset="0"/>
              <a:ea typeface="仿宋"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EDB296A9-64E8-4B0F-8A40-DB128CAA2C51}" type="slidenum">
              <a:rPr lang="zh-CN" altLang="en-US" smtClean="0"/>
              <a:t>11</a:t>
            </a:fld>
            <a:endParaRPr lang="zh-CN" altLang="en-US"/>
          </a:p>
        </p:txBody>
      </p:sp>
    </p:spTree>
    <p:extLst>
      <p:ext uri="{BB962C8B-B14F-4D97-AF65-F5344CB8AC3E}">
        <p14:creationId xmlns:p14="http://schemas.microsoft.com/office/powerpoint/2010/main" val="39412076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304800" algn="just" defTabSz="914400" rtl="0" eaLnBrk="1" fontAlgn="auto" latinLnBrk="0" hangingPunct="1">
              <a:lnSpc>
                <a:spcPct val="12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仿宋" panose="02010609060101010101" pitchFamily="49" charset="-122"/>
              </a:rPr>
              <a:t>公司</a:t>
            </a:r>
            <a:r>
              <a:rPr lang="en-US" altLang="zh-CN" sz="1800" kern="100" dirty="0">
                <a:effectLst/>
                <a:latin typeface="Times New Roman" panose="02020603050405020304" pitchFamily="18" charset="0"/>
                <a:ea typeface="仿宋" panose="02010609060101010101" pitchFamily="49" charset="-122"/>
              </a:rPr>
              <a:t>IC</a:t>
            </a:r>
            <a:r>
              <a:rPr lang="zh-CN" altLang="zh-CN" sz="1800" kern="100" dirty="0">
                <a:effectLst/>
                <a:latin typeface="Times New Roman" panose="02020603050405020304" pitchFamily="18" charset="0"/>
                <a:ea typeface="仿宋" panose="02010609060101010101" pitchFamily="49" charset="-122"/>
              </a:rPr>
              <a:t>芯片的</a:t>
            </a:r>
            <a:r>
              <a:rPr lang="zh-CN" altLang="zh-CN" sz="1800" b="1" kern="100" dirty="0">
                <a:effectLst/>
                <a:latin typeface="Times New Roman" panose="02020603050405020304" pitchFamily="18" charset="0"/>
                <a:ea typeface="仿宋" panose="02010609060101010101" pitchFamily="49" charset="-122"/>
              </a:rPr>
              <a:t>晶圆代工厂为韩国东部高科、世界先进</a:t>
            </a:r>
            <a:r>
              <a:rPr lang="en-US" altLang="zh-CN" sz="1800" b="1" kern="100" dirty="0">
                <a:effectLst/>
                <a:latin typeface="Times New Roman" panose="02020603050405020304" pitchFamily="18" charset="0"/>
                <a:ea typeface="仿宋" panose="02010609060101010101" pitchFamily="49" charset="-122"/>
              </a:rPr>
              <a:t>VIS</a:t>
            </a:r>
            <a:r>
              <a:rPr lang="zh-CN" altLang="zh-CN" sz="1800" b="1" kern="100" dirty="0">
                <a:effectLst/>
                <a:latin typeface="Times New Roman" panose="02020603050405020304" pitchFamily="18" charset="0"/>
                <a:ea typeface="仿宋" panose="02010609060101010101" pitchFamily="49" charset="-122"/>
              </a:rPr>
              <a:t>无锡华润上华等</a:t>
            </a:r>
            <a:r>
              <a:rPr lang="zh-CN" altLang="zh-CN" sz="1800" kern="100" dirty="0">
                <a:effectLst/>
                <a:latin typeface="Times New Roman" panose="02020603050405020304" pitchFamily="18" charset="0"/>
                <a:ea typeface="仿宋" panose="02010609060101010101" pitchFamily="49" charset="-122"/>
              </a:rPr>
              <a:t>。</a:t>
            </a:r>
            <a:r>
              <a:rPr lang="zh-CN" altLang="zh-CN" sz="1800" b="1" kern="100" dirty="0">
                <a:effectLst/>
                <a:latin typeface="Times New Roman" panose="02020603050405020304" pitchFamily="18" charset="0"/>
                <a:ea typeface="仿宋" panose="02010609060101010101" pitchFamily="49" charset="-122"/>
              </a:rPr>
              <a:t>公司在部分晶圆供应商端是</a:t>
            </a:r>
            <a:r>
              <a:rPr lang="en-US" altLang="zh-CN" sz="1800" b="1" kern="100" dirty="0">
                <a:effectLst/>
                <a:latin typeface="Times New Roman" panose="02020603050405020304" pitchFamily="18" charset="0"/>
                <a:ea typeface="仿宋" panose="02010609060101010101" pitchFamily="49" charset="-122"/>
              </a:rPr>
              <a:t>VIP</a:t>
            </a:r>
            <a:r>
              <a:rPr lang="zh-CN" altLang="zh-CN" sz="1800" b="1" kern="100" dirty="0">
                <a:effectLst/>
                <a:latin typeface="Times New Roman" panose="02020603050405020304" pitchFamily="18" charset="0"/>
                <a:ea typeface="仿宋" panose="02010609060101010101" pitchFamily="49" charset="-122"/>
              </a:rPr>
              <a:t>客户级别，得到供应商高层的高度重视</a:t>
            </a:r>
            <a:r>
              <a:rPr lang="zh-CN" altLang="zh-CN" sz="1800" kern="100" dirty="0">
                <a:effectLst/>
                <a:latin typeface="Times New Roman" panose="02020603050405020304" pitchFamily="18" charset="0"/>
                <a:ea typeface="仿宋" panose="02010609060101010101" pitchFamily="49" charset="-122"/>
              </a:rPr>
              <a:t>。公司的封测供应商主要包括华天科技、通富微电、日月光等知名企业。</a:t>
            </a:r>
            <a:endParaRPr lang="en-US" altLang="zh-CN" sz="1800" kern="100" dirty="0">
              <a:effectLst/>
              <a:latin typeface="Times New Roman" panose="02020603050405020304" pitchFamily="18" charset="0"/>
              <a:ea typeface="宋体" panose="02010600030101010101" pitchFamily="2" charset="-122"/>
            </a:endParaRPr>
          </a:p>
          <a:p>
            <a:pPr marL="0" marR="0" lvl="0" indent="304800" algn="just" defTabSz="914400" rtl="0" eaLnBrk="1" fontAlgn="auto" latinLnBrk="0" hangingPunct="1">
              <a:lnSpc>
                <a:spcPct val="12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仿宋" panose="02010609060101010101" pitchFamily="49" charset="-122"/>
              </a:rPr>
              <a:t>由于公司现有的业务产品线从上市公司</a:t>
            </a:r>
            <a:r>
              <a:rPr lang="zh-CN" altLang="en-US" sz="1800" kern="100" dirty="0">
                <a:effectLst/>
                <a:latin typeface="Times New Roman" panose="02020603050405020304" pitchFamily="18" charset="0"/>
                <a:ea typeface="仿宋" panose="02010609060101010101" pitchFamily="49" charset="-122"/>
              </a:rPr>
              <a:t>承接时间</a:t>
            </a:r>
            <a:r>
              <a:rPr lang="zh-CN" altLang="zh-CN" sz="1800" kern="100" dirty="0">
                <a:effectLst/>
                <a:latin typeface="Times New Roman" panose="02020603050405020304" pitchFamily="18" charset="0"/>
                <a:ea typeface="仿宋" panose="02010609060101010101" pitchFamily="49" charset="-122"/>
              </a:rPr>
              <a:t>不足</a:t>
            </a:r>
            <a:r>
              <a:rPr lang="en-US" altLang="zh-CN" sz="1800" kern="100" dirty="0">
                <a:effectLst/>
                <a:latin typeface="Times New Roman" panose="02020603050405020304" pitchFamily="18" charset="0"/>
                <a:ea typeface="仿宋" panose="02010609060101010101" pitchFamily="49" charset="-122"/>
              </a:rPr>
              <a:t>1</a:t>
            </a:r>
            <a:r>
              <a:rPr lang="zh-CN" altLang="zh-CN" sz="1800" kern="100" dirty="0">
                <a:effectLst/>
                <a:latin typeface="Times New Roman" panose="02020603050405020304" pitchFamily="18" charset="0"/>
                <a:ea typeface="仿宋" panose="02010609060101010101" pitchFamily="49" charset="-122"/>
              </a:rPr>
              <a:t>年，相关生产运营所需的上游封测厂资源仍部分沿用上市公司的渠道资源。公司也在逐渐建立独立的供应链资源。</a:t>
            </a:r>
            <a:r>
              <a:rPr lang="zh-CN" altLang="en-US" sz="1800" kern="100" dirty="0">
                <a:effectLst/>
                <a:latin typeface="Times New Roman" panose="02020603050405020304" pitchFamily="18" charset="0"/>
                <a:ea typeface="仿宋" panose="02010609060101010101" pitchFamily="49" charset="-122"/>
              </a:rPr>
              <a:t>韩国东部、通富微电等已建立</a:t>
            </a:r>
            <a:r>
              <a:rPr lang="en-US" altLang="zh-CN" sz="1800" kern="100" dirty="0">
                <a:effectLst/>
                <a:latin typeface="Times New Roman" panose="02020603050405020304" pitchFamily="18" charset="0"/>
                <a:ea typeface="仿宋" panose="02010609060101010101" pitchFamily="49" charset="-122"/>
              </a:rPr>
              <a:t>code</a:t>
            </a:r>
            <a:r>
              <a:rPr lang="zh-CN" altLang="en-US" sz="1800" kern="100" dirty="0">
                <a:effectLst/>
                <a:latin typeface="Times New Roman" panose="02020603050405020304" pitchFamily="18" charset="0"/>
                <a:ea typeface="仿宋" panose="02010609060101010101" pitchFamily="49" charset="-122"/>
              </a:rPr>
              <a:t>并直接下单，后续直采比例将进一步加大，并完善独立自主的供应链。</a:t>
            </a:r>
            <a:endParaRPr lang="zh-CN" altLang="zh-CN" sz="1800" kern="100" dirty="0">
              <a:effectLst/>
              <a:latin typeface="Times New Roman" panose="02020603050405020304" pitchFamily="18" charset="0"/>
              <a:ea typeface="宋体" panose="02010600030101010101" pitchFamily="2" charset="-122"/>
            </a:endParaRPr>
          </a:p>
          <a:p>
            <a:pPr indent="304800" algn="just">
              <a:lnSpc>
                <a:spcPct val="120000"/>
              </a:lnSpc>
            </a:pPr>
            <a:endParaRPr lang="zh-CN" altLang="zh-CN" sz="1800" kern="100" dirty="0">
              <a:effectLst/>
              <a:latin typeface="Times New Roman" panose="02020603050405020304" pitchFamily="18" charset="0"/>
              <a:ea typeface="宋体" panose="02010600030101010101" pitchFamily="2" charset="-122"/>
            </a:endParaRPr>
          </a:p>
        </p:txBody>
      </p:sp>
      <p:sp>
        <p:nvSpPr>
          <p:cNvPr id="4" name="灯片编号占位符 3"/>
          <p:cNvSpPr>
            <a:spLocks noGrp="1"/>
          </p:cNvSpPr>
          <p:nvPr>
            <p:ph type="sldNum" sz="quarter" idx="5"/>
          </p:nvPr>
        </p:nvSpPr>
        <p:spPr/>
        <p:txBody>
          <a:bodyPr/>
          <a:lstStyle/>
          <a:p>
            <a:fld id="{EDB296A9-64E8-4B0F-8A40-DB128CAA2C51}" type="slidenum">
              <a:rPr lang="zh-CN" altLang="en-US" smtClean="0"/>
              <a:t>12</a:t>
            </a:fld>
            <a:endParaRPr lang="zh-CN" altLang="en-US"/>
          </a:p>
        </p:txBody>
      </p:sp>
    </p:spTree>
    <p:extLst>
      <p:ext uri="{BB962C8B-B14F-4D97-AF65-F5344CB8AC3E}">
        <p14:creationId xmlns:p14="http://schemas.microsoft.com/office/powerpoint/2010/main" val="2051187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3210" indent="-45720" fontAlgn="base">
              <a:lnSpc>
                <a:spcPct val="150000"/>
              </a:lnSpc>
              <a:spcBef>
                <a:spcPts val="600"/>
              </a:spcBef>
              <a:tabLst>
                <a:tab pos="457200" algn="l"/>
                <a:tab pos="914400" algn="l"/>
              </a:tabLst>
            </a:pP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公司</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4</a:t>
            </a: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月份提供了半年之内</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3</a:t>
            </a: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大晶圆供应商的下线数量数据。可以看到，公司在晶圆资源方面具有很强的优势。</a:t>
            </a:r>
            <a:endPar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endParaRPr>
          </a:p>
          <a:p>
            <a:pPr marL="283210" marR="0" lvl="0" indent="-45720" algn="l" defTabSz="914400" rtl="0" eaLnBrk="1" fontAlgn="base" latinLnBrk="0" hangingPunct="1">
              <a:lnSpc>
                <a:spcPct val="150000"/>
              </a:lnSpc>
              <a:spcBef>
                <a:spcPts val="600"/>
              </a:spcBef>
              <a:spcAft>
                <a:spcPts val="0"/>
              </a:spcAft>
              <a:buClrTx/>
              <a:buSzTx/>
              <a:buFontTx/>
              <a:buNone/>
              <a:tabLst>
                <a:tab pos="457200" algn="l"/>
                <a:tab pos="914400" algn="l"/>
              </a:tabLst>
              <a:defRPr/>
            </a:pP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在世界先进，</a:t>
            </a:r>
            <a:r>
              <a:rPr lang="en-US" altLang="zh-CN" sz="1800" kern="100" dirty="0">
                <a:effectLst/>
                <a:latin typeface="仿宋" panose="02010609060101010101" pitchFamily="49" charset="-122"/>
                <a:cs typeface="Times New Roman" panose="02020603050405020304" pitchFamily="18" charset="0"/>
              </a:rPr>
              <a:t>2020</a:t>
            </a:r>
            <a:r>
              <a:rPr lang="zh-CN" altLang="zh-CN" sz="1800" kern="100" dirty="0">
                <a:effectLst/>
                <a:ea typeface="仿宋" panose="02010609060101010101" pitchFamily="49" charset="-122"/>
                <a:cs typeface="Times New Roman" panose="02020603050405020304" pitchFamily="18" charset="0"/>
              </a:rPr>
              <a:t>年</a:t>
            </a:r>
            <a:r>
              <a:rPr lang="en-US" altLang="zh-CN" sz="1800" kern="100" dirty="0">
                <a:effectLst/>
                <a:ea typeface="仿宋" panose="02010609060101010101" pitchFamily="49" charset="-122"/>
                <a:cs typeface="Times New Roman" panose="02020603050405020304" pitchFamily="18" charset="0"/>
              </a:rPr>
              <a:t>10</a:t>
            </a:r>
            <a:r>
              <a:rPr lang="zh-CN" altLang="zh-CN" sz="1800" kern="100" dirty="0">
                <a:effectLst/>
                <a:ea typeface="仿宋" panose="02010609060101010101" pitchFamily="49" charset="-122"/>
                <a:cs typeface="Times New Roman" panose="02020603050405020304" pitchFamily="18" charset="0"/>
              </a:rPr>
              <a:t>月</a:t>
            </a:r>
            <a:r>
              <a:rPr lang="en-US" altLang="zh-CN" sz="1800" kern="100" dirty="0">
                <a:effectLst/>
                <a:ea typeface="仿宋" panose="02010609060101010101" pitchFamily="49" charset="-122"/>
                <a:cs typeface="Times New Roman" panose="02020603050405020304" pitchFamily="18" charset="0"/>
              </a:rPr>
              <a:t>-2021</a:t>
            </a:r>
            <a:r>
              <a:rPr lang="zh-CN" altLang="zh-CN" sz="1800" kern="100" dirty="0">
                <a:effectLst/>
                <a:ea typeface="仿宋" panose="02010609060101010101" pitchFamily="49" charset="-122"/>
                <a:cs typeface="Times New Roman" panose="02020603050405020304" pitchFamily="18" charset="0"/>
              </a:rPr>
              <a:t>年</a:t>
            </a:r>
            <a:r>
              <a:rPr lang="en-US" altLang="zh-CN" sz="1800" kern="100" dirty="0">
                <a:effectLst/>
                <a:ea typeface="仿宋" panose="02010609060101010101" pitchFamily="49" charset="-122"/>
                <a:cs typeface="Times New Roman" panose="02020603050405020304" pitchFamily="18" charset="0"/>
              </a:rPr>
              <a:t>3</a:t>
            </a:r>
            <a:r>
              <a:rPr lang="zh-CN" altLang="zh-CN" sz="1800" kern="100" dirty="0">
                <a:effectLst/>
                <a:ea typeface="仿宋" panose="02010609060101010101" pitchFamily="49" charset="-122"/>
                <a:cs typeface="Times New Roman" panose="02020603050405020304" pitchFamily="18" charset="0"/>
              </a:rPr>
              <a:t>月公司在世界先进累计投片数量为</a:t>
            </a:r>
            <a:r>
              <a:rPr lang="en-US" altLang="zh-CN" sz="1800" kern="100" dirty="0">
                <a:effectLst/>
                <a:ea typeface="仿宋" panose="02010609060101010101" pitchFamily="49" charset="-122"/>
                <a:cs typeface="Times New Roman" panose="02020603050405020304" pitchFamily="18" charset="0"/>
              </a:rPr>
              <a:t>6,797</a:t>
            </a:r>
            <a:r>
              <a:rPr lang="zh-CN" altLang="zh-CN" sz="1800" kern="100" dirty="0">
                <a:effectLst/>
                <a:ea typeface="仿宋" panose="02010609060101010101" pitchFamily="49" charset="-122"/>
                <a:cs typeface="Times New Roman" panose="02020603050405020304" pitchFamily="18" charset="0"/>
              </a:rPr>
              <a:t>片，平均每月在</a:t>
            </a:r>
            <a:r>
              <a:rPr lang="en-US" altLang="zh-CN" sz="1800" kern="100" dirty="0">
                <a:effectLst/>
                <a:ea typeface="仿宋" panose="02010609060101010101" pitchFamily="49" charset="-122"/>
                <a:cs typeface="Times New Roman" panose="02020603050405020304" pitchFamily="18" charset="0"/>
              </a:rPr>
              <a:t>1100</a:t>
            </a:r>
            <a:r>
              <a:rPr lang="zh-CN" altLang="zh-CN" sz="1800" kern="100" dirty="0">
                <a:effectLst/>
                <a:ea typeface="仿宋" panose="02010609060101010101" pitchFamily="49" charset="-122"/>
                <a:cs typeface="Times New Roman" panose="02020603050405020304" pitchFamily="18" charset="0"/>
              </a:rPr>
              <a:t>片，其中</a:t>
            </a:r>
            <a:r>
              <a:rPr lang="en-US" altLang="zh-CN" sz="1800" kern="100" dirty="0">
                <a:effectLst/>
                <a:ea typeface="仿宋" panose="02010609060101010101" pitchFamily="49" charset="-122"/>
                <a:cs typeface="Times New Roman" panose="02020603050405020304" pitchFamily="18" charset="0"/>
              </a:rPr>
              <a:t>SD77313</a:t>
            </a:r>
            <a:r>
              <a:rPr lang="zh-CN" altLang="zh-CN" sz="1800" kern="100" dirty="0">
                <a:effectLst/>
                <a:ea typeface="仿宋" panose="02010609060101010101" pitchFamily="49" charset="-122"/>
                <a:cs typeface="Times New Roman" panose="02020603050405020304" pitchFamily="18" charset="0"/>
              </a:rPr>
              <a:t>芯片平均</a:t>
            </a:r>
            <a:r>
              <a:rPr lang="en-US" altLang="zh-CN" sz="1800" kern="100" dirty="0">
                <a:effectLst/>
                <a:ea typeface="仿宋" panose="02010609060101010101" pitchFamily="49" charset="-122"/>
                <a:cs typeface="Times New Roman" panose="02020603050405020304" pitchFamily="18" charset="0"/>
              </a:rPr>
              <a:t>630</a:t>
            </a:r>
            <a:r>
              <a:rPr lang="zh-CN" altLang="zh-CN" sz="1800" kern="100" dirty="0">
                <a:effectLst/>
                <a:ea typeface="仿宋" panose="02010609060101010101" pitchFamily="49" charset="-122"/>
                <a:cs typeface="Times New Roman" panose="02020603050405020304" pitchFamily="18" charset="0"/>
              </a:rPr>
              <a:t>片</a:t>
            </a:r>
            <a:r>
              <a:rPr lang="en-US" altLang="zh-CN" sz="1800" kern="100" dirty="0">
                <a:effectLst/>
                <a:ea typeface="仿宋" panose="02010609060101010101" pitchFamily="49" charset="-122"/>
                <a:cs typeface="Times New Roman" panose="02020603050405020304" pitchFamily="18" charset="0"/>
              </a:rPr>
              <a:t>/</a:t>
            </a:r>
            <a:r>
              <a:rPr lang="zh-CN" altLang="zh-CN" sz="1800" kern="100" dirty="0">
                <a:effectLst/>
                <a:ea typeface="仿宋" panose="02010609060101010101" pitchFamily="49" charset="-122"/>
                <a:cs typeface="Times New Roman" panose="02020603050405020304" pitchFamily="18" charset="0"/>
              </a:rPr>
              <a:t>月。</a:t>
            </a:r>
            <a:endParaRPr lang="en-US" altLang="zh-CN" sz="1800" kern="100" dirty="0">
              <a:effectLst/>
              <a:ea typeface="仿宋" panose="02010609060101010101" pitchFamily="49" charset="-122"/>
              <a:cs typeface="Times New Roman" panose="02020603050405020304" pitchFamily="18" charset="0"/>
            </a:endParaRPr>
          </a:p>
          <a:p>
            <a:pPr marL="283210" marR="0" lvl="0" indent="-45720" algn="l" defTabSz="914400" rtl="0" eaLnBrk="1" fontAlgn="base" latinLnBrk="0" hangingPunct="1">
              <a:lnSpc>
                <a:spcPct val="150000"/>
              </a:lnSpc>
              <a:spcBef>
                <a:spcPts val="600"/>
              </a:spcBef>
              <a:spcAft>
                <a:spcPts val="0"/>
              </a:spcAft>
              <a:buClrTx/>
              <a:buSzTx/>
              <a:buFontTx/>
              <a:buNone/>
              <a:tabLst>
                <a:tab pos="457200" algn="l"/>
                <a:tab pos="914400" algn="l"/>
              </a:tabLst>
              <a:defRPr/>
            </a:pP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在韩国东部，</a:t>
            </a:r>
            <a:r>
              <a:rPr lang="en-US" altLang="zh-CN" sz="1800" kern="100" dirty="0">
                <a:ea typeface="仿宋" panose="02010609060101010101" pitchFamily="49" charset="-122"/>
                <a:cs typeface="Times New Roman" panose="02020603050405020304" pitchFamily="18" charset="0"/>
              </a:rPr>
              <a:t>2020</a:t>
            </a:r>
            <a:r>
              <a:rPr lang="zh-CN" altLang="zh-CN" sz="1800" kern="100" dirty="0">
                <a:ea typeface="仿宋" panose="02010609060101010101" pitchFamily="49" charset="-122"/>
                <a:cs typeface="Times New Roman" panose="02020603050405020304" pitchFamily="18" charset="0"/>
              </a:rPr>
              <a:t>年</a:t>
            </a:r>
            <a:r>
              <a:rPr lang="en-US" altLang="zh-CN" sz="1800" kern="100" dirty="0">
                <a:ea typeface="仿宋" panose="02010609060101010101" pitchFamily="49" charset="-122"/>
                <a:cs typeface="Times New Roman" panose="02020603050405020304" pitchFamily="18" charset="0"/>
              </a:rPr>
              <a:t>10</a:t>
            </a:r>
            <a:r>
              <a:rPr lang="zh-CN" altLang="zh-CN" sz="1800" kern="100" dirty="0">
                <a:ea typeface="仿宋" panose="02010609060101010101" pitchFamily="49" charset="-122"/>
                <a:cs typeface="Times New Roman" panose="02020603050405020304" pitchFamily="18" charset="0"/>
              </a:rPr>
              <a:t>月</a:t>
            </a:r>
            <a:r>
              <a:rPr lang="en-US" altLang="zh-CN" sz="1800" kern="100" dirty="0">
                <a:ea typeface="仿宋" panose="02010609060101010101" pitchFamily="49" charset="-122"/>
                <a:cs typeface="Times New Roman" panose="02020603050405020304" pitchFamily="18" charset="0"/>
              </a:rPr>
              <a:t>-2021</a:t>
            </a:r>
            <a:r>
              <a:rPr lang="zh-CN" altLang="zh-CN" sz="1800" kern="100" dirty="0">
                <a:ea typeface="仿宋" panose="02010609060101010101" pitchFamily="49" charset="-122"/>
                <a:cs typeface="Times New Roman" panose="02020603050405020304" pitchFamily="18" charset="0"/>
              </a:rPr>
              <a:t>年</a:t>
            </a:r>
            <a:r>
              <a:rPr lang="en-US" altLang="zh-CN" sz="1800" kern="100" dirty="0">
                <a:ea typeface="仿宋" panose="02010609060101010101" pitchFamily="49" charset="-122"/>
                <a:cs typeface="Times New Roman" panose="02020603050405020304" pitchFamily="18" charset="0"/>
              </a:rPr>
              <a:t>3</a:t>
            </a:r>
            <a:r>
              <a:rPr lang="zh-CN" altLang="zh-CN" sz="1800" kern="100" dirty="0">
                <a:ea typeface="仿宋" panose="02010609060101010101" pitchFamily="49" charset="-122"/>
                <a:cs typeface="Times New Roman" panose="02020603050405020304" pitchFamily="18" charset="0"/>
              </a:rPr>
              <a:t>月公司在东部高科的</a:t>
            </a:r>
            <a:r>
              <a:rPr lang="en-US" altLang="zh-CN" sz="1800" kern="100" dirty="0">
                <a:ea typeface="仿宋" panose="02010609060101010101" pitchFamily="49" charset="-122"/>
                <a:cs typeface="Times New Roman" panose="02020603050405020304" pitchFamily="18" charset="0"/>
              </a:rPr>
              <a:t>Fab2</a:t>
            </a:r>
            <a:r>
              <a:rPr lang="zh-CN" altLang="zh-CN" sz="1800" kern="100" dirty="0">
                <a:ea typeface="仿宋" panose="02010609060101010101" pitchFamily="49" charset="-122"/>
                <a:cs typeface="Times New Roman" panose="02020603050405020304" pitchFamily="18" charset="0"/>
              </a:rPr>
              <a:t>厂投片数量</a:t>
            </a:r>
            <a:r>
              <a:rPr lang="zh-CN" altLang="zh-CN" sz="1800" kern="100" dirty="0">
                <a:effectLst/>
                <a:ea typeface="仿宋" panose="02010609060101010101" pitchFamily="49" charset="-122"/>
                <a:cs typeface="Times New Roman" panose="02020603050405020304" pitchFamily="18" charset="0"/>
              </a:rPr>
              <a:t>累计</a:t>
            </a:r>
            <a:r>
              <a:rPr lang="zh-CN" altLang="zh-CN" sz="1800" kern="100" dirty="0">
                <a:ea typeface="仿宋" panose="02010609060101010101" pitchFamily="49" charset="-122"/>
                <a:cs typeface="Times New Roman" panose="02020603050405020304" pitchFamily="18" charset="0"/>
              </a:rPr>
              <a:t>为</a:t>
            </a:r>
            <a:r>
              <a:rPr lang="en-US" altLang="zh-CN" sz="1800" kern="100" dirty="0">
                <a:ea typeface="仿宋" panose="02010609060101010101" pitchFamily="49" charset="-122"/>
                <a:cs typeface="Times New Roman" panose="02020603050405020304" pitchFamily="18" charset="0"/>
              </a:rPr>
              <a:t>4059</a:t>
            </a:r>
            <a:r>
              <a:rPr lang="zh-CN" altLang="zh-CN" sz="1800" kern="100" dirty="0">
                <a:ea typeface="仿宋" panose="02010609060101010101" pitchFamily="49" charset="-122"/>
                <a:cs typeface="Times New Roman" panose="02020603050405020304" pitchFamily="18" charset="0"/>
              </a:rPr>
              <a:t>片</a:t>
            </a:r>
            <a:r>
              <a:rPr lang="zh-CN" altLang="en-US" sz="1800" kern="100" dirty="0">
                <a:ea typeface="仿宋" panose="02010609060101010101" pitchFamily="49" charset="-122"/>
                <a:cs typeface="Times New Roman" panose="02020603050405020304" pitchFamily="18" charset="0"/>
              </a:rPr>
              <a:t>，</a:t>
            </a:r>
            <a:r>
              <a:rPr lang="zh-CN" altLang="zh-CN" sz="1800" kern="100" dirty="0">
                <a:effectLst/>
                <a:ea typeface="仿宋" panose="02010609060101010101" pitchFamily="49" charset="-122"/>
                <a:cs typeface="Times New Roman" panose="02020603050405020304" pitchFamily="18" charset="0"/>
              </a:rPr>
              <a:t>平均每月在</a:t>
            </a:r>
            <a:r>
              <a:rPr lang="en-US" altLang="zh-CN" sz="1800" kern="100" dirty="0">
                <a:effectLst/>
                <a:ea typeface="仿宋" panose="02010609060101010101" pitchFamily="49" charset="-122"/>
                <a:cs typeface="Times New Roman" panose="02020603050405020304" pitchFamily="18" charset="0"/>
              </a:rPr>
              <a:t>700</a:t>
            </a:r>
            <a:r>
              <a:rPr lang="zh-CN" altLang="zh-CN" sz="1800" kern="100" dirty="0">
                <a:effectLst/>
                <a:ea typeface="仿宋" panose="02010609060101010101" pitchFamily="49" charset="-122"/>
                <a:cs typeface="Times New Roman" panose="02020603050405020304" pitchFamily="18" charset="0"/>
              </a:rPr>
              <a:t>片</a:t>
            </a:r>
            <a:r>
              <a:rPr lang="zh-CN" altLang="zh-CN" sz="1800" kern="100" dirty="0">
                <a:ea typeface="仿宋" panose="02010609060101010101" pitchFamily="49" charset="-122"/>
                <a:cs typeface="Times New Roman" panose="02020603050405020304" pitchFamily="18" charset="0"/>
              </a:rPr>
              <a:t>。</a:t>
            </a:r>
            <a:r>
              <a:rPr lang="zh-CN" altLang="zh-CN" sz="1800" kern="100" dirty="0">
                <a:effectLst/>
                <a:ea typeface="仿宋" panose="02010609060101010101" pitchFamily="49" charset="-122"/>
                <a:cs typeface="Times New Roman" panose="02020603050405020304" pitchFamily="18" charset="0"/>
              </a:rPr>
              <a:t>主要用于</a:t>
            </a:r>
            <a:r>
              <a:rPr lang="en-US" altLang="zh-CN" sz="1800" kern="100" dirty="0">
                <a:effectLst/>
                <a:ea typeface="仿宋" panose="02010609060101010101" pitchFamily="49" charset="-122"/>
                <a:cs typeface="Times New Roman" panose="02020603050405020304" pitchFamily="18" charset="0"/>
              </a:rPr>
              <a:t>WUBAI</a:t>
            </a:r>
            <a:r>
              <a:rPr lang="zh-CN" altLang="zh-CN" sz="1800" kern="100" dirty="0">
                <a:effectLst/>
                <a:ea typeface="仿宋" panose="02010609060101010101" pitchFamily="49" charset="-122"/>
                <a:cs typeface="Times New Roman" panose="02020603050405020304" pitchFamily="18" charset="0"/>
              </a:rPr>
              <a:t>项目</a:t>
            </a:r>
            <a:r>
              <a:rPr lang="en-US" altLang="zh-CN" sz="1800" kern="100" dirty="0">
                <a:effectLst/>
                <a:ea typeface="仿宋" panose="02010609060101010101" pitchFamily="49" charset="-122"/>
                <a:cs typeface="Times New Roman" panose="02020603050405020304" pitchFamily="18" charset="0"/>
              </a:rPr>
              <a:t>SD77007</a:t>
            </a:r>
            <a:r>
              <a:rPr lang="zh-CN" altLang="zh-CN" sz="1800" kern="100" dirty="0">
                <a:effectLst/>
                <a:ea typeface="仿宋" panose="02010609060101010101" pitchFamily="49" charset="-122"/>
                <a:cs typeface="Times New Roman" panose="02020603050405020304" pitchFamily="18" charset="0"/>
              </a:rPr>
              <a:t>芯片（</a:t>
            </a:r>
            <a:r>
              <a:rPr lang="en-US" altLang="zh-CN" sz="1800" kern="100" dirty="0">
                <a:effectLst/>
                <a:ea typeface="仿宋" panose="02010609060101010101" pitchFamily="49" charset="-122"/>
                <a:cs typeface="Times New Roman" panose="02020603050405020304" pitchFamily="18" charset="0"/>
              </a:rPr>
              <a:t>E-marker</a:t>
            </a:r>
            <a:r>
              <a:rPr lang="zh-CN" altLang="zh-CN" sz="1800" kern="100" dirty="0">
                <a:effectLst/>
                <a:ea typeface="仿宋" panose="02010609060101010101" pitchFamily="49" charset="-122"/>
                <a:cs typeface="Times New Roman" panose="02020603050405020304" pitchFamily="18" charset="0"/>
              </a:rPr>
              <a:t>）的量产。</a:t>
            </a:r>
            <a:endParaRPr lang="en-US" altLang="zh-CN" sz="1400" b="1" dirty="0">
              <a:latin typeface="仿宋" panose="02010609060101010101" pitchFamily="49" charset="-122"/>
              <a:ea typeface="仿宋" panose="02010609060101010101" pitchFamily="49" charset="-122"/>
            </a:endParaRPr>
          </a:p>
          <a:p>
            <a:pPr marL="283210" marR="0" lvl="0" indent="-45720" algn="l" defTabSz="914400" rtl="0" eaLnBrk="1" fontAlgn="base" latinLnBrk="0" hangingPunct="1">
              <a:lnSpc>
                <a:spcPct val="150000"/>
              </a:lnSpc>
              <a:spcBef>
                <a:spcPts val="600"/>
              </a:spcBef>
              <a:spcAft>
                <a:spcPts val="0"/>
              </a:spcAft>
              <a:buClrTx/>
              <a:buSzTx/>
              <a:buFontTx/>
              <a:buNone/>
              <a:tabLst>
                <a:tab pos="457200" algn="l"/>
                <a:tab pos="914400" algn="l"/>
              </a:tabLst>
              <a:defRPr/>
            </a:pP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在无锡华润上华，</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3</a:t>
            </a: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月</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30</a:t>
            </a: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日</a:t>
            </a:r>
            <a:r>
              <a:rPr lang="zh-CN" altLang="zh-CN" sz="1800" kern="100" dirty="0">
                <a:ea typeface="仿宋" panose="02010609060101010101" pitchFamily="49" charset="-122"/>
                <a:cs typeface="Times New Roman" panose="02020603050405020304" pitchFamily="18" charset="0"/>
              </a:rPr>
              <a:t>投片数量为</a:t>
            </a:r>
            <a:r>
              <a:rPr lang="en-US" altLang="zh-CN" sz="1800" kern="100" dirty="0">
                <a:ea typeface="仿宋" panose="02010609060101010101" pitchFamily="49" charset="-122"/>
                <a:cs typeface="Times New Roman" panose="02020603050405020304" pitchFamily="18" charset="0"/>
              </a:rPr>
              <a:t>525</a:t>
            </a:r>
            <a:r>
              <a:rPr lang="zh-CN" altLang="zh-CN" sz="1800" kern="100" dirty="0">
                <a:ea typeface="仿宋" panose="02010609060101010101" pitchFamily="49" charset="-122"/>
                <a:cs typeface="Times New Roman" panose="02020603050405020304" pitchFamily="18" charset="0"/>
              </a:rPr>
              <a:t>片。主要用于笔电用电源管理</a:t>
            </a:r>
            <a:r>
              <a:rPr lang="en-US" altLang="zh-CN" sz="1800" kern="100" dirty="0">
                <a:ea typeface="仿宋" panose="02010609060101010101" pitchFamily="49" charset="-122"/>
                <a:cs typeface="Times New Roman" panose="02020603050405020304" pitchFamily="18" charset="0"/>
              </a:rPr>
              <a:t>OZ</a:t>
            </a:r>
            <a:r>
              <a:rPr lang="zh-CN" altLang="zh-CN" sz="1800" kern="100" dirty="0">
                <a:ea typeface="仿宋" panose="02010609060101010101" pitchFamily="49" charset="-122"/>
                <a:cs typeface="Times New Roman" panose="02020603050405020304" pitchFamily="18" charset="0"/>
              </a:rPr>
              <a:t>系列产品的量产</a:t>
            </a:r>
            <a:r>
              <a:rPr lang="zh-CN" altLang="en-US" sz="1800" kern="100" dirty="0">
                <a:ea typeface="仿宋" panose="02010609060101010101" pitchFamily="49" charset="-122"/>
                <a:cs typeface="Times New Roman" panose="02020603050405020304" pitchFamily="18" charset="0"/>
              </a:rPr>
              <a:t>。</a:t>
            </a:r>
            <a:endParaRPr lang="en-US" altLang="zh-CN" sz="1800" kern="100" dirty="0">
              <a:ea typeface="仿宋" panose="02010609060101010101" pitchFamily="49" charset="-122"/>
              <a:cs typeface="Times New Roman" panose="02020603050405020304" pitchFamily="18" charset="0"/>
            </a:endParaRPr>
          </a:p>
          <a:p>
            <a:pPr marL="283210" indent="-45720" fontAlgn="base">
              <a:lnSpc>
                <a:spcPct val="150000"/>
              </a:lnSpc>
              <a:spcBef>
                <a:spcPts val="600"/>
              </a:spcBef>
              <a:tabLst>
                <a:tab pos="457200" algn="l"/>
                <a:tab pos="914400" algn="l"/>
              </a:tabLst>
            </a:pP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公司在晶圆如此紧张的行情下，还能一次</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500</a:t>
            </a: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百以上的投片，公司也是东部等的</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VIP</a:t>
            </a: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客户，目前也在可见公司在供应链上的资源优势和地位。</a:t>
            </a:r>
            <a:endPar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EDB296A9-64E8-4B0F-8A40-DB128CAA2C51}" type="slidenum">
              <a:rPr lang="zh-CN" altLang="en-US" smtClean="0"/>
              <a:t>13</a:t>
            </a:fld>
            <a:endParaRPr lang="zh-CN" altLang="en-US"/>
          </a:p>
        </p:txBody>
      </p:sp>
    </p:spTree>
    <p:extLst>
      <p:ext uri="{BB962C8B-B14F-4D97-AF65-F5344CB8AC3E}">
        <p14:creationId xmlns:p14="http://schemas.microsoft.com/office/powerpoint/2010/main" val="20985725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3210" marR="0" lvl="0" indent="-45720" algn="l" defTabSz="914400" rtl="0" eaLnBrk="1" fontAlgn="base" latinLnBrk="0" hangingPunct="1">
              <a:lnSpc>
                <a:spcPct val="150000"/>
              </a:lnSpc>
              <a:spcBef>
                <a:spcPts val="600"/>
              </a:spcBef>
              <a:spcAft>
                <a:spcPts val="0"/>
              </a:spcAft>
              <a:buClrTx/>
              <a:buSzTx/>
              <a:buFontTx/>
              <a:buNone/>
              <a:tabLst>
                <a:tab pos="457200" algn="l"/>
                <a:tab pos="914400" algn="l"/>
              </a:tabLst>
              <a:defRPr/>
            </a:pP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我们对公司历史财务数据进行分析，</a:t>
            </a:r>
            <a:r>
              <a:rPr lang="zh-CN" altLang="zh-CN" sz="1800" kern="100" dirty="0">
                <a:effectLst/>
                <a:ea typeface="仿宋" panose="02010609060101010101" pitchFamily="49" charset="-122"/>
                <a:cs typeface="Times New Roman" panose="02020603050405020304" pitchFamily="18" charset="0"/>
              </a:rPr>
              <a:t>由于</a:t>
            </a:r>
            <a:r>
              <a:rPr lang="en-US" altLang="zh-CN" sz="1800" kern="100" dirty="0">
                <a:effectLst/>
                <a:ea typeface="仿宋" panose="02010609060101010101" pitchFamily="49" charset="-122"/>
                <a:cs typeface="Times New Roman" panose="02020603050405020304" pitchFamily="18" charset="0"/>
              </a:rPr>
              <a:t>2019</a:t>
            </a:r>
            <a:r>
              <a:rPr lang="zh-CN" altLang="zh-CN" sz="1800" kern="100" dirty="0">
                <a:effectLst/>
                <a:ea typeface="仿宋" panose="02010609060101010101" pitchFamily="49" charset="-122"/>
                <a:cs typeface="Times New Roman" panose="02020603050405020304" pitchFamily="18" charset="0"/>
              </a:rPr>
              <a:t>年及之前公司的资产总规模不超过</a:t>
            </a:r>
            <a:r>
              <a:rPr lang="en-US" altLang="zh-CN" sz="1800" kern="100" dirty="0">
                <a:effectLst/>
                <a:ea typeface="仿宋" panose="02010609060101010101" pitchFamily="49" charset="-122"/>
                <a:cs typeface="Times New Roman" panose="02020603050405020304" pitchFamily="18" charset="0"/>
              </a:rPr>
              <a:t>100</a:t>
            </a:r>
            <a:r>
              <a:rPr lang="zh-CN" altLang="zh-CN" sz="1800" kern="100" dirty="0">
                <a:effectLst/>
                <a:ea typeface="仿宋" panose="02010609060101010101" pitchFamily="49" charset="-122"/>
                <a:cs typeface="Times New Roman" panose="02020603050405020304" pitchFamily="18" charset="0"/>
              </a:rPr>
              <a:t>万元</a:t>
            </a:r>
            <a:r>
              <a:rPr lang="zh-CN" altLang="en-US" sz="1800" kern="100" dirty="0">
                <a:effectLst/>
                <a:ea typeface="仿宋" panose="02010609060101010101" pitchFamily="49" charset="-122"/>
                <a:cs typeface="Times New Roman" panose="02020603050405020304" pitchFamily="18" charset="0"/>
              </a:rPr>
              <a:t>；</a:t>
            </a:r>
            <a:r>
              <a:rPr lang="en-US" altLang="zh-CN" sz="1800" dirty="0">
                <a:latin typeface="仿宋" panose="02010609060101010101" pitchFamily="49" charset="-122"/>
                <a:ea typeface="仿宋" panose="02010609060101010101" pitchFamily="49" charset="-122"/>
              </a:rPr>
              <a:t>2020</a:t>
            </a:r>
            <a:r>
              <a:rPr lang="zh-CN" altLang="en-US" sz="1800" dirty="0">
                <a:latin typeface="仿宋" panose="02010609060101010101" pitchFamily="49" charset="-122"/>
                <a:ea typeface="仿宋" panose="02010609060101010101" pitchFamily="49" charset="-122"/>
              </a:rPr>
              <a:t>年</a:t>
            </a:r>
            <a:r>
              <a:rPr lang="en-US" altLang="zh-CN" sz="1800" dirty="0">
                <a:latin typeface="仿宋" panose="02010609060101010101" pitchFamily="49" charset="-122"/>
                <a:ea typeface="仿宋" panose="02010609060101010101" pitchFamily="49" charset="-122"/>
              </a:rPr>
              <a:t>5</a:t>
            </a:r>
            <a:r>
              <a:rPr lang="zh-CN" altLang="en-US" sz="1800" dirty="0">
                <a:latin typeface="仿宋" panose="02010609060101010101" pitchFamily="49" charset="-122"/>
                <a:ea typeface="仿宋" panose="02010609060101010101" pitchFamily="49" charset="-122"/>
              </a:rPr>
              <a:t>月承接了上市公司的部分资产，</a:t>
            </a:r>
            <a:r>
              <a:rPr lang="zh-CN" altLang="zh-CN" sz="1800" dirty="0">
                <a:latin typeface="仿宋" panose="02010609060101010101" pitchFamily="49" charset="-122"/>
                <a:ea typeface="仿宋" panose="02010609060101010101" pitchFamily="49" charset="-122"/>
              </a:rPr>
              <a:t>净资产快速增加</a:t>
            </a:r>
            <a:r>
              <a:rPr lang="zh-CN" altLang="en-US" sz="1800" dirty="0">
                <a:latin typeface="仿宋" panose="02010609060101010101" pitchFamily="49" charset="-122"/>
                <a:ea typeface="仿宋" panose="02010609060101010101" pitchFamily="49" charset="-122"/>
              </a:rPr>
              <a:t>。</a:t>
            </a:r>
            <a:r>
              <a:rPr lang="en-US" altLang="zh-CN" sz="1800" dirty="0">
                <a:latin typeface="仿宋" panose="02010609060101010101" pitchFamily="49" charset="-122"/>
                <a:ea typeface="仿宋" panose="02010609060101010101" pitchFamily="49" charset="-122"/>
              </a:rPr>
              <a:t>2020</a:t>
            </a:r>
            <a:r>
              <a:rPr lang="zh-CN" altLang="en-US" sz="1800" dirty="0">
                <a:latin typeface="仿宋" panose="02010609060101010101" pitchFamily="49" charset="-122"/>
                <a:ea typeface="仿宋" panose="02010609060101010101" pitchFamily="49" charset="-122"/>
              </a:rPr>
              <a:t>年和</a:t>
            </a:r>
            <a:r>
              <a:rPr lang="en-US" altLang="zh-CN" sz="1800" dirty="0">
                <a:latin typeface="仿宋" panose="02010609060101010101" pitchFamily="49" charset="-122"/>
                <a:ea typeface="仿宋" panose="02010609060101010101" pitchFamily="49" charset="-122"/>
              </a:rPr>
              <a:t>2021</a:t>
            </a:r>
            <a:r>
              <a:rPr lang="zh-CN" altLang="en-US" sz="1800" dirty="0">
                <a:latin typeface="仿宋" panose="02010609060101010101" pitchFamily="49" charset="-122"/>
                <a:ea typeface="仿宋" panose="02010609060101010101" pitchFamily="49" charset="-122"/>
              </a:rPr>
              <a:t>年</a:t>
            </a:r>
            <a:r>
              <a:rPr lang="en-US" altLang="zh-CN" sz="1800" dirty="0">
                <a:latin typeface="仿宋" panose="02010609060101010101" pitchFamily="49" charset="-122"/>
                <a:ea typeface="仿宋" panose="02010609060101010101" pitchFamily="49" charset="-122"/>
              </a:rPr>
              <a:t>4</a:t>
            </a:r>
            <a:r>
              <a:rPr lang="zh-CN" altLang="en-US" sz="1800" dirty="0">
                <a:latin typeface="仿宋" panose="02010609060101010101" pitchFamily="49" charset="-122"/>
                <a:ea typeface="仿宋" panose="02010609060101010101" pitchFamily="49" charset="-122"/>
              </a:rPr>
              <a:t>月底净资产分别为</a:t>
            </a:r>
            <a:r>
              <a:rPr lang="en-US" altLang="zh-CN" sz="1800" dirty="0">
                <a:latin typeface="仿宋" panose="02010609060101010101" pitchFamily="49" charset="-122"/>
                <a:ea typeface="仿宋" panose="02010609060101010101" pitchFamily="49" charset="-122"/>
              </a:rPr>
              <a:t>3,019.83 </a:t>
            </a:r>
            <a:r>
              <a:rPr lang="zh-CN" altLang="zh-CN" sz="1800" dirty="0">
                <a:latin typeface="仿宋" panose="02010609060101010101" pitchFamily="49" charset="-122"/>
                <a:ea typeface="仿宋" panose="02010609060101010101" pitchFamily="49" charset="-122"/>
              </a:rPr>
              <a:t>万元</a:t>
            </a:r>
            <a:r>
              <a:rPr lang="zh-CN" altLang="en-US" sz="1800" dirty="0">
                <a:latin typeface="仿宋" panose="02010609060101010101" pitchFamily="49" charset="-122"/>
                <a:ea typeface="仿宋" panose="02010609060101010101" pitchFamily="49" charset="-122"/>
              </a:rPr>
              <a:t>和</a:t>
            </a:r>
            <a:r>
              <a:rPr lang="en-US" altLang="zh-CN" sz="1800" dirty="0">
                <a:latin typeface="仿宋" panose="02010609060101010101" pitchFamily="49" charset="-122"/>
                <a:ea typeface="仿宋" panose="02010609060101010101" pitchFamily="49" charset="-122"/>
              </a:rPr>
              <a:t>3,425.40</a:t>
            </a:r>
            <a:r>
              <a:rPr lang="zh-CN" altLang="zh-CN" sz="1800" dirty="0">
                <a:latin typeface="仿宋" panose="02010609060101010101" pitchFamily="49" charset="-122"/>
                <a:ea typeface="仿宋" panose="02010609060101010101" pitchFamily="49" charset="-122"/>
              </a:rPr>
              <a:t>万元</a:t>
            </a:r>
            <a:r>
              <a:rPr lang="zh-CN" altLang="en-US" sz="1800" dirty="0">
                <a:latin typeface="仿宋" panose="02010609060101010101" pitchFamily="49" charset="-122"/>
                <a:ea typeface="仿宋" panose="02010609060101010101" pitchFamily="49" charset="-122"/>
              </a:rPr>
              <a:t>；</a:t>
            </a:r>
            <a:r>
              <a:rPr lang="zh-CN" altLang="zh-CN" sz="1800" dirty="0">
                <a:latin typeface="仿宋" panose="02010609060101010101" pitchFamily="49" charset="-122"/>
                <a:ea typeface="仿宋" panose="02010609060101010101" pitchFamily="49" charset="-122"/>
              </a:rPr>
              <a:t>相应的资产负债率为</a:t>
            </a:r>
            <a:r>
              <a:rPr lang="en-US" altLang="zh-CN" sz="1800" dirty="0">
                <a:latin typeface="仿宋" panose="02010609060101010101" pitchFamily="49" charset="-122"/>
                <a:ea typeface="仿宋" panose="02010609060101010101" pitchFamily="49" charset="-122"/>
              </a:rPr>
              <a:t>40.44%</a:t>
            </a:r>
            <a:r>
              <a:rPr lang="zh-CN" altLang="zh-CN" sz="1800" dirty="0">
                <a:latin typeface="仿宋" panose="02010609060101010101" pitchFamily="49" charset="-122"/>
                <a:ea typeface="仿宋" panose="02010609060101010101" pitchFamily="49" charset="-122"/>
              </a:rPr>
              <a:t>和</a:t>
            </a:r>
            <a:r>
              <a:rPr lang="en-US" altLang="zh-CN" sz="1800" dirty="0">
                <a:latin typeface="仿宋" panose="02010609060101010101" pitchFamily="49" charset="-122"/>
                <a:ea typeface="仿宋" panose="02010609060101010101" pitchFamily="49" charset="-122"/>
              </a:rPr>
              <a:t>41.40%</a:t>
            </a:r>
            <a:r>
              <a:rPr lang="zh-CN" altLang="zh-CN" sz="1800" dirty="0">
                <a:latin typeface="仿宋" panose="02010609060101010101" pitchFamily="49" charset="-122"/>
                <a:ea typeface="仿宋" panose="02010609060101010101" pitchFamily="49" charset="-122"/>
              </a:rPr>
              <a:t>。</a:t>
            </a:r>
            <a:r>
              <a:rPr lang="zh-CN" altLang="zh-CN" sz="1800" kern="100" dirty="0">
                <a:effectLst/>
                <a:ea typeface="仿宋" panose="02010609060101010101" pitchFamily="49" charset="-122"/>
                <a:cs typeface="Times New Roman" panose="02020603050405020304" pitchFamily="18" charset="0"/>
              </a:rPr>
              <a:t>初创型企业</a:t>
            </a:r>
            <a:r>
              <a:rPr lang="zh-CN" altLang="en-US" sz="1800" kern="100" dirty="0">
                <a:effectLst/>
                <a:ea typeface="仿宋" panose="02010609060101010101" pitchFamily="49" charset="-122"/>
                <a:cs typeface="Times New Roman" panose="02020603050405020304" pitchFamily="18" charset="0"/>
              </a:rPr>
              <a:t>，</a:t>
            </a:r>
            <a:r>
              <a:rPr lang="zh-CN" altLang="zh-CN" sz="1800" b="1" kern="100" dirty="0">
                <a:effectLst/>
                <a:ea typeface="仿宋" panose="02010609060101010101" pitchFamily="49" charset="-122"/>
                <a:cs typeface="Times New Roman" panose="02020603050405020304" pitchFamily="18" charset="0"/>
              </a:rPr>
              <a:t>资产负债率属于中等水平</a:t>
            </a:r>
            <a:r>
              <a:rPr lang="zh-CN" altLang="en-US" sz="1800" b="1" kern="100" dirty="0">
                <a:effectLst/>
                <a:ea typeface="仿宋" panose="02010609060101010101" pitchFamily="49" charset="-122"/>
                <a:cs typeface="Times New Roman" panose="02020603050405020304" pitchFamily="18" charset="0"/>
              </a:rPr>
              <a:t>。</a:t>
            </a:r>
            <a:endParaRPr lang="zh-CN" altLang="zh-CN" sz="1800" dirty="0">
              <a:latin typeface="仿宋" panose="02010609060101010101" pitchFamily="49" charset="-122"/>
              <a:ea typeface="仿宋" panose="02010609060101010101" pitchFamily="49" charset="-122"/>
            </a:endParaRPr>
          </a:p>
          <a:p>
            <a:pPr marL="283210" marR="0" lvl="0" indent="-45720" algn="l" defTabSz="914400" rtl="0" eaLnBrk="1" fontAlgn="base" latinLnBrk="0" hangingPunct="1">
              <a:lnSpc>
                <a:spcPct val="150000"/>
              </a:lnSpc>
              <a:spcBef>
                <a:spcPts val="600"/>
              </a:spcBef>
              <a:spcAft>
                <a:spcPts val="0"/>
              </a:spcAft>
              <a:buClrTx/>
              <a:buSzTx/>
              <a:buFontTx/>
              <a:buNone/>
              <a:tabLst>
                <a:tab pos="457200" algn="l"/>
                <a:tab pos="914400" algn="l"/>
              </a:tabLst>
              <a:defRPr/>
            </a:pP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应收账款部分：</a:t>
            </a: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公司获得了和凹凸科技同等的商务条件，</a:t>
            </a:r>
            <a:r>
              <a:rPr lang="zh-CN" altLang="zh-CN" sz="1800" dirty="0">
                <a:latin typeface="仿宋" panose="02010609060101010101" pitchFamily="49" charset="-122"/>
                <a:ea typeface="仿宋" panose="02010609060101010101" pitchFamily="49" charset="-122"/>
              </a:rPr>
              <a:t>公司一般要求代理商备货</a:t>
            </a:r>
            <a:r>
              <a:rPr lang="en-US" altLang="zh-CN" sz="1800" dirty="0">
                <a:latin typeface="仿宋" panose="02010609060101010101" pitchFamily="49" charset="-122"/>
                <a:ea typeface="仿宋" panose="02010609060101010101" pitchFamily="49" charset="-122"/>
              </a:rPr>
              <a:t>1</a:t>
            </a:r>
            <a:r>
              <a:rPr lang="zh-CN" altLang="zh-CN" sz="1800" dirty="0">
                <a:latin typeface="仿宋" panose="02010609060101010101" pitchFamily="49" charset="-122"/>
                <a:ea typeface="仿宋" panose="02010609060101010101" pitchFamily="49" charset="-122"/>
              </a:rPr>
              <a:t>个月的库存，</a:t>
            </a:r>
            <a:r>
              <a:rPr lang="zh-CN" altLang="zh-CN" sz="1800" b="1" dirty="0">
                <a:latin typeface="仿宋" panose="02010609060101010101" pitchFamily="49" charset="-122"/>
                <a:ea typeface="仿宋" panose="02010609060101010101" pitchFamily="49" charset="-122"/>
              </a:rPr>
              <a:t>几乎没有给到代理商账期，基本为现结模式。</a:t>
            </a:r>
            <a:r>
              <a:rPr lang="en-US" altLang="zh-CN" sz="1800" dirty="0">
                <a:latin typeface="仿宋" panose="02010609060101010101" pitchFamily="49" charset="-122"/>
                <a:ea typeface="仿宋" panose="02010609060101010101" pitchFamily="49" charset="-122"/>
              </a:rPr>
              <a:t>2018</a:t>
            </a:r>
            <a:r>
              <a:rPr lang="zh-CN" altLang="zh-CN" sz="1800" dirty="0">
                <a:latin typeface="仿宋" panose="02010609060101010101" pitchFamily="49" charset="-122"/>
                <a:ea typeface="仿宋" panose="02010609060101010101" pitchFamily="49" charset="-122"/>
              </a:rPr>
              <a:t>年、</a:t>
            </a:r>
            <a:r>
              <a:rPr lang="en-US" altLang="zh-CN" sz="1800" dirty="0">
                <a:latin typeface="仿宋" panose="02010609060101010101" pitchFamily="49" charset="-122"/>
                <a:ea typeface="仿宋" panose="02010609060101010101" pitchFamily="49" charset="-122"/>
              </a:rPr>
              <a:t>2019</a:t>
            </a:r>
            <a:r>
              <a:rPr lang="zh-CN" altLang="zh-CN" sz="1800" dirty="0">
                <a:latin typeface="仿宋" panose="02010609060101010101" pitchFamily="49" charset="-122"/>
                <a:ea typeface="仿宋" panose="02010609060101010101" pitchFamily="49" charset="-122"/>
              </a:rPr>
              <a:t>年、</a:t>
            </a:r>
            <a:r>
              <a:rPr lang="en-US" altLang="zh-CN" sz="1800" dirty="0">
                <a:latin typeface="仿宋" panose="02010609060101010101" pitchFamily="49" charset="-122"/>
                <a:ea typeface="仿宋" panose="02010609060101010101" pitchFamily="49" charset="-122"/>
              </a:rPr>
              <a:t>2020</a:t>
            </a:r>
            <a:r>
              <a:rPr lang="zh-CN" altLang="zh-CN" sz="1800" dirty="0">
                <a:latin typeface="仿宋" panose="02010609060101010101" pitchFamily="49" charset="-122"/>
                <a:ea typeface="仿宋" panose="02010609060101010101" pitchFamily="49" charset="-122"/>
              </a:rPr>
              <a:t>年末都没有应收票据。</a:t>
            </a:r>
            <a:r>
              <a:rPr lang="zh-CN" altLang="en-US" sz="1800" dirty="0">
                <a:latin typeface="仿宋" panose="02010609060101010101" pitchFamily="49" charset="-122"/>
                <a:ea typeface="仿宋" panose="02010609060101010101" pitchFamily="49" charset="-122"/>
              </a:rPr>
              <a:t>公司还是比较强势的，在代理商访谈中，也颇有微词。</a:t>
            </a:r>
            <a:endParaRPr lang="en-US" altLang="zh-CN" sz="1800" dirty="0">
              <a:latin typeface="仿宋" panose="02010609060101010101" pitchFamily="49" charset="-122"/>
              <a:ea typeface="仿宋" panose="02010609060101010101" pitchFamily="49" charset="-122"/>
            </a:endParaRPr>
          </a:p>
          <a:p>
            <a:pPr marL="283210" marR="0" lvl="0" indent="-45720" algn="l" defTabSz="914400" rtl="0" eaLnBrk="1" fontAlgn="base" latinLnBrk="0" hangingPunct="1">
              <a:lnSpc>
                <a:spcPct val="150000"/>
              </a:lnSpc>
              <a:spcBef>
                <a:spcPts val="600"/>
              </a:spcBef>
              <a:spcAft>
                <a:spcPts val="0"/>
              </a:spcAft>
              <a:buClrTx/>
              <a:buSzTx/>
              <a:buFontTx/>
              <a:buNone/>
              <a:tabLst>
                <a:tab pos="457200" algn="l"/>
                <a:tab pos="914400" algn="l"/>
              </a:tabLst>
              <a:defRPr/>
            </a:pPr>
            <a:r>
              <a:rPr lang="zh-CN" altLang="zh-CN" sz="1800" kern="100" dirty="0">
                <a:effectLst/>
                <a:ea typeface="仿宋" panose="02010609060101010101" pitchFamily="49" charset="-122"/>
                <a:cs typeface="Times New Roman" panose="02020603050405020304" pitchFamily="18" charset="0"/>
              </a:rPr>
              <a:t>公司</a:t>
            </a:r>
            <a:r>
              <a:rPr lang="en-US" altLang="zh-CN" sz="1800" kern="100" dirty="0">
                <a:effectLst/>
                <a:ea typeface="仿宋" panose="02010609060101010101" pitchFamily="49" charset="-122"/>
                <a:cs typeface="Times New Roman" panose="02020603050405020304" pitchFamily="18" charset="0"/>
              </a:rPr>
              <a:t>2020</a:t>
            </a:r>
            <a:r>
              <a:rPr lang="zh-CN" altLang="zh-CN" sz="1800" kern="100" dirty="0">
                <a:effectLst/>
                <a:ea typeface="仿宋" panose="02010609060101010101" pitchFamily="49" charset="-122"/>
                <a:cs typeface="Times New Roman" panose="02020603050405020304" pitchFamily="18" charset="0"/>
              </a:rPr>
              <a:t>年底、</a:t>
            </a:r>
            <a:r>
              <a:rPr lang="en-US" altLang="zh-CN" sz="1800" kern="100" dirty="0">
                <a:effectLst/>
                <a:ea typeface="仿宋" panose="02010609060101010101" pitchFamily="49" charset="-122"/>
                <a:cs typeface="Times New Roman" panose="02020603050405020304" pitchFamily="18" charset="0"/>
              </a:rPr>
              <a:t>2021</a:t>
            </a:r>
            <a:r>
              <a:rPr lang="zh-CN" altLang="zh-CN" sz="1800" kern="100" dirty="0">
                <a:effectLst/>
                <a:ea typeface="仿宋" panose="02010609060101010101" pitchFamily="49" charset="-122"/>
                <a:cs typeface="Times New Roman" panose="02020603050405020304" pitchFamily="18" charset="0"/>
              </a:rPr>
              <a:t>年</a:t>
            </a:r>
            <a:r>
              <a:rPr lang="en-US" altLang="zh-CN" sz="1800" kern="100" dirty="0">
                <a:effectLst/>
                <a:ea typeface="仿宋" panose="02010609060101010101" pitchFamily="49" charset="-122"/>
                <a:cs typeface="Times New Roman" panose="02020603050405020304" pitchFamily="18" charset="0"/>
              </a:rPr>
              <a:t>4</a:t>
            </a:r>
            <a:r>
              <a:rPr lang="zh-CN" altLang="zh-CN" sz="1800" kern="100" dirty="0">
                <a:effectLst/>
                <a:ea typeface="仿宋" panose="02010609060101010101" pitchFamily="49" charset="-122"/>
                <a:cs typeface="Times New Roman" panose="02020603050405020304" pitchFamily="18" charset="0"/>
              </a:rPr>
              <a:t>月底的存货金额分别为</a:t>
            </a:r>
            <a:r>
              <a:rPr lang="en-US" altLang="zh-CN" sz="1800" kern="100" dirty="0">
                <a:effectLst/>
                <a:ea typeface="仿宋" panose="02010609060101010101" pitchFamily="49" charset="-122"/>
                <a:cs typeface="Times New Roman" panose="02020603050405020304" pitchFamily="18" charset="0"/>
              </a:rPr>
              <a:t>1,203,40</a:t>
            </a:r>
            <a:r>
              <a:rPr lang="zh-CN" altLang="zh-CN" sz="1800" kern="100" dirty="0">
                <a:effectLst/>
                <a:ea typeface="仿宋" panose="02010609060101010101" pitchFamily="49" charset="-122"/>
                <a:cs typeface="Times New Roman" panose="02020603050405020304" pitchFamily="18" charset="0"/>
              </a:rPr>
              <a:t>万元、</a:t>
            </a:r>
            <a:r>
              <a:rPr lang="en-US" altLang="zh-CN" sz="1800" kern="100" dirty="0">
                <a:effectLst/>
                <a:ea typeface="仿宋" panose="02010609060101010101" pitchFamily="49" charset="-122"/>
                <a:cs typeface="Times New Roman" panose="02020603050405020304" pitchFamily="18" charset="0"/>
              </a:rPr>
              <a:t>3,204.97</a:t>
            </a:r>
            <a:r>
              <a:rPr lang="zh-CN" altLang="zh-CN" sz="1800" kern="100" dirty="0">
                <a:effectLst/>
                <a:ea typeface="仿宋" panose="02010609060101010101" pitchFamily="49" charset="-122"/>
                <a:cs typeface="Times New Roman" panose="02020603050405020304" pitchFamily="18" charset="0"/>
              </a:rPr>
              <a:t>万元，同比增长幅度较大；主要原因系客户需求增加，为缓减出货压力，后端已经启动加急备货方案。</a:t>
            </a:r>
            <a:endParaRPr lang="en-US" altLang="zh-CN" sz="1800" b="1" dirty="0">
              <a:latin typeface="仿宋" panose="02010609060101010101" pitchFamily="49" charset="-122"/>
              <a:ea typeface="仿宋"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EDB296A9-64E8-4B0F-8A40-DB128CAA2C51}" type="slidenum">
              <a:rPr lang="zh-CN" altLang="en-US" smtClean="0"/>
              <a:t>14</a:t>
            </a:fld>
            <a:endParaRPr lang="zh-CN" altLang="en-US"/>
          </a:p>
        </p:txBody>
      </p:sp>
    </p:spTree>
    <p:extLst>
      <p:ext uri="{BB962C8B-B14F-4D97-AF65-F5344CB8AC3E}">
        <p14:creationId xmlns:p14="http://schemas.microsoft.com/office/powerpoint/2010/main" val="5625560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3210" indent="-45720" fontAlgn="base">
              <a:lnSpc>
                <a:spcPct val="150000"/>
              </a:lnSpc>
              <a:spcBef>
                <a:spcPts val="600"/>
              </a:spcBef>
              <a:tabLst>
                <a:tab pos="457200" algn="l"/>
                <a:tab pos="914400" algn="l"/>
              </a:tabLst>
            </a:pP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营收方面，</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2020</a:t>
            </a: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年</a:t>
            </a:r>
            <a:r>
              <a:rPr lang="zh-CN" altLang="zh-CN" sz="1800" kern="100" dirty="0">
                <a:effectLst/>
                <a:latin typeface="仿宋" panose="02010609060101010101" pitchFamily="49" charset="-122"/>
                <a:ea typeface="仿宋" panose="02010609060101010101" pitchFamily="49" charset="-122"/>
                <a:cs typeface="Times New Roman" panose="02020603050405020304" pitchFamily="18" charset="0"/>
              </a:rPr>
              <a:t>全年团队实现营业收入</a:t>
            </a:r>
            <a:r>
              <a:rPr lang="en-US" altLang="zh-CN" sz="1800" b="1" kern="100" dirty="0">
                <a:effectLst/>
                <a:latin typeface="仿宋" panose="02010609060101010101" pitchFamily="49" charset="-122"/>
                <a:ea typeface="仿宋" panose="02010609060101010101" pitchFamily="49" charset="-122"/>
                <a:cs typeface="Times New Roman" panose="02020603050405020304" pitchFamily="18" charset="0"/>
              </a:rPr>
              <a:t>3,700</a:t>
            </a:r>
            <a:r>
              <a:rPr lang="zh-CN" altLang="zh-CN" sz="1800" b="1" kern="100" dirty="0">
                <a:effectLst/>
                <a:latin typeface="仿宋" panose="02010609060101010101" pitchFamily="49" charset="-122"/>
                <a:ea typeface="仿宋" panose="02010609060101010101" pitchFamily="49" charset="-122"/>
                <a:cs typeface="Times New Roman" panose="02020603050405020304" pitchFamily="18" charset="0"/>
              </a:rPr>
              <a:t>万元</a:t>
            </a:r>
            <a:r>
              <a:rPr lang="zh-CN" altLang="zh-CN" sz="1800" kern="100" dirty="0">
                <a:effectLst/>
                <a:latin typeface="仿宋" panose="02010609060101010101" pitchFamily="49" charset="-122"/>
                <a:ea typeface="仿宋" panose="02010609060101010101" pitchFamily="49" charset="-122"/>
                <a:cs typeface="Times New Roman" panose="02020603050405020304" pitchFamily="18" charset="0"/>
              </a:rPr>
              <a:t>，</a:t>
            </a:r>
            <a:r>
              <a:rPr lang="zh-CN" altLang="en-US" sz="1800" kern="100" dirty="0">
                <a:effectLst/>
                <a:latin typeface="仿宋" panose="02010609060101010101" pitchFamily="49" charset="-122"/>
                <a:ea typeface="仿宋" panose="02010609060101010101" pitchFamily="49" charset="-122"/>
                <a:cs typeface="Times New Roman" panose="02020603050405020304" pitchFamily="18" charset="0"/>
              </a:rPr>
              <a:t>审计报表是</a:t>
            </a:r>
            <a:r>
              <a:rPr lang="en-US" altLang="zh-CN" sz="1800" kern="100" dirty="0">
                <a:effectLst/>
                <a:latin typeface="仿宋" panose="02010609060101010101" pitchFamily="49" charset="-122"/>
                <a:ea typeface="仿宋" panose="02010609060101010101" pitchFamily="49" charset="-122"/>
                <a:cs typeface="Times New Roman" panose="02020603050405020304" pitchFamily="18" charset="0"/>
              </a:rPr>
              <a:t>2,600</a:t>
            </a:r>
            <a:r>
              <a:rPr lang="zh-CN" altLang="zh-CN" sz="1800" kern="100" dirty="0">
                <a:effectLst/>
                <a:latin typeface="仿宋" panose="02010609060101010101" pitchFamily="49" charset="-122"/>
                <a:ea typeface="仿宋" panose="02010609060101010101" pitchFamily="49" charset="-122"/>
                <a:cs typeface="Times New Roman" panose="02020603050405020304" pitchFamily="18" charset="0"/>
              </a:rPr>
              <a:t>万元</a:t>
            </a:r>
            <a:r>
              <a:rPr lang="zh-CN" altLang="en-US" sz="1800" kern="100" dirty="0">
                <a:effectLst/>
                <a:latin typeface="仿宋" panose="02010609060101010101" pitchFamily="49" charset="-122"/>
                <a:ea typeface="仿宋" panose="02010609060101010101" pitchFamily="49" charset="-122"/>
                <a:cs typeface="Times New Roman" panose="02020603050405020304" pitchFamily="18" charset="0"/>
              </a:rPr>
              <a:t>，有</a:t>
            </a:r>
            <a:r>
              <a:rPr lang="en-US" altLang="zh-CN" sz="1800" kern="100" dirty="0">
                <a:effectLst/>
                <a:latin typeface="仿宋" panose="02010609060101010101" pitchFamily="49" charset="-122"/>
                <a:ea typeface="仿宋" panose="02010609060101010101" pitchFamily="49" charset="-122"/>
                <a:cs typeface="Times New Roman" panose="02020603050405020304" pitchFamily="18" charset="0"/>
              </a:rPr>
              <a:t>1000</a:t>
            </a:r>
            <a:r>
              <a:rPr lang="zh-CN" altLang="en-US" sz="1800" kern="100" dirty="0">
                <a:effectLst/>
                <a:latin typeface="仿宋" panose="02010609060101010101" pitchFamily="49" charset="-122"/>
                <a:ea typeface="仿宋" panose="02010609060101010101" pitchFamily="49" charset="-122"/>
                <a:cs typeface="Times New Roman" panose="02020603050405020304" pitchFamily="18" charset="0"/>
              </a:rPr>
              <a:t>多万留在了上市公司，业务是</a:t>
            </a:r>
            <a:r>
              <a:rPr lang="en-US" altLang="zh-CN" sz="1800" kern="100" dirty="0">
                <a:effectLst/>
                <a:latin typeface="仿宋" panose="02010609060101010101" pitchFamily="49" charset="-122"/>
                <a:ea typeface="仿宋" panose="02010609060101010101" pitchFamily="49" charset="-122"/>
                <a:cs typeface="Times New Roman" panose="02020603050405020304" pitchFamily="18" charset="0"/>
              </a:rPr>
              <a:t>2020</a:t>
            </a:r>
            <a:r>
              <a:rPr lang="zh-CN" altLang="en-US" sz="1800" kern="100" dirty="0">
                <a:effectLst/>
                <a:latin typeface="仿宋" panose="02010609060101010101" pitchFamily="49" charset="-122"/>
                <a:ea typeface="仿宋" panose="02010609060101010101" pitchFamily="49" charset="-122"/>
                <a:cs typeface="Times New Roman" panose="02020603050405020304" pitchFamily="18" charset="0"/>
              </a:rPr>
              <a:t>年</a:t>
            </a:r>
            <a:r>
              <a:rPr lang="en-US" altLang="zh-CN" sz="1800" kern="100" dirty="0">
                <a:effectLst/>
                <a:latin typeface="仿宋" panose="02010609060101010101" pitchFamily="49" charset="-122"/>
                <a:ea typeface="仿宋" panose="02010609060101010101" pitchFamily="49" charset="-122"/>
                <a:cs typeface="Times New Roman" panose="02020603050405020304" pitchFamily="18" charset="0"/>
              </a:rPr>
              <a:t>5</a:t>
            </a:r>
            <a:r>
              <a:rPr lang="zh-CN" altLang="en-US" sz="1800" kern="100" dirty="0">
                <a:effectLst/>
                <a:latin typeface="仿宋" panose="02010609060101010101" pitchFamily="49" charset="-122"/>
                <a:ea typeface="仿宋" panose="02010609060101010101" pitchFamily="49" charset="-122"/>
                <a:cs typeface="Times New Roman" panose="02020603050405020304" pitchFamily="18" charset="0"/>
              </a:rPr>
              <a:t>月份才拆分出来。</a:t>
            </a:r>
            <a:r>
              <a:rPr lang="en-US" altLang="zh-CN" sz="1800" kern="100" dirty="0">
                <a:effectLst/>
                <a:latin typeface="仿宋" panose="02010609060101010101" pitchFamily="49" charset="-122"/>
                <a:ea typeface="仿宋" panose="02010609060101010101" pitchFamily="49" charset="-122"/>
                <a:cs typeface="Times New Roman" panose="02020603050405020304" pitchFamily="18" charset="0"/>
              </a:rPr>
              <a:t>21</a:t>
            </a:r>
            <a:r>
              <a:rPr lang="zh-CN" altLang="en-US" sz="1800" kern="100" dirty="0">
                <a:effectLst/>
                <a:latin typeface="仿宋" panose="02010609060101010101" pitchFamily="49" charset="-122"/>
                <a:ea typeface="仿宋" panose="02010609060101010101" pitchFamily="49" charset="-122"/>
                <a:cs typeface="Times New Roman" panose="02020603050405020304" pitchFamily="18" charset="0"/>
              </a:rPr>
              <a:t>年前</a:t>
            </a:r>
            <a:r>
              <a:rPr lang="en-US" altLang="zh-CN" sz="1800" kern="100" dirty="0">
                <a:effectLst/>
                <a:latin typeface="仿宋" panose="02010609060101010101" pitchFamily="49" charset="-122"/>
                <a:ea typeface="仿宋" panose="02010609060101010101" pitchFamily="49" charset="-122"/>
                <a:cs typeface="Times New Roman" panose="02020603050405020304" pitchFamily="18" charset="0"/>
              </a:rPr>
              <a:t>4</a:t>
            </a:r>
            <a:r>
              <a:rPr lang="zh-CN" altLang="en-US" sz="1800" kern="100" dirty="0">
                <a:effectLst/>
                <a:latin typeface="仿宋" panose="02010609060101010101" pitchFamily="49" charset="-122"/>
                <a:ea typeface="仿宋" panose="02010609060101010101" pitchFamily="49" charset="-122"/>
                <a:cs typeface="Times New Roman" panose="02020603050405020304" pitchFamily="18" charset="0"/>
              </a:rPr>
              <a:t>个月实现了</a:t>
            </a:r>
            <a:r>
              <a:rPr lang="en-US" altLang="zh-CN" sz="1800" kern="100" dirty="0">
                <a:effectLst/>
                <a:latin typeface="仿宋" panose="02010609060101010101" pitchFamily="49" charset="-122"/>
                <a:ea typeface="仿宋" panose="02010609060101010101" pitchFamily="49" charset="-122"/>
                <a:cs typeface="Times New Roman" panose="02020603050405020304" pitchFamily="18" charset="0"/>
              </a:rPr>
              <a:t>2500</a:t>
            </a:r>
            <a:r>
              <a:rPr lang="zh-CN" altLang="en-US" sz="1800" kern="100" dirty="0">
                <a:effectLst/>
                <a:latin typeface="仿宋" panose="02010609060101010101" pitchFamily="49" charset="-122"/>
                <a:ea typeface="仿宋" panose="02010609060101010101" pitchFamily="49" charset="-122"/>
                <a:cs typeface="Times New Roman" panose="02020603050405020304" pitchFamily="18" charset="0"/>
              </a:rPr>
              <a:t>万营收，</a:t>
            </a:r>
            <a:r>
              <a:rPr lang="en-US" altLang="zh-CN" sz="1800" kern="100" dirty="0">
                <a:effectLst/>
                <a:latin typeface="仿宋" panose="02010609060101010101" pitchFamily="49" charset="-122"/>
                <a:ea typeface="仿宋" panose="02010609060101010101" pitchFamily="49" charset="-122"/>
                <a:cs typeface="Times New Roman" panose="02020603050405020304" pitchFamily="18" charset="0"/>
              </a:rPr>
              <a:t>5</a:t>
            </a:r>
            <a:r>
              <a:rPr lang="zh-CN" altLang="en-US" sz="1800" kern="100" dirty="0">
                <a:effectLst/>
                <a:latin typeface="仿宋" panose="02010609060101010101" pitchFamily="49" charset="-122"/>
                <a:ea typeface="仿宋" panose="02010609060101010101" pitchFamily="49" charset="-122"/>
                <a:cs typeface="Times New Roman" panose="02020603050405020304" pitchFamily="18" charset="0"/>
              </a:rPr>
              <a:t>月单月实现</a:t>
            </a:r>
            <a:r>
              <a:rPr lang="en-US" altLang="zh-CN" sz="1800" kern="100" dirty="0">
                <a:effectLst/>
                <a:latin typeface="仿宋" panose="02010609060101010101" pitchFamily="49" charset="-122"/>
                <a:ea typeface="仿宋" panose="02010609060101010101" pitchFamily="49" charset="-122"/>
                <a:cs typeface="Times New Roman" panose="02020603050405020304" pitchFamily="18" charset="0"/>
              </a:rPr>
              <a:t>1000</a:t>
            </a:r>
            <a:r>
              <a:rPr lang="zh-CN" altLang="en-US" sz="1800" kern="100" dirty="0">
                <a:effectLst/>
                <a:latin typeface="仿宋" panose="02010609060101010101" pitchFamily="49" charset="-122"/>
                <a:ea typeface="仿宋" panose="02010609060101010101" pitchFamily="49" charset="-122"/>
                <a:cs typeface="Times New Roman" panose="02020603050405020304" pitchFamily="18" charset="0"/>
              </a:rPr>
              <a:t>万营收，站上单月千万营收台阶。</a:t>
            </a:r>
            <a:endParaRPr lang="en-US" altLang="zh-CN" sz="1800" kern="100" dirty="0">
              <a:effectLst/>
              <a:latin typeface="仿宋" panose="02010609060101010101" pitchFamily="49" charset="-122"/>
              <a:ea typeface="仿宋" panose="02010609060101010101" pitchFamily="49" charset="-122"/>
              <a:cs typeface="Times New Roman" panose="02020603050405020304" pitchFamily="18" charset="0"/>
            </a:endParaRPr>
          </a:p>
          <a:p>
            <a:pPr marL="283210" marR="0" lvl="0" indent="-45720" algn="l" defTabSz="914400" rtl="0" eaLnBrk="1" fontAlgn="base" latinLnBrk="0" hangingPunct="1">
              <a:lnSpc>
                <a:spcPct val="150000"/>
              </a:lnSpc>
              <a:spcBef>
                <a:spcPts val="600"/>
              </a:spcBef>
              <a:spcAft>
                <a:spcPts val="0"/>
              </a:spcAft>
              <a:buClrTx/>
              <a:buSzTx/>
              <a:buFontTx/>
              <a:buNone/>
              <a:tabLst>
                <a:tab pos="457200" algn="l"/>
                <a:tab pos="914400" algn="l"/>
              </a:tabLst>
              <a:defRPr/>
            </a:pPr>
            <a:r>
              <a:rPr lang="zh-CN" altLang="en-US" sz="1800" kern="100" dirty="0">
                <a:effectLst/>
                <a:latin typeface="仿宋" panose="02010609060101010101" pitchFamily="49" charset="-122"/>
                <a:ea typeface="仿宋" panose="02010609060101010101" pitchFamily="49" charset="-122"/>
                <a:cs typeface="Times New Roman" panose="02020603050405020304" pitchFamily="18" charset="0"/>
              </a:rPr>
              <a:t>毛利率方面，公司定位高端，毛利率也相对较高，</a:t>
            </a:r>
            <a:r>
              <a:rPr lang="en-US" altLang="zh-CN" sz="1800" kern="100" dirty="0">
                <a:latin typeface="仿宋" panose="02010609060101010101" pitchFamily="49" charset="-122"/>
                <a:ea typeface="仿宋" panose="02010609060101010101" pitchFamily="49" charset="-122"/>
                <a:cs typeface="Times New Roman" panose="02020603050405020304" pitchFamily="18" charset="0"/>
              </a:rPr>
              <a:t>2021</a:t>
            </a:r>
            <a:r>
              <a:rPr lang="zh-CN" altLang="en-US" sz="1800" kern="100" dirty="0">
                <a:latin typeface="仿宋" panose="02010609060101010101" pitchFamily="49" charset="-122"/>
                <a:ea typeface="仿宋" panose="02010609060101010101" pitchFamily="49" charset="-122"/>
                <a:cs typeface="Times New Roman" panose="02020603050405020304" pitchFamily="18" charset="0"/>
              </a:rPr>
              <a:t>年</a:t>
            </a:r>
            <a:r>
              <a:rPr lang="en-US" altLang="zh-CN" sz="1800" kern="100" dirty="0">
                <a:latin typeface="仿宋" panose="02010609060101010101" pitchFamily="49" charset="-122"/>
                <a:ea typeface="仿宋" panose="02010609060101010101" pitchFamily="49" charset="-122"/>
                <a:cs typeface="Times New Roman" panose="02020603050405020304" pitchFamily="18" charset="0"/>
              </a:rPr>
              <a:t>1-4</a:t>
            </a:r>
            <a:r>
              <a:rPr lang="zh-CN" altLang="en-US" sz="1800" kern="100" dirty="0">
                <a:latin typeface="仿宋" panose="02010609060101010101" pitchFamily="49" charset="-122"/>
                <a:ea typeface="仿宋" panose="02010609060101010101" pitchFamily="49" charset="-122"/>
                <a:cs typeface="Times New Roman" panose="02020603050405020304" pitchFamily="18" charset="0"/>
              </a:rPr>
              <a:t>月，整体业务</a:t>
            </a:r>
            <a:r>
              <a:rPr lang="en-US" altLang="zh-CN" sz="1800" kern="100" dirty="0">
                <a:latin typeface="仿宋" panose="02010609060101010101" pitchFamily="49" charset="-122"/>
                <a:ea typeface="仿宋" panose="02010609060101010101" pitchFamily="49" charset="-122"/>
                <a:cs typeface="Times New Roman" panose="02020603050405020304" pitchFamily="18" charset="0"/>
              </a:rPr>
              <a:t>53.87%</a:t>
            </a:r>
            <a:r>
              <a:rPr lang="zh-CN" altLang="en-US" sz="1800" kern="100" dirty="0">
                <a:latin typeface="仿宋" panose="02010609060101010101" pitchFamily="49" charset="-122"/>
                <a:ea typeface="仿宋" panose="02010609060101010101" pitchFamily="49" charset="-122"/>
                <a:cs typeface="Times New Roman" panose="02020603050405020304" pitchFamily="18" charset="0"/>
              </a:rPr>
              <a:t>。手机产品线毛利率</a:t>
            </a:r>
            <a:r>
              <a:rPr lang="en-US" altLang="zh-CN" sz="1800" kern="100" dirty="0">
                <a:latin typeface="仿宋" panose="02010609060101010101" pitchFamily="49" charset="-122"/>
                <a:ea typeface="仿宋" panose="02010609060101010101" pitchFamily="49" charset="-122"/>
                <a:cs typeface="Times New Roman" panose="02020603050405020304" pitchFamily="18" charset="0"/>
              </a:rPr>
              <a:t>51%</a:t>
            </a:r>
            <a:r>
              <a:rPr lang="zh-CN" altLang="en-US" sz="1800" kern="100" dirty="0">
                <a:latin typeface="仿宋" panose="02010609060101010101" pitchFamily="49" charset="-122"/>
                <a:ea typeface="仿宋" panose="02010609060101010101" pitchFamily="49" charset="-122"/>
                <a:cs typeface="Times New Roman" panose="02020603050405020304" pitchFamily="18" charset="0"/>
              </a:rPr>
              <a:t>，共享单车</a:t>
            </a:r>
            <a:r>
              <a:rPr lang="en-US" altLang="zh-CN" sz="1800" kern="100" dirty="0">
                <a:latin typeface="仿宋" panose="02010609060101010101" pitchFamily="49" charset="-122"/>
                <a:ea typeface="仿宋" panose="02010609060101010101" pitchFamily="49" charset="-122"/>
                <a:cs typeface="Times New Roman" panose="02020603050405020304" pitchFamily="18" charset="0"/>
              </a:rPr>
              <a:t>62%</a:t>
            </a:r>
            <a:r>
              <a:rPr lang="zh-CN" altLang="en-US" sz="1800" kern="100" dirty="0">
                <a:latin typeface="仿宋" panose="02010609060101010101" pitchFamily="49" charset="-122"/>
                <a:ea typeface="仿宋" panose="02010609060101010101" pitchFamily="49" charset="-122"/>
                <a:cs typeface="Times New Roman" panose="02020603050405020304" pitchFamily="18" charset="0"/>
              </a:rPr>
              <a:t>，笔电</a:t>
            </a:r>
            <a:r>
              <a:rPr lang="en-US" altLang="zh-CN" sz="1800" kern="100" dirty="0">
                <a:latin typeface="仿宋" panose="02010609060101010101" pitchFamily="49" charset="-122"/>
                <a:ea typeface="仿宋" panose="02010609060101010101" pitchFamily="49" charset="-122"/>
                <a:cs typeface="Times New Roman" panose="02020603050405020304" pitchFamily="18" charset="0"/>
              </a:rPr>
              <a:t>59%</a:t>
            </a:r>
            <a:r>
              <a:rPr lang="zh-CN" altLang="en-US" sz="1800" kern="100" dirty="0">
                <a:latin typeface="仿宋" panose="02010609060101010101" pitchFamily="49" charset="-122"/>
                <a:ea typeface="仿宋" panose="02010609060101010101" pitchFamily="49" charset="-122"/>
                <a:cs typeface="Times New Roman" panose="02020603050405020304" pitchFamily="18" charset="0"/>
              </a:rPr>
              <a:t>。</a:t>
            </a:r>
            <a:endParaRPr lang="en-US" altLang="zh-CN" sz="1800" kern="100" dirty="0">
              <a:effectLst/>
              <a:latin typeface="仿宋" panose="02010609060101010101" pitchFamily="49" charset="-122"/>
              <a:ea typeface="仿宋" panose="02010609060101010101" pitchFamily="49" charset="-122"/>
              <a:cs typeface="Times New Roman" panose="02020603050405020304" pitchFamily="18" charset="0"/>
            </a:endParaRPr>
          </a:p>
          <a:p>
            <a:pPr marL="283210" indent="-45720" fontAlgn="base">
              <a:lnSpc>
                <a:spcPct val="150000"/>
              </a:lnSpc>
              <a:spcBef>
                <a:spcPts val="600"/>
              </a:spcBef>
              <a:tabLst>
                <a:tab pos="457200" algn="l"/>
                <a:tab pos="914400" algn="l"/>
              </a:tabLst>
            </a:pP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管理费用不高，主要是公司</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80%</a:t>
            </a: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以上都是工程师，研发费用大。</a:t>
            </a:r>
            <a:endPar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endParaRPr>
          </a:p>
          <a:p>
            <a:pPr marL="283210" indent="-45720" fontAlgn="base">
              <a:lnSpc>
                <a:spcPct val="150000"/>
              </a:lnSpc>
              <a:spcBef>
                <a:spcPts val="600"/>
              </a:spcBef>
              <a:tabLst>
                <a:tab pos="457200" algn="l"/>
                <a:tab pos="914400" algn="l"/>
              </a:tabLst>
            </a:pP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所得税方面，公司在</a:t>
            </a:r>
            <a:r>
              <a:rPr lang="zh-CN" altLang="zh-CN" sz="1800" kern="100" dirty="0">
                <a:latin typeface="仿宋" panose="02010609060101010101" pitchFamily="49" charset="-122"/>
                <a:ea typeface="仿宋" panose="02010609060101010101" pitchFamily="49" charset="-122"/>
                <a:cs typeface="Times New Roman" panose="02020603050405020304" pitchFamily="18" charset="0"/>
              </a:rPr>
              <a:t>在香港设有子公司，采用香港</a:t>
            </a:r>
            <a:r>
              <a:rPr lang="en-US" altLang="zh-CN" sz="1800" kern="100" dirty="0">
                <a:latin typeface="仿宋" panose="02010609060101010101" pitchFamily="49" charset="-122"/>
                <a:ea typeface="仿宋" panose="02010609060101010101" pitchFamily="49" charset="-122"/>
                <a:cs typeface="Times New Roman" panose="02020603050405020304" pitchFamily="18" charset="0"/>
              </a:rPr>
              <a:t>16.5%</a:t>
            </a:r>
            <a:r>
              <a:rPr lang="zh-CN" altLang="zh-CN" sz="1800" kern="100" dirty="0">
                <a:latin typeface="仿宋" panose="02010609060101010101" pitchFamily="49" charset="-122"/>
                <a:ea typeface="仿宋" panose="02010609060101010101" pitchFamily="49" charset="-122"/>
                <a:cs typeface="Times New Roman" panose="02020603050405020304" pitchFamily="18" charset="0"/>
              </a:rPr>
              <a:t>的企业所得税进行缴纳。</a:t>
            </a:r>
            <a:r>
              <a:rPr lang="zh-CN" altLang="en-US" sz="1800" kern="100" dirty="0">
                <a:latin typeface="仿宋" panose="02010609060101010101" pitchFamily="49" charset="-122"/>
                <a:ea typeface="仿宋" panose="02010609060101010101" pitchFamily="49" charset="-122"/>
                <a:cs typeface="Times New Roman" panose="02020603050405020304" pitchFamily="18" charset="0"/>
              </a:rPr>
              <a:t>目前公司都是走境外贸易，考虑到未来国内上市，</a:t>
            </a:r>
            <a:r>
              <a:rPr lang="zh-CN" altLang="zh-CN" sz="1800" kern="100" dirty="0">
                <a:latin typeface="仿宋" panose="02010609060101010101" pitchFamily="49" charset="-122"/>
                <a:ea typeface="仿宋" panose="02010609060101010101" pitchFamily="49" charset="-122"/>
                <a:cs typeface="Times New Roman" panose="02020603050405020304" pitchFamily="18" charset="0"/>
              </a:rPr>
              <a:t>公司将积极进行高新技术企业的申请。</a:t>
            </a:r>
            <a:endParaRPr lang="en-US" altLang="zh-CN" sz="1800" kern="100" dirty="0">
              <a:latin typeface="仿宋" panose="02010609060101010101" pitchFamily="49" charset="-122"/>
              <a:ea typeface="仿宋" panose="02010609060101010101" pitchFamily="49" charset="-122"/>
              <a:cs typeface="Times New Roman" panose="02020603050405020304" pitchFamily="18" charset="0"/>
            </a:endParaRPr>
          </a:p>
          <a:p>
            <a:pPr marL="283210" marR="0" lvl="0" indent="-45720" algn="l" defTabSz="914400" rtl="0" eaLnBrk="1" fontAlgn="base" latinLnBrk="0" hangingPunct="1">
              <a:lnSpc>
                <a:spcPct val="150000"/>
              </a:lnSpc>
              <a:spcBef>
                <a:spcPts val="600"/>
              </a:spcBef>
              <a:spcAft>
                <a:spcPts val="0"/>
              </a:spcAft>
              <a:buClrTx/>
              <a:buSzTx/>
              <a:buFontTx/>
              <a:buNone/>
              <a:tabLst>
                <a:tab pos="457200" algn="l"/>
                <a:tab pos="914400" algn="l"/>
              </a:tabLst>
              <a:defRPr/>
            </a:pPr>
            <a:r>
              <a:rPr lang="zh-CN" altLang="en-US" sz="1800" kern="100" dirty="0">
                <a:solidFill>
                  <a:srgbClr val="000000"/>
                </a:solidFill>
                <a:effectLst/>
                <a:latin typeface="仿宋" panose="02010609060101010101" pitchFamily="49" charset="-122"/>
                <a:ea typeface="仿宋" panose="02010609060101010101" pitchFamily="49" charset="-122"/>
                <a:cs typeface="Times New Roman" panose="02020603050405020304" pitchFamily="18" charset="0"/>
              </a:rPr>
              <a:t>利润方面，去年亏损</a:t>
            </a:r>
            <a:r>
              <a:rPr lang="en-US" altLang="zh-CN" sz="1800" kern="100" dirty="0">
                <a:solidFill>
                  <a:srgbClr val="000000"/>
                </a:solidFill>
                <a:effectLst/>
                <a:latin typeface="仿宋" panose="02010609060101010101" pitchFamily="49" charset="-122"/>
                <a:ea typeface="仿宋" panose="02010609060101010101" pitchFamily="49" charset="-122"/>
                <a:cs typeface="Times New Roman" panose="02020603050405020304" pitchFamily="18" charset="0"/>
              </a:rPr>
              <a:t>1260</a:t>
            </a:r>
            <a:r>
              <a:rPr lang="zh-CN" altLang="en-US" sz="1800" kern="100" dirty="0">
                <a:solidFill>
                  <a:srgbClr val="000000"/>
                </a:solidFill>
                <a:effectLst/>
                <a:latin typeface="仿宋" panose="02010609060101010101" pitchFamily="49" charset="-122"/>
                <a:ea typeface="仿宋" panose="02010609060101010101" pitchFamily="49" charset="-122"/>
                <a:cs typeface="Times New Roman" panose="02020603050405020304" pitchFamily="18" charset="0"/>
              </a:rPr>
              <a:t>万，今年前两个月就直接实现了盈利，</a:t>
            </a:r>
            <a:r>
              <a:rPr lang="en-US" altLang="zh-CN" sz="1800" kern="100" dirty="0">
                <a:solidFill>
                  <a:srgbClr val="000000"/>
                </a:solidFill>
                <a:effectLst/>
                <a:latin typeface="仿宋" panose="02010609060101010101" pitchFamily="49" charset="-122"/>
                <a:ea typeface="仿宋" panose="02010609060101010101" pitchFamily="49" charset="-122"/>
                <a:cs typeface="Times New Roman" panose="02020603050405020304" pitchFamily="18" charset="0"/>
              </a:rPr>
              <a:t>1-4</a:t>
            </a:r>
            <a:r>
              <a:rPr lang="zh-CN" altLang="en-US" sz="1800" kern="100" dirty="0">
                <a:solidFill>
                  <a:srgbClr val="000000"/>
                </a:solidFill>
                <a:effectLst/>
                <a:latin typeface="仿宋" panose="02010609060101010101" pitchFamily="49" charset="-122"/>
                <a:ea typeface="仿宋" panose="02010609060101010101" pitchFamily="49" charset="-122"/>
                <a:cs typeface="Times New Roman" panose="02020603050405020304" pitchFamily="18" charset="0"/>
              </a:rPr>
              <a:t>月微亏</a:t>
            </a:r>
            <a:r>
              <a:rPr lang="en-US" altLang="zh-CN" sz="1800" kern="100" dirty="0">
                <a:solidFill>
                  <a:srgbClr val="000000"/>
                </a:solidFill>
                <a:effectLst/>
                <a:latin typeface="仿宋" panose="02010609060101010101" pitchFamily="49" charset="-122"/>
                <a:ea typeface="仿宋" panose="02010609060101010101" pitchFamily="49" charset="-122"/>
                <a:cs typeface="Times New Roman" panose="02020603050405020304" pitchFamily="18" charset="0"/>
              </a:rPr>
              <a:t>185</a:t>
            </a:r>
            <a:r>
              <a:rPr lang="zh-CN" altLang="en-US" sz="1800" kern="100" dirty="0">
                <a:solidFill>
                  <a:srgbClr val="000000"/>
                </a:solidFill>
                <a:effectLst/>
                <a:latin typeface="仿宋" panose="02010609060101010101" pitchFamily="49" charset="-122"/>
                <a:ea typeface="仿宋" panose="02010609060101010101" pitchFamily="49" charset="-122"/>
                <a:cs typeface="Times New Roman" panose="02020603050405020304" pitchFamily="18" charset="0"/>
              </a:rPr>
              <a:t>万元。公司团队的运营管理能力得到快速发挥，盈利能力也得到快速释放。</a:t>
            </a:r>
            <a:endParaRPr lang="en-US" altLang="zh-CN" sz="1800" kern="100" dirty="0">
              <a:solidFill>
                <a:srgbClr val="000000"/>
              </a:solidFill>
              <a:effectLst/>
              <a:latin typeface="仿宋" panose="02010609060101010101" pitchFamily="49" charset="-122"/>
              <a:ea typeface="仿宋" panose="02010609060101010101" pitchFamily="49" charset="-122"/>
              <a:cs typeface="Times New Roman" panose="02020603050405020304" pitchFamily="18" charset="0"/>
            </a:endParaRPr>
          </a:p>
          <a:p>
            <a:pPr marL="283210" marR="0" lvl="0" indent="-45720" algn="l" defTabSz="914400" rtl="0" eaLnBrk="1" fontAlgn="base" latinLnBrk="0" hangingPunct="1">
              <a:lnSpc>
                <a:spcPct val="150000"/>
              </a:lnSpc>
              <a:spcBef>
                <a:spcPts val="600"/>
              </a:spcBef>
              <a:spcAft>
                <a:spcPts val="0"/>
              </a:spcAft>
              <a:buClrTx/>
              <a:buSzTx/>
              <a:buFontTx/>
              <a:buNone/>
              <a:tabLst>
                <a:tab pos="457200" algn="l"/>
                <a:tab pos="914400" algn="l"/>
              </a:tabLst>
              <a:defRPr/>
            </a:pPr>
            <a:r>
              <a:rPr lang="zh-CN" altLang="en-US" sz="1800" kern="100" dirty="0">
                <a:solidFill>
                  <a:srgbClr val="000000"/>
                </a:solidFill>
                <a:effectLst/>
                <a:latin typeface="仿宋" panose="02010609060101010101" pitchFamily="49" charset="-122"/>
                <a:ea typeface="仿宋" panose="02010609060101010101" pitchFamily="49" charset="-122"/>
                <a:cs typeface="Times New Roman" panose="02020603050405020304" pitchFamily="18" charset="0"/>
              </a:rPr>
              <a:t>作为一个独立运营不到</a:t>
            </a:r>
            <a:r>
              <a:rPr lang="en-US" altLang="zh-CN" sz="1800" kern="100" dirty="0">
                <a:solidFill>
                  <a:srgbClr val="000000"/>
                </a:solidFill>
                <a:effectLst/>
                <a:latin typeface="仿宋" panose="02010609060101010101" pitchFamily="49" charset="-122"/>
                <a:ea typeface="仿宋" panose="02010609060101010101" pitchFamily="49" charset="-122"/>
                <a:cs typeface="Times New Roman" panose="02020603050405020304" pitchFamily="18" charset="0"/>
              </a:rPr>
              <a:t>1</a:t>
            </a:r>
            <a:r>
              <a:rPr lang="zh-CN" altLang="en-US" sz="1800" kern="100" dirty="0">
                <a:solidFill>
                  <a:srgbClr val="000000"/>
                </a:solidFill>
                <a:effectLst/>
                <a:latin typeface="仿宋" panose="02010609060101010101" pitchFamily="49" charset="-122"/>
                <a:ea typeface="仿宋" panose="02010609060101010101" pitchFamily="49" charset="-122"/>
                <a:cs typeface="Times New Roman" panose="02020603050405020304" pitchFamily="18" charset="0"/>
              </a:rPr>
              <a:t>年的公司，</a:t>
            </a:r>
            <a:r>
              <a:rPr lang="en-US" altLang="zh-CN" sz="1800" kern="100" dirty="0">
                <a:solidFill>
                  <a:srgbClr val="000000"/>
                </a:solidFill>
                <a:effectLst/>
                <a:latin typeface="仿宋" panose="02010609060101010101" pitchFamily="49" charset="-122"/>
                <a:ea typeface="仿宋" panose="02010609060101010101" pitchFamily="49" charset="-122"/>
                <a:cs typeface="Times New Roman" panose="02020603050405020304" pitchFamily="18" charset="0"/>
              </a:rPr>
              <a:t>2021</a:t>
            </a:r>
            <a:r>
              <a:rPr lang="zh-CN" altLang="en-US" sz="1800" kern="100" dirty="0">
                <a:solidFill>
                  <a:srgbClr val="000000"/>
                </a:solidFill>
                <a:effectLst/>
                <a:latin typeface="仿宋" panose="02010609060101010101" pitchFamily="49" charset="-122"/>
                <a:ea typeface="仿宋" panose="02010609060101010101" pitchFamily="49" charset="-122"/>
                <a:cs typeface="Times New Roman" panose="02020603050405020304" pitchFamily="18" charset="0"/>
              </a:rPr>
              <a:t>年前五个月实现盈亏平衡，难能可贵。</a:t>
            </a:r>
            <a:endPar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endParaRPr>
          </a:p>
          <a:p>
            <a:pPr marL="283210" indent="-45720" fontAlgn="base">
              <a:lnSpc>
                <a:spcPct val="150000"/>
              </a:lnSpc>
              <a:spcBef>
                <a:spcPts val="600"/>
              </a:spcBef>
              <a:tabLst>
                <a:tab pos="457200" algn="l"/>
                <a:tab pos="914400" algn="l"/>
              </a:tabLst>
            </a:pPr>
            <a:endPar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EDB296A9-64E8-4B0F-8A40-DB128CAA2C51}" type="slidenum">
              <a:rPr lang="zh-CN" altLang="en-US" smtClean="0"/>
              <a:t>15</a:t>
            </a:fld>
            <a:endParaRPr lang="zh-CN" altLang="en-US"/>
          </a:p>
        </p:txBody>
      </p:sp>
    </p:spTree>
    <p:extLst>
      <p:ext uri="{BB962C8B-B14F-4D97-AF65-F5344CB8AC3E}">
        <p14:creationId xmlns:p14="http://schemas.microsoft.com/office/powerpoint/2010/main" val="8474882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3210" indent="-45720" fontAlgn="base">
              <a:lnSpc>
                <a:spcPct val="150000"/>
              </a:lnSpc>
            </a:pP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根据统计数据，全球集成电路市场</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4000</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多亿美金，其中模拟</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700</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亿美金；电源管理芯片占到</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53%</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，信号链芯片占到</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47%</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。电源管理芯片市场还是非常大的。</a:t>
            </a:r>
            <a:endPar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endParaRPr>
          </a:p>
          <a:p>
            <a:pPr marL="283210" indent="-45720" fontAlgn="base">
              <a:lnSpc>
                <a:spcPct val="150000"/>
              </a:lnSpc>
            </a:pPr>
            <a:endPar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DB296A9-64E8-4B0F-8A40-DB128CAA2C51}" type="slidenum">
              <a:rPr lang="zh-CN" altLang="en-US" smtClean="0"/>
              <a:t>16</a:t>
            </a:fld>
            <a:endParaRPr lang="zh-CN" altLang="en-US"/>
          </a:p>
        </p:txBody>
      </p:sp>
    </p:spTree>
    <p:extLst>
      <p:ext uri="{BB962C8B-B14F-4D97-AF65-F5344CB8AC3E}">
        <p14:creationId xmlns:p14="http://schemas.microsoft.com/office/powerpoint/2010/main" val="8981199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3210" indent="-45720" fontAlgn="base">
              <a:lnSpc>
                <a:spcPct val="150000"/>
              </a:lnSpc>
            </a:pPr>
            <a:r>
              <a:rPr lang="zh-CN" altLang="zh-CN" sz="1800" kern="100" dirty="0">
                <a:effectLst/>
                <a:ea typeface="仿宋" panose="02010609060101010101" pitchFamily="49" charset="-122"/>
                <a:cs typeface="Times New Roman" panose="02020603050405020304" pitchFamily="18" charset="0"/>
              </a:rPr>
              <a:t>目前，各大厂商的主流高端智能手机电池容量均达到</a:t>
            </a:r>
            <a:r>
              <a:rPr lang="en-US" altLang="zh-CN" sz="1800" kern="100" dirty="0">
                <a:effectLst/>
                <a:ea typeface="仿宋" panose="02010609060101010101" pitchFamily="49" charset="-122"/>
                <a:cs typeface="Times New Roman" panose="02020603050405020304" pitchFamily="18" charset="0"/>
              </a:rPr>
              <a:t>4000mAh</a:t>
            </a:r>
            <a:r>
              <a:rPr lang="zh-CN" altLang="zh-CN" sz="1800" kern="100" dirty="0">
                <a:effectLst/>
                <a:ea typeface="仿宋" panose="02010609060101010101" pitchFamily="49" charset="-122"/>
                <a:cs typeface="Times New Roman" panose="02020603050405020304" pitchFamily="18" charset="0"/>
              </a:rPr>
              <a:t>以上</a:t>
            </a:r>
            <a:r>
              <a:rPr lang="zh-CN" altLang="en-US" sz="1800" kern="100" dirty="0">
                <a:effectLst/>
                <a:ea typeface="仿宋" panose="02010609060101010101" pitchFamily="49" charset="-122"/>
                <a:cs typeface="Times New Roman" panose="02020603050405020304" pitchFamily="18" charset="0"/>
              </a:rPr>
              <a:t>。快充的普及和大规模应用，解决了人们的续航焦虑，将“充电时间” 的概念从生活中抹除，实现即充即用。快充也将成为包括手机、笔电、可穿戴、电瓶车等标准技术方案。</a:t>
            </a:r>
            <a:endParaRPr lang="en-US" altLang="zh-CN" sz="1800" kern="100" dirty="0">
              <a:effectLst/>
              <a:ea typeface="仿宋" panose="02010609060101010101" pitchFamily="49" charset="-122"/>
              <a:cs typeface="Times New Roman" panose="02020603050405020304" pitchFamily="18" charset="0"/>
            </a:endParaRPr>
          </a:p>
          <a:p>
            <a:pPr marL="283210" indent="-45720" fontAlgn="base">
              <a:lnSpc>
                <a:spcPct val="150000"/>
              </a:lnSpc>
            </a:pPr>
            <a:r>
              <a:rPr lang="en-US" altLang="zh-CN" sz="1800" kern="100" dirty="0">
                <a:effectLst/>
                <a:latin typeface="仿宋" panose="02010609060101010101" pitchFamily="49" charset="-122"/>
                <a:ea typeface="仿宋" panose="02010609060101010101" pitchFamily="49" charset="-122"/>
                <a:cs typeface="Times New Roman" panose="02020603050405020304" pitchFamily="18" charset="0"/>
              </a:rPr>
              <a:t>2021</a:t>
            </a:r>
            <a:r>
              <a:rPr lang="zh-CN" altLang="en-US" sz="1800" kern="100" dirty="0">
                <a:effectLst/>
                <a:latin typeface="仿宋" panose="02010609060101010101" pitchFamily="49" charset="-122"/>
                <a:ea typeface="仿宋" panose="02010609060101010101" pitchFamily="49" charset="-122"/>
                <a:cs typeface="Times New Roman" panose="02020603050405020304" pitchFamily="18" charset="0"/>
              </a:rPr>
              <a:t>年</a:t>
            </a:r>
            <a:r>
              <a:rPr lang="en-US" altLang="zh-CN" sz="1800" kern="100" dirty="0">
                <a:effectLst/>
                <a:latin typeface="仿宋" panose="02010609060101010101" pitchFamily="49" charset="-122"/>
                <a:ea typeface="仿宋" panose="02010609060101010101" pitchFamily="49" charset="-122"/>
                <a:cs typeface="Times New Roman" panose="02020603050405020304" pitchFamily="18" charset="0"/>
              </a:rPr>
              <a:t>5</a:t>
            </a:r>
            <a:r>
              <a:rPr lang="zh-CN" altLang="en-US" sz="1800" kern="100" dirty="0">
                <a:effectLst/>
                <a:latin typeface="仿宋" panose="02010609060101010101" pitchFamily="49" charset="-122"/>
                <a:ea typeface="仿宋" panose="02010609060101010101" pitchFamily="49" charset="-122"/>
                <a:cs typeface="Times New Roman" panose="02020603050405020304" pitchFamily="18" charset="0"/>
              </a:rPr>
              <a:t>月，</a:t>
            </a:r>
            <a:r>
              <a:rPr lang="en-US" altLang="zh-CN" sz="1800" kern="100" dirty="0">
                <a:effectLst/>
                <a:ea typeface="仿宋" panose="02010609060101010101" pitchFamily="49" charset="-122"/>
                <a:cs typeface="Times New Roman" panose="02020603050405020304" pitchFamily="18" charset="0"/>
              </a:rPr>
              <a:t>USB</a:t>
            </a:r>
            <a:r>
              <a:rPr lang="zh-CN" altLang="zh-CN" sz="1800" kern="100" dirty="0">
                <a:effectLst/>
                <a:ea typeface="仿宋" panose="02010609060101010101" pitchFamily="49" charset="-122"/>
                <a:cs typeface="Times New Roman" panose="02020603050405020304" pitchFamily="18" charset="0"/>
              </a:rPr>
              <a:t>标准组织</a:t>
            </a:r>
            <a:r>
              <a:rPr lang="en-US" altLang="zh-CN" sz="1800" kern="100" dirty="0">
                <a:effectLst/>
                <a:ea typeface="仿宋" panose="02010609060101010101" pitchFamily="49" charset="-122"/>
                <a:cs typeface="Times New Roman" panose="02020603050405020304" pitchFamily="18" charset="0"/>
              </a:rPr>
              <a:t>USB-IF</a:t>
            </a:r>
            <a:r>
              <a:rPr lang="zh-CN" altLang="zh-CN" sz="1800" kern="100" dirty="0">
                <a:effectLst/>
                <a:ea typeface="仿宋" panose="02010609060101010101" pitchFamily="49" charset="-122"/>
                <a:cs typeface="Times New Roman" panose="02020603050405020304" pitchFamily="18" charset="0"/>
              </a:rPr>
              <a:t>宣布修订</a:t>
            </a:r>
            <a:r>
              <a:rPr lang="en-US" altLang="zh-CN" sz="1800" kern="100" dirty="0">
                <a:effectLst/>
                <a:ea typeface="仿宋" panose="02010609060101010101" pitchFamily="49" charset="-122"/>
                <a:cs typeface="Times New Roman" panose="02020603050405020304" pitchFamily="18" charset="0"/>
              </a:rPr>
              <a:t>USB PD</a:t>
            </a:r>
            <a:r>
              <a:rPr lang="zh-CN" altLang="zh-CN" sz="1800" kern="100" dirty="0">
                <a:effectLst/>
                <a:ea typeface="仿宋" panose="02010609060101010101" pitchFamily="49" charset="-122"/>
                <a:cs typeface="Times New Roman" panose="02020603050405020304" pitchFamily="18" charset="0"/>
              </a:rPr>
              <a:t>协议</a:t>
            </a:r>
            <a:r>
              <a:rPr lang="en-US" altLang="zh-CN" sz="1800" kern="100" dirty="0">
                <a:effectLst/>
                <a:ea typeface="仿宋" panose="02010609060101010101" pitchFamily="49" charset="-122"/>
                <a:cs typeface="Times New Roman" panose="02020603050405020304" pitchFamily="18" charset="0"/>
              </a:rPr>
              <a:t>3.1</a:t>
            </a:r>
            <a:r>
              <a:rPr lang="zh-CN" altLang="zh-CN" sz="1800" kern="100" dirty="0">
                <a:effectLst/>
                <a:ea typeface="仿宋" panose="02010609060101010101" pitchFamily="49" charset="-122"/>
                <a:cs typeface="Times New Roman" panose="02020603050405020304" pitchFamily="18" charset="0"/>
              </a:rPr>
              <a:t>规范，将</a:t>
            </a:r>
            <a:r>
              <a:rPr lang="en-US" altLang="zh-CN" sz="1800" kern="100" dirty="0">
                <a:effectLst/>
                <a:ea typeface="仿宋" panose="02010609060101010101" pitchFamily="49" charset="-122"/>
                <a:cs typeface="Times New Roman" panose="02020603050405020304" pitchFamily="18" charset="0"/>
              </a:rPr>
              <a:t>USB Type-C</a:t>
            </a:r>
            <a:r>
              <a:rPr lang="zh-CN" altLang="zh-CN" sz="1800" kern="100" dirty="0">
                <a:effectLst/>
                <a:ea typeface="仿宋" panose="02010609060101010101" pitchFamily="49" charset="-122"/>
                <a:cs typeface="Times New Roman" panose="02020603050405020304" pitchFamily="18" charset="0"/>
              </a:rPr>
              <a:t>最大功率从</a:t>
            </a:r>
            <a:r>
              <a:rPr lang="en-US" altLang="zh-CN" sz="1800" kern="100" dirty="0">
                <a:effectLst/>
                <a:ea typeface="仿宋" panose="02010609060101010101" pitchFamily="49" charset="-122"/>
                <a:cs typeface="Times New Roman" panose="02020603050405020304" pitchFamily="18" charset="0"/>
              </a:rPr>
              <a:t>100W</a:t>
            </a:r>
            <a:r>
              <a:rPr lang="zh-CN" altLang="zh-CN" sz="1800" kern="100" dirty="0">
                <a:effectLst/>
                <a:ea typeface="仿宋" panose="02010609060101010101" pitchFamily="49" charset="-122"/>
                <a:cs typeface="Times New Roman" panose="02020603050405020304" pitchFamily="18" charset="0"/>
              </a:rPr>
              <a:t>（</a:t>
            </a:r>
            <a:r>
              <a:rPr lang="en-US" altLang="zh-CN" sz="1800" kern="100" dirty="0">
                <a:effectLst/>
                <a:ea typeface="仿宋" panose="02010609060101010101" pitchFamily="49" charset="-122"/>
                <a:cs typeface="Times New Roman" panose="02020603050405020304" pitchFamily="18" charset="0"/>
              </a:rPr>
              <a:t>20V</a:t>
            </a:r>
            <a:r>
              <a:rPr lang="zh-CN" altLang="zh-CN" sz="1800" kern="100" dirty="0">
                <a:effectLst/>
                <a:ea typeface="仿宋" panose="02010609060101010101" pitchFamily="49" charset="-122"/>
                <a:cs typeface="Times New Roman" panose="02020603050405020304" pitchFamily="18" charset="0"/>
              </a:rPr>
              <a:t>、</a:t>
            </a:r>
            <a:r>
              <a:rPr lang="en-US" altLang="zh-CN" sz="1800" kern="100" dirty="0">
                <a:effectLst/>
                <a:ea typeface="仿宋" panose="02010609060101010101" pitchFamily="49" charset="-122"/>
                <a:cs typeface="Times New Roman" panose="02020603050405020304" pitchFamily="18" charset="0"/>
              </a:rPr>
              <a:t>5A</a:t>
            </a:r>
            <a:r>
              <a:rPr lang="zh-CN" altLang="zh-CN" sz="1800" kern="100" dirty="0">
                <a:effectLst/>
                <a:ea typeface="仿宋" panose="02010609060101010101" pitchFamily="49" charset="-122"/>
                <a:cs typeface="Times New Roman" panose="02020603050405020304" pitchFamily="18" charset="0"/>
              </a:rPr>
              <a:t>）提升至</a:t>
            </a:r>
            <a:r>
              <a:rPr lang="en-US" altLang="zh-CN" sz="1800" kern="100" dirty="0">
                <a:effectLst/>
                <a:ea typeface="仿宋" panose="02010609060101010101" pitchFamily="49" charset="-122"/>
                <a:cs typeface="Times New Roman" panose="02020603050405020304" pitchFamily="18" charset="0"/>
              </a:rPr>
              <a:t>240W</a:t>
            </a:r>
            <a:r>
              <a:rPr lang="zh-CN" altLang="zh-CN" sz="1800" kern="100" dirty="0">
                <a:effectLst/>
                <a:ea typeface="仿宋" panose="02010609060101010101" pitchFamily="49" charset="-122"/>
                <a:cs typeface="Times New Roman" panose="02020603050405020304" pitchFamily="18" charset="0"/>
              </a:rPr>
              <a:t>（</a:t>
            </a:r>
            <a:r>
              <a:rPr lang="en-US" altLang="zh-CN" sz="1800" kern="100" dirty="0">
                <a:effectLst/>
                <a:ea typeface="仿宋" panose="02010609060101010101" pitchFamily="49" charset="-122"/>
                <a:cs typeface="Times New Roman" panose="02020603050405020304" pitchFamily="18" charset="0"/>
              </a:rPr>
              <a:t>48V</a:t>
            </a:r>
            <a:r>
              <a:rPr lang="zh-CN" altLang="zh-CN" sz="1800" kern="100" dirty="0">
                <a:effectLst/>
                <a:ea typeface="仿宋" panose="02010609060101010101" pitchFamily="49" charset="-122"/>
                <a:cs typeface="Times New Roman" panose="02020603050405020304" pitchFamily="18" charset="0"/>
              </a:rPr>
              <a:t>、</a:t>
            </a:r>
            <a:r>
              <a:rPr lang="en-US" altLang="zh-CN" sz="1800" kern="100" dirty="0">
                <a:effectLst/>
                <a:ea typeface="仿宋" panose="02010609060101010101" pitchFamily="49" charset="-122"/>
                <a:cs typeface="Times New Roman" panose="02020603050405020304" pitchFamily="18" charset="0"/>
              </a:rPr>
              <a:t>5A</a:t>
            </a:r>
            <a:r>
              <a:rPr lang="zh-CN" altLang="zh-CN" sz="1800" kern="100" dirty="0">
                <a:effectLst/>
                <a:ea typeface="仿宋" panose="02010609060101010101" pitchFamily="49" charset="-122"/>
                <a:cs typeface="Times New Roman" panose="02020603050405020304" pitchFamily="18" charset="0"/>
              </a:rPr>
              <a:t>）。</a:t>
            </a:r>
            <a:r>
              <a:rPr lang="en-US" altLang="zh-CN" sz="1800" b="1" kern="100" dirty="0">
                <a:effectLst/>
                <a:ea typeface="仿宋" panose="02010609060101010101" pitchFamily="49" charset="-122"/>
                <a:cs typeface="Times New Roman" panose="02020603050405020304" pitchFamily="18" charset="0"/>
              </a:rPr>
              <a:t>USB PD3.1</a:t>
            </a:r>
            <a:r>
              <a:rPr lang="zh-CN" altLang="zh-CN" sz="1800" b="1" kern="100" dirty="0">
                <a:effectLst/>
                <a:ea typeface="仿宋" panose="02010609060101010101" pitchFamily="49" charset="-122"/>
                <a:cs typeface="Times New Roman" panose="02020603050405020304" pitchFamily="18" charset="0"/>
              </a:rPr>
              <a:t>标准推动电源行业进入“万物皆可充”时代</a:t>
            </a:r>
            <a:r>
              <a:rPr lang="zh-CN" altLang="en-US" sz="1800" kern="100" dirty="0">
                <a:effectLst/>
                <a:ea typeface="仿宋" panose="02010609060101010101" pitchFamily="49" charset="-122"/>
                <a:cs typeface="Times New Roman" panose="02020603050405020304" pitchFamily="18" charset="0"/>
              </a:rPr>
              <a:t>。</a:t>
            </a:r>
            <a:endParaRPr lang="en-US" altLang="zh-CN" sz="1800" kern="100" dirty="0">
              <a:effectLst/>
              <a:ea typeface="仿宋" panose="02010609060101010101" pitchFamily="49" charset="-122"/>
              <a:cs typeface="Times New Roman" panose="02020603050405020304" pitchFamily="18" charset="0"/>
            </a:endParaRPr>
          </a:p>
          <a:p>
            <a:pPr marL="283210" marR="0" lvl="0" indent="-45720" algn="l" defTabSz="914400" rtl="0" eaLnBrk="1" fontAlgn="base" latinLnBrk="0" hangingPunct="1">
              <a:lnSpc>
                <a:spcPct val="150000"/>
              </a:lnSpc>
              <a:spcBef>
                <a:spcPts val="0"/>
              </a:spcBef>
              <a:spcAft>
                <a:spcPts val="0"/>
              </a:spcAft>
              <a:buClrTx/>
              <a:buSzTx/>
              <a:buFontTx/>
              <a:buNone/>
              <a:tabLst/>
              <a:defRPr/>
            </a:pPr>
            <a:r>
              <a:rPr lang="zh-CN" altLang="en-US" sz="1600" b="1" kern="100" dirty="0">
                <a:effectLst/>
                <a:latin typeface="仿宋" panose="02010609060101010101" pitchFamily="49" charset="-122"/>
                <a:ea typeface="仿宋" panose="02010609060101010101" pitchFamily="49" charset="-122"/>
                <a:cs typeface="Times New Roman" panose="02020603050405020304" pitchFamily="18" charset="0"/>
              </a:rPr>
              <a:t>左图的小米刚刚发布的</a:t>
            </a:r>
            <a:r>
              <a:rPr lang="en-US" altLang="zh-CN" sz="1600" b="1" kern="100" dirty="0">
                <a:effectLst/>
                <a:latin typeface="仿宋" panose="02010609060101010101" pitchFamily="49" charset="-122"/>
                <a:ea typeface="仿宋" panose="02010609060101010101" pitchFamily="49" charset="-122"/>
                <a:cs typeface="Times New Roman" panose="02020603050405020304" pitchFamily="18" charset="0"/>
              </a:rPr>
              <a:t>200W</a:t>
            </a:r>
            <a:r>
              <a:rPr lang="zh-CN" altLang="en-US" sz="1600" b="1" kern="100" dirty="0">
                <a:effectLst/>
                <a:latin typeface="仿宋" panose="02010609060101010101" pitchFamily="49" charset="-122"/>
                <a:ea typeface="仿宋" panose="02010609060101010101" pitchFamily="49" charset="-122"/>
                <a:cs typeface="Times New Roman" panose="02020603050405020304" pitchFamily="18" charset="0"/>
              </a:rPr>
              <a:t>快充，</a:t>
            </a:r>
            <a:r>
              <a:rPr lang="en-US" altLang="zh-CN" sz="1600" kern="100" dirty="0">
                <a:latin typeface="仿宋" panose="02010609060101010101" pitchFamily="49" charset="-122"/>
                <a:ea typeface="仿宋" panose="02010609060101010101" pitchFamily="49" charset="-122"/>
                <a:cs typeface="Times New Roman" panose="02020603050405020304" pitchFamily="18" charset="0"/>
              </a:rPr>
              <a:t>8</a:t>
            </a:r>
            <a:r>
              <a:rPr lang="zh-CN" altLang="en-US" sz="1600" kern="100" dirty="0">
                <a:latin typeface="仿宋" panose="02010609060101010101" pitchFamily="49" charset="-122"/>
                <a:ea typeface="仿宋" panose="02010609060101010101" pitchFamily="49" charset="-122"/>
                <a:cs typeface="Times New Roman" panose="02020603050405020304" pitchFamily="18" charset="0"/>
              </a:rPr>
              <a:t>分钟充满，引领高功率快充发展，进入</a:t>
            </a:r>
            <a:r>
              <a:rPr lang="zh-CN" altLang="en-US" sz="1600" b="1" dirty="0">
                <a:solidFill>
                  <a:srgbClr val="C00000"/>
                </a:solidFill>
                <a:latin typeface="仿宋" panose="02010609060101010101" pitchFamily="49" charset="-122"/>
                <a:ea typeface="仿宋" panose="02010609060101010101" pitchFamily="49" charset="-122"/>
              </a:rPr>
              <a:t>大功率快充的</a:t>
            </a:r>
            <a:r>
              <a:rPr lang="zh-CN" altLang="zh-CN" sz="1600" b="1" dirty="0">
                <a:solidFill>
                  <a:srgbClr val="C00000"/>
                </a:solidFill>
                <a:latin typeface="仿宋" panose="02010609060101010101" pitchFamily="49" charset="-122"/>
                <a:ea typeface="仿宋" panose="02010609060101010101" pitchFamily="49" charset="-122"/>
              </a:rPr>
              <a:t>“万物皆可充”时代</a:t>
            </a:r>
            <a:r>
              <a:rPr lang="zh-CN" altLang="en-US" sz="1600" b="1" dirty="0">
                <a:solidFill>
                  <a:srgbClr val="C00000"/>
                </a:solidFill>
                <a:latin typeface="仿宋" panose="02010609060101010101" pitchFamily="49" charset="-122"/>
                <a:ea typeface="仿宋" panose="02010609060101010101" pitchFamily="49" charset="-122"/>
              </a:rPr>
              <a:t>。</a:t>
            </a:r>
            <a:endParaRPr lang="en-US" altLang="zh-CN" sz="1600" kern="100" dirty="0">
              <a:latin typeface="仿宋" panose="02010609060101010101" pitchFamily="49" charset="-122"/>
              <a:ea typeface="仿宋" panose="02010609060101010101" pitchFamily="49" charset="-122"/>
              <a:cs typeface="Times New Roman" panose="02020603050405020304" pitchFamily="18" charset="0"/>
            </a:endParaRPr>
          </a:p>
          <a:p>
            <a:pPr marL="283210" marR="0" lvl="0" indent="-45720" algn="l" defTabSz="914400" rtl="0" eaLnBrk="1" fontAlgn="base" latinLnBrk="0" hangingPunct="1">
              <a:lnSpc>
                <a:spcPct val="150000"/>
              </a:lnSpc>
              <a:spcBef>
                <a:spcPts val="0"/>
              </a:spcBef>
              <a:spcAft>
                <a:spcPts val="0"/>
              </a:spcAft>
              <a:buClrTx/>
              <a:buSzTx/>
              <a:buFontTx/>
              <a:buNone/>
              <a:tabLst/>
              <a:defRPr/>
            </a:pPr>
            <a:r>
              <a:rPr lang="zh-CN" altLang="en-US" sz="2000" kern="100" dirty="0">
                <a:effectLst/>
                <a:latin typeface="仿宋" panose="02010609060101010101" pitchFamily="49" charset="-122"/>
                <a:ea typeface="仿宋" panose="02010609060101010101" pitchFamily="49" charset="-122"/>
                <a:cs typeface="Times New Roman" panose="02020603050405020304" pitchFamily="18" charset="0"/>
              </a:rPr>
              <a:t>目前</a:t>
            </a:r>
            <a:r>
              <a:rPr lang="en-US" altLang="zh-CN" sz="1800" kern="100" dirty="0">
                <a:latin typeface="仿宋" panose="02010609060101010101" pitchFamily="49" charset="-122"/>
                <a:ea typeface="仿宋" panose="02010609060101010101" pitchFamily="49" charset="-122"/>
                <a:cs typeface="Times New Roman" panose="02020603050405020304" pitchFamily="18" charset="0"/>
              </a:rPr>
              <a:t>30W</a:t>
            </a:r>
            <a:r>
              <a:rPr lang="zh-CN" altLang="en-US" sz="1800" kern="100" dirty="0">
                <a:latin typeface="仿宋" panose="02010609060101010101" pitchFamily="49" charset="-122"/>
                <a:ea typeface="仿宋" panose="02010609060101010101" pitchFamily="49" charset="-122"/>
                <a:cs typeface="Times New Roman" panose="02020603050405020304" pitchFamily="18" charset="0"/>
              </a:rPr>
              <a:t>以上的手机快充，需要高效率的</a:t>
            </a:r>
            <a:r>
              <a:rPr lang="en-US" altLang="zh-CN" sz="1800" b="1" kern="100" dirty="0">
                <a:effectLst/>
                <a:latin typeface="仿宋" panose="02010609060101010101" pitchFamily="49" charset="-122"/>
                <a:ea typeface="仿宋" panose="02010609060101010101" pitchFamily="49" charset="-122"/>
                <a:cs typeface="Times New Roman" panose="02020603050405020304" pitchFamily="18" charset="0"/>
              </a:rPr>
              <a:t>Charge Pump</a:t>
            </a:r>
            <a:r>
              <a:rPr lang="zh-CN" altLang="zh-CN" sz="1800" b="1" kern="100" dirty="0">
                <a:effectLst/>
                <a:latin typeface="仿宋" panose="02010609060101010101" pitchFamily="49" charset="-122"/>
                <a:ea typeface="仿宋" panose="02010609060101010101" pitchFamily="49" charset="-122"/>
                <a:cs typeface="Times New Roman" panose="02020603050405020304" pitchFamily="18" charset="0"/>
              </a:rPr>
              <a:t>电荷泵</a:t>
            </a:r>
            <a:r>
              <a:rPr lang="zh-CN" altLang="en-US" sz="1800" b="1" kern="100" dirty="0">
                <a:effectLst/>
                <a:latin typeface="仿宋" panose="02010609060101010101" pitchFamily="49" charset="-122"/>
                <a:ea typeface="仿宋" panose="02010609060101010101" pitchFamily="49" charset="-122"/>
                <a:cs typeface="Times New Roman" panose="02020603050405020304" pitchFamily="18" charset="0"/>
              </a:rPr>
              <a:t>芯片实现。</a:t>
            </a:r>
            <a:endParaRPr lang="en-US" altLang="zh-CN" sz="1800" b="1" kern="100" dirty="0">
              <a:effectLst/>
              <a:latin typeface="仿宋" panose="02010609060101010101" pitchFamily="49" charset="-122"/>
              <a:ea typeface="仿宋" panose="02010609060101010101" pitchFamily="49" charset="-122"/>
              <a:cs typeface="Times New Roman" panose="02020603050405020304" pitchFamily="18" charset="0"/>
            </a:endParaRPr>
          </a:p>
          <a:p>
            <a:pPr marL="283210" indent="-45720" fontAlgn="base">
              <a:lnSpc>
                <a:spcPct val="150000"/>
              </a:lnSpc>
            </a:pPr>
            <a:r>
              <a:rPr lang="zh-CN" altLang="zh-CN" sz="1800" b="1" kern="100" dirty="0">
                <a:effectLst/>
                <a:latin typeface="仿宋" panose="02010609060101010101" pitchFamily="49" charset="-122"/>
                <a:ea typeface="仿宋" panose="02010609060101010101" pitchFamily="49" charset="-122"/>
                <a:cs typeface="Times New Roman" panose="02020603050405020304" pitchFamily="18" charset="0"/>
              </a:rPr>
              <a:t>高效降压方案的</a:t>
            </a:r>
            <a:r>
              <a:rPr lang="en-US" altLang="zh-CN" sz="1800" b="1" kern="100" dirty="0">
                <a:effectLst/>
                <a:latin typeface="仿宋" panose="02010609060101010101" pitchFamily="49" charset="-122"/>
                <a:ea typeface="仿宋" panose="02010609060101010101" pitchFamily="49" charset="-122"/>
                <a:cs typeface="Times New Roman" panose="02020603050405020304" pitchFamily="18" charset="0"/>
              </a:rPr>
              <a:t>Charge Pump</a:t>
            </a:r>
            <a:r>
              <a:rPr lang="zh-CN" altLang="zh-CN" sz="1800" b="1" kern="100" dirty="0">
                <a:effectLst/>
                <a:latin typeface="仿宋" panose="02010609060101010101" pitchFamily="49" charset="-122"/>
                <a:ea typeface="仿宋" panose="02010609060101010101" pitchFamily="49" charset="-122"/>
                <a:cs typeface="Times New Roman" panose="02020603050405020304" pitchFamily="18" charset="0"/>
              </a:rPr>
              <a:t>电荷泵技术成为必需</a:t>
            </a:r>
            <a:r>
              <a:rPr lang="zh-CN" altLang="en-US" sz="1800" b="1" kern="100" dirty="0">
                <a:effectLst/>
                <a:latin typeface="仿宋" panose="02010609060101010101" pitchFamily="49" charset="-122"/>
                <a:ea typeface="仿宋" panose="02010609060101010101" pitchFamily="49" charset="-122"/>
                <a:cs typeface="Times New Roman" panose="02020603050405020304" pitchFamily="18" charset="0"/>
              </a:rPr>
              <a:t>。</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4" name="灯片编号占位符 3"/>
          <p:cNvSpPr>
            <a:spLocks noGrp="1"/>
          </p:cNvSpPr>
          <p:nvPr>
            <p:ph type="sldNum" sz="quarter" idx="5"/>
          </p:nvPr>
        </p:nvSpPr>
        <p:spPr/>
        <p:txBody>
          <a:bodyPr/>
          <a:lstStyle/>
          <a:p>
            <a:fld id="{EDB296A9-64E8-4B0F-8A40-DB128CAA2C51}" type="slidenum">
              <a:rPr lang="zh-CN" altLang="en-US" smtClean="0"/>
              <a:t>17</a:t>
            </a:fld>
            <a:endParaRPr lang="zh-CN" altLang="en-US"/>
          </a:p>
        </p:txBody>
      </p:sp>
    </p:spTree>
    <p:extLst>
      <p:ext uri="{BB962C8B-B14F-4D97-AF65-F5344CB8AC3E}">
        <p14:creationId xmlns:p14="http://schemas.microsoft.com/office/powerpoint/2010/main" val="34409295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3210" indent="-45720" fontAlgn="base">
              <a:lnSpc>
                <a:spcPct val="150000"/>
              </a:lnSpc>
            </a:pPr>
            <a:r>
              <a:rPr lang="zh-CN" altLang="en-US" sz="1800" dirty="0">
                <a:effectLst/>
                <a:latin typeface="宋体" panose="02010600030101010101" pitchFamily="2" charset="-122"/>
                <a:ea typeface="宋体" panose="02010600030101010101" pitchFamily="2" charset="-122"/>
                <a:cs typeface="宋体" panose="02010600030101010101" pitchFamily="2" charset="-122"/>
              </a:rPr>
              <a:t>电荷泵芯片在手机端使用，采用</a:t>
            </a:r>
            <a:r>
              <a:rPr lang="zh-CN" altLang="en-US" sz="1800" b="1" dirty="0">
                <a:latin typeface="仿宋" panose="02010609060101010101" pitchFamily="49" charset="-122"/>
                <a:ea typeface="仿宋" panose="02010609060101010101" pitchFamily="49" charset="-122"/>
              </a:rPr>
              <a:t>电容的“串联充电，并联放电”原理，实现</a:t>
            </a:r>
            <a:r>
              <a:rPr lang="en-US" altLang="zh-CN" sz="1800" b="1" dirty="0">
                <a:latin typeface="仿宋" panose="02010609060101010101" pitchFamily="49" charset="-122"/>
                <a:ea typeface="仿宋" panose="02010609060101010101" pitchFamily="49" charset="-122"/>
              </a:rPr>
              <a:t>20V</a:t>
            </a:r>
            <a:r>
              <a:rPr lang="en-US" altLang="zh-CN" sz="1800" b="1" dirty="0">
                <a:latin typeface="仿宋" panose="02010609060101010101" pitchFamily="49" charset="-122"/>
                <a:ea typeface="仿宋" panose="02010609060101010101" pitchFamily="49" charset="-122"/>
                <a:sym typeface="Wingdings" panose="05000000000000000000" pitchFamily="2" charset="2"/>
              </a:rPr>
              <a:t>10V</a:t>
            </a:r>
            <a:r>
              <a:rPr lang="zh-CN" altLang="en-US" sz="1800" dirty="0">
                <a:latin typeface="仿宋" panose="02010609060101010101" pitchFamily="49" charset="-122"/>
                <a:ea typeface="仿宋" panose="02010609060101010101" pitchFamily="49" charset="-122"/>
                <a:sym typeface="Wingdings" panose="05000000000000000000" pitchFamily="2" charset="2"/>
              </a:rPr>
              <a:t>或者</a:t>
            </a:r>
            <a:r>
              <a:rPr lang="en-US" altLang="zh-CN" sz="1800" b="1" dirty="0">
                <a:latin typeface="仿宋" panose="02010609060101010101" pitchFamily="49" charset="-122"/>
                <a:ea typeface="仿宋" panose="02010609060101010101" pitchFamily="49" charset="-122"/>
              </a:rPr>
              <a:t>10V</a:t>
            </a:r>
            <a:r>
              <a:rPr lang="en-US" altLang="zh-CN" sz="1800" b="1" dirty="0">
                <a:latin typeface="仿宋" panose="02010609060101010101" pitchFamily="49" charset="-122"/>
                <a:ea typeface="仿宋" panose="02010609060101010101" pitchFamily="49" charset="-122"/>
                <a:sym typeface="Wingdings" panose="05000000000000000000" pitchFamily="2" charset="2"/>
              </a:rPr>
              <a:t>5V</a:t>
            </a:r>
            <a:r>
              <a:rPr lang="zh-CN" altLang="en-US" sz="1800" b="1" dirty="0">
                <a:latin typeface="仿宋" panose="02010609060101010101" pitchFamily="49" charset="-122"/>
                <a:ea typeface="仿宋" panose="02010609060101010101" pitchFamily="49" charset="-122"/>
                <a:sym typeface="Wingdings" panose="05000000000000000000" pitchFamily="2" charset="2"/>
              </a:rPr>
              <a:t>的功能，并且在</a:t>
            </a:r>
            <a:r>
              <a:rPr lang="en-US" altLang="zh-CN" sz="1800" b="1" dirty="0">
                <a:latin typeface="仿宋" panose="02010609060101010101" pitchFamily="49" charset="-122"/>
                <a:ea typeface="仿宋" panose="02010609060101010101" pitchFamily="49" charset="-122"/>
                <a:sym typeface="Wingdings" panose="05000000000000000000" pitchFamily="2" charset="2"/>
              </a:rPr>
              <a:t>2:1</a:t>
            </a:r>
            <a:r>
              <a:rPr lang="zh-CN" altLang="en-US" sz="1800" b="1" dirty="0">
                <a:latin typeface="仿宋" panose="02010609060101010101" pitchFamily="49" charset="-122"/>
                <a:ea typeface="仿宋" panose="02010609060101010101" pitchFamily="49" charset="-122"/>
                <a:sym typeface="Wingdings" panose="05000000000000000000" pitchFamily="2" charset="2"/>
              </a:rPr>
              <a:t>的降压方案可以达到</a:t>
            </a:r>
            <a:r>
              <a:rPr lang="en-US" altLang="zh-CN" sz="1800" b="1" dirty="0">
                <a:latin typeface="仿宋" panose="02010609060101010101" pitchFamily="49" charset="-122"/>
                <a:ea typeface="仿宋" panose="02010609060101010101" pitchFamily="49" charset="-122"/>
                <a:sym typeface="Wingdings" panose="05000000000000000000" pitchFamily="2" charset="2"/>
              </a:rPr>
              <a:t>98%</a:t>
            </a:r>
            <a:r>
              <a:rPr lang="zh-CN" altLang="en-US" sz="1800" b="1" dirty="0">
                <a:latin typeface="仿宋" panose="02010609060101010101" pitchFamily="49" charset="-122"/>
                <a:ea typeface="仿宋" panose="02010609060101010101" pitchFamily="49" charset="-122"/>
                <a:sym typeface="Wingdings" panose="05000000000000000000" pitchFamily="2" charset="2"/>
              </a:rPr>
              <a:t>的效率水平。</a:t>
            </a:r>
            <a:endParaRPr lang="en-US" altLang="zh-CN" sz="1800" b="1" dirty="0">
              <a:latin typeface="仿宋" panose="02010609060101010101" pitchFamily="49" charset="-122"/>
              <a:ea typeface="仿宋" panose="02010609060101010101" pitchFamily="49" charset="-122"/>
              <a:sym typeface="Wingdings" panose="05000000000000000000" pitchFamily="2" charset="2"/>
            </a:endParaRPr>
          </a:p>
          <a:p>
            <a:pPr marL="283210" marR="0" lvl="0" indent="-45720" algn="l" defTabSz="914400" rtl="0" eaLnBrk="1" fontAlgn="base" latinLnBrk="0" hangingPunct="1">
              <a:lnSpc>
                <a:spcPct val="150000"/>
              </a:lnSpc>
              <a:spcBef>
                <a:spcPts val="0"/>
              </a:spcBef>
              <a:spcAft>
                <a:spcPts val="0"/>
              </a:spcAft>
              <a:buClrTx/>
              <a:buSzTx/>
              <a:buFontTx/>
              <a:buNone/>
              <a:tabLst/>
              <a:defRPr/>
            </a:pPr>
            <a:r>
              <a:rPr lang="zh-CN" altLang="en-US" sz="1800" b="1" dirty="0">
                <a:effectLst/>
                <a:latin typeface="仿宋" panose="02010609060101010101" pitchFamily="49" charset="-122"/>
                <a:ea typeface="仿宋" panose="02010609060101010101" pitchFamily="49" charset="-122"/>
                <a:cs typeface="宋体" panose="02010600030101010101" pitchFamily="2" charset="-122"/>
                <a:sym typeface="Wingdings" panose="05000000000000000000" pitchFamily="2" charset="2"/>
              </a:rPr>
              <a:t>相比于</a:t>
            </a:r>
            <a:r>
              <a:rPr lang="en-US" altLang="zh-CN" sz="1800" b="1" dirty="0">
                <a:effectLst/>
                <a:latin typeface="仿宋" panose="02010609060101010101" pitchFamily="49" charset="-122"/>
                <a:ea typeface="仿宋" panose="02010609060101010101" pitchFamily="49" charset="-122"/>
                <a:cs typeface="宋体" panose="02010600030101010101" pitchFamily="2" charset="-122"/>
                <a:sym typeface="Wingdings" panose="05000000000000000000" pitchFamily="2" charset="2"/>
              </a:rPr>
              <a:t>LDO</a:t>
            </a:r>
            <a:r>
              <a:rPr lang="zh-CN" altLang="en-US" sz="1800" b="1" dirty="0">
                <a:effectLst/>
                <a:latin typeface="仿宋" panose="02010609060101010101" pitchFamily="49" charset="-122"/>
                <a:ea typeface="仿宋" panose="02010609060101010101" pitchFamily="49" charset="-122"/>
                <a:cs typeface="宋体" panose="02010600030101010101" pitchFamily="2" charset="-122"/>
                <a:sym typeface="Wingdings" panose="05000000000000000000" pitchFamily="2" charset="2"/>
              </a:rPr>
              <a:t>、</a:t>
            </a:r>
            <a:r>
              <a:rPr lang="en-US" altLang="zh-CN" sz="1800" b="0" i="0" u="none" strike="noStrike" dirty="0">
                <a:solidFill>
                  <a:srgbClr val="000000"/>
                </a:solidFill>
                <a:effectLst/>
                <a:latin typeface="仿宋" panose="02010609060101010101" pitchFamily="49" charset="-122"/>
                <a:ea typeface="仿宋" panose="02010609060101010101" pitchFamily="49" charset="-122"/>
              </a:rPr>
              <a:t>Buck-Boost</a:t>
            </a:r>
            <a:r>
              <a:rPr lang="zh-CN" altLang="en-US" sz="1800" b="0" i="0" u="none" strike="noStrike" dirty="0">
                <a:solidFill>
                  <a:srgbClr val="000000"/>
                </a:solidFill>
                <a:effectLst/>
                <a:latin typeface="仿宋" panose="02010609060101010101" pitchFamily="49" charset="-122"/>
                <a:ea typeface="仿宋" panose="02010609060101010101" pitchFamily="49" charset="-122"/>
              </a:rPr>
              <a:t>技术路线，具有体积小、</a:t>
            </a:r>
            <a:r>
              <a:rPr lang="en-US" altLang="zh-CN" sz="1800" b="0" i="0" u="none" strike="noStrike" dirty="0">
                <a:solidFill>
                  <a:srgbClr val="000000"/>
                </a:solidFill>
                <a:effectLst/>
                <a:latin typeface="仿宋" panose="02010609060101010101" pitchFamily="49" charset="-122"/>
                <a:ea typeface="仿宋" panose="02010609060101010101" pitchFamily="49" charset="-122"/>
              </a:rPr>
              <a:t>EMI</a:t>
            </a:r>
            <a:r>
              <a:rPr lang="zh-CN" altLang="en-US" sz="1800" b="0" i="0" u="none" strike="noStrike" dirty="0">
                <a:solidFill>
                  <a:srgbClr val="000000"/>
                </a:solidFill>
                <a:effectLst/>
                <a:latin typeface="仿宋" panose="02010609060101010101" pitchFamily="49" charset="-122"/>
                <a:ea typeface="仿宋" panose="02010609060101010101" pitchFamily="49" charset="-122"/>
              </a:rPr>
              <a:t>小等优点，更重要的是效率极高，可达</a:t>
            </a:r>
            <a:r>
              <a:rPr lang="en-US" altLang="zh-CN" sz="1800" b="0" i="0" u="none" strike="noStrike" dirty="0">
                <a:solidFill>
                  <a:srgbClr val="000000"/>
                </a:solidFill>
                <a:effectLst/>
                <a:latin typeface="仿宋" panose="02010609060101010101" pitchFamily="49" charset="-122"/>
                <a:ea typeface="仿宋" panose="02010609060101010101" pitchFamily="49" charset="-122"/>
              </a:rPr>
              <a:t>98%</a:t>
            </a:r>
            <a:r>
              <a:rPr lang="zh-CN" altLang="en-US" sz="1800" b="0" i="0" u="none" strike="noStrike" dirty="0">
                <a:solidFill>
                  <a:srgbClr val="000000"/>
                </a:solidFill>
                <a:effectLst/>
                <a:latin typeface="仿宋" panose="02010609060101010101" pitchFamily="49" charset="-122"/>
                <a:ea typeface="仿宋" panose="02010609060101010101" pitchFamily="49" charset="-122"/>
              </a:rPr>
              <a:t>，这在大功率快充中十分关键，这也是</a:t>
            </a:r>
            <a:r>
              <a:rPr lang="en-US" altLang="zh-CN" sz="1800" b="0" i="0" u="none" strike="noStrike" dirty="0">
                <a:solidFill>
                  <a:srgbClr val="000000"/>
                </a:solidFill>
                <a:effectLst/>
                <a:latin typeface="仿宋" panose="02010609060101010101" pitchFamily="49" charset="-122"/>
                <a:ea typeface="仿宋" panose="02010609060101010101" pitchFamily="49" charset="-122"/>
              </a:rPr>
              <a:t>OPPO</a:t>
            </a:r>
            <a:r>
              <a:rPr lang="zh-CN" altLang="en-US" sz="1800" b="0" i="0" u="none" strike="noStrike" dirty="0">
                <a:solidFill>
                  <a:srgbClr val="000000"/>
                </a:solidFill>
                <a:effectLst/>
                <a:latin typeface="仿宋" panose="02010609060101010101" pitchFamily="49" charset="-122"/>
                <a:ea typeface="仿宋" panose="02010609060101010101" pitchFamily="49" charset="-122"/>
              </a:rPr>
              <a:t>非常在乎的指标；</a:t>
            </a:r>
            <a:r>
              <a:rPr lang="en-US" altLang="zh-CN" sz="1800" b="0" i="0" u="none" strike="noStrike" dirty="0">
                <a:solidFill>
                  <a:srgbClr val="000000"/>
                </a:solidFill>
                <a:effectLst/>
                <a:latin typeface="仿宋" panose="02010609060101010101" pitchFamily="49" charset="-122"/>
                <a:ea typeface="仿宋" panose="02010609060101010101" pitchFamily="49" charset="-122"/>
              </a:rPr>
              <a:t>OPPO</a:t>
            </a:r>
            <a:r>
              <a:rPr lang="zh-CN" altLang="en-US" sz="1800" b="0" i="0" u="none" strike="noStrike" dirty="0">
                <a:solidFill>
                  <a:srgbClr val="000000"/>
                </a:solidFill>
                <a:effectLst/>
                <a:latin typeface="仿宋" panose="02010609060101010101" pitchFamily="49" charset="-122"/>
                <a:ea typeface="仿宋" panose="02010609060101010101" pitchFamily="49" charset="-122"/>
              </a:rPr>
              <a:t>前几年找遍了国内厂商，只有大瞬团队能做出满足高效率指标和一致性的要求。</a:t>
            </a:r>
          </a:p>
          <a:p>
            <a:pPr marL="283210" marR="0" lvl="0" indent="-45720" algn="l" defTabSz="914400" rtl="0" eaLnBrk="1" fontAlgn="base" latinLnBrk="0" hangingPunct="1">
              <a:lnSpc>
                <a:spcPct val="150000"/>
              </a:lnSpc>
              <a:spcBef>
                <a:spcPts val="0"/>
              </a:spcBef>
              <a:spcAft>
                <a:spcPts val="0"/>
              </a:spcAft>
              <a:buClrTx/>
              <a:buSzTx/>
              <a:buFontTx/>
              <a:buNone/>
              <a:tabLst/>
              <a:defRPr/>
            </a:pPr>
            <a:endParaRPr lang="en-US" altLang="zh-CN" sz="1800" b="0" i="0" u="none" strike="noStrike" dirty="0">
              <a:solidFill>
                <a:srgbClr val="000000"/>
              </a:solidFill>
              <a:effectLst/>
              <a:latin typeface="仿宋" panose="02010609060101010101" pitchFamily="49" charset="-122"/>
              <a:ea typeface="仿宋" panose="02010609060101010101" pitchFamily="49" charset="-122"/>
            </a:endParaRPr>
          </a:p>
          <a:p>
            <a:pPr marL="283210" indent="-45720" fontAlgn="base">
              <a:lnSpc>
                <a:spcPct val="150000"/>
              </a:lnSpc>
            </a:pP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4" name="灯片编号占位符 3"/>
          <p:cNvSpPr>
            <a:spLocks noGrp="1"/>
          </p:cNvSpPr>
          <p:nvPr>
            <p:ph type="sldNum" sz="quarter" idx="5"/>
          </p:nvPr>
        </p:nvSpPr>
        <p:spPr/>
        <p:txBody>
          <a:bodyPr/>
          <a:lstStyle/>
          <a:p>
            <a:fld id="{EDB296A9-64E8-4B0F-8A40-DB128CAA2C51}" type="slidenum">
              <a:rPr lang="zh-CN" altLang="en-US" smtClean="0"/>
              <a:t>18</a:t>
            </a:fld>
            <a:endParaRPr lang="zh-CN" altLang="en-US"/>
          </a:p>
        </p:txBody>
      </p:sp>
    </p:spTree>
    <p:extLst>
      <p:ext uri="{BB962C8B-B14F-4D97-AF65-F5344CB8AC3E}">
        <p14:creationId xmlns:p14="http://schemas.microsoft.com/office/powerpoint/2010/main" val="28012571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3210" indent="-45720" fontAlgn="base">
              <a:lnSpc>
                <a:spcPct val="150000"/>
              </a:lnSpc>
            </a:pP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国际市场调研机构</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TMR</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数据，到</a:t>
            </a:r>
            <a:r>
              <a:rPr lang="en-US" altLang="zh-CN" sz="1800" kern="1200" dirty="0">
                <a:solidFill>
                  <a:srgbClr val="C00000"/>
                </a:solidFill>
                <a:effectLst/>
                <a:latin typeface="仿宋" panose="02010609060101010101" pitchFamily="49" charset="-122"/>
                <a:ea typeface="宋体" panose="02010600030101010101" pitchFamily="2" charset="-122"/>
                <a:cs typeface="Times New Roman" panose="02020603050405020304" pitchFamily="18" charset="0"/>
              </a:rPr>
              <a:t>2019</a:t>
            </a:r>
            <a:r>
              <a:rPr lang="zh-CN" altLang="zh-CN" sz="180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rPr>
              <a:t>年全球</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电源管理芯片</a:t>
            </a:r>
            <a:r>
              <a:rPr lang="zh-CN" altLang="zh-CN" sz="180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rPr>
              <a:t>市场规模将达到</a:t>
            </a:r>
            <a:r>
              <a:rPr lang="en-US" altLang="zh-CN" sz="180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rPr>
              <a:t>470</a:t>
            </a:r>
            <a:r>
              <a:rPr lang="zh-CN" altLang="zh-CN" sz="180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rPr>
              <a:t>亿美元</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左右，亚太地区成长最为迅速。并且</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TMR</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预测</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2018</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年至</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2026</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年，全球电源管理芯片市场年复合增长率将达</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10.69</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a:t>
            </a:r>
            <a:endPar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endParaRPr>
          </a:p>
          <a:p>
            <a:pPr marL="283210" marR="0" lvl="0" indent="-45720" algn="l" defTabSz="914400" rtl="0" eaLnBrk="1" fontAlgn="base" latinLnBrk="0" hangingPunct="1">
              <a:lnSpc>
                <a:spcPct val="150000"/>
              </a:lnSpc>
              <a:spcBef>
                <a:spcPts val="0"/>
              </a:spcBef>
              <a:spcAft>
                <a:spcPts val="0"/>
              </a:spcAft>
              <a:buClrTx/>
              <a:buSzTx/>
              <a:buFontTx/>
              <a:buNone/>
              <a:tabLst/>
              <a:defRPr/>
            </a:pP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根据本周</a:t>
            </a:r>
            <a:r>
              <a:rPr lang="zh-CN" altLang="en-US" sz="2800" b="0" i="0" dirty="0">
                <a:solidFill>
                  <a:srgbClr val="4C4A4A"/>
                </a:solidFill>
                <a:effectLst/>
                <a:latin typeface="Helvetica Neue"/>
              </a:rPr>
              <a:t>世界半导体贸易统计组织（</a:t>
            </a:r>
            <a:r>
              <a:rPr lang="en-US" altLang="zh-CN" sz="2800" b="0" i="0" dirty="0">
                <a:solidFill>
                  <a:srgbClr val="4C4A4A"/>
                </a:solidFill>
                <a:effectLst/>
                <a:latin typeface="Helvetica Neue"/>
              </a:rPr>
              <a:t>WSTS</a:t>
            </a:r>
            <a:r>
              <a:rPr lang="zh-CN" altLang="en-US" sz="2800" b="0" i="0" dirty="0">
                <a:solidFill>
                  <a:srgbClr val="4C4A4A"/>
                </a:solidFill>
                <a:effectLst/>
                <a:latin typeface="Helvetica Neue"/>
              </a:rPr>
              <a:t>）发布最新半导体市场展望报告，</a:t>
            </a:r>
            <a:r>
              <a:rPr lang="zh-CN" altLang="en-US" sz="1800" b="0" i="0" dirty="0">
                <a:solidFill>
                  <a:srgbClr val="4C4A4A"/>
                </a:solidFill>
                <a:effectLst/>
                <a:latin typeface="Helvetica Neue"/>
              </a:rPr>
              <a:t>二度调升今年全球半导体市场成长率，包括</a:t>
            </a:r>
            <a:r>
              <a:rPr lang="en-US" altLang="zh-CN" sz="1800" b="0" i="0" dirty="0">
                <a:solidFill>
                  <a:srgbClr val="4C4A4A"/>
                </a:solidFill>
                <a:effectLst/>
                <a:latin typeface="Helvetica Neue"/>
              </a:rPr>
              <a:t>2022</a:t>
            </a:r>
            <a:r>
              <a:rPr lang="zh-CN" altLang="en-US" sz="1800" b="0" i="0" dirty="0">
                <a:solidFill>
                  <a:srgbClr val="4C4A4A"/>
                </a:solidFill>
                <a:effectLst/>
                <a:latin typeface="Helvetica Neue"/>
              </a:rPr>
              <a:t>年的持续成长。预测</a:t>
            </a:r>
            <a:r>
              <a:rPr lang="en-US" altLang="zh-CN" sz="1800" b="0" i="0" dirty="0">
                <a:solidFill>
                  <a:srgbClr val="4C4A4A"/>
                </a:solidFill>
                <a:effectLst/>
                <a:latin typeface="Helvetica Neue"/>
              </a:rPr>
              <a:t>2021</a:t>
            </a:r>
            <a:r>
              <a:rPr lang="zh-CN" altLang="en-US" sz="1800" b="0" i="0" dirty="0">
                <a:solidFill>
                  <a:srgbClr val="4C4A4A"/>
                </a:solidFill>
                <a:effectLst/>
                <a:latin typeface="Helvetica Neue"/>
              </a:rPr>
              <a:t>模拟</a:t>
            </a:r>
            <a:r>
              <a:rPr lang="en-US" altLang="zh-CN" sz="1800" b="0" i="0" dirty="0">
                <a:solidFill>
                  <a:srgbClr val="4C4A4A"/>
                </a:solidFill>
                <a:effectLst/>
                <a:latin typeface="Helvetica Neue"/>
              </a:rPr>
              <a:t>IC</a:t>
            </a:r>
            <a:r>
              <a:rPr lang="zh-CN" altLang="en-US" sz="2800" b="0" i="0" dirty="0">
                <a:solidFill>
                  <a:srgbClr val="4C4A4A"/>
                </a:solidFill>
                <a:effectLst/>
                <a:latin typeface="Helvetica Neue"/>
              </a:rPr>
              <a:t>市场年增</a:t>
            </a:r>
            <a:r>
              <a:rPr lang="en-US" altLang="zh-CN" sz="2800" b="0" i="0" dirty="0">
                <a:solidFill>
                  <a:srgbClr val="4C4A4A"/>
                </a:solidFill>
                <a:effectLst/>
                <a:latin typeface="Helvetica Neue"/>
              </a:rPr>
              <a:t>21.7</a:t>
            </a:r>
            <a:r>
              <a:rPr lang="zh-CN" altLang="en-US" sz="2800" b="0" i="0" dirty="0">
                <a:solidFill>
                  <a:srgbClr val="4C4A4A"/>
                </a:solidFill>
                <a:effectLst/>
                <a:latin typeface="Helvetica Neue"/>
              </a:rPr>
              <a:t>％</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marL="283210" indent="-45720" fontAlgn="base">
              <a:lnSpc>
                <a:spcPct val="150000"/>
              </a:lnSpc>
            </a:pP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赛迪顾问的数据，受益于国内智能家电、</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3C</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产品等领域持续增长，</a:t>
            </a:r>
            <a:r>
              <a:rPr lang="zh-CN" altLang="zh-CN" sz="180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rPr>
              <a:t>国内</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电源管理芯片</a:t>
            </a:r>
            <a:r>
              <a:rPr lang="zh-CN" altLang="zh-CN" sz="180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rPr>
              <a:t>市场</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规模</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2018</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年接近</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700</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亿元预计</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2020</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年</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-2025</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年，国内电源管理芯片市场合增长率将达</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15</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％左右。</a:t>
            </a: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这个数据目前来看比较保守。</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marL="283210" indent="-45720" fontAlgn="base">
              <a:lnSpc>
                <a:spcPct val="150000"/>
              </a:lnSpc>
            </a:pP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目前国内电源管理芯片市场的主要参与者主要为</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TI</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a:t>
            </a:r>
            <a:r>
              <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ADI</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等</a:t>
            </a:r>
            <a:r>
              <a:rPr lang="zh-CN" altLang="zh-CN" sz="180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rPr>
              <a:t>欧美企业，占据了</a:t>
            </a:r>
            <a:r>
              <a:rPr lang="en-US" altLang="zh-CN" sz="180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rPr>
              <a:t>80%</a:t>
            </a:r>
            <a:r>
              <a:rPr lang="zh-CN" altLang="zh-CN" sz="180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rPr>
              <a:t>以上的市场份额</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；国内主要厂商包括士兰微、上海贝岭、韦尔股份、芯朋微、富满电子、</a:t>
            </a: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大瞬科技</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等，</a:t>
            </a:r>
            <a:r>
              <a:rPr lang="zh-CN" altLang="zh-CN" sz="180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rPr>
              <a:t>各家公司的市场占有率均不到</a:t>
            </a:r>
            <a:r>
              <a:rPr lang="en-US" altLang="zh-CN" sz="180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rPr>
              <a:t>1%</a:t>
            </a:r>
            <a:r>
              <a:rPr lang="zh-CN" altLang="zh-CN" sz="1800" kern="1200" dirty="0">
                <a:solidFill>
                  <a:srgbClr val="C00000"/>
                </a:solidFill>
                <a:effectLst/>
                <a:latin typeface="宋体" panose="02010600030101010101" pitchFamily="2" charset="-122"/>
                <a:ea typeface="仿宋" panose="02010609060101010101" pitchFamily="49" charset="-122"/>
                <a:cs typeface="Times New Roman" panose="02020603050405020304" pitchFamily="18" charset="0"/>
              </a:rPr>
              <a:t>。</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marL="283210" indent="-45720" fontAlgn="base">
              <a:lnSpc>
                <a:spcPct val="150000"/>
              </a:lnSpc>
            </a:pP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总结下来，市场是个高速成长的大市场，国产厂商的份额也有很大的替代空间。</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4" name="灯片编号占位符 3"/>
          <p:cNvSpPr>
            <a:spLocks noGrp="1"/>
          </p:cNvSpPr>
          <p:nvPr>
            <p:ph type="sldNum" sz="quarter" idx="5"/>
          </p:nvPr>
        </p:nvSpPr>
        <p:spPr/>
        <p:txBody>
          <a:bodyPr/>
          <a:lstStyle/>
          <a:p>
            <a:fld id="{EDB296A9-64E8-4B0F-8A40-DB128CAA2C51}" type="slidenum">
              <a:rPr lang="zh-CN" altLang="en-US" smtClean="0"/>
              <a:t>19</a:t>
            </a:fld>
            <a:endParaRPr lang="zh-CN" altLang="en-US"/>
          </a:p>
        </p:txBody>
      </p:sp>
    </p:spTree>
    <p:extLst>
      <p:ext uri="{BB962C8B-B14F-4D97-AF65-F5344CB8AC3E}">
        <p14:creationId xmlns:p14="http://schemas.microsoft.com/office/powerpoint/2010/main" val="14364626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3210" indent="-45720" fontAlgn="base">
              <a:lnSpc>
                <a:spcPct val="150000"/>
              </a:lnSpc>
            </a:pP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对</a:t>
            </a:r>
            <a:r>
              <a:rPr lang="zh-CN" altLang="en-US"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大瞬科技</a:t>
            </a:r>
            <a:r>
              <a:rPr lang="zh-CN"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rPr>
              <a:t>相关产品的细分市场进行分析，</a:t>
            </a:r>
            <a:endParaRPr lang="en-US" altLang="zh-CN" sz="1800" kern="12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endParaRPr>
          </a:p>
          <a:p>
            <a:pPr marL="283210" marR="0" lvl="0" indent="-45720" algn="l" defTabSz="914400" rtl="0" eaLnBrk="1" fontAlgn="base" latinLnBrk="0" hangingPunct="1">
              <a:lnSpc>
                <a:spcPct val="150000"/>
              </a:lnSpc>
              <a:spcBef>
                <a:spcPts val="0"/>
              </a:spcBef>
              <a:spcAft>
                <a:spcPts val="0"/>
              </a:spcAft>
              <a:buClrTx/>
              <a:buSzTx/>
              <a:buFontTx/>
              <a:buNone/>
              <a:tabLst/>
              <a:defRPr/>
            </a:pPr>
            <a:r>
              <a:rPr lang="en-US" altLang="zh-CN" sz="1800" kern="100" dirty="0" err="1">
                <a:effectLst/>
                <a:latin typeface="仿宋" panose="02010609060101010101" pitchFamily="49" charset="-122"/>
                <a:ea typeface="仿宋" panose="02010609060101010101" pitchFamily="49" charset="-122"/>
                <a:cs typeface="Times New Roman" panose="02020603050405020304" pitchFamily="18" charset="0"/>
              </a:rPr>
              <a:t>Digitimes</a:t>
            </a:r>
            <a:r>
              <a:rPr lang="en-US" altLang="zh-CN" sz="1800" kern="100" dirty="0">
                <a:effectLst/>
                <a:latin typeface="仿宋" panose="02010609060101010101" pitchFamily="49" charset="-122"/>
                <a:ea typeface="仿宋" panose="02010609060101010101" pitchFamily="49" charset="-122"/>
                <a:cs typeface="Times New Roman" panose="02020603050405020304" pitchFamily="18" charset="0"/>
              </a:rPr>
              <a:t> Research</a:t>
            </a:r>
            <a:r>
              <a:rPr lang="zh-CN" altLang="zh-CN" sz="1800" kern="100" dirty="0">
                <a:effectLst/>
                <a:latin typeface="仿宋" panose="02010609060101010101" pitchFamily="49" charset="-122"/>
                <a:ea typeface="仿宋" panose="02010609060101010101" pitchFamily="49" charset="-122"/>
                <a:cs typeface="Times New Roman" panose="02020603050405020304" pitchFamily="18" charset="0"/>
              </a:rPr>
              <a:t>数据显示，</a:t>
            </a:r>
            <a:r>
              <a:rPr lang="en-US" altLang="zh-CN" sz="1800" kern="100" dirty="0">
                <a:effectLst/>
                <a:latin typeface="仿宋" panose="02010609060101010101" pitchFamily="49" charset="-122"/>
                <a:ea typeface="仿宋" panose="02010609060101010101" pitchFamily="49" charset="-122"/>
                <a:cs typeface="Times New Roman" panose="02020603050405020304" pitchFamily="18" charset="0"/>
              </a:rPr>
              <a:t>2020</a:t>
            </a:r>
            <a:r>
              <a:rPr lang="zh-CN" altLang="zh-CN" sz="1800" kern="100" dirty="0">
                <a:effectLst/>
                <a:latin typeface="仿宋" panose="02010609060101010101" pitchFamily="49" charset="-122"/>
                <a:ea typeface="仿宋" panose="02010609060101010101" pitchFamily="49" charset="-122"/>
                <a:cs typeface="Times New Roman" panose="02020603050405020304" pitchFamily="18" charset="0"/>
              </a:rPr>
              <a:t>年全球</a:t>
            </a:r>
            <a:r>
              <a:rPr lang="en-US" altLang="zh-CN" sz="1800" kern="100" dirty="0">
                <a:effectLst/>
                <a:latin typeface="仿宋" panose="02010609060101010101" pitchFamily="49" charset="-122"/>
                <a:ea typeface="仿宋" panose="02010609060101010101" pitchFamily="49" charset="-122"/>
                <a:cs typeface="Times New Roman" panose="02020603050405020304" pitchFamily="18" charset="0"/>
              </a:rPr>
              <a:t>5G</a:t>
            </a:r>
            <a:r>
              <a:rPr lang="zh-CN" altLang="zh-CN" sz="1800" kern="100" dirty="0">
                <a:effectLst/>
                <a:latin typeface="仿宋" panose="02010609060101010101" pitchFamily="49" charset="-122"/>
                <a:ea typeface="仿宋" panose="02010609060101010101" pitchFamily="49" charset="-122"/>
                <a:cs typeface="Times New Roman" panose="02020603050405020304" pitchFamily="18" charset="0"/>
              </a:rPr>
              <a:t>手机出货量在</a:t>
            </a:r>
            <a:r>
              <a:rPr lang="en-US" altLang="zh-CN" sz="1800" kern="100" dirty="0">
                <a:effectLst/>
                <a:latin typeface="仿宋" panose="02010609060101010101" pitchFamily="49" charset="-122"/>
                <a:ea typeface="仿宋" panose="02010609060101010101" pitchFamily="49" charset="-122"/>
              </a:rPr>
              <a:t> </a:t>
            </a:r>
            <a:r>
              <a:rPr lang="en-US" altLang="zh-CN" sz="1800" kern="100" dirty="0">
                <a:effectLst/>
                <a:latin typeface="仿宋" panose="02010609060101010101" pitchFamily="49" charset="-122"/>
                <a:ea typeface="仿宋" panose="02010609060101010101" pitchFamily="49" charset="-122"/>
                <a:cs typeface="Times New Roman" panose="02020603050405020304" pitchFamily="18" charset="0"/>
              </a:rPr>
              <a:t>2.8</a:t>
            </a:r>
            <a:r>
              <a:rPr lang="zh-CN" altLang="zh-CN" sz="1800" kern="100" dirty="0">
                <a:effectLst/>
                <a:latin typeface="仿宋" panose="02010609060101010101" pitchFamily="49" charset="-122"/>
                <a:ea typeface="仿宋" panose="02010609060101010101" pitchFamily="49" charset="-122"/>
                <a:cs typeface="Times New Roman" panose="02020603050405020304" pitchFamily="18" charset="0"/>
              </a:rPr>
              <a:t>亿台左右，预计</a:t>
            </a:r>
            <a:r>
              <a:rPr lang="en-US" altLang="zh-CN" sz="1800" b="1" kern="100" dirty="0">
                <a:effectLst/>
                <a:latin typeface="仿宋" panose="02010609060101010101" pitchFamily="49" charset="-122"/>
                <a:ea typeface="仿宋" panose="02010609060101010101" pitchFamily="49" charset="-122"/>
                <a:cs typeface="Times New Roman" panose="02020603050405020304" pitchFamily="18" charset="0"/>
              </a:rPr>
              <a:t>2021</a:t>
            </a:r>
            <a:r>
              <a:rPr lang="zh-CN" altLang="zh-CN" sz="1800" b="1" kern="100" dirty="0">
                <a:effectLst/>
                <a:latin typeface="仿宋" panose="02010609060101010101" pitchFamily="49" charset="-122"/>
                <a:ea typeface="仿宋" panose="02010609060101010101" pitchFamily="49" charset="-122"/>
                <a:cs typeface="Times New Roman" panose="02020603050405020304" pitchFamily="18" charset="0"/>
              </a:rPr>
              <a:t>年全球</a:t>
            </a:r>
            <a:r>
              <a:rPr lang="en-US" altLang="zh-CN" sz="1800" b="1" kern="100" dirty="0">
                <a:effectLst/>
                <a:latin typeface="仿宋" panose="02010609060101010101" pitchFamily="49" charset="-122"/>
                <a:ea typeface="仿宋" panose="02010609060101010101" pitchFamily="49" charset="-122"/>
                <a:cs typeface="Times New Roman" panose="02020603050405020304" pitchFamily="18" charset="0"/>
              </a:rPr>
              <a:t>5G</a:t>
            </a:r>
            <a:r>
              <a:rPr lang="zh-CN" altLang="zh-CN" sz="1800" b="1" kern="100" dirty="0">
                <a:effectLst/>
                <a:latin typeface="仿宋" panose="02010609060101010101" pitchFamily="49" charset="-122"/>
                <a:ea typeface="仿宋" panose="02010609060101010101" pitchFamily="49" charset="-122"/>
                <a:cs typeface="Times New Roman" panose="02020603050405020304" pitchFamily="18" charset="0"/>
              </a:rPr>
              <a:t>手机出货量在</a:t>
            </a:r>
            <a:r>
              <a:rPr lang="en-US" altLang="zh-CN" sz="1800" b="1" kern="100" dirty="0">
                <a:effectLst/>
                <a:latin typeface="仿宋" panose="02010609060101010101" pitchFamily="49" charset="-122"/>
                <a:ea typeface="仿宋" panose="02010609060101010101" pitchFamily="49" charset="-122"/>
              </a:rPr>
              <a:t> </a:t>
            </a:r>
            <a:r>
              <a:rPr lang="en-US" altLang="zh-CN" sz="1800" b="1" kern="100" dirty="0">
                <a:effectLst/>
                <a:latin typeface="仿宋" panose="02010609060101010101" pitchFamily="49" charset="-122"/>
                <a:ea typeface="仿宋" panose="02010609060101010101" pitchFamily="49" charset="-122"/>
                <a:cs typeface="Times New Roman" panose="02020603050405020304" pitchFamily="18" charset="0"/>
              </a:rPr>
              <a:t>5</a:t>
            </a:r>
            <a:r>
              <a:rPr lang="zh-CN" altLang="zh-CN" sz="1800" b="1" kern="100" dirty="0">
                <a:effectLst/>
                <a:latin typeface="仿宋" panose="02010609060101010101" pitchFamily="49" charset="-122"/>
                <a:ea typeface="仿宋" panose="02010609060101010101" pitchFamily="49" charset="-122"/>
                <a:cs typeface="Times New Roman" panose="02020603050405020304" pitchFamily="18" charset="0"/>
              </a:rPr>
              <a:t>亿台</a:t>
            </a:r>
            <a:r>
              <a:rPr lang="zh-CN" altLang="zh-CN" sz="1800" kern="100" dirty="0">
                <a:effectLst/>
                <a:latin typeface="仿宋" panose="02010609060101010101" pitchFamily="49" charset="-122"/>
                <a:ea typeface="仿宋" panose="02010609060101010101" pitchFamily="49" charset="-122"/>
                <a:cs typeface="Times New Roman" panose="02020603050405020304" pitchFamily="18" charset="0"/>
              </a:rPr>
              <a:t>左右</a:t>
            </a:r>
            <a:r>
              <a:rPr lang="zh-CN" altLang="zh-CN" sz="1800" kern="100" dirty="0">
                <a:latin typeface="仿宋" panose="02010609060101010101" pitchFamily="49" charset="-122"/>
                <a:ea typeface="仿宋" panose="02010609060101010101" pitchFamily="49" charset="-122"/>
                <a:cs typeface="Times New Roman" panose="02020603050405020304" pitchFamily="18" charset="0"/>
              </a:rPr>
              <a:t>。</a:t>
            </a:r>
            <a:r>
              <a:rPr lang="en-US" altLang="zh-CN" sz="1800" kern="100" dirty="0">
                <a:latin typeface="仿宋" panose="02010609060101010101" pitchFamily="49" charset="-122"/>
                <a:ea typeface="仿宋" panose="02010609060101010101" pitchFamily="49" charset="-122"/>
                <a:cs typeface="Times New Roman" panose="02020603050405020304" pitchFamily="18" charset="0"/>
              </a:rPr>
              <a:t>5G</a:t>
            </a:r>
            <a:r>
              <a:rPr lang="zh-CN" altLang="zh-CN" sz="1800" kern="100" dirty="0">
                <a:latin typeface="仿宋" panose="02010609060101010101" pitchFamily="49" charset="-122"/>
                <a:ea typeface="仿宋" panose="02010609060101010101" pitchFamily="49" charset="-122"/>
                <a:cs typeface="Times New Roman" panose="02020603050405020304" pitchFamily="18" charset="0"/>
              </a:rPr>
              <a:t>手机主流快充</a:t>
            </a:r>
            <a:r>
              <a:rPr lang="en-US" altLang="zh-CN" sz="1800" kern="100" dirty="0">
                <a:latin typeface="仿宋" panose="02010609060101010101" pitchFamily="49" charset="-122"/>
                <a:ea typeface="仿宋" panose="02010609060101010101" pitchFamily="49" charset="-122"/>
                <a:cs typeface="Times New Roman" panose="02020603050405020304" pitchFamily="18" charset="0"/>
              </a:rPr>
              <a:t>30W</a:t>
            </a:r>
            <a:r>
              <a:rPr lang="zh-CN" altLang="en-US" sz="1800" kern="100" dirty="0">
                <a:latin typeface="仿宋" panose="02010609060101010101" pitchFamily="49" charset="-122"/>
                <a:ea typeface="仿宋" panose="02010609060101010101" pitchFamily="49" charset="-122"/>
                <a:cs typeface="Times New Roman" panose="02020603050405020304" pitchFamily="18" charset="0"/>
              </a:rPr>
              <a:t>及以上</a:t>
            </a:r>
            <a:r>
              <a:rPr lang="zh-CN" altLang="zh-CN" sz="1800" kern="100" dirty="0">
                <a:latin typeface="仿宋" panose="02010609060101010101" pitchFamily="49" charset="-122"/>
                <a:ea typeface="仿宋" panose="02010609060101010101" pitchFamily="49" charset="-122"/>
                <a:cs typeface="Times New Roman" panose="02020603050405020304" pitchFamily="18" charset="0"/>
              </a:rPr>
              <a:t>渗透率在</a:t>
            </a:r>
            <a:r>
              <a:rPr lang="en-US" altLang="zh-CN" sz="1800" kern="100" dirty="0">
                <a:latin typeface="仿宋" panose="02010609060101010101" pitchFamily="49" charset="-122"/>
                <a:ea typeface="仿宋" panose="02010609060101010101" pitchFamily="49" charset="-122"/>
                <a:cs typeface="Times New Roman" panose="02020603050405020304" pitchFamily="18" charset="0"/>
              </a:rPr>
              <a:t>70%</a:t>
            </a:r>
            <a:r>
              <a:rPr lang="zh-CN" altLang="zh-CN" sz="1800" kern="100" dirty="0">
                <a:latin typeface="仿宋" panose="02010609060101010101" pitchFamily="49" charset="-122"/>
                <a:ea typeface="仿宋" panose="02010609060101010101" pitchFamily="49" charset="-122"/>
                <a:cs typeface="Times New Roman" panose="02020603050405020304" pitchFamily="18" charset="0"/>
              </a:rPr>
              <a:t>左右。</a:t>
            </a:r>
            <a:r>
              <a:rPr lang="zh-CN" altLang="en-US" sz="1800" kern="100" dirty="0">
                <a:latin typeface="仿宋" panose="02010609060101010101" pitchFamily="49" charset="-122"/>
                <a:ea typeface="仿宋" panose="02010609060101010101" pitchFamily="49" charset="-122"/>
                <a:cs typeface="Times New Roman" panose="02020603050405020304" pitchFamily="18" charset="0"/>
                <a:sym typeface="Wingdings" panose="05000000000000000000" pitchFamily="2" charset="2"/>
              </a:rPr>
              <a:t>按照单机需求量在</a:t>
            </a:r>
            <a:r>
              <a:rPr lang="en-US" altLang="zh-CN" sz="1800" kern="100" dirty="0">
                <a:latin typeface="仿宋" panose="02010609060101010101" pitchFamily="49" charset="-122"/>
                <a:ea typeface="仿宋" panose="02010609060101010101" pitchFamily="49" charset="-122"/>
                <a:cs typeface="Times New Roman" panose="02020603050405020304" pitchFamily="18" charset="0"/>
                <a:sym typeface="Wingdings" panose="05000000000000000000" pitchFamily="2" charset="2"/>
              </a:rPr>
              <a:t>10</a:t>
            </a:r>
            <a:r>
              <a:rPr lang="zh-CN" altLang="en-US" sz="1800" kern="100" dirty="0">
                <a:latin typeface="仿宋" panose="02010609060101010101" pitchFamily="49" charset="-122"/>
                <a:ea typeface="仿宋" panose="02010609060101010101" pitchFamily="49" charset="-122"/>
                <a:cs typeface="Times New Roman" panose="02020603050405020304" pitchFamily="18" charset="0"/>
                <a:sym typeface="Wingdings" panose="05000000000000000000" pitchFamily="2" charset="2"/>
              </a:rPr>
              <a:t>块多人民币的价格，</a:t>
            </a:r>
            <a:r>
              <a:rPr lang="en-US" altLang="zh-CN" sz="1800" b="1" kern="100" dirty="0">
                <a:effectLst/>
                <a:latin typeface="仿宋" panose="02010609060101010101" pitchFamily="49" charset="-122"/>
                <a:ea typeface="仿宋" panose="02010609060101010101" pitchFamily="49" charset="-122"/>
                <a:cs typeface="Times New Roman" panose="02020603050405020304" pitchFamily="18" charset="0"/>
              </a:rPr>
              <a:t>Charge Pump</a:t>
            </a:r>
            <a:r>
              <a:rPr lang="zh-CN" altLang="zh-CN" sz="1800" b="1" kern="100" dirty="0">
                <a:effectLst/>
                <a:latin typeface="仿宋" panose="02010609060101010101" pitchFamily="49" charset="-122"/>
                <a:ea typeface="仿宋" panose="02010609060101010101" pitchFamily="49" charset="-122"/>
                <a:cs typeface="Times New Roman" panose="02020603050405020304" pitchFamily="18" charset="0"/>
              </a:rPr>
              <a:t>芯片市场规模为</a:t>
            </a:r>
            <a:r>
              <a:rPr lang="en-US" altLang="zh-CN" sz="1800" b="1" kern="100" dirty="0">
                <a:effectLst/>
                <a:latin typeface="仿宋" panose="02010609060101010101" pitchFamily="49" charset="-122"/>
                <a:ea typeface="仿宋" panose="02010609060101010101" pitchFamily="49" charset="-122"/>
                <a:cs typeface="Times New Roman" panose="02020603050405020304" pitchFamily="18" charset="0"/>
              </a:rPr>
              <a:t>44.3</a:t>
            </a:r>
            <a:r>
              <a:rPr lang="zh-CN" altLang="zh-CN" sz="1800" b="1" kern="100" dirty="0">
                <a:effectLst/>
                <a:latin typeface="仿宋" panose="02010609060101010101" pitchFamily="49" charset="-122"/>
                <a:ea typeface="仿宋" panose="02010609060101010101" pitchFamily="49" charset="-122"/>
                <a:cs typeface="Times New Roman" panose="02020603050405020304" pitchFamily="18" charset="0"/>
              </a:rPr>
              <a:t>亿元</a:t>
            </a:r>
            <a:r>
              <a:rPr lang="zh-CN" altLang="zh-CN" sz="1800" kern="100" dirty="0">
                <a:effectLst/>
                <a:latin typeface="仿宋" panose="02010609060101010101" pitchFamily="49" charset="-122"/>
                <a:ea typeface="仿宋" panose="02010609060101010101" pitchFamily="49" charset="-122"/>
                <a:cs typeface="Times New Roman" panose="02020603050405020304" pitchFamily="18" charset="0"/>
              </a:rPr>
              <a:t>。</a:t>
            </a:r>
            <a:endParaRPr lang="en-US" altLang="zh-CN" sz="1800" kern="100" dirty="0">
              <a:effectLst/>
              <a:latin typeface="仿宋" panose="02010609060101010101" pitchFamily="49" charset="-122"/>
              <a:ea typeface="仿宋" panose="02010609060101010101" pitchFamily="49" charset="-122"/>
              <a:cs typeface="Times New Roman" panose="02020603050405020304" pitchFamily="18" charset="0"/>
            </a:endParaRPr>
          </a:p>
          <a:p>
            <a:pPr indent="304800" algn="just">
              <a:lnSpc>
                <a:spcPct val="120000"/>
              </a:lnSpc>
            </a:pPr>
            <a:r>
              <a:rPr lang="en-US" altLang="zh-CN" sz="1800" kern="100" dirty="0">
                <a:effectLst/>
                <a:latin typeface="仿宋" panose="02010609060101010101" pitchFamily="49" charset="-122"/>
                <a:ea typeface="仿宋" panose="02010609060101010101" pitchFamily="49" charset="-122"/>
                <a:cs typeface="Times New Roman" panose="02020603050405020304" pitchFamily="18" charset="0"/>
              </a:rPr>
              <a:t>4G</a:t>
            </a:r>
            <a:r>
              <a:rPr lang="zh-CN" altLang="en-US" sz="1800" kern="100" dirty="0">
                <a:effectLst/>
                <a:latin typeface="仿宋" panose="02010609060101010101" pitchFamily="49" charset="-122"/>
                <a:ea typeface="仿宋" panose="02010609060101010101" pitchFamily="49" charset="-122"/>
                <a:cs typeface="Times New Roman" panose="02020603050405020304" pitchFamily="18" charset="0"/>
              </a:rPr>
              <a:t>手机</a:t>
            </a:r>
            <a:r>
              <a:rPr lang="en-US" altLang="zh-CN" sz="1800" kern="100" dirty="0">
                <a:effectLst/>
                <a:latin typeface="仿宋" panose="02010609060101010101" pitchFamily="49" charset="-122"/>
                <a:cs typeface="Times New Roman" panose="02020603050405020304" pitchFamily="18" charset="0"/>
              </a:rPr>
              <a:t>40-65W</a:t>
            </a:r>
            <a:r>
              <a:rPr lang="zh-CN" altLang="zh-CN" sz="1800" kern="100" dirty="0">
                <a:effectLst/>
                <a:ea typeface="仿宋" panose="02010609060101010101" pitchFamily="49" charset="-122"/>
                <a:cs typeface="Times New Roman" panose="02020603050405020304" pitchFamily="18" charset="0"/>
              </a:rPr>
              <a:t>智能手机</a:t>
            </a:r>
            <a:r>
              <a:rPr lang="zh-CN" altLang="en-US" sz="1800" kern="100" dirty="0">
                <a:effectLst/>
                <a:ea typeface="仿宋" panose="02010609060101010101" pitchFamily="49" charset="-122"/>
                <a:cs typeface="Times New Roman" panose="02020603050405020304" pitchFamily="18" charset="0"/>
              </a:rPr>
              <a:t>按照</a:t>
            </a:r>
            <a:r>
              <a:rPr lang="zh-CN" altLang="zh-CN" sz="1800" kern="100" dirty="0">
                <a:effectLst/>
                <a:ea typeface="仿宋" panose="02010609060101010101" pitchFamily="49" charset="-122"/>
                <a:cs typeface="Times New Roman" panose="02020603050405020304" pitchFamily="18" charset="0"/>
              </a:rPr>
              <a:t>需求</a:t>
            </a:r>
            <a:r>
              <a:rPr lang="en-US" altLang="zh-CN" sz="1800" kern="100" dirty="0">
                <a:effectLst/>
                <a:ea typeface="仿宋" panose="02010609060101010101" pitchFamily="49" charset="-122"/>
                <a:cs typeface="Times New Roman" panose="02020603050405020304" pitchFamily="18" charset="0"/>
              </a:rPr>
              <a:t>1</a:t>
            </a:r>
            <a:r>
              <a:rPr lang="zh-CN" altLang="zh-CN" sz="1800" kern="100" dirty="0">
                <a:effectLst/>
                <a:ea typeface="仿宋" panose="02010609060101010101" pitchFamily="49" charset="-122"/>
                <a:cs typeface="Times New Roman" panose="02020603050405020304" pitchFamily="18" charset="0"/>
              </a:rPr>
              <a:t>颗前置</a:t>
            </a:r>
            <a:r>
              <a:rPr lang="en-US" altLang="zh-CN" sz="1800" kern="100" dirty="0">
                <a:effectLst/>
                <a:ea typeface="仿宋" panose="02010609060101010101" pitchFamily="49" charset="-122"/>
                <a:cs typeface="Times New Roman" panose="02020603050405020304" pitchFamily="18" charset="0"/>
              </a:rPr>
              <a:t>Charge Pump</a:t>
            </a:r>
            <a:r>
              <a:rPr lang="zh-CN" altLang="zh-CN" sz="1800" kern="100" dirty="0">
                <a:effectLst/>
                <a:ea typeface="仿宋" panose="02010609060101010101" pitchFamily="49" charset="-122"/>
                <a:cs typeface="Times New Roman" panose="02020603050405020304" pitchFamily="18" charset="0"/>
              </a:rPr>
              <a:t>芯片和</a:t>
            </a:r>
            <a:r>
              <a:rPr lang="en-US" altLang="zh-CN" sz="1800" kern="100" dirty="0">
                <a:effectLst/>
                <a:ea typeface="仿宋" panose="02010609060101010101" pitchFamily="49" charset="-122"/>
                <a:cs typeface="Times New Roman" panose="02020603050405020304" pitchFamily="18" charset="0"/>
              </a:rPr>
              <a:t>1</a:t>
            </a:r>
            <a:r>
              <a:rPr lang="zh-CN" altLang="zh-CN" sz="1800" kern="100" dirty="0">
                <a:effectLst/>
                <a:ea typeface="仿宋" panose="02010609060101010101" pitchFamily="49" charset="-122"/>
                <a:cs typeface="Times New Roman" panose="02020603050405020304" pitchFamily="18" charset="0"/>
              </a:rPr>
              <a:t>颗后置</a:t>
            </a:r>
            <a:r>
              <a:rPr lang="en-US" altLang="zh-CN" sz="1800" kern="100" dirty="0">
                <a:effectLst/>
                <a:ea typeface="仿宋" panose="02010609060101010101" pitchFamily="49" charset="-122"/>
                <a:cs typeface="Times New Roman" panose="02020603050405020304" pitchFamily="18" charset="0"/>
              </a:rPr>
              <a:t>Charge Pump</a:t>
            </a:r>
            <a:r>
              <a:rPr lang="zh-CN" altLang="zh-CN" sz="1800" kern="100" dirty="0">
                <a:effectLst/>
                <a:ea typeface="仿宋" panose="02010609060101010101" pitchFamily="49" charset="-122"/>
                <a:cs typeface="Times New Roman" panose="02020603050405020304" pitchFamily="18" charset="0"/>
              </a:rPr>
              <a:t>芯片</a:t>
            </a:r>
            <a:r>
              <a:rPr lang="zh-CN" altLang="en-US" sz="1800" kern="100" dirty="0">
                <a:effectLst/>
                <a:ea typeface="仿宋" panose="02010609060101010101" pitchFamily="49" charset="-122"/>
                <a:cs typeface="Times New Roman" panose="02020603050405020304" pitchFamily="18" charset="0"/>
              </a:rPr>
              <a:t>，</a:t>
            </a:r>
            <a:r>
              <a:rPr lang="en-US" altLang="zh-CN" sz="1800" kern="100" dirty="0">
                <a:effectLst/>
                <a:ea typeface="仿宋" panose="02010609060101010101" pitchFamily="49" charset="-122"/>
                <a:cs typeface="Times New Roman" panose="02020603050405020304" pitchFamily="18" charset="0"/>
              </a:rPr>
              <a:t>100W</a:t>
            </a:r>
            <a:r>
              <a:rPr lang="zh-CN" altLang="en-US" sz="1800" kern="100" dirty="0">
                <a:effectLst/>
                <a:ea typeface="仿宋" panose="02010609060101010101" pitchFamily="49" charset="-122"/>
                <a:cs typeface="Times New Roman" panose="02020603050405020304" pitchFamily="18" charset="0"/>
              </a:rPr>
              <a:t>甚至需要</a:t>
            </a:r>
            <a:r>
              <a:rPr lang="en-US" altLang="zh-CN" sz="1800" kern="100" dirty="0">
                <a:effectLst/>
                <a:ea typeface="仿宋" panose="02010609060101010101" pitchFamily="49" charset="-122"/>
                <a:cs typeface="Times New Roman" panose="02020603050405020304" pitchFamily="18" charset="0"/>
              </a:rPr>
              <a:t>4</a:t>
            </a:r>
            <a:r>
              <a:rPr lang="zh-CN" altLang="en-US" sz="1800" kern="100" dirty="0">
                <a:effectLst/>
                <a:ea typeface="仿宋" panose="02010609060101010101" pitchFamily="49" charset="-122"/>
                <a:cs typeface="Times New Roman" panose="02020603050405020304" pitchFamily="18" charset="0"/>
              </a:rPr>
              <a:t>颗，</a:t>
            </a:r>
            <a:r>
              <a:rPr lang="en-US" altLang="zh-CN" sz="1800" kern="100" dirty="0">
                <a:effectLst/>
                <a:latin typeface="仿宋" panose="02010609060101010101" pitchFamily="49" charset="-122"/>
                <a:ea typeface="宋体" panose="02010600030101010101" pitchFamily="2" charset="-122"/>
              </a:rPr>
              <a:t>2021</a:t>
            </a:r>
            <a:r>
              <a:rPr lang="zh-CN" altLang="zh-CN" sz="1800" kern="100" dirty="0">
                <a:effectLst/>
                <a:latin typeface="Times New Roman" panose="02020603050405020304" pitchFamily="18" charset="0"/>
                <a:ea typeface="仿宋" panose="02010609060101010101" pitchFamily="49" charset="-122"/>
              </a:rPr>
              <a:t>年</a:t>
            </a:r>
            <a:r>
              <a:rPr lang="en-US" altLang="zh-CN" sz="1800" b="1" kern="100" dirty="0">
                <a:effectLst/>
                <a:latin typeface="Times New Roman" panose="02020603050405020304" pitchFamily="18" charset="0"/>
                <a:ea typeface="仿宋" panose="02010609060101010101" pitchFamily="49" charset="-122"/>
              </a:rPr>
              <a:t>4G</a:t>
            </a:r>
            <a:r>
              <a:rPr lang="zh-CN" altLang="zh-CN" sz="1800" b="1" kern="100" dirty="0">
                <a:effectLst/>
                <a:latin typeface="Times New Roman" panose="02020603050405020304" pitchFamily="18" charset="0"/>
                <a:ea typeface="仿宋" panose="02010609060101010101" pitchFamily="49" charset="-122"/>
              </a:rPr>
              <a:t>手机</a:t>
            </a:r>
            <a:r>
              <a:rPr lang="en-US" altLang="zh-CN" sz="1800" b="1" kern="100" dirty="0">
                <a:effectLst/>
                <a:latin typeface="Times New Roman" panose="02020603050405020304" pitchFamily="18" charset="0"/>
                <a:ea typeface="仿宋" panose="02010609060101010101" pitchFamily="49" charset="-122"/>
              </a:rPr>
              <a:t>Charge Pump</a:t>
            </a:r>
            <a:r>
              <a:rPr lang="zh-CN" altLang="zh-CN" sz="1800" b="1" kern="100" dirty="0">
                <a:effectLst/>
                <a:latin typeface="Times New Roman" panose="02020603050405020304" pitchFamily="18" charset="0"/>
                <a:ea typeface="仿宋" panose="02010609060101010101" pitchFamily="49" charset="-122"/>
              </a:rPr>
              <a:t>芯片市场规模为</a:t>
            </a:r>
            <a:r>
              <a:rPr lang="en-US" altLang="zh-CN" sz="1800" b="1" kern="100" dirty="0">
                <a:effectLst/>
                <a:latin typeface="Times New Roman" panose="02020603050405020304" pitchFamily="18" charset="0"/>
                <a:ea typeface="仿宋" panose="02010609060101010101" pitchFamily="49" charset="-122"/>
              </a:rPr>
              <a:t>24</a:t>
            </a:r>
            <a:r>
              <a:rPr lang="zh-CN" altLang="zh-CN" sz="1800" b="1" kern="100" dirty="0">
                <a:effectLst/>
                <a:latin typeface="Times New Roman" panose="02020603050405020304" pitchFamily="18" charset="0"/>
                <a:ea typeface="仿宋" panose="02010609060101010101" pitchFamily="49" charset="-122"/>
              </a:rPr>
              <a:t>亿元</a:t>
            </a:r>
            <a:r>
              <a:rPr lang="zh-CN" altLang="en-US" sz="1800" b="1" kern="100" dirty="0">
                <a:effectLst/>
                <a:latin typeface="Times New Roman" panose="02020603050405020304" pitchFamily="18" charset="0"/>
                <a:ea typeface="仿宋" panose="02010609060101010101" pitchFamily="49" charset="-122"/>
              </a:rPr>
              <a:t>，</a:t>
            </a:r>
            <a:r>
              <a:rPr lang="en-US" altLang="zh-CN" sz="1800" b="1" kern="100" dirty="0">
                <a:effectLst/>
                <a:latin typeface="Times New Roman" panose="02020603050405020304" pitchFamily="18" charset="0"/>
                <a:ea typeface="仿宋" panose="02010609060101010101" pitchFamily="49" charset="-122"/>
              </a:rPr>
              <a:t>2021</a:t>
            </a:r>
            <a:r>
              <a:rPr lang="zh-CN" altLang="zh-CN" sz="1800" b="1" kern="100" dirty="0">
                <a:effectLst/>
                <a:latin typeface="Times New Roman" panose="02020603050405020304" pitchFamily="18" charset="0"/>
                <a:ea typeface="仿宋" panose="02010609060101010101" pitchFamily="49" charset="-122"/>
              </a:rPr>
              <a:t>年全球智能手机</a:t>
            </a:r>
            <a:r>
              <a:rPr lang="en-US" altLang="zh-CN" sz="1800" b="1" kern="100" dirty="0">
                <a:effectLst/>
                <a:latin typeface="Times New Roman" panose="02020603050405020304" pitchFamily="18" charset="0"/>
                <a:ea typeface="仿宋" panose="02010609060101010101" pitchFamily="49" charset="-122"/>
              </a:rPr>
              <a:t>Charge Pump</a:t>
            </a:r>
            <a:r>
              <a:rPr lang="zh-CN" altLang="zh-CN" sz="1800" b="1" kern="100" dirty="0">
                <a:effectLst/>
                <a:latin typeface="Times New Roman" panose="02020603050405020304" pitchFamily="18" charset="0"/>
                <a:ea typeface="仿宋" panose="02010609060101010101" pitchFamily="49" charset="-122"/>
              </a:rPr>
              <a:t>芯片市场规模</a:t>
            </a:r>
            <a:r>
              <a:rPr lang="en-US" altLang="zh-CN" sz="1800" b="1" kern="100" dirty="0">
                <a:effectLst/>
                <a:latin typeface="Times New Roman" panose="02020603050405020304" pitchFamily="18" charset="0"/>
                <a:ea typeface="仿宋" panose="02010609060101010101" pitchFamily="49" charset="-122"/>
              </a:rPr>
              <a:t>68.3</a:t>
            </a:r>
            <a:r>
              <a:rPr lang="zh-CN" altLang="zh-CN" sz="1800" b="1" kern="100" dirty="0">
                <a:effectLst/>
                <a:latin typeface="Times New Roman" panose="02020603050405020304" pitchFamily="18" charset="0"/>
                <a:ea typeface="仿宋" panose="02010609060101010101" pitchFamily="49" charset="-122"/>
              </a:rPr>
              <a:t>亿元。</a:t>
            </a:r>
            <a:endParaRPr lang="zh-CN" altLang="zh-CN" sz="1800" kern="100" dirty="0">
              <a:effectLst/>
              <a:latin typeface="Times New Roman" panose="02020603050405020304" pitchFamily="18" charset="0"/>
              <a:ea typeface="宋体" panose="02010600030101010101" pitchFamily="2" charset="-122"/>
            </a:endParaRPr>
          </a:p>
          <a:p>
            <a:pPr marL="283210" marR="0" lvl="0" indent="-45720" algn="l" defTabSz="914400" rtl="0" eaLnBrk="1" fontAlgn="base" latinLnBrk="0" hangingPunct="1">
              <a:lnSpc>
                <a:spcPct val="150000"/>
              </a:lnSpc>
              <a:spcBef>
                <a:spcPts val="0"/>
              </a:spcBef>
              <a:spcAft>
                <a:spcPts val="0"/>
              </a:spcAft>
              <a:buClrTx/>
              <a:buSzTx/>
              <a:buFontTx/>
              <a:buNone/>
              <a:tabLst/>
              <a:defRPr/>
            </a:pPr>
            <a:r>
              <a:rPr lang="en-US" altLang="zh-CN" sz="1800" kern="100" dirty="0">
                <a:latin typeface="仿宋" panose="02010609060101010101" pitchFamily="49" charset="-122"/>
                <a:ea typeface="仿宋" panose="02010609060101010101" pitchFamily="49" charset="-122"/>
                <a:cs typeface="Times New Roman" panose="02020603050405020304" pitchFamily="18" charset="0"/>
              </a:rPr>
              <a:t>PC</a:t>
            </a:r>
            <a:r>
              <a:rPr lang="zh-CN" altLang="en-US" sz="1800" kern="100" dirty="0">
                <a:latin typeface="仿宋" panose="02010609060101010101" pitchFamily="49" charset="-122"/>
                <a:ea typeface="仿宋" panose="02010609060101010101" pitchFamily="49" charset="-122"/>
                <a:cs typeface="Times New Roman" panose="02020603050405020304" pitchFamily="18" charset="0"/>
              </a:rPr>
              <a:t>市场，预计</a:t>
            </a:r>
            <a:r>
              <a:rPr lang="en-US" altLang="zh-CN" sz="1800" dirty="0">
                <a:latin typeface="仿宋" panose="02010609060101010101" pitchFamily="49" charset="-122"/>
                <a:ea typeface="仿宋" panose="02010609060101010101" pitchFamily="49" charset="-122"/>
              </a:rPr>
              <a:t>2021</a:t>
            </a:r>
            <a:r>
              <a:rPr lang="zh-CN" altLang="zh-CN" sz="1800" dirty="0">
                <a:latin typeface="仿宋" panose="02010609060101010101" pitchFamily="49" charset="-122"/>
                <a:ea typeface="仿宋" panose="02010609060101010101" pitchFamily="49" charset="-122"/>
              </a:rPr>
              <a:t>年全球</a:t>
            </a:r>
            <a:r>
              <a:rPr lang="en-US" altLang="zh-CN" sz="1800" dirty="0">
                <a:latin typeface="仿宋" panose="02010609060101010101" pitchFamily="49" charset="-122"/>
                <a:ea typeface="仿宋" panose="02010609060101010101" pitchFamily="49" charset="-122"/>
              </a:rPr>
              <a:t>PC</a:t>
            </a:r>
            <a:r>
              <a:rPr lang="zh-CN" altLang="zh-CN" sz="1800" dirty="0">
                <a:latin typeface="仿宋" panose="02010609060101010101" pitchFamily="49" charset="-122"/>
                <a:ea typeface="仿宋" panose="02010609060101010101" pitchFamily="49" charset="-122"/>
              </a:rPr>
              <a:t>出货量达到</a:t>
            </a:r>
            <a:r>
              <a:rPr lang="en-US" altLang="zh-CN" sz="1800" dirty="0">
                <a:latin typeface="仿宋" panose="02010609060101010101" pitchFamily="49" charset="-122"/>
                <a:ea typeface="仿宋" panose="02010609060101010101" pitchFamily="49" charset="-122"/>
              </a:rPr>
              <a:t>5</a:t>
            </a:r>
            <a:r>
              <a:rPr lang="zh-CN" altLang="zh-CN" sz="1800" dirty="0">
                <a:latin typeface="仿宋" panose="02010609060101010101" pitchFamily="49" charset="-122"/>
                <a:ea typeface="仿宋" panose="02010609060101010101" pitchFamily="49" charset="-122"/>
              </a:rPr>
              <a:t>亿台</a:t>
            </a:r>
            <a:r>
              <a:rPr lang="zh-CN" altLang="en-US" sz="1800" dirty="0">
                <a:latin typeface="仿宋" panose="02010609060101010101" pitchFamily="49" charset="-122"/>
                <a:ea typeface="仿宋" panose="02010609060101010101" pitchFamily="49" charset="-122"/>
              </a:rPr>
              <a:t>，大瞬所在的电源管理芯片市场规模在</a:t>
            </a:r>
            <a:r>
              <a:rPr lang="en-US" altLang="zh-CN" sz="2000" b="1" u="sng" dirty="0">
                <a:solidFill>
                  <a:srgbClr val="C00000"/>
                </a:solidFill>
                <a:latin typeface="仿宋" panose="02010609060101010101" pitchFamily="49" charset="-122"/>
                <a:ea typeface="仿宋" panose="02010609060101010101" pitchFamily="49" charset="-122"/>
              </a:rPr>
              <a:t>20</a:t>
            </a:r>
            <a:r>
              <a:rPr lang="zh-CN" altLang="en-US" sz="2000" b="1" u="sng" dirty="0">
                <a:solidFill>
                  <a:srgbClr val="C00000"/>
                </a:solidFill>
                <a:latin typeface="仿宋" panose="02010609060101010101" pitchFamily="49" charset="-122"/>
                <a:ea typeface="仿宋" panose="02010609060101010101" pitchFamily="49" charset="-122"/>
              </a:rPr>
              <a:t>亿元</a:t>
            </a:r>
            <a:r>
              <a:rPr lang="zh-CN" altLang="en-US" sz="1800" dirty="0">
                <a:latin typeface="仿宋" panose="02010609060101010101" pitchFamily="49" charset="-122"/>
                <a:ea typeface="仿宋" panose="02010609060101010101" pitchFamily="49" charset="-122"/>
              </a:rPr>
              <a:t>。</a:t>
            </a:r>
            <a:r>
              <a:rPr lang="en-US" altLang="zh-CN" sz="1800" dirty="0">
                <a:latin typeface="仿宋" panose="02010609060101010101" pitchFamily="49" charset="-122"/>
                <a:ea typeface="仿宋" panose="02010609060101010101" pitchFamily="49" charset="-122"/>
              </a:rPr>
              <a:t>TWS</a:t>
            </a:r>
            <a:r>
              <a:rPr lang="zh-CN" altLang="en-US" sz="1800" dirty="0">
                <a:latin typeface="仿宋" panose="02010609060101010101" pitchFamily="49" charset="-122"/>
                <a:ea typeface="仿宋" panose="02010609060101010101" pitchFamily="49" charset="-122"/>
              </a:rPr>
              <a:t>是爆发式增长的市场，</a:t>
            </a:r>
            <a:r>
              <a:rPr lang="zh-CN" altLang="zh-CN" sz="1800" kern="100" dirty="0">
                <a:effectLst/>
                <a:ea typeface="仿宋" panose="02010609060101010101" pitchFamily="49" charset="-122"/>
                <a:cs typeface="Times New Roman" panose="02020603050405020304" pitchFamily="18" charset="0"/>
              </a:rPr>
              <a:t>预计</a:t>
            </a:r>
            <a:r>
              <a:rPr lang="en-US" altLang="zh-CN" sz="1800" b="1" kern="100" dirty="0">
                <a:effectLst/>
                <a:ea typeface="仿宋" panose="02010609060101010101" pitchFamily="49" charset="-122"/>
                <a:cs typeface="Times New Roman" panose="02020603050405020304" pitchFamily="18" charset="0"/>
              </a:rPr>
              <a:t>2021</a:t>
            </a:r>
            <a:r>
              <a:rPr lang="zh-CN" altLang="zh-CN" sz="1800" b="1" kern="100" dirty="0">
                <a:effectLst/>
                <a:ea typeface="仿宋" panose="02010609060101010101" pitchFamily="49" charset="-122"/>
                <a:cs typeface="Times New Roman" panose="02020603050405020304" pitchFamily="18" charset="0"/>
              </a:rPr>
              <a:t>年全球</a:t>
            </a:r>
            <a:r>
              <a:rPr lang="en-US" altLang="zh-CN" sz="1800" b="1" kern="100" dirty="0">
                <a:effectLst/>
                <a:ea typeface="仿宋" panose="02010609060101010101" pitchFamily="49" charset="-122"/>
                <a:cs typeface="Times New Roman" panose="02020603050405020304" pitchFamily="18" charset="0"/>
              </a:rPr>
              <a:t>TWS</a:t>
            </a:r>
            <a:r>
              <a:rPr lang="zh-CN" altLang="zh-CN" sz="1800" b="1" kern="100" dirty="0">
                <a:effectLst/>
                <a:ea typeface="仿宋" panose="02010609060101010101" pitchFamily="49" charset="-122"/>
                <a:cs typeface="Times New Roman" panose="02020603050405020304" pitchFamily="18" charset="0"/>
              </a:rPr>
              <a:t>耳机将出货</a:t>
            </a:r>
            <a:r>
              <a:rPr lang="en-US" altLang="zh-CN" sz="1800" b="1" kern="100" dirty="0">
                <a:effectLst/>
                <a:ea typeface="仿宋" panose="02010609060101010101" pitchFamily="49" charset="-122"/>
                <a:cs typeface="Times New Roman" panose="02020603050405020304" pitchFamily="18" charset="0"/>
              </a:rPr>
              <a:t>6</a:t>
            </a:r>
            <a:r>
              <a:rPr lang="zh-CN" altLang="zh-CN" sz="1800" b="1" kern="100" dirty="0">
                <a:effectLst/>
                <a:ea typeface="仿宋" panose="02010609060101010101" pitchFamily="49" charset="-122"/>
                <a:cs typeface="Times New Roman" panose="02020603050405020304" pitchFamily="18" charset="0"/>
              </a:rPr>
              <a:t>亿台</a:t>
            </a:r>
            <a:r>
              <a:rPr lang="zh-CN" altLang="zh-CN" sz="1800" kern="100" dirty="0">
                <a:effectLst/>
                <a:ea typeface="仿宋" panose="02010609060101010101" pitchFamily="49" charset="-122"/>
                <a:cs typeface="Times New Roman" panose="02020603050405020304" pitchFamily="18" charset="0"/>
              </a:rPr>
              <a:t>。充电仓电源管理芯片</a:t>
            </a:r>
            <a:r>
              <a:rPr lang="zh-CN" altLang="zh-CN" sz="1800" b="1" kern="100" dirty="0">
                <a:effectLst/>
                <a:ea typeface="仿宋" panose="02010609060101010101" pitchFamily="49" charset="-122"/>
                <a:cs typeface="Times New Roman" panose="02020603050405020304" pitchFamily="18" charset="0"/>
              </a:rPr>
              <a:t>需要近</a:t>
            </a:r>
            <a:r>
              <a:rPr lang="en-US" altLang="zh-CN" sz="1800" b="1" kern="100" dirty="0">
                <a:effectLst/>
                <a:ea typeface="仿宋" panose="02010609060101010101" pitchFamily="49" charset="-122"/>
                <a:cs typeface="Times New Roman" panose="02020603050405020304" pitchFamily="18" charset="0"/>
              </a:rPr>
              <a:t>10</a:t>
            </a:r>
            <a:r>
              <a:rPr lang="zh-CN" altLang="zh-CN" sz="1800" b="1" kern="100" dirty="0">
                <a:effectLst/>
                <a:ea typeface="仿宋" panose="02010609060101010101" pitchFamily="49" charset="-122"/>
                <a:cs typeface="Times New Roman" panose="02020603050405020304" pitchFamily="18" charset="0"/>
              </a:rPr>
              <a:t>颗</a:t>
            </a:r>
            <a:r>
              <a:rPr lang="en-US" altLang="zh-CN" sz="1800" b="1" kern="100" dirty="0">
                <a:effectLst/>
                <a:ea typeface="仿宋" panose="02010609060101010101" pitchFamily="49" charset="-122"/>
                <a:cs typeface="Times New Roman" panose="02020603050405020304" pitchFamily="18" charset="0"/>
              </a:rPr>
              <a:t>PMIC</a:t>
            </a:r>
            <a:r>
              <a:rPr lang="zh-CN" altLang="en-US" sz="1800" b="1" kern="100" dirty="0">
                <a:effectLst/>
                <a:ea typeface="仿宋" panose="02010609060101010101" pitchFamily="49" charset="-122"/>
                <a:cs typeface="Times New Roman" panose="02020603050405020304" pitchFamily="18" charset="0"/>
              </a:rPr>
              <a:t>，</a:t>
            </a:r>
            <a:r>
              <a:rPr lang="zh-CN" altLang="zh-CN" sz="1800" kern="100" dirty="0">
                <a:effectLst/>
                <a:latin typeface="Times New Roman" panose="02020603050405020304" pitchFamily="18" charset="0"/>
                <a:ea typeface="仿宋" panose="02010609060101010101" pitchFamily="49" charset="-122"/>
              </a:rPr>
              <a:t>在耳机配套充电盒芯片</a:t>
            </a:r>
            <a:r>
              <a:rPr lang="zh-CN" altLang="zh-CN" sz="1800" b="1" kern="100" dirty="0">
                <a:effectLst/>
                <a:latin typeface="Times New Roman" panose="02020603050405020304" pitchFamily="18" charset="0"/>
                <a:ea typeface="仿宋" panose="02010609060101010101" pitchFamily="49" charset="-122"/>
              </a:rPr>
              <a:t>成本占比高，接近</a:t>
            </a:r>
            <a:r>
              <a:rPr lang="en-US" altLang="zh-CN" sz="1800" b="1" kern="100" dirty="0">
                <a:effectLst/>
                <a:latin typeface="Times New Roman" panose="02020603050405020304" pitchFamily="18" charset="0"/>
                <a:ea typeface="仿宋" panose="02010609060101010101" pitchFamily="49" charset="-122"/>
              </a:rPr>
              <a:t>50%</a:t>
            </a:r>
            <a:r>
              <a:rPr lang="zh-CN" altLang="zh-CN" sz="1800" kern="100" dirty="0">
                <a:effectLst/>
                <a:latin typeface="Times New Roman" panose="02020603050405020304" pitchFamily="18" charset="0"/>
                <a:ea typeface="仿宋" panose="02010609060101010101" pitchFamily="49" charset="-122"/>
              </a:rPr>
              <a:t>。</a:t>
            </a:r>
            <a:r>
              <a:rPr lang="zh-CN" altLang="zh-CN" sz="1800" kern="100" dirty="0">
                <a:effectLst/>
                <a:ea typeface="仿宋" panose="02010609060101010101" pitchFamily="49" charset="-122"/>
                <a:cs typeface="Times New Roman" panose="02020603050405020304" pitchFamily="18" charset="0"/>
              </a:rPr>
              <a:t>每套充电仓需求电源管理方案单价</a:t>
            </a:r>
            <a:r>
              <a:rPr lang="en-US" altLang="zh-CN" sz="1800" kern="100" dirty="0">
                <a:effectLst/>
                <a:ea typeface="仿宋" panose="02010609060101010101" pitchFamily="49" charset="-122"/>
                <a:cs typeface="Times New Roman" panose="02020603050405020304" pitchFamily="18" charset="0"/>
              </a:rPr>
              <a:t>10</a:t>
            </a:r>
            <a:r>
              <a:rPr lang="zh-CN" altLang="zh-CN" sz="1800" kern="100" dirty="0">
                <a:effectLst/>
                <a:ea typeface="仿宋" panose="02010609060101010101" pitchFamily="49" charset="-122"/>
                <a:cs typeface="Times New Roman" panose="02020603050405020304" pitchFamily="18" charset="0"/>
              </a:rPr>
              <a:t>元左右计算，</a:t>
            </a:r>
            <a:r>
              <a:rPr lang="zh-CN" altLang="zh-CN" sz="1800" b="1" kern="100" dirty="0">
                <a:effectLst/>
                <a:ea typeface="仿宋" panose="02010609060101010101" pitchFamily="49" charset="-122"/>
                <a:cs typeface="Times New Roman" panose="02020603050405020304" pitchFamily="18" charset="0"/>
              </a:rPr>
              <a:t>整体全球</a:t>
            </a:r>
            <a:r>
              <a:rPr lang="en-US" altLang="zh-CN" sz="1800" b="1" kern="100" dirty="0">
                <a:effectLst/>
                <a:ea typeface="仿宋" panose="02010609060101010101" pitchFamily="49" charset="-122"/>
                <a:cs typeface="Times New Roman" panose="02020603050405020304" pitchFamily="18" charset="0"/>
              </a:rPr>
              <a:t>TWS</a:t>
            </a:r>
            <a:r>
              <a:rPr lang="zh-CN" altLang="zh-CN" sz="1800" b="1" kern="100" dirty="0">
                <a:effectLst/>
                <a:ea typeface="仿宋" panose="02010609060101010101" pitchFamily="49" charset="-122"/>
                <a:cs typeface="Times New Roman" panose="02020603050405020304" pitchFamily="18" charset="0"/>
              </a:rPr>
              <a:t>充电仓电源管理芯片市场规模为</a:t>
            </a:r>
            <a:r>
              <a:rPr lang="en-US" altLang="zh-CN" sz="1800" b="1" kern="100" dirty="0">
                <a:effectLst/>
                <a:ea typeface="仿宋" panose="02010609060101010101" pitchFamily="49" charset="-122"/>
                <a:cs typeface="Times New Roman" panose="02020603050405020304" pitchFamily="18" charset="0"/>
              </a:rPr>
              <a:t>60</a:t>
            </a:r>
            <a:r>
              <a:rPr lang="zh-CN" altLang="zh-CN" sz="1800" b="1" kern="100" dirty="0">
                <a:effectLst/>
                <a:ea typeface="仿宋" panose="02010609060101010101" pitchFamily="49" charset="-122"/>
                <a:cs typeface="Times New Roman" panose="02020603050405020304" pitchFamily="18" charset="0"/>
              </a:rPr>
              <a:t>亿元</a:t>
            </a:r>
            <a:r>
              <a:rPr lang="zh-CN" altLang="zh-CN" sz="1800" kern="100" dirty="0">
                <a:effectLst/>
                <a:ea typeface="仿宋" panose="02010609060101010101" pitchFamily="49" charset="-122"/>
                <a:cs typeface="Times New Roman" panose="02020603050405020304" pitchFamily="18" charset="0"/>
              </a:rPr>
              <a:t>。</a:t>
            </a:r>
            <a:endParaRPr lang="en-US" altLang="zh-CN" sz="1800" kern="100" dirty="0">
              <a:effectLst/>
              <a:ea typeface="仿宋" panose="02010609060101010101" pitchFamily="49" charset="-122"/>
              <a:cs typeface="Times New Roman" panose="02020603050405020304" pitchFamily="18" charset="0"/>
            </a:endParaRPr>
          </a:p>
          <a:p>
            <a:pPr marL="283210" marR="0" lvl="0" indent="-45720" algn="l" defTabSz="914400" rtl="0" eaLnBrk="1" fontAlgn="base" latinLnBrk="0" hangingPunct="1">
              <a:lnSpc>
                <a:spcPct val="150000"/>
              </a:lnSpc>
              <a:spcBef>
                <a:spcPts val="0"/>
              </a:spcBef>
              <a:spcAft>
                <a:spcPts val="0"/>
              </a:spcAft>
              <a:buClrTx/>
              <a:buSzTx/>
              <a:buFontTx/>
              <a:buNone/>
              <a:tabLst/>
              <a:defRPr/>
            </a:pPr>
            <a:r>
              <a:rPr lang="zh-CN" altLang="en-US" sz="1800" kern="100" dirty="0">
                <a:effectLst/>
                <a:latin typeface="Times New Roman" panose="02020603050405020304" pitchFamily="18" charset="0"/>
                <a:ea typeface="仿宋" panose="02010609060101010101" pitchFamily="49" charset="-122"/>
                <a:cs typeface="Times New Roman" panose="02020603050405020304" pitchFamily="18" charset="0"/>
              </a:rPr>
              <a:t>充电宝芯片市场每年</a:t>
            </a:r>
            <a:r>
              <a:rPr lang="en-US" altLang="zh-CN" sz="1800" kern="100" dirty="0">
                <a:effectLst/>
                <a:latin typeface="Times New Roman" panose="02020603050405020304" pitchFamily="18" charset="0"/>
                <a:ea typeface="仿宋" panose="02010609060101010101" pitchFamily="49" charset="-122"/>
                <a:cs typeface="Times New Roman" panose="02020603050405020304" pitchFamily="18" charset="0"/>
              </a:rPr>
              <a:t>5</a:t>
            </a:r>
            <a:r>
              <a:rPr lang="zh-CN" altLang="en-US" sz="1800" kern="100" dirty="0">
                <a:effectLst/>
                <a:latin typeface="Times New Roman" panose="02020603050405020304" pitchFamily="18" charset="0"/>
                <a:ea typeface="仿宋" panose="02010609060101010101" pitchFamily="49" charset="-122"/>
                <a:cs typeface="Times New Roman" panose="02020603050405020304" pitchFamily="18" charset="0"/>
              </a:rPr>
              <a:t>亿元；共享单车和电单车市场较为稳定，每年</a:t>
            </a:r>
            <a:r>
              <a:rPr lang="en-US" altLang="zh-CN" sz="1800" kern="100" dirty="0">
                <a:effectLst/>
                <a:latin typeface="Times New Roman" panose="02020603050405020304" pitchFamily="18" charset="0"/>
                <a:ea typeface="仿宋" panose="02010609060101010101" pitchFamily="49" charset="-122"/>
                <a:cs typeface="Times New Roman" panose="02020603050405020304" pitchFamily="18" charset="0"/>
              </a:rPr>
              <a:t>5</a:t>
            </a:r>
            <a:r>
              <a:rPr lang="zh-CN" altLang="en-US" sz="1800" kern="100" dirty="0">
                <a:effectLst/>
                <a:latin typeface="Times New Roman" panose="02020603050405020304" pitchFamily="18" charset="0"/>
                <a:ea typeface="仿宋" panose="02010609060101010101" pitchFamily="49" charset="-122"/>
                <a:cs typeface="Times New Roman" panose="02020603050405020304" pitchFamily="18" charset="0"/>
              </a:rPr>
              <a:t>亿元。</a:t>
            </a:r>
            <a:endParaRPr lang="en-US" altLang="zh-CN" sz="1800" kern="100" dirty="0">
              <a:latin typeface="仿宋" panose="02010609060101010101" pitchFamily="49" charset="-122"/>
              <a:ea typeface="仿宋" panose="02010609060101010101" pitchFamily="49" charset="-122"/>
              <a:cs typeface="Times New Roman" panose="02020603050405020304" pitchFamily="18" charset="0"/>
            </a:endParaRPr>
          </a:p>
          <a:p>
            <a:pPr marL="283210" indent="-45720" fontAlgn="base">
              <a:lnSpc>
                <a:spcPct val="150000"/>
              </a:lnSpc>
            </a:pP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marL="283210" indent="-45720" fontAlgn="base">
              <a:lnSpc>
                <a:spcPct val="150000"/>
              </a:lnSpc>
            </a:pPr>
            <a:r>
              <a:rPr lang="zh-CN" altLang="zh-CN" sz="2800" kern="100" dirty="0">
                <a:effectLst/>
                <a:ea typeface="仿宋" panose="02010609060101010101" pitchFamily="49" charset="-122"/>
                <a:cs typeface="Times New Roman" panose="02020603050405020304" pitchFamily="18" charset="0"/>
              </a:rPr>
              <a:t>大瞬所处的手机（充电，电量，电池管理）、笔记本电脑（</a:t>
            </a:r>
            <a:r>
              <a:rPr lang="en-US" altLang="zh-CN" sz="2800" kern="100" dirty="0">
                <a:effectLst/>
                <a:ea typeface="仿宋" panose="02010609060101010101" pitchFamily="49" charset="-122"/>
                <a:cs typeface="Times New Roman" panose="02020603050405020304" pitchFamily="18" charset="0"/>
              </a:rPr>
              <a:t>DC/DC</a:t>
            </a:r>
            <a:r>
              <a:rPr lang="zh-CN" altLang="zh-CN" sz="2800" kern="100" dirty="0">
                <a:effectLst/>
                <a:ea typeface="仿宋" panose="02010609060101010101" pitchFamily="49" charset="-122"/>
                <a:cs typeface="Times New Roman" panose="02020603050405020304" pitchFamily="18" charset="0"/>
              </a:rPr>
              <a:t>、充电）、</a:t>
            </a:r>
            <a:r>
              <a:rPr lang="en-US" altLang="zh-CN" sz="2800" kern="100" dirty="0">
                <a:effectLst/>
                <a:ea typeface="仿宋" panose="02010609060101010101" pitchFamily="49" charset="-122"/>
                <a:cs typeface="Times New Roman" panose="02020603050405020304" pitchFamily="18" charset="0"/>
              </a:rPr>
              <a:t> TWS(</a:t>
            </a:r>
            <a:r>
              <a:rPr lang="zh-CN" altLang="zh-CN" sz="2800" kern="100" dirty="0">
                <a:effectLst/>
                <a:ea typeface="仿宋" panose="02010609060101010101" pitchFamily="49" charset="-122"/>
                <a:cs typeface="Times New Roman" panose="02020603050405020304" pitchFamily="18" charset="0"/>
              </a:rPr>
              <a:t>充电</a:t>
            </a:r>
            <a:r>
              <a:rPr lang="en-US" altLang="zh-CN" sz="2800" kern="100" dirty="0">
                <a:effectLst/>
                <a:ea typeface="仿宋" panose="02010609060101010101" pitchFamily="49" charset="-122"/>
                <a:cs typeface="Times New Roman" panose="02020603050405020304" pitchFamily="18" charset="0"/>
              </a:rPr>
              <a:t>+</a:t>
            </a:r>
            <a:r>
              <a:rPr lang="zh-CN" altLang="zh-CN" sz="2800" kern="100" dirty="0">
                <a:effectLst/>
                <a:ea typeface="仿宋" panose="02010609060101010101" pitchFamily="49" charset="-122"/>
                <a:cs typeface="Times New Roman" panose="02020603050405020304" pitchFamily="18" charset="0"/>
              </a:rPr>
              <a:t>蓝牙</a:t>
            </a:r>
            <a:r>
              <a:rPr lang="en-US" altLang="zh-CN" sz="2800" kern="100" dirty="0">
                <a:effectLst/>
                <a:ea typeface="仿宋" panose="02010609060101010101" pitchFamily="49" charset="-122"/>
                <a:cs typeface="Times New Roman" panose="02020603050405020304" pitchFamily="18" charset="0"/>
              </a:rPr>
              <a:t>)</a:t>
            </a:r>
            <a:r>
              <a:rPr lang="zh-CN" altLang="zh-CN" sz="2800" kern="100" dirty="0">
                <a:effectLst/>
                <a:ea typeface="仿宋" panose="02010609060101010101" pitchFamily="49" charset="-122"/>
                <a:cs typeface="Times New Roman" panose="02020603050405020304" pitchFamily="18" charset="0"/>
              </a:rPr>
              <a:t>、共享单车</a:t>
            </a:r>
            <a:r>
              <a:rPr lang="en-US" altLang="zh-CN" sz="2800" kern="100" dirty="0">
                <a:effectLst/>
                <a:ea typeface="仿宋" panose="02010609060101010101" pitchFamily="49" charset="-122"/>
                <a:cs typeface="Times New Roman" panose="02020603050405020304" pitchFamily="18" charset="0"/>
              </a:rPr>
              <a:t>(</a:t>
            </a:r>
            <a:r>
              <a:rPr lang="zh-CN" altLang="zh-CN" sz="2800" kern="100" dirty="0">
                <a:effectLst/>
                <a:ea typeface="仿宋" panose="02010609060101010101" pitchFamily="49" charset="-122"/>
                <a:cs typeface="Times New Roman" panose="02020603050405020304" pitchFamily="18" charset="0"/>
              </a:rPr>
              <a:t>太阳能充电芯片</a:t>
            </a:r>
            <a:r>
              <a:rPr lang="en-US" altLang="zh-CN" sz="2800" kern="100" dirty="0">
                <a:effectLst/>
                <a:ea typeface="仿宋" panose="02010609060101010101" pitchFamily="49" charset="-122"/>
                <a:cs typeface="Times New Roman" panose="02020603050405020304" pitchFamily="18" charset="0"/>
              </a:rPr>
              <a:t>+GPS/BD3</a:t>
            </a:r>
            <a:r>
              <a:rPr lang="zh-CN" altLang="zh-CN" sz="2800" kern="100" dirty="0">
                <a:effectLst/>
                <a:ea typeface="仿宋" panose="02010609060101010101" pitchFamily="49" charset="-122"/>
                <a:cs typeface="Times New Roman" panose="02020603050405020304" pitchFamily="18" charset="0"/>
              </a:rPr>
              <a:t>定位芯片</a:t>
            </a:r>
            <a:r>
              <a:rPr lang="en-US" altLang="zh-CN" sz="2800" kern="100" dirty="0">
                <a:effectLst/>
                <a:ea typeface="仿宋" panose="02010609060101010101" pitchFamily="49" charset="-122"/>
                <a:cs typeface="Times New Roman" panose="02020603050405020304" pitchFamily="18" charset="0"/>
              </a:rPr>
              <a:t>+BLE</a:t>
            </a:r>
            <a:r>
              <a:rPr lang="zh-CN" altLang="zh-CN" sz="2800" kern="100" dirty="0">
                <a:effectLst/>
                <a:ea typeface="仿宋" panose="02010609060101010101" pitchFamily="49" charset="-122"/>
                <a:cs typeface="Times New Roman" panose="02020603050405020304" pitchFamily="18" charset="0"/>
              </a:rPr>
              <a:t>）</a:t>
            </a:r>
            <a:r>
              <a:rPr lang="zh-CN" altLang="en-US" sz="2800" kern="100" dirty="0">
                <a:effectLst/>
                <a:ea typeface="仿宋" panose="02010609060101010101" pitchFamily="49" charset="-122"/>
                <a:cs typeface="Times New Roman" panose="02020603050405020304" pitchFamily="18" charset="0"/>
              </a:rPr>
              <a:t>、</a:t>
            </a:r>
            <a:r>
              <a:rPr lang="en-US" altLang="zh-CN" sz="2800" kern="100" dirty="0">
                <a:effectLst/>
                <a:ea typeface="仿宋" panose="02010609060101010101" pitchFamily="49" charset="-122"/>
                <a:cs typeface="Times New Roman" panose="02020603050405020304" pitchFamily="18" charset="0"/>
              </a:rPr>
              <a:t>BLE</a:t>
            </a:r>
            <a:r>
              <a:rPr lang="zh-CN" altLang="zh-CN" sz="2800" kern="100" dirty="0">
                <a:effectLst/>
                <a:ea typeface="仿宋" panose="02010609060101010101" pitchFamily="49" charset="-122"/>
                <a:cs typeface="Times New Roman" panose="02020603050405020304" pitchFamily="18" charset="0"/>
              </a:rPr>
              <a:t>市场、高端充电宝（充电、电量），</a:t>
            </a:r>
            <a:r>
              <a:rPr lang="en-US" altLang="zh-CN" sz="2800" kern="100" dirty="0">
                <a:ea typeface="仿宋" panose="02010609060101010101" pitchFamily="49" charset="-122"/>
                <a:cs typeface="Times New Roman" panose="02020603050405020304" pitchFamily="18" charset="0"/>
                <a:sym typeface="Wingdings" panose="05000000000000000000" pitchFamily="2" charset="2"/>
              </a:rPr>
              <a:t></a:t>
            </a:r>
            <a:r>
              <a:rPr lang="zh-CN" altLang="zh-CN" sz="2800" kern="100" dirty="0">
                <a:effectLst/>
                <a:ea typeface="仿宋" panose="02010609060101010101" pitchFamily="49" charset="-122"/>
                <a:cs typeface="Times New Roman" panose="02020603050405020304" pitchFamily="18" charset="0"/>
              </a:rPr>
              <a:t>需求总量大约每年</a:t>
            </a:r>
            <a:r>
              <a:rPr lang="en-US" altLang="zh-CN" sz="2800" kern="100" dirty="0">
                <a:effectLst/>
                <a:ea typeface="仿宋" panose="02010609060101010101" pitchFamily="49" charset="-122"/>
                <a:cs typeface="Times New Roman" panose="02020603050405020304" pitchFamily="18" charset="0"/>
              </a:rPr>
              <a:t>90</a:t>
            </a:r>
            <a:r>
              <a:rPr lang="zh-CN" altLang="zh-CN" sz="2800" kern="100" dirty="0">
                <a:effectLst/>
                <a:ea typeface="仿宋" panose="02010609060101010101" pitchFamily="49" charset="-122"/>
                <a:cs typeface="Times New Roman" panose="02020603050405020304" pitchFamily="18" charset="0"/>
              </a:rPr>
              <a:t>亿颗，市场规模约</a:t>
            </a:r>
            <a:r>
              <a:rPr lang="en-US" altLang="zh-CN" sz="2800" kern="100" dirty="0">
                <a:effectLst/>
                <a:ea typeface="仿宋" panose="02010609060101010101" pitchFamily="49" charset="-122"/>
                <a:cs typeface="Times New Roman" panose="02020603050405020304" pitchFamily="18" charset="0"/>
              </a:rPr>
              <a:t>160</a:t>
            </a:r>
            <a:r>
              <a:rPr lang="zh-CN" altLang="zh-CN" sz="2800" kern="100" dirty="0">
                <a:effectLst/>
                <a:ea typeface="仿宋" panose="02010609060101010101" pitchFamily="49" charset="-122"/>
                <a:cs typeface="Times New Roman" panose="02020603050405020304" pitchFamily="18" charset="0"/>
              </a:rPr>
              <a:t>亿元。</a:t>
            </a:r>
            <a:endParaRPr lang="en-US" altLang="zh-CN" sz="1800" b="1" dirty="0">
              <a:solidFill>
                <a:srgbClr val="C00000"/>
              </a:solidFill>
              <a:latin typeface="仿宋" panose="02010609060101010101" pitchFamily="49" charset="-122"/>
              <a:ea typeface="仿宋" panose="02010609060101010101" pitchFamily="49" charset="-122"/>
            </a:endParaRPr>
          </a:p>
          <a:p>
            <a:pPr marL="283210" indent="-45720" fontAlgn="base">
              <a:lnSpc>
                <a:spcPct val="150000"/>
              </a:lnSpc>
            </a:pPr>
            <a:endParaRPr lang="en-US" altLang="zh-CN" sz="2800" b="0" i="0" dirty="0">
              <a:solidFill>
                <a:srgbClr val="333333"/>
              </a:solidFill>
              <a:effectLst/>
              <a:latin typeface="-apple-system"/>
            </a:endParaRPr>
          </a:p>
        </p:txBody>
      </p:sp>
      <p:sp>
        <p:nvSpPr>
          <p:cNvPr id="4" name="灯片编号占位符 3"/>
          <p:cNvSpPr>
            <a:spLocks noGrp="1"/>
          </p:cNvSpPr>
          <p:nvPr>
            <p:ph type="sldNum" sz="quarter" idx="5"/>
          </p:nvPr>
        </p:nvSpPr>
        <p:spPr/>
        <p:txBody>
          <a:bodyPr/>
          <a:lstStyle/>
          <a:p>
            <a:fld id="{EDB296A9-64E8-4B0F-8A40-DB128CAA2C51}" type="slidenum">
              <a:rPr lang="zh-CN" altLang="en-US" smtClean="0"/>
              <a:t>20</a:t>
            </a:fld>
            <a:endParaRPr lang="zh-CN" altLang="en-US"/>
          </a:p>
        </p:txBody>
      </p:sp>
    </p:spTree>
    <p:extLst>
      <p:ext uri="{BB962C8B-B14F-4D97-AF65-F5344CB8AC3E}">
        <p14:creationId xmlns:p14="http://schemas.microsoft.com/office/powerpoint/2010/main" val="5781705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182880" algn="just" defTabSz="914400" rtl="0" eaLnBrk="0" fontAlgn="base" latinLnBrk="0" hangingPunct="0">
              <a:lnSpc>
                <a:spcPct val="150000"/>
              </a:lnSpc>
              <a:spcBef>
                <a:spcPts val="65"/>
              </a:spcBef>
              <a:spcAft>
                <a:spcPts val="0"/>
              </a:spcAft>
              <a:buClrTx/>
              <a:buSzTx/>
              <a:buFontTx/>
              <a:buNone/>
              <a:tabLst>
                <a:tab pos="457200" algn="l"/>
                <a:tab pos="914400" algn="l"/>
              </a:tabLst>
              <a:defRPr/>
            </a:pPr>
            <a:r>
              <a:rPr lang="zh-CN" altLang="en-US" dirty="0"/>
              <a:t>我们对公司的具有代表性和最优技术门槛的电荷泵产品进行对标分析；在效率曲线上，两者基本相当。在可靠性和其他方面，</a:t>
            </a:r>
            <a:r>
              <a:rPr lang="zh-CN" altLang="en-US" sz="1200" b="1" dirty="0">
                <a:latin typeface="仿宋" panose="02010609060101010101" pitchFamily="49" charset="-122"/>
                <a:ea typeface="仿宋" panose="02010609060101010101" pitchFamily="49" charset="-122"/>
                <a:sym typeface="Calibri" panose="020F0502020204030204" pitchFamily="34" charset="0"/>
              </a:rPr>
              <a:t>根据</a:t>
            </a:r>
            <a:r>
              <a:rPr lang="en-US" altLang="zh-CN" sz="1200" b="1" dirty="0">
                <a:latin typeface="仿宋" panose="02010609060101010101" pitchFamily="49" charset="-122"/>
                <a:ea typeface="仿宋" panose="02010609060101010101" pitchFamily="49" charset="-122"/>
                <a:sym typeface="Calibri" panose="020F0502020204030204" pitchFamily="34" charset="0"/>
              </a:rPr>
              <a:t>OPPO</a:t>
            </a:r>
            <a:r>
              <a:rPr lang="zh-CN" altLang="en-US" sz="1200" b="1" dirty="0">
                <a:latin typeface="仿宋" panose="02010609060101010101" pitchFamily="49" charset="-122"/>
                <a:ea typeface="仿宋" panose="02010609060101010101" pitchFamily="49" charset="-122"/>
                <a:sym typeface="Calibri" panose="020F0502020204030204" pitchFamily="34" charset="0"/>
              </a:rPr>
              <a:t>的方案需求，解决了</a:t>
            </a:r>
            <a:r>
              <a:rPr lang="en-US" altLang="zh-CN" sz="1200" b="1" dirty="0">
                <a:latin typeface="仿宋" panose="02010609060101010101" pitchFamily="49" charset="-122"/>
                <a:ea typeface="仿宋" panose="02010609060101010101" pitchFamily="49" charset="-122"/>
              </a:rPr>
              <a:t>DA9313</a:t>
            </a:r>
            <a:r>
              <a:rPr lang="zh-CN" altLang="en-US" sz="1200" b="1" dirty="0">
                <a:latin typeface="仿宋" panose="02010609060101010101" pitchFamily="49" charset="-122"/>
                <a:ea typeface="仿宋" panose="02010609060101010101" pitchFamily="49" charset="-122"/>
              </a:rPr>
              <a:t>的插拔可靠性上较差、音频噪声较大等问题，并增加了</a:t>
            </a:r>
            <a:r>
              <a:rPr lang="en-US" altLang="zh-CN" sz="1200" b="1" dirty="0">
                <a:latin typeface="仿宋" panose="02010609060101010101" pitchFamily="49" charset="-122"/>
                <a:ea typeface="仿宋" panose="02010609060101010101" pitchFamily="49" charset="-122"/>
              </a:rPr>
              <a:t>8</a:t>
            </a:r>
            <a:r>
              <a:rPr lang="zh-CN" altLang="en-US" sz="1200" b="1" dirty="0">
                <a:latin typeface="仿宋" panose="02010609060101010101" pitchFamily="49" charset="-122"/>
                <a:ea typeface="仿宋" panose="02010609060101010101" pitchFamily="49" charset="-122"/>
              </a:rPr>
              <a:t>个特有的功能，满足了</a:t>
            </a:r>
            <a:r>
              <a:rPr lang="en-US" altLang="zh-CN" sz="1200" b="1" dirty="0">
                <a:latin typeface="仿宋" panose="02010609060101010101" pitchFamily="49" charset="-122"/>
                <a:ea typeface="仿宋" panose="02010609060101010101" pitchFamily="49" charset="-122"/>
              </a:rPr>
              <a:t>OPPO</a:t>
            </a:r>
            <a:r>
              <a:rPr lang="zh-CN" altLang="en-US" sz="1200" b="1" dirty="0">
                <a:latin typeface="仿宋" panose="02010609060101010101" pitchFamily="49" charset="-122"/>
                <a:ea typeface="仿宋" panose="02010609060101010101" pitchFamily="49" charset="-122"/>
              </a:rPr>
              <a:t>的苛刻要求，并实现量产。</a:t>
            </a:r>
            <a:endParaRPr lang="en-US" altLang="zh-CN" sz="1200" b="1" dirty="0">
              <a:latin typeface="仿宋" panose="02010609060101010101" pitchFamily="49" charset="-122"/>
              <a:ea typeface="仿宋" panose="02010609060101010101" pitchFamily="49" charset="-122"/>
            </a:endParaRPr>
          </a:p>
          <a:p>
            <a:pPr marL="0" marR="0" lvl="0" indent="182880" algn="just" defTabSz="914400" rtl="0" eaLnBrk="0" fontAlgn="base" latinLnBrk="0" hangingPunct="0">
              <a:lnSpc>
                <a:spcPct val="150000"/>
              </a:lnSpc>
              <a:spcBef>
                <a:spcPts val="65"/>
              </a:spcBef>
              <a:spcAft>
                <a:spcPts val="0"/>
              </a:spcAft>
              <a:buClrTx/>
              <a:buSzTx/>
              <a:buFontTx/>
              <a:buNone/>
              <a:tabLst>
                <a:tab pos="457200" algn="l"/>
                <a:tab pos="914400" algn="l"/>
              </a:tabLst>
              <a:defRPr/>
            </a:pPr>
            <a:endParaRPr lang="en-US" altLang="zh-CN" dirty="0"/>
          </a:p>
          <a:p>
            <a:pPr indent="182880" algn="just" eaLnBrk="0" fontAlgn="base" hangingPunct="0">
              <a:lnSpc>
                <a:spcPct val="150000"/>
              </a:lnSpc>
              <a:spcBef>
                <a:spcPts val="65"/>
              </a:spcBef>
              <a:tabLst>
                <a:tab pos="457200" algn="l"/>
                <a:tab pos="914400" algn="l"/>
              </a:tabLst>
            </a:pPr>
            <a:r>
              <a:rPr lang="zh-CN" altLang="en-US" dirty="0"/>
              <a:t>切换频率：频率太高，开关损耗过高；太低，导通损耗过高；</a:t>
            </a:r>
          </a:p>
        </p:txBody>
      </p:sp>
      <p:sp>
        <p:nvSpPr>
          <p:cNvPr id="4" name="灯片编号占位符 3"/>
          <p:cNvSpPr>
            <a:spLocks noGrp="1"/>
          </p:cNvSpPr>
          <p:nvPr>
            <p:ph type="sldNum" sz="quarter" idx="5"/>
          </p:nvPr>
        </p:nvSpPr>
        <p:spPr/>
        <p:txBody>
          <a:bodyPr/>
          <a:lstStyle/>
          <a:p>
            <a:fld id="{EDB296A9-64E8-4B0F-8A40-DB128CAA2C51}" type="slidenum">
              <a:rPr lang="zh-CN" altLang="en-US" smtClean="0"/>
              <a:t>21</a:t>
            </a:fld>
            <a:endParaRPr lang="zh-CN" altLang="en-US"/>
          </a:p>
        </p:txBody>
      </p:sp>
    </p:spTree>
    <p:extLst>
      <p:ext uri="{BB962C8B-B14F-4D97-AF65-F5344CB8AC3E}">
        <p14:creationId xmlns:p14="http://schemas.microsoft.com/office/powerpoint/2010/main" val="34391050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182880" algn="just" eaLnBrk="0" fontAlgn="base" hangingPunct="0">
              <a:lnSpc>
                <a:spcPct val="150000"/>
              </a:lnSpc>
              <a:spcBef>
                <a:spcPts val="65"/>
              </a:spcBef>
              <a:tabLst>
                <a:tab pos="457200" algn="l"/>
                <a:tab pos="914400" algn="l"/>
              </a:tabLst>
            </a:pPr>
            <a:r>
              <a:rPr lang="zh-CN" altLang="zh-CN" sz="1800" dirty="0">
                <a:effectLst/>
                <a:latin typeface="宋体" panose="02010600030101010101" pitchFamily="2" charset="-122"/>
                <a:ea typeface="宋体" panose="02010600030101010101" pitchFamily="2" charset="-122"/>
                <a:cs typeface="宋体" panose="02010600030101010101" pitchFamily="2" charset="-122"/>
              </a:rPr>
              <a:t>我们对竞争对手做了详细分析，竞争最为激烈的是</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dialog</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公司。</a:t>
            </a:r>
            <a:endParaRPr lang="en-US" altLang="zh-CN" sz="1800" dirty="0">
              <a:effectLst/>
              <a:latin typeface="宋体" panose="02010600030101010101" pitchFamily="2" charset="-122"/>
              <a:ea typeface="宋体" panose="02010600030101010101" pitchFamily="2" charset="-122"/>
              <a:cs typeface="宋体" panose="02010600030101010101" pitchFamily="2" charset="-122"/>
            </a:endParaRPr>
          </a:p>
          <a:p>
            <a:pPr indent="182880" algn="just" eaLnBrk="0" fontAlgn="base" hangingPunct="0">
              <a:lnSpc>
                <a:spcPct val="150000"/>
              </a:lnSpc>
              <a:spcBef>
                <a:spcPts val="65"/>
              </a:spcBef>
              <a:tabLst>
                <a:tab pos="457200" algn="l"/>
                <a:tab pos="914400" algn="l"/>
              </a:tabLst>
            </a:pPr>
            <a:r>
              <a:rPr lang="en-US" altLang="zh-CN" sz="1800" dirty="0"/>
              <a:t>DA9313</a:t>
            </a:r>
            <a:r>
              <a:rPr lang="zh-CN" altLang="en-US" sz="1800" dirty="0"/>
              <a:t>是</a:t>
            </a:r>
            <a:r>
              <a:rPr lang="en-US" altLang="zh-CN" sz="1800" dirty="0"/>
              <a:t>2017</a:t>
            </a:r>
            <a:r>
              <a:rPr lang="zh-CN" altLang="en-US" sz="1800" dirty="0"/>
              <a:t>年发布的比较老旧的产品，在插拔可靠性上较差，音频噪声较大，大瞬在其基础上做了改进，并加了</a:t>
            </a:r>
            <a:r>
              <a:rPr lang="en-US" altLang="zh-CN" sz="1800" dirty="0"/>
              <a:t>8</a:t>
            </a:r>
            <a:r>
              <a:rPr lang="zh-CN" altLang="en-US" sz="1800" dirty="0"/>
              <a:t>个特有的小功能，满足</a:t>
            </a:r>
            <a:r>
              <a:rPr lang="en-US" altLang="zh-CN" sz="1800" dirty="0"/>
              <a:t>OPPO</a:t>
            </a:r>
            <a:r>
              <a:rPr lang="zh-CN" altLang="en-US" sz="1800" dirty="0"/>
              <a:t>的苛刻需求。</a:t>
            </a:r>
            <a:endParaRPr lang="en-US" altLang="zh-CN" sz="1800" dirty="0">
              <a:effectLst/>
              <a:latin typeface="宋体" panose="02010600030101010101" pitchFamily="2" charset="-122"/>
              <a:ea typeface="宋体" panose="02010600030101010101" pitchFamily="2" charset="-122"/>
              <a:cs typeface="宋体" panose="02010600030101010101" pitchFamily="2" charset="-122"/>
            </a:endParaRPr>
          </a:p>
          <a:p>
            <a:pPr indent="182880" algn="just" eaLnBrk="0" fontAlgn="base" hangingPunct="0">
              <a:lnSpc>
                <a:spcPct val="150000"/>
              </a:lnSpc>
              <a:spcBef>
                <a:spcPts val="65"/>
              </a:spcBef>
              <a:tabLst>
                <a:tab pos="457200" algn="l"/>
                <a:tab pos="914400" algn="l"/>
              </a:tabLst>
            </a:pPr>
            <a:r>
              <a:rPr lang="zh-CN" altLang="en-US" sz="1800" dirty="0"/>
              <a:t>另外年底即将出来的</a:t>
            </a:r>
            <a:r>
              <a:rPr lang="en-US" altLang="zh-CN" sz="1800" dirty="0"/>
              <a:t>SD77316</a:t>
            </a:r>
            <a:r>
              <a:rPr lang="zh-CN" altLang="en-US" sz="1800" dirty="0"/>
              <a:t>直接</a:t>
            </a:r>
            <a:r>
              <a:rPr lang="en-US" altLang="zh-CN" sz="1800" dirty="0"/>
              <a:t>Pin2pin TI</a:t>
            </a:r>
            <a:r>
              <a:rPr lang="zh-CN" altLang="en-US" sz="1800" dirty="0"/>
              <a:t>的</a:t>
            </a:r>
            <a:r>
              <a:rPr lang="en-US" altLang="zh-CN" sz="1800" b="1" kern="100" dirty="0">
                <a:effectLst/>
                <a:latin typeface="仿宋" panose="02010609060101010101" pitchFamily="49" charset="-122"/>
                <a:cs typeface="Times New Roman" panose="02020603050405020304" pitchFamily="18" charset="0"/>
              </a:rPr>
              <a:t>BQ25970</a:t>
            </a:r>
            <a:r>
              <a:rPr lang="zh-CN" altLang="en-US" sz="1800" b="1" kern="100" dirty="0">
                <a:effectLst/>
                <a:latin typeface="仿宋" panose="02010609060101010101" pitchFamily="49" charset="-122"/>
                <a:cs typeface="Times New Roman" panose="02020603050405020304" pitchFamily="18" charset="0"/>
              </a:rPr>
              <a:t>，预计售价在</a:t>
            </a:r>
            <a:r>
              <a:rPr lang="en-US" altLang="zh-CN" sz="1800" b="1" kern="100" dirty="0">
                <a:effectLst/>
                <a:latin typeface="仿宋" panose="02010609060101010101" pitchFamily="49" charset="-122"/>
                <a:cs typeface="Times New Roman" panose="02020603050405020304" pitchFamily="18" charset="0"/>
              </a:rPr>
              <a:t>0.6-0.7</a:t>
            </a:r>
            <a:r>
              <a:rPr lang="zh-CN" altLang="en-US" sz="1800" b="1" kern="100" dirty="0">
                <a:effectLst/>
                <a:latin typeface="仿宋" panose="02010609060101010101" pitchFamily="49" charset="-122"/>
                <a:cs typeface="Times New Roman" panose="02020603050405020304" pitchFamily="18" charset="0"/>
              </a:rPr>
              <a:t>美金，</a:t>
            </a:r>
            <a:r>
              <a:rPr lang="en-US" altLang="zh-CN" sz="1800" b="1" kern="100" dirty="0">
                <a:effectLst/>
                <a:latin typeface="仿宋" panose="02010609060101010101" pitchFamily="49" charset="-122"/>
                <a:cs typeface="Times New Roman" panose="02020603050405020304" pitchFamily="18" charset="0"/>
              </a:rPr>
              <a:t>BQ25970</a:t>
            </a:r>
            <a:r>
              <a:rPr lang="zh-CN" altLang="en-US" sz="1800" b="1" kern="100" dirty="0">
                <a:effectLst/>
                <a:latin typeface="宋体" panose="02010600030101010101" pitchFamily="2" charset="-122"/>
                <a:ea typeface="宋体" panose="02010600030101010101" pitchFamily="2" charset="-122"/>
                <a:cs typeface="Times New Roman" panose="02020603050405020304" pitchFamily="18" charset="0"/>
              </a:rPr>
              <a:t>，目前价格</a:t>
            </a:r>
            <a:r>
              <a:rPr lang="en-US" altLang="zh-CN" sz="1800" b="1" kern="100" dirty="0">
                <a:effectLst/>
                <a:latin typeface="宋体" panose="02010600030101010101" pitchFamily="2" charset="-122"/>
                <a:ea typeface="宋体" panose="02010600030101010101" pitchFamily="2" charset="-122"/>
                <a:cs typeface="Times New Roman" panose="02020603050405020304" pitchFamily="18" charset="0"/>
              </a:rPr>
              <a:t>1</a:t>
            </a:r>
            <a:r>
              <a:rPr lang="zh-CN" altLang="en-US" sz="1800" b="1" kern="100" dirty="0">
                <a:effectLst/>
                <a:latin typeface="宋体" panose="02010600030101010101" pitchFamily="2" charset="-122"/>
                <a:ea typeface="宋体" panose="02010600030101010101" pitchFamily="2" charset="-122"/>
                <a:cs typeface="Times New Roman" panose="02020603050405020304" pitchFamily="18" charset="0"/>
              </a:rPr>
              <a:t>美金左右一颗，</a:t>
            </a:r>
            <a:r>
              <a:rPr lang="zh-CN" altLang="en-US" sz="1800" dirty="0"/>
              <a:t>具有很大的价格优势。</a:t>
            </a:r>
            <a:r>
              <a:rPr lang="zh-CN" altLang="en-US" sz="1800" b="1" kern="100" dirty="0">
                <a:effectLst/>
                <a:latin typeface="仿宋" panose="02010609060101010101" pitchFamily="49" charset="-122"/>
                <a:cs typeface="Times New Roman" panose="02020603050405020304" pitchFamily="18" charset="0"/>
              </a:rPr>
              <a:t>对其市场占有率形成较强的挤压态势。</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indent="182880" algn="just" eaLnBrk="0" fontAlgn="base" hangingPunct="0">
              <a:lnSpc>
                <a:spcPct val="150000"/>
              </a:lnSpc>
              <a:spcBef>
                <a:spcPts val="65"/>
              </a:spcBef>
              <a:tabLst>
                <a:tab pos="457200" algn="l"/>
                <a:tab pos="914400" algn="l"/>
              </a:tabLst>
            </a:pPr>
            <a:r>
              <a:rPr lang="en-US" altLang="zh-CN" sz="1800" dirty="0" err="1"/>
              <a:t>Intersil</a:t>
            </a:r>
            <a:r>
              <a:rPr lang="zh-CN" altLang="en-US" sz="1800" dirty="0"/>
              <a:t>，作为美国的老牌高性能模拟企业，主要在笔电领域和大瞬竞争，不过这块也不是大瞬科技目前的重点市场，相关市场份额也比较稳定。</a:t>
            </a:r>
            <a:endParaRPr lang="en-US" altLang="zh-CN" sz="1800" dirty="0">
              <a:solidFill>
                <a:srgbClr val="000000"/>
              </a:solidFill>
              <a:effectLst/>
              <a:latin typeface="宋体" panose="02010600030101010101" pitchFamily="2" charset="-122"/>
              <a:ea typeface="仿宋" panose="02010609060101010101" pitchFamily="49" charset="-122"/>
              <a:cs typeface="Times New Roman" panose="02020603050405020304" pitchFamily="18" charset="0"/>
            </a:endParaRPr>
          </a:p>
          <a:p>
            <a:pPr marL="0" marR="0" lvl="0" indent="182880" algn="just" defTabSz="914400" rtl="0" eaLnBrk="0" fontAlgn="base" latinLnBrk="0" hangingPunct="0">
              <a:lnSpc>
                <a:spcPct val="150000"/>
              </a:lnSpc>
              <a:spcBef>
                <a:spcPts val="65"/>
              </a:spcBef>
              <a:spcAft>
                <a:spcPts val="0"/>
              </a:spcAft>
              <a:buClrTx/>
              <a:buSzTx/>
              <a:buFontTx/>
              <a:buNone/>
              <a:tabLst>
                <a:tab pos="457200" algn="l"/>
                <a:tab pos="914400" algn="l"/>
              </a:tabLst>
              <a:defRPr/>
            </a:pPr>
            <a:r>
              <a:rPr lang="zh-CN" altLang="zh-CN" sz="1800" b="1" kern="1200" dirty="0">
                <a:solidFill>
                  <a:srgbClr val="C00000"/>
                </a:solidFill>
              </a:rPr>
              <a:t>广东赛微微电子</a:t>
            </a:r>
            <a:r>
              <a:rPr lang="zh-CN" altLang="en-US" sz="1800" b="1" kern="1200" dirty="0">
                <a:solidFill>
                  <a:srgbClr val="C00000"/>
                </a:solidFill>
              </a:rPr>
              <a:t>，目前在</a:t>
            </a:r>
            <a:r>
              <a:rPr lang="en-US" altLang="zh-CN" sz="1800" b="1" kern="1200" dirty="0">
                <a:solidFill>
                  <a:srgbClr val="C00000"/>
                </a:solidFill>
              </a:rPr>
              <a:t>IPO</a:t>
            </a:r>
            <a:r>
              <a:rPr lang="zh-CN" altLang="en-US" sz="1800" b="1" kern="1200" dirty="0">
                <a:solidFill>
                  <a:srgbClr val="C00000"/>
                </a:solidFill>
              </a:rPr>
              <a:t>辅导，主要产品是</a:t>
            </a:r>
            <a:r>
              <a:rPr lang="zh-CN" altLang="en-US" sz="1800" dirty="0"/>
              <a:t>电量计芯片，未来在手机市场可能存在部分竞争。希荻微，根据招股说明书</a:t>
            </a:r>
            <a:r>
              <a:rPr lang="en-US" altLang="zh-CN" sz="1800" dirty="0"/>
              <a:t>40W</a:t>
            </a:r>
            <a:r>
              <a:rPr lang="zh-CN" altLang="en-US" sz="1800" dirty="0"/>
              <a:t>功率的效率超过</a:t>
            </a:r>
            <a:r>
              <a:rPr lang="en-US" altLang="zh-CN" sz="1800" dirty="0"/>
              <a:t>90%</a:t>
            </a:r>
            <a:r>
              <a:rPr lang="zh-CN" altLang="en-US" sz="1800" dirty="0"/>
              <a:t>，产品在推广阶段。南芯目前在小米</a:t>
            </a:r>
            <a:r>
              <a:rPr lang="en-US" altLang="zh-CN" sz="1800" dirty="0"/>
              <a:t>33W</a:t>
            </a:r>
            <a:r>
              <a:rPr lang="zh-CN" altLang="en-US" sz="1800" dirty="0"/>
              <a:t>手机里小批量，大瞬直接在终端期间机实现单颗</a:t>
            </a:r>
            <a:r>
              <a:rPr lang="en-US" altLang="zh-CN" sz="1800" dirty="0"/>
              <a:t>65W</a:t>
            </a:r>
            <a:r>
              <a:rPr lang="zh-CN" altLang="en-US" sz="1800" dirty="0"/>
              <a:t>的大功率应用。需要重点强调的是，高通</a:t>
            </a:r>
            <a:r>
              <a:rPr lang="en-US" altLang="zh-CN" sz="1800" dirty="0"/>
              <a:t>2018</a:t>
            </a:r>
            <a:r>
              <a:rPr lang="zh-CN" altLang="en-US" sz="1800" dirty="0"/>
              <a:t>年底也推出了前置电荷泵芯片，</a:t>
            </a:r>
            <a:r>
              <a:rPr lang="en-US" altLang="zh-CN" sz="1800" dirty="0"/>
              <a:t>SMB1390</a:t>
            </a:r>
            <a:r>
              <a:rPr lang="zh-CN" altLang="en-US" sz="1800" dirty="0"/>
              <a:t>，但</a:t>
            </a:r>
            <a:r>
              <a:rPr lang="zh-CN" altLang="zh-CN" sz="1800" b="1" kern="100" dirty="0">
                <a:effectLst/>
                <a:ea typeface="仿宋" panose="02010609060101010101" pitchFamily="49" charset="-122"/>
                <a:cs typeface="Times New Roman" panose="02020603050405020304" pitchFamily="18" charset="0"/>
              </a:rPr>
              <a:t>电磁干扰很大、效率也差</a:t>
            </a:r>
            <a:r>
              <a:rPr lang="zh-CN" altLang="zh-CN" sz="1800" kern="100" dirty="0">
                <a:effectLst/>
                <a:ea typeface="仿宋" panose="02010609060101010101" pitchFamily="49" charset="-122"/>
                <a:cs typeface="Times New Roman" panose="02020603050405020304" pitchFamily="18" charset="0"/>
              </a:rPr>
              <a:t>。</a:t>
            </a:r>
            <a:r>
              <a:rPr lang="zh-CN" altLang="en-US" sz="1800" kern="100" dirty="0">
                <a:effectLst/>
                <a:ea typeface="仿宋" panose="02010609060101010101" pitchFamily="49" charset="-122"/>
                <a:cs typeface="Times New Roman" panose="02020603050405020304" pitchFamily="18" charset="0"/>
              </a:rPr>
              <a:t>之后陆陆续续推出了</a:t>
            </a:r>
            <a:r>
              <a:rPr lang="zh-CN" altLang="zh-CN" sz="1800" kern="100" dirty="0">
                <a:effectLst/>
                <a:ea typeface="仿宋" panose="02010609060101010101" pitchFamily="49" charset="-122"/>
                <a:cs typeface="Times New Roman" panose="02020603050405020304" pitchFamily="18" charset="0"/>
              </a:rPr>
              <a:t>第三代产品</a:t>
            </a:r>
            <a:r>
              <a:rPr lang="zh-CN" altLang="en-US" sz="1800" kern="100" dirty="0">
                <a:effectLst/>
                <a:ea typeface="仿宋" panose="02010609060101010101" pitchFamily="49" charset="-122"/>
                <a:cs typeface="Times New Roman" panose="02020603050405020304" pitchFamily="18" charset="0"/>
              </a:rPr>
              <a:t>，</a:t>
            </a:r>
            <a:r>
              <a:rPr lang="zh-CN" altLang="zh-CN" sz="1800" b="1" kern="100" dirty="0">
                <a:effectLst/>
                <a:ea typeface="仿宋" panose="02010609060101010101" pitchFamily="49" charset="-122"/>
                <a:cs typeface="Times New Roman" panose="02020603050405020304" pitchFamily="18" charset="0"/>
              </a:rPr>
              <a:t>芯片面积还是很大</a:t>
            </a:r>
            <a:r>
              <a:rPr lang="zh-CN" altLang="en-US" sz="1800" b="1" kern="100" dirty="0">
                <a:effectLst/>
                <a:ea typeface="仿宋" panose="02010609060101010101" pitchFamily="49" charset="-122"/>
                <a:cs typeface="Times New Roman" panose="02020603050405020304" pitchFamily="18" charset="0"/>
              </a:rPr>
              <a:t>；</a:t>
            </a:r>
            <a:r>
              <a:rPr lang="zh-CN" altLang="zh-CN" sz="1800" kern="100" dirty="0">
                <a:effectLst/>
                <a:ea typeface="仿宋" panose="02010609060101010101" pitchFamily="49" charset="-122"/>
                <a:cs typeface="Times New Roman" panose="02020603050405020304" pitchFamily="18" charset="0"/>
              </a:rPr>
              <a:t>目前在市场上失去了竞争力。小米近两年新系列的手机也从高通切换到了</a:t>
            </a:r>
            <a:r>
              <a:rPr lang="en-US" altLang="zh-CN" sz="1800" kern="100" dirty="0">
                <a:effectLst/>
                <a:ea typeface="仿宋" panose="02010609060101010101" pitchFamily="49" charset="-122"/>
                <a:cs typeface="Times New Roman" panose="02020603050405020304" pitchFamily="18" charset="0"/>
              </a:rPr>
              <a:t>TI</a:t>
            </a:r>
            <a:r>
              <a:rPr lang="zh-CN" altLang="zh-CN" sz="1800" kern="100" dirty="0">
                <a:effectLst/>
                <a:ea typeface="仿宋" panose="02010609060101010101" pitchFamily="49" charset="-122"/>
                <a:cs typeface="Times New Roman" panose="02020603050405020304" pitchFamily="18" charset="0"/>
              </a:rPr>
              <a:t>。</a:t>
            </a:r>
            <a:endParaRPr lang="en-US" altLang="zh-CN" sz="1800" dirty="0"/>
          </a:p>
          <a:p>
            <a:pPr marL="0" marR="0" lvl="0" indent="182880" algn="just" defTabSz="914400" rtl="0" eaLnBrk="0" fontAlgn="base" latinLnBrk="0" hangingPunct="0">
              <a:lnSpc>
                <a:spcPct val="150000"/>
              </a:lnSpc>
              <a:spcBef>
                <a:spcPts val="65"/>
              </a:spcBef>
              <a:spcAft>
                <a:spcPts val="0"/>
              </a:spcAft>
              <a:buClrTx/>
              <a:buSzTx/>
              <a:buFontTx/>
              <a:buNone/>
              <a:tabLst>
                <a:tab pos="457200" algn="l"/>
                <a:tab pos="914400" algn="l"/>
              </a:tabLst>
              <a:defRPr/>
            </a:pPr>
            <a:r>
              <a:rPr lang="zh-CN" altLang="en-US" sz="2800" b="0" i="0" dirty="0">
                <a:solidFill>
                  <a:srgbClr val="333333"/>
                </a:solidFill>
                <a:effectLst/>
                <a:latin typeface="Optima-Regular"/>
              </a:rPr>
              <a:t>综合下来，</a:t>
            </a:r>
            <a:r>
              <a:rPr lang="zh-CN" altLang="en-US" sz="1200" b="1" u="sng" dirty="0">
                <a:solidFill>
                  <a:srgbClr val="C00000"/>
                </a:solidFill>
              </a:rPr>
              <a:t>大瞬科技作为国产厂商，定位高端，产品单价整体较高，在后端</a:t>
            </a:r>
            <a:r>
              <a:rPr lang="zh-CN" altLang="zh-CN" sz="1200" dirty="0"/>
              <a:t>方案</a:t>
            </a:r>
            <a:r>
              <a:rPr lang="zh-CN" altLang="en-US" sz="1200" b="1" u="sng" dirty="0">
                <a:solidFill>
                  <a:srgbClr val="C00000"/>
                </a:solidFill>
              </a:rPr>
              <a:t>市场，不断蚕食</a:t>
            </a:r>
            <a:r>
              <a:rPr lang="en-US" altLang="zh-CN" sz="1200" dirty="0"/>
              <a:t>Dialog</a:t>
            </a:r>
            <a:r>
              <a:rPr lang="zh-CN" altLang="en-US" sz="1200" dirty="0"/>
              <a:t>的份额；在前置方案市场，</a:t>
            </a:r>
            <a:r>
              <a:rPr lang="zh-CN" altLang="en-US" sz="1200" b="1" u="sng" dirty="0">
                <a:solidFill>
                  <a:srgbClr val="C00000"/>
                </a:solidFill>
              </a:rPr>
              <a:t>相比</a:t>
            </a:r>
            <a:r>
              <a:rPr lang="en-US" altLang="zh-CN" sz="1200" b="1" u="sng" dirty="0">
                <a:solidFill>
                  <a:srgbClr val="C00000"/>
                </a:solidFill>
              </a:rPr>
              <a:t>TI</a:t>
            </a:r>
            <a:r>
              <a:rPr lang="zh-CN" altLang="en-US" sz="1200" b="1" u="sng" dirty="0">
                <a:solidFill>
                  <a:srgbClr val="C00000"/>
                </a:solidFill>
              </a:rPr>
              <a:t>等又具有很大的价格优势和性能优势，也将独占鳌头；</a:t>
            </a:r>
            <a:endParaRPr lang="en-US" altLang="zh-CN" sz="1200" b="1" u="sng" dirty="0">
              <a:solidFill>
                <a:srgbClr val="C00000"/>
              </a:solidFill>
            </a:endParaRPr>
          </a:p>
          <a:p>
            <a:pPr indent="182880" algn="just" eaLnBrk="0" fontAlgn="base" hangingPunct="0">
              <a:lnSpc>
                <a:spcPct val="150000"/>
              </a:lnSpc>
              <a:spcBef>
                <a:spcPts val="65"/>
              </a:spcBef>
              <a:tabLst>
                <a:tab pos="457200" algn="l"/>
                <a:tab pos="914400" algn="l"/>
              </a:tabLst>
            </a:pPr>
            <a:endParaRPr lang="zh-CN" altLang="en-US" dirty="0"/>
          </a:p>
        </p:txBody>
      </p:sp>
      <p:sp>
        <p:nvSpPr>
          <p:cNvPr id="4" name="灯片编号占位符 3"/>
          <p:cNvSpPr>
            <a:spLocks noGrp="1"/>
          </p:cNvSpPr>
          <p:nvPr>
            <p:ph type="sldNum" sz="quarter" idx="5"/>
          </p:nvPr>
        </p:nvSpPr>
        <p:spPr/>
        <p:txBody>
          <a:bodyPr/>
          <a:lstStyle/>
          <a:p>
            <a:fld id="{EDB296A9-64E8-4B0F-8A40-DB128CAA2C51}" type="slidenum">
              <a:rPr lang="zh-CN" altLang="en-US" smtClean="0"/>
              <a:t>22</a:t>
            </a:fld>
            <a:endParaRPr lang="zh-CN" altLang="en-US"/>
          </a:p>
        </p:txBody>
      </p:sp>
    </p:spTree>
    <p:extLst>
      <p:ext uri="{BB962C8B-B14F-4D97-AF65-F5344CB8AC3E}">
        <p14:creationId xmlns:p14="http://schemas.microsoft.com/office/powerpoint/2010/main" val="36423668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给投委会汇报一下，上周又和企业管理层做了进一步沟通，目前投前估值由</a:t>
            </a:r>
            <a:r>
              <a:rPr lang="en-US" altLang="zh-CN" dirty="0"/>
              <a:t>9.5</a:t>
            </a:r>
            <a:r>
              <a:rPr lang="zh-CN" altLang="en-US" dirty="0"/>
              <a:t>亿下调至</a:t>
            </a:r>
            <a:r>
              <a:rPr lang="en-US" altLang="zh-CN" dirty="0"/>
              <a:t>9.2</a:t>
            </a:r>
            <a:r>
              <a:rPr lang="zh-CN" altLang="en-US" dirty="0"/>
              <a:t>亿，幅度不是很大。</a:t>
            </a:r>
            <a:r>
              <a:rPr lang="en-US" altLang="zh-CN" dirty="0"/>
              <a:t>MTM</a:t>
            </a:r>
            <a:r>
              <a:rPr lang="zh-CN" altLang="en-US" dirty="0"/>
              <a:t>采用独家投资的方式投资</a:t>
            </a:r>
            <a:r>
              <a:rPr lang="en-US" altLang="zh-CN" dirty="0"/>
              <a:t>1</a:t>
            </a:r>
            <a:r>
              <a:rPr lang="zh-CN" altLang="en-US" dirty="0"/>
              <a:t>亿元，投后整体估值</a:t>
            </a:r>
            <a:r>
              <a:rPr lang="en-US" altLang="zh-CN" dirty="0"/>
              <a:t>10.2</a:t>
            </a:r>
            <a:r>
              <a:rPr lang="zh-CN" altLang="en-US" dirty="0"/>
              <a:t>亿元，投后占比</a:t>
            </a:r>
            <a:r>
              <a:rPr lang="en-US" altLang="zh-CN" dirty="0"/>
              <a:t>9.8%</a:t>
            </a:r>
            <a:r>
              <a:rPr lang="zh-CN" altLang="en-US" dirty="0"/>
              <a:t>，</a:t>
            </a:r>
            <a:r>
              <a:rPr lang="en-US" altLang="zh-CN" dirty="0"/>
              <a:t>MTM</a:t>
            </a:r>
            <a:r>
              <a:rPr lang="zh-CN" altLang="en-US" dirty="0"/>
              <a:t>将获得董事会席位</a:t>
            </a:r>
            <a:r>
              <a:rPr lang="en-US" altLang="zh-CN" dirty="0"/>
              <a:t>1</a:t>
            </a:r>
            <a:r>
              <a:rPr lang="zh-CN" altLang="en-US" dirty="0"/>
              <a:t>个。</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回购安排是</a:t>
            </a:r>
            <a:r>
              <a:rPr lang="en-US" altLang="zh-CN" dirty="0"/>
              <a:t>2024</a:t>
            </a:r>
            <a:r>
              <a:rPr lang="zh-CN" altLang="en-US" dirty="0"/>
              <a:t>年</a:t>
            </a:r>
            <a:r>
              <a:rPr lang="en-US" altLang="zh-CN" dirty="0"/>
              <a:t>6</a:t>
            </a:r>
            <a:r>
              <a:rPr lang="zh-CN" altLang="en-US" dirty="0"/>
              <a:t>月</a:t>
            </a:r>
            <a:r>
              <a:rPr lang="en-US" altLang="zh-CN" dirty="0"/>
              <a:t>30</a:t>
            </a:r>
            <a:r>
              <a:rPr lang="zh-CN" altLang="en-US" dirty="0"/>
              <a:t>日前</a:t>
            </a:r>
            <a:r>
              <a:rPr lang="en-US" altLang="zh-CN" dirty="0"/>
              <a:t>IPO</a:t>
            </a:r>
            <a:r>
              <a:rPr lang="zh-CN" altLang="en-US" dirty="0"/>
              <a:t>，否则</a:t>
            </a:r>
            <a:r>
              <a:rPr lang="en-US" altLang="zh-CN" dirty="0"/>
              <a:t>8%</a:t>
            </a:r>
            <a:r>
              <a:rPr lang="zh-CN" altLang="en-US" dirty="0"/>
              <a:t>单利回购。</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EDB296A9-64E8-4B0F-8A40-DB128CAA2C51}" type="slidenum">
              <a:rPr lang="zh-CN" altLang="en-US" smtClean="0"/>
              <a:t>23</a:t>
            </a:fld>
            <a:endParaRPr lang="zh-CN" altLang="en-US"/>
          </a:p>
        </p:txBody>
      </p:sp>
    </p:spTree>
    <p:extLst>
      <p:ext uri="{BB962C8B-B14F-4D97-AF65-F5344CB8AC3E}">
        <p14:creationId xmlns:p14="http://schemas.microsoft.com/office/powerpoint/2010/main" val="41554781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仿宋" panose="02010609060101010101" pitchFamily="49" charset="-122"/>
                <a:ea typeface="仿宋" panose="02010609060101010101" pitchFamily="49" charset="-122"/>
              </a:rPr>
              <a:t>大瞬科技</a:t>
            </a:r>
            <a:r>
              <a:rPr lang="zh-CN" altLang="zh-CN" sz="1200" dirty="0">
                <a:latin typeface="仿宋" panose="02010609060101010101" pitchFamily="49" charset="-122"/>
                <a:ea typeface="仿宋" panose="02010609060101010101" pitchFamily="49" charset="-122"/>
              </a:rPr>
              <a:t>上一轮</a:t>
            </a:r>
            <a:r>
              <a:rPr lang="en-US" altLang="zh-CN" sz="1200" dirty="0">
                <a:latin typeface="仿宋" panose="02010609060101010101" pitchFamily="49" charset="-122"/>
                <a:ea typeface="仿宋" panose="02010609060101010101" pitchFamily="49" charset="-122"/>
              </a:rPr>
              <a:t>B+</a:t>
            </a:r>
            <a:r>
              <a:rPr lang="zh-CN" altLang="zh-CN" sz="1200" dirty="0">
                <a:latin typeface="仿宋" panose="02010609060101010101" pitchFamily="49" charset="-122"/>
                <a:ea typeface="仿宋" panose="02010609060101010101" pitchFamily="49" charset="-122"/>
              </a:rPr>
              <a:t>轮融资</a:t>
            </a:r>
            <a:r>
              <a:rPr lang="zh-CN" altLang="en-US" sz="1200" dirty="0">
                <a:latin typeface="仿宋" panose="02010609060101010101" pitchFamily="49" charset="-122"/>
                <a:ea typeface="仿宋" panose="02010609060101010101" pitchFamily="49" charset="-122"/>
              </a:rPr>
              <a:t>于</a:t>
            </a:r>
            <a:r>
              <a:rPr lang="en-US" altLang="zh-CN" sz="1200" dirty="0">
                <a:latin typeface="仿宋" panose="02010609060101010101" pitchFamily="49" charset="-122"/>
                <a:ea typeface="仿宋" panose="02010609060101010101" pitchFamily="49" charset="-122"/>
              </a:rPr>
              <a:t>2020</a:t>
            </a:r>
            <a:r>
              <a:rPr lang="zh-CN" altLang="zh-CN" sz="1200" dirty="0">
                <a:latin typeface="仿宋" panose="02010609060101010101" pitchFamily="49" charset="-122"/>
                <a:ea typeface="仿宋" panose="02010609060101010101" pitchFamily="49" charset="-122"/>
              </a:rPr>
              <a:t>年</a:t>
            </a:r>
            <a:r>
              <a:rPr lang="en-US" altLang="zh-CN" sz="1200" dirty="0">
                <a:latin typeface="仿宋" panose="02010609060101010101" pitchFamily="49" charset="-122"/>
                <a:ea typeface="仿宋" panose="02010609060101010101" pitchFamily="49" charset="-122"/>
              </a:rPr>
              <a:t>12</a:t>
            </a:r>
            <a:r>
              <a:rPr lang="zh-CN" altLang="zh-CN" sz="1200" dirty="0">
                <a:latin typeface="仿宋" panose="02010609060101010101" pitchFamily="49" charset="-122"/>
                <a:ea typeface="仿宋" panose="02010609060101010101" pitchFamily="49" charset="-122"/>
              </a:rPr>
              <a:t>月完成</a:t>
            </a:r>
            <a:r>
              <a:rPr lang="zh-CN" altLang="en-US" sz="1200" dirty="0">
                <a:latin typeface="仿宋" panose="02010609060101010101" pitchFamily="49" charset="-122"/>
                <a:ea typeface="仿宋" panose="02010609060101010101" pitchFamily="49" charset="-122"/>
              </a:rPr>
              <a:t>的，整体</a:t>
            </a:r>
            <a:r>
              <a:rPr lang="zh-CN" altLang="zh-CN" sz="1200" dirty="0">
                <a:latin typeface="仿宋" panose="02010609060101010101" pitchFamily="49" charset="-122"/>
                <a:ea typeface="仿宋" panose="02010609060101010101" pitchFamily="49" charset="-122"/>
              </a:rPr>
              <a:t>估值</a:t>
            </a:r>
            <a:r>
              <a:rPr lang="en-US" altLang="zh-CN" sz="1200" dirty="0">
                <a:latin typeface="仿宋" panose="02010609060101010101" pitchFamily="49" charset="-122"/>
                <a:ea typeface="仿宋" panose="02010609060101010101" pitchFamily="49" charset="-122"/>
              </a:rPr>
              <a:t>3.3</a:t>
            </a:r>
            <a:r>
              <a:rPr lang="zh-CN" altLang="zh-CN" sz="1200" dirty="0">
                <a:latin typeface="仿宋" panose="02010609060101010101" pitchFamily="49" charset="-122"/>
                <a:ea typeface="仿宋" panose="02010609060101010101" pitchFamily="49" charset="-122"/>
              </a:rPr>
              <a:t>亿元。</a:t>
            </a:r>
            <a:r>
              <a:rPr lang="zh-CN" altLang="en-US" sz="1200" dirty="0">
                <a:latin typeface="仿宋" panose="02010609060101010101" pitchFamily="49" charset="-122"/>
                <a:ea typeface="仿宋" panose="02010609060101010101" pitchFamily="49" charset="-122"/>
              </a:rPr>
              <a:t>但均为</a:t>
            </a:r>
            <a:r>
              <a:rPr lang="zh-CN" altLang="zh-CN" sz="1200" dirty="0">
                <a:latin typeface="仿宋" panose="02010609060101010101" pitchFamily="49" charset="-122"/>
                <a:ea typeface="仿宋" panose="02010609060101010101" pitchFamily="49" charset="-122"/>
              </a:rPr>
              <a:t>公司高管及核心团队人员</a:t>
            </a:r>
            <a:r>
              <a:rPr lang="zh-CN" altLang="en-US" sz="1200" dirty="0">
                <a:latin typeface="仿宋" panose="02010609060101010101" pitchFamily="49" charset="-122"/>
                <a:ea typeface="仿宋" panose="02010609060101010101" pitchFamily="49" charset="-122"/>
              </a:rPr>
              <a:t>。</a:t>
            </a:r>
            <a:endParaRPr lang="en-US" altLang="zh-CN" sz="1200" dirty="0">
              <a:latin typeface="仿宋" panose="02010609060101010101" pitchFamily="49" charset="-122"/>
              <a:ea typeface="仿宋"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solidFill>
                  <a:srgbClr val="000000"/>
                </a:solidFill>
                <a:effectLst/>
                <a:latin typeface="Times New Roman" panose="02020603050405020304" pitchFamily="18" charset="0"/>
                <a:ea typeface="仿宋" panose="02010609060101010101" pitchFamily="49" charset="-122"/>
                <a:cs typeface="Calibri" panose="020F0502020204030204" pitchFamily="34" charset="0"/>
              </a:rPr>
              <a:t>考虑到行业市场水平，</a:t>
            </a:r>
            <a:r>
              <a:rPr lang="en-US" altLang="zh-CN" sz="1800" dirty="0">
                <a:solidFill>
                  <a:srgbClr val="000000"/>
                </a:solidFill>
                <a:effectLst/>
                <a:ea typeface="仿宋" panose="02010609060101010101" pitchFamily="49" charset="-122"/>
                <a:cs typeface="宋体" panose="02010600030101010101" pitchFamily="2" charset="-122"/>
              </a:rPr>
              <a:t>2019</a:t>
            </a:r>
            <a:r>
              <a:rPr lang="zh-CN" altLang="en-US" sz="1800" dirty="0">
                <a:solidFill>
                  <a:srgbClr val="000000"/>
                </a:solidFill>
                <a:effectLst/>
                <a:ea typeface="仿宋" panose="02010609060101010101" pitchFamily="49" charset="-122"/>
                <a:cs typeface="宋体" panose="02010600030101010101" pitchFamily="2" charset="-122"/>
              </a:rPr>
              <a:t>年全年营收</a:t>
            </a:r>
            <a:r>
              <a:rPr lang="en-US" altLang="zh-CN" sz="1800" dirty="0">
                <a:solidFill>
                  <a:srgbClr val="000000"/>
                </a:solidFill>
                <a:effectLst/>
                <a:ea typeface="仿宋" panose="02010609060101010101" pitchFamily="49" charset="-122"/>
                <a:cs typeface="宋体" panose="02010600030101010101" pitchFamily="2" charset="-122"/>
              </a:rPr>
              <a:t>1.15</a:t>
            </a:r>
            <a:r>
              <a:rPr lang="zh-CN" altLang="en-US" sz="1800" dirty="0">
                <a:solidFill>
                  <a:srgbClr val="000000"/>
                </a:solidFill>
                <a:effectLst/>
                <a:ea typeface="仿宋" panose="02010609060101010101" pitchFamily="49" charset="-122"/>
                <a:cs typeface="宋体" panose="02010600030101010101" pitchFamily="2" charset="-122"/>
              </a:rPr>
              <a:t>亿；至今连续</a:t>
            </a:r>
            <a:r>
              <a:rPr lang="en-US" altLang="zh-CN" sz="1800" dirty="0">
                <a:solidFill>
                  <a:srgbClr val="000000"/>
                </a:solidFill>
                <a:effectLst/>
                <a:ea typeface="仿宋" panose="02010609060101010101" pitchFamily="49" charset="-122"/>
                <a:cs typeface="宋体" panose="02010600030101010101" pitchFamily="2" charset="-122"/>
              </a:rPr>
              <a:t>3</a:t>
            </a:r>
            <a:r>
              <a:rPr lang="zh-CN" altLang="en-US" sz="1800" dirty="0">
                <a:solidFill>
                  <a:srgbClr val="000000"/>
                </a:solidFill>
                <a:effectLst/>
                <a:ea typeface="仿宋" panose="02010609060101010101" pitchFamily="49" charset="-122"/>
                <a:cs typeface="宋体" panose="02010600030101010101" pitchFamily="2" charset="-122"/>
              </a:rPr>
              <a:t>年均亏损小</a:t>
            </a:r>
            <a:r>
              <a:rPr lang="en-US" altLang="zh-CN" sz="1800" dirty="0">
                <a:solidFill>
                  <a:srgbClr val="000000"/>
                </a:solidFill>
                <a:effectLst/>
                <a:ea typeface="仿宋" panose="02010609060101010101" pitchFamily="49" charset="-122"/>
                <a:cs typeface="宋体" panose="02010600030101010101" pitchFamily="2" charset="-122"/>
              </a:rPr>
              <a:t>1</a:t>
            </a:r>
            <a:r>
              <a:rPr lang="zh-CN" altLang="en-US" sz="1800" dirty="0">
                <a:solidFill>
                  <a:srgbClr val="000000"/>
                </a:solidFill>
                <a:effectLst/>
                <a:ea typeface="仿宋" panose="02010609060101010101" pitchFamily="49" charset="-122"/>
                <a:cs typeface="宋体" panose="02010600030101010101" pitchFamily="2" charset="-122"/>
              </a:rPr>
              <a:t>千万。</a:t>
            </a:r>
            <a:r>
              <a:rPr lang="en-US" altLang="zh-CN" sz="1800" dirty="0">
                <a:solidFill>
                  <a:srgbClr val="000000"/>
                </a:solidFill>
                <a:effectLst/>
                <a:ea typeface="仿宋" panose="02010609060101010101" pitchFamily="49" charset="-122"/>
                <a:cs typeface="宋体" panose="02010600030101010101" pitchFamily="2" charset="-122"/>
              </a:rPr>
              <a:t>2020</a:t>
            </a:r>
            <a:r>
              <a:rPr lang="zh-CN" altLang="en-US" sz="1800" dirty="0">
                <a:solidFill>
                  <a:srgbClr val="000000"/>
                </a:solidFill>
                <a:effectLst/>
                <a:ea typeface="仿宋" panose="02010609060101010101" pitchFamily="49" charset="-122"/>
                <a:cs typeface="宋体" panose="02010600030101010101" pitchFamily="2" charset="-122"/>
              </a:rPr>
              <a:t>年</a:t>
            </a:r>
            <a:r>
              <a:rPr lang="en-US" altLang="zh-CN" sz="1800" dirty="0">
                <a:solidFill>
                  <a:srgbClr val="000000"/>
                </a:solidFill>
                <a:effectLst/>
                <a:ea typeface="仿宋" panose="02010609060101010101" pitchFamily="49" charset="-122"/>
                <a:cs typeface="宋体" panose="02010600030101010101" pitchFamily="2" charset="-122"/>
              </a:rPr>
              <a:t>9</a:t>
            </a:r>
            <a:r>
              <a:rPr lang="zh-CN" altLang="en-US" sz="1800" dirty="0">
                <a:solidFill>
                  <a:srgbClr val="000000"/>
                </a:solidFill>
                <a:effectLst/>
                <a:ea typeface="仿宋" panose="02010609060101010101" pitchFamily="49" charset="-122"/>
                <a:cs typeface="宋体" panose="02010600030101010101" pitchFamily="2" charset="-122"/>
              </a:rPr>
              <a:t>月份，广州希荻微，整体估值</a:t>
            </a:r>
            <a:r>
              <a:rPr lang="en-US" altLang="zh-CN" sz="1800" dirty="0">
                <a:solidFill>
                  <a:srgbClr val="000000"/>
                </a:solidFill>
                <a:effectLst/>
                <a:ea typeface="仿宋" panose="02010609060101010101" pitchFamily="49" charset="-122"/>
                <a:cs typeface="宋体" panose="02010600030101010101" pitchFamily="2" charset="-122"/>
              </a:rPr>
              <a:t>40</a:t>
            </a:r>
            <a:r>
              <a:rPr lang="zh-CN" altLang="en-US" sz="1800" dirty="0">
                <a:solidFill>
                  <a:srgbClr val="000000"/>
                </a:solidFill>
                <a:effectLst/>
                <a:ea typeface="仿宋" panose="02010609060101010101" pitchFamily="49" charset="-122"/>
                <a:cs typeface="宋体" panose="02010600030101010101" pitchFamily="2" charset="-122"/>
              </a:rPr>
              <a:t>亿，融资</a:t>
            </a:r>
            <a:r>
              <a:rPr lang="en-US" altLang="zh-CN" sz="1800" dirty="0">
                <a:solidFill>
                  <a:srgbClr val="000000"/>
                </a:solidFill>
                <a:effectLst/>
                <a:ea typeface="仿宋" panose="02010609060101010101" pitchFamily="49" charset="-122"/>
                <a:cs typeface="宋体" panose="02010600030101010101" pitchFamily="2" charset="-122"/>
              </a:rPr>
              <a:t>3</a:t>
            </a:r>
            <a:r>
              <a:rPr lang="zh-CN" altLang="en-US" sz="1800" dirty="0">
                <a:solidFill>
                  <a:srgbClr val="000000"/>
                </a:solidFill>
                <a:effectLst/>
                <a:ea typeface="仿宋" panose="02010609060101010101" pitchFamily="49" charset="-122"/>
                <a:cs typeface="宋体" panose="02010600030101010101" pitchFamily="2" charset="-122"/>
              </a:rPr>
              <a:t>亿；</a:t>
            </a:r>
            <a:endParaRPr lang="en-US" altLang="zh-CN" sz="1800" dirty="0">
              <a:solidFill>
                <a:srgbClr val="000000"/>
              </a:solidFill>
              <a:effectLst/>
              <a:ea typeface="仿宋" panose="02010609060101010101" pitchFamily="49" charset="-122"/>
              <a:cs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按照市场法，</a:t>
            </a:r>
            <a:r>
              <a:rPr lang="zh-CN" altLang="en-US" sz="1200" dirty="0">
                <a:latin typeface="仿宋" panose="02010609060101010101" pitchFamily="49" charset="-122"/>
                <a:ea typeface="仿宋" panose="02010609060101010101" pitchFamily="49" charset="-122"/>
              </a:rPr>
              <a:t>富满电子、圣邦股份、芯朋微、上海贝岭、晶丰明源，</a:t>
            </a:r>
            <a:r>
              <a:rPr lang="en-US" altLang="zh-CN" sz="1200" dirty="0">
                <a:latin typeface="仿宋" panose="02010609060101010101" pitchFamily="49" charset="-122"/>
                <a:ea typeface="仿宋" panose="02010609060101010101" pitchFamily="49" charset="-122"/>
              </a:rPr>
              <a:t>PE</a:t>
            </a:r>
            <a:r>
              <a:rPr lang="zh-CN" altLang="en-US" sz="1200" dirty="0">
                <a:latin typeface="仿宋" panose="02010609060101010101" pitchFamily="49" charset="-122"/>
                <a:ea typeface="仿宋" panose="02010609060101010101" pitchFamily="49" charset="-122"/>
              </a:rPr>
              <a:t>在</a:t>
            </a:r>
            <a:r>
              <a:rPr lang="en-US" altLang="zh-CN" sz="1200" dirty="0">
                <a:latin typeface="仿宋" panose="02010609060101010101" pitchFamily="49" charset="-122"/>
                <a:ea typeface="仿宋" panose="02010609060101010101" pitchFamily="49" charset="-122"/>
              </a:rPr>
              <a:t>120</a:t>
            </a:r>
            <a:r>
              <a:rPr lang="zh-CN" altLang="en-US" sz="1200" dirty="0">
                <a:latin typeface="仿宋" panose="02010609060101010101" pitchFamily="49" charset="-122"/>
                <a:ea typeface="仿宋" panose="02010609060101010101" pitchFamily="49" charset="-122"/>
              </a:rPr>
              <a:t>倍左右。按照大瞬科技</a:t>
            </a:r>
            <a:r>
              <a:rPr lang="en-US" altLang="zh-CN" sz="1200" dirty="0">
                <a:latin typeface="仿宋" panose="02010609060101010101" pitchFamily="49" charset="-122"/>
                <a:ea typeface="仿宋" panose="02010609060101010101" pitchFamily="49" charset="-122"/>
              </a:rPr>
              <a:t>2021</a:t>
            </a:r>
            <a:r>
              <a:rPr lang="zh-CN" altLang="zh-CN" sz="1200" dirty="0">
                <a:latin typeface="仿宋" panose="02010609060101010101" pitchFamily="49" charset="-122"/>
                <a:ea typeface="仿宋" panose="02010609060101010101" pitchFamily="49" charset="-122"/>
              </a:rPr>
              <a:t>年扣非净利润</a:t>
            </a:r>
            <a:r>
              <a:rPr lang="zh-CN" altLang="en-US" sz="1200" dirty="0">
                <a:latin typeface="仿宋" panose="02010609060101010101" pitchFamily="49" charset="-122"/>
                <a:ea typeface="仿宋" panose="02010609060101010101" pitchFamily="49" charset="-122"/>
              </a:rPr>
              <a:t>计算，大瞬科技</a:t>
            </a:r>
            <a:r>
              <a:rPr lang="zh-CN" altLang="zh-CN" sz="1200" dirty="0">
                <a:latin typeface="仿宋" panose="02010609060101010101" pitchFamily="49" charset="-122"/>
                <a:ea typeface="仿宋" panose="02010609060101010101" pitchFamily="49" charset="-122"/>
              </a:rPr>
              <a:t>整体估值在</a:t>
            </a:r>
            <a:r>
              <a:rPr lang="en-US" altLang="zh-CN" sz="1200" dirty="0">
                <a:latin typeface="仿宋" panose="02010609060101010101" pitchFamily="49" charset="-122"/>
                <a:ea typeface="仿宋" panose="02010609060101010101" pitchFamily="49" charset="-122"/>
              </a:rPr>
              <a:t>15</a:t>
            </a:r>
            <a:r>
              <a:rPr lang="zh-CN" altLang="en-US" sz="1200" dirty="0">
                <a:latin typeface="仿宋" panose="02010609060101010101" pitchFamily="49" charset="-122"/>
                <a:ea typeface="仿宋" panose="02010609060101010101" pitchFamily="49" charset="-122"/>
              </a:rPr>
              <a:t>亿</a:t>
            </a:r>
            <a:r>
              <a:rPr lang="en-US" altLang="zh-CN" sz="1200" dirty="0">
                <a:latin typeface="仿宋" panose="02010609060101010101" pitchFamily="49" charset="-122"/>
                <a:ea typeface="仿宋" panose="02010609060101010101" pitchFamily="49" charset="-122"/>
              </a:rPr>
              <a:t>-18</a:t>
            </a:r>
            <a:r>
              <a:rPr lang="zh-CN" altLang="en-US" sz="1200" dirty="0">
                <a:latin typeface="仿宋" panose="02010609060101010101" pitchFamily="49" charset="-122"/>
                <a:ea typeface="仿宋" panose="02010609060101010101" pitchFamily="49" charset="-122"/>
              </a:rPr>
              <a:t>亿元左右。预计</a:t>
            </a:r>
            <a:r>
              <a:rPr lang="en-US" altLang="zh-CN" sz="1200" dirty="0">
                <a:latin typeface="仿宋" panose="02010609060101010101" pitchFamily="49" charset="-122"/>
                <a:ea typeface="仿宋" panose="02010609060101010101" pitchFamily="49" charset="-122"/>
              </a:rPr>
              <a:t>22</a:t>
            </a:r>
            <a:r>
              <a:rPr lang="zh-CN" altLang="en-US" sz="1200" dirty="0">
                <a:latin typeface="仿宋" panose="02010609060101010101" pitchFamily="49" charset="-122"/>
                <a:ea typeface="仿宋" panose="02010609060101010101" pitchFamily="49" charset="-122"/>
              </a:rPr>
              <a:t>年净利润</a:t>
            </a:r>
            <a:r>
              <a:rPr lang="en-US" altLang="zh-CN" sz="1200" dirty="0">
                <a:latin typeface="仿宋" panose="02010609060101010101" pitchFamily="49" charset="-122"/>
                <a:ea typeface="仿宋" panose="02010609060101010101" pitchFamily="49" charset="-122"/>
              </a:rPr>
              <a:t>1</a:t>
            </a:r>
            <a:r>
              <a:rPr lang="zh-CN" altLang="en-US" sz="1200" dirty="0">
                <a:latin typeface="仿宋" panose="02010609060101010101" pitchFamily="49" charset="-122"/>
                <a:ea typeface="仿宋" panose="02010609060101010101" pitchFamily="49" charset="-122"/>
              </a:rPr>
              <a:t>亿，</a:t>
            </a:r>
            <a:r>
              <a:rPr lang="en-US" altLang="zh-CN" sz="1200" dirty="0">
                <a:latin typeface="仿宋" panose="02010609060101010101" pitchFamily="49" charset="-122"/>
                <a:ea typeface="仿宋" panose="02010609060101010101" pitchFamily="49" charset="-122"/>
              </a:rPr>
              <a:t>PE</a:t>
            </a:r>
            <a:r>
              <a:rPr lang="zh-CN" altLang="en-US" sz="1200" dirty="0">
                <a:latin typeface="仿宋" panose="02010609060101010101" pitchFamily="49" charset="-122"/>
                <a:ea typeface="仿宋" panose="02010609060101010101" pitchFamily="49" charset="-122"/>
              </a:rPr>
              <a:t>快速降到</a:t>
            </a:r>
            <a:r>
              <a:rPr lang="en-US" altLang="zh-CN" sz="1200" dirty="0">
                <a:latin typeface="仿宋" panose="02010609060101010101" pitchFamily="49" charset="-122"/>
                <a:ea typeface="仿宋" panose="02010609060101010101" pitchFamily="49" charset="-122"/>
              </a:rPr>
              <a:t>10</a:t>
            </a:r>
            <a:r>
              <a:rPr lang="zh-CN" altLang="en-US" sz="1200" dirty="0">
                <a:latin typeface="仿宋" panose="02010609060101010101" pitchFamily="49" charset="-122"/>
                <a:ea typeface="仿宋" panose="02010609060101010101" pitchFamily="49" charset="-122"/>
              </a:rPr>
              <a:t>倍左右；</a:t>
            </a:r>
            <a:endParaRPr lang="en-US" altLang="zh-CN" sz="1200" dirty="0">
              <a:latin typeface="仿宋" panose="02010609060101010101" pitchFamily="49" charset="-122"/>
              <a:ea typeface="仿宋" panose="02010609060101010101" pitchFamily="49" charset="-122"/>
            </a:endParaRPr>
          </a:p>
          <a:p>
            <a:r>
              <a:rPr lang="zh-CN" altLang="en-US" sz="1200" dirty="0">
                <a:latin typeface="仿宋" panose="02010609060101010101" pitchFamily="49" charset="-122"/>
                <a:ea typeface="仿宋" panose="02010609060101010101" pitchFamily="49" charset="-122"/>
              </a:rPr>
              <a:t>采用</a:t>
            </a:r>
            <a:r>
              <a:rPr lang="en-US" altLang="zh-CN" sz="1200" dirty="0">
                <a:latin typeface="仿宋" panose="02010609060101010101" pitchFamily="49" charset="-122"/>
                <a:ea typeface="仿宋" panose="02010609060101010101" pitchFamily="49" charset="-122"/>
              </a:rPr>
              <a:t>DCF</a:t>
            </a:r>
            <a:r>
              <a:rPr lang="zh-CN" altLang="en-US" sz="1200" dirty="0">
                <a:latin typeface="仿宋" panose="02010609060101010101" pitchFamily="49" charset="-122"/>
                <a:ea typeface="仿宋" panose="02010609060101010101" pitchFamily="49" charset="-122"/>
              </a:rPr>
              <a:t>法，公司</a:t>
            </a:r>
            <a:r>
              <a:rPr lang="zh-CN" altLang="zh-CN" sz="1200" dirty="0">
                <a:latin typeface="仿宋" panose="02010609060101010101" pitchFamily="49" charset="-122"/>
                <a:ea typeface="仿宋" panose="02010609060101010101" pitchFamily="49" charset="-122"/>
              </a:rPr>
              <a:t>价值为</a:t>
            </a:r>
            <a:r>
              <a:rPr lang="en-US" altLang="zh-CN" sz="1200" dirty="0">
                <a:latin typeface="仿宋" panose="02010609060101010101" pitchFamily="49" charset="-122"/>
                <a:ea typeface="仿宋" panose="02010609060101010101" pitchFamily="49" charset="-122"/>
              </a:rPr>
              <a:t>20</a:t>
            </a:r>
            <a:r>
              <a:rPr lang="zh-CN" altLang="zh-CN" sz="1200" dirty="0">
                <a:latin typeface="仿宋" panose="02010609060101010101" pitchFamily="49" charset="-122"/>
                <a:ea typeface="仿宋" panose="02010609060101010101" pitchFamily="49" charset="-122"/>
              </a:rPr>
              <a:t>亿元</a:t>
            </a:r>
            <a:r>
              <a:rPr lang="zh-CN" altLang="en-US" sz="1200" dirty="0">
                <a:latin typeface="仿宋" panose="02010609060101010101" pitchFamily="49" charset="-122"/>
                <a:ea typeface="仿宋" panose="02010609060101010101" pitchFamily="49" charset="-122"/>
              </a:rPr>
              <a:t>左右。</a:t>
            </a:r>
            <a:endParaRPr lang="en-US" altLang="zh-CN" sz="1200" dirty="0">
              <a:latin typeface="仿宋" panose="02010609060101010101" pitchFamily="49" charset="-122"/>
              <a:ea typeface="仿宋"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仿宋" panose="02010609060101010101" pitchFamily="49" charset="-122"/>
                <a:ea typeface="仿宋" panose="02010609060101010101" pitchFamily="49" charset="-122"/>
              </a:rPr>
              <a:t>整体来看，</a:t>
            </a:r>
            <a:r>
              <a:rPr lang="zh-CN" altLang="en-US" sz="1200" b="1" dirty="0">
                <a:latin typeface="仿宋" panose="02010609060101010101" pitchFamily="49" charset="-122"/>
                <a:ea typeface="仿宋" panose="02010609060101010101" pitchFamily="49" charset="-122"/>
                <a:sym typeface="Calibri" panose="020F0502020204030204" pitchFamily="34" charset="0"/>
              </a:rPr>
              <a:t>公司本轮融资</a:t>
            </a:r>
            <a:r>
              <a:rPr lang="en-US" altLang="zh-CN" sz="1200" b="1" dirty="0">
                <a:latin typeface="仿宋" panose="02010609060101010101" pitchFamily="49" charset="-122"/>
                <a:ea typeface="仿宋" panose="02010609060101010101" pitchFamily="49" charset="-122"/>
                <a:sym typeface="Calibri" panose="020F0502020204030204" pitchFamily="34" charset="0"/>
              </a:rPr>
              <a:t>9.2</a:t>
            </a:r>
            <a:r>
              <a:rPr lang="zh-CN" altLang="en-US" sz="1200" b="1" dirty="0">
                <a:latin typeface="仿宋" panose="02010609060101010101" pitchFamily="49" charset="-122"/>
                <a:ea typeface="仿宋" panose="02010609060101010101" pitchFamily="49" charset="-122"/>
                <a:sym typeface="Calibri" panose="020F0502020204030204" pitchFamily="34" charset="0"/>
              </a:rPr>
              <a:t>亿元估值较为合理。</a:t>
            </a:r>
            <a:endParaRPr lang="zh-CN" altLang="en-US" sz="1600" b="1" dirty="0">
              <a:latin typeface="仿宋" panose="02010609060101010101" pitchFamily="49" charset="-122"/>
              <a:ea typeface="仿宋" panose="02010609060101010101" pitchFamily="49" charset="-122"/>
              <a:sym typeface="Calibri" panose="020F0502020204030204" pitchFamily="34" charset="0"/>
            </a:endParaRPr>
          </a:p>
          <a:p>
            <a:endParaRPr lang="zh-CN" altLang="en-US" dirty="0"/>
          </a:p>
        </p:txBody>
      </p:sp>
      <p:sp>
        <p:nvSpPr>
          <p:cNvPr id="4" name="灯片编号占位符 3"/>
          <p:cNvSpPr>
            <a:spLocks noGrp="1"/>
          </p:cNvSpPr>
          <p:nvPr>
            <p:ph type="sldNum" sz="quarter" idx="5"/>
          </p:nvPr>
        </p:nvSpPr>
        <p:spPr/>
        <p:txBody>
          <a:bodyPr/>
          <a:lstStyle/>
          <a:p>
            <a:fld id="{EDB296A9-64E8-4B0F-8A40-DB128CAA2C51}" type="slidenum">
              <a:rPr lang="zh-CN" altLang="en-US" smtClean="0"/>
              <a:t>24</a:t>
            </a:fld>
            <a:endParaRPr lang="zh-CN" altLang="en-US"/>
          </a:p>
        </p:txBody>
      </p:sp>
    </p:spTree>
    <p:extLst>
      <p:ext uri="{BB962C8B-B14F-4D97-AF65-F5344CB8AC3E}">
        <p14:creationId xmlns:p14="http://schemas.microsoft.com/office/powerpoint/2010/main" val="5729379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仿宋" panose="02010609060101010101" pitchFamily="49" charset="-122"/>
                <a:ea typeface="仿宋" panose="02010609060101010101" pitchFamily="49" charset="-122"/>
              </a:rPr>
              <a:t>手机产品线，</a:t>
            </a:r>
            <a:r>
              <a:rPr lang="en-US" altLang="zh-CN" sz="1200" dirty="0">
                <a:latin typeface="仿宋" panose="02010609060101010101" pitchFamily="49" charset="-122"/>
                <a:ea typeface="仿宋" panose="02010609060101010101" pitchFamily="49" charset="-122"/>
              </a:rPr>
              <a:t>2</a:t>
            </a:r>
            <a:r>
              <a:rPr lang="zh-CN" altLang="en-US" sz="1200" dirty="0">
                <a:latin typeface="仿宋" panose="02010609060101010101" pitchFamily="49" charset="-122"/>
                <a:ea typeface="仿宋" panose="02010609060101010101" pitchFamily="49" charset="-122"/>
              </a:rPr>
              <a:t>大主力产品，</a:t>
            </a:r>
            <a:r>
              <a:rPr lang="en-US" altLang="zh-CN" sz="1200" dirty="0">
                <a:latin typeface="仿宋" panose="02010609060101010101" pitchFamily="49" charset="-122"/>
                <a:ea typeface="仿宋" panose="02010609060101010101" pitchFamily="49" charset="-122"/>
              </a:rPr>
              <a:t>2</a:t>
            </a:r>
            <a:r>
              <a:rPr lang="zh-CN" altLang="en-US" sz="1200" dirty="0">
                <a:latin typeface="仿宋" panose="02010609060101010101" pitchFamily="49" charset="-122"/>
                <a:ea typeface="仿宋" panose="02010609060101010101" pitchFamily="49" charset="-122"/>
              </a:rPr>
              <a:t>款芯片</a:t>
            </a:r>
            <a:r>
              <a:rPr lang="en-US" altLang="zh-CN" sz="1200" dirty="0">
                <a:latin typeface="仿宋" panose="02010609060101010101" pitchFamily="49" charset="-122"/>
                <a:ea typeface="仿宋" panose="02010609060101010101" pitchFamily="49" charset="-122"/>
              </a:rPr>
              <a:t>SD77313-5,000</a:t>
            </a:r>
            <a:r>
              <a:rPr lang="zh-CN" altLang="en-US" sz="1200" dirty="0">
                <a:latin typeface="仿宋" panose="02010609060101010101" pitchFamily="49" charset="-122"/>
                <a:ea typeface="仿宋" panose="02010609060101010101" pitchFamily="49" charset="-122"/>
              </a:rPr>
              <a:t>万元，，</a:t>
            </a:r>
            <a:r>
              <a:rPr lang="en-US" altLang="zh-CN" sz="1200" dirty="0">
                <a:latin typeface="仿宋" panose="02010609060101010101" pitchFamily="49" charset="-122"/>
                <a:ea typeface="仿宋" panose="02010609060101010101" pitchFamily="49" charset="-122"/>
              </a:rPr>
              <a:t> SD77007-4,800</a:t>
            </a:r>
            <a:r>
              <a:rPr lang="zh-CN" altLang="en-US" sz="1200" dirty="0">
                <a:latin typeface="仿宋" panose="02010609060101010101" pitchFamily="49" charset="-122"/>
                <a:ea typeface="仿宋" panose="02010609060101010101" pitchFamily="49" charset="-122"/>
              </a:rPr>
              <a:t>万元，</a:t>
            </a:r>
            <a:r>
              <a:rPr lang="en-US" altLang="zh-CN" sz="1200" dirty="0">
                <a:latin typeface="仿宋" panose="02010609060101010101" pitchFamily="49" charset="-122"/>
                <a:ea typeface="仿宋" panose="02010609060101010101" pitchFamily="49" charset="-122"/>
              </a:rPr>
              <a:t>OPPO</a:t>
            </a:r>
            <a:r>
              <a:rPr lang="zh-CN" altLang="en-US" sz="1200" dirty="0">
                <a:latin typeface="仿宋" panose="02010609060101010101" pitchFamily="49" charset="-122"/>
                <a:ea typeface="仿宋" panose="02010609060101010101" pitchFamily="49" charset="-122"/>
              </a:rPr>
              <a:t>合计带来营业收入</a:t>
            </a:r>
            <a:r>
              <a:rPr lang="en-US" altLang="zh-CN" sz="1200" dirty="0">
                <a:latin typeface="仿宋" panose="02010609060101010101" pitchFamily="49" charset="-122"/>
                <a:ea typeface="仿宋" panose="02010609060101010101" pitchFamily="49" charset="-122"/>
              </a:rPr>
              <a:t>1.08</a:t>
            </a:r>
            <a:r>
              <a:rPr lang="zh-CN" altLang="en-US" sz="1200" dirty="0">
                <a:latin typeface="仿宋" panose="02010609060101010101" pitchFamily="49" charset="-122"/>
                <a:ea typeface="仿宋" panose="02010609060101010101" pitchFamily="49" charset="-122"/>
              </a:rPr>
              <a:t>亿元。</a:t>
            </a:r>
            <a:endParaRPr lang="en-US" altLang="zh-CN" sz="1200" dirty="0">
              <a:latin typeface="仿宋" panose="02010609060101010101" pitchFamily="49" charset="-122"/>
              <a:ea typeface="仿宋"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仿宋" panose="02010609060101010101" pitchFamily="49" charset="-122"/>
                <a:ea typeface="仿宋" panose="02010609060101010101" pitchFamily="49" charset="-122"/>
              </a:rPr>
              <a:t>作为公司第一大客户，</a:t>
            </a:r>
            <a:r>
              <a:rPr lang="en-US" altLang="zh-CN" sz="1200" dirty="0">
                <a:latin typeface="仿宋" panose="02010609060101010101" pitchFamily="49" charset="-122"/>
                <a:ea typeface="仿宋" panose="02010609060101010101" pitchFamily="49" charset="-122"/>
              </a:rPr>
              <a:t>OPPO</a:t>
            </a:r>
            <a:r>
              <a:rPr lang="zh-CN" altLang="en-US" sz="1200" dirty="0">
                <a:latin typeface="仿宋" panose="02010609060101010101" pitchFamily="49" charset="-122"/>
                <a:ea typeface="仿宋" panose="02010609060101010101" pitchFamily="49" charset="-122"/>
              </a:rPr>
              <a:t>是</a:t>
            </a:r>
            <a:r>
              <a:rPr lang="zh-CN" altLang="zh-CN" sz="1800" b="1" kern="100" dirty="0">
                <a:effectLst/>
                <a:ea typeface="仿宋" panose="02010609060101010101" pitchFamily="49" charset="-122"/>
                <a:cs typeface="Times New Roman" panose="02020603050405020304" pitchFamily="18" charset="0"/>
              </a:rPr>
              <a:t>全球第四大智能手机</a:t>
            </a:r>
            <a:r>
              <a:rPr lang="zh-CN" altLang="en-US" sz="1800" b="1" kern="100" dirty="0">
                <a:effectLst/>
                <a:ea typeface="仿宋" panose="02010609060101010101" pitchFamily="49" charset="-122"/>
                <a:cs typeface="Times New Roman" panose="02020603050405020304" pitchFamily="18" charset="0"/>
              </a:rPr>
              <a:t>，并在</a:t>
            </a:r>
            <a:r>
              <a:rPr lang="en-US" altLang="zh-CN" sz="1800" b="1" kern="100" dirty="0">
                <a:effectLst/>
                <a:ea typeface="仿宋" panose="02010609060101010101" pitchFamily="49" charset="-122"/>
                <a:cs typeface="Times New Roman" panose="02020603050405020304" pitchFamily="18" charset="0"/>
              </a:rPr>
              <a:t>2021</a:t>
            </a:r>
            <a:r>
              <a:rPr lang="zh-CN" altLang="en-US" sz="1800" b="1" kern="100" dirty="0">
                <a:effectLst/>
                <a:ea typeface="仿宋" panose="02010609060101010101" pitchFamily="49" charset="-122"/>
                <a:cs typeface="Times New Roman" panose="02020603050405020304" pitchFamily="18" charset="0"/>
              </a:rPr>
              <a:t>年</a:t>
            </a:r>
            <a:r>
              <a:rPr lang="en-US" altLang="zh-CN" sz="1800" b="1" kern="100" dirty="0">
                <a:effectLst/>
                <a:ea typeface="仿宋" panose="02010609060101010101" pitchFamily="49" charset="-122"/>
                <a:cs typeface="Times New Roman" panose="02020603050405020304" pitchFamily="18" charset="0"/>
              </a:rPr>
              <a:t>1</a:t>
            </a:r>
            <a:r>
              <a:rPr lang="zh-CN" altLang="en-US" sz="1800" b="1" kern="100" dirty="0">
                <a:effectLst/>
                <a:ea typeface="仿宋" panose="02010609060101010101" pitchFamily="49" charset="-122"/>
                <a:cs typeface="Times New Roman" panose="02020603050405020304" pitchFamily="18" charset="0"/>
              </a:rPr>
              <a:t>月以</a:t>
            </a:r>
            <a:r>
              <a:rPr lang="en-US" altLang="zh-CN" sz="1800" kern="100" dirty="0">
                <a:effectLst/>
                <a:latin typeface="仿宋" panose="02010609060101010101" pitchFamily="49" charset="-122"/>
                <a:cs typeface="Times New Roman" panose="02020603050405020304" pitchFamily="18" charset="0"/>
              </a:rPr>
              <a:t>22.3%</a:t>
            </a:r>
            <a:r>
              <a:rPr lang="zh-CN" altLang="zh-CN" sz="1800" kern="100" dirty="0">
                <a:effectLst/>
                <a:ea typeface="仿宋" panose="02010609060101010101" pitchFamily="49" charset="-122"/>
                <a:cs typeface="Times New Roman" panose="02020603050405020304" pitchFamily="18" charset="0"/>
              </a:rPr>
              <a:t>的市场份额</a:t>
            </a:r>
            <a:r>
              <a:rPr lang="zh-CN" altLang="en-US" sz="1800" b="1" kern="100" dirty="0">
                <a:effectLst/>
                <a:ea typeface="仿宋" panose="02010609060101010101" pitchFamily="49" charset="-122"/>
                <a:cs typeface="Times New Roman" panose="02020603050405020304" pitchFamily="18" charset="0"/>
              </a:rPr>
              <a:t>成为</a:t>
            </a:r>
            <a:r>
              <a:rPr lang="zh-CN" altLang="zh-CN" sz="1800" kern="100" dirty="0">
                <a:effectLst/>
                <a:latin typeface="Times New Roman" panose="02020603050405020304" pitchFamily="18" charset="0"/>
                <a:ea typeface="仿宋" panose="02010609060101010101" pitchFamily="49" charset="-122"/>
              </a:rPr>
              <a:t>中国最大的智能机品牌</a:t>
            </a:r>
            <a:r>
              <a:rPr lang="zh-CN" altLang="en-US" sz="1800" b="1" kern="100" dirty="0">
                <a:effectLst/>
                <a:latin typeface="Times New Roman" panose="02020603050405020304" pitchFamily="18" charset="0"/>
                <a:ea typeface="仿宋" panose="02010609060101010101" pitchFamily="49" charset="-122"/>
              </a:rPr>
              <a:t>，并在今年</a:t>
            </a:r>
            <a:r>
              <a:rPr lang="en-US" altLang="zh-CN" sz="1800" b="1" kern="100" dirty="0">
                <a:effectLst/>
                <a:latin typeface="Times New Roman" panose="02020603050405020304" pitchFamily="18" charset="0"/>
                <a:ea typeface="仿宋" panose="02010609060101010101" pitchFamily="49" charset="-122"/>
              </a:rPr>
              <a:t>Q1 </a:t>
            </a:r>
            <a:r>
              <a:rPr lang="zh-CN" altLang="zh-CN" sz="1800" b="1" kern="100" dirty="0">
                <a:effectLst/>
                <a:ea typeface="仿宋" panose="02010609060101010101" pitchFamily="49" charset="-122"/>
                <a:cs typeface="Times New Roman" panose="02020603050405020304" pitchFamily="18" charset="0"/>
              </a:rPr>
              <a:t>以</a:t>
            </a:r>
            <a:r>
              <a:rPr lang="en-US" altLang="zh-CN" sz="1800" b="1" kern="100" dirty="0">
                <a:effectLst/>
                <a:ea typeface="仿宋" panose="02010609060101010101" pitchFamily="49" charset="-122"/>
                <a:cs typeface="Times New Roman" panose="02020603050405020304" pitchFamily="18" charset="0"/>
              </a:rPr>
              <a:t>2,150</a:t>
            </a:r>
            <a:r>
              <a:rPr lang="zh-CN" altLang="zh-CN" sz="1800" b="1" kern="100" dirty="0">
                <a:effectLst/>
                <a:ea typeface="仿宋" panose="02010609060101010101" pitchFamily="49" charset="-122"/>
                <a:cs typeface="Times New Roman" panose="02020603050405020304" pitchFamily="18" charset="0"/>
              </a:rPr>
              <a:t>万台的出货量排在全球</a:t>
            </a:r>
            <a:r>
              <a:rPr lang="en-US" altLang="zh-CN" sz="1800" b="1" kern="100" dirty="0">
                <a:effectLst/>
                <a:ea typeface="仿宋" panose="02010609060101010101" pitchFamily="49" charset="-122"/>
                <a:cs typeface="Times New Roman" panose="02020603050405020304" pitchFamily="18" charset="0"/>
              </a:rPr>
              <a:t>5G</a:t>
            </a:r>
            <a:r>
              <a:rPr lang="zh-CN" altLang="zh-CN" sz="1800" b="1" kern="100" dirty="0">
                <a:effectLst/>
                <a:ea typeface="仿宋" panose="02010609060101010101" pitchFamily="49" charset="-122"/>
                <a:cs typeface="Times New Roman" panose="02020603050405020304" pitchFamily="18" charset="0"/>
              </a:rPr>
              <a:t>智能手机排行榜第</a:t>
            </a:r>
            <a:r>
              <a:rPr lang="en-US" altLang="zh-CN" sz="1800" b="1" kern="100" dirty="0">
                <a:effectLst/>
                <a:ea typeface="仿宋" panose="02010609060101010101" pitchFamily="49" charset="-122"/>
                <a:cs typeface="Times New Roman" panose="02020603050405020304" pitchFamily="18" charset="0"/>
              </a:rPr>
              <a:t>2</a:t>
            </a:r>
            <a:r>
              <a:rPr lang="zh-CN" altLang="en-US" sz="1800" b="1" kern="100" dirty="0">
                <a:effectLst/>
                <a:ea typeface="仿宋" panose="02010609060101010101" pitchFamily="49" charset="-122"/>
                <a:cs typeface="Times New Roman" panose="02020603050405020304" pitchFamily="18" charset="0"/>
              </a:rPr>
              <a:t>。</a:t>
            </a:r>
            <a:endParaRPr lang="en-US" altLang="zh-CN" sz="1800" b="1" kern="100" dirty="0">
              <a:effectLst/>
              <a:latin typeface="Times New Roman" panose="02020603050405020304" pitchFamily="18" charset="0"/>
              <a:ea typeface="仿宋"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kern="100" dirty="0">
                <a:effectLst/>
                <a:latin typeface="Times New Roman" panose="02020603050405020304" pitchFamily="18" charset="0"/>
                <a:ea typeface="仿宋" panose="02010609060101010101" pitchFamily="49" charset="-122"/>
              </a:rPr>
              <a:t>其子品牌</a:t>
            </a:r>
            <a:r>
              <a:rPr lang="en-US" altLang="zh-CN" sz="1800" kern="100" dirty="0" err="1">
                <a:effectLst/>
                <a:latin typeface="仿宋" panose="02010609060101010101" pitchFamily="49" charset="-122"/>
                <a:cs typeface="Times New Roman" panose="02020603050405020304" pitchFamily="18" charset="0"/>
              </a:rPr>
              <a:t>realme</a:t>
            </a:r>
            <a:r>
              <a:rPr lang="zh-CN" altLang="en-US" sz="1800" kern="100" dirty="0">
                <a:effectLst/>
                <a:latin typeface="仿宋" panose="02010609060101010101" pitchFamily="49" charset="-122"/>
                <a:cs typeface="Times New Roman" panose="02020603050405020304" pitchFamily="18" charset="0"/>
              </a:rPr>
              <a:t>作为</a:t>
            </a:r>
            <a:r>
              <a:rPr lang="zh-CN" altLang="zh-CN" sz="1800" b="1" kern="100" dirty="0">
                <a:effectLst/>
                <a:ea typeface="仿宋" panose="02010609060101010101" pitchFamily="49" charset="-122"/>
                <a:cs typeface="Times New Roman" panose="02020603050405020304" pitchFamily="18" charset="0"/>
              </a:rPr>
              <a:t>中国市场目前第</a:t>
            </a:r>
            <a:r>
              <a:rPr lang="en-US" altLang="zh-CN" sz="1800" b="1" kern="100" dirty="0">
                <a:effectLst/>
                <a:ea typeface="仿宋" panose="02010609060101010101" pitchFamily="49" charset="-122"/>
                <a:cs typeface="Times New Roman" panose="02020603050405020304" pitchFamily="18" charset="0"/>
              </a:rPr>
              <a:t>7</a:t>
            </a:r>
            <a:r>
              <a:rPr lang="zh-CN" altLang="zh-CN" sz="1800" b="1" kern="100" dirty="0">
                <a:effectLst/>
                <a:ea typeface="仿宋" panose="02010609060101010101" pitchFamily="49" charset="-122"/>
                <a:cs typeface="Times New Roman" panose="02020603050405020304" pitchFamily="18" charset="0"/>
              </a:rPr>
              <a:t>大手机品牌</a:t>
            </a:r>
            <a:r>
              <a:rPr lang="zh-CN" altLang="en-US" sz="1800" b="1" kern="100" dirty="0">
                <a:effectLst/>
                <a:ea typeface="仿宋" panose="02010609060101010101" pitchFamily="49" charset="-122"/>
                <a:cs typeface="Times New Roman" panose="02020603050405020304" pitchFamily="18" charset="0"/>
              </a:rPr>
              <a:t>，今年预计出货量在</a:t>
            </a:r>
            <a:r>
              <a:rPr lang="en-US" altLang="zh-CN" sz="1800" b="1" kern="100" dirty="0">
                <a:effectLst/>
                <a:ea typeface="仿宋" panose="02010609060101010101" pitchFamily="49" charset="-122"/>
                <a:cs typeface="Times New Roman" panose="02020603050405020304" pitchFamily="18" charset="0"/>
              </a:rPr>
              <a:t>7-8</a:t>
            </a:r>
            <a:r>
              <a:rPr lang="zh-CN" altLang="en-US" sz="1800" b="1" kern="100" dirty="0">
                <a:effectLst/>
                <a:ea typeface="仿宋" panose="02010609060101010101" pitchFamily="49" charset="-122"/>
                <a:cs typeface="Times New Roman" panose="02020603050405020304" pitchFamily="18" charset="0"/>
              </a:rPr>
              <a:t>千万台。</a:t>
            </a:r>
            <a:endParaRPr lang="en-US" altLang="zh-CN" sz="1800" b="1" kern="100" dirty="0">
              <a:effectLst/>
              <a:ea typeface="仿宋" panose="02010609060101010101" pitchFamily="49"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kern="100" dirty="0">
                <a:effectLst/>
                <a:ea typeface="仿宋" panose="02010609060101010101" pitchFamily="49" charset="-122"/>
                <a:cs typeface="Times New Roman" panose="02020603050405020304" pitchFamily="18" charset="0"/>
              </a:rPr>
              <a:t>关于全球手机出货量预测这块，前一阵子有消息说各大厂商下调预测</a:t>
            </a:r>
            <a:r>
              <a:rPr lang="en-US" altLang="zh-CN" sz="1800" b="1" kern="100" dirty="0">
                <a:effectLst/>
                <a:ea typeface="仿宋" panose="02010609060101010101" pitchFamily="49" charset="-122"/>
                <a:cs typeface="Times New Roman" panose="02020603050405020304" pitchFamily="18" charset="0"/>
              </a:rPr>
              <a:t>10%-30%</a:t>
            </a:r>
            <a:r>
              <a:rPr lang="zh-CN" altLang="en-US" sz="1800" b="1" kern="100" dirty="0">
                <a:effectLst/>
                <a:ea typeface="仿宋" panose="02010609060101010101" pitchFamily="49" charset="-122"/>
                <a:cs typeface="Times New Roman" panose="02020603050405020304" pitchFamily="18" charset="0"/>
              </a:rPr>
              <a:t>；目前通过</a:t>
            </a:r>
            <a:r>
              <a:rPr lang="en-US" altLang="zh-CN" sz="1800" b="1" kern="100" dirty="0">
                <a:effectLst/>
                <a:ea typeface="仿宋" panose="02010609060101010101" pitchFamily="49" charset="-122"/>
                <a:cs typeface="Times New Roman" panose="02020603050405020304" pitchFamily="18" charset="0"/>
              </a:rPr>
              <a:t>5</a:t>
            </a:r>
            <a:r>
              <a:rPr lang="zh-CN" altLang="en-US" sz="1800" b="1" kern="100" dirty="0">
                <a:effectLst/>
                <a:ea typeface="仿宋" panose="02010609060101010101" pitchFamily="49" charset="-122"/>
                <a:cs typeface="Times New Roman" panose="02020603050405020304" pitchFamily="18" charset="0"/>
              </a:rPr>
              <a:t>月到</a:t>
            </a:r>
            <a:r>
              <a:rPr lang="en-US" altLang="zh-CN" sz="1800" b="1" kern="100" dirty="0">
                <a:effectLst/>
                <a:ea typeface="仿宋" panose="02010609060101010101" pitchFamily="49" charset="-122"/>
                <a:cs typeface="Times New Roman" panose="02020603050405020304" pitchFamily="18" charset="0"/>
              </a:rPr>
              <a:t>6.18</a:t>
            </a:r>
            <a:r>
              <a:rPr lang="zh-CN" altLang="en-US" sz="1800" b="1" kern="100" dirty="0">
                <a:effectLst/>
                <a:ea typeface="仿宋" panose="02010609060101010101" pitchFamily="49" charset="-122"/>
                <a:cs typeface="Times New Roman" panose="02020603050405020304" pitchFamily="18" charset="0"/>
              </a:rPr>
              <a:t>近</a:t>
            </a:r>
            <a:r>
              <a:rPr lang="en-US" altLang="zh-CN" sz="1800" b="1" kern="100" dirty="0">
                <a:effectLst/>
                <a:ea typeface="仿宋" panose="02010609060101010101" pitchFamily="49" charset="-122"/>
                <a:cs typeface="Times New Roman" panose="02020603050405020304" pitchFamily="18" charset="0"/>
              </a:rPr>
              <a:t>2</a:t>
            </a:r>
            <a:r>
              <a:rPr lang="zh-CN" altLang="en-US" sz="1800" b="1" kern="100" dirty="0">
                <a:effectLst/>
                <a:ea typeface="仿宋" panose="02010609060101010101" pitchFamily="49" charset="-122"/>
                <a:cs typeface="Times New Roman" panose="02020603050405020304" pitchFamily="18" charset="0"/>
              </a:rPr>
              <a:t>个月的实际出货量情况，没有那么悲观。刚刚</a:t>
            </a:r>
            <a:r>
              <a:rPr lang="en-US" altLang="zh-CN" sz="1800" b="1" kern="100" dirty="0" err="1">
                <a:effectLst/>
                <a:ea typeface="仿宋" panose="02010609060101010101" pitchFamily="49" charset="-122"/>
                <a:cs typeface="Times New Roman" panose="02020603050405020304" pitchFamily="18" charset="0"/>
              </a:rPr>
              <a:t>Digitimes</a:t>
            </a:r>
            <a:r>
              <a:rPr lang="zh-CN" altLang="en-US" sz="1800" b="1" kern="100" dirty="0">
                <a:effectLst/>
                <a:ea typeface="仿宋" panose="02010609060101010101" pitchFamily="49" charset="-122"/>
                <a:cs typeface="Times New Roman" panose="02020603050405020304" pitchFamily="18" charset="0"/>
              </a:rPr>
              <a:t>预测全球上半年智能手机出货量将达到</a:t>
            </a:r>
            <a:r>
              <a:rPr lang="en-US" altLang="zh-CN" sz="1800" b="1" kern="100" dirty="0">
                <a:effectLst/>
                <a:ea typeface="仿宋" panose="02010609060101010101" pitchFamily="49" charset="-122"/>
                <a:cs typeface="Times New Roman" panose="02020603050405020304" pitchFamily="18" charset="0"/>
              </a:rPr>
              <a:t>6.5</a:t>
            </a:r>
            <a:r>
              <a:rPr lang="zh-CN" altLang="en-US" sz="1800" b="1" kern="100" dirty="0">
                <a:effectLst/>
                <a:ea typeface="仿宋" panose="02010609060101010101" pitchFamily="49" charset="-122"/>
                <a:cs typeface="Times New Roman" panose="02020603050405020304" pitchFamily="18" charset="0"/>
              </a:rPr>
              <a:t>亿。小对于小米，</a:t>
            </a:r>
            <a:r>
              <a:rPr lang="en-US" altLang="zh-CN" sz="1800" b="1" kern="100" dirty="0">
                <a:effectLst/>
                <a:ea typeface="仿宋" panose="02010609060101010101" pitchFamily="49" charset="-122"/>
                <a:cs typeface="Times New Roman" panose="02020603050405020304" pitchFamily="18" charset="0"/>
              </a:rPr>
              <a:t>OPPO</a:t>
            </a:r>
            <a:r>
              <a:rPr lang="zh-CN" altLang="en-US" sz="1800" b="1" kern="100" dirty="0">
                <a:effectLst/>
                <a:ea typeface="仿宋" panose="02010609060101010101" pitchFamily="49" charset="-122"/>
                <a:cs typeface="Times New Roman" panose="02020603050405020304" pitchFamily="18" charset="0"/>
              </a:rPr>
              <a:t>受印度疫情影响较小；同时</a:t>
            </a:r>
            <a:r>
              <a:rPr lang="en-US" altLang="zh-CN" sz="1800" b="1" kern="100" dirty="0">
                <a:effectLst/>
                <a:ea typeface="仿宋" panose="02010609060101010101" pitchFamily="49" charset="-122"/>
                <a:cs typeface="Times New Roman" panose="02020603050405020304" pitchFamily="18" charset="0"/>
              </a:rPr>
              <a:t>5G</a:t>
            </a:r>
            <a:r>
              <a:rPr lang="zh-CN" altLang="en-US" sz="1800" b="1" kern="100" dirty="0">
                <a:effectLst/>
                <a:ea typeface="仿宋" panose="02010609060101010101" pitchFamily="49" charset="-122"/>
                <a:cs typeface="Times New Roman" panose="02020603050405020304" pitchFamily="18" charset="0"/>
              </a:rPr>
              <a:t>手机渗透率加大，</a:t>
            </a:r>
            <a:r>
              <a:rPr lang="en-US" altLang="zh-CN" sz="1800" b="1" kern="100" dirty="0">
                <a:effectLst/>
                <a:ea typeface="仿宋" panose="02010609060101010101" pitchFamily="49" charset="-122"/>
                <a:cs typeface="Times New Roman" panose="02020603050405020304" pitchFamily="18" charset="0"/>
              </a:rPr>
              <a:t>OPPO</a:t>
            </a:r>
            <a:r>
              <a:rPr lang="zh-CN" altLang="en-US" sz="1800" b="1" kern="100" dirty="0">
                <a:effectLst/>
                <a:ea typeface="仿宋" panose="02010609060101010101" pitchFamily="49" charset="-122"/>
                <a:cs typeface="Times New Roman" panose="02020603050405020304" pitchFamily="18" charset="0"/>
              </a:rPr>
              <a:t>在这方面也是受益的。</a:t>
            </a:r>
            <a:endParaRPr lang="en-US" altLang="zh-CN" sz="1800" b="1" kern="100" dirty="0">
              <a:effectLst/>
              <a:ea typeface="仿宋" panose="02010609060101010101" pitchFamily="49"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仿宋" panose="02010609060101010101" pitchFamily="49" charset="-122"/>
                <a:ea typeface="宋体" panose="02010600030101010101" pitchFamily="2" charset="-122"/>
              </a:rPr>
              <a:t>2020</a:t>
            </a:r>
            <a:r>
              <a:rPr lang="zh-CN" altLang="zh-CN" sz="1800" kern="100" dirty="0">
                <a:effectLst/>
                <a:latin typeface="Times New Roman" panose="02020603050405020304" pitchFamily="18" charset="0"/>
                <a:ea typeface="仿宋" panose="02010609060101010101" pitchFamily="49" charset="-122"/>
              </a:rPr>
              <a:t>年</a:t>
            </a:r>
            <a:r>
              <a:rPr lang="en-US" altLang="zh-CN" sz="1800" kern="100" dirty="0">
                <a:effectLst/>
                <a:latin typeface="Times New Roman" panose="02020603050405020304" pitchFamily="18" charset="0"/>
                <a:ea typeface="仿宋" panose="02010609060101010101" pitchFamily="49" charset="-122"/>
              </a:rPr>
              <a:t>10</a:t>
            </a:r>
            <a:r>
              <a:rPr lang="zh-CN" altLang="zh-CN" sz="1800" kern="100" dirty="0">
                <a:effectLst/>
                <a:latin typeface="Times New Roman" panose="02020603050405020304" pitchFamily="18" charset="0"/>
                <a:ea typeface="仿宋" panose="02010609060101010101" pitchFamily="49" charset="-122"/>
              </a:rPr>
              <a:t>月</a:t>
            </a:r>
            <a:r>
              <a:rPr lang="en-US" altLang="zh-CN" sz="1800" kern="100" dirty="0">
                <a:effectLst/>
                <a:latin typeface="Times New Roman" panose="02020603050405020304" pitchFamily="18" charset="0"/>
                <a:ea typeface="仿宋" panose="02010609060101010101" pitchFamily="49" charset="-122"/>
              </a:rPr>
              <a:t>10</a:t>
            </a:r>
            <a:r>
              <a:rPr lang="zh-CN" altLang="zh-CN" sz="1800" kern="100" dirty="0">
                <a:effectLst/>
                <a:latin typeface="Times New Roman" panose="02020603050405020304" pitchFamily="18" charset="0"/>
                <a:ea typeface="仿宋" panose="02010609060101010101" pitchFamily="49" charset="-122"/>
              </a:rPr>
              <a:t>日</a:t>
            </a:r>
            <a:r>
              <a:rPr lang="zh-CN" altLang="zh-CN" sz="1800" b="1" kern="100" dirty="0">
                <a:effectLst/>
                <a:latin typeface="Times New Roman" panose="02020603050405020304" pitchFamily="18" charset="0"/>
                <a:ea typeface="仿宋" panose="02010609060101010101" pitchFamily="49" charset="-122"/>
              </a:rPr>
              <a:t>公司与</a:t>
            </a:r>
            <a:r>
              <a:rPr lang="en-US" altLang="zh-CN" sz="1800" b="1" kern="100" dirty="0">
                <a:effectLst/>
                <a:latin typeface="Times New Roman" panose="02020603050405020304" pitchFamily="18" charset="0"/>
                <a:ea typeface="仿宋" panose="02010609060101010101" pitchFamily="49" charset="-122"/>
              </a:rPr>
              <a:t>OPPO</a:t>
            </a:r>
            <a:r>
              <a:rPr lang="zh-CN" altLang="zh-CN" sz="1800" b="1" kern="100" dirty="0">
                <a:effectLst/>
                <a:latin typeface="Times New Roman" panose="02020603050405020304" pitchFamily="18" charset="0"/>
                <a:ea typeface="仿宋" panose="02010609060101010101" pitchFamily="49" charset="-122"/>
              </a:rPr>
              <a:t>签订了《快充</a:t>
            </a:r>
            <a:r>
              <a:rPr lang="en-US" altLang="zh-CN" sz="1800" b="1" kern="100" dirty="0">
                <a:effectLst/>
                <a:latin typeface="Times New Roman" panose="02020603050405020304" pitchFamily="18" charset="0"/>
                <a:ea typeface="仿宋" panose="02010609060101010101" pitchFamily="49" charset="-122"/>
              </a:rPr>
              <a:t>IC</a:t>
            </a:r>
            <a:r>
              <a:rPr lang="zh-CN" altLang="zh-CN" sz="1800" b="1" kern="100" dirty="0">
                <a:effectLst/>
                <a:latin typeface="Times New Roman" panose="02020603050405020304" pitchFamily="18" charset="0"/>
                <a:ea typeface="仿宋" panose="02010609060101010101" pitchFamily="49" charset="-122"/>
              </a:rPr>
              <a:t>供应保障协议》</a:t>
            </a:r>
            <a:r>
              <a:rPr lang="zh-CN" altLang="zh-CN" sz="1800" kern="100" dirty="0">
                <a:effectLst/>
                <a:latin typeface="Times New Roman" panose="02020603050405020304" pitchFamily="18" charset="0"/>
                <a:ea typeface="仿宋" panose="02010609060101010101" pitchFamily="49" charset="-122"/>
              </a:rPr>
              <a:t>，约定为了满足</a:t>
            </a:r>
            <a:r>
              <a:rPr lang="en-US" altLang="zh-CN" sz="1800" kern="100" dirty="0">
                <a:effectLst/>
                <a:latin typeface="Times New Roman" panose="02020603050405020304" pitchFamily="18" charset="0"/>
                <a:ea typeface="仿宋" panose="02010609060101010101" pitchFamily="49" charset="-122"/>
              </a:rPr>
              <a:t>OPPO</a:t>
            </a:r>
            <a:r>
              <a:rPr lang="zh-CN" altLang="zh-CN" sz="1800" kern="100" dirty="0">
                <a:effectLst/>
                <a:latin typeface="Times New Roman" panose="02020603050405020304" pitchFamily="18" charset="0"/>
                <a:ea typeface="仿宋" panose="02010609060101010101" pitchFamily="49" charset="-122"/>
              </a:rPr>
              <a:t>广东移动通信有限公司的需求，标的公司承诺保证产能，</a:t>
            </a:r>
            <a:r>
              <a:rPr lang="zh-CN" altLang="zh-CN" sz="1800" b="1" kern="100" dirty="0">
                <a:effectLst/>
                <a:latin typeface="Times New Roman" panose="02020603050405020304" pitchFamily="18" charset="0"/>
                <a:ea typeface="仿宋" panose="02010609060101010101" pitchFamily="49" charset="-122"/>
              </a:rPr>
              <a:t>每月供给</a:t>
            </a:r>
            <a:r>
              <a:rPr lang="en-US" altLang="zh-CN" sz="1800" b="1" kern="100" dirty="0">
                <a:effectLst/>
                <a:latin typeface="Times New Roman" panose="02020603050405020304" pitchFamily="18" charset="0"/>
                <a:ea typeface="仿宋" panose="02010609060101010101" pitchFamily="49" charset="-122"/>
              </a:rPr>
              <a:t>1,200</a:t>
            </a:r>
            <a:r>
              <a:rPr lang="zh-CN" altLang="zh-CN" sz="1800" b="1" kern="100" dirty="0">
                <a:effectLst/>
                <a:latin typeface="Times New Roman" panose="02020603050405020304" pitchFamily="18" charset="0"/>
                <a:ea typeface="仿宋" panose="02010609060101010101" pitchFamily="49" charset="-122"/>
              </a:rPr>
              <a:t>万颗的</a:t>
            </a:r>
            <a:r>
              <a:rPr lang="en-US" altLang="zh-CN" sz="1800" b="1" kern="100" dirty="0">
                <a:effectLst/>
                <a:latin typeface="Times New Roman" panose="02020603050405020304" pitchFamily="18" charset="0"/>
                <a:ea typeface="仿宋" panose="02010609060101010101" pitchFamily="49" charset="-122"/>
              </a:rPr>
              <a:t>e-marker</a:t>
            </a:r>
            <a:r>
              <a:rPr lang="zh-CN" altLang="zh-CN" sz="1800" b="1" kern="100" dirty="0">
                <a:effectLst/>
                <a:latin typeface="Times New Roman" panose="02020603050405020304" pitchFamily="18" charset="0"/>
                <a:ea typeface="仿宋" panose="02010609060101010101" pitchFamily="49" charset="-122"/>
              </a:rPr>
              <a:t>芯片</a:t>
            </a:r>
            <a:r>
              <a:rPr lang="zh-CN" altLang="zh-CN" sz="1800" kern="100" dirty="0">
                <a:effectLst/>
                <a:latin typeface="Times New Roman" panose="02020603050405020304" pitchFamily="18" charset="0"/>
                <a:ea typeface="仿宋" panose="02010609060101010101" pitchFamily="49" charset="-122"/>
              </a:rPr>
              <a:t>，</a:t>
            </a:r>
            <a:r>
              <a:rPr lang="en-US" altLang="zh-CN" sz="1800" kern="100" dirty="0">
                <a:effectLst/>
                <a:latin typeface="Times New Roman" panose="02020603050405020304" pitchFamily="18" charset="0"/>
                <a:ea typeface="仿宋" panose="02010609060101010101" pitchFamily="49" charset="-122"/>
              </a:rPr>
              <a:t>1.5kk/</a:t>
            </a:r>
            <a:r>
              <a:rPr lang="zh-CN" altLang="en-US" sz="1800" kern="100" dirty="0">
                <a:effectLst/>
                <a:latin typeface="Times New Roman" panose="02020603050405020304" pitchFamily="18" charset="0"/>
                <a:ea typeface="仿宋" panose="02010609060101010101" pitchFamily="49" charset="-122"/>
              </a:rPr>
              <a:t>月的电荷泵芯片；年需求</a:t>
            </a:r>
            <a:r>
              <a:rPr lang="en-US" altLang="zh-CN" sz="1800" kern="100" dirty="0">
                <a:effectLst/>
                <a:latin typeface="Times New Roman" panose="02020603050405020304" pitchFamily="18" charset="0"/>
                <a:ea typeface="仿宋" panose="02010609060101010101" pitchFamily="49" charset="-122"/>
              </a:rPr>
              <a:t>1.5</a:t>
            </a:r>
            <a:r>
              <a:rPr lang="zh-CN" altLang="en-US" sz="1800" kern="100" dirty="0">
                <a:effectLst/>
                <a:latin typeface="Times New Roman" panose="02020603050405020304" pitchFamily="18" charset="0"/>
                <a:ea typeface="仿宋" panose="02010609060101010101" pitchFamily="49" charset="-122"/>
              </a:rPr>
              <a:t>亿</a:t>
            </a:r>
            <a:r>
              <a:rPr lang="en-US" altLang="zh-CN" sz="1800" b="1" kern="100" dirty="0">
                <a:effectLst/>
                <a:latin typeface="Times New Roman" panose="02020603050405020304" pitchFamily="18" charset="0"/>
                <a:ea typeface="仿宋" panose="02010609060101010101" pitchFamily="49" charset="-122"/>
              </a:rPr>
              <a:t>e-marker</a:t>
            </a:r>
            <a:r>
              <a:rPr lang="zh-CN" altLang="zh-CN" sz="1800" b="1" kern="100" dirty="0">
                <a:effectLst/>
                <a:latin typeface="Times New Roman" panose="02020603050405020304" pitchFamily="18" charset="0"/>
                <a:ea typeface="仿宋" panose="02010609060101010101" pitchFamily="49" charset="-122"/>
              </a:rPr>
              <a:t>芯片</a:t>
            </a:r>
            <a:r>
              <a:rPr lang="zh-CN" altLang="en-US" sz="1800" b="1" kern="100" dirty="0">
                <a:effectLst/>
                <a:latin typeface="Times New Roman" panose="02020603050405020304" pitchFamily="18" charset="0"/>
                <a:ea typeface="仿宋" panose="02010609060101010101" pitchFamily="49" charset="-122"/>
              </a:rPr>
              <a:t>，</a:t>
            </a:r>
            <a:r>
              <a:rPr lang="en-US" altLang="zh-CN" sz="1800" b="1" kern="100" dirty="0">
                <a:effectLst/>
                <a:latin typeface="Times New Roman" panose="02020603050405020304" pitchFamily="18" charset="0"/>
                <a:ea typeface="仿宋" panose="02010609060101010101" pitchFamily="49" charset="-122"/>
              </a:rPr>
              <a:t>1200</a:t>
            </a:r>
            <a:r>
              <a:rPr lang="zh-CN" altLang="en-US" sz="1800" b="1" kern="100" dirty="0">
                <a:effectLst/>
                <a:latin typeface="Times New Roman" panose="02020603050405020304" pitchFamily="18" charset="0"/>
                <a:ea typeface="仿宋" panose="02010609060101010101" pitchFamily="49" charset="-122"/>
              </a:rPr>
              <a:t>万颗</a:t>
            </a:r>
            <a:r>
              <a:rPr lang="zh-CN" altLang="en-US" sz="1800" kern="100" dirty="0">
                <a:effectLst/>
                <a:latin typeface="Times New Roman" panose="02020603050405020304" pitchFamily="18" charset="0"/>
                <a:ea typeface="仿宋" panose="02010609060101010101" pitchFamily="49" charset="-122"/>
              </a:rPr>
              <a:t>电荷泵芯片，两者贡献收入合计</a:t>
            </a:r>
            <a:r>
              <a:rPr lang="en-US" altLang="zh-CN" sz="1800" kern="100" dirty="0">
                <a:effectLst/>
                <a:latin typeface="Times New Roman" panose="02020603050405020304" pitchFamily="18" charset="0"/>
                <a:ea typeface="仿宋" panose="02010609060101010101" pitchFamily="49" charset="-122"/>
              </a:rPr>
              <a:t>1</a:t>
            </a:r>
            <a:r>
              <a:rPr lang="zh-CN" altLang="en-US" sz="1800" kern="100" dirty="0">
                <a:effectLst/>
                <a:latin typeface="Times New Roman" panose="02020603050405020304" pitchFamily="18" charset="0"/>
                <a:ea typeface="仿宋" panose="02010609060101010101" pitchFamily="49" charset="-122"/>
              </a:rPr>
              <a:t>亿元。</a:t>
            </a:r>
            <a:endParaRPr lang="en-US" altLang="zh-CN" sz="1200" dirty="0">
              <a:latin typeface="仿宋" panose="02010609060101010101" pitchFamily="49" charset="-122"/>
              <a:ea typeface="仿宋"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仿宋" panose="02010609060101010101" pitchFamily="49" charset="-122"/>
                <a:ea typeface="仿宋" panose="02010609060101010101" pitchFamily="49" charset="-122"/>
              </a:rPr>
              <a:t>充电宝产品线</a:t>
            </a:r>
            <a:r>
              <a:rPr lang="en-US" altLang="zh-CN" sz="1200" dirty="0">
                <a:latin typeface="仿宋" panose="02010609060101010101" pitchFamily="49" charset="-122"/>
                <a:ea typeface="仿宋" panose="02010609060101010101" pitchFamily="49" charset="-122"/>
              </a:rPr>
              <a:t>:1,500</a:t>
            </a:r>
            <a:r>
              <a:rPr lang="zh-CN" altLang="en-US" sz="1200" dirty="0">
                <a:latin typeface="仿宋" panose="02010609060101010101" pitchFamily="49" charset="-122"/>
                <a:ea typeface="仿宋" panose="02010609060101010101" pitchFamily="49" charset="-122"/>
              </a:rPr>
              <a:t>万元</a:t>
            </a:r>
            <a:r>
              <a:rPr lang="zh-CN" altLang="zh-CN" sz="1200" dirty="0">
                <a:latin typeface="仿宋" panose="02010609060101010101" pitchFamily="49" charset="-122"/>
                <a:ea typeface="仿宋" panose="02010609060101010101" pitchFamily="49" charset="-122"/>
              </a:rPr>
              <a:t>；共享单车产品线</a:t>
            </a:r>
            <a:r>
              <a:rPr lang="zh-CN" altLang="en-US" sz="1200" dirty="0">
                <a:latin typeface="仿宋" panose="02010609060101010101" pitchFamily="49" charset="-122"/>
                <a:ea typeface="仿宋" panose="02010609060101010101" pitchFamily="49" charset="-122"/>
              </a:rPr>
              <a:t>：</a:t>
            </a:r>
            <a:r>
              <a:rPr lang="en-US" altLang="zh-CN" sz="1200" dirty="0">
                <a:latin typeface="仿宋" panose="02010609060101010101" pitchFamily="49" charset="-122"/>
                <a:ea typeface="仿宋" panose="02010609060101010101" pitchFamily="49" charset="-122"/>
              </a:rPr>
              <a:t>GPS</a:t>
            </a:r>
            <a:r>
              <a:rPr lang="zh-CN" altLang="zh-CN" sz="1200" dirty="0">
                <a:latin typeface="仿宋" panose="02010609060101010101" pitchFamily="49" charset="-122"/>
                <a:ea typeface="仿宋" panose="02010609060101010101" pitchFamily="49" charset="-122"/>
              </a:rPr>
              <a:t>方案</a:t>
            </a:r>
            <a:r>
              <a:rPr lang="en-US" altLang="zh-CN" sz="1200" dirty="0">
                <a:latin typeface="仿宋" panose="02010609060101010101" pitchFamily="49" charset="-122"/>
                <a:ea typeface="仿宋" panose="02010609060101010101" pitchFamily="49" charset="-122"/>
              </a:rPr>
              <a:t>-3,000</a:t>
            </a:r>
            <a:r>
              <a:rPr lang="zh-CN" altLang="zh-CN" sz="1200" dirty="0">
                <a:latin typeface="仿宋" panose="02010609060101010101" pitchFamily="49" charset="-122"/>
                <a:ea typeface="仿宋" panose="02010609060101010101" pitchFamily="49" charset="-122"/>
              </a:rPr>
              <a:t>万元</a:t>
            </a:r>
            <a:r>
              <a:rPr lang="zh-CN" altLang="en-US" sz="1200" dirty="0">
                <a:latin typeface="仿宋" panose="02010609060101010101" pitchFamily="49" charset="-122"/>
                <a:ea typeface="仿宋" panose="02010609060101010101" pitchFamily="49" charset="-122"/>
              </a:rPr>
              <a:t>，</a:t>
            </a:r>
            <a:r>
              <a:rPr lang="zh-CN" altLang="zh-CN" sz="1200" dirty="0">
                <a:latin typeface="仿宋" panose="02010609060101010101" pitchFamily="49" charset="-122"/>
                <a:ea typeface="仿宋" panose="02010609060101010101" pitchFamily="49" charset="-122"/>
              </a:rPr>
              <a:t>太阳能充电芯片</a:t>
            </a:r>
            <a:r>
              <a:rPr lang="en-US" altLang="zh-CN" sz="1200" dirty="0">
                <a:latin typeface="仿宋" panose="02010609060101010101" pitchFamily="49" charset="-122"/>
                <a:ea typeface="仿宋" panose="02010609060101010101" pitchFamily="49" charset="-122"/>
              </a:rPr>
              <a:t>-1,400</a:t>
            </a:r>
            <a:r>
              <a:rPr lang="zh-CN" altLang="zh-CN" sz="1200" dirty="0">
                <a:latin typeface="仿宋" panose="02010609060101010101" pitchFamily="49" charset="-122"/>
                <a:ea typeface="仿宋" panose="02010609060101010101" pitchFamily="49" charset="-122"/>
              </a:rPr>
              <a:t>万元</a:t>
            </a:r>
            <a:r>
              <a:rPr lang="zh-CN" altLang="en-US" sz="1200" dirty="0">
                <a:latin typeface="仿宋" panose="02010609060101010101" pitchFamily="49" charset="-122"/>
                <a:ea typeface="仿宋" panose="02010609060101010101" pitchFamily="49" charset="-122"/>
              </a:rPr>
              <a:t>；</a:t>
            </a:r>
            <a:r>
              <a:rPr lang="zh-CN" altLang="zh-CN" sz="1200" dirty="0">
                <a:latin typeface="仿宋" panose="02010609060101010101" pitchFamily="49" charset="-122"/>
                <a:ea typeface="仿宋" panose="02010609060101010101" pitchFamily="49" charset="-122"/>
              </a:rPr>
              <a:t>笔记本电脑产品线</a:t>
            </a:r>
            <a:r>
              <a:rPr lang="zh-CN" altLang="en-US" sz="1200" dirty="0">
                <a:latin typeface="仿宋" panose="02010609060101010101" pitchFamily="49" charset="-122"/>
                <a:ea typeface="仿宋" panose="02010609060101010101" pitchFamily="49" charset="-122"/>
              </a:rPr>
              <a:t>业绩比较稳定，在</a:t>
            </a:r>
            <a:r>
              <a:rPr lang="en-US" altLang="zh-CN" sz="1200" dirty="0">
                <a:latin typeface="仿宋" panose="02010609060101010101" pitchFamily="49" charset="-122"/>
                <a:ea typeface="仿宋" panose="02010609060101010101" pitchFamily="49" charset="-122"/>
              </a:rPr>
              <a:t>1000</a:t>
            </a:r>
            <a:r>
              <a:rPr lang="zh-CN" altLang="zh-CN" sz="1200" dirty="0">
                <a:latin typeface="仿宋" panose="02010609060101010101" pitchFamily="49" charset="-122"/>
                <a:ea typeface="仿宋" panose="02010609060101010101" pitchFamily="49" charset="-122"/>
              </a:rPr>
              <a:t>万元</a:t>
            </a:r>
            <a:r>
              <a:rPr lang="zh-CN" altLang="en-US" sz="1200" dirty="0">
                <a:latin typeface="仿宋" panose="02010609060101010101" pitchFamily="49" charset="-122"/>
                <a:ea typeface="仿宋" panose="02010609060101010101" pitchFamily="49" charset="-122"/>
              </a:rPr>
              <a:t>至</a:t>
            </a:r>
            <a:r>
              <a:rPr lang="en-US" altLang="zh-CN" sz="1200" dirty="0">
                <a:latin typeface="仿宋" panose="02010609060101010101" pitchFamily="49" charset="-122"/>
                <a:ea typeface="仿宋" panose="02010609060101010101" pitchFamily="49" charset="-122"/>
              </a:rPr>
              <a:t>1500</a:t>
            </a:r>
            <a:r>
              <a:rPr lang="zh-CN" altLang="en-US" sz="1200" dirty="0">
                <a:latin typeface="仿宋" panose="02010609060101010101" pitchFamily="49" charset="-122"/>
                <a:ea typeface="仿宋" panose="02010609060101010101" pitchFamily="49" charset="-122"/>
              </a:rPr>
              <a:t>万元之间；</a:t>
            </a:r>
            <a:endParaRPr lang="zh-CN" altLang="zh-CN" sz="1200" dirty="0">
              <a:latin typeface="仿宋" panose="02010609060101010101" pitchFamily="49" charset="-122"/>
              <a:ea typeface="仿宋"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仿宋" panose="02010609060101010101" pitchFamily="49" charset="-122"/>
              <a:ea typeface="仿宋"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仿宋" panose="02010609060101010101" pitchFamily="49" charset="-122"/>
              <a:ea typeface="仿宋"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EDB296A9-64E8-4B0F-8A40-DB128CAA2C51}" type="slidenum">
              <a:rPr lang="zh-CN" altLang="en-US" smtClean="0"/>
              <a:t>25</a:t>
            </a:fld>
            <a:endParaRPr lang="zh-CN" altLang="en-US"/>
          </a:p>
        </p:txBody>
      </p:sp>
    </p:spTree>
    <p:extLst>
      <p:ext uri="{BB962C8B-B14F-4D97-AF65-F5344CB8AC3E}">
        <p14:creationId xmlns:p14="http://schemas.microsoft.com/office/powerpoint/2010/main" val="1660555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DB296A9-64E8-4B0F-8A40-DB128CAA2C51}" type="slidenum">
              <a:rPr lang="zh-CN" altLang="en-US" smtClean="0"/>
              <a:t>26</a:t>
            </a:fld>
            <a:endParaRPr lang="zh-CN" altLang="en-US"/>
          </a:p>
        </p:txBody>
      </p:sp>
    </p:spTree>
    <p:extLst>
      <p:ext uri="{BB962C8B-B14F-4D97-AF65-F5344CB8AC3E}">
        <p14:creationId xmlns:p14="http://schemas.microsoft.com/office/powerpoint/2010/main" val="1817977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公司前</a:t>
            </a:r>
            <a:r>
              <a:rPr lang="en-US" altLang="zh-CN" dirty="0"/>
              <a:t>5</a:t>
            </a:r>
            <a:r>
              <a:rPr lang="zh-CN" altLang="en-US" dirty="0"/>
              <a:t>个月做了</a:t>
            </a:r>
            <a:r>
              <a:rPr lang="en-US" altLang="zh-CN" dirty="0"/>
              <a:t>3500</a:t>
            </a:r>
            <a:r>
              <a:rPr lang="zh-CN" altLang="en-US" dirty="0"/>
              <a:t>万元营收，实现了微亏不到</a:t>
            </a:r>
            <a:r>
              <a:rPr lang="en-US" altLang="zh-CN" dirty="0"/>
              <a:t>200</a:t>
            </a:r>
            <a:r>
              <a:rPr lang="zh-CN" altLang="en-US" dirty="0"/>
              <a:t>万，公司整理盈利能力较强。目前在手订单平均每个月近千万元。</a:t>
            </a:r>
            <a:endParaRPr lang="en-US" altLang="zh-CN" dirty="0"/>
          </a:p>
          <a:p>
            <a:r>
              <a:rPr lang="zh-CN" altLang="en-US" dirty="0"/>
              <a:t>毛利率方面，</a:t>
            </a:r>
            <a:r>
              <a:rPr lang="en-US" altLang="zh-CN" dirty="0"/>
              <a:t>1-4</a:t>
            </a:r>
            <a:r>
              <a:rPr lang="zh-CN" altLang="en-US" dirty="0"/>
              <a:t>月的尽调报告显示公司整体毛利率在</a:t>
            </a:r>
            <a:r>
              <a:rPr lang="en-US" altLang="zh-CN" sz="1800" b="1" kern="100" dirty="0">
                <a:effectLst/>
                <a:latin typeface="仿宋" panose="02010609060101010101" pitchFamily="49" charset="-122"/>
                <a:cs typeface="Times New Roman" panose="02020603050405020304" pitchFamily="18" charset="0"/>
              </a:rPr>
              <a:t>53.87%</a:t>
            </a:r>
            <a:r>
              <a:rPr lang="zh-CN" altLang="en-US" sz="1800" b="1" kern="100" dirty="0">
                <a:effectLst/>
                <a:latin typeface="仿宋" panose="02010609060101010101" pitchFamily="49" charset="-122"/>
                <a:cs typeface="Times New Roman" panose="02020603050405020304" pitchFamily="18" charset="0"/>
              </a:rPr>
              <a:t>。</a:t>
            </a:r>
            <a:r>
              <a:rPr lang="zh-CN" altLang="en-US" dirty="0"/>
              <a:t>公司的预测比较保守。</a:t>
            </a:r>
            <a:endParaRPr lang="en-US" altLang="zh-CN" dirty="0"/>
          </a:p>
          <a:p>
            <a:r>
              <a:rPr lang="zh-CN" altLang="en-US" dirty="0"/>
              <a:t>预计</a:t>
            </a:r>
            <a:r>
              <a:rPr lang="en-US" altLang="zh-CN" dirty="0"/>
              <a:t>2022</a:t>
            </a:r>
            <a:r>
              <a:rPr lang="zh-CN" altLang="en-US" dirty="0"/>
              <a:t>年营收达到</a:t>
            </a:r>
            <a:r>
              <a:rPr lang="en-US" altLang="zh-CN" dirty="0"/>
              <a:t>4.2</a:t>
            </a:r>
            <a:r>
              <a:rPr lang="zh-CN" altLang="en-US" dirty="0"/>
              <a:t>亿元，净利润在</a:t>
            </a:r>
            <a:r>
              <a:rPr lang="en-US" altLang="zh-CN" dirty="0"/>
              <a:t>1</a:t>
            </a:r>
            <a:r>
              <a:rPr lang="zh-CN" altLang="en-US" dirty="0"/>
              <a:t>亿左右。</a:t>
            </a:r>
            <a:r>
              <a:rPr lang="en-US" altLang="zh-CN" dirty="0"/>
              <a:t>2023</a:t>
            </a:r>
            <a:r>
              <a:rPr lang="zh-CN" altLang="en-US" dirty="0"/>
              <a:t>年营收预计</a:t>
            </a:r>
            <a:r>
              <a:rPr lang="en-US" altLang="zh-CN" dirty="0"/>
              <a:t>6.5</a:t>
            </a:r>
            <a:r>
              <a:rPr lang="zh-CN" altLang="en-US" dirty="0"/>
              <a:t>亿元，净利润达</a:t>
            </a:r>
            <a:r>
              <a:rPr lang="en-US" altLang="zh-CN" dirty="0"/>
              <a:t>1,87</a:t>
            </a:r>
            <a:r>
              <a:rPr lang="zh-CN" altLang="en-US" dirty="0"/>
              <a:t>亿元。</a:t>
            </a:r>
            <a:endParaRPr lang="en-US" altLang="zh-CN" dirty="0"/>
          </a:p>
          <a:p>
            <a:r>
              <a:rPr lang="en-US" altLang="zh-CN" dirty="0"/>
              <a:t>2025</a:t>
            </a:r>
            <a:r>
              <a:rPr lang="zh-CN" altLang="en-US" dirty="0"/>
              <a:t>年左右，营收有望突破</a:t>
            </a:r>
            <a:r>
              <a:rPr lang="en-US" altLang="zh-CN" dirty="0"/>
              <a:t>10</a:t>
            </a:r>
            <a:r>
              <a:rPr lang="zh-CN" altLang="en-US" dirty="0"/>
              <a:t>亿元。</a:t>
            </a:r>
          </a:p>
        </p:txBody>
      </p:sp>
      <p:sp>
        <p:nvSpPr>
          <p:cNvPr id="4" name="灯片编号占位符 3"/>
          <p:cNvSpPr>
            <a:spLocks noGrp="1"/>
          </p:cNvSpPr>
          <p:nvPr>
            <p:ph type="sldNum" sz="quarter" idx="5"/>
          </p:nvPr>
        </p:nvSpPr>
        <p:spPr/>
        <p:txBody>
          <a:bodyPr/>
          <a:lstStyle/>
          <a:p>
            <a:fld id="{EDB296A9-64E8-4B0F-8A40-DB128CAA2C51}" type="slidenum">
              <a:rPr lang="zh-CN" altLang="en-US" smtClean="0"/>
              <a:t>27</a:t>
            </a:fld>
            <a:endParaRPr lang="zh-CN" altLang="en-US"/>
          </a:p>
        </p:txBody>
      </p:sp>
    </p:spTree>
    <p:extLst>
      <p:ext uri="{BB962C8B-B14F-4D97-AF65-F5344CB8AC3E}">
        <p14:creationId xmlns:p14="http://schemas.microsoft.com/office/powerpoint/2010/main" val="33786841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比较重要的一个假设，</a:t>
            </a:r>
            <a:r>
              <a:rPr lang="en-US" altLang="zh-CN" sz="1200" dirty="0">
                <a:latin typeface="仿宋" panose="02010609060101010101" pitchFamily="49" charset="-122"/>
                <a:ea typeface="仿宋" panose="02010609060101010101" pitchFamily="49" charset="-122"/>
              </a:rPr>
              <a:t>MTM</a:t>
            </a:r>
            <a:r>
              <a:rPr lang="zh-CN" altLang="en-US" sz="1200" dirty="0">
                <a:latin typeface="仿宋" panose="02010609060101010101" pitchFamily="49" charset="-122"/>
                <a:ea typeface="仿宋" panose="02010609060101010101" pitchFamily="49" charset="-122"/>
              </a:rPr>
              <a:t>预测：</a:t>
            </a:r>
            <a:r>
              <a:rPr lang="en-US" altLang="zh-CN" sz="1200" dirty="0">
                <a:latin typeface="仿宋" panose="02010609060101010101" pitchFamily="49" charset="-122"/>
                <a:ea typeface="仿宋" panose="02010609060101010101" pitchFamily="49" charset="-122"/>
              </a:rPr>
              <a:t>2021</a:t>
            </a:r>
            <a:r>
              <a:rPr lang="zh-CN" altLang="zh-CN" sz="1200" dirty="0">
                <a:latin typeface="仿宋" panose="02010609060101010101" pitchFamily="49" charset="-122"/>
                <a:ea typeface="仿宋" panose="02010609060101010101" pitchFamily="49" charset="-122"/>
              </a:rPr>
              <a:t>年</a:t>
            </a:r>
            <a:r>
              <a:rPr lang="en-US" altLang="zh-CN" sz="1200" dirty="0">
                <a:latin typeface="仿宋" panose="02010609060101010101" pitchFamily="49" charset="-122"/>
                <a:ea typeface="仿宋" panose="02010609060101010101" pitchFamily="49" charset="-122"/>
              </a:rPr>
              <a:t>OPPO</a:t>
            </a:r>
            <a:r>
              <a:rPr lang="zh-CN" altLang="en-US" sz="1200" dirty="0">
                <a:latin typeface="仿宋" panose="02010609060101010101" pitchFamily="49" charset="-122"/>
                <a:ea typeface="仿宋" panose="02010609060101010101" pitchFamily="49" charset="-122"/>
              </a:rPr>
              <a:t>（包含</a:t>
            </a:r>
            <a:r>
              <a:rPr lang="en-US" altLang="zh-CN" sz="1200" dirty="0" err="1">
                <a:latin typeface="仿宋" panose="02010609060101010101" pitchFamily="49" charset="-122"/>
                <a:ea typeface="仿宋" panose="02010609060101010101" pitchFamily="49" charset="-122"/>
              </a:rPr>
              <a:t>realme</a:t>
            </a:r>
            <a:r>
              <a:rPr lang="zh-CN" altLang="en-US" sz="1200" dirty="0">
                <a:latin typeface="仿宋" panose="02010609060101010101" pitchFamily="49" charset="-122"/>
                <a:ea typeface="仿宋" panose="02010609060101010101" pitchFamily="49" charset="-122"/>
              </a:rPr>
              <a:t>子品牌）</a:t>
            </a:r>
            <a:r>
              <a:rPr lang="zh-CN" altLang="zh-CN" sz="1200" dirty="0">
                <a:latin typeface="仿宋" panose="02010609060101010101" pitchFamily="49" charset="-122"/>
                <a:ea typeface="仿宋" panose="02010609060101010101" pitchFamily="49" charset="-122"/>
              </a:rPr>
              <a:t>全球出货量预计从</a:t>
            </a:r>
            <a:r>
              <a:rPr lang="en-US" altLang="zh-CN" sz="1200" dirty="0">
                <a:latin typeface="仿宋" panose="02010609060101010101" pitchFamily="49" charset="-122"/>
                <a:ea typeface="仿宋" panose="02010609060101010101" pitchFamily="49" charset="-122"/>
              </a:rPr>
              <a:t>1.5</a:t>
            </a:r>
            <a:r>
              <a:rPr lang="zh-CN" altLang="zh-CN" sz="1200" dirty="0">
                <a:latin typeface="仿宋" panose="02010609060101010101" pitchFamily="49" charset="-122"/>
                <a:ea typeface="仿宋" panose="02010609060101010101" pitchFamily="49" charset="-122"/>
              </a:rPr>
              <a:t>亿台增长至</a:t>
            </a:r>
            <a:r>
              <a:rPr lang="en-US" altLang="zh-CN" sz="1200" dirty="0">
                <a:latin typeface="仿宋" panose="02010609060101010101" pitchFamily="49" charset="-122"/>
                <a:ea typeface="仿宋" panose="02010609060101010101" pitchFamily="49" charset="-122"/>
              </a:rPr>
              <a:t>1.9</a:t>
            </a:r>
            <a:r>
              <a:rPr lang="zh-CN" altLang="zh-CN" sz="1200" dirty="0">
                <a:latin typeface="仿宋" panose="02010609060101010101" pitchFamily="49" charset="-122"/>
                <a:ea typeface="仿宋" panose="02010609060101010101" pitchFamily="49" charset="-122"/>
              </a:rPr>
              <a:t>亿台。</a:t>
            </a:r>
            <a:r>
              <a:rPr lang="zh-CN" altLang="en-US" sz="1200" dirty="0">
                <a:latin typeface="仿宋" panose="02010609060101010101" pitchFamily="49" charset="-122"/>
                <a:ea typeface="仿宋" panose="02010609060101010101" pitchFamily="49" charset="-122"/>
              </a:rPr>
              <a:t>，主要是</a:t>
            </a:r>
            <a:r>
              <a:rPr lang="en-US" altLang="zh-CN" sz="1200" dirty="0" err="1">
                <a:latin typeface="仿宋" panose="02010609060101010101" pitchFamily="49" charset="-122"/>
                <a:ea typeface="仿宋" panose="02010609060101010101" pitchFamily="49" charset="-122"/>
              </a:rPr>
              <a:t>realme</a:t>
            </a:r>
            <a:r>
              <a:rPr lang="zh-CN" altLang="en-US" sz="1200" dirty="0">
                <a:latin typeface="仿宋" panose="02010609060101010101" pitchFamily="49" charset="-122"/>
                <a:ea typeface="仿宋" panose="02010609060101010101" pitchFamily="49" charset="-122"/>
              </a:rPr>
              <a:t>增长速度近乎翻倍；</a:t>
            </a:r>
            <a:r>
              <a:rPr lang="zh-CN" altLang="zh-CN" sz="1200" dirty="0">
                <a:latin typeface="仿宋" panose="02010609060101010101" pitchFamily="49" charset="-122"/>
                <a:ea typeface="仿宋" panose="02010609060101010101" pitchFamily="49" charset="-122"/>
              </a:rPr>
              <a:t>公司另外</a:t>
            </a:r>
            <a:r>
              <a:rPr lang="en-US" altLang="zh-CN" sz="1200" dirty="0">
                <a:latin typeface="仿宋" panose="02010609060101010101" pitchFamily="49" charset="-122"/>
                <a:ea typeface="仿宋" panose="02010609060101010101" pitchFamily="49" charset="-122"/>
              </a:rPr>
              <a:t>3</a:t>
            </a:r>
            <a:r>
              <a:rPr lang="zh-CN" altLang="zh-CN" sz="1200" dirty="0">
                <a:latin typeface="仿宋" panose="02010609060101010101" pitchFamily="49" charset="-122"/>
                <a:ea typeface="仿宋" panose="02010609060101010101" pitchFamily="49" charset="-122"/>
              </a:rPr>
              <a:t>颗芯片在</a:t>
            </a:r>
            <a:r>
              <a:rPr lang="en-US" altLang="zh-CN" sz="1200" dirty="0">
                <a:latin typeface="仿宋" panose="02010609060101010101" pitchFamily="49" charset="-122"/>
                <a:ea typeface="仿宋" panose="02010609060101010101" pitchFamily="49" charset="-122"/>
              </a:rPr>
              <a:t>2021</a:t>
            </a:r>
            <a:r>
              <a:rPr lang="zh-CN" altLang="zh-CN" sz="1200" dirty="0">
                <a:latin typeface="仿宋" panose="02010609060101010101" pitchFamily="49" charset="-122"/>
                <a:ea typeface="仿宋" panose="02010609060101010101" pitchFamily="49" charset="-122"/>
              </a:rPr>
              <a:t>年完成</a:t>
            </a:r>
            <a:r>
              <a:rPr lang="en-US" altLang="zh-CN" sz="1200" dirty="0">
                <a:latin typeface="仿宋" panose="02010609060101010101" pitchFamily="49" charset="-122"/>
                <a:ea typeface="仿宋" panose="02010609060101010101" pitchFamily="49" charset="-122"/>
              </a:rPr>
              <a:t>OPPO</a:t>
            </a:r>
            <a:r>
              <a:rPr lang="zh-CN" altLang="zh-CN" sz="1200" dirty="0">
                <a:latin typeface="仿宋" panose="02010609060101010101" pitchFamily="49" charset="-122"/>
                <a:ea typeface="仿宋" panose="02010609060101010101" pitchFamily="49" charset="-122"/>
              </a:rPr>
              <a:t>的导入验证工作。</a:t>
            </a:r>
            <a:endParaRPr lang="en-US" altLang="zh-CN" sz="1200" dirty="0">
              <a:latin typeface="仿宋" panose="02010609060101010101" pitchFamily="49" charset="-122"/>
              <a:ea typeface="仿宋" panose="02010609060101010101" pitchFamily="49" charset="-122"/>
            </a:endParaRPr>
          </a:p>
          <a:p>
            <a:r>
              <a:rPr lang="zh-CN" altLang="en-US" sz="1200" dirty="0">
                <a:latin typeface="仿宋" panose="02010609060101010101" pitchFamily="49" charset="-122"/>
                <a:ea typeface="仿宋" panose="02010609060101010101" pitchFamily="49" charset="-122"/>
              </a:rPr>
              <a:t>公司双串电池管理芯片下半年将在小米爬坡量产；前置电荷泵芯片年底量产并将导入到</a:t>
            </a:r>
            <a:r>
              <a:rPr lang="en-US" altLang="zh-CN" sz="1200" dirty="0">
                <a:latin typeface="仿宋" panose="02010609060101010101" pitchFamily="49" charset="-122"/>
                <a:ea typeface="仿宋" panose="02010609060101010101" pitchFamily="49" charset="-122"/>
              </a:rPr>
              <a:t>OPPO</a:t>
            </a:r>
            <a:r>
              <a:rPr lang="zh-CN" altLang="en-US" sz="1200" dirty="0">
                <a:latin typeface="仿宋" panose="02010609060101010101" pitchFamily="49" charset="-122"/>
                <a:ea typeface="仿宋" panose="02010609060101010101" pitchFamily="49" charset="-122"/>
              </a:rPr>
              <a:t>、小米、</a:t>
            </a:r>
            <a:r>
              <a:rPr lang="en-US" altLang="zh-CN" sz="1200" dirty="0">
                <a:latin typeface="仿宋" panose="02010609060101010101" pitchFamily="49" charset="-122"/>
                <a:ea typeface="仿宋" panose="02010609060101010101" pitchFamily="49" charset="-122"/>
              </a:rPr>
              <a:t>vivo</a:t>
            </a:r>
            <a:r>
              <a:rPr lang="zh-CN" altLang="en-US" sz="1200" dirty="0">
                <a:latin typeface="仿宋" panose="02010609060101010101" pitchFamily="49" charset="-122"/>
                <a:ea typeface="仿宋" panose="02010609060101010101" pitchFamily="49" charset="-122"/>
              </a:rPr>
              <a:t>等中高端手机中。</a:t>
            </a:r>
            <a:endParaRPr lang="en-US" altLang="zh-CN" dirty="0"/>
          </a:p>
          <a:p>
            <a:r>
              <a:rPr lang="zh-CN" altLang="en-US" dirty="0"/>
              <a:t>国产替代需求放量，大瞬科技的市场占有率也会快速提高，在高端市场和</a:t>
            </a:r>
            <a:r>
              <a:rPr lang="en-US" altLang="zh-CN" dirty="0"/>
              <a:t>TI</a:t>
            </a:r>
            <a:r>
              <a:rPr lang="zh-CN" altLang="en-US" dirty="0"/>
              <a:t>等极少数欧美厂商</a:t>
            </a:r>
            <a:r>
              <a:rPr lang="en-US" altLang="zh-CN" dirty="0"/>
              <a:t>share</a:t>
            </a:r>
            <a:r>
              <a:rPr lang="zh-CN" altLang="en-US" dirty="0"/>
              <a:t>市场份额。</a:t>
            </a:r>
            <a:endParaRPr lang="en-US" altLang="zh-CN" dirty="0"/>
          </a:p>
          <a:p>
            <a:r>
              <a:rPr lang="zh-CN" altLang="en-US" dirty="0"/>
              <a:t>在回报率方面，</a:t>
            </a:r>
            <a:r>
              <a:rPr lang="en-US" altLang="zh-CN" dirty="0"/>
              <a:t>23</a:t>
            </a:r>
            <a:r>
              <a:rPr lang="zh-CN" altLang="en-US" dirty="0"/>
              <a:t>年</a:t>
            </a:r>
            <a:r>
              <a:rPr lang="en-US" altLang="zh-CN" dirty="0"/>
              <a:t>IPO</a:t>
            </a:r>
            <a:r>
              <a:rPr lang="zh-CN" altLang="en-US" dirty="0"/>
              <a:t>申报，</a:t>
            </a:r>
            <a:r>
              <a:rPr lang="en-US" altLang="zh-CN" dirty="0"/>
              <a:t>24</a:t>
            </a:r>
            <a:r>
              <a:rPr lang="zh-CN" altLang="en-US" dirty="0"/>
              <a:t>年退出，考虑到未来注册制的成熟化，按</a:t>
            </a:r>
            <a:r>
              <a:rPr lang="en-US" altLang="zh-CN" dirty="0"/>
              <a:t>45</a:t>
            </a:r>
            <a:r>
              <a:rPr lang="zh-CN" altLang="en-US" dirty="0"/>
              <a:t>倍</a:t>
            </a:r>
            <a:r>
              <a:rPr lang="en-US" altLang="zh-CN" dirty="0"/>
              <a:t>PE</a:t>
            </a:r>
            <a:r>
              <a:rPr lang="zh-CN" altLang="en-US" dirty="0"/>
              <a:t>退出，</a:t>
            </a:r>
            <a:r>
              <a:rPr lang="en-US" altLang="zh-CN" dirty="0"/>
              <a:t>IRR</a:t>
            </a:r>
            <a:r>
              <a:rPr lang="zh-CN" altLang="en-US" dirty="0"/>
              <a:t>在</a:t>
            </a:r>
            <a:r>
              <a:rPr lang="en-US" altLang="zh-CN" dirty="0"/>
              <a:t>61%</a:t>
            </a:r>
            <a:r>
              <a:rPr lang="zh-CN" altLang="en-US" dirty="0"/>
              <a:t>。</a:t>
            </a:r>
          </a:p>
        </p:txBody>
      </p:sp>
      <p:sp>
        <p:nvSpPr>
          <p:cNvPr id="4" name="灯片编号占位符 3"/>
          <p:cNvSpPr>
            <a:spLocks noGrp="1"/>
          </p:cNvSpPr>
          <p:nvPr>
            <p:ph type="sldNum" sz="quarter" idx="5"/>
          </p:nvPr>
        </p:nvSpPr>
        <p:spPr/>
        <p:txBody>
          <a:bodyPr/>
          <a:lstStyle/>
          <a:p>
            <a:fld id="{EDB296A9-64E8-4B0F-8A40-DB128CAA2C51}" type="slidenum">
              <a:rPr lang="zh-CN" altLang="en-US" smtClean="0"/>
              <a:t>28</a:t>
            </a:fld>
            <a:endParaRPr lang="zh-CN" altLang="en-US"/>
          </a:p>
        </p:txBody>
      </p:sp>
    </p:spTree>
    <p:extLst>
      <p:ext uri="{BB962C8B-B14F-4D97-AF65-F5344CB8AC3E}">
        <p14:creationId xmlns:p14="http://schemas.microsoft.com/office/powerpoint/2010/main" val="8627732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目前的行情下，强大的供应链安全，彰显企业的行业地位。在晶圆厂端，大瞬基本享受</a:t>
            </a:r>
            <a:r>
              <a:rPr lang="en-US" altLang="zh-CN" dirty="0"/>
              <a:t>VIP</a:t>
            </a:r>
            <a:r>
              <a:rPr lang="zh-CN" altLang="en-US" dirty="0"/>
              <a:t>待遇。团队在全球范围内的产业地位受到尊重；客户访谈对大瞬比较认可，没有拿到账期的代理商也无可奈何。</a:t>
            </a:r>
            <a:endParaRPr lang="en-US" altLang="zh-CN" dirty="0"/>
          </a:p>
          <a:p>
            <a:r>
              <a:rPr lang="zh-CN" altLang="en-US" dirty="0"/>
              <a:t>在上下游资源上，公司具有其他同类公司无法比拟的优势。</a:t>
            </a:r>
            <a:endParaRPr lang="en-US" altLang="zh-CN" dirty="0"/>
          </a:p>
        </p:txBody>
      </p:sp>
      <p:sp>
        <p:nvSpPr>
          <p:cNvPr id="4" name="灯片编号占位符 3"/>
          <p:cNvSpPr>
            <a:spLocks noGrp="1"/>
          </p:cNvSpPr>
          <p:nvPr>
            <p:ph type="sldNum" sz="quarter" idx="5"/>
          </p:nvPr>
        </p:nvSpPr>
        <p:spPr/>
        <p:txBody>
          <a:bodyPr/>
          <a:lstStyle/>
          <a:p>
            <a:fld id="{EDB296A9-64E8-4B0F-8A40-DB128CAA2C51}" type="slidenum">
              <a:rPr lang="zh-CN" altLang="en-US" smtClean="0"/>
              <a:t>29</a:t>
            </a:fld>
            <a:endParaRPr lang="zh-CN" altLang="en-US"/>
          </a:p>
        </p:txBody>
      </p:sp>
    </p:spTree>
    <p:extLst>
      <p:ext uri="{BB962C8B-B14F-4D97-AF65-F5344CB8AC3E}">
        <p14:creationId xmlns:p14="http://schemas.microsoft.com/office/powerpoint/2010/main" val="20204331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EDB296A9-64E8-4B0F-8A40-DB128CAA2C51}" type="slidenum">
              <a:rPr lang="zh-CN" altLang="en-US" smtClean="0"/>
              <a:t>30</a:t>
            </a:fld>
            <a:endParaRPr lang="zh-CN" altLang="en-US"/>
          </a:p>
        </p:txBody>
      </p:sp>
    </p:spTree>
    <p:extLst>
      <p:ext uri="{BB962C8B-B14F-4D97-AF65-F5344CB8AC3E}">
        <p14:creationId xmlns:p14="http://schemas.microsoft.com/office/powerpoint/2010/main" val="35366004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错过</a:t>
            </a:r>
            <a:r>
              <a:rPr lang="en-US" altLang="zh-CN" dirty="0"/>
              <a:t>TWS</a:t>
            </a:r>
            <a:r>
              <a:rPr lang="zh-CN" altLang="en-US" dirty="0"/>
              <a:t>的恒玄，不能错过快充的恒玄；</a:t>
            </a:r>
          </a:p>
        </p:txBody>
      </p:sp>
      <p:sp>
        <p:nvSpPr>
          <p:cNvPr id="4" name="灯片编号占位符 3"/>
          <p:cNvSpPr>
            <a:spLocks noGrp="1"/>
          </p:cNvSpPr>
          <p:nvPr>
            <p:ph type="sldNum" sz="quarter" idx="5"/>
          </p:nvPr>
        </p:nvSpPr>
        <p:spPr/>
        <p:txBody>
          <a:bodyPr/>
          <a:lstStyle/>
          <a:p>
            <a:fld id="{EDB296A9-64E8-4B0F-8A40-DB128CAA2C51}" type="slidenum">
              <a:rPr lang="zh-CN" altLang="en-US" smtClean="0"/>
              <a:t>31</a:t>
            </a:fld>
            <a:endParaRPr lang="zh-CN" altLang="en-US"/>
          </a:p>
        </p:txBody>
      </p:sp>
    </p:spTree>
    <p:extLst>
      <p:ext uri="{BB962C8B-B14F-4D97-AF65-F5344CB8AC3E}">
        <p14:creationId xmlns:p14="http://schemas.microsoft.com/office/powerpoint/2010/main" val="6142487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ea typeface="仿宋" panose="02010609060101010101" pitchFamily="49" charset="-122"/>
                <a:cs typeface="Times New Roman" panose="02020603050405020304" pitchFamily="18" charset="0"/>
              </a:rPr>
              <a:t>丰艺电子是</a:t>
            </a:r>
            <a:r>
              <a:rPr lang="en-US" altLang="zh-CN" sz="1800" dirty="0">
                <a:effectLst/>
                <a:ea typeface="仿宋" panose="02010609060101010101" pitchFamily="49" charset="-122"/>
                <a:cs typeface="Times New Roman" panose="02020603050405020304" pitchFamily="18" charset="0"/>
              </a:rPr>
              <a:t>30</a:t>
            </a:r>
            <a:r>
              <a:rPr lang="zh-CN" altLang="zh-CN" sz="1800" dirty="0">
                <a:effectLst/>
                <a:ea typeface="仿宋" panose="02010609060101010101" pitchFamily="49" charset="-122"/>
                <a:cs typeface="Times New Roman" panose="02020603050405020304" pitchFamily="18" charset="0"/>
              </a:rPr>
              <a:t>多年的老牌代理商</a:t>
            </a:r>
            <a:r>
              <a:rPr lang="zh-CN" altLang="en-US" sz="1800" dirty="0">
                <a:effectLst/>
                <a:ea typeface="仿宋" panose="02010609060101010101" pitchFamily="49" charset="-122"/>
                <a:cs typeface="Times New Roman" panose="02020603050405020304" pitchFamily="18" charset="0"/>
              </a:rPr>
              <a:t>，产品代理门槛很高，</a:t>
            </a:r>
            <a:r>
              <a:rPr lang="zh-CN" altLang="zh-CN" sz="1800" dirty="0">
                <a:effectLst/>
                <a:ea typeface="仿宋" panose="02010609060101010101" pitchFamily="49" charset="-122"/>
                <a:cs typeface="Times New Roman" panose="02020603050405020304" pitchFamily="18" charset="0"/>
              </a:rPr>
              <a:t>要求是一是被市场认可的产品，另外发展有前瞻性发展机会的产品；最重要是要匹配公司的市场。</a:t>
            </a:r>
            <a:endParaRPr lang="en-US" altLang="zh-CN" sz="1800" dirty="0">
              <a:effectLst/>
              <a:ea typeface="仿宋" panose="02010609060101010101" pitchFamily="49" charset="-122"/>
              <a:cs typeface="Times New Roman" panose="02020603050405020304" pitchFamily="18" charset="0"/>
            </a:endParaRPr>
          </a:p>
          <a:p>
            <a:r>
              <a:rPr lang="zh-CN" altLang="en-US" sz="1800" dirty="0">
                <a:effectLst/>
                <a:ea typeface="仿宋" panose="02010609060101010101" pitchFamily="49" charset="-122"/>
                <a:cs typeface="Times New Roman" panose="02020603050405020304" pitchFamily="18" charset="0"/>
              </a:rPr>
              <a:t>晶圆厂这块，企业这两天说可以开放</a:t>
            </a:r>
            <a:r>
              <a:rPr lang="en-US" altLang="zh-CN" sz="1800" dirty="0">
                <a:effectLst/>
                <a:ea typeface="仿宋" panose="02010609060101010101" pitchFamily="49" charset="-122"/>
                <a:cs typeface="Times New Roman" panose="02020603050405020304" pitchFamily="18" charset="0"/>
              </a:rPr>
              <a:t>FAB</a:t>
            </a:r>
            <a:r>
              <a:rPr lang="zh-CN" altLang="en-US" sz="1800" dirty="0">
                <a:effectLst/>
                <a:ea typeface="仿宋" panose="02010609060101010101" pitchFamily="49" charset="-122"/>
                <a:cs typeface="Times New Roman" panose="02020603050405020304" pitchFamily="18" charset="0"/>
              </a:rPr>
              <a:t>厂销售人员窗口供我们访谈。立项之后，我们尽快做一下访谈。</a:t>
            </a:r>
            <a:endParaRPr lang="zh-CN" altLang="en-US" dirty="0"/>
          </a:p>
        </p:txBody>
      </p:sp>
      <p:sp>
        <p:nvSpPr>
          <p:cNvPr id="4" name="灯片编号占位符 3"/>
          <p:cNvSpPr>
            <a:spLocks noGrp="1"/>
          </p:cNvSpPr>
          <p:nvPr>
            <p:ph type="sldNum" sz="quarter" idx="5"/>
          </p:nvPr>
        </p:nvSpPr>
        <p:spPr/>
        <p:txBody>
          <a:bodyPr/>
          <a:lstStyle/>
          <a:p>
            <a:fld id="{EDB296A9-64E8-4B0F-8A40-DB128CAA2C51}" type="slidenum">
              <a:rPr lang="zh-CN" altLang="en-US" smtClean="0"/>
              <a:t>33</a:t>
            </a:fld>
            <a:endParaRPr lang="zh-CN" altLang="en-US"/>
          </a:p>
        </p:txBody>
      </p:sp>
    </p:spTree>
    <p:extLst>
      <p:ext uri="{BB962C8B-B14F-4D97-AF65-F5344CB8AC3E}">
        <p14:creationId xmlns:p14="http://schemas.microsoft.com/office/powerpoint/2010/main" val="322612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1" y="1598051"/>
            <a:ext cx="7772412" cy="1102679"/>
          </a:xfrm>
        </p:spPr>
        <p:txBody>
          <a:bodyPr/>
          <a:lstStyle/>
          <a:p>
            <a:pPr fontAlgn="base"/>
            <a:r>
              <a:rPr lang="zh-CN" altLang="en-US" sz="3265"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2" y="2915073"/>
            <a:ext cx="6400810" cy="1314641"/>
          </a:xfrm>
        </p:spPr>
        <p:txBody>
          <a:bodyPr/>
          <a:lstStyle>
            <a:lvl1pPr marL="0" indent="0" algn="ctr">
              <a:buNone/>
              <a:defRPr/>
            </a:lvl1pPr>
            <a:lvl2pPr marL="339725" indent="0" algn="ctr">
              <a:buNone/>
              <a:defRPr/>
            </a:lvl2pPr>
            <a:lvl3pPr marL="679450" indent="0" algn="ctr">
              <a:buNone/>
              <a:defRPr/>
            </a:lvl3pPr>
            <a:lvl4pPr marL="1018540" indent="0" algn="ctr">
              <a:buNone/>
              <a:defRPr/>
            </a:lvl4pPr>
            <a:lvl5pPr marL="1358265" indent="0" algn="ctr">
              <a:buNone/>
              <a:defRPr/>
            </a:lvl5pPr>
            <a:lvl6pPr marL="1697355" indent="0" algn="ctr">
              <a:buNone/>
              <a:defRPr/>
            </a:lvl6pPr>
            <a:lvl7pPr marL="2037080" indent="0" algn="ctr">
              <a:buNone/>
              <a:defRPr/>
            </a:lvl7pPr>
            <a:lvl8pPr marL="2376805" indent="0" algn="ctr">
              <a:buNone/>
              <a:defRPr/>
            </a:lvl8pPr>
            <a:lvl9pPr marL="2715895" indent="0" algn="ctr">
              <a:buNone/>
              <a:defRPr/>
            </a:lvl9pPr>
          </a:lstStyle>
          <a:p>
            <a:pPr fontAlgn="base"/>
            <a:r>
              <a:rPr lang="zh-CN" altLang="en-US" sz="2380" strike="noStrike" noProof="1"/>
              <a:t>单击此处编辑母版副标题样式</a:t>
            </a:r>
            <a:endParaRPr lang="zh-CN" altLang="en-US" strike="noStrike" noProof="1"/>
          </a:p>
        </p:txBody>
      </p:sp>
      <p:sp>
        <p:nvSpPr>
          <p:cNvPr id="10" name="日期占位符 3"/>
          <p:cNvSpPr>
            <a:spLocks noGrp="1" noChangeArrowheads="1"/>
          </p:cNvSpPr>
          <p:nvPr>
            <p:ph type="dt" sz="half" idx="2"/>
          </p:nvPr>
        </p:nvSpPr>
        <p:spPr bwMode="auto">
          <a:xfrm>
            <a:off x="6553200" y="4768850"/>
            <a:ext cx="2133600" cy="273050"/>
          </a:xfrm>
          <a:prstGeom prst="rect">
            <a:avLst/>
          </a:prstGeom>
          <a:noFill/>
          <a:ln w="9525">
            <a:noFill/>
            <a:miter lim="800000"/>
          </a:ln>
        </p:spPr>
        <p:txBody>
          <a:bodyPr vert="horz" wrap="square" lIns="99798" tIns="49899" rIns="99798" bIns="49899" numCol="1" anchor="ctr" anchorCtr="0" compatLnSpc="1"/>
          <a:lstStyle>
            <a:lvl1pPr>
              <a:buFont typeface="Arial" panose="020B0604020202020204" pitchFamily="34" charset="0"/>
              <a:buNone/>
              <a:defRPr sz="885">
                <a:solidFill>
                  <a:srgbClr val="898989"/>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308381-8264-4782-9D38-F8048B215598}" type="datetime1">
              <a:rPr kumimoji="0" lang="zh-CN" altLang="en-US" sz="1300" b="0" i="0" u="none" strike="noStrike" kern="1200" cap="none" spc="0" normalizeH="0" baseline="0" noProof="0" smtClean="0">
                <a:ln>
                  <a:noFill/>
                </a:ln>
                <a:solidFill>
                  <a:srgbClr val="898989"/>
                </a:solidFill>
                <a:effectLst/>
                <a:uLnTx/>
                <a:uFillTx/>
                <a:latin typeface="Arial" panose="020B0604020202020204" pitchFamily="34" charset="0"/>
                <a:ea typeface="宋体" panose="02010600030101010101" pitchFamily="2" charset="-122"/>
                <a:cs typeface="+mn-cs"/>
              </a:rPr>
              <a:t>2021/7/5</a:t>
            </a:fld>
            <a:endParaRPr kumimoji="0" lang="zh-CN" altLang="en-US" sz="1300" b="0" i="0" u="none" strike="noStrike" kern="1200" cap="none" spc="0" normalizeH="0" baseline="0" noProof="0" dirty="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1" name="页脚占位符 4"/>
          <p:cNvSpPr>
            <a:spLocks noGrp="1" noChangeArrowheads="1"/>
          </p:cNvSpPr>
          <p:nvPr>
            <p:ph type="ftr" sz="quarter" idx="3"/>
          </p:nvPr>
        </p:nvSpPr>
        <p:spPr bwMode="auto">
          <a:xfrm>
            <a:off x="3124200" y="4768850"/>
            <a:ext cx="2895600" cy="273050"/>
          </a:xfrm>
          <a:prstGeom prst="rect">
            <a:avLst/>
          </a:prstGeom>
          <a:noFill/>
          <a:ln w="9525">
            <a:noFill/>
            <a:miter lim="800000"/>
          </a:ln>
        </p:spPr>
        <p:txBody>
          <a:bodyPr vert="horz" wrap="square" lIns="99798" tIns="49899" rIns="99798" bIns="49899" numCol="1" anchor="ctr" anchorCtr="0" compatLnSpc="1"/>
          <a:lstStyle>
            <a:lvl1pPr algn="ctr">
              <a:buFont typeface="Arial" panose="020B0604020202020204" pitchFamily="34" charset="0"/>
              <a:buNone/>
              <a:defRPr sz="885">
                <a:solidFill>
                  <a:srgbClr val="898989"/>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3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2" name="灯片编号占位符 5"/>
          <p:cNvSpPr>
            <a:spLocks noGrp="1" noChangeArrowheads="1"/>
          </p:cNvSpPr>
          <p:nvPr>
            <p:ph type="sldNum" sz="quarter" idx="4"/>
          </p:nvPr>
        </p:nvSpPr>
        <p:spPr bwMode="auto">
          <a:xfrm>
            <a:off x="457200" y="4768850"/>
            <a:ext cx="2133600" cy="273050"/>
          </a:xfrm>
          <a:prstGeom prst="rect">
            <a:avLst/>
          </a:prstGeom>
          <a:noFill/>
          <a:ln w="9525">
            <a:noFill/>
            <a:miter lim="800000"/>
          </a:ln>
        </p:spPr>
        <p:txBody>
          <a:bodyPr vert="horz" wrap="square" lIns="99798" tIns="49899" rIns="99798" bIns="49899" numCol="1" anchor="ctr" anchorCtr="0" compatLnSpc="1"/>
          <a:lstStyle>
            <a:lvl1pPr algn="r">
              <a:defRPr sz="885">
                <a:solidFill>
                  <a:srgbClr val="898989"/>
                </a:solidFill>
              </a:defRPr>
            </a:lvl1pPr>
          </a:lstStyle>
          <a:p>
            <a:pPr lvl="0" eaLnBrk="1" fontAlgn="base" hangingPunct="1"/>
            <a:fld id="{9A0DB2DC-4C9A-4742-B13C-FB6460FD3503}" type="slidenum">
              <a:rPr lang="zh-CN" altLang="en-US" sz="885"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
            <a:ext cx="8229600" cy="411600"/>
          </a:xfrm>
        </p:spPr>
        <p:txBody>
          <a:bodyPr/>
          <a:lstStyle>
            <a:lvl1pPr>
              <a:defRPr sz="2800"/>
            </a:lvl1pPr>
          </a:lstStyle>
          <a:p>
            <a:pPr fontAlgn="base"/>
            <a:r>
              <a:rPr lang="zh-CN" altLang="en-US" sz="3265" strike="noStrike" noProof="1"/>
              <a:t>单击此处编辑母版标题样式</a:t>
            </a:r>
            <a:endParaRPr lang="zh-CN" altLang="en-US" strike="noStrike" noProof="1"/>
          </a:p>
        </p:txBody>
      </p:sp>
      <p:sp>
        <p:nvSpPr>
          <p:cNvPr id="3" name="内容占位符 2"/>
          <p:cNvSpPr>
            <a:spLocks noGrp="1"/>
          </p:cNvSpPr>
          <p:nvPr>
            <p:ph idx="1"/>
          </p:nvPr>
        </p:nvSpPr>
        <p:spPr>
          <a:xfrm>
            <a:off x="457200" y="699620"/>
            <a:ext cx="8229600" cy="3896193"/>
          </a:xfrm>
        </p:spPr>
        <p:txBody>
          <a:bodyPr/>
          <a:lstStyle>
            <a:lvl1pPr>
              <a:defRPr>
                <a:latin typeface="仿宋" panose="02010609060101010101" pitchFamily="49" charset="-122"/>
                <a:ea typeface="仿宋" panose="02010609060101010101" pitchFamily="49" charset="-122"/>
              </a:defRPr>
            </a:lvl1pPr>
            <a:lvl2pPr>
              <a:defRPr>
                <a:latin typeface="仿宋" panose="02010609060101010101" pitchFamily="49" charset="-122"/>
                <a:ea typeface="仿宋" panose="02010609060101010101" pitchFamily="49" charset="-122"/>
              </a:defRPr>
            </a:lvl2pPr>
            <a:lvl3pPr>
              <a:defRPr>
                <a:latin typeface="仿宋" panose="02010609060101010101" pitchFamily="49" charset="-122"/>
                <a:ea typeface="仿宋" panose="02010609060101010101" pitchFamily="49" charset="-122"/>
              </a:defRPr>
            </a:lvl3pPr>
            <a:lvl4pPr>
              <a:defRPr>
                <a:latin typeface="仿宋" panose="02010609060101010101" pitchFamily="49" charset="-122"/>
                <a:ea typeface="仿宋" panose="02010609060101010101" pitchFamily="49" charset="-122"/>
              </a:defRPr>
            </a:lvl4pPr>
            <a:lvl5pPr>
              <a:defRPr>
                <a:latin typeface="仿宋" panose="02010609060101010101" pitchFamily="49" charset="-122"/>
                <a:ea typeface="仿宋" panose="02010609060101010101" pitchFamily="49" charset="-122"/>
              </a:defRPr>
            </a:lvl5pPr>
          </a:lstStyle>
          <a:p>
            <a:pPr lvl="0" fontAlgn="base"/>
            <a:r>
              <a:rPr lang="zh-CN" altLang="en-US" sz="2380" strike="noStrike" noProof="1"/>
              <a:t>单击此处编辑母版文本样式</a:t>
            </a:r>
            <a:endParaRPr lang="zh-CN" altLang="en-US" strike="noStrike" noProof="1"/>
          </a:p>
          <a:p>
            <a:pPr lvl="1" fontAlgn="base"/>
            <a:r>
              <a:rPr lang="zh-CN" altLang="en-US" sz="2110" strike="noStrike" noProof="1"/>
              <a:t>第二级</a:t>
            </a:r>
            <a:endParaRPr lang="zh-CN" altLang="en-US" strike="noStrike" noProof="1"/>
          </a:p>
          <a:p>
            <a:pPr lvl="2" fontAlgn="base"/>
            <a:r>
              <a:rPr lang="zh-CN" altLang="en-US" sz="1770" strike="noStrike" noProof="1"/>
              <a:t>第三级</a:t>
            </a:r>
            <a:endParaRPr lang="zh-CN" altLang="en-US" strike="noStrike" noProof="1"/>
          </a:p>
          <a:p>
            <a:pPr lvl="3" fontAlgn="base"/>
            <a:r>
              <a:rPr lang="zh-CN" altLang="en-US" sz="1495" strike="noStrike" noProof="1"/>
              <a:t>第四级</a:t>
            </a:r>
            <a:endParaRPr lang="zh-CN" altLang="en-US" strike="noStrike" noProof="1"/>
          </a:p>
          <a:p>
            <a:pPr lvl="4" fontAlgn="base"/>
            <a:r>
              <a:rPr lang="zh-CN" altLang="en-US" sz="1495" strike="noStrike" noProof="1"/>
              <a:t>第五级</a:t>
            </a:r>
            <a:endParaRPr lang="zh-CN" altLang="en-US" strike="noStrike" noProof="1"/>
          </a:p>
        </p:txBody>
      </p:sp>
      <p:sp>
        <p:nvSpPr>
          <p:cNvPr id="10" name="日期占位符 3"/>
          <p:cNvSpPr>
            <a:spLocks noGrp="1" noChangeArrowheads="1"/>
          </p:cNvSpPr>
          <p:nvPr>
            <p:ph type="dt" sz="half" idx="2"/>
          </p:nvPr>
        </p:nvSpPr>
        <p:spPr bwMode="auto">
          <a:xfrm>
            <a:off x="6553200" y="4768850"/>
            <a:ext cx="2133600" cy="273050"/>
          </a:xfrm>
          <a:prstGeom prst="rect">
            <a:avLst/>
          </a:prstGeom>
          <a:noFill/>
          <a:ln w="9525">
            <a:noFill/>
            <a:miter lim="800000"/>
          </a:ln>
        </p:spPr>
        <p:txBody>
          <a:bodyPr vert="horz" wrap="square" lIns="99798" tIns="49899" rIns="99798" bIns="49899" numCol="1" anchor="ctr" anchorCtr="0" compatLnSpc="1"/>
          <a:lstStyle>
            <a:lvl1pPr>
              <a:buFont typeface="Arial" panose="020B0604020202020204" pitchFamily="34" charset="0"/>
              <a:buNone/>
              <a:defRPr sz="885">
                <a:solidFill>
                  <a:srgbClr val="898989"/>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308381-8264-4782-9D38-F8048B215598}" type="datetime1">
              <a:rPr kumimoji="0" lang="zh-CN" altLang="en-US" sz="1300" b="0" i="0" u="none" strike="noStrike" kern="1200" cap="none" spc="0" normalizeH="0" baseline="0" noProof="0" smtClean="0">
                <a:ln>
                  <a:noFill/>
                </a:ln>
                <a:solidFill>
                  <a:srgbClr val="898989"/>
                </a:solidFill>
                <a:effectLst/>
                <a:uLnTx/>
                <a:uFillTx/>
                <a:latin typeface="Arial" panose="020B0604020202020204" pitchFamily="34" charset="0"/>
                <a:ea typeface="宋体" panose="02010600030101010101" pitchFamily="2" charset="-122"/>
                <a:cs typeface="+mn-cs"/>
              </a:rPr>
              <a:t>2021/7/5</a:t>
            </a:fld>
            <a:endParaRPr kumimoji="0" lang="zh-CN" altLang="en-US" sz="1300" b="0" i="0" u="none" strike="noStrike" kern="1200" cap="none" spc="0" normalizeH="0" baseline="0" noProof="0" dirty="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1" name="页脚占位符 4"/>
          <p:cNvSpPr>
            <a:spLocks noGrp="1" noChangeArrowheads="1"/>
          </p:cNvSpPr>
          <p:nvPr>
            <p:ph type="ftr" sz="quarter" idx="3"/>
          </p:nvPr>
        </p:nvSpPr>
        <p:spPr bwMode="auto">
          <a:xfrm>
            <a:off x="3124200" y="4768850"/>
            <a:ext cx="2895600" cy="273050"/>
          </a:xfrm>
          <a:prstGeom prst="rect">
            <a:avLst/>
          </a:prstGeom>
          <a:noFill/>
          <a:ln w="9525">
            <a:noFill/>
            <a:miter lim="800000"/>
          </a:ln>
        </p:spPr>
        <p:txBody>
          <a:bodyPr vert="horz" wrap="square" lIns="99798" tIns="49899" rIns="99798" bIns="49899" numCol="1" anchor="ctr" anchorCtr="0" compatLnSpc="1"/>
          <a:lstStyle>
            <a:lvl1pPr algn="ctr">
              <a:buFont typeface="Arial" panose="020B0604020202020204" pitchFamily="34" charset="0"/>
              <a:buNone/>
              <a:defRPr sz="885">
                <a:solidFill>
                  <a:srgbClr val="898989"/>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3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2" name="灯片编号占位符 5"/>
          <p:cNvSpPr>
            <a:spLocks noGrp="1" noChangeArrowheads="1"/>
          </p:cNvSpPr>
          <p:nvPr>
            <p:ph type="sldNum" sz="quarter" idx="4"/>
          </p:nvPr>
        </p:nvSpPr>
        <p:spPr bwMode="auto">
          <a:xfrm>
            <a:off x="457200" y="4768850"/>
            <a:ext cx="2133600" cy="273050"/>
          </a:xfrm>
          <a:prstGeom prst="rect">
            <a:avLst/>
          </a:prstGeom>
          <a:noFill/>
          <a:ln w="9525">
            <a:noFill/>
            <a:miter lim="800000"/>
          </a:ln>
        </p:spPr>
        <p:txBody>
          <a:bodyPr vert="horz" wrap="square" lIns="99798" tIns="49899" rIns="99798" bIns="49899" numCol="1" anchor="ctr" anchorCtr="0" compatLnSpc="1"/>
          <a:lstStyle>
            <a:lvl1pPr algn="r">
              <a:defRPr sz="885">
                <a:solidFill>
                  <a:srgbClr val="898989"/>
                </a:solidFill>
              </a:defRPr>
            </a:lvl1pPr>
          </a:lstStyle>
          <a:p>
            <a:pPr lvl="0" eaLnBrk="1" fontAlgn="base" hangingPunct="1"/>
            <a:fld id="{9A0DB2DC-4C9A-4742-B13C-FB6460FD3503}" type="slidenum">
              <a:rPr lang="zh-CN" altLang="en-US" sz="885"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7" name="Text Box 9">
            <a:extLst>
              <a:ext uri="{FF2B5EF4-FFF2-40B4-BE49-F238E27FC236}">
                <a16:creationId xmlns:a16="http://schemas.microsoft.com/office/drawing/2014/main" id="{01EAF462-DF9D-48F6-B6A6-32B3C2CD3EFF}"/>
              </a:ext>
            </a:extLst>
          </p:cNvPr>
          <p:cNvSpPr txBox="1">
            <a:spLocks noChangeArrowheads="1"/>
          </p:cNvSpPr>
          <p:nvPr userDrawn="1">
            <p:custDataLst>
              <p:tags r:id="rId1"/>
            </p:custDataLst>
          </p:nvPr>
        </p:nvSpPr>
        <p:spPr bwMode="gray">
          <a:xfrm>
            <a:off x="8686800" y="4731900"/>
            <a:ext cx="349510" cy="3100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defTabSz="839788">
              <a:defRPr sz="2400">
                <a:solidFill>
                  <a:schemeClr val="tx1"/>
                </a:solidFill>
                <a:latin typeface="Trebuchet MS" panose="020B0603020202020204" pitchFamily="34" charset="0"/>
              </a:defRPr>
            </a:lvl1pPr>
            <a:lvl2pPr marL="420688" defTabSz="839788">
              <a:defRPr sz="2400">
                <a:solidFill>
                  <a:schemeClr val="tx1"/>
                </a:solidFill>
                <a:latin typeface="Trebuchet MS" panose="020B0603020202020204" pitchFamily="34" charset="0"/>
              </a:defRPr>
            </a:lvl2pPr>
            <a:lvl3pPr marL="839788" defTabSz="839788">
              <a:defRPr sz="2400">
                <a:solidFill>
                  <a:schemeClr val="tx1"/>
                </a:solidFill>
                <a:latin typeface="Trebuchet MS" panose="020B0603020202020204" pitchFamily="34" charset="0"/>
              </a:defRPr>
            </a:lvl3pPr>
            <a:lvl4pPr marL="1260475" defTabSz="839788">
              <a:defRPr sz="2400">
                <a:solidFill>
                  <a:schemeClr val="tx1"/>
                </a:solidFill>
                <a:latin typeface="Trebuchet MS" panose="020B0603020202020204" pitchFamily="34" charset="0"/>
              </a:defRPr>
            </a:lvl4pPr>
            <a:lvl5pPr marL="1679575" defTabSz="839788">
              <a:defRPr sz="2400">
                <a:solidFill>
                  <a:schemeClr val="tx1"/>
                </a:solidFill>
                <a:latin typeface="Trebuchet MS" panose="020B0603020202020204" pitchFamily="34" charset="0"/>
              </a:defRPr>
            </a:lvl5pPr>
            <a:lvl6pPr marL="2136775" defTabSz="839788" eaLnBrk="0" fontAlgn="base" hangingPunct="0">
              <a:spcBef>
                <a:spcPct val="0"/>
              </a:spcBef>
              <a:spcAft>
                <a:spcPct val="0"/>
              </a:spcAft>
              <a:defRPr sz="2400">
                <a:solidFill>
                  <a:schemeClr val="tx1"/>
                </a:solidFill>
                <a:latin typeface="Trebuchet MS" panose="020B0603020202020204" pitchFamily="34" charset="0"/>
              </a:defRPr>
            </a:lvl6pPr>
            <a:lvl7pPr marL="2593975" defTabSz="839788" eaLnBrk="0" fontAlgn="base" hangingPunct="0">
              <a:spcBef>
                <a:spcPct val="0"/>
              </a:spcBef>
              <a:spcAft>
                <a:spcPct val="0"/>
              </a:spcAft>
              <a:defRPr sz="2400">
                <a:solidFill>
                  <a:schemeClr val="tx1"/>
                </a:solidFill>
                <a:latin typeface="Trebuchet MS" panose="020B0603020202020204" pitchFamily="34" charset="0"/>
              </a:defRPr>
            </a:lvl7pPr>
            <a:lvl8pPr marL="3051175" defTabSz="839788" eaLnBrk="0" fontAlgn="base" hangingPunct="0">
              <a:spcBef>
                <a:spcPct val="0"/>
              </a:spcBef>
              <a:spcAft>
                <a:spcPct val="0"/>
              </a:spcAft>
              <a:defRPr sz="2400">
                <a:solidFill>
                  <a:schemeClr val="tx1"/>
                </a:solidFill>
                <a:latin typeface="Trebuchet MS" panose="020B0603020202020204" pitchFamily="34" charset="0"/>
              </a:defRPr>
            </a:lvl8pPr>
            <a:lvl9pPr marL="3508375" defTabSz="839788" eaLnBrk="0" fontAlgn="base" hangingPunct="0">
              <a:spcBef>
                <a:spcPct val="0"/>
              </a:spcBef>
              <a:spcAft>
                <a:spcPct val="0"/>
              </a:spcAft>
              <a:defRPr sz="2400">
                <a:solidFill>
                  <a:schemeClr val="tx1"/>
                </a:solidFill>
                <a:latin typeface="Trebuchet MS" panose="020B0603020202020204" pitchFamily="34" charset="0"/>
              </a:defRPr>
            </a:lvl9pPr>
          </a:lstStyle>
          <a:p>
            <a:pPr algn="ctr"/>
            <a:fld id="{4710D908-E696-4F91-B1F6-A9AE86CEAF89}" type="slidenum">
              <a:rPr lang="zh-CN" altLang="en-US" sz="900" b="1">
                <a:solidFill>
                  <a:srgbClr val="808080"/>
                </a:solidFill>
                <a:ea typeface="宋体" panose="02010600030101010101" pitchFamily="2" charset="-122"/>
              </a:rPr>
              <a:pPr algn="ctr"/>
              <a:t>‹#›</a:t>
            </a:fld>
            <a:endParaRPr lang="en-US" altLang="zh-CN" sz="900" b="1" dirty="0">
              <a:solidFill>
                <a:srgbClr val="808080"/>
              </a:solidFill>
              <a:ea typeface="宋体" panose="02010600030101010101" pitchFamily="2"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4" y="3305655"/>
            <a:ext cx="7772412" cy="1021704"/>
          </a:xfrm>
        </p:spPr>
        <p:txBody>
          <a:bodyPr anchor="t"/>
          <a:lstStyle>
            <a:lvl1pPr algn="l">
              <a:defRPr sz="2995" b="1" cap="all"/>
            </a:lvl1pPr>
          </a:lstStyle>
          <a:p>
            <a:pPr fontAlgn="base"/>
            <a:r>
              <a:rPr lang="zh-CN" altLang="en-US" sz="2995"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4" y="2180352"/>
            <a:ext cx="7772412" cy="1125304"/>
          </a:xfrm>
        </p:spPr>
        <p:txBody>
          <a:bodyPr anchor="b"/>
          <a:lstStyle>
            <a:lvl1pPr marL="0" indent="0">
              <a:buNone/>
              <a:defRPr sz="1495"/>
            </a:lvl1pPr>
            <a:lvl2pPr marL="339725" indent="0">
              <a:buNone/>
              <a:defRPr sz="1360"/>
            </a:lvl2pPr>
            <a:lvl3pPr marL="679450" indent="0">
              <a:buNone/>
              <a:defRPr sz="1155"/>
            </a:lvl3pPr>
            <a:lvl4pPr marL="1018540" indent="0">
              <a:buNone/>
              <a:defRPr sz="1020"/>
            </a:lvl4pPr>
            <a:lvl5pPr marL="1358265" indent="0">
              <a:buNone/>
              <a:defRPr sz="1020"/>
            </a:lvl5pPr>
            <a:lvl6pPr marL="1697355" indent="0">
              <a:buNone/>
              <a:defRPr sz="1020"/>
            </a:lvl6pPr>
            <a:lvl7pPr marL="2037080" indent="0">
              <a:buNone/>
              <a:defRPr sz="1020"/>
            </a:lvl7pPr>
            <a:lvl8pPr marL="2376805" indent="0">
              <a:buNone/>
              <a:defRPr sz="1020"/>
            </a:lvl8pPr>
            <a:lvl9pPr marL="2715895" indent="0">
              <a:buNone/>
              <a:defRPr sz="1020"/>
            </a:lvl9pPr>
          </a:lstStyle>
          <a:p>
            <a:pPr lvl="0" fontAlgn="base"/>
            <a:r>
              <a:rPr lang="zh-CN" altLang="en-US" sz="1495" strike="noStrike" noProof="1"/>
              <a:t>单击此处编辑母版文本样式</a:t>
            </a:r>
            <a:endParaRPr lang="zh-CN" altLang="en-US" strike="noStrike" noProof="1"/>
          </a:p>
        </p:txBody>
      </p:sp>
      <p:sp>
        <p:nvSpPr>
          <p:cNvPr id="10" name="日期占位符 3"/>
          <p:cNvSpPr>
            <a:spLocks noGrp="1" noChangeArrowheads="1"/>
          </p:cNvSpPr>
          <p:nvPr>
            <p:ph type="dt" sz="half" idx="2"/>
          </p:nvPr>
        </p:nvSpPr>
        <p:spPr bwMode="auto">
          <a:xfrm>
            <a:off x="6553200" y="4768850"/>
            <a:ext cx="2133600" cy="273050"/>
          </a:xfrm>
          <a:prstGeom prst="rect">
            <a:avLst/>
          </a:prstGeom>
          <a:noFill/>
          <a:ln w="9525">
            <a:noFill/>
            <a:miter lim="800000"/>
          </a:ln>
        </p:spPr>
        <p:txBody>
          <a:bodyPr vert="horz" wrap="square" lIns="99798" tIns="49899" rIns="99798" bIns="49899" numCol="1" anchor="ctr" anchorCtr="0" compatLnSpc="1"/>
          <a:lstStyle>
            <a:lvl1pPr>
              <a:buFont typeface="Arial" panose="020B0604020202020204" pitchFamily="34" charset="0"/>
              <a:buNone/>
              <a:defRPr sz="885">
                <a:solidFill>
                  <a:srgbClr val="898989"/>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308381-8264-4782-9D38-F8048B215598}" type="datetime1">
              <a:rPr kumimoji="0" lang="zh-CN" altLang="en-US" sz="1300" b="0" i="0" u="none" strike="noStrike" kern="1200" cap="none" spc="0" normalizeH="0" baseline="0" noProof="0" smtClean="0">
                <a:ln>
                  <a:noFill/>
                </a:ln>
                <a:solidFill>
                  <a:srgbClr val="898989"/>
                </a:solidFill>
                <a:effectLst/>
                <a:uLnTx/>
                <a:uFillTx/>
                <a:latin typeface="Arial" panose="020B0604020202020204" pitchFamily="34" charset="0"/>
                <a:ea typeface="宋体" panose="02010600030101010101" pitchFamily="2" charset="-122"/>
                <a:cs typeface="+mn-cs"/>
              </a:rPr>
              <a:t>2021/7/5</a:t>
            </a:fld>
            <a:endParaRPr kumimoji="0" lang="zh-CN" altLang="en-US" sz="1300" b="0" i="0" u="none" strike="noStrike" kern="1200" cap="none" spc="0" normalizeH="0" baseline="0" noProof="0" dirty="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1" name="页脚占位符 4"/>
          <p:cNvSpPr>
            <a:spLocks noGrp="1" noChangeArrowheads="1"/>
          </p:cNvSpPr>
          <p:nvPr>
            <p:ph type="ftr" sz="quarter" idx="3"/>
          </p:nvPr>
        </p:nvSpPr>
        <p:spPr bwMode="auto">
          <a:xfrm>
            <a:off x="3124200" y="4768850"/>
            <a:ext cx="2895600" cy="273050"/>
          </a:xfrm>
          <a:prstGeom prst="rect">
            <a:avLst/>
          </a:prstGeom>
          <a:noFill/>
          <a:ln w="9525">
            <a:noFill/>
            <a:miter lim="800000"/>
          </a:ln>
        </p:spPr>
        <p:txBody>
          <a:bodyPr vert="horz" wrap="square" lIns="99798" tIns="49899" rIns="99798" bIns="49899" numCol="1" anchor="ctr" anchorCtr="0" compatLnSpc="1"/>
          <a:lstStyle>
            <a:lvl1pPr algn="ctr">
              <a:buFont typeface="Arial" panose="020B0604020202020204" pitchFamily="34" charset="0"/>
              <a:buNone/>
              <a:defRPr sz="885">
                <a:solidFill>
                  <a:srgbClr val="898989"/>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3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2" name="灯片编号占位符 5"/>
          <p:cNvSpPr>
            <a:spLocks noGrp="1" noChangeArrowheads="1"/>
          </p:cNvSpPr>
          <p:nvPr>
            <p:ph type="sldNum" sz="quarter" idx="4"/>
          </p:nvPr>
        </p:nvSpPr>
        <p:spPr bwMode="auto">
          <a:xfrm>
            <a:off x="457200" y="4768850"/>
            <a:ext cx="2133600" cy="273050"/>
          </a:xfrm>
          <a:prstGeom prst="rect">
            <a:avLst/>
          </a:prstGeom>
          <a:noFill/>
          <a:ln w="9525">
            <a:noFill/>
            <a:miter lim="800000"/>
          </a:ln>
        </p:spPr>
        <p:txBody>
          <a:bodyPr vert="horz" wrap="square" lIns="99798" tIns="49899" rIns="99798" bIns="49899" numCol="1" anchor="ctr" anchorCtr="0" compatLnSpc="1"/>
          <a:lstStyle>
            <a:lvl1pPr algn="r">
              <a:defRPr sz="885">
                <a:solidFill>
                  <a:srgbClr val="898989"/>
                </a:solidFill>
              </a:defRPr>
            </a:lvl1pPr>
          </a:lstStyle>
          <a:p>
            <a:pPr lvl="0" eaLnBrk="1" fontAlgn="base" hangingPunct="1"/>
            <a:fld id="{9A0DB2DC-4C9A-4742-B13C-FB6460FD3503}" type="slidenum">
              <a:rPr lang="zh-CN" altLang="en-US" sz="885"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265" strike="noStrike" noProof="1"/>
              <a:t>单击此处编辑母版标题样式</a:t>
            </a:r>
            <a:endParaRPr lang="zh-CN" altLang="en-US" strike="noStrike" noProof="1"/>
          </a:p>
        </p:txBody>
      </p:sp>
      <p:sp>
        <p:nvSpPr>
          <p:cNvPr id="3" name="内容占位符 2"/>
          <p:cNvSpPr>
            <a:spLocks noGrp="1"/>
          </p:cNvSpPr>
          <p:nvPr>
            <p:ph sz="half" idx="1"/>
          </p:nvPr>
        </p:nvSpPr>
        <p:spPr>
          <a:xfrm>
            <a:off x="457201" y="1200325"/>
            <a:ext cx="4038606" cy="3394965"/>
          </a:xfrm>
        </p:spPr>
        <p:txBody>
          <a:bodyPr/>
          <a:lstStyle>
            <a:lvl1pPr>
              <a:defRPr sz="2110"/>
            </a:lvl1pPr>
            <a:lvl2pPr>
              <a:defRPr sz="1770"/>
            </a:lvl2pPr>
            <a:lvl3pPr>
              <a:defRPr sz="1495"/>
            </a:lvl3pPr>
            <a:lvl4pPr>
              <a:defRPr sz="1360"/>
            </a:lvl4pPr>
            <a:lvl5pPr>
              <a:defRPr sz="1360"/>
            </a:lvl5pPr>
            <a:lvl6pPr>
              <a:defRPr sz="1360"/>
            </a:lvl6pPr>
            <a:lvl7pPr>
              <a:defRPr sz="1360"/>
            </a:lvl7pPr>
            <a:lvl8pPr>
              <a:defRPr sz="1360"/>
            </a:lvl8pPr>
            <a:lvl9pPr>
              <a:defRPr sz="1360"/>
            </a:lvl9pPr>
          </a:lstStyle>
          <a:p>
            <a:pPr lvl="0" fontAlgn="base"/>
            <a:r>
              <a:rPr lang="zh-CN" altLang="en-US" sz="2110" strike="noStrike" noProof="1"/>
              <a:t>单击此处编辑母版文本样式</a:t>
            </a:r>
            <a:endParaRPr lang="zh-CN" altLang="en-US" strike="noStrike" noProof="1"/>
          </a:p>
          <a:p>
            <a:pPr lvl="1" fontAlgn="base"/>
            <a:r>
              <a:rPr lang="zh-CN" altLang="en-US" sz="1770" strike="noStrike" noProof="1"/>
              <a:t>第二级</a:t>
            </a:r>
            <a:endParaRPr lang="zh-CN" altLang="en-US" strike="noStrike" noProof="1"/>
          </a:p>
          <a:p>
            <a:pPr lvl="2" fontAlgn="base"/>
            <a:r>
              <a:rPr lang="zh-CN" altLang="en-US" sz="1495" strike="noStrike" noProof="1"/>
              <a:t>第三级</a:t>
            </a:r>
            <a:endParaRPr lang="zh-CN" altLang="en-US" strike="noStrike" noProof="1"/>
          </a:p>
          <a:p>
            <a:pPr lvl="3" fontAlgn="base"/>
            <a:r>
              <a:rPr lang="zh-CN" altLang="en-US" sz="1360" strike="noStrike" noProof="1"/>
              <a:t>第四级</a:t>
            </a:r>
            <a:endParaRPr lang="zh-CN" altLang="en-US" strike="noStrike" noProof="1"/>
          </a:p>
          <a:p>
            <a:pPr lvl="4" fontAlgn="base"/>
            <a:r>
              <a:rPr lang="zh-CN" altLang="en-US" sz="1360" strike="noStrike" noProof="1"/>
              <a:t>第五级</a:t>
            </a:r>
            <a:endParaRPr lang="zh-CN" altLang="en-US" strike="noStrike" noProof="1"/>
          </a:p>
        </p:txBody>
      </p:sp>
      <p:sp>
        <p:nvSpPr>
          <p:cNvPr id="4" name="内容占位符 3"/>
          <p:cNvSpPr>
            <a:spLocks noGrp="1"/>
          </p:cNvSpPr>
          <p:nvPr>
            <p:ph sz="half" idx="2"/>
          </p:nvPr>
        </p:nvSpPr>
        <p:spPr>
          <a:xfrm>
            <a:off x="4648207" y="1200325"/>
            <a:ext cx="4038606" cy="3394965"/>
          </a:xfrm>
        </p:spPr>
        <p:txBody>
          <a:bodyPr/>
          <a:lstStyle>
            <a:lvl1pPr>
              <a:defRPr sz="2110"/>
            </a:lvl1pPr>
            <a:lvl2pPr>
              <a:defRPr sz="1770"/>
            </a:lvl2pPr>
            <a:lvl3pPr>
              <a:defRPr sz="1495"/>
            </a:lvl3pPr>
            <a:lvl4pPr>
              <a:defRPr sz="1360"/>
            </a:lvl4pPr>
            <a:lvl5pPr>
              <a:defRPr sz="1360"/>
            </a:lvl5pPr>
            <a:lvl6pPr>
              <a:defRPr sz="1360"/>
            </a:lvl6pPr>
            <a:lvl7pPr>
              <a:defRPr sz="1360"/>
            </a:lvl7pPr>
            <a:lvl8pPr>
              <a:defRPr sz="1360"/>
            </a:lvl8pPr>
            <a:lvl9pPr>
              <a:defRPr sz="1360"/>
            </a:lvl9pPr>
          </a:lstStyle>
          <a:p>
            <a:pPr lvl="0" fontAlgn="base"/>
            <a:r>
              <a:rPr lang="zh-CN" altLang="en-US" sz="2110" strike="noStrike" noProof="1"/>
              <a:t>单击此处编辑母版文本样式</a:t>
            </a:r>
            <a:endParaRPr lang="zh-CN" altLang="en-US" strike="noStrike" noProof="1"/>
          </a:p>
          <a:p>
            <a:pPr lvl="1" fontAlgn="base"/>
            <a:r>
              <a:rPr lang="zh-CN" altLang="en-US" sz="1770" strike="noStrike" noProof="1"/>
              <a:t>第二级</a:t>
            </a:r>
            <a:endParaRPr lang="zh-CN" altLang="en-US" strike="noStrike" noProof="1"/>
          </a:p>
          <a:p>
            <a:pPr lvl="2" fontAlgn="base"/>
            <a:r>
              <a:rPr lang="zh-CN" altLang="en-US" sz="1495" strike="noStrike" noProof="1"/>
              <a:t>第三级</a:t>
            </a:r>
            <a:endParaRPr lang="zh-CN" altLang="en-US" strike="noStrike" noProof="1"/>
          </a:p>
          <a:p>
            <a:pPr lvl="3" fontAlgn="base"/>
            <a:r>
              <a:rPr lang="zh-CN" altLang="en-US" sz="1360" strike="noStrike" noProof="1"/>
              <a:t>第四级</a:t>
            </a:r>
            <a:endParaRPr lang="zh-CN" altLang="en-US" strike="noStrike" noProof="1"/>
          </a:p>
          <a:p>
            <a:pPr lvl="4" fontAlgn="base"/>
            <a:r>
              <a:rPr lang="zh-CN" altLang="en-US" sz="1360" strike="noStrike" noProof="1"/>
              <a:t>第五级</a:t>
            </a:r>
            <a:endParaRPr lang="zh-CN" altLang="en-US" strike="noStrike" noProof="1"/>
          </a:p>
        </p:txBody>
      </p:sp>
      <p:sp>
        <p:nvSpPr>
          <p:cNvPr id="10" name="日期占位符 3"/>
          <p:cNvSpPr>
            <a:spLocks noGrp="1" noChangeArrowheads="1"/>
          </p:cNvSpPr>
          <p:nvPr>
            <p:ph type="dt" sz="half" idx="10"/>
          </p:nvPr>
        </p:nvSpPr>
        <p:spPr bwMode="auto">
          <a:xfrm>
            <a:off x="6553200" y="4768850"/>
            <a:ext cx="2133600" cy="273050"/>
          </a:xfrm>
          <a:prstGeom prst="rect">
            <a:avLst/>
          </a:prstGeom>
          <a:noFill/>
          <a:ln w="9525">
            <a:noFill/>
            <a:miter lim="800000"/>
          </a:ln>
        </p:spPr>
        <p:txBody>
          <a:bodyPr vert="horz" wrap="square" lIns="99798" tIns="49899" rIns="99798" bIns="49899" numCol="1" anchor="ctr" anchorCtr="0" compatLnSpc="1"/>
          <a:lstStyle>
            <a:lvl1pPr>
              <a:buFont typeface="Arial" panose="020B0604020202020204" pitchFamily="34" charset="0"/>
              <a:buNone/>
              <a:defRPr sz="885">
                <a:solidFill>
                  <a:srgbClr val="898989"/>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308381-8264-4782-9D38-F8048B215598}" type="datetime1">
              <a:rPr kumimoji="0" lang="zh-CN" altLang="en-US" sz="1300" b="0" i="0" u="none" strike="noStrike" kern="1200" cap="none" spc="0" normalizeH="0" baseline="0" noProof="0" smtClean="0">
                <a:ln>
                  <a:noFill/>
                </a:ln>
                <a:solidFill>
                  <a:srgbClr val="898989"/>
                </a:solidFill>
                <a:effectLst/>
                <a:uLnTx/>
                <a:uFillTx/>
                <a:latin typeface="Arial" panose="020B0604020202020204" pitchFamily="34" charset="0"/>
                <a:ea typeface="宋体" panose="02010600030101010101" pitchFamily="2" charset="-122"/>
                <a:cs typeface="+mn-cs"/>
              </a:rPr>
              <a:t>2021/7/5</a:t>
            </a:fld>
            <a:endParaRPr kumimoji="0" lang="zh-CN" altLang="en-US" sz="1300" b="0" i="0" u="none" strike="noStrike" kern="1200" cap="none" spc="0" normalizeH="0" baseline="0" noProof="0" dirty="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1" name="页脚占位符 4"/>
          <p:cNvSpPr>
            <a:spLocks noGrp="1" noChangeArrowheads="1"/>
          </p:cNvSpPr>
          <p:nvPr>
            <p:ph type="ftr" sz="quarter" idx="3"/>
          </p:nvPr>
        </p:nvSpPr>
        <p:spPr bwMode="auto">
          <a:xfrm>
            <a:off x="3124200" y="4768850"/>
            <a:ext cx="2895600" cy="273050"/>
          </a:xfrm>
          <a:prstGeom prst="rect">
            <a:avLst/>
          </a:prstGeom>
          <a:noFill/>
          <a:ln w="9525">
            <a:noFill/>
            <a:miter lim="800000"/>
          </a:ln>
        </p:spPr>
        <p:txBody>
          <a:bodyPr vert="horz" wrap="square" lIns="99798" tIns="49899" rIns="99798" bIns="49899" numCol="1" anchor="ctr" anchorCtr="0" compatLnSpc="1"/>
          <a:lstStyle>
            <a:lvl1pPr algn="ctr">
              <a:buFont typeface="Arial" panose="020B0604020202020204" pitchFamily="34" charset="0"/>
              <a:buNone/>
              <a:defRPr sz="885">
                <a:solidFill>
                  <a:srgbClr val="898989"/>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3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2" name="灯片编号占位符 5"/>
          <p:cNvSpPr>
            <a:spLocks noGrp="1" noChangeArrowheads="1"/>
          </p:cNvSpPr>
          <p:nvPr>
            <p:ph type="sldNum" sz="quarter" idx="4"/>
          </p:nvPr>
        </p:nvSpPr>
        <p:spPr bwMode="auto">
          <a:xfrm>
            <a:off x="457200" y="4768850"/>
            <a:ext cx="2133600" cy="273050"/>
          </a:xfrm>
          <a:prstGeom prst="rect">
            <a:avLst/>
          </a:prstGeom>
          <a:noFill/>
          <a:ln w="9525">
            <a:noFill/>
            <a:miter lim="800000"/>
          </a:ln>
        </p:spPr>
        <p:txBody>
          <a:bodyPr vert="horz" wrap="square" lIns="99798" tIns="49899" rIns="99798" bIns="49899" numCol="1" anchor="ctr" anchorCtr="0" compatLnSpc="1"/>
          <a:lstStyle>
            <a:lvl1pPr algn="r">
              <a:defRPr sz="885">
                <a:solidFill>
                  <a:srgbClr val="898989"/>
                </a:solidFill>
              </a:defRPr>
            </a:lvl1pPr>
          </a:lstStyle>
          <a:p>
            <a:pPr lvl="0" eaLnBrk="1" fontAlgn="base" hangingPunct="1"/>
            <a:fld id="{9A0DB2DC-4C9A-4742-B13C-FB6460FD3503}" type="slidenum">
              <a:rPr lang="zh-CN" altLang="en-US" sz="885"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z="3265"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2" y="1151502"/>
            <a:ext cx="4040194" cy="479891"/>
          </a:xfrm>
        </p:spPr>
        <p:txBody>
          <a:bodyPr anchor="b"/>
          <a:lstStyle>
            <a:lvl1pPr marL="0" indent="0">
              <a:buNone/>
              <a:defRPr sz="1770" b="1"/>
            </a:lvl1pPr>
            <a:lvl2pPr marL="339725" indent="0">
              <a:buNone/>
              <a:defRPr sz="1495" b="1"/>
            </a:lvl2pPr>
            <a:lvl3pPr marL="679450" indent="0">
              <a:buNone/>
              <a:defRPr sz="1360" b="1"/>
            </a:lvl3pPr>
            <a:lvl4pPr marL="1018540" indent="0">
              <a:buNone/>
              <a:defRPr sz="1155" b="1"/>
            </a:lvl4pPr>
            <a:lvl5pPr marL="1358265" indent="0">
              <a:buNone/>
              <a:defRPr sz="1155" b="1"/>
            </a:lvl5pPr>
            <a:lvl6pPr marL="1697355" indent="0">
              <a:buNone/>
              <a:defRPr sz="1155" b="1"/>
            </a:lvl6pPr>
            <a:lvl7pPr marL="2037080" indent="0">
              <a:buNone/>
              <a:defRPr sz="1155" b="1"/>
            </a:lvl7pPr>
            <a:lvl8pPr marL="2376805" indent="0">
              <a:buNone/>
              <a:defRPr sz="1155" b="1"/>
            </a:lvl8pPr>
            <a:lvl9pPr marL="2715895" indent="0">
              <a:buNone/>
              <a:defRPr sz="1155" b="1"/>
            </a:lvl9pPr>
          </a:lstStyle>
          <a:p>
            <a:pPr lvl="0" fontAlgn="base"/>
            <a:r>
              <a:rPr lang="zh-CN" altLang="en-US" sz="1770" strike="noStrike" noProof="1"/>
              <a:t>单击此处编辑母版文本样式</a:t>
            </a:r>
            <a:endParaRPr lang="zh-CN" altLang="en-US" strike="noStrike" noProof="1"/>
          </a:p>
        </p:txBody>
      </p:sp>
      <p:sp>
        <p:nvSpPr>
          <p:cNvPr id="4" name="内容占位符 3"/>
          <p:cNvSpPr>
            <a:spLocks noGrp="1"/>
          </p:cNvSpPr>
          <p:nvPr>
            <p:ph sz="half" idx="2"/>
          </p:nvPr>
        </p:nvSpPr>
        <p:spPr>
          <a:xfrm>
            <a:off x="457202" y="1631393"/>
            <a:ext cx="4040194" cy="2963897"/>
          </a:xfrm>
        </p:spPr>
        <p:txBody>
          <a:bodyPr/>
          <a:lstStyle>
            <a:lvl1pPr>
              <a:defRPr sz="1770"/>
            </a:lvl1pPr>
            <a:lvl2pPr>
              <a:defRPr sz="1495"/>
            </a:lvl2pPr>
            <a:lvl3pPr>
              <a:defRPr sz="1360"/>
            </a:lvl3pPr>
            <a:lvl4pPr>
              <a:defRPr sz="1155"/>
            </a:lvl4pPr>
            <a:lvl5pPr>
              <a:defRPr sz="1155"/>
            </a:lvl5pPr>
            <a:lvl6pPr>
              <a:defRPr sz="1155"/>
            </a:lvl6pPr>
            <a:lvl7pPr>
              <a:defRPr sz="1155"/>
            </a:lvl7pPr>
            <a:lvl8pPr>
              <a:defRPr sz="1155"/>
            </a:lvl8pPr>
            <a:lvl9pPr>
              <a:defRPr sz="1155"/>
            </a:lvl9pPr>
          </a:lstStyle>
          <a:p>
            <a:pPr lvl="0" fontAlgn="base"/>
            <a:r>
              <a:rPr lang="zh-CN" altLang="en-US" sz="1770" strike="noStrike" noProof="1"/>
              <a:t>单击此处编辑母版文本样式</a:t>
            </a:r>
            <a:endParaRPr lang="zh-CN" altLang="en-US" strike="noStrike" noProof="1"/>
          </a:p>
          <a:p>
            <a:pPr lvl="1" fontAlgn="base"/>
            <a:r>
              <a:rPr lang="zh-CN" altLang="en-US" sz="1495" strike="noStrike" noProof="1"/>
              <a:t>第二级</a:t>
            </a:r>
            <a:endParaRPr lang="zh-CN" altLang="en-US" strike="noStrike" noProof="1"/>
          </a:p>
          <a:p>
            <a:pPr lvl="2" fontAlgn="base"/>
            <a:r>
              <a:rPr lang="zh-CN" altLang="en-US" sz="1360" strike="noStrike" noProof="1"/>
              <a:t>第三级</a:t>
            </a:r>
            <a:endParaRPr lang="zh-CN" altLang="en-US" strike="noStrike" noProof="1"/>
          </a:p>
          <a:p>
            <a:pPr lvl="3" fontAlgn="base"/>
            <a:r>
              <a:rPr lang="zh-CN" altLang="en-US" sz="1155" strike="noStrike" noProof="1"/>
              <a:t>第四级</a:t>
            </a:r>
            <a:endParaRPr lang="zh-CN" altLang="en-US" strike="noStrike" noProof="1"/>
          </a:p>
          <a:p>
            <a:pPr lvl="4" fontAlgn="base"/>
            <a:r>
              <a:rPr lang="zh-CN" altLang="en-US" sz="1155" strike="noStrike" noProof="1"/>
              <a:t>第五级</a:t>
            </a:r>
            <a:endParaRPr lang="zh-CN" altLang="en-US" strike="noStrike" noProof="1"/>
          </a:p>
        </p:txBody>
      </p:sp>
      <p:sp>
        <p:nvSpPr>
          <p:cNvPr id="5" name="文本占位符 4"/>
          <p:cNvSpPr>
            <a:spLocks noGrp="1"/>
          </p:cNvSpPr>
          <p:nvPr>
            <p:ph type="body" sz="quarter" idx="3"/>
          </p:nvPr>
        </p:nvSpPr>
        <p:spPr>
          <a:xfrm>
            <a:off x="4645033" y="1151502"/>
            <a:ext cx="4041781" cy="479891"/>
          </a:xfrm>
        </p:spPr>
        <p:txBody>
          <a:bodyPr anchor="b"/>
          <a:lstStyle>
            <a:lvl1pPr marL="0" indent="0">
              <a:buNone/>
              <a:defRPr sz="1770" b="1"/>
            </a:lvl1pPr>
            <a:lvl2pPr marL="339725" indent="0">
              <a:buNone/>
              <a:defRPr sz="1495" b="1"/>
            </a:lvl2pPr>
            <a:lvl3pPr marL="679450" indent="0">
              <a:buNone/>
              <a:defRPr sz="1360" b="1"/>
            </a:lvl3pPr>
            <a:lvl4pPr marL="1018540" indent="0">
              <a:buNone/>
              <a:defRPr sz="1155" b="1"/>
            </a:lvl4pPr>
            <a:lvl5pPr marL="1358265" indent="0">
              <a:buNone/>
              <a:defRPr sz="1155" b="1"/>
            </a:lvl5pPr>
            <a:lvl6pPr marL="1697355" indent="0">
              <a:buNone/>
              <a:defRPr sz="1155" b="1"/>
            </a:lvl6pPr>
            <a:lvl7pPr marL="2037080" indent="0">
              <a:buNone/>
              <a:defRPr sz="1155" b="1"/>
            </a:lvl7pPr>
            <a:lvl8pPr marL="2376805" indent="0">
              <a:buNone/>
              <a:defRPr sz="1155" b="1"/>
            </a:lvl8pPr>
            <a:lvl9pPr marL="2715895" indent="0">
              <a:buNone/>
              <a:defRPr sz="1155" b="1"/>
            </a:lvl9pPr>
          </a:lstStyle>
          <a:p>
            <a:pPr lvl="0" fontAlgn="base"/>
            <a:r>
              <a:rPr lang="zh-CN" altLang="en-US" sz="1770"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33" y="1631393"/>
            <a:ext cx="4041781" cy="2963897"/>
          </a:xfrm>
        </p:spPr>
        <p:txBody>
          <a:bodyPr/>
          <a:lstStyle>
            <a:lvl1pPr>
              <a:defRPr sz="1770"/>
            </a:lvl1pPr>
            <a:lvl2pPr>
              <a:defRPr sz="1495"/>
            </a:lvl2pPr>
            <a:lvl3pPr>
              <a:defRPr sz="1360"/>
            </a:lvl3pPr>
            <a:lvl4pPr>
              <a:defRPr sz="1155"/>
            </a:lvl4pPr>
            <a:lvl5pPr>
              <a:defRPr sz="1155"/>
            </a:lvl5pPr>
            <a:lvl6pPr>
              <a:defRPr sz="1155"/>
            </a:lvl6pPr>
            <a:lvl7pPr>
              <a:defRPr sz="1155"/>
            </a:lvl7pPr>
            <a:lvl8pPr>
              <a:defRPr sz="1155"/>
            </a:lvl8pPr>
            <a:lvl9pPr>
              <a:defRPr sz="1155"/>
            </a:lvl9pPr>
          </a:lstStyle>
          <a:p>
            <a:pPr lvl="0" fontAlgn="base"/>
            <a:r>
              <a:rPr lang="zh-CN" altLang="en-US" sz="1770" strike="noStrike" noProof="1"/>
              <a:t>单击此处编辑母版文本样式</a:t>
            </a:r>
            <a:endParaRPr lang="zh-CN" altLang="en-US" strike="noStrike" noProof="1"/>
          </a:p>
          <a:p>
            <a:pPr lvl="1" fontAlgn="base"/>
            <a:r>
              <a:rPr lang="zh-CN" altLang="en-US" sz="1495" strike="noStrike" noProof="1"/>
              <a:t>第二级</a:t>
            </a:r>
            <a:endParaRPr lang="zh-CN" altLang="en-US" strike="noStrike" noProof="1"/>
          </a:p>
          <a:p>
            <a:pPr lvl="2" fontAlgn="base"/>
            <a:r>
              <a:rPr lang="zh-CN" altLang="en-US" sz="1360" strike="noStrike" noProof="1"/>
              <a:t>第三级</a:t>
            </a:r>
            <a:endParaRPr lang="zh-CN" altLang="en-US" strike="noStrike" noProof="1"/>
          </a:p>
          <a:p>
            <a:pPr lvl="3" fontAlgn="base"/>
            <a:r>
              <a:rPr lang="zh-CN" altLang="en-US" sz="1155" strike="noStrike" noProof="1"/>
              <a:t>第四级</a:t>
            </a:r>
            <a:endParaRPr lang="zh-CN" altLang="en-US" strike="noStrike" noProof="1"/>
          </a:p>
          <a:p>
            <a:pPr lvl="4" fontAlgn="base"/>
            <a:r>
              <a:rPr lang="zh-CN" altLang="en-US" sz="1155" strike="noStrike" noProof="1"/>
              <a:t>第五级</a:t>
            </a:r>
            <a:endParaRPr lang="zh-CN" altLang="en-US" strike="noStrike" noProof="1"/>
          </a:p>
        </p:txBody>
      </p:sp>
      <p:sp>
        <p:nvSpPr>
          <p:cNvPr id="10" name="日期占位符 3"/>
          <p:cNvSpPr>
            <a:spLocks noGrp="1" noChangeArrowheads="1"/>
          </p:cNvSpPr>
          <p:nvPr>
            <p:ph type="dt" sz="half" idx="10"/>
          </p:nvPr>
        </p:nvSpPr>
        <p:spPr bwMode="auto">
          <a:xfrm>
            <a:off x="6553200" y="4768850"/>
            <a:ext cx="2133600" cy="273050"/>
          </a:xfrm>
          <a:prstGeom prst="rect">
            <a:avLst/>
          </a:prstGeom>
          <a:noFill/>
          <a:ln w="9525">
            <a:noFill/>
            <a:miter lim="800000"/>
          </a:ln>
        </p:spPr>
        <p:txBody>
          <a:bodyPr vert="horz" wrap="square" lIns="99798" tIns="49899" rIns="99798" bIns="49899" numCol="1" anchor="ctr" anchorCtr="0" compatLnSpc="1"/>
          <a:lstStyle>
            <a:lvl1pPr>
              <a:buFont typeface="Arial" panose="020B0604020202020204" pitchFamily="34" charset="0"/>
              <a:buNone/>
              <a:defRPr sz="885">
                <a:solidFill>
                  <a:srgbClr val="898989"/>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308381-8264-4782-9D38-F8048B215598}" type="datetime1">
              <a:rPr kumimoji="0" lang="zh-CN" altLang="en-US" sz="1300" b="0" i="0" u="none" strike="noStrike" kern="1200" cap="none" spc="0" normalizeH="0" baseline="0" noProof="0" smtClean="0">
                <a:ln>
                  <a:noFill/>
                </a:ln>
                <a:solidFill>
                  <a:srgbClr val="898989"/>
                </a:solidFill>
                <a:effectLst/>
                <a:uLnTx/>
                <a:uFillTx/>
                <a:latin typeface="Arial" panose="020B0604020202020204" pitchFamily="34" charset="0"/>
                <a:ea typeface="宋体" panose="02010600030101010101" pitchFamily="2" charset="-122"/>
                <a:cs typeface="+mn-cs"/>
              </a:rPr>
              <a:t>2021/7/5</a:t>
            </a:fld>
            <a:endParaRPr kumimoji="0" lang="zh-CN" altLang="en-US" sz="1300" b="0" i="0" u="none" strike="noStrike" kern="1200" cap="none" spc="0" normalizeH="0" baseline="0" noProof="0" dirty="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1" name="页脚占位符 4"/>
          <p:cNvSpPr>
            <a:spLocks noGrp="1" noChangeArrowheads="1"/>
          </p:cNvSpPr>
          <p:nvPr>
            <p:ph type="ftr" sz="quarter" idx="11"/>
          </p:nvPr>
        </p:nvSpPr>
        <p:spPr bwMode="auto">
          <a:xfrm>
            <a:off x="3124200" y="4768850"/>
            <a:ext cx="2895600" cy="273050"/>
          </a:xfrm>
          <a:prstGeom prst="rect">
            <a:avLst/>
          </a:prstGeom>
          <a:noFill/>
          <a:ln w="9525">
            <a:noFill/>
            <a:miter lim="800000"/>
          </a:ln>
        </p:spPr>
        <p:txBody>
          <a:bodyPr vert="horz" wrap="square" lIns="99798" tIns="49899" rIns="99798" bIns="49899" numCol="1" anchor="ctr" anchorCtr="0" compatLnSpc="1"/>
          <a:lstStyle>
            <a:lvl1pPr algn="ctr">
              <a:buFont typeface="Arial" panose="020B0604020202020204" pitchFamily="34" charset="0"/>
              <a:buNone/>
              <a:defRPr sz="885">
                <a:solidFill>
                  <a:srgbClr val="898989"/>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3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2" name="灯片编号占位符 5"/>
          <p:cNvSpPr>
            <a:spLocks noGrp="1" noChangeArrowheads="1"/>
          </p:cNvSpPr>
          <p:nvPr>
            <p:ph type="sldNum" sz="quarter" idx="12"/>
          </p:nvPr>
        </p:nvSpPr>
        <p:spPr bwMode="auto">
          <a:xfrm>
            <a:off x="457200" y="4768850"/>
            <a:ext cx="2133600" cy="273050"/>
          </a:xfrm>
          <a:prstGeom prst="rect">
            <a:avLst/>
          </a:prstGeom>
          <a:noFill/>
          <a:ln w="9525">
            <a:noFill/>
            <a:miter lim="800000"/>
          </a:ln>
        </p:spPr>
        <p:txBody>
          <a:bodyPr vert="horz" wrap="square" lIns="99798" tIns="49899" rIns="99798" bIns="49899" numCol="1" anchor="ctr" anchorCtr="0" compatLnSpc="1"/>
          <a:lstStyle>
            <a:lvl1pPr algn="r">
              <a:defRPr sz="885">
                <a:solidFill>
                  <a:srgbClr val="898989"/>
                </a:solidFill>
              </a:defRPr>
            </a:lvl1pPr>
          </a:lstStyle>
          <a:p>
            <a:pPr lvl="0" eaLnBrk="1" fontAlgn="base" hangingPunct="1"/>
            <a:fld id="{9A0DB2DC-4C9A-4742-B13C-FB6460FD3503}" type="slidenum">
              <a:rPr lang="zh-CN" altLang="en-US" sz="885"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1"/>
            <a:ext cx="8229600" cy="411600"/>
          </a:xfrm>
        </p:spPr>
        <p:txBody>
          <a:bodyPr/>
          <a:lstStyle>
            <a:lvl1pPr>
              <a:defRPr sz="2800"/>
            </a:lvl1pPr>
          </a:lstStyle>
          <a:p>
            <a:pPr fontAlgn="base"/>
            <a:r>
              <a:rPr lang="zh-CN" altLang="en-US" sz="3265" strike="noStrike" noProof="1"/>
              <a:t>单击此处编辑母版标题样式</a:t>
            </a:r>
            <a:endParaRPr lang="zh-CN" altLang="en-US" strike="noStrike" noProof="1"/>
          </a:p>
        </p:txBody>
      </p:sp>
      <p:sp>
        <p:nvSpPr>
          <p:cNvPr id="6" name="日期占位符 3"/>
          <p:cNvSpPr>
            <a:spLocks noGrp="1" noChangeArrowheads="1"/>
          </p:cNvSpPr>
          <p:nvPr>
            <p:ph type="dt" sz="half" idx="2"/>
          </p:nvPr>
        </p:nvSpPr>
        <p:spPr bwMode="auto">
          <a:xfrm>
            <a:off x="6553200" y="4768850"/>
            <a:ext cx="2133600" cy="273050"/>
          </a:xfrm>
          <a:prstGeom prst="rect">
            <a:avLst/>
          </a:prstGeom>
          <a:noFill/>
          <a:ln w="9525">
            <a:noFill/>
            <a:miter lim="800000"/>
          </a:ln>
        </p:spPr>
        <p:txBody>
          <a:bodyPr vert="horz" wrap="square" lIns="99798" tIns="49899" rIns="99798" bIns="49899" numCol="1" anchor="ctr" anchorCtr="0" compatLnSpc="1"/>
          <a:lstStyle>
            <a:lvl1pPr>
              <a:buFont typeface="Arial" panose="020B0604020202020204" pitchFamily="34" charset="0"/>
              <a:buNone/>
              <a:defRPr sz="885">
                <a:solidFill>
                  <a:srgbClr val="898989"/>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308381-8264-4782-9D38-F8048B215598}" type="datetime1">
              <a:rPr kumimoji="0" lang="zh-CN" altLang="en-US" sz="1300" b="0" i="0" u="none" strike="noStrike" kern="1200" cap="none" spc="0" normalizeH="0" baseline="0" noProof="0" smtClean="0">
                <a:ln>
                  <a:noFill/>
                </a:ln>
                <a:solidFill>
                  <a:srgbClr val="898989"/>
                </a:solidFill>
                <a:effectLst/>
                <a:uLnTx/>
                <a:uFillTx/>
                <a:latin typeface="Arial" panose="020B0604020202020204" pitchFamily="34" charset="0"/>
                <a:ea typeface="宋体" panose="02010600030101010101" pitchFamily="2" charset="-122"/>
                <a:cs typeface="+mn-cs"/>
              </a:rPr>
              <a:t>2021/7/5</a:t>
            </a:fld>
            <a:endParaRPr kumimoji="0" lang="zh-CN" altLang="en-US" sz="1300" b="0" i="0" u="none" strike="noStrike" kern="1200" cap="none" spc="0" normalizeH="0" baseline="0" noProof="0" dirty="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0" name="页脚占位符 4"/>
          <p:cNvSpPr>
            <a:spLocks noGrp="1" noChangeArrowheads="1"/>
          </p:cNvSpPr>
          <p:nvPr>
            <p:ph type="ftr" sz="quarter" idx="3"/>
          </p:nvPr>
        </p:nvSpPr>
        <p:spPr bwMode="auto">
          <a:xfrm>
            <a:off x="3124200" y="4768850"/>
            <a:ext cx="2895600" cy="273050"/>
          </a:xfrm>
          <a:prstGeom prst="rect">
            <a:avLst/>
          </a:prstGeom>
          <a:noFill/>
          <a:ln w="9525">
            <a:noFill/>
            <a:miter lim="800000"/>
          </a:ln>
        </p:spPr>
        <p:txBody>
          <a:bodyPr vert="horz" wrap="square" lIns="99798" tIns="49899" rIns="99798" bIns="49899" numCol="1" anchor="ctr" anchorCtr="0" compatLnSpc="1"/>
          <a:lstStyle>
            <a:lvl1pPr algn="ctr">
              <a:buFont typeface="Arial" panose="020B0604020202020204" pitchFamily="34" charset="0"/>
              <a:buNone/>
              <a:defRPr sz="885">
                <a:solidFill>
                  <a:srgbClr val="898989"/>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3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1" name="灯片编号占位符 5"/>
          <p:cNvSpPr>
            <a:spLocks noGrp="1" noChangeArrowheads="1"/>
          </p:cNvSpPr>
          <p:nvPr>
            <p:ph type="sldNum" sz="quarter" idx="4"/>
          </p:nvPr>
        </p:nvSpPr>
        <p:spPr bwMode="auto">
          <a:xfrm>
            <a:off x="457200" y="4768850"/>
            <a:ext cx="2133600" cy="273050"/>
          </a:xfrm>
          <a:prstGeom prst="rect">
            <a:avLst/>
          </a:prstGeom>
          <a:noFill/>
          <a:ln w="9525">
            <a:noFill/>
            <a:miter lim="800000"/>
          </a:ln>
        </p:spPr>
        <p:txBody>
          <a:bodyPr vert="horz" wrap="square" lIns="99798" tIns="49899" rIns="99798" bIns="49899" numCol="1" anchor="ctr" anchorCtr="0" compatLnSpc="1"/>
          <a:lstStyle>
            <a:lvl1pPr algn="r">
              <a:defRPr sz="885">
                <a:solidFill>
                  <a:srgbClr val="898989"/>
                </a:solidFill>
              </a:defRPr>
            </a:lvl1pPr>
          </a:lstStyle>
          <a:p>
            <a:pPr lvl="0" eaLnBrk="1" fontAlgn="base" hangingPunct="1"/>
            <a:fld id="{9A0DB2DC-4C9A-4742-B13C-FB6460FD3503}" type="slidenum">
              <a:rPr lang="zh-CN" altLang="en-US" sz="885"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日期占位符 3"/>
          <p:cNvSpPr>
            <a:spLocks noGrp="1" noChangeArrowheads="1"/>
          </p:cNvSpPr>
          <p:nvPr>
            <p:ph type="dt" sz="half" idx="2"/>
          </p:nvPr>
        </p:nvSpPr>
        <p:spPr bwMode="auto">
          <a:xfrm>
            <a:off x="6553200" y="4768850"/>
            <a:ext cx="2133600" cy="273050"/>
          </a:xfrm>
          <a:prstGeom prst="rect">
            <a:avLst/>
          </a:prstGeom>
          <a:noFill/>
          <a:ln w="9525">
            <a:noFill/>
            <a:miter lim="800000"/>
          </a:ln>
        </p:spPr>
        <p:txBody>
          <a:bodyPr vert="horz" wrap="square" lIns="99798" tIns="49899" rIns="99798" bIns="49899" numCol="1" anchor="ctr" anchorCtr="0" compatLnSpc="1"/>
          <a:lstStyle>
            <a:lvl1pPr>
              <a:buFont typeface="Arial" panose="020B0604020202020204" pitchFamily="34" charset="0"/>
              <a:buNone/>
              <a:defRPr sz="885">
                <a:solidFill>
                  <a:srgbClr val="898989"/>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308381-8264-4782-9D38-F8048B215598}" type="datetime1">
              <a:rPr kumimoji="0" lang="zh-CN" altLang="en-US" sz="1300" b="0" i="0" u="none" strike="noStrike" kern="1200" cap="none" spc="0" normalizeH="0" baseline="0" noProof="0" smtClean="0">
                <a:ln>
                  <a:noFill/>
                </a:ln>
                <a:solidFill>
                  <a:srgbClr val="898989"/>
                </a:solidFill>
                <a:effectLst/>
                <a:uLnTx/>
                <a:uFillTx/>
                <a:latin typeface="Arial" panose="020B0604020202020204" pitchFamily="34" charset="0"/>
                <a:ea typeface="宋体" panose="02010600030101010101" pitchFamily="2" charset="-122"/>
                <a:cs typeface="+mn-cs"/>
              </a:rPr>
              <a:t>2021/7/5</a:t>
            </a:fld>
            <a:endParaRPr kumimoji="0" lang="zh-CN" altLang="en-US" sz="1300" b="0" i="0" u="none" strike="noStrike" kern="1200" cap="none" spc="0" normalizeH="0" baseline="0" noProof="0" dirty="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6" name="页脚占位符 4"/>
          <p:cNvSpPr>
            <a:spLocks noGrp="1" noChangeArrowheads="1"/>
          </p:cNvSpPr>
          <p:nvPr>
            <p:ph type="ftr" sz="quarter" idx="3"/>
          </p:nvPr>
        </p:nvSpPr>
        <p:spPr bwMode="auto">
          <a:xfrm>
            <a:off x="3124200" y="4768850"/>
            <a:ext cx="2895600" cy="273050"/>
          </a:xfrm>
          <a:prstGeom prst="rect">
            <a:avLst/>
          </a:prstGeom>
          <a:noFill/>
          <a:ln w="9525">
            <a:noFill/>
            <a:miter lim="800000"/>
          </a:ln>
        </p:spPr>
        <p:txBody>
          <a:bodyPr vert="horz" wrap="square" lIns="99798" tIns="49899" rIns="99798" bIns="49899" numCol="1" anchor="ctr" anchorCtr="0" compatLnSpc="1"/>
          <a:lstStyle>
            <a:lvl1pPr algn="ctr">
              <a:buFont typeface="Arial" panose="020B0604020202020204" pitchFamily="34" charset="0"/>
              <a:buNone/>
              <a:defRPr sz="885">
                <a:solidFill>
                  <a:srgbClr val="898989"/>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3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0" name="灯片编号占位符 5"/>
          <p:cNvSpPr>
            <a:spLocks noGrp="1" noChangeArrowheads="1"/>
          </p:cNvSpPr>
          <p:nvPr>
            <p:ph type="sldNum" sz="quarter" idx="4"/>
          </p:nvPr>
        </p:nvSpPr>
        <p:spPr bwMode="auto">
          <a:xfrm>
            <a:off x="457200" y="4768850"/>
            <a:ext cx="2133600" cy="273050"/>
          </a:xfrm>
          <a:prstGeom prst="rect">
            <a:avLst/>
          </a:prstGeom>
          <a:noFill/>
          <a:ln w="9525">
            <a:noFill/>
            <a:miter lim="800000"/>
          </a:ln>
        </p:spPr>
        <p:txBody>
          <a:bodyPr vert="horz" wrap="square" lIns="99798" tIns="49899" rIns="99798" bIns="49899" numCol="1" anchor="ctr" anchorCtr="0" compatLnSpc="1"/>
          <a:lstStyle>
            <a:lvl1pPr algn="r">
              <a:defRPr sz="885">
                <a:solidFill>
                  <a:srgbClr val="898989"/>
                </a:solidFill>
              </a:defRPr>
            </a:lvl1pPr>
          </a:lstStyle>
          <a:p>
            <a:pPr lvl="0" eaLnBrk="1" fontAlgn="base" hangingPunct="1"/>
            <a:fld id="{9A0DB2DC-4C9A-4742-B13C-FB6460FD3503}" type="slidenum">
              <a:rPr lang="zh-CN" altLang="en-US" sz="885"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04817"/>
            <a:ext cx="3008317" cy="871664"/>
          </a:xfrm>
        </p:spPr>
        <p:txBody>
          <a:bodyPr anchor="b"/>
          <a:lstStyle>
            <a:lvl1pPr algn="l">
              <a:defRPr sz="1495" b="1"/>
            </a:lvl1pPr>
          </a:lstStyle>
          <a:p>
            <a:pPr fontAlgn="base"/>
            <a:r>
              <a:rPr lang="zh-CN" altLang="en-US" sz="1495" strike="noStrike" noProof="1"/>
              <a:t>单击此处编辑母版标题样式</a:t>
            </a:r>
            <a:endParaRPr lang="zh-CN" altLang="en-US" strike="noStrike" noProof="1"/>
          </a:p>
        </p:txBody>
      </p:sp>
      <p:sp>
        <p:nvSpPr>
          <p:cNvPr id="3" name="内容占位符 2"/>
          <p:cNvSpPr>
            <a:spLocks noGrp="1"/>
          </p:cNvSpPr>
          <p:nvPr>
            <p:ph idx="1"/>
          </p:nvPr>
        </p:nvSpPr>
        <p:spPr>
          <a:xfrm>
            <a:off x="3575055" y="204817"/>
            <a:ext cx="5111758" cy="4390473"/>
          </a:xfrm>
        </p:spPr>
        <p:txBody>
          <a:bodyPr/>
          <a:lstStyle>
            <a:lvl1pPr>
              <a:defRPr sz="2380"/>
            </a:lvl1pPr>
            <a:lvl2pPr>
              <a:defRPr sz="2110"/>
            </a:lvl2pPr>
            <a:lvl3pPr>
              <a:defRPr sz="1770"/>
            </a:lvl3pPr>
            <a:lvl4pPr>
              <a:defRPr sz="1495"/>
            </a:lvl4pPr>
            <a:lvl5pPr>
              <a:defRPr sz="1495"/>
            </a:lvl5pPr>
            <a:lvl6pPr>
              <a:defRPr sz="1495"/>
            </a:lvl6pPr>
            <a:lvl7pPr>
              <a:defRPr sz="1495"/>
            </a:lvl7pPr>
            <a:lvl8pPr>
              <a:defRPr sz="1495"/>
            </a:lvl8pPr>
            <a:lvl9pPr>
              <a:defRPr sz="1495"/>
            </a:lvl9pPr>
          </a:lstStyle>
          <a:p>
            <a:pPr lvl="0" fontAlgn="base"/>
            <a:r>
              <a:rPr lang="zh-CN" altLang="en-US" sz="2380" strike="noStrike" noProof="1"/>
              <a:t>单击此处编辑母版文本样式</a:t>
            </a:r>
            <a:endParaRPr lang="zh-CN" altLang="en-US" strike="noStrike" noProof="1"/>
          </a:p>
          <a:p>
            <a:pPr lvl="1" fontAlgn="base"/>
            <a:r>
              <a:rPr lang="zh-CN" altLang="en-US" sz="2110" strike="noStrike" noProof="1"/>
              <a:t>第二级</a:t>
            </a:r>
            <a:endParaRPr lang="zh-CN" altLang="en-US" strike="noStrike" noProof="1"/>
          </a:p>
          <a:p>
            <a:pPr lvl="2" fontAlgn="base"/>
            <a:r>
              <a:rPr lang="zh-CN" altLang="en-US" sz="1770" strike="noStrike" noProof="1"/>
              <a:t>第三级</a:t>
            </a:r>
            <a:endParaRPr lang="zh-CN" altLang="en-US" strike="noStrike" noProof="1"/>
          </a:p>
          <a:p>
            <a:pPr lvl="3" fontAlgn="base"/>
            <a:r>
              <a:rPr lang="zh-CN" altLang="en-US" sz="1495" strike="noStrike" noProof="1"/>
              <a:t>第四级</a:t>
            </a:r>
            <a:endParaRPr lang="zh-CN" altLang="en-US" strike="noStrike" noProof="1"/>
          </a:p>
          <a:p>
            <a:pPr lvl="4" fontAlgn="base"/>
            <a:r>
              <a:rPr lang="zh-CN" altLang="en-US" sz="1495" strike="noStrike" noProof="1"/>
              <a:t>第五级</a:t>
            </a:r>
            <a:endParaRPr lang="zh-CN" altLang="en-US" strike="noStrike" noProof="1"/>
          </a:p>
        </p:txBody>
      </p:sp>
      <p:sp>
        <p:nvSpPr>
          <p:cNvPr id="4" name="文本占位符 3"/>
          <p:cNvSpPr>
            <a:spLocks noGrp="1"/>
          </p:cNvSpPr>
          <p:nvPr>
            <p:ph type="body" sz="half" idx="2"/>
          </p:nvPr>
        </p:nvSpPr>
        <p:spPr>
          <a:xfrm>
            <a:off x="457202" y="1076482"/>
            <a:ext cx="3008317" cy="3518808"/>
          </a:xfrm>
        </p:spPr>
        <p:txBody>
          <a:bodyPr/>
          <a:lstStyle>
            <a:lvl1pPr marL="0" indent="0">
              <a:buNone/>
              <a:defRPr sz="1020"/>
            </a:lvl1pPr>
            <a:lvl2pPr marL="339725" indent="0">
              <a:buNone/>
              <a:defRPr sz="885"/>
            </a:lvl2pPr>
            <a:lvl3pPr marL="679450" indent="0">
              <a:buNone/>
              <a:defRPr sz="750"/>
            </a:lvl3pPr>
            <a:lvl4pPr marL="1018540" indent="0">
              <a:buNone/>
              <a:defRPr sz="680"/>
            </a:lvl4pPr>
            <a:lvl5pPr marL="1358265" indent="0">
              <a:buNone/>
              <a:defRPr sz="680"/>
            </a:lvl5pPr>
            <a:lvl6pPr marL="1697355" indent="0">
              <a:buNone/>
              <a:defRPr sz="680"/>
            </a:lvl6pPr>
            <a:lvl7pPr marL="2037080" indent="0">
              <a:buNone/>
              <a:defRPr sz="680"/>
            </a:lvl7pPr>
            <a:lvl8pPr marL="2376805" indent="0">
              <a:buNone/>
              <a:defRPr sz="680"/>
            </a:lvl8pPr>
            <a:lvl9pPr marL="2715895" indent="0">
              <a:buNone/>
              <a:defRPr sz="680"/>
            </a:lvl9pPr>
          </a:lstStyle>
          <a:p>
            <a:pPr lvl="0" fontAlgn="base"/>
            <a:r>
              <a:rPr lang="zh-CN" altLang="en-US" sz="1020" strike="noStrike" noProof="1"/>
              <a:t>单击此处编辑母版文本样式</a:t>
            </a:r>
            <a:endParaRPr lang="zh-CN" altLang="en-US" strike="noStrike" noProof="1"/>
          </a:p>
        </p:txBody>
      </p:sp>
      <p:sp>
        <p:nvSpPr>
          <p:cNvPr id="10" name="日期占位符 3"/>
          <p:cNvSpPr>
            <a:spLocks noGrp="1" noChangeArrowheads="1"/>
          </p:cNvSpPr>
          <p:nvPr>
            <p:ph type="dt" sz="half" idx="10"/>
          </p:nvPr>
        </p:nvSpPr>
        <p:spPr bwMode="auto">
          <a:xfrm>
            <a:off x="6553200" y="4768850"/>
            <a:ext cx="2133600" cy="273050"/>
          </a:xfrm>
          <a:prstGeom prst="rect">
            <a:avLst/>
          </a:prstGeom>
          <a:noFill/>
          <a:ln w="9525">
            <a:noFill/>
            <a:miter lim="800000"/>
          </a:ln>
        </p:spPr>
        <p:txBody>
          <a:bodyPr vert="horz" wrap="square" lIns="99798" tIns="49899" rIns="99798" bIns="49899" numCol="1" anchor="ctr" anchorCtr="0" compatLnSpc="1"/>
          <a:lstStyle>
            <a:lvl1pPr>
              <a:buFont typeface="Arial" panose="020B0604020202020204" pitchFamily="34" charset="0"/>
              <a:buNone/>
              <a:defRPr sz="885">
                <a:solidFill>
                  <a:srgbClr val="898989"/>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308381-8264-4782-9D38-F8048B215598}" type="datetime1">
              <a:rPr kumimoji="0" lang="zh-CN" altLang="en-US" sz="1300" b="0" i="0" u="none" strike="noStrike" kern="1200" cap="none" spc="0" normalizeH="0" baseline="0" noProof="0" smtClean="0">
                <a:ln>
                  <a:noFill/>
                </a:ln>
                <a:solidFill>
                  <a:srgbClr val="898989"/>
                </a:solidFill>
                <a:effectLst/>
                <a:uLnTx/>
                <a:uFillTx/>
                <a:latin typeface="Arial" panose="020B0604020202020204" pitchFamily="34" charset="0"/>
                <a:ea typeface="宋体" panose="02010600030101010101" pitchFamily="2" charset="-122"/>
                <a:cs typeface="+mn-cs"/>
              </a:rPr>
              <a:t>2021/7/5</a:t>
            </a:fld>
            <a:endParaRPr kumimoji="0" lang="zh-CN" altLang="en-US" sz="1300" b="0" i="0" u="none" strike="noStrike" kern="1200" cap="none" spc="0" normalizeH="0" baseline="0" noProof="0" dirty="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1" name="页脚占位符 4"/>
          <p:cNvSpPr>
            <a:spLocks noGrp="1" noChangeArrowheads="1"/>
          </p:cNvSpPr>
          <p:nvPr>
            <p:ph type="ftr" sz="quarter" idx="3"/>
          </p:nvPr>
        </p:nvSpPr>
        <p:spPr bwMode="auto">
          <a:xfrm>
            <a:off x="3124200" y="4768850"/>
            <a:ext cx="2895600" cy="273050"/>
          </a:xfrm>
          <a:prstGeom prst="rect">
            <a:avLst/>
          </a:prstGeom>
          <a:noFill/>
          <a:ln w="9525">
            <a:noFill/>
            <a:miter lim="800000"/>
          </a:ln>
        </p:spPr>
        <p:txBody>
          <a:bodyPr vert="horz" wrap="square" lIns="99798" tIns="49899" rIns="99798" bIns="49899" numCol="1" anchor="ctr" anchorCtr="0" compatLnSpc="1"/>
          <a:lstStyle>
            <a:lvl1pPr algn="ctr">
              <a:buFont typeface="Arial" panose="020B0604020202020204" pitchFamily="34" charset="0"/>
              <a:buNone/>
              <a:defRPr sz="885">
                <a:solidFill>
                  <a:srgbClr val="898989"/>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3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2" name="灯片编号占位符 5"/>
          <p:cNvSpPr>
            <a:spLocks noGrp="1" noChangeArrowheads="1"/>
          </p:cNvSpPr>
          <p:nvPr>
            <p:ph type="sldNum" sz="quarter" idx="4"/>
          </p:nvPr>
        </p:nvSpPr>
        <p:spPr bwMode="auto">
          <a:xfrm>
            <a:off x="457200" y="4768850"/>
            <a:ext cx="2133600" cy="273050"/>
          </a:xfrm>
          <a:prstGeom prst="rect">
            <a:avLst/>
          </a:prstGeom>
          <a:noFill/>
          <a:ln w="9525">
            <a:noFill/>
            <a:miter lim="800000"/>
          </a:ln>
        </p:spPr>
        <p:txBody>
          <a:bodyPr vert="horz" wrap="square" lIns="99798" tIns="49899" rIns="99798" bIns="49899" numCol="1" anchor="ctr" anchorCtr="0" compatLnSpc="1"/>
          <a:lstStyle>
            <a:lvl1pPr algn="r">
              <a:defRPr sz="885">
                <a:solidFill>
                  <a:srgbClr val="898989"/>
                </a:solidFill>
              </a:defRPr>
            </a:lvl1pPr>
          </a:lstStyle>
          <a:p>
            <a:pPr lvl="0" eaLnBrk="1" fontAlgn="base" hangingPunct="1"/>
            <a:fld id="{9A0DB2DC-4C9A-4742-B13C-FB6460FD3503}" type="slidenum">
              <a:rPr lang="zh-CN" altLang="en-US" sz="885"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91" y="3600973"/>
            <a:ext cx="5486408" cy="425115"/>
          </a:xfrm>
        </p:spPr>
        <p:txBody>
          <a:bodyPr anchor="b"/>
          <a:lstStyle>
            <a:lvl1pPr algn="l">
              <a:defRPr sz="1495" b="1"/>
            </a:lvl1pPr>
          </a:lstStyle>
          <a:p>
            <a:pPr fontAlgn="base"/>
            <a:r>
              <a:rPr lang="zh-CN" altLang="en-US" sz="1495"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91" y="459649"/>
            <a:ext cx="5486408" cy="3086549"/>
          </a:xfrm>
        </p:spPr>
        <p:txBody>
          <a:bodyPr vert="horz" wrap="square" lIns="99798" tIns="49899" rIns="99798" bIns="49899" numCol="1" anchor="t" anchorCtr="0" compatLnSpc="1"/>
          <a:lstStyle>
            <a:lvl1pPr marL="0" indent="0">
              <a:buNone/>
              <a:defRPr sz="2380"/>
            </a:lvl1pPr>
            <a:lvl2pPr marL="339725" indent="0">
              <a:buNone/>
              <a:defRPr sz="2110"/>
            </a:lvl2pPr>
            <a:lvl3pPr marL="679450" indent="0">
              <a:buNone/>
              <a:defRPr sz="1770"/>
            </a:lvl3pPr>
            <a:lvl4pPr marL="1018540" indent="0">
              <a:buNone/>
              <a:defRPr sz="1495"/>
            </a:lvl4pPr>
            <a:lvl5pPr marL="1358265" indent="0">
              <a:buNone/>
              <a:defRPr sz="1495"/>
            </a:lvl5pPr>
            <a:lvl6pPr marL="1697355" indent="0">
              <a:buNone/>
              <a:defRPr sz="1495"/>
            </a:lvl6pPr>
            <a:lvl7pPr marL="2037080" indent="0">
              <a:buNone/>
              <a:defRPr sz="1495"/>
            </a:lvl7pPr>
            <a:lvl8pPr marL="2376805" indent="0">
              <a:buNone/>
              <a:defRPr sz="1495"/>
            </a:lvl8pPr>
            <a:lvl9pPr marL="2715895" indent="0">
              <a:buNone/>
              <a:defRPr sz="1495"/>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500" b="0" i="0" u="none" strike="noStrike" kern="0" cap="none" spc="0" normalizeH="0" baseline="0" noProof="0">
              <a:ln>
                <a:noFill/>
              </a:ln>
              <a:solidFill>
                <a:schemeClr val="tx1"/>
              </a:solidFill>
              <a:effectLst/>
              <a:uLnTx/>
              <a:uFillTx/>
              <a:latin typeface="+mn-lt"/>
              <a:ea typeface="+mn-ea"/>
              <a:cs typeface="+mn-cs"/>
              <a:sym typeface="Calibri" panose="020F0502020204030204" pitchFamily="34" charset="0"/>
            </a:endParaRPr>
          </a:p>
        </p:txBody>
      </p:sp>
      <p:sp>
        <p:nvSpPr>
          <p:cNvPr id="4" name="文本占位符 3"/>
          <p:cNvSpPr>
            <a:spLocks noGrp="1"/>
          </p:cNvSpPr>
          <p:nvPr>
            <p:ph type="body" sz="half" idx="2"/>
          </p:nvPr>
        </p:nvSpPr>
        <p:spPr>
          <a:xfrm>
            <a:off x="1792291" y="4026088"/>
            <a:ext cx="5486408" cy="603734"/>
          </a:xfrm>
        </p:spPr>
        <p:txBody>
          <a:bodyPr/>
          <a:lstStyle>
            <a:lvl1pPr marL="0" indent="0">
              <a:buNone/>
              <a:defRPr sz="1020"/>
            </a:lvl1pPr>
            <a:lvl2pPr marL="339725" indent="0">
              <a:buNone/>
              <a:defRPr sz="885"/>
            </a:lvl2pPr>
            <a:lvl3pPr marL="679450" indent="0">
              <a:buNone/>
              <a:defRPr sz="750"/>
            </a:lvl3pPr>
            <a:lvl4pPr marL="1018540" indent="0">
              <a:buNone/>
              <a:defRPr sz="680"/>
            </a:lvl4pPr>
            <a:lvl5pPr marL="1358265" indent="0">
              <a:buNone/>
              <a:defRPr sz="680"/>
            </a:lvl5pPr>
            <a:lvl6pPr marL="1697355" indent="0">
              <a:buNone/>
              <a:defRPr sz="680"/>
            </a:lvl6pPr>
            <a:lvl7pPr marL="2037080" indent="0">
              <a:buNone/>
              <a:defRPr sz="680"/>
            </a:lvl7pPr>
            <a:lvl8pPr marL="2376805" indent="0">
              <a:buNone/>
              <a:defRPr sz="680"/>
            </a:lvl8pPr>
            <a:lvl9pPr marL="2715895" indent="0">
              <a:buNone/>
              <a:defRPr sz="680"/>
            </a:lvl9pPr>
          </a:lstStyle>
          <a:p>
            <a:pPr lvl="0" fontAlgn="base"/>
            <a:r>
              <a:rPr lang="zh-CN" altLang="en-US" sz="1020" strike="noStrike" noProof="1"/>
              <a:t>单击此处编辑母版文本样式</a:t>
            </a:r>
            <a:endParaRPr lang="zh-CN" altLang="en-US" strike="noStrike" noProof="1"/>
          </a:p>
        </p:txBody>
      </p:sp>
      <p:sp>
        <p:nvSpPr>
          <p:cNvPr id="10" name="日期占位符 3"/>
          <p:cNvSpPr>
            <a:spLocks noGrp="1" noChangeArrowheads="1"/>
          </p:cNvSpPr>
          <p:nvPr>
            <p:ph type="dt" sz="half" idx="10"/>
          </p:nvPr>
        </p:nvSpPr>
        <p:spPr bwMode="auto">
          <a:xfrm>
            <a:off x="6553200" y="4768850"/>
            <a:ext cx="2133600" cy="273050"/>
          </a:xfrm>
          <a:prstGeom prst="rect">
            <a:avLst/>
          </a:prstGeom>
          <a:noFill/>
          <a:ln w="9525">
            <a:noFill/>
            <a:miter lim="800000"/>
          </a:ln>
        </p:spPr>
        <p:txBody>
          <a:bodyPr vert="horz" wrap="square" lIns="99798" tIns="49899" rIns="99798" bIns="49899" numCol="1" anchor="ctr" anchorCtr="0" compatLnSpc="1"/>
          <a:lstStyle>
            <a:lvl1pPr>
              <a:buFont typeface="Arial" panose="020B0604020202020204" pitchFamily="34" charset="0"/>
              <a:buNone/>
              <a:defRPr sz="885">
                <a:solidFill>
                  <a:srgbClr val="898989"/>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308381-8264-4782-9D38-F8048B215598}" type="datetime1">
              <a:rPr kumimoji="0" lang="zh-CN" altLang="en-US" sz="1300" b="0" i="0" u="none" strike="noStrike" kern="1200" cap="none" spc="0" normalizeH="0" baseline="0" noProof="0" smtClean="0">
                <a:ln>
                  <a:noFill/>
                </a:ln>
                <a:solidFill>
                  <a:srgbClr val="898989"/>
                </a:solidFill>
                <a:effectLst/>
                <a:uLnTx/>
                <a:uFillTx/>
                <a:latin typeface="Arial" panose="020B0604020202020204" pitchFamily="34" charset="0"/>
                <a:ea typeface="宋体" panose="02010600030101010101" pitchFamily="2" charset="-122"/>
                <a:cs typeface="+mn-cs"/>
              </a:rPr>
              <a:t>2021/7/5</a:t>
            </a:fld>
            <a:endParaRPr kumimoji="0" lang="zh-CN" altLang="en-US" sz="1300" b="0" i="0" u="none" strike="noStrike" kern="1200" cap="none" spc="0" normalizeH="0" baseline="0" noProof="0" dirty="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1" name="页脚占位符 4"/>
          <p:cNvSpPr>
            <a:spLocks noGrp="1" noChangeArrowheads="1"/>
          </p:cNvSpPr>
          <p:nvPr>
            <p:ph type="ftr" sz="quarter" idx="3"/>
          </p:nvPr>
        </p:nvSpPr>
        <p:spPr bwMode="auto">
          <a:xfrm>
            <a:off x="3124200" y="4768850"/>
            <a:ext cx="2895600" cy="273050"/>
          </a:xfrm>
          <a:prstGeom prst="rect">
            <a:avLst/>
          </a:prstGeom>
          <a:noFill/>
          <a:ln w="9525">
            <a:noFill/>
            <a:miter lim="800000"/>
          </a:ln>
        </p:spPr>
        <p:txBody>
          <a:bodyPr vert="horz" wrap="square" lIns="99798" tIns="49899" rIns="99798" bIns="49899" numCol="1" anchor="ctr" anchorCtr="0" compatLnSpc="1"/>
          <a:lstStyle>
            <a:lvl1pPr algn="ctr">
              <a:buFont typeface="Arial" panose="020B0604020202020204" pitchFamily="34" charset="0"/>
              <a:buNone/>
              <a:defRPr sz="885">
                <a:solidFill>
                  <a:srgbClr val="898989"/>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3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2" name="灯片编号占位符 5"/>
          <p:cNvSpPr>
            <a:spLocks noGrp="1" noChangeArrowheads="1"/>
          </p:cNvSpPr>
          <p:nvPr>
            <p:ph type="sldNum" sz="quarter" idx="4"/>
          </p:nvPr>
        </p:nvSpPr>
        <p:spPr bwMode="auto">
          <a:xfrm>
            <a:off x="457200" y="4768850"/>
            <a:ext cx="2133600" cy="273050"/>
          </a:xfrm>
          <a:prstGeom prst="rect">
            <a:avLst/>
          </a:prstGeom>
          <a:noFill/>
          <a:ln w="9525">
            <a:noFill/>
            <a:miter lim="800000"/>
          </a:ln>
        </p:spPr>
        <p:txBody>
          <a:bodyPr vert="horz" wrap="square" lIns="99798" tIns="49899" rIns="99798" bIns="49899" numCol="1" anchor="ctr" anchorCtr="0" compatLnSpc="1"/>
          <a:lstStyle>
            <a:lvl1pPr algn="r">
              <a:defRPr sz="885">
                <a:solidFill>
                  <a:srgbClr val="898989"/>
                </a:solidFill>
              </a:defRPr>
            </a:lvl1pPr>
          </a:lstStyle>
          <a:p>
            <a:pPr lvl="0" eaLnBrk="1" fontAlgn="base" hangingPunct="1"/>
            <a:fld id="{9A0DB2DC-4C9A-4742-B13C-FB6460FD3503}" type="slidenum">
              <a:rPr lang="zh-CN" altLang="en-US" sz="885"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265"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z="2380" strike="noStrike" noProof="1"/>
              <a:t>单击此处编辑母版文本样式</a:t>
            </a:r>
            <a:endParaRPr lang="zh-CN" altLang="en-US" strike="noStrike" noProof="1"/>
          </a:p>
          <a:p>
            <a:pPr lvl="1" fontAlgn="base"/>
            <a:r>
              <a:rPr lang="zh-CN" altLang="en-US" sz="2110" strike="noStrike" noProof="1"/>
              <a:t>第二级</a:t>
            </a:r>
            <a:endParaRPr lang="zh-CN" altLang="en-US" strike="noStrike" noProof="1"/>
          </a:p>
          <a:p>
            <a:pPr lvl="2" fontAlgn="base"/>
            <a:r>
              <a:rPr lang="zh-CN" altLang="en-US" sz="1770" strike="noStrike" noProof="1"/>
              <a:t>第三级</a:t>
            </a:r>
            <a:endParaRPr lang="zh-CN" altLang="en-US" strike="noStrike" noProof="1"/>
          </a:p>
          <a:p>
            <a:pPr lvl="3" fontAlgn="base"/>
            <a:r>
              <a:rPr lang="zh-CN" altLang="en-US" sz="1495" strike="noStrike" noProof="1"/>
              <a:t>第四级</a:t>
            </a:r>
            <a:endParaRPr lang="zh-CN" altLang="en-US" strike="noStrike" noProof="1"/>
          </a:p>
          <a:p>
            <a:pPr lvl="4" fontAlgn="base"/>
            <a:r>
              <a:rPr lang="zh-CN" altLang="en-US" sz="1495" strike="noStrike" noProof="1"/>
              <a:t>第五级</a:t>
            </a:r>
            <a:endParaRPr lang="zh-CN" altLang="en-US" strike="noStrike" noProof="1"/>
          </a:p>
        </p:txBody>
      </p:sp>
      <p:sp>
        <p:nvSpPr>
          <p:cNvPr id="10" name="日期占位符 3"/>
          <p:cNvSpPr>
            <a:spLocks noGrp="1" noChangeArrowheads="1"/>
          </p:cNvSpPr>
          <p:nvPr>
            <p:ph type="dt" sz="half" idx="2"/>
          </p:nvPr>
        </p:nvSpPr>
        <p:spPr bwMode="auto">
          <a:xfrm>
            <a:off x="6553200" y="4768850"/>
            <a:ext cx="2133600" cy="273050"/>
          </a:xfrm>
          <a:prstGeom prst="rect">
            <a:avLst/>
          </a:prstGeom>
          <a:noFill/>
          <a:ln w="9525">
            <a:noFill/>
            <a:miter lim="800000"/>
          </a:ln>
        </p:spPr>
        <p:txBody>
          <a:bodyPr vert="horz" wrap="square" lIns="99798" tIns="49899" rIns="99798" bIns="49899" numCol="1" anchor="ctr" anchorCtr="0" compatLnSpc="1"/>
          <a:lstStyle>
            <a:lvl1pPr>
              <a:buFont typeface="Arial" panose="020B0604020202020204" pitchFamily="34" charset="0"/>
              <a:buNone/>
              <a:defRPr sz="885">
                <a:solidFill>
                  <a:srgbClr val="898989"/>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308381-8264-4782-9D38-F8048B215598}" type="datetime1">
              <a:rPr kumimoji="0" lang="zh-CN" altLang="en-US" sz="1300" b="0" i="0" u="none" strike="noStrike" kern="1200" cap="none" spc="0" normalizeH="0" baseline="0" noProof="0" smtClean="0">
                <a:ln>
                  <a:noFill/>
                </a:ln>
                <a:solidFill>
                  <a:srgbClr val="898989"/>
                </a:solidFill>
                <a:effectLst/>
                <a:uLnTx/>
                <a:uFillTx/>
                <a:latin typeface="Arial" panose="020B0604020202020204" pitchFamily="34" charset="0"/>
                <a:ea typeface="宋体" panose="02010600030101010101" pitchFamily="2" charset="-122"/>
                <a:cs typeface="+mn-cs"/>
              </a:rPr>
              <a:t>2021/7/5</a:t>
            </a:fld>
            <a:endParaRPr kumimoji="0" lang="zh-CN" altLang="en-US" sz="1300" b="0" i="0" u="none" strike="noStrike" kern="1200" cap="none" spc="0" normalizeH="0" baseline="0" noProof="0" dirty="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1" name="页脚占位符 4"/>
          <p:cNvSpPr>
            <a:spLocks noGrp="1" noChangeArrowheads="1"/>
          </p:cNvSpPr>
          <p:nvPr>
            <p:ph type="ftr" sz="quarter" idx="3"/>
          </p:nvPr>
        </p:nvSpPr>
        <p:spPr bwMode="auto">
          <a:xfrm>
            <a:off x="3124200" y="4768850"/>
            <a:ext cx="2895600" cy="273050"/>
          </a:xfrm>
          <a:prstGeom prst="rect">
            <a:avLst/>
          </a:prstGeom>
          <a:noFill/>
          <a:ln w="9525">
            <a:noFill/>
            <a:miter lim="800000"/>
          </a:ln>
        </p:spPr>
        <p:txBody>
          <a:bodyPr vert="horz" wrap="square" lIns="99798" tIns="49899" rIns="99798" bIns="49899" numCol="1" anchor="ctr" anchorCtr="0" compatLnSpc="1"/>
          <a:lstStyle>
            <a:lvl1pPr algn="ctr">
              <a:buFont typeface="Arial" panose="020B0604020202020204" pitchFamily="34" charset="0"/>
              <a:buNone/>
              <a:defRPr sz="885">
                <a:solidFill>
                  <a:srgbClr val="898989"/>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3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2" name="灯片编号占位符 5"/>
          <p:cNvSpPr>
            <a:spLocks noGrp="1" noChangeArrowheads="1"/>
          </p:cNvSpPr>
          <p:nvPr>
            <p:ph type="sldNum" sz="quarter" idx="4"/>
          </p:nvPr>
        </p:nvSpPr>
        <p:spPr bwMode="auto">
          <a:xfrm>
            <a:off x="457200" y="4768850"/>
            <a:ext cx="2133600" cy="273050"/>
          </a:xfrm>
          <a:prstGeom prst="rect">
            <a:avLst/>
          </a:prstGeom>
          <a:noFill/>
          <a:ln w="9525">
            <a:noFill/>
            <a:miter lim="800000"/>
          </a:ln>
        </p:spPr>
        <p:txBody>
          <a:bodyPr vert="horz" wrap="square" lIns="99798" tIns="49899" rIns="99798" bIns="49899" numCol="1" anchor="ctr" anchorCtr="0" compatLnSpc="1"/>
          <a:lstStyle>
            <a:lvl1pPr algn="r">
              <a:defRPr sz="885">
                <a:solidFill>
                  <a:srgbClr val="898989"/>
                </a:solidFill>
              </a:defRPr>
            </a:lvl1pPr>
          </a:lstStyle>
          <a:p>
            <a:pPr lvl="0" eaLnBrk="1" fontAlgn="base" hangingPunct="1"/>
            <a:fld id="{9A0DB2DC-4C9A-4742-B13C-FB6460FD3503}" type="slidenum">
              <a:rPr lang="zh-CN" altLang="en-US" sz="885"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11" y="206009"/>
            <a:ext cx="2057403" cy="4389281"/>
          </a:xfrm>
        </p:spPr>
        <p:txBody>
          <a:bodyPr vert="eaVert"/>
          <a:lstStyle/>
          <a:p>
            <a:pPr fontAlgn="base"/>
            <a:r>
              <a:rPr lang="zh-CN" altLang="en-US" sz="3265"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2" y="206009"/>
            <a:ext cx="6019809" cy="4389281"/>
          </a:xfrm>
        </p:spPr>
        <p:txBody>
          <a:bodyPr vert="eaVert"/>
          <a:lstStyle/>
          <a:p>
            <a:pPr lvl="0" fontAlgn="base"/>
            <a:r>
              <a:rPr lang="zh-CN" altLang="en-US" sz="2380" strike="noStrike" noProof="1"/>
              <a:t>单击此处编辑母版文本样式</a:t>
            </a:r>
            <a:endParaRPr lang="zh-CN" altLang="en-US" strike="noStrike" noProof="1"/>
          </a:p>
          <a:p>
            <a:pPr lvl="1" fontAlgn="base"/>
            <a:r>
              <a:rPr lang="zh-CN" altLang="en-US" sz="2110" strike="noStrike" noProof="1"/>
              <a:t>第二级</a:t>
            </a:r>
            <a:endParaRPr lang="zh-CN" altLang="en-US" strike="noStrike" noProof="1"/>
          </a:p>
          <a:p>
            <a:pPr lvl="2" fontAlgn="base"/>
            <a:r>
              <a:rPr lang="zh-CN" altLang="en-US" sz="1770" strike="noStrike" noProof="1"/>
              <a:t>第三级</a:t>
            </a:r>
            <a:endParaRPr lang="zh-CN" altLang="en-US" strike="noStrike" noProof="1"/>
          </a:p>
          <a:p>
            <a:pPr lvl="3" fontAlgn="base"/>
            <a:r>
              <a:rPr lang="zh-CN" altLang="en-US" sz="1495" strike="noStrike" noProof="1"/>
              <a:t>第四级</a:t>
            </a:r>
            <a:endParaRPr lang="zh-CN" altLang="en-US" strike="noStrike" noProof="1"/>
          </a:p>
          <a:p>
            <a:pPr lvl="4" fontAlgn="base"/>
            <a:r>
              <a:rPr lang="zh-CN" altLang="en-US" sz="1495" strike="noStrike" noProof="1"/>
              <a:t>第五级</a:t>
            </a:r>
            <a:endParaRPr lang="zh-CN" altLang="en-US" strike="noStrike" noProof="1"/>
          </a:p>
        </p:txBody>
      </p:sp>
      <p:sp>
        <p:nvSpPr>
          <p:cNvPr id="10" name="日期占位符 3"/>
          <p:cNvSpPr>
            <a:spLocks noGrp="1" noChangeArrowheads="1"/>
          </p:cNvSpPr>
          <p:nvPr>
            <p:ph type="dt" sz="half" idx="2"/>
          </p:nvPr>
        </p:nvSpPr>
        <p:spPr bwMode="auto">
          <a:xfrm>
            <a:off x="6553200" y="4768850"/>
            <a:ext cx="2133600" cy="273050"/>
          </a:xfrm>
          <a:prstGeom prst="rect">
            <a:avLst/>
          </a:prstGeom>
          <a:noFill/>
          <a:ln w="9525">
            <a:noFill/>
            <a:miter lim="800000"/>
          </a:ln>
        </p:spPr>
        <p:txBody>
          <a:bodyPr vert="horz" wrap="square" lIns="99798" tIns="49899" rIns="99798" bIns="49899" numCol="1" anchor="ctr" anchorCtr="0" compatLnSpc="1"/>
          <a:lstStyle>
            <a:lvl1pPr>
              <a:buFont typeface="Arial" panose="020B0604020202020204" pitchFamily="34" charset="0"/>
              <a:buNone/>
              <a:defRPr sz="885">
                <a:solidFill>
                  <a:srgbClr val="898989"/>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308381-8264-4782-9D38-F8048B215598}" type="datetime1">
              <a:rPr kumimoji="0" lang="zh-CN" altLang="en-US" sz="1300" b="0" i="0" u="none" strike="noStrike" kern="1200" cap="none" spc="0" normalizeH="0" baseline="0" noProof="0" smtClean="0">
                <a:ln>
                  <a:noFill/>
                </a:ln>
                <a:solidFill>
                  <a:srgbClr val="898989"/>
                </a:solidFill>
                <a:effectLst/>
                <a:uLnTx/>
                <a:uFillTx/>
                <a:latin typeface="Arial" panose="020B0604020202020204" pitchFamily="34" charset="0"/>
                <a:ea typeface="宋体" panose="02010600030101010101" pitchFamily="2" charset="-122"/>
                <a:cs typeface="+mn-cs"/>
              </a:rPr>
              <a:t>2021/7/5</a:t>
            </a:fld>
            <a:endParaRPr kumimoji="0" lang="zh-CN" altLang="en-US" sz="1300" b="0" i="0" u="none" strike="noStrike" kern="1200" cap="none" spc="0" normalizeH="0" baseline="0" noProof="0" dirty="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1" name="页脚占位符 4"/>
          <p:cNvSpPr>
            <a:spLocks noGrp="1" noChangeArrowheads="1"/>
          </p:cNvSpPr>
          <p:nvPr>
            <p:ph type="ftr" sz="quarter" idx="3"/>
          </p:nvPr>
        </p:nvSpPr>
        <p:spPr bwMode="auto">
          <a:xfrm>
            <a:off x="3124200" y="4768850"/>
            <a:ext cx="2895600" cy="273050"/>
          </a:xfrm>
          <a:prstGeom prst="rect">
            <a:avLst/>
          </a:prstGeom>
          <a:noFill/>
          <a:ln w="9525">
            <a:noFill/>
            <a:miter lim="800000"/>
          </a:ln>
        </p:spPr>
        <p:txBody>
          <a:bodyPr vert="horz" wrap="square" lIns="99798" tIns="49899" rIns="99798" bIns="49899" numCol="1" anchor="ctr" anchorCtr="0" compatLnSpc="1"/>
          <a:lstStyle>
            <a:lvl1pPr algn="ctr">
              <a:buFont typeface="Arial" panose="020B0604020202020204" pitchFamily="34" charset="0"/>
              <a:buNone/>
              <a:defRPr sz="885">
                <a:solidFill>
                  <a:srgbClr val="898989"/>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3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
        <p:nvSpPr>
          <p:cNvPr id="12" name="灯片编号占位符 5"/>
          <p:cNvSpPr>
            <a:spLocks noGrp="1" noChangeArrowheads="1"/>
          </p:cNvSpPr>
          <p:nvPr>
            <p:ph type="sldNum" sz="quarter" idx="4"/>
          </p:nvPr>
        </p:nvSpPr>
        <p:spPr bwMode="auto">
          <a:xfrm>
            <a:off x="457200" y="4768850"/>
            <a:ext cx="2133600" cy="273050"/>
          </a:xfrm>
          <a:prstGeom prst="rect">
            <a:avLst/>
          </a:prstGeom>
          <a:noFill/>
          <a:ln w="9525">
            <a:noFill/>
            <a:miter lim="800000"/>
          </a:ln>
        </p:spPr>
        <p:txBody>
          <a:bodyPr vert="horz" wrap="square" lIns="99798" tIns="49899" rIns="99798" bIns="49899" numCol="1" anchor="ctr" anchorCtr="0" compatLnSpc="1"/>
          <a:lstStyle>
            <a:lvl1pPr algn="r">
              <a:defRPr sz="885">
                <a:solidFill>
                  <a:srgbClr val="898989"/>
                </a:solidFill>
              </a:defRPr>
            </a:lvl1pPr>
          </a:lstStyle>
          <a:p>
            <a:pPr lvl="0" eaLnBrk="1" fontAlgn="base" hangingPunct="1"/>
            <a:fld id="{9A0DB2DC-4C9A-4742-B13C-FB6460FD3503}" type="slidenum">
              <a:rPr lang="zh-CN" altLang="en-US" sz="885"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21323" y="0"/>
            <a:ext cx="7816362" cy="428625"/>
          </a:xfrm>
        </p:spPr>
        <p:txBody>
          <a:bodyPr/>
          <a:lstStyle/>
          <a:p>
            <a:r>
              <a:rPr lang="zh-CN" altLang="en-US"/>
              <a:t>单击此处编辑母版标题样式</a:t>
            </a:r>
          </a:p>
        </p:txBody>
      </p:sp>
      <p:sp>
        <p:nvSpPr>
          <p:cNvPr id="3" name="文本占位符 2"/>
          <p:cNvSpPr>
            <a:spLocks noGrp="1"/>
          </p:cNvSpPr>
          <p:nvPr>
            <p:ph type="body" sz="half" idx="1"/>
          </p:nvPr>
        </p:nvSpPr>
        <p:spPr>
          <a:xfrm>
            <a:off x="797170" y="862012"/>
            <a:ext cx="3749920" cy="379690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quarter" idx="2"/>
          </p:nvPr>
        </p:nvSpPr>
        <p:spPr>
          <a:xfrm>
            <a:off x="4687766" y="862013"/>
            <a:ext cx="3749919" cy="1840706"/>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内容占位符 4"/>
          <p:cNvSpPr>
            <a:spLocks noGrp="1"/>
          </p:cNvSpPr>
          <p:nvPr>
            <p:ph sz="quarter" idx="3"/>
          </p:nvPr>
        </p:nvSpPr>
        <p:spPr>
          <a:xfrm>
            <a:off x="4687766" y="2817019"/>
            <a:ext cx="3749919" cy="184189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6124872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11066" y="309563"/>
            <a:ext cx="7816362" cy="428625"/>
          </a:xfrm>
        </p:spPr>
        <p:txBody>
          <a:bodyPr/>
          <a:lstStyle/>
          <a:p>
            <a:r>
              <a:rPr lang="zh-CN" altLang="en-US"/>
              <a:t>单击此处编辑母版标题样式</a:t>
            </a:r>
          </a:p>
        </p:txBody>
      </p:sp>
      <p:sp>
        <p:nvSpPr>
          <p:cNvPr id="3" name="表格占位符 2"/>
          <p:cNvSpPr>
            <a:spLocks noGrp="1"/>
          </p:cNvSpPr>
          <p:nvPr>
            <p:ph type="tbl" idx="1"/>
          </p:nvPr>
        </p:nvSpPr>
        <p:spPr>
          <a:xfrm>
            <a:off x="797170" y="862012"/>
            <a:ext cx="7640515" cy="3796904"/>
          </a:xfrm>
        </p:spPr>
        <p:txBody>
          <a:bodyPr/>
          <a:lstStyle/>
          <a:p>
            <a:pPr lvl="0"/>
            <a:endParaRPr lang="zh-CN" altLang="en-US" noProof="0"/>
          </a:p>
        </p:txBody>
      </p:sp>
    </p:spTree>
    <p:extLst>
      <p:ext uri="{BB962C8B-B14F-4D97-AF65-F5344CB8AC3E}">
        <p14:creationId xmlns:p14="http://schemas.microsoft.com/office/powerpoint/2010/main" val="468583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r="-1000"/>
          </a:stretch>
        </a:blip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06375"/>
            <a:ext cx="8229600" cy="855663"/>
          </a:xfrm>
          <a:prstGeom prst="rect">
            <a:avLst/>
          </a:prstGeom>
          <a:noFill/>
          <a:ln w="9525">
            <a:noFill/>
          </a:ln>
        </p:spPr>
        <p:txBody>
          <a:bodyPr lIns="99798" tIns="49899" rIns="99798" bIns="49899" anchor="ctr"/>
          <a:lstStyle/>
          <a:p>
            <a:pPr lvl="0" indent="-996950" fontAlgn="base"/>
            <a:r>
              <a:rPr lang="zh-CN" altLang="en-US" sz="3265" strike="noStrike" noProof="1"/>
              <a:t>单击此处编辑母版标题样式</a:t>
            </a:r>
            <a:endParaRPr lang="zh-CN" altLang="en-US" strike="noStrike" noProof="1"/>
          </a:p>
        </p:txBody>
      </p:sp>
      <p:sp>
        <p:nvSpPr>
          <p:cNvPr id="1027" name="文本占位符 2"/>
          <p:cNvSpPr>
            <a:spLocks noGrp="1"/>
          </p:cNvSpPr>
          <p:nvPr>
            <p:ph type="body"/>
          </p:nvPr>
        </p:nvSpPr>
        <p:spPr>
          <a:xfrm>
            <a:off x="457200" y="1201738"/>
            <a:ext cx="8229600" cy="3394075"/>
          </a:xfrm>
          <a:prstGeom prst="rect">
            <a:avLst/>
          </a:prstGeom>
          <a:noFill/>
          <a:ln w="9525">
            <a:noFill/>
          </a:ln>
        </p:spPr>
        <p:txBody>
          <a:bodyPr lIns="99798" tIns="49899" rIns="99798" bIns="49899" anchor="t"/>
          <a:lstStyle/>
          <a:p>
            <a:pPr lvl="0" indent="-373380" fontAlgn="base"/>
            <a:r>
              <a:rPr lang="zh-CN" altLang="en-US" sz="2380" strike="noStrike" noProof="1"/>
              <a:t>单击此处编辑母版文本样式</a:t>
            </a:r>
            <a:endParaRPr lang="zh-CN" altLang="en-US" strike="noStrike" noProof="1"/>
          </a:p>
          <a:p>
            <a:pPr lvl="1" indent="-311150" fontAlgn="base"/>
            <a:r>
              <a:rPr lang="zh-CN" altLang="en-US" sz="2110" strike="noStrike" noProof="1"/>
              <a:t>第二级</a:t>
            </a:r>
            <a:endParaRPr lang="zh-CN" altLang="en-US" strike="noStrike" noProof="1"/>
          </a:p>
          <a:p>
            <a:pPr lvl="2" indent="-249555" fontAlgn="base"/>
            <a:r>
              <a:rPr lang="zh-CN" altLang="en-US" sz="1770" strike="noStrike" noProof="1"/>
              <a:t>第三级</a:t>
            </a:r>
            <a:endParaRPr lang="zh-CN" altLang="en-US" strike="noStrike" noProof="1"/>
          </a:p>
          <a:p>
            <a:pPr lvl="3" indent="-248920" fontAlgn="base"/>
            <a:r>
              <a:rPr lang="zh-CN" altLang="en-US" sz="1495" strike="noStrike" noProof="1"/>
              <a:t>第四级</a:t>
            </a:r>
            <a:endParaRPr lang="zh-CN" altLang="en-US" strike="noStrike" noProof="1"/>
          </a:p>
          <a:p>
            <a:pPr lvl="4" indent="-248920" fontAlgn="base"/>
            <a:r>
              <a:rPr lang="zh-CN" altLang="en-US" sz="1495" strike="noStrike" noProof="1"/>
              <a:t>第五级</a:t>
            </a:r>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3" r:id="rId13"/>
  </p:sldLayoutIdLst>
  <p:hf sldNum="0" hdr="0" ftr="0"/>
  <p:txStyles>
    <p:titleStyle>
      <a:lvl1pPr marL="678180" indent="-678180" algn="ctr" rtl="0" eaLnBrk="0" fontAlgn="base" hangingPunct="0">
        <a:spcBef>
          <a:spcPct val="0"/>
        </a:spcBef>
        <a:spcAft>
          <a:spcPct val="0"/>
        </a:spcAft>
        <a:defRPr sz="3265">
          <a:solidFill>
            <a:schemeClr val="tx1"/>
          </a:solidFill>
          <a:latin typeface="微软雅黑" panose="020B0503020204020204" pitchFamily="34" charset="-122"/>
          <a:ea typeface="微软雅黑" panose="020B0503020204020204" pitchFamily="34" charset="-122"/>
          <a:cs typeface="+mj-cs"/>
          <a:sym typeface="Calibri" panose="020F0502020204030204" pitchFamily="34" charset="0"/>
        </a:defRPr>
      </a:lvl1pPr>
      <a:lvl2pPr marL="996950" indent="-996950" algn="ctr" rtl="0" eaLnBrk="0" fontAlgn="base" hangingPunct="0">
        <a:spcBef>
          <a:spcPct val="0"/>
        </a:spcBef>
        <a:spcAft>
          <a:spcPct val="0"/>
        </a:spcAft>
        <a:defRPr sz="4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996950" indent="-996950" algn="ctr" rtl="0" eaLnBrk="0" fontAlgn="base" hangingPunct="0">
        <a:spcBef>
          <a:spcPct val="0"/>
        </a:spcBef>
        <a:spcAft>
          <a:spcPct val="0"/>
        </a:spcAft>
        <a:defRPr sz="48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996950" indent="-996950" algn="ctr" rtl="0" eaLnBrk="0" fontAlgn="base" hangingPunct="0">
        <a:spcBef>
          <a:spcPct val="0"/>
        </a:spcBef>
        <a:spcAft>
          <a:spcPct val="0"/>
        </a:spcAft>
        <a:defRPr sz="48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996950" indent="-996950" algn="ctr" rtl="0" eaLnBrk="0" fontAlgn="base" hangingPunct="0">
        <a:spcBef>
          <a:spcPct val="0"/>
        </a:spcBef>
        <a:spcAft>
          <a:spcPct val="0"/>
        </a:spcAft>
        <a:defRPr sz="48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1496695" indent="-998220" algn="ctr" rtl="0" fontAlgn="base">
        <a:spcBef>
          <a:spcPct val="0"/>
        </a:spcBef>
        <a:spcAft>
          <a:spcPct val="0"/>
        </a:spcAft>
        <a:defRPr sz="48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1995805" indent="-998220" algn="ctr" rtl="0" fontAlgn="base">
        <a:spcBef>
          <a:spcPct val="0"/>
        </a:spcBef>
        <a:spcAft>
          <a:spcPct val="0"/>
        </a:spcAft>
        <a:defRPr sz="48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2494915" indent="-998220" algn="ctr" rtl="0" fontAlgn="base">
        <a:spcBef>
          <a:spcPct val="0"/>
        </a:spcBef>
        <a:spcAft>
          <a:spcPct val="0"/>
        </a:spcAft>
        <a:defRPr sz="48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2994025" indent="-998220" algn="ctr" rtl="0" fontAlgn="base">
        <a:spcBef>
          <a:spcPct val="0"/>
        </a:spcBef>
        <a:spcAft>
          <a:spcPct val="0"/>
        </a:spcAft>
        <a:defRPr sz="4800">
          <a:solidFill>
            <a:schemeClr val="tx1"/>
          </a:solidFill>
          <a:latin typeface="Calibri" panose="020F0502020204030204" pitchFamily="34" charset="0"/>
          <a:ea typeface="宋体" panose="02010600030101010101" pitchFamily="2" charset="-122"/>
          <a:sym typeface="Calibri" panose="020F0502020204030204" pitchFamily="34" charset="0"/>
        </a:defRPr>
      </a:lvl9pPr>
    </p:titleStyle>
    <p:body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仿宋" panose="02010609060101010101" pitchFamily="49" charset="-122"/>
          <a:ea typeface="仿宋" panose="02010609060101010101" pitchFamily="49"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仿宋" panose="02010609060101010101" pitchFamily="49" charset="-122"/>
          <a:ea typeface="仿宋" panose="02010609060101010101" pitchFamily="49"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仿宋" panose="02010609060101010101" pitchFamily="49" charset="-122"/>
          <a:ea typeface="仿宋" panose="02010609060101010101" pitchFamily="49"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仿宋" panose="02010609060101010101" pitchFamily="49" charset="-122"/>
          <a:ea typeface="仿宋" panose="02010609060101010101" pitchFamily="49"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仿宋" panose="02010609060101010101" pitchFamily="49" charset="-122"/>
          <a:ea typeface="仿宋" panose="02010609060101010101" pitchFamily="49"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p:bodyStyle>
    <p:otherStyle>
      <a:defPPr>
        <a:defRPr lang="zh-CN"/>
      </a:defPPr>
      <a:lvl1pPr marL="0" algn="l" defTabSz="678815" rtl="0" eaLnBrk="1" latinLnBrk="0" hangingPunct="1">
        <a:defRPr sz="1360" kern="1200">
          <a:solidFill>
            <a:schemeClr val="tx1"/>
          </a:solidFill>
          <a:latin typeface="+mn-lt"/>
          <a:ea typeface="+mn-ea"/>
          <a:cs typeface="+mn-cs"/>
        </a:defRPr>
      </a:lvl1pPr>
      <a:lvl2pPr marL="339725" algn="l" defTabSz="678815" rtl="0" eaLnBrk="1" latinLnBrk="0" hangingPunct="1">
        <a:defRPr sz="1360" kern="1200">
          <a:solidFill>
            <a:schemeClr val="tx1"/>
          </a:solidFill>
          <a:latin typeface="+mn-lt"/>
          <a:ea typeface="+mn-ea"/>
          <a:cs typeface="+mn-cs"/>
        </a:defRPr>
      </a:lvl2pPr>
      <a:lvl3pPr marL="679450" algn="l" defTabSz="678815" rtl="0" eaLnBrk="1" latinLnBrk="0" hangingPunct="1">
        <a:defRPr sz="1360" kern="1200">
          <a:solidFill>
            <a:schemeClr val="tx1"/>
          </a:solidFill>
          <a:latin typeface="+mn-lt"/>
          <a:ea typeface="+mn-ea"/>
          <a:cs typeface="+mn-cs"/>
        </a:defRPr>
      </a:lvl3pPr>
      <a:lvl4pPr marL="1018540" algn="l" defTabSz="678815" rtl="0" eaLnBrk="1" latinLnBrk="0" hangingPunct="1">
        <a:defRPr sz="1360" kern="1200">
          <a:solidFill>
            <a:schemeClr val="tx1"/>
          </a:solidFill>
          <a:latin typeface="+mn-lt"/>
          <a:ea typeface="+mn-ea"/>
          <a:cs typeface="+mn-cs"/>
        </a:defRPr>
      </a:lvl4pPr>
      <a:lvl5pPr marL="1358265" algn="l" defTabSz="678815" rtl="0" eaLnBrk="1" latinLnBrk="0" hangingPunct="1">
        <a:defRPr sz="1360" kern="1200">
          <a:solidFill>
            <a:schemeClr val="tx1"/>
          </a:solidFill>
          <a:latin typeface="+mn-lt"/>
          <a:ea typeface="+mn-ea"/>
          <a:cs typeface="+mn-cs"/>
        </a:defRPr>
      </a:lvl5pPr>
      <a:lvl6pPr marL="1697355" algn="l" defTabSz="678815" rtl="0" eaLnBrk="1" latinLnBrk="0" hangingPunct="1">
        <a:defRPr sz="1360" kern="1200">
          <a:solidFill>
            <a:schemeClr val="tx1"/>
          </a:solidFill>
          <a:latin typeface="+mn-lt"/>
          <a:ea typeface="+mn-ea"/>
          <a:cs typeface="+mn-cs"/>
        </a:defRPr>
      </a:lvl6pPr>
      <a:lvl7pPr marL="2037080" algn="l" defTabSz="678815" rtl="0" eaLnBrk="1" latinLnBrk="0" hangingPunct="1">
        <a:defRPr sz="1360" kern="1200">
          <a:solidFill>
            <a:schemeClr val="tx1"/>
          </a:solidFill>
          <a:latin typeface="+mn-lt"/>
          <a:ea typeface="+mn-ea"/>
          <a:cs typeface="+mn-cs"/>
        </a:defRPr>
      </a:lvl7pPr>
      <a:lvl8pPr marL="2376805" algn="l" defTabSz="678815" rtl="0" eaLnBrk="1" latinLnBrk="0" hangingPunct="1">
        <a:defRPr sz="1360" kern="1200">
          <a:solidFill>
            <a:schemeClr val="tx1"/>
          </a:solidFill>
          <a:latin typeface="+mn-lt"/>
          <a:ea typeface="+mn-ea"/>
          <a:cs typeface="+mn-cs"/>
        </a:defRPr>
      </a:lvl8pPr>
      <a:lvl9pPr marL="2715895" algn="l" defTabSz="678815" rtl="0" eaLnBrk="1" latinLnBrk="0" hangingPunct="1">
        <a:defRPr sz="13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image" Target="../media/image3.png"/><Relationship Id="rId7" Type="http://schemas.microsoft.com/office/2007/relationships/hdphoto" Target="../media/hdphoto2.wdp"/><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7.png"/><Relationship Id="rId5" Type="http://schemas.microsoft.com/office/2007/relationships/hdphoto" Target="../media/hdphoto1.wdp"/><Relationship Id="rId10" Type="http://schemas.microsoft.com/office/2007/relationships/hdphoto" Target="../media/hdphoto3.wdp"/><Relationship Id="rId4" Type="http://schemas.openxmlformats.org/officeDocument/2006/relationships/image" Target="../media/image4.png"/><Relationship Id="rId9"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9.png"/><Relationship Id="rId7" Type="http://schemas.openxmlformats.org/officeDocument/2006/relationships/diagramQuickStyle" Target="../diagrams/quickStyle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Layout" Target="../diagrams/layout1.xml"/><Relationship Id="rId11" Type="http://schemas.openxmlformats.org/officeDocument/2006/relationships/image" Target="../media/image11.png"/><Relationship Id="rId5" Type="http://schemas.openxmlformats.org/officeDocument/2006/relationships/diagramData" Target="../diagrams/data1.xml"/><Relationship Id="rId10" Type="http://schemas.openxmlformats.org/officeDocument/2006/relationships/image" Target="../media/image10.png"/><Relationship Id="rId4" Type="http://schemas.openxmlformats.org/officeDocument/2006/relationships/image" Target="../media/image3.png"/><Relationship Id="rId9" Type="http://schemas.microsoft.com/office/2007/relationships/diagramDrawing" Target="../diagrams/drawing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microsoft.com/office/2007/relationships/hdphoto" Target="../media/hdphoto4.wdp"/><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3.png"/><Relationship Id="rId7" Type="http://schemas.microsoft.com/office/2007/relationships/hdphoto" Target="../media/hdphoto5.wdp"/><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3.png"/><Relationship Id="rId7"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chart" Target="../charts/chart2.xml"/><Relationship Id="rId4" Type="http://schemas.openxmlformats.org/officeDocument/2006/relationships/image" Target="../media/image38.emf"/></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42.png"/><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r="-1000"/>
          </a:stretch>
        </a:blipFill>
        <a:effectLst/>
      </p:bgPr>
    </p:bg>
    <p:spTree>
      <p:nvGrpSpPr>
        <p:cNvPr id="1" name=""/>
        <p:cNvGrpSpPr/>
        <p:nvPr/>
      </p:nvGrpSpPr>
      <p:grpSpPr>
        <a:xfrm>
          <a:off x="0" y="0"/>
          <a:ext cx="0" cy="0"/>
          <a:chOff x="0" y="0"/>
          <a:chExt cx="0" cy="0"/>
        </a:xfrm>
      </p:grpSpPr>
      <p:sp>
        <p:nvSpPr>
          <p:cNvPr id="13314" name="TextBox 6"/>
          <p:cNvSpPr txBox="1"/>
          <p:nvPr/>
        </p:nvSpPr>
        <p:spPr>
          <a:xfrm>
            <a:off x="739139" y="1978025"/>
            <a:ext cx="7665721" cy="622555"/>
          </a:xfrm>
          <a:prstGeom prst="rect">
            <a:avLst/>
          </a:prstGeom>
          <a:noFill/>
          <a:ln w="9525">
            <a:noFill/>
          </a:ln>
        </p:spPr>
        <p:txBody>
          <a:bodyPr wrap="square" lIns="67895" tIns="33947" rIns="67895" bIns="33947" anchor="t">
            <a:spAutoFit/>
          </a:bodyPr>
          <a:lstStyle/>
          <a:p>
            <a:r>
              <a:rPr lang="zh-CN" altLang="en-US" sz="3600" b="1" noProof="1">
                <a:solidFill>
                  <a:srgbClr val="C12B37"/>
                </a:solidFill>
                <a:latin typeface="微软雅黑" panose="020B0503020204020204" charset="-122"/>
                <a:ea typeface="微软雅黑" panose="020B0503020204020204" charset="-122"/>
              </a:rPr>
              <a:t>大瞬科技</a:t>
            </a:r>
            <a:r>
              <a:rPr lang="en-US" altLang="zh-CN" sz="3600" b="1" noProof="1">
                <a:solidFill>
                  <a:srgbClr val="C12B37"/>
                </a:solidFill>
                <a:latin typeface="微软雅黑" panose="020B0503020204020204" charset="-122"/>
                <a:ea typeface="微软雅黑" panose="020B0503020204020204" charset="-122"/>
              </a:rPr>
              <a:t>-C</a:t>
            </a:r>
            <a:r>
              <a:rPr lang="zh-CN" altLang="en-US" sz="3600" b="1" noProof="1">
                <a:solidFill>
                  <a:srgbClr val="C12B37"/>
                </a:solidFill>
                <a:latin typeface="微软雅黑" panose="020B0503020204020204" charset="-122"/>
                <a:ea typeface="微软雅黑" panose="020B0503020204020204" charset="-122"/>
              </a:rPr>
              <a:t>轮股权</a:t>
            </a:r>
            <a:r>
              <a:rPr lang="zh-CN" altLang="zh-CN" sz="3600" b="1" dirty="0">
                <a:solidFill>
                  <a:srgbClr val="C12B37"/>
                </a:solidFill>
                <a:latin typeface="微软雅黑" panose="020B0503020204020204" charset="-122"/>
                <a:ea typeface="微软雅黑" panose="020B0503020204020204" charset="-122"/>
              </a:rPr>
              <a:t>融资</a:t>
            </a:r>
            <a:r>
              <a:rPr lang="zh-CN" altLang="en-US" sz="3600" b="1" noProof="1">
                <a:solidFill>
                  <a:srgbClr val="C12B37"/>
                </a:solidFill>
                <a:latin typeface="微软雅黑" panose="020B0503020204020204" charset="-122"/>
                <a:ea typeface="微软雅黑" panose="020B0503020204020204" charset="-122"/>
              </a:rPr>
              <a:t>项目</a:t>
            </a:r>
            <a:endParaRPr lang="zh-CN" altLang="en-US" sz="3600" b="1" noProof="1">
              <a:solidFill>
                <a:srgbClr val="C12B37"/>
              </a:solidFill>
              <a:latin typeface="微软雅黑" panose="020B0503020204020204" charset="-122"/>
              <a:ea typeface="微软雅黑" panose="020B0503020204020204" charset="-122"/>
              <a:cs typeface="+mn-cs"/>
            </a:endParaRPr>
          </a:p>
        </p:txBody>
      </p:sp>
      <p:sp>
        <p:nvSpPr>
          <p:cNvPr id="13319" name="TextBox 6"/>
          <p:cNvSpPr txBox="1"/>
          <p:nvPr/>
        </p:nvSpPr>
        <p:spPr>
          <a:xfrm>
            <a:off x="739140" y="2714625"/>
            <a:ext cx="5704990" cy="345556"/>
          </a:xfrm>
          <a:prstGeom prst="rect">
            <a:avLst/>
          </a:prstGeom>
          <a:noFill/>
          <a:ln w="9525">
            <a:noFill/>
          </a:ln>
        </p:spPr>
        <p:txBody>
          <a:bodyPr wrap="square" lIns="67895" tIns="33947" rIns="67895" bIns="33947" anchor="t">
            <a:spAutoFit/>
          </a:bodyPr>
          <a:lstStyle/>
          <a:p>
            <a:r>
              <a:rPr lang="zh-CN" altLang="en-US" noProof="1">
                <a:solidFill>
                  <a:schemeClr val="tx1">
                    <a:lumMod val="75000"/>
                    <a:lumOff val="25000"/>
                  </a:schemeClr>
                </a:solidFill>
                <a:latin typeface="方正兰亭中黑_GBK" panose="02000000000000000000" pitchFamily="2" charset="-122"/>
                <a:ea typeface="方正兰亭中黑_GBK" panose="02000000000000000000" pitchFamily="2" charset="-122"/>
              </a:rPr>
              <a:t>高端</a:t>
            </a:r>
            <a:r>
              <a:rPr lang="en-US" altLang="zh-CN" sz="1800" noProof="1">
                <a:solidFill>
                  <a:schemeClr val="tx1">
                    <a:lumMod val="75000"/>
                    <a:lumOff val="25000"/>
                  </a:schemeClr>
                </a:solidFill>
                <a:latin typeface="方正兰亭中黑_GBK" panose="02000000000000000000" pitchFamily="2" charset="-122"/>
                <a:ea typeface="方正兰亭中黑_GBK" panose="02000000000000000000" pitchFamily="2" charset="-122"/>
                <a:cs typeface="+mn-cs"/>
              </a:rPr>
              <a:t>PMIC</a:t>
            </a:r>
            <a:r>
              <a:rPr lang="zh-CN" altLang="en-US" sz="1800" noProof="1">
                <a:solidFill>
                  <a:schemeClr val="tx1">
                    <a:lumMod val="75000"/>
                    <a:lumOff val="25000"/>
                  </a:schemeClr>
                </a:solidFill>
                <a:latin typeface="方正兰亭中黑_GBK" panose="02000000000000000000" pitchFamily="2" charset="-122"/>
                <a:ea typeface="方正兰亭中黑_GBK" panose="02000000000000000000" pitchFamily="2" charset="-122"/>
                <a:cs typeface="+mn-cs"/>
              </a:rPr>
              <a:t>项目投决汇报</a:t>
            </a:r>
          </a:p>
        </p:txBody>
      </p:sp>
      <p:sp>
        <p:nvSpPr>
          <p:cNvPr id="2" name="矩形 1"/>
          <p:cNvSpPr/>
          <p:nvPr/>
        </p:nvSpPr>
        <p:spPr>
          <a:xfrm>
            <a:off x="827740" y="3376854"/>
            <a:ext cx="1007745" cy="75565"/>
          </a:xfrm>
          <a:prstGeom prst="rect">
            <a:avLst/>
          </a:prstGeom>
          <a:gradFill>
            <a:gsLst>
              <a:gs pos="0">
                <a:srgbClr val="FFC000"/>
              </a:gs>
              <a:gs pos="100000">
                <a:srgbClr val="C00000"/>
              </a:gs>
            </a:gsLst>
            <a:lin ang="10320000" scaled="0"/>
          </a:gra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 name="TextBox 6"/>
          <p:cNvSpPr txBox="1"/>
          <p:nvPr/>
        </p:nvSpPr>
        <p:spPr>
          <a:xfrm>
            <a:off x="739140" y="4368165"/>
            <a:ext cx="3960495" cy="313055"/>
          </a:xfrm>
          <a:prstGeom prst="rect">
            <a:avLst/>
          </a:prstGeom>
          <a:noFill/>
          <a:ln w="9525">
            <a:noFill/>
          </a:ln>
        </p:spPr>
        <p:txBody>
          <a:bodyPr wrap="square" lIns="67895" tIns="33947" rIns="67895" bIns="33947" anchor="t">
            <a:spAutoFit/>
          </a:bodyPr>
          <a:lstStyle/>
          <a:p>
            <a:r>
              <a:rPr lang="en-US" altLang="zh-CN" sz="1600" noProof="1">
                <a:solidFill>
                  <a:schemeClr val="tx1">
                    <a:lumMod val="50000"/>
                    <a:lumOff val="50000"/>
                  </a:schemeClr>
                </a:solidFill>
                <a:latin typeface="微软雅黑" panose="020B0503020204020204" charset="-122"/>
                <a:ea typeface="微软雅黑" panose="020B0503020204020204" charset="-122"/>
                <a:cs typeface="+mn-cs"/>
              </a:rPr>
              <a:t>XINSHUO CAPITAL CO.,LTD</a:t>
            </a:r>
          </a:p>
        </p:txBody>
      </p:sp>
      <p:sp>
        <p:nvSpPr>
          <p:cNvPr id="6" name="日期占位符 3">
            <a:extLst>
              <a:ext uri="{FF2B5EF4-FFF2-40B4-BE49-F238E27FC236}">
                <a16:creationId xmlns:a16="http://schemas.microsoft.com/office/drawing/2014/main" id="{263A4362-8969-4BBF-B526-5C22679D5E0F}"/>
              </a:ext>
            </a:extLst>
          </p:cNvPr>
          <p:cNvSpPr>
            <a:spLocks noGrp="1"/>
          </p:cNvSpPr>
          <p:nvPr>
            <p:ph type="dt" sz="half" idx="2"/>
          </p:nvPr>
        </p:nvSpPr>
        <p:spPr>
          <a:xfrm>
            <a:off x="3995960" y="4095115"/>
            <a:ext cx="2133600" cy="273050"/>
          </a:xfrm>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308381-8264-4782-9D38-F8048B215598}" type="datetime1">
              <a:rPr kumimoji="0" lang="zh-CN" altLang="en-US" sz="1400" b="0" i="0" u="none" strike="noStrike" kern="1200" cap="none" spc="0" normalizeH="0" baseline="0" noProof="0" smtClean="0">
                <a:ln>
                  <a:noFill/>
                </a:ln>
                <a:solidFill>
                  <a:srgbClr val="898989"/>
                </a:solidFill>
                <a:effectLst/>
                <a:uLnTx/>
                <a:uFillTx/>
                <a:latin typeface="微软雅黑" panose="020B0503020204020204" pitchFamily="34" charset="-122"/>
                <a:ea typeface="微软雅黑" panose="020B0503020204020204" pitchFamily="34" charset="-122"/>
              </a:rPr>
              <a:t>2021/7/5</a:t>
            </a:fld>
            <a:endParaRPr kumimoji="0" lang="zh-CN" altLang="en-US" sz="1400" b="0" i="0" u="none" strike="noStrike" kern="1200" cap="none" spc="0" normalizeH="0" baseline="0" noProof="0" dirty="0">
              <a:ln>
                <a:noFill/>
              </a:ln>
              <a:solidFill>
                <a:srgbClr val="898989"/>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7017D2C3-83B7-4CA6-A305-ECCFCE71BDB9}"/>
              </a:ext>
            </a:extLst>
          </p:cNvPr>
          <p:cNvSpPr>
            <a:spLocks noGrp="1" noChangeArrowheads="1"/>
          </p:cNvSpPr>
          <p:nvPr>
            <p:ph type="title"/>
          </p:nvPr>
        </p:nvSpPr>
        <p:spPr/>
        <p:txBody>
          <a:bodyPr/>
          <a:lstStyle/>
          <a:p>
            <a:r>
              <a:rPr lang="zh-CN" altLang="en-US"/>
              <a:t>目录</a:t>
            </a:r>
          </a:p>
        </p:txBody>
      </p:sp>
      <p:sp>
        <p:nvSpPr>
          <p:cNvPr id="7171" name="Rectangle 3">
            <a:extLst>
              <a:ext uri="{FF2B5EF4-FFF2-40B4-BE49-F238E27FC236}">
                <a16:creationId xmlns:a16="http://schemas.microsoft.com/office/drawing/2014/main" id="{05375E9F-552D-4E3D-8017-BE51D8545614}"/>
              </a:ext>
            </a:extLst>
          </p:cNvPr>
          <p:cNvSpPr>
            <a:spLocks noGrp="1" noChangeArrowheads="1"/>
          </p:cNvSpPr>
          <p:nvPr>
            <p:ph type="body" idx="1"/>
          </p:nvPr>
        </p:nvSpPr>
        <p:spPr/>
        <p:txBody>
          <a:bodyPr/>
          <a:lstStyle/>
          <a:p>
            <a:pPr marL="381000" indent="-381000">
              <a:lnSpc>
                <a:spcPct val="120000"/>
              </a:lnSpc>
              <a:buClr>
                <a:schemeClr val="tx1"/>
              </a:buClr>
              <a:buFont typeface="Wingdings" panose="05000000000000000000" pitchFamily="2" charset="2"/>
              <a:buAutoNum type="ea1JpnChsDbPeriod"/>
            </a:pPr>
            <a:r>
              <a:rPr lang="zh-CN" altLang="en-US" sz="2000" b="1" dirty="0"/>
              <a:t>项目摘要</a:t>
            </a:r>
          </a:p>
          <a:p>
            <a:pPr marL="381000" indent="-381000">
              <a:lnSpc>
                <a:spcPct val="120000"/>
              </a:lnSpc>
              <a:buClr>
                <a:schemeClr val="tx1"/>
              </a:buClr>
              <a:buFont typeface="Wingdings" panose="05000000000000000000" pitchFamily="2" charset="2"/>
              <a:buAutoNum type="ea1JpnChsDbPeriod"/>
            </a:pPr>
            <a:r>
              <a:rPr lang="zh-CN" altLang="en-US" sz="2000" b="1" dirty="0"/>
              <a:t>公司分析</a:t>
            </a:r>
          </a:p>
          <a:p>
            <a:pPr marL="381000" indent="-381000">
              <a:lnSpc>
                <a:spcPct val="120000"/>
              </a:lnSpc>
              <a:buClr>
                <a:schemeClr val="tx1"/>
              </a:buClr>
              <a:buFont typeface="Wingdings" panose="05000000000000000000" pitchFamily="2" charset="2"/>
              <a:buAutoNum type="ea1JpnChsDbPeriod"/>
            </a:pPr>
            <a:r>
              <a:rPr lang="zh-CN" altLang="en-US" sz="2000" b="1" dirty="0"/>
              <a:t>行业分析</a:t>
            </a:r>
          </a:p>
          <a:p>
            <a:pPr marL="381000" indent="-381000">
              <a:lnSpc>
                <a:spcPct val="120000"/>
              </a:lnSpc>
              <a:buClr>
                <a:schemeClr val="tx1"/>
              </a:buClr>
              <a:buFont typeface="Wingdings" panose="05000000000000000000" pitchFamily="2" charset="2"/>
              <a:buAutoNum type="ea1JpnChsDbPeriod"/>
            </a:pPr>
            <a:r>
              <a:rPr lang="zh-CN" altLang="en-US" sz="2000" b="1" dirty="0"/>
              <a:t>交易结构</a:t>
            </a:r>
            <a:endParaRPr lang="en-US" altLang="zh-CN" sz="2000" b="1" dirty="0"/>
          </a:p>
          <a:p>
            <a:pPr marL="381000" indent="-381000">
              <a:lnSpc>
                <a:spcPct val="120000"/>
              </a:lnSpc>
              <a:buClr>
                <a:schemeClr val="tx1"/>
              </a:buClr>
              <a:buFont typeface="Wingdings" panose="05000000000000000000" pitchFamily="2" charset="2"/>
              <a:buAutoNum type="ea1JpnChsDbPeriod"/>
            </a:pPr>
            <a:r>
              <a:rPr lang="zh-CN" altLang="en-US" sz="2000" b="1" dirty="0"/>
              <a:t>估值分析</a:t>
            </a:r>
          </a:p>
          <a:p>
            <a:pPr marL="381000" indent="-381000">
              <a:lnSpc>
                <a:spcPct val="120000"/>
              </a:lnSpc>
              <a:buClr>
                <a:schemeClr val="tx1"/>
              </a:buClr>
              <a:buFont typeface="Wingdings" panose="05000000000000000000" pitchFamily="2" charset="2"/>
              <a:buAutoNum type="ea1JpnChsDbPeriod"/>
            </a:pPr>
            <a:r>
              <a:rPr lang="zh-CN" altLang="en-US" sz="2000" b="1" dirty="0"/>
              <a:t>财务预测及回报分析</a:t>
            </a:r>
            <a:endParaRPr lang="en-US" altLang="zh-CN" sz="2000" b="1" dirty="0"/>
          </a:p>
          <a:p>
            <a:pPr marL="381000" indent="-381000">
              <a:lnSpc>
                <a:spcPct val="120000"/>
              </a:lnSpc>
              <a:buClr>
                <a:schemeClr val="tx1"/>
              </a:buClr>
              <a:buFont typeface="Wingdings" panose="05000000000000000000" pitchFamily="2" charset="2"/>
              <a:buAutoNum type="ea1JpnChsDbPeriod"/>
            </a:pPr>
            <a:r>
              <a:rPr lang="zh-CN" altLang="en-US" sz="2000" b="1" dirty="0"/>
              <a:t>投资因素</a:t>
            </a:r>
            <a:endParaRPr lang="en-US" altLang="zh-CN" sz="2000" b="1" dirty="0"/>
          </a:p>
          <a:p>
            <a:pPr marL="381000" indent="-381000">
              <a:lnSpc>
                <a:spcPct val="120000"/>
              </a:lnSpc>
              <a:buClr>
                <a:schemeClr val="tx1"/>
              </a:buClr>
              <a:buFont typeface="Wingdings" panose="05000000000000000000" pitchFamily="2" charset="2"/>
              <a:buAutoNum type="ea1JpnChsDbPeriod"/>
            </a:pPr>
            <a:r>
              <a:rPr lang="zh-CN" altLang="en-US" sz="2000" b="1" dirty="0"/>
              <a:t>商业尽调</a:t>
            </a:r>
            <a:endParaRPr lang="en-US" altLang="zh-CN" sz="2000" b="1" dirty="0"/>
          </a:p>
          <a:p>
            <a:pPr marL="381000" indent="-381000">
              <a:lnSpc>
                <a:spcPct val="120000"/>
              </a:lnSpc>
              <a:buClr>
                <a:schemeClr val="tx1"/>
              </a:buClr>
              <a:buFont typeface="Wingdings" panose="05000000000000000000" pitchFamily="2" charset="2"/>
              <a:buAutoNum type="ea1JpnChsDbPeriod"/>
            </a:pPr>
            <a:r>
              <a:rPr lang="zh-CN" altLang="en-US" sz="2000" b="1" dirty="0"/>
              <a:t>意见和建议</a:t>
            </a:r>
            <a:endParaRPr lang="en-US" altLang="zh-CN" sz="2000" b="1" dirty="0"/>
          </a:p>
          <a:p>
            <a:pPr marL="381000" indent="-381000">
              <a:lnSpc>
                <a:spcPct val="120000"/>
              </a:lnSpc>
              <a:buClr>
                <a:schemeClr val="tx1"/>
              </a:buClr>
              <a:buFont typeface="Wingdings" panose="05000000000000000000" pitchFamily="2" charset="2"/>
              <a:buAutoNum type="ea1JpnChsDbPeriod"/>
            </a:pPr>
            <a:endParaRPr lang="en-US" altLang="zh-CN" sz="20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D8209E2D-0EA0-4626-946A-A928F6A30CDC}"/>
              </a:ext>
            </a:extLst>
          </p:cNvPr>
          <p:cNvSpPr>
            <a:spLocks noGrp="1" noChangeArrowheads="1"/>
          </p:cNvSpPr>
          <p:nvPr>
            <p:ph type="title"/>
          </p:nvPr>
        </p:nvSpPr>
        <p:spPr/>
        <p:txBody>
          <a:bodyPr/>
          <a:lstStyle/>
          <a:p>
            <a:pPr algn="l"/>
            <a:r>
              <a:rPr lang="zh-CN" altLang="en-US" sz="2400" dirty="0">
                <a:solidFill>
                  <a:schemeClr val="tx1">
                    <a:lumMod val="50000"/>
                    <a:lumOff val="50000"/>
                  </a:schemeClr>
                </a:solidFill>
              </a:rPr>
              <a:t>一、项目摘要</a:t>
            </a:r>
            <a:r>
              <a:rPr lang="en-US" altLang="zh-CN" sz="2400" dirty="0">
                <a:solidFill>
                  <a:schemeClr val="tx1">
                    <a:lumMod val="50000"/>
                    <a:lumOff val="50000"/>
                  </a:schemeClr>
                </a:solidFill>
              </a:rPr>
              <a:t>|</a:t>
            </a:r>
            <a:r>
              <a:rPr lang="zh-CN" altLang="en-US" sz="2000" dirty="0"/>
              <a:t>项目基本情况</a:t>
            </a:r>
            <a:endParaRPr lang="en-US" altLang="zh-CN" sz="2400" dirty="0"/>
          </a:p>
        </p:txBody>
      </p:sp>
      <p:sp>
        <p:nvSpPr>
          <p:cNvPr id="10243" name="Rectangle 3">
            <a:extLst>
              <a:ext uri="{FF2B5EF4-FFF2-40B4-BE49-F238E27FC236}">
                <a16:creationId xmlns:a16="http://schemas.microsoft.com/office/drawing/2014/main" id="{45C7A062-C5F6-4272-8A74-956C5893CED1}"/>
              </a:ext>
            </a:extLst>
          </p:cNvPr>
          <p:cNvSpPr>
            <a:spLocks noGrp="1" noChangeArrowheads="1"/>
          </p:cNvSpPr>
          <p:nvPr>
            <p:ph type="body" idx="1"/>
          </p:nvPr>
        </p:nvSpPr>
        <p:spPr>
          <a:xfrm>
            <a:off x="457200" y="428640"/>
            <a:ext cx="8229600" cy="2497941"/>
          </a:xfrm>
        </p:spPr>
        <p:txBody>
          <a:bodyPr/>
          <a:lstStyle/>
          <a:p>
            <a:pPr marL="0" indent="0">
              <a:lnSpc>
                <a:spcPct val="150000"/>
              </a:lnSpc>
              <a:buClr>
                <a:schemeClr val="accent2">
                  <a:lumMod val="75000"/>
                </a:schemeClr>
              </a:buClr>
              <a:buSzPct val="70000"/>
              <a:buNone/>
            </a:pPr>
            <a:r>
              <a:rPr lang="zh-CN" altLang="en-US" sz="1400" b="1" dirty="0">
                <a:solidFill>
                  <a:srgbClr val="C00000"/>
                </a:solidFill>
              </a:rPr>
              <a:t>北京大瞬科技有限公司</a:t>
            </a:r>
            <a:r>
              <a:rPr lang="en-US" altLang="zh-CN" sz="1400" b="1" dirty="0">
                <a:solidFill>
                  <a:srgbClr val="C00000"/>
                </a:solidFill>
              </a:rPr>
              <a:t>—--O2Micro</a:t>
            </a:r>
            <a:r>
              <a:rPr lang="zh-CN" altLang="en-US" sz="1400" b="1" u="sng" dirty="0">
                <a:solidFill>
                  <a:srgbClr val="C00000"/>
                </a:solidFill>
              </a:rPr>
              <a:t>笔电</a:t>
            </a:r>
            <a:r>
              <a:rPr lang="en-US" altLang="zh-CN" sz="1400" b="1" u="sng" dirty="0">
                <a:solidFill>
                  <a:srgbClr val="C00000"/>
                </a:solidFill>
              </a:rPr>
              <a:t>&amp;</a:t>
            </a:r>
            <a:r>
              <a:rPr lang="zh-CN" altLang="en-US" sz="1400" b="1" u="sng" dirty="0">
                <a:solidFill>
                  <a:srgbClr val="C00000"/>
                </a:solidFill>
              </a:rPr>
              <a:t>智能手机</a:t>
            </a:r>
            <a:r>
              <a:rPr lang="zh-CN" altLang="en-US" sz="1400" b="1" dirty="0">
                <a:solidFill>
                  <a:srgbClr val="C00000"/>
                </a:solidFill>
              </a:rPr>
              <a:t>产品线 </a:t>
            </a:r>
            <a:r>
              <a:rPr lang="en-US" altLang="zh-CN" sz="1400" b="1" dirty="0">
                <a:solidFill>
                  <a:srgbClr val="C00000"/>
                </a:solidFill>
              </a:rPr>
              <a:t>+ </a:t>
            </a:r>
            <a:r>
              <a:rPr lang="zh-CN" altLang="en-US" sz="1400" b="1" dirty="0">
                <a:solidFill>
                  <a:srgbClr val="C00000"/>
                </a:solidFill>
              </a:rPr>
              <a:t>充电宝</a:t>
            </a:r>
            <a:r>
              <a:rPr lang="en-US" altLang="zh-CN" sz="1400" b="1" dirty="0">
                <a:solidFill>
                  <a:srgbClr val="C00000"/>
                </a:solidFill>
              </a:rPr>
              <a:t>&amp;</a:t>
            </a:r>
            <a:r>
              <a:rPr lang="zh-CN" altLang="en-US" sz="1400" b="1" dirty="0">
                <a:solidFill>
                  <a:srgbClr val="C00000"/>
                </a:solidFill>
              </a:rPr>
              <a:t>共享单车</a:t>
            </a:r>
            <a:r>
              <a:rPr lang="en-US" altLang="zh-CN" sz="1400" b="1" dirty="0">
                <a:solidFill>
                  <a:srgbClr val="C00000"/>
                </a:solidFill>
              </a:rPr>
              <a:t>&amp;TWS</a:t>
            </a:r>
            <a:r>
              <a:rPr lang="zh-CN" altLang="en-US" sz="1400" b="1" dirty="0">
                <a:solidFill>
                  <a:srgbClr val="C00000"/>
                </a:solidFill>
              </a:rPr>
              <a:t>产品线</a:t>
            </a:r>
            <a:endParaRPr lang="en-US" altLang="zh-CN" sz="1400" b="1" dirty="0">
              <a:solidFill>
                <a:srgbClr val="C00000"/>
              </a:solidFill>
            </a:endParaRPr>
          </a:p>
          <a:p>
            <a:pPr marL="0" indent="180000">
              <a:lnSpc>
                <a:spcPct val="150000"/>
              </a:lnSpc>
              <a:buClr>
                <a:schemeClr val="accent2">
                  <a:lumMod val="75000"/>
                </a:schemeClr>
              </a:buClr>
              <a:buSzPct val="70000"/>
              <a:buBlip>
                <a:blip r:embed="rId3"/>
              </a:buBlip>
            </a:pPr>
            <a:r>
              <a:rPr lang="zh-CN" altLang="en-US" sz="1200" dirty="0"/>
              <a:t>大瞬科技成立于</a:t>
            </a:r>
            <a:r>
              <a:rPr lang="en-US" altLang="zh-CN" sz="1200" dirty="0"/>
              <a:t>2013</a:t>
            </a:r>
            <a:r>
              <a:rPr lang="zh-CN" altLang="en-US" sz="1200" dirty="0"/>
              <a:t>年，</a:t>
            </a:r>
            <a:r>
              <a:rPr lang="zh-CN" altLang="zh-CN" sz="1200" dirty="0"/>
              <a:t>前身是东莞星空之南、东莞大瞬科技。</a:t>
            </a:r>
            <a:endParaRPr lang="en-US" altLang="zh-CN" sz="1200" dirty="0"/>
          </a:p>
          <a:p>
            <a:pPr marL="0" indent="180000">
              <a:lnSpc>
                <a:spcPct val="150000"/>
              </a:lnSpc>
              <a:buClr>
                <a:schemeClr val="accent2">
                  <a:lumMod val="75000"/>
                </a:schemeClr>
              </a:buClr>
              <a:buSzPct val="70000"/>
              <a:buBlip>
                <a:blip r:embed="rId3"/>
              </a:buBlip>
            </a:pPr>
            <a:r>
              <a:rPr lang="en-US" altLang="zh-CN" sz="1200" dirty="0"/>
              <a:t>2020</a:t>
            </a:r>
            <a:r>
              <a:rPr lang="zh-CN" altLang="zh-CN" sz="1200" dirty="0"/>
              <a:t>年</a:t>
            </a:r>
            <a:r>
              <a:rPr lang="en-US" altLang="zh-CN" sz="1200" dirty="0"/>
              <a:t>5</a:t>
            </a:r>
            <a:r>
              <a:rPr lang="zh-CN" altLang="zh-CN" sz="1200" dirty="0"/>
              <a:t>月，公司</a:t>
            </a:r>
            <a:r>
              <a:rPr lang="zh-CN" altLang="en-US" sz="1200" dirty="0"/>
              <a:t>承接购买</a:t>
            </a:r>
            <a:r>
              <a:rPr lang="zh-CN" altLang="zh-CN" sz="1200" b="1" dirty="0"/>
              <a:t>美国纳斯达克上市公司</a:t>
            </a:r>
            <a:r>
              <a:rPr lang="en-US" altLang="zh-CN" sz="1200" b="1" dirty="0"/>
              <a:t>O2Micro(OIIM.O)</a:t>
            </a:r>
            <a:r>
              <a:rPr lang="zh-CN" altLang="zh-CN" sz="1200" b="1" dirty="0"/>
              <a:t>的</a:t>
            </a:r>
            <a:r>
              <a:rPr lang="zh-CN" altLang="en-US" sz="1200" b="1" dirty="0"/>
              <a:t>智能手机、笔电业务（</a:t>
            </a:r>
            <a:r>
              <a:rPr lang="zh-CN" altLang="zh-CN" sz="1200" b="1" dirty="0"/>
              <a:t>单</a:t>
            </a:r>
            <a:r>
              <a:rPr lang="en-US" altLang="zh-CN" sz="1200" b="1" dirty="0"/>
              <a:t>/</a:t>
            </a:r>
            <a:r>
              <a:rPr lang="zh-CN" altLang="zh-CN" sz="1200" b="1" dirty="0"/>
              <a:t>双串电池管理芯片</a:t>
            </a:r>
            <a:r>
              <a:rPr lang="zh-CN" altLang="en-US" sz="1200" b="1" dirty="0"/>
              <a:t>）</a:t>
            </a:r>
            <a:r>
              <a:rPr lang="zh-CN" altLang="zh-CN" sz="1200" dirty="0"/>
              <a:t>，并变更为北京大瞬科技，总部迁至北京市。</a:t>
            </a:r>
            <a:endParaRPr lang="en-US" altLang="zh-CN" sz="1200" dirty="0"/>
          </a:p>
          <a:p>
            <a:pPr marL="0" indent="180000">
              <a:lnSpc>
                <a:spcPct val="150000"/>
              </a:lnSpc>
              <a:buClr>
                <a:schemeClr val="accent2">
                  <a:lumMod val="75000"/>
                </a:schemeClr>
              </a:buClr>
              <a:buSzPct val="70000"/>
              <a:buBlip>
                <a:blip r:embed="rId3"/>
              </a:buBlip>
            </a:pPr>
            <a:r>
              <a:rPr lang="zh-CN" altLang="zh-CN" sz="1200" kern="100" dirty="0">
                <a:effectLst/>
                <a:ea typeface="仿宋" panose="02010609060101010101" pitchFamily="49" charset="-122"/>
                <a:cs typeface="Times New Roman" panose="02020603050405020304" pitchFamily="18" charset="0"/>
              </a:rPr>
              <a:t>专注</a:t>
            </a:r>
            <a:r>
              <a:rPr lang="zh-CN" altLang="zh-CN" sz="1200" b="1" kern="100" dirty="0">
                <a:effectLst/>
                <a:ea typeface="仿宋" panose="02010609060101010101" pitchFamily="49" charset="-122"/>
                <a:cs typeface="Times New Roman" panose="02020603050405020304" pitchFamily="18" charset="0"/>
              </a:rPr>
              <a:t>高端电源管理芯片</a:t>
            </a:r>
            <a:r>
              <a:rPr lang="zh-CN" altLang="zh-CN" sz="1200" kern="100" dirty="0">
                <a:effectLst/>
                <a:ea typeface="仿宋" panose="02010609060101010101" pitchFamily="49" charset="-122"/>
                <a:cs typeface="Times New Roman" panose="02020603050405020304" pitchFamily="18" charset="0"/>
              </a:rPr>
              <a:t>的设计研发</a:t>
            </a:r>
            <a:r>
              <a:rPr lang="zh-CN" altLang="en-US" sz="1200" dirty="0"/>
              <a:t>；</a:t>
            </a:r>
            <a:r>
              <a:rPr lang="zh-CN" altLang="en-US" sz="1200" kern="1200" dirty="0"/>
              <a:t>量产出货产品包括</a:t>
            </a:r>
            <a:r>
              <a:rPr lang="zh-CN" altLang="en-US" sz="1200" b="1" kern="100" dirty="0">
                <a:effectLst/>
                <a:ea typeface="仿宋" panose="02010609060101010101" pitchFamily="49" charset="-122"/>
                <a:cs typeface="Times New Roman" panose="02020603050405020304" pitchFamily="18" charset="0"/>
              </a:rPr>
              <a:t>手机快充</a:t>
            </a:r>
            <a:r>
              <a:rPr lang="en-US" altLang="zh-CN" sz="1200" b="1" kern="1200" dirty="0">
                <a:solidFill>
                  <a:srgbClr val="C00000"/>
                </a:solidFill>
              </a:rPr>
              <a:t>Charge Pump</a:t>
            </a:r>
            <a:r>
              <a:rPr lang="zh-CN" altLang="zh-CN" sz="1200" kern="100" dirty="0">
                <a:effectLst/>
                <a:ea typeface="仿宋" panose="02010609060101010101" pitchFamily="49" charset="-122"/>
                <a:cs typeface="Times New Roman" panose="02020603050405020304" pitchFamily="18" charset="0"/>
              </a:rPr>
              <a:t>、</a:t>
            </a:r>
            <a:r>
              <a:rPr lang="en-US" altLang="zh-CN" sz="1200" b="1" kern="1200" dirty="0">
                <a:solidFill>
                  <a:srgbClr val="C00000"/>
                </a:solidFill>
              </a:rPr>
              <a:t>E-Marker</a:t>
            </a:r>
            <a:r>
              <a:rPr lang="zh-CN" altLang="en-US" sz="1200" b="1" kern="1200" dirty="0">
                <a:solidFill>
                  <a:srgbClr val="C00000"/>
                </a:solidFill>
              </a:rPr>
              <a:t>、</a:t>
            </a:r>
            <a:r>
              <a:rPr lang="en-US" altLang="zh-CN" sz="1200" b="1" kern="1200" dirty="0">
                <a:solidFill>
                  <a:srgbClr val="C00000"/>
                </a:solidFill>
              </a:rPr>
              <a:t> DC/DC</a:t>
            </a:r>
            <a:r>
              <a:rPr lang="zh-CN" altLang="zh-CN" sz="1200" b="1" kern="1200" dirty="0">
                <a:solidFill>
                  <a:srgbClr val="C00000"/>
                </a:solidFill>
              </a:rPr>
              <a:t>电源管理芯片</a:t>
            </a:r>
            <a:r>
              <a:rPr lang="zh-CN" altLang="zh-CN" sz="1200" kern="100" dirty="0">
                <a:effectLst/>
                <a:ea typeface="仿宋" panose="02010609060101010101" pitchFamily="49" charset="-122"/>
                <a:cs typeface="Times New Roman" panose="02020603050405020304" pitchFamily="18" charset="0"/>
              </a:rPr>
              <a:t>、</a:t>
            </a:r>
            <a:r>
              <a:rPr lang="zh-CN" altLang="zh-CN" sz="1200" b="1" kern="1200" dirty="0">
                <a:solidFill>
                  <a:srgbClr val="C00000"/>
                </a:solidFill>
              </a:rPr>
              <a:t>电池充电芯片</a:t>
            </a:r>
            <a:r>
              <a:rPr lang="zh-CN" altLang="zh-CN" sz="1200" kern="100" dirty="0">
                <a:effectLst/>
                <a:ea typeface="仿宋" panose="02010609060101010101" pitchFamily="49" charset="-122"/>
                <a:cs typeface="Times New Roman" panose="02020603050405020304" pitchFamily="18" charset="0"/>
              </a:rPr>
              <a:t>、 </a:t>
            </a:r>
            <a:r>
              <a:rPr lang="en-US" altLang="zh-CN" sz="1200" b="1" kern="1200" dirty="0">
                <a:solidFill>
                  <a:srgbClr val="C00000"/>
                </a:solidFill>
              </a:rPr>
              <a:t>BLE</a:t>
            </a:r>
            <a:r>
              <a:rPr lang="zh-CN" altLang="en-US" sz="1200" b="1" kern="1200" dirty="0">
                <a:solidFill>
                  <a:srgbClr val="C00000"/>
                </a:solidFill>
              </a:rPr>
              <a:t>蓝牙芯片</a:t>
            </a:r>
            <a:r>
              <a:rPr lang="en-US" altLang="zh-CN" sz="1200" b="1" kern="1200" dirty="0"/>
              <a:t>5</a:t>
            </a:r>
            <a:r>
              <a:rPr lang="zh-CN" altLang="zh-CN" sz="1200" b="1" kern="1200" dirty="0"/>
              <a:t>个系列</a:t>
            </a:r>
            <a:r>
              <a:rPr lang="zh-CN" altLang="en-US" sz="1200" kern="100" dirty="0">
                <a:effectLst/>
                <a:latin typeface="Times New Roman" panose="02020603050405020304" pitchFamily="18" charset="0"/>
                <a:ea typeface="仿宋" panose="02010609060101010101" pitchFamily="49" charset="-122"/>
              </a:rPr>
              <a:t>，</a:t>
            </a:r>
            <a:r>
              <a:rPr lang="zh-CN" altLang="zh-CN" sz="1200" dirty="0"/>
              <a:t>广泛应用于手机、</a:t>
            </a:r>
            <a:r>
              <a:rPr lang="en-US" altLang="zh-CN" sz="1200" dirty="0"/>
              <a:t>TWS</a:t>
            </a:r>
            <a:r>
              <a:rPr lang="zh-CN" altLang="zh-CN" sz="1200" dirty="0"/>
              <a:t>、笔记本电脑等消费电子领域。</a:t>
            </a:r>
            <a:endParaRPr lang="en-US" altLang="zh-CN" sz="1200" dirty="0"/>
          </a:p>
          <a:p>
            <a:pPr marL="0" indent="180000">
              <a:lnSpc>
                <a:spcPct val="150000"/>
              </a:lnSpc>
              <a:buClr>
                <a:schemeClr val="accent2">
                  <a:lumMod val="75000"/>
                </a:schemeClr>
              </a:buClr>
              <a:buSzPct val="70000"/>
              <a:buBlip>
                <a:blip r:embed="rId3"/>
              </a:buBlip>
            </a:pPr>
            <a:r>
              <a:rPr lang="zh-CN" altLang="en-US" sz="1200" dirty="0"/>
              <a:t>本轮融资为</a:t>
            </a:r>
            <a:r>
              <a:rPr lang="en-US" altLang="zh-CN" sz="1200" b="1" dirty="0"/>
              <a:t>C</a:t>
            </a:r>
            <a:r>
              <a:rPr lang="zh-CN" altLang="en-US" sz="1200" b="1" dirty="0"/>
              <a:t>轮</a:t>
            </a:r>
            <a:r>
              <a:rPr lang="zh-CN" altLang="en-US" sz="1200" dirty="0"/>
              <a:t>融资，</a:t>
            </a:r>
            <a:r>
              <a:rPr lang="zh-CN" altLang="en-US" sz="1200" b="1" dirty="0"/>
              <a:t>拟融资</a:t>
            </a:r>
            <a:r>
              <a:rPr lang="en-US" altLang="zh-CN" sz="1200" b="1" dirty="0"/>
              <a:t>1</a:t>
            </a:r>
            <a:r>
              <a:rPr lang="zh-CN" altLang="en-US" sz="1200" b="1" dirty="0"/>
              <a:t>亿元，投前估值为</a:t>
            </a:r>
            <a:r>
              <a:rPr lang="en-US" altLang="zh-CN" sz="1200" b="1" dirty="0"/>
              <a:t>9.2</a:t>
            </a:r>
            <a:r>
              <a:rPr lang="zh-CN" altLang="en-US" sz="1200" b="1" dirty="0"/>
              <a:t>亿元</a:t>
            </a:r>
            <a:r>
              <a:rPr lang="zh-CN" altLang="en-US" sz="1200" dirty="0"/>
              <a:t>。</a:t>
            </a:r>
            <a:r>
              <a:rPr lang="en-US" altLang="zh-CN" sz="1200" dirty="0"/>
              <a:t>MTM</a:t>
            </a:r>
            <a:r>
              <a:rPr lang="zh-CN" altLang="en-US" sz="1200" dirty="0"/>
              <a:t>投资</a:t>
            </a:r>
            <a:r>
              <a:rPr lang="en-US" altLang="zh-CN" sz="1200" dirty="0"/>
              <a:t>1</a:t>
            </a:r>
            <a:r>
              <a:rPr lang="zh-CN" altLang="en-US" sz="1200" dirty="0"/>
              <a:t>亿元。承诺</a:t>
            </a:r>
            <a:r>
              <a:rPr lang="en-US" altLang="zh-CN" sz="1200" dirty="0"/>
              <a:t>2024.6.30</a:t>
            </a:r>
            <a:r>
              <a:rPr lang="zh-CN" altLang="en-US" sz="1200" dirty="0"/>
              <a:t>前</a:t>
            </a:r>
            <a:r>
              <a:rPr lang="en-US" altLang="zh-CN" sz="1200" dirty="0"/>
              <a:t>IPO</a:t>
            </a:r>
            <a:r>
              <a:rPr lang="zh-CN" altLang="en-US" sz="1200" dirty="0"/>
              <a:t>，否则</a:t>
            </a:r>
            <a:r>
              <a:rPr lang="en-US" altLang="zh-CN" sz="1200" dirty="0"/>
              <a:t>8%</a:t>
            </a:r>
            <a:r>
              <a:rPr lang="zh-CN" altLang="en-US" sz="1200" dirty="0"/>
              <a:t>单利回购。</a:t>
            </a:r>
            <a:endParaRPr lang="en-US" altLang="zh-CN" sz="1200" dirty="0"/>
          </a:p>
          <a:p>
            <a:pPr marL="0" indent="180000">
              <a:lnSpc>
                <a:spcPct val="150000"/>
              </a:lnSpc>
              <a:buClr>
                <a:schemeClr val="accent2">
                  <a:lumMod val="75000"/>
                </a:schemeClr>
              </a:buClr>
              <a:buSzPct val="70000"/>
              <a:buBlip>
                <a:blip r:embed="rId3"/>
              </a:buBlip>
            </a:pPr>
            <a:r>
              <a:rPr lang="zh-CN" altLang="en-US" sz="1200" dirty="0"/>
              <a:t>未来计划</a:t>
            </a:r>
            <a:r>
              <a:rPr lang="en-US" altLang="zh-CN" sz="1200" dirty="0"/>
              <a:t>2023</a:t>
            </a:r>
            <a:r>
              <a:rPr lang="zh-CN" altLang="en-US" sz="1200" dirty="0"/>
              <a:t>年第一季度按照</a:t>
            </a:r>
            <a:r>
              <a:rPr lang="en-US" altLang="zh-CN" sz="1200" dirty="0"/>
              <a:t>2020</a:t>
            </a:r>
            <a:r>
              <a:rPr lang="zh-CN" altLang="en-US" sz="1200" dirty="0"/>
              <a:t>年</a:t>
            </a:r>
            <a:r>
              <a:rPr lang="en-US" altLang="zh-CN" sz="1200" dirty="0"/>
              <a:t>-2022</a:t>
            </a:r>
            <a:r>
              <a:rPr lang="zh-CN" altLang="en-US" sz="1200" dirty="0"/>
              <a:t>年财务数据进行</a:t>
            </a:r>
            <a:r>
              <a:rPr lang="zh-CN" altLang="en-US" sz="1200" b="1" dirty="0"/>
              <a:t>科创板</a:t>
            </a:r>
            <a:r>
              <a:rPr lang="zh-CN" altLang="en-US" sz="1200" dirty="0"/>
              <a:t>申报。</a:t>
            </a:r>
            <a:endParaRPr lang="en-US" altLang="zh-CN" sz="1200" b="1" dirty="0"/>
          </a:p>
        </p:txBody>
      </p:sp>
      <p:pic>
        <p:nvPicPr>
          <p:cNvPr id="3" name="图片 2">
            <a:extLst>
              <a:ext uri="{FF2B5EF4-FFF2-40B4-BE49-F238E27FC236}">
                <a16:creationId xmlns:a16="http://schemas.microsoft.com/office/drawing/2014/main" id="{ABC980DD-4639-46E0-9C27-3B9E8C6F968D}"/>
              </a:ext>
            </a:extLst>
          </p:cNvPr>
          <p:cNvPicPr>
            <a:picLocks noChangeAspect="1"/>
          </p:cNvPicPr>
          <p:nvPr/>
        </p:nvPicPr>
        <p:blipFill>
          <a:blip r:embed="rId4">
            <a:alphaModFix amt="50000"/>
            <a:extLst>
              <a:ext uri="{BEBA8EAE-BF5A-486C-A8C5-ECC9F3942E4B}">
                <a14:imgProps xmlns:a14="http://schemas.microsoft.com/office/drawing/2010/main">
                  <a14:imgLayer r:embed="rId5">
                    <a14:imgEffect>
                      <a14:backgroundRemoval t="2931" b="95690" l="5201" r="97623">
                        <a14:foregroundMark x1="51560" y1="17759" x2="64933" y2="10345"/>
                        <a14:foregroundMark x1="64933" y1="10345" x2="72511" y2="13621"/>
                        <a14:foregroundMark x1="72511" y1="13621" x2="71620" y2="15000"/>
                        <a14:foregroundMark x1="75037" y1="10345" x2="70431" y2="18793"/>
                        <a14:foregroundMark x1="70431" y1="18793" x2="69837" y2="12759"/>
                        <a14:foregroundMark x1="82021" y1="10345" x2="73105" y2="7759"/>
                        <a14:foregroundMark x1="73105" y1="7759" x2="67756" y2="8793"/>
                        <a14:foregroundMark x1="88410" y1="52241" x2="91679" y2="59655"/>
                        <a14:foregroundMark x1="93314" y1="67759" x2="93016" y2="73448"/>
                        <a14:foregroundMark x1="74591" y1="66207" x2="69837" y2="67586"/>
                        <a14:foregroundMark x1="31649" y1="40172" x2="25409" y2="36034"/>
                        <a14:foregroundMark x1="48737" y1="35172" x2="42793" y2="38966"/>
                        <a14:foregroundMark x1="40713" y1="26379" x2="32541" y2="27586"/>
                        <a14:foregroundMark x1="28083" y1="25862" x2="21991" y2="29483"/>
                        <a14:foregroundMark x1="21248" y1="31897" x2="20951" y2="37069"/>
                        <a14:foregroundMark x1="7727" y1="51897" x2="5201" y2="61552"/>
                        <a14:foregroundMark x1="5201" y1="61552" x2="8915" y2="62241"/>
                        <a14:foregroundMark x1="6389" y1="50345" x2="7727" y2="60172"/>
                        <a14:foregroundMark x1="7727" y1="60172" x2="11144" y2="65690"/>
                        <a14:foregroundMark x1="9955" y1="66379" x2="16790" y2="65172"/>
                        <a14:foregroundMark x1="27192" y1="73103" x2="32541" y2="81724"/>
                        <a14:foregroundMark x1="32541" y1="81724" x2="32541" y2="82586"/>
                        <a14:foregroundMark x1="27043" y1="68621" x2="33581" y2="90517"/>
                        <a14:foregroundMark x1="33581" y1="90517" x2="39970" y2="87931"/>
                        <a14:foregroundMark x1="37147" y1="94310" x2="34770" y2="95690"/>
                        <a14:foregroundMark x1="50371" y1="62586" x2="62407" y2="63276"/>
                        <a14:foregroundMark x1="62407" y1="63276" x2="76672" y2="70172"/>
                        <a14:foregroundMark x1="52600" y1="60172" x2="43685" y2="52069"/>
                        <a14:foregroundMark x1="55275" y1="13448" x2="46062" y2="30172"/>
                        <a14:foregroundMark x1="46062" y1="30172" x2="47697" y2="16724"/>
                        <a14:foregroundMark x1="47697" y1="16724" x2="54978" y2="10172"/>
                        <a14:foregroundMark x1="54978" y1="10172" x2="64339" y2="10172"/>
                        <a14:foregroundMark x1="64339" y1="10172" x2="65379" y2="22069"/>
                        <a14:foregroundMark x1="65379" y1="22069" x2="75929" y2="15517"/>
                        <a14:foregroundMark x1="75929" y1="15517" x2="79941" y2="19310"/>
                        <a14:foregroundMark x1="88262" y1="29483" x2="80386" y2="28103"/>
                        <a14:foregroundMark x1="57207" y1="29828" x2="57652" y2="31207"/>
                        <a14:foregroundMark x1="44874" y1="31207" x2="49331" y2="8448"/>
                        <a14:foregroundMark x1="49331" y1="8448" x2="57652" y2="6552"/>
                        <a14:foregroundMark x1="61813" y1="5172" x2="77712" y2="5345"/>
                        <a14:foregroundMark x1="77712" y1="5345" x2="81575" y2="13966"/>
                        <a14:foregroundMark x1="81575" y1="13966" x2="81426" y2="14828"/>
                        <a14:foregroundMark x1="85141" y1="14310" x2="81426" y2="5862"/>
                        <a14:foregroundMark x1="81426" y1="5862" x2="80832" y2="5690"/>
                        <a14:foregroundMark x1="83952" y1="6207" x2="76374" y2="3103"/>
                        <a14:foregroundMark x1="76374" y1="3103" x2="66716" y2="3621"/>
                        <a14:foregroundMark x1="36701" y1="32586" x2="36553" y2="45000"/>
                        <a14:foregroundMark x1="36553" y1="45000" x2="37444" y2="47931"/>
                        <a14:foregroundMark x1="27043" y1="57414" x2="19911" y2="51379"/>
                        <a14:foregroundMark x1="19911" y1="51379" x2="16345" y2="45862"/>
                        <a14:foregroundMark x1="9955" y1="36207" x2="11144" y2="35862"/>
                        <a14:foregroundMark x1="9658" y1="39483" x2="13819" y2="54138"/>
                        <a14:foregroundMark x1="13819" y1="54138" x2="16939" y2="57414"/>
                        <a14:foregroundMark x1="10550" y1="52069" x2="15156" y2="64655"/>
                        <a14:foregroundMark x1="15156" y1="64655" x2="20802" y2="69828"/>
                        <a14:foregroundMark x1="32987" y1="42586" x2="36701" y2="49310"/>
                        <a14:foregroundMark x1="44131" y1="58621" x2="42793" y2="55690"/>
                        <a14:foregroundMark x1="34770" y1="25862" x2="39673" y2="24828"/>
                        <a14:foregroundMark x1="35215" y1="25345" x2="28529" y2="25517"/>
                        <a14:foregroundMark x1="45914" y1="83793" x2="49331" y2="85000"/>
                        <a14:foregroundMark x1="97325" y1="71552" x2="97623" y2="73448"/>
                        <a14:foregroundMark x1="57652" y1="29483" x2="59287" y2="29138"/>
                        <a14:foregroundMark x1="30906" y1="43793" x2="31501" y2="49138"/>
                        <a14:foregroundMark x1="28975" y1="24655" x2="29569" y2="24655"/>
                        <a14:foregroundMark x1="82318" y1="86897" x2="86627" y2="87069"/>
                        <a14:foregroundMark x1="85438" y1="88276" x2="85884" y2="88103"/>
                        <a14:foregroundMark x1="73105" y1="87759" x2="60773" y2="88276"/>
                        <a14:foregroundMark x1="7429" y1="35690" x2="7429" y2="35690"/>
                      </a14:backgroundRemoval>
                    </a14:imgEffect>
                  </a14:imgLayer>
                </a14:imgProps>
              </a:ext>
            </a:extLst>
          </a:blip>
          <a:stretch>
            <a:fillRect/>
          </a:stretch>
        </p:blipFill>
        <p:spPr>
          <a:xfrm>
            <a:off x="633026" y="3236057"/>
            <a:ext cx="1688027" cy="1454763"/>
          </a:xfrm>
          <a:prstGeom prst="rect">
            <a:avLst/>
          </a:prstGeom>
        </p:spPr>
      </p:pic>
      <p:pic>
        <p:nvPicPr>
          <p:cNvPr id="10" name="图片 9">
            <a:extLst>
              <a:ext uri="{FF2B5EF4-FFF2-40B4-BE49-F238E27FC236}">
                <a16:creationId xmlns:a16="http://schemas.microsoft.com/office/drawing/2014/main" id="{5AADC2FE-7F34-414A-8922-98D7E6916051}"/>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560" b="95321" l="2297" r="95760">
                        <a14:foregroundMark x1="12898" y1="7106" x2="25795" y2="5546"/>
                        <a14:foregroundMark x1="25795" y1="5546" x2="35512" y2="8319"/>
                        <a14:foregroundMark x1="38339" y1="6239" x2="24558" y2="4679"/>
                        <a14:foregroundMark x1="27915" y1="2080" x2="27915" y2="2080"/>
                        <a14:foregroundMark x1="28269" y1="1906" x2="28269" y2="1906"/>
                        <a14:foregroundMark x1="24382" y1="39515" x2="31979" y2="47834"/>
                        <a14:foregroundMark x1="31979" y1="47834" x2="32509" y2="48180"/>
                        <a14:foregroundMark x1="16078" y1="28769" x2="16078" y2="34315"/>
                        <a14:foregroundMark x1="14841" y1="29116" x2="17138" y2="54419"/>
                        <a14:foregroundMark x1="5830" y1="69844" x2="9364" y2="88908"/>
                        <a14:foregroundMark x1="9364" y1="88908" x2="9541" y2="89081"/>
                        <a14:foregroundMark x1="64488" y1="79549" x2="80389" y2="76430"/>
                        <a14:foregroundMark x1="80389" y1="76430" x2="75265" y2="67418"/>
                        <a14:foregroundMark x1="75265" y1="67418" x2="65194" y2="78683"/>
                        <a14:foregroundMark x1="65194" y1="78683" x2="74028" y2="84749"/>
                        <a14:foregroundMark x1="74028" y1="84749" x2="77208" y2="83016"/>
                        <a14:foregroundMark x1="65018" y1="76256" x2="55124" y2="84749"/>
                        <a14:foregroundMark x1="55124" y1="84749" x2="53887" y2="95321"/>
                        <a14:foregroundMark x1="53887" y1="95321" x2="66078" y2="87695"/>
                        <a14:foregroundMark x1="66078" y1="87695" x2="60071" y2="74177"/>
                        <a14:foregroundMark x1="60071" y1="74177" x2="50000" y2="70537"/>
                        <a14:foregroundMark x1="50000" y1="70537" x2="48940" y2="72964"/>
                        <a14:foregroundMark x1="90106" y1="69497" x2="91343" y2="78683"/>
                        <a14:foregroundMark x1="91343" y1="78683" x2="87986" y2="89601"/>
                        <a14:foregroundMark x1="87986" y1="89601" x2="75618" y2="91681"/>
                        <a14:foregroundMark x1="75618" y1="91681" x2="68728" y2="84402"/>
                        <a14:foregroundMark x1="95230" y1="69151" x2="95760" y2="86482"/>
                        <a14:foregroundMark x1="5477" y1="89948" x2="3887" y2="68631"/>
                        <a14:foregroundMark x1="30035" y1="91854" x2="29505" y2="88215"/>
                        <a14:foregroundMark x1="15018" y1="6412" x2="22968" y2="3986"/>
                        <a14:foregroundMark x1="22615" y1="3466" x2="12191" y2="4159"/>
                        <a14:foregroundMark x1="12191" y1="4159" x2="11661" y2="4506"/>
                        <a14:foregroundMark x1="42226" y1="3640" x2="42226" y2="3640"/>
                        <a14:foregroundMark x1="40989" y1="2946" x2="40989" y2="2946"/>
                        <a14:foregroundMark x1="37456" y1="2426" x2="37456" y2="2426"/>
                        <a14:foregroundMark x1="35336" y1="2080" x2="35336" y2="2080"/>
                        <a14:foregroundMark x1="32509" y1="2080" x2="32509" y2="2080"/>
                        <a14:foregroundMark x1="20848" y1="1733" x2="20848" y2="1733"/>
                        <a14:foregroundMark x1="13428" y1="2946" x2="13428" y2="2946"/>
                        <a14:foregroundMark x1="10954" y1="3640" x2="10954" y2="3640"/>
                        <a14:foregroundMark x1="3004" y1="70191" x2="3004" y2="70191"/>
                        <a14:foregroundMark x1="2297" y1="83016" x2="2297" y2="83016"/>
                        <a14:foregroundMark x1="2297" y1="85269" x2="2297" y2="85269"/>
                        <a14:foregroundMark x1="5477" y1="94801" x2="5477" y2="94801"/>
                        <a14:foregroundMark x1="4064" y1="94801" x2="3710" y2="93588"/>
                        <a14:foregroundMark x1="3534" y1="92028" x2="3534" y2="92028"/>
                      </a14:backgroundRemoval>
                    </a14:imgEffect>
                  </a14:imgLayer>
                </a14:imgProps>
              </a:ext>
            </a:extLst>
          </a:blip>
          <a:stretch>
            <a:fillRect/>
          </a:stretch>
        </p:blipFill>
        <p:spPr>
          <a:xfrm>
            <a:off x="5724080" y="3534018"/>
            <a:ext cx="924589" cy="942558"/>
          </a:xfrm>
          <a:prstGeom prst="rect">
            <a:avLst/>
          </a:prstGeom>
        </p:spPr>
      </p:pic>
      <p:graphicFrame>
        <p:nvGraphicFramePr>
          <p:cNvPr id="17" name="图表 16">
            <a:extLst>
              <a:ext uri="{FF2B5EF4-FFF2-40B4-BE49-F238E27FC236}">
                <a16:creationId xmlns:a16="http://schemas.microsoft.com/office/drawing/2014/main" id="{5A8A5F08-76FE-431E-A886-2BB57C07D1E6}"/>
              </a:ext>
            </a:extLst>
          </p:cNvPr>
          <p:cNvGraphicFramePr>
            <a:graphicFrameLocks/>
          </p:cNvGraphicFramePr>
          <p:nvPr>
            <p:extLst>
              <p:ext uri="{D42A27DB-BD31-4B8C-83A1-F6EECF244321}">
                <p14:modId xmlns:p14="http://schemas.microsoft.com/office/powerpoint/2010/main" val="1669981125"/>
              </p:ext>
            </p:extLst>
          </p:nvPr>
        </p:nvGraphicFramePr>
        <p:xfrm>
          <a:off x="1808512" y="2564740"/>
          <a:ext cx="4572000" cy="2743200"/>
        </p:xfrm>
        <a:graphic>
          <a:graphicData uri="http://schemas.openxmlformats.org/drawingml/2006/chart">
            <c:chart xmlns:c="http://schemas.openxmlformats.org/drawingml/2006/chart" xmlns:r="http://schemas.openxmlformats.org/officeDocument/2006/relationships" r:id="rId8"/>
          </a:graphicData>
        </a:graphic>
      </p:graphicFrame>
      <p:pic>
        <p:nvPicPr>
          <p:cNvPr id="14" name="图片 13">
            <a:extLst>
              <a:ext uri="{FF2B5EF4-FFF2-40B4-BE49-F238E27FC236}">
                <a16:creationId xmlns:a16="http://schemas.microsoft.com/office/drawing/2014/main" id="{48988A06-3DF3-40A4-BB96-91B355291D7B}"/>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855" b="97436" l="9906" r="95755">
                        <a14:foregroundMark x1="47642" y1="13034" x2="85377" y2="14744"/>
                        <a14:foregroundMark x1="54717" y1="4701" x2="45283" y2="4915"/>
                        <a14:foregroundMark x1="59434" y1="3205" x2="60377" y2="5983"/>
                        <a14:foregroundMark x1="34906" y1="13034" x2="59434" y2="20940"/>
                        <a14:foregroundMark x1="59434" y1="20940" x2="64151" y2="18162"/>
                        <a14:foregroundMark x1="88679" y1="85897" x2="65094" y2="88889"/>
                        <a14:foregroundMark x1="65094" y1="88889" x2="37264" y2="86325"/>
                        <a14:foregroundMark x1="37264" y1="86325" x2="64151" y2="85684"/>
                        <a14:foregroundMark x1="64151" y1="85684" x2="74057" y2="85897"/>
                        <a14:foregroundMark x1="77358" y1="92308" x2="41981" y2="88034"/>
                        <a14:foregroundMark x1="16509" y1="86752" x2="32547" y2="96154"/>
                        <a14:foregroundMark x1="32547" y1="96154" x2="90094" y2="93803"/>
                        <a14:foregroundMark x1="90094" y1="93803" x2="92925" y2="89744"/>
                        <a14:foregroundMark x1="93396" y1="72650" x2="92925" y2="71154"/>
                        <a14:foregroundMark x1="93396" y1="58974" x2="93396" y2="58547"/>
                        <a14:foregroundMark x1="91981" y1="51496" x2="91981" y2="51496"/>
                        <a14:foregroundMark x1="93396" y1="29701" x2="93396" y2="29701"/>
                        <a14:foregroundMark x1="94340" y1="17949" x2="94340" y2="17308"/>
                        <a14:foregroundMark x1="94340" y1="12607" x2="94340" y2="12607"/>
                        <a14:foregroundMark x1="83491" y1="14316" x2="79245" y2="25214"/>
                        <a14:foregroundMark x1="95755" y1="23504" x2="93396" y2="47863"/>
                        <a14:foregroundMark x1="92453" y1="84615" x2="90094" y2="96581"/>
                        <a14:foregroundMark x1="11792" y1="87393" x2="10377" y2="36752"/>
                        <a14:foregroundMark x1="10377" y1="18590" x2="17453" y2="14103"/>
                        <a14:foregroundMark x1="42453" y1="3205" x2="58019" y2="3205"/>
                        <a14:foregroundMark x1="60377" y1="2137" x2="39623" y2="3846"/>
                        <a14:foregroundMark x1="39623" y1="4701" x2="39623" y2="4701"/>
                        <a14:foregroundMark x1="22642" y1="20299" x2="12736" y2="20299"/>
                        <a14:foregroundMark x1="29245" y1="19658" x2="12736" y2="20085"/>
                        <a14:foregroundMark x1="61792" y1="1282" x2="49057" y2="1282"/>
                        <a14:foregroundMark x1="63679" y1="11538" x2="29717" y2="11752"/>
                        <a14:foregroundMark x1="58491" y1="7479" x2="23113" y2="8547"/>
                        <a14:foregroundMark x1="31604" y1="6838" x2="17453" y2="7265"/>
                        <a14:foregroundMark x1="13208" y1="9188" x2="11321" y2="13675"/>
                        <a14:foregroundMark x1="12264" y1="36966" x2="11792" y2="21368"/>
                        <a14:foregroundMark x1="10377" y1="87607" x2="18396" y2="96581"/>
                        <a14:foregroundMark x1="26415" y1="97436" x2="10377" y2="92094"/>
                        <a14:foregroundMark x1="87736" y1="97436" x2="63679" y2="97009"/>
                        <a14:foregroundMark x1="19811" y1="16453" x2="19811" y2="9402"/>
                        <a14:foregroundMark x1="93868" y1="9829" x2="87736" y2="7906"/>
                      </a14:backgroundRemoval>
                    </a14:imgEffect>
                  </a14:imgLayer>
                </a14:imgProps>
              </a:ext>
            </a:extLst>
          </a:blip>
          <a:stretch>
            <a:fillRect/>
          </a:stretch>
        </p:blipFill>
        <p:spPr>
          <a:xfrm>
            <a:off x="7477427" y="3446689"/>
            <a:ext cx="426971" cy="942559"/>
          </a:xfrm>
          <a:prstGeom prst="rect">
            <a:avLst/>
          </a:prstGeom>
        </p:spPr>
      </p:pic>
      <p:sp>
        <p:nvSpPr>
          <p:cNvPr id="15" name="文本框 14">
            <a:extLst>
              <a:ext uri="{FF2B5EF4-FFF2-40B4-BE49-F238E27FC236}">
                <a16:creationId xmlns:a16="http://schemas.microsoft.com/office/drawing/2014/main" id="{69340288-8F73-4DB1-ADD1-5FEC7DE3CEAC}"/>
              </a:ext>
            </a:extLst>
          </p:cNvPr>
          <p:cNvSpPr txBox="1"/>
          <p:nvPr/>
        </p:nvSpPr>
        <p:spPr>
          <a:xfrm>
            <a:off x="6690395" y="3594804"/>
            <a:ext cx="551475" cy="646331"/>
          </a:xfrm>
          <a:prstGeom prst="rect">
            <a:avLst/>
          </a:prstGeom>
          <a:noFill/>
        </p:spPr>
        <p:txBody>
          <a:bodyPr wrap="square" rtlCol="0">
            <a:spAutoFit/>
          </a:bodyPr>
          <a:lstStyle/>
          <a:p>
            <a:r>
              <a:rPr lang="en-US" altLang="zh-CN" sz="3600" b="1" dirty="0">
                <a:solidFill>
                  <a:srgbClr val="C00000"/>
                </a:solidFill>
              </a:rPr>
              <a:t>+</a:t>
            </a:r>
            <a:endParaRPr lang="zh-CN" altLang="en-US" sz="3600" b="1" dirty="0">
              <a:solidFill>
                <a:srgbClr val="C00000"/>
              </a:solidFill>
            </a:endParaRPr>
          </a:p>
        </p:txBody>
      </p:sp>
      <p:pic>
        <p:nvPicPr>
          <p:cNvPr id="4" name="图片 3">
            <a:extLst>
              <a:ext uri="{FF2B5EF4-FFF2-40B4-BE49-F238E27FC236}">
                <a16:creationId xmlns:a16="http://schemas.microsoft.com/office/drawing/2014/main" id="{64DF9D8A-E67B-49E3-AF1F-303E08A1AFF6}"/>
              </a:ext>
            </a:extLst>
          </p:cNvPr>
          <p:cNvPicPr>
            <a:picLocks noChangeAspect="1"/>
          </p:cNvPicPr>
          <p:nvPr/>
        </p:nvPicPr>
        <p:blipFill>
          <a:blip r:embed="rId11">
            <a:alphaModFix amt="20000"/>
          </a:blip>
          <a:stretch>
            <a:fillRect/>
          </a:stretch>
        </p:blipFill>
        <p:spPr>
          <a:xfrm>
            <a:off x="5715707" y="3101239"/>
            <a:ext cx="2385867" cy="18081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4D9FFAA-3D1D-4AF6-A642-0C83D3E4178A}"/>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二、公司分析</a:t>
            </a:r>
            <a:r>
              <a:rPr lang="en-US" altLang="zh-CN" sz="2400" dirty="0">
                <a:solidFill>
                  <a:schemeClr val="bg1">
                    <a:lumMod val="50000"/>
                  </a:schemeClr>
                </a:solidFill>
              </a:rPr>
              <a:t>|</a:t>
            </a:r>
            <a:r>
              <a:rPr lang="zh-CN" altLang="en-US" sz="2000" dirty="0"/>
              <a:t>股权结构</a:t>
            </a:r>
            <a:endParaRPr lang="en-US" altLang="zh-CN" sz="2400" dirty="0"/>
          </a:p>
        </p:txBody>
      </p:sp>
      <p:sp>
        <p:nvSpPr>
          <p:cNvPr id="6" name="Rectangle 3">
            <a:extLst>
              <a:ext uri="{FF2B5EF4-FFF2-40B4-BE49-F238E27FC236}">
                <a16:creationId xmlns:a16="http://schemas.microsoft.com/office/drawing/2014/main" id="{C43A0259-48A0-455A-BEBA-F34E33C3CE9C}"/>
              </a:ext>
            </a:extLst>
          </p:cNvPr>
          <p:cNvSpPr txBox="1">
            <a:spLocks noChangeArrowheads="1"/>
          </p:cNvSpPr>
          <p:nvPr/>
        </p:nvSpPr>
        <p:spPr>
          <a:xfrm>
            <a:off x="457200" y="411601"/>
            <a:ext cx="8229600" cy="801601"/>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indent="180000" algn="just">
              <a:lnSpc>
                <a:spcPct val="150000"/>
              </a:lnSpc>
              <a:buSzPct val="70000"/>
              <a:buBlip>
                <a:blip r:embed="rId3"/>
              </a:buBlip>
            </a:pPr>
            <a:r>
              <a:rPr lang="zh-CN" altLang="en-US" sz="1200" b="1" dirty="0">
                <a:latin typeface="仿宋" panose="02010609060101010101" pitchFamily="49" charset="-122"/>
                <a:ea typeface="仿宋" panose="02010609060101010101" pitchFamily="49" charset="-122"/>
              </a:rPr>
              <a:t>公司股权结构</a:t>
            </a:r>
            <a:endParaRPr lang="en-US" altLang="zh-CN" sz="1200" b="1" dirty="0">
              <a:latin typeface="仿宋" panose="02010609060101010101" pitchFamily="49" charset="-122"/>
              <a:ea typeface="仿宋" panose="02010609060101010101" pitchFamily="49" charset="-122"/>
            </a:endParaRPr>
          </a:p>
          <a:p>
            <a:pPr marL="0" indent="252000" algn="just">
              <a:lnSpc>
                <a:spcPct val="150000"/>
              </a:lnSpc>
              <a:buSzPct val="70000"/>
              <a:buNone/>
            </a:pPr>
            <a:r>
              <a:rPr lang="zh-CN" altLang="en-US" sz="1200" dirty="0">
                <a:latin typeface="仿宋" panose="02010609060101010101" pitchFamily="49" charset="-122"/>
                <a:ea typeface="仿宋" panose="02010609060101010101" pitchFamily="49" charset="-122"/>
              </a:rPr>
              <a:t>股东共计</a:t>
            </a:r>
            <a:r>
              <a:rPr lang="en-US" altLang="zh-CN" sz="1200" dirty="0">
                <a:latin typeface="仿宋" panose="02010609060101010101" pitchFamily="49" charset="-122"/>
                <a:ea typeface="仿宋" panose="02010609060101010101" pitchFamily="49" charset="-122"/>
              </a:rPr>
              <a:t>10</a:t>
            </a:r>
            <a:r>
              <a:rPr lang="zh-CN" altLang="en-US" sz="1200" dirty="0">
                <a:latin typeface="仿宋" panose="02010609060101010101" pitchFamily="49" charset="-122"/>
                <a:ea typeface="仿宋" panose="02010609060101010101" pitchFamily="49" charset="-122"/>
              </a:rPr>
              <a:t>名，分别为公司法人代表</a:t>
            </a:r>
            <a:r>
              <a:rPr lang="zh-CN" altLang="en-US" sz="1200" b="1" dirty="0">
                <a:latin typeface="仿宋" panose="02010609060101010101" pitchFamily="49" charset="-122"/>
                <a:ea typeface="仿宋" panose="02010609060101010101" pitchFamily="49" charset="-122"/>
              </a:rPr>
              <a:t>唐晓</a:t>
            </a:r>
            <a:r>
              <a:rPr lang="zh-CN" altLang="en-US" sz="1200" dirty="0">
                <a:latin typeface="仿宋" panose="02010609060101010101" pitchFamily="49" charset="-122"/>
                <a:ea typeface="仿宋" panose="02010609060101010101" pitchFamily="49" charset="-122"/>
              </a:rPr>
              <a:t>、</a:t>
            </a:r>
            <a:r>
              <a:rPr lang="en-US" altLang="zh-CN" sz="1200" dirty="0">
                <a:latin typeface="仿宋" panose="02010609060101010101" pitchFamily="49" charset="-122"/>
                <a:ea typeface="仿宋" panose="02010609060101010101" pitchFamily="49" charset="-122"/>
              </a:rPr>
              <a:t>9</a:t>
            </a:r>
            <a:r>
              <a:rPr lang="zh-CN" altLang="zh-CN" sz="1200" dirty="0">
                <a:latin typeface="仿宋" panose="02010609060101010101" pitchFamily="49" charset="-122"/>
                <a:ea typeface="仿宋" panose="02010609060101010101" pitchFamily="49" charset="-122"/>
              </a:rPr>
              <a:t>个持股平台</a:t>
            </a:r>
            <a:r>
              <a:rPr lang="zh-CN" altLang="en-US" sz="1200" dirty="0">
                <a:latin typeface="仿宋" panose="02010609060101010101" pitchFamily="49" charset="-122"/>
                <a:ea typeface="仿宋" panose="02010609060101010101" pitchFamily="49" charset="-122"/>
              </a:rPr>
              <a:t>（高管</a:t>
            </a:r>
            <a:r>
              <a:rPr lang="zh-CN" altLang="zh-CN" sz="1200" dirty="0">
                <a:latin typeface="仿宋" panose="02010609060101010101" pitchFamily="49" charset="-122"/>
                <a:ea typeface="仿宋" panose="02010609060101010101" pitchFamily="49" charset="-122"/>
              </a:rPr>
              <a:t>持股平台</a:t>
            </a:r>
            <a:r>
              <a:rPr lang="zh-CN" altLang="en-US" sz="1200" dirty="0">
                <a:latin typeface="仿宋" panose="02010609060101010101" pitchFamily="49" charset="-122"/>
                <a:ea typeface="仿宋" panose="02010609060101010101" pitchFamily="49" charset="-122"/>
              </a:rPr>
              <a:t>、</a:t>
            </a:r>
            <a:r>
              <a:rPr lang="zh-CN" altLang="zh-CN" sz="1200" dirty="0">
                <a:latin typeface="仿宋" panose="02010609060101010101" pitchFamily="49" charset="-122"/>
                <a:ea typeface="仿宋" panose="02010609060101010101" pitchFamily="49" charset="-122"/>
              </a:rPr>
              <a:t>员工持股平台</a:t>
            </a:r>
            <a:r>
              <a:rPr lang="zh-CN" altLang="en-US" sz="1200" dirty="0">
                <a:latin typeface="仿宋" panose="02010609060101010101" pitchFamily="49" charset="-122"/>
                <a:ea typeface="仿宋" panose="02010609060101010101" pitchFamily="49" charset="-122"/>
              </a:rPr>
              <a:t>）</a:t>
            </a:r>
            <a:r>
              <a:rPr lang="zh-CN" altLang="zh-CN" sz="1200" dirty="0">
                <a:latin typeface="仿宋" panose="02010609060101010101" pitchFamily="49" charset="-122"/>
                <a:ea typeface="仿宋" panose="02010609060101010101" pitchFamily="49" charset="-122"/>
              </a:rPr>
              <a:t>。</a:t>
            </a:r>
            <a:endParaRPr lang="en-US" altLang="zh-CN" sz="1200" dirty="0">
              <a:latin typeface="仿宋" panose="02010609060101010101" pitchFamily="49" charset="-122"/>
              <a:ea typeface="仿宋" panose="02010609060101010101" pitchFamily="49" charset="-122"/>
            </a:endParaRPr>
          </a:p>
          <a:p>
            <a:pPr marL="0" indent="180000" algn="just">
              <a:lnSpc>
                <a:spcPct val="150000"/>
              </a:lnSpc>
              <a:buSzPct val="70000"/>
              <a:buBlip>
                <a:blip r:embed="rId3"/>
              </a:buBlip>
            </a:pPr>
            <a:r>
              <a:rPr lang="zh-CN" altLang="en-US" sz="1200" b="1" dirty="0">
                <a:latin typeface="仿宋" panose="02010609060101010101" pitchFamily="49" charset="-122"/>
                <a:ea typeface="仿宋" panose="02010609060101010101" pitchFamily="49" charset="-122"/>
              </a:rPr>
              <a:t>控股股东、实际控制人情况</a:t>
            </a:r>
            <a:endParaRPr lang="en-US" altLang="zh-CN" sz="1200" b="1" dirty="0">
              <a:latin typeface="仿宋" panose="02010609060101010101" pitchFamily="49" charset="-122"/>
              <a:ea typeface="仿宋" panose="02010609060101010101" pitchFamily="49" charset="-122"/>
            </a:endParaRPr>
          </a:p>
          <a:p>
            <a:pPr marL="0" indent="252000" algn="just">
              <a:lnSpc>
                <a:spcPct val="150000"/>
              </a:lnSpc>
              <a:buSzPct val="70000"/>
              <a:buNone/>
            </a:pPr>
            <a:r>
              <a:rPr lang="zh-CN" altLang="en-US" sz="1050" dirty="0">
                <a:latin typeface="仿宋" panose="02010609060101010101" pitchFamily="49" charset="-122"/>
                <a:ea typeface="仿宋" panose="02010609060101010101" pitchFamily="49" charset="-122"/>
              </a:rPr>
              <a:t>实际控制人</a:t>
            </a:r>
            <a:r>
              <a:rPr lang="en-US" altLang="zh-CN" sz="1050" dirty="0">
                <a:latin typeface="仿宋" panose="02010609060101010101" pitchFamily="49" charset="-122"/>
                <a:ea typeface="仿宋" panose="02010609060101010101" pitchFamily="49" charset="-122"/>
              </a:rPr>
              <a:t>/</a:t>
            </a:r>
            <a:r>
              <a:rPr lang="zh-CN" altLang="en-US" sz="1050" dirty="0">
                <a:latin typeface="仿宋" panose="02010609060101010101" pitchFamily="49" charset="-122"/>
                <a:ea typeface="仿宋" panose="02010609060101010101" pitchFamily="49" charset="-122"/>
              </a:rPr>
              <a:t>董事长</a:t>
            </a:r>
            <a:r>
              <a:rPr lang="zh-CN" altLang="en-US" sz="1050" b="1" dirty="0">
                <a:latin typeface="仿宋" panose="02010609060101010101" pitchFamily="49" charset="-122"/>
                <a:ea typeface="仿宋" panose="02010609060101010101" pitchFamily="49" charset="-122"/>
              </a:rPr>
              <a:t>张立业</a:t>
            </a:r>
            <a:r>
              <a:rPr lang="zh-CN" altLang="en-US" sz="1050" dirty="0">
                <a:latin typeface="仿宋" panose="02010609060101010101" pitchFamily="49" charset="-122"/>
                <a:ea typeface="仿宋" panose="02010609060101010101" pitchFamily="49" charset="-122"/>
              </a:rPr>
              <a:t>合计控制大瞬科技</a:t>
            </a:r>
            <a:r>
              <a:rPr lang="en-US" altLang="zh-CN" sz="1600" b="1" kern="100" dirty="0">
                <a:effectLst/>
                <a:latin typeface="仿宋" panose="02010609060101010101" pitchFamily="49" charset="-122"/>
                <a:cs typeface="Times New Roman" panose="02020603050405020304" pitchFamily="18" charset="0"/>
              </a:rPr>
              <a:t>37.93%</a:t>
            </a:r>
            <a:r>
              <a:rPr lang="zh-CN" altLang="zh-CN" sz="1050" dirty="0">
                <a:latin typeface="仿宋" panose="02010609060101010101" pitchFamily="49" charset="-122"/>
                <a:ea typeface="仿宋" panose="02010609060101010101" pitchFamily="49" charset="-122"/>
              </a:rPr>
              <a:t>的股权</a:t>
            </a:r>
            <a:r>
              <a:rPr lang="zh-CN" altLang="en-US" sz="1050" dirty="0">
                <a:latin typeface="仿宋" panose="02010609060101010101" pitchFamily="49" charset="-122"/>
                <a:ea typeface="仿宋" panose="02010609060101010101" pitchFamily="49" charset="-122"/>
              </a:rPr>
              <a:t>；</a:t>
            </a:r>
            <a:endParaRPr lang="en-US" altLang="zh-CN" sz="1050" dirty="0">
              <a:latin typeface="仿宋" panose="02010609060101010101" pitchFamily="49" charset="-122"/>
              <a:ea typeface="仿宋" panose="02010609060101010101" pitchFamily="49" charset="-122"/>
            </a:endParaRPr>
          </a:p>
          <a:p>
            <a:pPr marL="0" indent="180000" algn="just">
              <a:lnSpc>
                <a:spcPct val="150000"/>
              </a:lnSpc>
              <a:buSzPct val="70000"/>
              <a:buBlip>
                <a:blip r:embed="rId3"/>
              </a:buBlip>
            </a:pPr>
            <a:r>
              <a:rPr lang="zh-CN" altLang="en-US" sz="1200" b="1" dirty="0">
                <a:latin typeface="仿宋" panose="02010609060101010101" pitchFamily="49" charset="-122"/>
                <a:ea typeface="仿宋" panose="02010609060101010101" pitchFamily="49" charset="-122"/>
              </a:rPr>
              <a:t>股东权利义务情况</a:t>
            </a:r>
            <a:endParaRPr lang="en-US" altLang="zh-CN" sz="1200" b="1" dirty="0">
              <a:latin typeface="仿宋" panose="02010609060101010101" pitchFamily="49" charset="-122"/>
              <a:ea typeface="仿宋" panose="02010609060101010101" pitchFamily="49" charset="-122"/>
            </a:endParaRPr>
          </a:p>
          <a:p>
            <a:pPr marL="0" indent="252000" algn="just">
              <a:lnSpc>
                <a:spcPct val="150000"/>
              </a:lnSpc>
              <a:buSzPct val="70000"/>
              <a:buNone/>
            </a:pPr>
            <a:r>
              <a:rPr lang="zh-CN" altLang="en-US" sz="1050" dirty="0">
                <a:latin typeface="仿宋" panose="02010609060101010101" pitchFamily="49" charset="-122"/>
                <a:ea typeface="仿宋" panose="02010609060101010101" pitchFamily="49" charset="-122"/>
              </a:rPr>
              <a:t>努力争取一个董事席位；</a:t>
            </a:r>
            <a:endParaRPr lang="en-US" altLang="zh-CN" sz="1050" dirty="0">
              <a:latin typeface="仿宋" panose="02010609060101010101" pitchFamily="49" charset="-122"/>
              <a:ea typeface="仿宋" panose="02010609060101010101" pitchFamily="49" charset="-122"/>
            </a:endParaRPr>
          </a:p>
        </p:txBody>
      </p:sp>
      <p:sp>
        <p:nvSpPr>
          <p:cNvPr id="67" name="矩形 66">
            <a:extLst>
              <a:ext uri="{FF2B5EF4-FFF2-40B4-BE49-F238E27FC236}">
                <a16:creationId xmlns:a16="http://schemas.microsoft.com/office/drawing/2014/main" id="{EA064E9F-3F12-4CBB-9490-2B94FB70886A}"/>
              </a:ext>
            </a:extLst>
          </p:cNvPr>
          <p:cNvSpPr/>
          <p:nvPr/>
        </p:nvSpPr>
        <p:spPr>
          <a:xfrm>
            <a:off x="2998677" y="4866874"/>
            <a:ext cx="2910646" cy="279791"/>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zh-CN" altLang="en-US" sz="1400" b="1" dirty="0">
                <a:solidFill>
                  <a:schemeClr val="tx1"/>
                </a:solidFill>
              </a:rPr>
              <a:t>北京大瞬科技有限公司</a:t>
            </a:r>
          </a:p>
        </p:txBody>
      </p:sp>
      <p:sp>
        <p:nvSpPr>
          <p:cNvPr id="68" name="矩形 67">
            <a:extLst>
              <a:ext uri="{FF2B5EF4-FFF2-40B4-BE49-F238E27FC236}">
                <a16:creationId xmlns:a16="http://schemas.microsoft.com/office/drawing/2014/main" id="{A43AF4B4-73C6-4782-ABD1-D57775813491}"/>
              </a:ext>
            </a:extLst>
          </p:cNvPr>
          <p:cNvSpPr/>
          <p:nvPr/>
        </p:nvSpPr>
        <p:spPr>
          <a:xfrm>
            <a:off x="825182" y="3925798"/>
            <a:ext cx="619548" cy="214053"/>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zh-CN" altLang="en-US" sz="1100" b="1" kern="100" dirty="0">
                <a:solidFill>
                  <a:srgbClr val="000000"/>
                </a:solidFill>
                <a:effectLst/>
                <a:ea typeface="仿宋" panose="02010609060101010101" pitchFamily="49" charset="-122"/>
                <a:cs typeface="Times New Roman" panose="02020603050405020304" pitchFamily="18" charset="0"/>
              </a:rPr>
              <a:t>宁波大瞬</a:t>
            </a:r>
            <a:endParaRPr lang="zh-CN" altLang="en-US" sz="1050" b="1" dirty="0">
              <a:solidFill>
                <a:schemeClr val="tx1"/>
              </a:solidFill>
              <a:latin typeface="仿宋" panose="02010609060101010101" pitchFamily="49" charset="-122"/>
              <a:ea typeface="仿宋" panose="02010609060101010101" pitchFamily="49" charset="-122"/>
            </a:endParaRPr>
          </a:p>
        </p:txBody>
      </p:sp>
      <p:sp>
        <p:nvSpPr>
          <p:cNvPr id="69" name="矩形 68">
            <a:extLst>
              <a:ext uri="{FF2B5EF4-FFF2-40B4-BE49-F238E27FC236}">
                <a16:creationId xmlns:a16="http://schemas.microsoft.com/office/drawing/2014/main" id="{FF3E9E3A-9FE2-44AD-8F87-8598F7D41AC9}"/>
              </a:ext>
            </a:extLst>
          </p:cNvPr>
          <p:cNvSpPr/>
          <p:nvPr/>
        </p:nvSpPr>
        <p:spPr>
          <a:xfrm>
            <a:off x="3785135" y="3906935"/>
            <a:ext cx="593632" cy="263075"/>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zh-CN" altLang="zh-CN" sz="1050" dirty="0">
                <a:solidFill>
                  <a:srgbClr val="000000"/>
                </a:solidFill>
                <a:effectLst/>
                <a:ea typeface="仿宋" panose="02010609060101010101" pitchFamily="49" charset="-122"/>
                <a:cs typeface="宋体" panose="02010600030101010101" pitchFamily="2" charset="-122"/>
              </a:rPr>
              <a:t>宁波</a:t>
            </a:r>
            <a:endParaRPr lang="en-US" altLang="zh-CN" sz="1050" dirty="0">
              <a:solidFill>
                <a:srgbClr val="000000"/>
              </a:solidFill>
              <a:effectLst/>
              <a:ea typeface="仿宋" panose="02010609060101010101" pitchFamily="49" charset="-122"/>
              <a:cs typeface="宋体" panose="02010600030101010101" pitchFamily="2" charset="-122"/>
            </a:endParaRPr>
          </a:p>
          <a:p>
            <a:pPr algn="ctr"/>
            <a:r>
              <a:rPr lang="zh-CN" altLang="zh-CN" sz="1050" dirty="0">
                <a:solidFill>
                  <a:srgbClr val="000000"/>
                </a:solidFill>
                <a:effectLst/>
                <a:ea typeface="仿宋" panose="02010609060101010101" pitchFamily="49" charset="-122"/>
                <a:cs typeface="宋体" panose="02010600030101010101" pitchFamily="2" charset="-122"/>
              </a:rPr>
              <a:t>慧工信息</a:t>
            </a:r>
            <a:endParaRPr lang="zh-CN" altLang="en-US" sz="700" b="1" kern="100" dirty="0">
              <a:solidFill>
                <a:schemeClr val="tx1"/>
              </a:solidFill>
              <a:ea typeface="仿宋" panose="02010609060101010101" pitchFamily="49" charset="-122"/>
              <a:cs typeface="Times New Roman" panose="02020603050405020304" pitchFamily="18" charset="0"/>
            </a:endParaRPr>
          </a:p>
        </p:txBody>
      </p:sp>
      <p:sp>
        <p:nvSpPr>
          <p:cNvPr id="70" name="矩形 69">
            <a:extLst>
              <a:ext uri="{FF2B5EF4-FFF2-40B4-BE49-F238E27FC236}">
                <a16:creationId xmlns:a16="http://schemas.microsoft.com/office/drawing/2014/main" id="{656659D0-A457-44B4-ACD3-11323880FE56}"/>
              </a:ext>
            </a:extLst>
          </p:cNvPr>
          <p:cNvSpPr/>
          <p:nvPr/>
        </p:nvSpPr>
        <p:spPr>
          <a:xfrm>
            <a:off x="2212459" y="3906935"/>
            <a:ext cx="669171" cy="263079"/>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zh-CN" altLang="zh-CN" sz="1100" dirty="0">
                <a:solidFill>
                  <a:srgbClr val="000000"/>
                </a:solidFill>
                <a:effectLst/>
                <a:ea typeface="仿宋" panose="02010609060101010101" pitchFamily="49" charset="-122"/>
                <a:cs typeface="宋体" panose="02010600030101010101" pitchFamily="2" charset="-122"/>
              </a:rPr>
              <a:t>福建</a:t>
            </a:r>
            <a:endParaRPr lang="en-US" altLang="zh-CN" sz="1100" dirty="0">
              <a:solidFill>
                <a:srgbClr val="000000"/>
              </a:solidFill>
              <a:effectLst/>
              <a:ea typeface="仿宋" panose="02010609060101010101" pitchFamily="49" charset="-122"/>
              <a:cs typeface="宋体" panose="02010600030101010101" pitchFamily="2" charset="-122"/>
            </a:endParaRPr>
          </a:p>
          <a:p>
            <a:pPr algn="ctr"/>
            <a:r>
              <a:rPr lang="zh-CN" altLang="zh-CN" sz="1100" dirty="0">
                <a:solidFill>
                  <a:srgbClr val="000000"/>
                </a:solidFill>
                <a:effectLst/>
                <a:ea typeface="仿宋" panose="02010609060101010101" pitchFamily="49" charset="-122"/>
                <a:cs typeface="宋体" panose="02010600030101010101" pitchFamily="2" charset="-122"/>
              </a:rPr>
              <a:t>汉翊宣科</a:t>
            </a:r>
            <a:endParaRPr lang="zh-CN" altLang="en-US" sz="800" b="1" kern="100" dirty="0">
              <a:solidFill>
                <a:schemeClr val="tx1"/>
              </a:solidFill>
              <a:ea typeface="仿宋" panose="02010609060101010101" pitchFamily="49" charset="-122"/>
              <a:cs typeface="Times New Roman" panose="02020603050405020304" pitchFamily="18" charset="0"/>
            </a:endParaRPr>
          </a:p>
        </p:txBody>
      </p:sp>
      <p:sp>
        <p:nvSpPr>
          <p:cNvPr id="71" name="矩形 70">
            <a:extLst>
              <a:ext uri="{FF2B5EF4-FFF2-40B4-BE49-F238E27FC236}">
                <a16:creationId xmlns:a16="http://schemas.microsoft.com/office/drawing/2014/main" id="{5E95E478-7431-4ABA-8BB7-8FCE536461CC}"/>
              </a:ext>
            </a:extLst>
          </p:cNvPr>
          <p:cNvSpPr/>
          <p:nvPr/>
        </p:nvSpPr>
        <p:spPr>
          <a:xfrm>
            <a:off x="3005028" y="3901703"/>
            <a:ext cx="593632" cy="263075"/>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zh-CN" altLang="zh-CN" sz="1050" dirty="0">
                <a:solidFill>
                  <a:srgbClr val="000000"/>
                </a:solidFill>
                <a:effectLst/>
                <a:ea typeface="仿宋" panose="02010609060101010101" pitchFamily="49" charset="-122"/>
                <a:cs typeface="宋体" panose="02010600030101010101" pitchFamily="2" charset="-122"/>
              </a:rPr>
              <a:t>北京</a:t>
            </a:r>
            <a:endParaRPr lang="en-US" altLang="zh-CN" sz="1050" dirty="0">
              <a:solidFill>
                <a:srgbClr val="000000"/>
              </a:solidFill>
              <a:effectLst/>
              <a:ea typeface="仿宋" panose="02010609060101010101" pitchFamily="49" charset="-122"/>
              <a:cs typeface="宋体" panose="02010600030101010101" pitchFamily="2" charset="-122"/>
            </a:endParaRPr>
          </a:p>
          <a:p>
            <a:pPr algn="ctr"/>
            <a:r>
              <a:rPr lang="zh-CN" altLang="zh-CN" sz="1050" dirty="0">
                <a:solidFill>
                  <a:srgbClr val="000000"/>
                </a:solidFill>
                <a:effectLst/>
                <a:ea typeface="仿宋" panose="02010609060101010101" pitchFamily="49" charset="-122"/>
                <a:cs typeface="宋体" panose="02010600030101010101" pitchFamily="2" charset="-122"/>
              </a:rPr>
              <a:t>铂爵</a:t>
            </a:r>
            <a:endParaRPr lang="zh-CN" altLang="en-US" sz="700" b="1" kern="100" dirty="0">
              <a:solidFill>
                <a:schemeClr val="tx1"/>
              </a:solidFill>
              <a:ea typeface="仿宋" panose="02010609060101010101" pitchFamily="49" charset="-122"/>
              <a:cs typeface="Times New Roman" panose="02020603050405020304" pitchFamily="18" charset="0"/>
            </a:endParaRPr>
          </a:p>
        </p:txBody>
      </p:sp>
      <p:sp>
        <p:nvSpPr>
          <p:cNvPr id="72" name="矩形 71">
            <a:extLst>
              <a:ext uri="{FF2B5EF4-FFF2-40B4-BE49-F238E27FC236}">
                <a16:creationId xmlns:a16="http://schemas.microsoft.com/office/drawing/2014/main" id="{FF163E44-77CF-4082-BAC1-FF1E5F3ADE53}"/>
              </a:ext>
            </a:extLst>
          </p:cNvPr>
          <p:cNvSpPr/>
          <p:nvPr/>
        </p:nvSpPr>
        <p:spPr>
          <a:xfrm>
            <a:off x="1592912" y="3927888"/>
            <a:ext cx="420613" cy="214053"/>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zh-CN" altLang="en-US" sz="1100" b="1" kern="100" dirty="0">
                <a:solidFill>
                  <a:schemeClr val="tx1"/>
                </a:solidFill>
                <a:ea typeface="仿宋" panose="02010609060101010101" pitchFamily="49" charset="-122"/>
                <a:cs typeface="Times New Roman" panose="02020603050405020304" pitchFamily="18" charset="0"/>
              </a:rPr>
              <a:t>唐晓</a:t>
            </a:r>
          </a:p>
        </p:txBody>
      </p:sp>
      <p:sp>
        <p:nvSpPr>
          <p:cNvPr id="73" name="矩形 72">
            <a:extLst>
              <a:ext uri="{FF2B5EF4-FFF2-40B4-BE49-F238E27FC236}">
                <a16:creationId xmlns:a16="http://schemas.microsoft.com/office/drawing/2014/main" id="{41D66CAA-3D9B-4B5E-82BC-6149367765D0}"/>
              </a:ext>
            </a:extLst>
          </p:cNvPr>
          <p:cNvSpPr/>
          <p:nvPr/>
        </p:nvSpPr>
        <p:spPr>
          <a:xfrm>
            <a:off x="5295660" y="3887983"/>
            <a:ext cx="695316" cy="289027"/>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zh-CN" altLang="zh-CN" sz="1050" dirty="0">
                <a:solidFill>
                  <a:srgbClr val="000000"/>
                </a:solidFill>
                <a:effectLst/>
                <a:ea typeface="仿宋" panose="02010609060101010101" pitchFamily="49" charset="-122"/>
                <a:cs typeface="宋体" panose="02010600030101010101" pitchFamily="2" charset="-122"/>
              </a:rPr>
              <a:t>宁波</a:t>
            </a:r>
            <a:endParaRPr lang="en-US" altLang="zh-CN" sz="1050" dirty="0">
              <a:solidFill>
                <a:srgbClr val="000000"/>
              </a:solidFill>
              <a:effectLst/>
              <a:ea typeface="仿宋" panose="02010609060101010101" pitchFamily="49" charset="-122"/>
              <a:cs typeface="宋体" panose="02010600030101010101" pitchFamily="2" charset="-122"/>
            </a:endParaRPr>
          </a:p>
          <a:p>
            <a:pPr algn="ctr"/>
            <a:r>
              <a:rPr lang="zh-CN" altLang="zh-CN" sz="1050" dirty="0">
                <a:solidFill>
                  <a:srgbClr val="000000"/>
                </a:solidFill>
                <a:effectLst/>
                <a:ea typeface="仿宋" panose="02010609060101010101" pitchFamily="49" charset="-122"/>
                <a:cs typeface="宋体" panose="02010600030101010101" pitchFamily="2" charset="-122"/>
              </a:rPr>
              <a:t>葡拉达</a:t>
            </a:r>
            <a:endParaRPr lang="zh-CN" altLang="en-US" sz="700" b="1" kern="100" dirty="0">
              <a:solidFill>
                <a:schemeClr val="tx1"/>
              </a:solidFill>
              <a:ea typeface="仿宋" panose="02010609060101010101" pitchFamily="49" charset="-122"/>
              <a:cs typeface="Times New Roman" panose="02020603050405020304" pitchFamily="18" charset="0"/>
            </a:endParaRPr>
          </a:p>
        </p:txBody>
      </p:sp>
      <p:sp>
        <p:nvSpPr>
          <p:cNvPr id="74" name="矩形 73">
            <a:extLst>
              <a:ext uri="{FF2B5EF4-FFF2-40B4-BE49-F238E27FC236}">
                <a16:creationId xmlns:a16="http://schemas.microsoft.com/office/drawing/2014/main" id="{9D13912D-B5C7-450B-9AA5-D8C589A262E5}"/>
              </a:ext>
            </a:extLst>
          </p:cNvPr>
          <p:cNvSpPr/>
          <p:nvPr/>
        </p:nvSpPr>
        <p:spPr>
          <a:xfrm>
            <a:off x="6194042" y="3875750"/>
            <a:ext cx="593632" cy="289027"/>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zh-CN" altLang="zh-CN" sz="1050" dirty="0">
                <a:solidFill>
                  <a:srgbClr val="000000"/>
                </a:solidFill>
                <a:effectLst/>
                <a:ea typeface="仿宋" panose="02010609060101010101" pitchFamily="49" charset="-122"/>
                <a:cs typeface="宋体" panose="02010600030101010101" pitchFamily="2" charset="-122"/>
              </a:rPr>
              <a:t>宁波</a:t>
            </a:r>
            <a:endParaRPr lang="en-US" altLang="zh-CN" sz="1050" dirty="0">
              <a:solidFill>
                <a:srgbClr val="000000"/>
              </a:solidFill>
              <a:effectLst/>
              <a:ea typeface="仿宋" panose="02010609060101010101" pitchFamily="49" charset="-122"/>
              <a:cs typeface="宋体" panose="02010600030101010101" pitchFamily="2" charset="-122"/>
            </a:endParaRPr>
          </a:p>
          <a:p>
            <a:pPr algn="ctr"/>
            <a:r>
              <a:rPr lang="zh-CN" altLang="zh-CN" sz="1050" dirty="0">
                <a:solidFill>
                  <a:srgbClr val="000000"/>
                </a:solidFill>
                <a:effectLst/>
                <a:ea typeface="仿宋" panose="02010609060101010101" pitchFamily="49" charset="-122"/>
                <a:cs typeface="宋体" panose="02010600030101010101" pitchFamily="2" charset="-122"/>
              </a:rPr>
              <a:t>达欧金</a:t>
            </a:r>
            <a:endParaRPr lang="zh-CN" altLang="en-US" sz="500" b="1" kern="100" dirty="0">
              <a:solidFill>
                <a:schemeClr val="tx1"/>
              </a:solidFill>
              <a:ea typeface="仿宋" panose="02010609060101010101" pitchFamily="49" charset="-122"/>
              <a:cs typeface="Times New Roman" panose="02020603050405020304" pitchFamily="18" charset="0"/>
            </a:endParaRPr>
          </a:p>
        </p:txBody>
      </p:sp>
      <p:sp>
        <p:nvSpPr>
          <p:cNvPr id="75" name="矩形 74">
            <a:extLst>
              <a:ext uri="{FF2B5EF4-FFF2-40B4-BE49-F238E27FC236}">
                <a16:creationId xmlns:a16="http://schemas.microsoft.com/office/drawing/2014/main" id="{0C4C8FF3-C169-481A-BFDD-5D8A3E7669E4}"/>
              </a:ext>
            </a:extLst>
          </p:cNvPr>
          <p:cNvSpPr/>
          <p:nvPr/>
        </p:nvSpPr>
        <p:spPr>
          <a:xfrm>
            <a:off x="4427990" y="3906935"/>
            <a:ext cx="638587" cy="263075"/>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zh-CN" altLang="zh-CN" sz="1050" dirty="0">
                <a:solidFill>
                  <a:srgbClr val="000000"/>
                </a:solidFill>
                <a:effectLst/>
                <a:ea typeface="仿宋" panose="02010609060101010101" pitchFamily="49" charset="-122"/>
                <a:cs typeface="宋体" panose="02010600030101010101" pitchFamily="2" charset="-122"/>
              </a:rPr>
              <a:t>福建</a:t>
            </a:r>
            <a:endParaRPr lang="en-US" altLang="zh-CN" sz="1050" dirty="0">
              <a:solidFill>
                <a:srgbClr val="000000"/>
              </a:solidFill>
              <a:effectLst/>
              <a:ea typeface="仿宋" panose="02010609060101010101" pitchFamily="49" charset="-122"/>
              <a:cs typeface="宋体" panose="02010600030101010101" pitchFamily="2" charset="-122"/>
            </a:endParaRPr>
          </a:p>
          <a:p>
            <a:pPr algn="ctr"/>
            <a:r>
              <a:rPr lang="zh-CN" altLang="zh-CN" sz="1050" dirty="0">
                <a:solidFill>
                  <a:srgbClr val="000000"/>
                </a:solidFill>
                <a:effectLst/>
                <a:ea typeface="仿宋" panose="02010609060101010101" pitchFamily="49" charset="-122"/>
                <a:cs typeface="宋体" panose="02010600030101010101" pitchFamily="2" charset="-122"/>
              </a:rPr>
              <a:t>汉里霸</a:t>
            </a:r>
            <a:endParaRPr lang="zh-CN" altLang="en-US" sz="500" b="1" kern="100" dirty="0">
              <a:solidFill>
                <a:schemeClr val="tx1"/>
              </a:solidFill>
              <a:ea typeface="仿宋" panose="02010609060101010101" pitchFamily="49" charset="-122"/>
              <a:cs typeface="Times New Roman" panose="02020603050405020304" pitchFamily="18" charset="0"/>
            </a:endParaRPr>
          </a:p>
        </p:txBody>
      </p:sp>
      <p:sp>
        <p:nvSpPr>
          <p:cNvPr id="76" name="矩形 75">
            <a:extLst>
              <a:ext uri="{FF2B5EF4-FFF2-40B4-BE49-F238E27FC236}">
                <a16:creationId xmlns:a16="http://schemas.microsoft.com/office/drawing/2014/main" id="{300C9D98-12D3-4E16-90B5-131C6AD324F4}"/>
              </a:ext>
            </a:extLst>
          </p:cNvPr>
          <p:cNvSpPr/>
          <p:nvPr/>
        </p:nvSpPr>
        <p:spPr>
          <a:xfrm>
            <a:off x="6952034" y="3883431"/>
            <a:ext cx="593632" cy="289027"/>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zh-CN" altLang="zh-CN" sz="1050" dirty="0">
                <a:solidFill>
                  <a:srgbClr val="000000"/>
                </a:solidFill>
                <a:effectLst/>
                <a:ea typeface="仿宋" panose="02010609060101010101" pitchFamily="49" charset="-122"/>
                <a:cs typeface="宋体" panose="02010600030101010101" pitchFamily="2" charset="-122"/>
              </a:rPr>
              <a:t>福建</a:t>
            </a:r>
            <a:endParaRPr lang="en-US" altLang="zh-CN" sz="1050" dirty="0">
              <a:solidFill>
                <a:srgbClr val="000000"/>
              </a:solidFill>
              <a:effectLst/>
              <a:ea typeface="仿宋" panose="02010609060101010101" pitchFamily="49" charset="-122"/>
              <a:cs typeface="宋体" panose="02010600030101010101" pitchFamily="2" charset="-122"/>
            </a:endParaRPr>
          </a:p>
          <a:p>
            <a:pPr algn="ctr"/>
            <a:r>
              <a:rPr lang="zh-CN" altLang="zh-CN" sz="1050" dirty="0">
                <a:solidFill>
                  <a:srgbClr val="000000"/>
                </a:solidFill>
                <a:effectLst/>
                <a:ea typeface="仿宋" panose="02010609060101010101" pitchFamily="49" charset="-122"/>
                <a:cs typeface="宋体" panose="02010600030101010101" pitchFamily="2" charset="-122"/>
              </a:rPr>
              <a:t>魁斯特</a:t>
            </a:r>
            <a:endParaRPr lang="zh-CN" altLang="en-US" sz="500" b="1" kern="100" dirty="0">
              <a:solidFill>
                <a:srgbClr val="000000"/>
              </a:solidFill>
              <a:ea typeface="仿宋" panose="02010609060101010101" pitchFamily="49" charset="-122"/>
              <a:cs typeface="Times New Roman" panose="02020603050405020304" pitchFamily="18" charset="0"/>
            </a:endParaRPr>
          </a:p>
        </p:txBody>
      </p:sp>
      <p:cxnSp>
        <p:nvCxnSpPr>
          <p:cNvPr id="77" name="连接符: 肘形 76">
            <a:extLst>
              <a:ext uri="{FF2B5EF4-FFF2-40B4-BE49-F238E27FC236}">
                <a16:creationId xmlns:a16="http://schemas.microsoft.com/office/drawing/2014/main" id="{D4897B85-B944-4BFB-BEA1-C6AFEB8DE7B7}"/>
              </a:ext>
            </a:extLst>
          </p:cNvPr>
          <p:cNvCxnSpPr>
            <a:cxnSpLocks/>
            <a:stCxn id="68" idx="2"/>
            <a:endCxn id="67" idx="0"/>
          </p:cNvCxnSpPr>
          <p:nvPr/>
        </p:nvCxnSpPr>
        <p:spPr>
          <a:xfrm rot="16200000" flipH="1">
            <a:off x="2430967" y="2843840"/>
            <a:ext cx="727023" cy="331904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连接符: 肘形 77">
            <a:extLst>
              <a:ext uri="{FF2B5EF4-FFF2-40B4-BE49-F238E27FC236}">
                <a16:creationId xmlns:a16="http://schemas.microsoft.com/office/drawing/2014/main" id="{3178648F-99D1-43B9-B4AC-D33A34F5EAE2}"/>
              </a:ext>
            </a:extLst>
          </p:cNvPr>
          <p:cNvCxnSpPr>
            <a:cxnSpLocks/>
            <a:stCxn id="72" idx="2"/>
            <a:endCxn id="67" idx="0"/>
          </p:cNvCxnSpPr>
          <p:nvPr/>
        </p:nvCxnSpPr>
        <p:spPr>
          <a:xfrm rot="16200000" flipH="1">
            <a:off x="2766143" y="3179016"/>
            <a:ext cx="724933" cy="265078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连接符: 肘形 78">
            <a:extLst>
              <a:ext uri="{FF2B5EF4-FFF2-40B4-BE49-F238E27FC236}">
                <a16:creationId xmlns:a16="http://schemas.microsoft.com/office/drawing/2014/main" id="{9D731F73-67AF-42B9-BFD3-399647D860C1}"/>
              </a:ext>
            </a:extLst>
          </p:cNvPr>
          <p:cNvCxnSpPr>
            <a:cxnSpLocks/>
            <a:stCxn id="70" idx="2"/>
            <a:endCxn id="67" idx="0"/>
          </p:cNvCxnSpPr>
          <p:nvPr/>
        </p:nvCxnSpPr>
        <p:spPr>
          <a:xfrm rot="16200000" flipH="1">
            <a:off x="3152092" y="3564966"/>
            <a:ext cx="696860" cy="1906955"/>
          </a:xfrm>
          <a:prstGeom prst="bentConnector3">
            <a:avLst>
              <a:gd name="adj1" fmla="val 4795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连接符: 肘形 79">
            <a:extLst>
              <a:ext uri="{FF2B5EF4-FFF2-40B4-BE49-F238E27FC236}">
                <a16:creationId xmlns:a16="http://schemas.microsoft.com/office/drawing/2014/main" id="{DF8FDA28-79CF-49E2-92DB-A04B3DADCFF3}"/>
              </a:ext>
            </a:extLst>
          </p:cNvPr>
          <p:cNvCxnSpPr>
            <a:cxnSpLocks/>
            <a:stCxn id="71" idx="2"/>
            <a:endCxn id="67" idx="0"/>
          </p:cNvCxnSpPr>
          <p:nvPr/>
        </p:nvCxnSpPr>
        <p:spPr>
          <a:xfrm rot="16200000" flipH="1">
            <a:off x="3526874" y="3939748"/>
            <a:ext cx="702096" cy="1152156"/>
          </a:xfrm>
          <a:prstGeom prst="bentConnector3">
            <a:avLst>
              <a:gd name="adj1" fmla="val 4796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连接符: 肘形 80">
            <a:extLst>
              <a:ext uri="{FF2B5EF4-FFF2-40B4-BE49-F238E27FC236}">
                <a16:creationId xmlns:a16="http://schemas.microsoft.com/office/drawing/2014/main" id="{0EE9DFDE-B1C2-4AE5-AB36-B5685DF4B62A}"/>
              </a:ext>
            </a:extLst>
          </p:cNvPr>
          <p:cNvCxnSpPr>
            <a:cxnSpLocks/>
            <a:stCxn id="69" idx="2"/>
            <a:endCxn id="67" idx="0"/>
          </p:cNvCxnSpPr>
          <p:nvPr/>
        </p:nvCxnSpPr>
        <p:spPr>
          <a:xfrm rot="16200000" flipH="1">
            <a:off x="3919543" y="4332417"/>
            <a:ext cx="696864" cy="372049"/>
          </a:xfrm>
          <a:prstGeom prst="bentConnector3">
            <a:avLst>
              <a:gd name="adj1" fmla="val 4692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连接符: 肘形 81">
            <a:extLst>
              <a:ext uri="{FF2B5EF4-FFF2-40B4-BE49-F238E27FC236}">
                <a16:creationId xmlns:a16="http://schemas.microsoft.com/office/drawing/2014/main" id="{F5F3B5BD-FB4E-456E-97F4-3912A99AEBC9}"/>
              </a:ext>
            </a:extLst>
          </p:cNvPr>
          <p:cNvCxnSpPr>
            <a:cxnSpLocks/>
            <a:stCxn id="75" idx="2"/>
            <a:endCxn id="67" idx="0"/>
          </p:cNvCxnSpPr>
          <p:nvPr/>
        </p:nvCxnSpPr>
        <p:spPr>
          <a:xfrm rot="5400000">
            <a:off x="4252210" y="4371800"/>
            <a:ext cx="696864" cy="293284"/>
          </a:xfrm>
          <a:prstGeom prst="bentConnector3">
            <a:avLst>
              <a:gd name="adj1" fmla="val 47266"/>
            </a:avLst>
          </a:prstGeom>
          <a:ln>
            <a:tailEnd type="triangle"/>
          </a:ln>
        </p:spPr>
        <p:style>
          <a:lnRef idx="1">
            <a:schemeClr val="accent1"/>
          </a:lnRef>
          <a:fillRef idx="0">
            <a:schemeClr val="accent1"/>
          </a:fillRef>
          <a:effectRef idx="0">
            <a:schemeClr val="accent1"/>
          </a:effectRef>
          <a:fontRef idx="minor">
            <a:schemeClr val="tx1"/>
          </a:fontRef>
        </p:style>
      </p:cxnSp>
      <p:sp>
        <p:nvSpPr>
          <p:cNvPr id="83" name="文本框 82">
            <a:extLst>
              <a:ext uri="{FF2B5EF4-FFF2-40B4-BE49-F238E27FC236}">
                <a16:creationId xmlns:a16="http://schemas.microsoft.com/office/drawing/2014/main" id="{B0458961-6D1D-41F6-B81B-B87F864BEAB8}"/>
              </a:ext>
            </a:extLst>
          </p:cNvPr>
          <p:cNvSpPr txBox="1"/>
          <p:nvPr/>
        </p:nvSpPr>
        <p:spPr>
          <a:xfrm>
            <a:off x="1294583" y="3731935"/>
            <a:ext cx="1116064" cy="246221"/>
          </a:xfrm>
          <a:prstGeom prst="rect">
            <a:avLst/>
          </a:prstGeom>
          <a:noFill/>
        </p:spPr>
        <p:txBody>
          <a:bodyPr wrap="square">
            <a:spAutoFit/>
          </a:bodyPr>
          <a:lstStyle/>
          <a:p>
            <a:pPr algn="ctr"/>
            <a:r>
              <a:rPr lang="zh-CN" altLang="en-US" sz="1000" b="1" kern="100" dirty="0">
                <a:solidFill>
                  <a:srgbClr val="C00000"/>
                </a:solidFill>
                <a:effectLst/>
                <a:ea typeface="仿宋" panose="02010609060101010101" pitchFamily="49" charset="-122"/>
                <a:cs typeface="Times New Roman" panose="02020603050405020304" pitchFamily="18" charset="0"/>
              </a:rPr>
              <a:t>总经理</a:t>
            </a:r>
            <a:endParaRPr lang="zh-CN" altLang="en-US" sz="1000" b="1" dirty="0">
              <a:solidFill>
                <a:srgbClr val="C00000"/>
              </a:solidFill>
            </a:endParaRPr>
          </a:p>
        </p:txBody>
      </p:sp>
      <p:cxnSp>
        <p:nvCxnSpPr>
          <p:cNvPr id="88" name="连接符: 肘形 87">
            <a:extLst>
              <a:ext uri="{FF2B5EF4-FFF2-40B4-BE49-F238E27FC236}">
                <a16:creationId xmlns:a16="http://schemas.microsoft.com/office/drawing/2014/main" id="{C7E47182-366F-4F27-98E7-24A429CDB2B7}"/>
              </a:ext>
            </a:extLst>
          </p:cNvPr>
          <p:cNvCxnSpPr>
            <a:cxnSpLocks/>
            <a:stCxn id="73" idx="2"/>
            <a:endCxn id="67" idx="0"/>
          </p:cNvCxnSpPr>
          <p:nvPr/>
        </p:nvCxnSpPr>
        <p:spPr>
          <a:xfrm rot="5400000">
            <a:off x="4703727" y="3927283"/>
            <a:ext cx="689864" cy="1189318"/>
          </a:xfrm>
          <a:prstGeom prst="bentConnector3">
            <a:avLst>
              <a:gd name="adj1" fmla="val 4689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连接符: 肘形 88">
            <a:extLst>
              <a:ext uri="{FF2B5EF4-FFF2-40B4-BE49-F238E27FC236}">
                <a16:creationId xmlns:a16="http://schemas.microsoft.com/office/drawing/2014/main" id="{ECD8643B-BDDA-4EED-B4D9-379230149829}"/>
              </a:ext>
            </a:extLst>
          </p:cNvPr>
          <p:cNvCxnSpPr>
            <a:cxnSpLocks/>
            <a:stCxn id="74" idx="2"/>
            <a:endCxn id="67" idx="0"/>
          </p:cNvCxnSpPr>
          <p:nvPr/>
        </p:nvCxnSpPr>
        <p:spPr>
          <a:xfrm rot="5400000">
            <a:off x="5121381" y="3497396"/>
            <a:ext cx="702097" cy="2036858"/>
          </a:xfrm>
          <a:prstGeom prst="bentConnector3">
            <a:avLst>
              <a:gd name="adj1" fmla="val 47286"/>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矩形 91">
            <a:extLst>
              <a:ext uri="{FF2B5EF4-FFF2-40B4-BE49-F238E27FC236}">
                <a16:creationId xmlns:a16="http://schemas.microsoft.com/office/drawing/2014/main" id="{018ECE73-C619-439D-A534-21BE82F9EC11}"/>
              </a:ext>
            </a:extLst>
          </p:cNvPr>
          <p:cNvSpPr/>
          <p:nvPr/>
        </p:nvSpPr>
        <p:spPr>
          <a:xfrm>
            <a:off x="7719764" y="3887983"/>
            <a:ext cx="593632" cy="289027"/>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zh-CN" altLang="zh-CN" sz="1050" dirty="0">
                <a:solidFill>
                  <a:srgbClr val="000000"/>
                </a:solidFill>
                <a:effectLst/>
                <a:ea typeface="仿宋" panose="02010609060101010101" pitchFamily="49" charset="-122"/>
                <a:cs typeface="宋体" panose="02010600030101010101" pitchFamily="2" charset="-122"/>
              </a:rPr>
              <a:t>宁波</a:t>
            </a:r>
            <a:endParaRPr lang="en-US" altLang="zh-CN" sz="1050" dirty="0">
              <a:solidFill>
                <a:srgbClr val="000000"/>
              </a:solidFill>
              <a:effectLst/>
              <a:ea typeface="仿宋" panose="02010609060101010101" pitchFamily="49" charset="-122"/>
              <a:cs typeface="宋体" panose="02010600030101010101" pitchFamily="2" charset="-122"/>
            </a:endParaRPr>
          </a:p>
          <a:p>
            <a:pPr algn="ctr"/>
            <a:r>
              <a:rPr lang="zh-CN" altLang="zh-CN" sz="1050" dirty="0">
                <a:solidFill>
                  <a:srgbClr val="000000"/>
                </a:solidFill>
                <a:effectLst/>
                <a:ea typeface="仿宋" panose="02010609060101010101" pitchFamily="49" charset="-122"/>
                <a:cs typeface="宋体" panose="02010600030101010101" pitchFamily="2" charset="-122"/>
              </a:rPr>
              <a:t>涿工信息</a:t>
            </a:r>
            <a:endParaRPr lang="zh-CN" altLang="en-US" sz="300" b="1" kern="100" dirty="0">
              <a:solidFill>
                <a:srgbClr val="000000"/>
              </a:solidFill>
              <a:ea typeface="仿宋" panose="02010609060101010101" pitchFamily="49" charset="-122"/>
              <a:cs typeface="Times New Roman" panose="02020603050405020304" pitchFamily="18" charset="0"/>
            </a:endParaRPr>
          </a:p>
        </p:txBody>
      </p:sp>
      <p:cxnSp>
        <p:nvCxnSpPr>
          <p:cNvPr id="96" name="连接符: 肘形 95">
            <a:extLst>
              <a:ext uri="{FF2B5EF4-FFF2-40B4-BE49-F238E27FC236}">
                <a16:creationId xmlns:a16="http://schemas.microsoft.com/office/drawing/2014/main" id="{BC90753E-60DF-4569-B746-5C97BCCA6835}"/>
              </a:ext>
            </a:extLst>
          </p:cNvPr>
          <p:cNvCxnSpPr>
            <a:cxnSpLocks/>
            <a:stCxn id="76" idx="2"/>
            <a:endCxn id="67" idx="0"/>
          </p:cNvCxnSpPr>
          <p:nvPr/>
        </p:nvCxnSpPr>
        <p:spPr>
          <a:xfrm rot="5400000">
            <a:off x="5504217" y="3122241"/>
            <a:ext cx="694416" cy="2794850"/>
          </a:xfrm>
          <a:prstGeom prst="bentConnector3">
            <a:avLst>
              <a:gd name="adj1" fmla="val 4657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连接符: 肘形 96">
            <a:extLst>
              <a:ext uri="{FF2B5EF4-FFF2-40B4-BE49-F238E27FC236}">
                <a16:creationId xmlns:a16="http://schemas.microsoft.com/office/drawing/2014/main" id="{5EE34478-CA16-42E8-AB7F-4E7BA43FB60B}"/>
              </a:ext>
            </a:extLst>
          </p:cNvPr>
          <p:cNvCxnSpPr>
            <a:cxnSpLocks/>
            <a:stCxn id="92" idx="2"/>
            <a:endCxn id="67" idx="0"/>
          </p:cNvCxnSpPr>
          <p:nvPr/>
        </p:nvCxnSpPr>
        <p:spPr>
          <a:xfrm rot="5400000">
            <a:off x="5890358" y="2740652"/>
            <a:ext cx="689864" cy="3562580"/>
          </a:xfrm>
          <a:prstGeom prst="bentConnector3">
            <a:avLst>
              <a:gd name="adj1" fmla="val 46893"/>
            </a:avLst>
          </a:prstGeom>
          <a:ln>
            <a:tailEnd type="triangle"/>
          </a:ln>
        </p:spPr>
        <p:style>
          <a:lnRef idx="1">
            <a:schemeClr val="accent1"/>
          </a:lnRef>
          <a:fillRef idx="0">
            <a:schemeClr val="accent1"/>
          </a:fillRef>
          <a:effectRef idx="0">
            <a:schemeClr val="accent1"/>
          </a:effectRef>
          <a:fontRef idx="minor">
            <a:schemeClr val="tx1"/>
          </a:fontRef>
        </p:style>
      </p:cxnSp>
      <p:sp>
        <p:nvSpPr>
          <p:cNvPr id="103" name="文本框 102">
            <a:extLst>
              <a:ext uri="{FF2B5EF4-FFF2-40B4-BE49-F238E27FC236}">
                <a16:creationId xmlns:a16="http://schemas.microsoft.com/office/drawing/2014/main" id="{C56F4208-FCF0-47DE-B39A-E28F51EAC0AD}"/>
              </a:ext>
            </a:extLst>
          </p:cNvPr>
          <p:cNvSpPr txBox="1"/>
          <p:nvPr/>
        </p:nvSpPr>
        <p:spPr>
          <a:xfrm>
            <a:off x="1097596" y="4227865"/>
            <a:ext cx="587295" cy="253916"/>
          </a:xfrm>
          <a:prstGeom prst="rect">
            <a:avLst/>
          </a:prstGeom>
          <a:noFill/>
        </p:spPr>
        <p:txBody>
          <a:bodyPr wrap="square">
            <a:spAutoFit/>
          </a:bodyPr>
          <a:lstStyle/>
          <a:p>
            <a:r>
              <a:rPr lang="en-US" altLang="zh-CN" sz="1000" dirty="0">
                <a:solidFill>
                  <a:srgbClr val="222222"/>
                </a:solidFill>
                <a:effectLst/>
                <a:latin typeface="仿宋" panose="02010609060101010101" pitchFamily="49" charset="-122"/>
                <a:cs typeface="宋体" panose="02010600030101010101" pitchFamily="2" charset="-122"/>
              </a:rPr>
              <a:t>36.95%</a:t>
            </a:r>
            <a:endParaRPr lang="zh-CN" altLang="en-US" sz="300" dirty="0"/>
          </a:p>
        </p:txBody>
      </p:sp>
      <p:sp>
        <p:nvSpPr>
          <p:cNvPr id="104" name="文本框 103">
            <a:extLst>
              <a:ext uri="{FF2B5EF4-FFF2-40B4-BE49-F238E27FC236}">
                <a16:creationId xmlns:a16="http://schemas.microsoft.com/office/drawing/2014/main" id="{C8E2A43C-9AF8-4850-BE07-F725B7A30D74}"/>
              </a:ext>
            </a:extLst>
          </p:cNvPr>
          <p:cNvSpPr txBox="1"/>
          <p:nvPr/>
        </p:nvSpPr>
        <p:spPr>
          <a:xfrm>
            <a:off x="1768175" y="4233036"/>
            <a:ext cx="587295" cy="253916"/>
          </a:xfrm>
          <a:prstGeom prst="rect">
            <a:avLst/>
          </a:prstGeom>
          <a:noFill/>
        </p:spPr>
        <p:txBody>
          <a:bodyPr wrap="square">
            <a:spAutoFit/>
          </a:bodyPr>
          <a:lstStyle/>
          <a:p>
            <a:r>
              <a:rPr lang="en-US" altLang="zh-CN" sz="1000" dirty="0">
                <a:solidFill>
                  <a:srgbClr val="222222"/>
                </a:solidFill>
                <a:effectLst/>
                <a:latin typeface="仿宋" panose="02010609060101010101" pitchFamily="49" charset="-122"/>
                <a:cs typeface="宋体" panose="02010600030101010101" pitchFamily="2" charset="-122"/>
              </a:rPr>
              <a:t>14.39%</a:t>
            </a:r>
            <a:endParaRPr lang="zh-CN" altLang="en-US" sz="300" dirty="0"/>
          </a:p>
        </p:txBody>
      </p:sp>
      <p:sp>
        <p:nvSpPr>
          <p:cNvPr id="105" name="文本框 104">
            <a:extLst>
              <a:ext uri="{FF2B5EF4-FFF2-40B4-BE49-F238E27FC236}">
                <a16:creationId xmlns:a16="http://schemas.microsoft.com/office/drawing/2014/main" id="{0A44842B-214C-442C-BEE0-109187C6BE01}"/>
              </a:ext>
            </a:extLst>
          </p:cNvPr>
          <p:cNvSpPr txBox="1"/>
          <p:nvPr/>
        </p:nvSpPr>
        <p:spPr>
          <a:xfrm>
            <a:off x="2479355" y="4233788"/>
            <a:ext cx="587295" cy="253916"/>
          </a:xfrm>
          <a:prstGeom prst="rect">
            <a:avLst/>
          </a:prstGeom>
          <a:noFill/>
        </p:spPr>
        <p:txBody>
          <a:bodyPr wrap="square">
            <a:spAutoFit/>
          </a:bodyPr>
          <a:lstStyle/>
          <a:p>
            <a:r>
              <a:rPr lang="en-US" altLang="zh-CN" sz="1000" dirty="0">
                <a:solidFill>
                  <a:srgbClr val="222222"/>
                </a:solidFill>
                <a:effectLst/>
                <a:latin typeface="仿宋" panose="02010609060101010101" pitchFamily="49" charset="-122"/>
                <a:cs typeface="宋体" panose="02010600030101010101" pitchFamily="2" charset="-122"/>
              </a:rPr>
              <a:t>12.63%</a:t>
            </a:r>
            <a:endParaRPr lang="zh-CN" altLang="en-US" sz="300" dirty="0"/>
          </a:p>
        </p:txBody>
      </p:sp>
      <p:sp>
        <p:nvSpPr>
          <p:cNvPr id="106" name="文本框 105">
            <a:extLst>
              <a:ext uri="{FF2B5EF4-FFF2-40B4-BE49-F238E27FC236}">
                <a16:creationId xmlns:a16="http://schemas.microsoft.com/office/drawing/2014/main" id="{4A439589-2443-452A-ABB6-2DFCFC019D64}"/>
              </a:ext>
            </a:extLst>
          </p:cNvPr>
          <p:cNvSpPr txBox="1"/>
          <p:nvPr/>
        </p:nvSpPr>
        <p:spPr>
          <a:xfrm>
            <a:off x="3301759" y="4238005"/>
            <a:ext cx="587295" cy="246221"/>
          </a:xfrm>
          <a:prstGeom prst="rect">
            <a:avLst/>
          </a:prstGeom>
          <a:noFill/>
        </p:spPr>
        <p:txBody>
          <a:bodyPr wrap="square">
            <a:spAutoFit/>
          </a:bodyPr>
          <a:lstStyle/>
          <a:p>
            <a:r>
              <a:rPr lang="en-US" altLang="zh-CN" sz="1000" dirty="0">
                <a:solidFill>
                  <a:srgbClr val="222222"/>
                </a:solidFill>
                <a:effectLst/>
                <a:latin typeface="仿宋" panose="02010609060101010101" pitchFamily="49" charset="-122"/>
                <a:cs typeface="宋体" panose="02010600030101010101" pitchFamily="2" charset="-122"/>
              </a:rPr>
              <a:t>7.69%</a:t>
            </a:r>
            <a:endParaRPr lang="zh-CN" altLang="en-US" sz="300" dirty="0"/>
          </a:p>
        </p:txBody>
      </p:sp>
      <p:sp>
        <p:nvSpPr>
          <p:cNvPr id="107" name="文本框 106">
            <a:extLst>
              <a:ext uri="{FF2B5EF4-FFF2-40B4-BE49-F238E27FC236}">
                <a16:creationId xmlns:a16="http://schemas.microsoft.com/office/drawing/2014/main" id="{FDF84CE1-DBBE-48B4-987D-7CF4B876E339}"/>
              </a:ext>
            </a:extLst>
          </p:cNvPr>
          <p:cNvSpPr txBox="1"/>
          <p:nvPr/>
        </p:nvSpPr>
        <p:spPr>
          <a:xfrm>
            <a:off x="4083502" y="4248963"/>
            <a:ext cx="587295" cy="246221"/>
          </a:xfrm>
          <a:prstGeom prst="rect">
            <a:avLst/>
          </a:prstGeom>
          <a:noFill/>
        </p:spPr>
        <p:txBody>
          <a:bodyPr wrap="square">
            <a:spAutoFit/>
          </a:bodyPr>
          <a:lstStyle/>
          <a:p>
            <a:r>
              <a:rPr lang="en-US" altLang="zh-CN" sz="1000" dirty="0">
                <a:solidFill>
                  <a:srgbClr val="222222"/>
                </a:solidFill>
                <a:effectLst/>
                <a:latin typeface="仿宋" panose="02010609060101010101" pitchFamily="49" charset="-122"/>
                <a:cs typeface="宋体" panose="02010600030101010101" pitchFamily="2" charset="-122"/>
              </a:rPr>
              <a:t>6.64%</a:t>
            </a:r>
            <a:endParaRPr lang="zh-CN" altLang="en-US" sz="300" dirty="0"/>
          </a:p>
        </p:txBody>
      </p:sp>
      <p:sp>
        <p:nvSpPr>
          <p:cNvPr id="108" name="文本框 107">
            <a:extLst>
              <a:ext uri="{FF2B5EF4-FFF2-40B4-BE49-F238E27FC236}">
                <a16:creationId xmlns:a16="http://schemas.microsoft.com/office/drawing/2014/main" id="{F0F9C37F-F2A2-408F-B96F-7297D13C0E2F}"/>
              </a:ext>
            </a:extLst>
          </p:cNvPr>
          <p:cNvSpPr txBox="1"/>
          <p:nvPr/>
        </p:nvSpPr>
        <p:spPr>
          <a:xfrm>
            <a:off x="4719598" y="4247900"/>
            <a:ext cx="587295" cy="246221"/>
          </a:xfrm>
          <a:prstGeom prst="rect">
            <a:avLst/>
          </a:prstGeom>
          <a:noFill/>
        </p:spPr>
        <p:txBody>
          <a:bodyPr wrap="square">
            <a:spAutoFit/>
          </a:bodyPr>
          <a:lstStyle/>
          <a:p>
            <a:r>
              <a:rPr lang="en-US" altLang="zh-CN" sz="1000" dirty="0">
                <a:solidFill>
                  <a:srgbClr val="222222"/>
                </a:solidFill>
                <a:effectLst/>
                <a:latin typeface="仿宋" panose="02010609060101010101" pitchFamily="49" charset="-122"/>
                <a:cs typeface="宋体" panose="02010600030101010101" pitchFamily="2" charset="-122"/>
              </a:rPr>
              <a:t>5.30%</a:t>
            </a:r>
            <a:endParaRPr lang="zh-CN" altLang="en-US" sz="300" dirty="0"/>
          </a:p>
        </p:txBody>
      </p:sp>
      <p:sp>
        <p:nvSpPr>
          <p:cNvPr id="109" name="文本框 108">
            <a:extLst>
              <a:ext uri="{FF2B5EF4-FFF2-40B4-BE49-F238E27FC236}">
                <a16:creationId xmlns:a16="http://schemas.microsoft.com/office/drawing/2014/main" id="{F6BCA64E-0385-470C-80D0-FFFC98845C88}"/>
              </a:ext>
            </a:extLst>
          </p:cNvPr>
          <p:cNvSpPr txBox="1"/>
          <p:nvPr/>
        </p:nvSpPr>
        <p:spPr>
          <a:xfrm>
            <a:off x="5622445" y="4247900"/>
            <a:ext cx="519277" cy="246221"/>
          </a:xfrm>
          <a:prstGeom prst="rect">
            <a:avLst/>
          </a:prstGeom>
          <a:noFill/>
        </p:spPr>
        <p:txBody>
          <a:bodyPr wrap="square">
            <a:spAutoFit/>
          </a:bodyPr>
          <a:lstStyle/>
          <a:p>
            <a:r>
              <a:rPr lang="en-US" altLang="zh-CN" sz="1000" dirty="0">
                <a:solidFill>
                  <a:srgbClr val="222222"/>
                </a:solidFill>
                <a:effectLst/>
                <a:latin typeface="仿宋" panose="02010609060101010101" pitchFamily="49" charset="-122"/>
                <a:cs typeface="宋体" panose="02010600030101010101" pitchFamily="2" charset="-122"/>
              </a:rPr>
              <a:t>5.13%</a:t>
            </a:r>
            <a:endParaRPr lang="zh-CN" altLang="en-US" sz="300" dirty="0"/>
          </a:p>
        </p:txBody>
      </p:sp>
      <p:sp>
        <p:nvSpPr>
          <p:cNvPr id="110" name="文本框 109">
            <a:extLst>
              <a:ext uri="{FF2B5EF4-FFF2-40B4-BE49-F238E27FC236}">
                <a16:creationId xmlns:a16="http://schemas.microsoft.com/office/drawing/2014/main" id="{71693D7A-1D5B-49F1-8692-F1A131521614}"/>
              </a:ext>
            </a:extLst>
          </p:cNvPr>
          <p:cNvSpPr txBox="1"/>
          <p:nvPr/>
        </p:nvSpPr>
        <p:spPr>
          <a:xfrm>
            <a:off x="6490857" y="4262249"/>
            <a:ext cx="519277" cy="246221"/>
          </a:xfrm>
          <a:prstGeom prst="rect">
            <a:avLst/>
          </a:prstGeom>
          <a:noFill/>
        </p:spPr>
        <p:txBody>
          <a:bodyPr wrap="square">
            <a:spAutoFit/>
          </a:bodyPr>
          <a:lstStyle/>
          <a:p>
            <a:r>
              <a:rPr lang="en-US" altLang="zh-CN" sz="1000" dirty="0">
                <a:solidFill>
                  <a:srgbClr val="222222"/>
                </a:solidFill>
                <a:effectLst/>
                <a:latin typeface="仿宋" panose="02010609060101010101" pitchFamily="49" charset="-122"/>
                <a:cs typeface="宋体" panose="02010600030101010101" pitchFamily="2" charset="-122"/>
              </a:rPr>
              <a:t>4.97%</a:t>
            </a:r>
            <a:endParaRPr lang="zh-CN" altLang="en-US" sz="300" dirty="0"/>
          </a:p>
        </p:txBody>
      </p:sp>
      <p:sp>
        <p:nvSpPr>
          <p:cNvPr id="111" name="文本框 110">
            <a:extLst>
              <a:ext uri="{FF2B5EF4-FFF2-40B4-BE49-F238E27FC236}">
                <a16:creationId xmlns:a16="http://schemas.microsoft.com/office/drawing/2014/main" id="{87C41A9F-8F9E-4C82-936B-65A7AC45A386}"/>
              </a:ext>
            </a:extLst>
          </p:cNvPr>
          <p:cNvSpPr txBox="1"/>
          <p:nvPr/>
        </p:nvSpPr>
        <p:spPr>
          <a:xfrm>
            <a:off x="7215033" y="4250942"/>
            <a:ext cx="519277" cy="246221"/>
          </a:xfrm>
          <a:prstGeom prst="rect">
            <a:avLst/>
          </a:prstGeom>
          <a:noFill/>
        </p:spPr>
        <p:txBody>
          <a:bodyPr wrap="square">
            <a:spAutoFit/>
          </a:bodyPr>
          <a:lstStyle/>
          <a:p>
            <a:r>
              <a:rPr lang="en-US" altLang="zh-CN" sz="1000" dirty="0">
                <a:solidFill>
                  <a:srgbClr val="222222"/>
                </a:solidFill>
                <a:effectLst/>
                <a:latin typeface="仿宋" panose="02010609060101010101" pitchFamily="49" charset="-122"/>
                <a:cs typeface="宋体" panose="02010600030101010101" pitchFamily="2" charset="-122"/>
              </a:rPr>
              <a:t>4.80%</a:t>
            </a:r>
            <a:endParaRPr lang="zh-CN" altLang="en-US" sz="300" dirty="0"/>
          </a:p>
        </p:txBody>
      </p:sp>
      <p:sp>
        <p:nvSpPr>
          <p:cNvPr id="113" name="文本框 112">
            <a:extLst>
              <a:ext uri="{FF2B5EF4-FFF2-40B4-BE49-F238E27FC236}">
                <a16:creationId xmlns:a16="http://schemas.microsoft.com/office/drawing/2014/main" id="{949CFACE-FD32-4A91-A696-A3FB6D0ACC51}"/>
              </a:ext>
            </a:extLst>
          </p:cNvPr>
          <p:cNvSpPr txBox="1"/>
          <p:nvPr/>
        </p:nvSpPr>
        <p:spPr>
          <a:xfrm>
            <a:off x="7993700" y="4253132"/>
            <a:ext cx="549361" cy="246221"/>
          </a:xfrm>
          <a:prstGeom prst="rect">
            <a:avLst/>
          </a:prstGeom>
          <a:noFill/>
        </p:spPr>
        <p:txBody>
          <a:bodyPr wrap="square">
            <a:spAutoFit/>
          </a:bodyPr>
          <a:lstStyle/>
          <a:p>
            <a:r>
              <a:rPr lang="en-US" altLang="zh-CN" sz="1000" dirty="0">
                <a:solidFill>
                  <a:srgbClr val="222222"/>
                </a:solidFill>
                <a:effectLst/>
                <a:latin typeface="仿宋" panose="02010609060101010101" pitchFamily="49" charset="-122"/>
                <a:cs typeface="宋体" panose="02010600030101010101" pitchFamily="2" charset="-122"/>
              </a:rPr>
              <a:t>1.51%</a:t>
            </a:r>
            <a:endParaRPr lang="zh-CN" altLang="en-US" sz="300" dirty="0"/>
          </a:p>
        </p:txBody>
      </p:sp>
      <p:pic>
        <p:nvPicPr>
          <p:cNvPr id="57" name="图片 56">
            <a:extLst>
              <a:ext uri="{FF2B5EF4-FFF2-40B4-BE49-F238E27FC236}">
                <a16:creationId xmlns:a16="http://schemas.microsoft.com/office/drawing/2014/main" id="{5A1FC917-281E-49DF-8C37-BBA6D32CAE85}"/>
              </a:ext>
            </a:extLst>
          </p:cNvPr>
          <p:cNvPicPr>
            <a:picLocks noChangeAspect="1"/>
          </p:cNvPicPr>
          <p:nvPr/>
        </p:nvPicPr>
        <p:blipFill>
          <a:blip r:embed="rId4"/>
          <a:stretch>
            <a:fillRect/>
          </a:stretch>
        </p:blipFill>
        <p:spPr>
          <a:xfrm>
            <a:off x="7138400" y="637062"/>
            <a:ext cx="1766922" cy="782609"/>
          </a:xfrm>
          <a:prstGeom prst="rect">
            <a:avLst/>
          </a:prstGeom>
        </p:spPr>
      </p:pic>
      <p:sp>
        <p:nvSpPr>
          <p:cNvPr id="115" name="文本框 114">
            <a:extLst>
              <a:ext uri="{FF2B5EF4-FFF2-40B4-BE49-F238E27FC236}">
                <a16:creationId xmlns:a16="http://schemas.microsoft.com/office/drawing/2014/main" id="{BD69CCA2-1A16-4F94-A6DD-6AE827AB32AF}"/>
              </a:ext>
            </a:extLst>
          </p:cNvPr>
          <p:cNvSpPr txBox="1"/>
          <p:nvPr/>
        </p:nvSpPr>
        <p:spPr>
          <a:xfrm>
            <a:off x="1097561" y="3281905"/>
            <a:ext cx="1592267" cy="261610"/>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defPPr>
              <a:defRPr lang="zh-CN"/>
            </a:defPPr>
            <a:lvl1pPr algn="ctr">
              <a:defRPr sz="1100" b="1" kern="100">
                <a:solidFill>
                  <a:srgbClr val="000000"/>
                </a:solidFill>
                <a:effectLst/>
                <a:latin typeface="+mn-lt"/>
                <a:ea typeface="仿宋" panose="02010609060101010101" pitchFamily="49" charset="-122"/>
                <a:cs typeface="Times New Roman" panose="02020603050405020304" pitchFamily="18" charset="0"/>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r>
              <a:rPr lang="zh-CN" altLang="zh-CN" dirty="0"/>
              <a:t>科摩克若顾问有限公司</a:t>
            </a:r>
            <a:endParaRPr lang="zh-CN" altLang="en-US" dirty="0"/>
          </a:p>
        </p:txBody>
      </p:sp>
      <p:cxnSp>
        <p:nvCxnSpPr>
          <p:cNvPr id="46" name="连接符: 肘形 45">
            <a:extLst>
              <a:ext uri="{FF2B5EF4-FFF2-40B4-BE49-F238E27FC236}">
                <a16:creationId xmlns:a16="http://schemas.microsoft.com/office/drawing/2014/main" id="{1688C632-5AE8-44A1-A02E-C6DBA7780496}"/>
              </a:ext>
            </a:extLst>
          </p:cNvPr>
          <p:cNvCxnSpPr>
            <a:stCxn id="115" idx="2"/>
            <a:endCxn id="68" idx="0"/>
          </p:cNvCxnSpPr>
          <p:nvPr/>
        </p:nvCxnSpPr>
        <p:spPr bwMode="auto">
          <a:xfrm rot="5400000">
            <a:off x="1323185" y="3355287"/>
            <a:ext cx="382283" cy="758739"/>
          </a:xfrm>
          <a:prstGeom prst="bentConnector3">
            <a:avLst>
              <a:gd name="adj1" fmla="val 47509"/>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8" name="连接符: 肘形 47">
            <a:extLst>
              <a:ext uri="{FF2B5EF4-FFF2-40B4-BE49-F238E27FC236}">
                <a16:creationId xmlns:a16="http://schemas.microsoft.com/office/drawing/2014/main" id="{76D94D90-CFD8-42B5-B224-3CD4147C0641}"/>
              </a:ext>
            </a:extLst>
          </p:cNvPr>
          <p:cNvCxnSpPr>
            <a:stCxn id="115" idx="2"/>
            <a:endCxn id="70" idx="0"/>
          </p:cNvCxnSpPr>
          <p:nvPr/>
        </p:nvCxnSpPr>
        <p:spPr bwMode="auto">
          <a:xfrm rot="16200000" flipH="1">
            <a:off x="2038660" y="3398550"/>
            <a:ext cx="363420" cy="653350"/>
          </a:xfrm>
          <a:prstGeom prst="bentConnector3">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6" name="文本框 115">
            <a:extLst>
              <a:ext uri="{FF2B5EF4-FFF2-40B4-BE49-F238E27FC236}">
                <a16:creationId xmlns:a16="http://schemas.microsoft.com/office/drawing/2014/main" id="{D0217683-57F7-4696-9EBA-FAD690B92235}"/>
              </a:ext>
            </a:extLst>
          </p:cNvPr>
          <p:cNvSpPr txBox="1"/>
          <p:nvPr/>
        </p:nvSpPr>
        <p:spPr>
          <a:xfrm>
            <a:off x="1292252" y="3533383"/>
            <a:ext cx="584843" cy="261610"/>
          </a:xfrm>
          <a:prstGeom prst="rect">
            <a:avLst/>
          </a:prstGeom>
          <a:noFill/>
        </p:spPr>
        <p:txBody>
          <a:bodyPr wrap="square">
            <a:spAutoFit/>
          </a:bodyPr>
          <a:lstStyle/>
          <a:p>
            <a:r>
              <a:rPr lang="en-US" altLang="zh-CN" sz="1050" kern="100" dirty="0">
                <a:effectLst/>
                <a:latin typeface="仿宋" panose="02010609060101010101" pitchFamily="49" charset="-122"/>
                <a:cs typeface="Times New Roman" panose="02020603050405020304" pitchFamily="18" charset="0"/>
              </a:rPr>
              <a:t>36.95%</a:t>
            </a:r>
            <a:endParaRPr lang="zh-CN" altLang="en-US" sz="1050" dirty="0"/>
          </a:p>
        </p:txBody>
      </p:sp>
      <p:sp>
        <p:nvSpPr>
          <p:cNvPr id="117" name="文本框 116">
            <a:extLst>
              <a:ext uri="{FF2B5EF4-FFF2-40B4-BE49-F238E27FC236}">
                <a16:creationId xmlns:a16="http://schemas.microsoft.com/office/drawing/2014/main" id="{50C4B19A-2CCA-42A5-AB37-4A56E19C4DEC}"/>
              </a:ext>
            </a:extLst>
          </p:cNvPr>
          <p:cNvSpPr txBox="1"/>
          <p:nvPr/>
        </p:nvSpPr>
        <p:spPr>
          <a:xfrm>
            <a:off x="1983256" y="3533383"/>
            <a:ext cx="687187" cy="253916"/>
          </a:xfrm>
          <a:prstGeom prst="rect">
            <a:avLst/>
          </a:prstGeom>
          <a:noFill/>
        </p:spPr>
        <p:txBody>
          <a:bodyPr wrap="square">
            <a:spAutoFit/>
          </a:bodyPr>
          <a:lstStyle/>
          <a:p>
            <a:r>
              <a:rPr lang="en-US" altLang="zh-CN" sz="1050" kern="100" dirty="0">
                <a:effectLst/>
                <a:latin typeface="仿宋" panose="02010609060101010101" pitchFamily="49" charset="-122"/>
                <a:cs typeface="Times New Roman" panose="02020603050405020304" pitchFamily="18" charset="0"/>
              </a:rPr>
              <a:t>100.00%</a:t>
            </a:r>
            <a:endParaRPr lang="zh-CN" altLang="en-US" sz="1050" dirty="0"/>
          </a:p>
        </p:txBody>
      </p:sp>
      <p:sp>
        <p:nvSpPr>
          <p:cNvPr id="2" name="矩形 1">
            <a:extLst>
              <a:ext uri="{FF2B5EF4-FFF2-40B4-BE49-F238E27FC236}">
                <a16:creationId xmlns:a16="http://schemas.microsoft.com/office/drawing/2014/main" id="{DF5B2670-4F67-4CB3-BB6D-3614D909A597}"/>
              </a:ext>
            </a:extLst>
          </p:cNvPr>
          <p:cNvSpPr/>
          <p:nvPr/>
        </p:nvSpPr>
        <p:spPr bwMode="auto">
          <a:xfrm>
            <a:off x="4424403" y="3782688"/>
            <a:ext cx="3243812" cy="503950"/>
          </a:xfrm>
          <a:prstGeom prst="rect">
            <a:avLst/>
          </a:prstGeom>
          <a:noFill/>
          <a:ln w="12700" cap="flat" cmpd="sng" algn="ctr">
            <a:solidFill>
              <a:srgbClr val="C00000"/>
            </a:solidFill>
            <a:prstDash val="dash"/>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44" name="文本框 43">
            <a:extLst>
              <a:ext uri="{FF2B5EF4-FFF2-40B4-BE49-F238E27FC236}">
                <a16:creationId xmlns:a16="http://schemas.microsoft.com/office/drawing/2014/main" id="{89EBF78A-16ED-4465-8A9B-AA88F9E8EEB9}"/>
              </a:ext>
            </a:extLst>
          </p:cNvPr>
          <p:cNvSpPr txBox="1"/>
          <p:nvPr/>
        </p:nvSpPr>
        <p:spPr>
          <a:xfrm>
            <a:off x="5583690" y="3554347"/>
            <a:ext cx="1116064" cy="246221"/>
          </a:xfrm>
          <a:prstGeom prst="rect">
            <a:avLst/>
          </a:prstGeom>
          <a:noFill/>
        </p:spPr>
        <p:txBody>
          <a:bodyPr wrap="square">
            <a:spAutoFit/>
          </a:bodyPr>
          <a:lstStyle/>
          <a:p>
            <a:pPr algn="ctr"/>
            <a:r>
              <a:rPr lang="zh-CN" altLang="en-US" sz="1000" b="1" kern="100" dirty="0">
                <a:solidFill>
                  <a:srgbClr val="C00000"/>
                </a:solidFill>
                <a:effectLst/>
                <a:ea typeface="仿宋" panose="02010609060101010101" pitchFamily="49" charset="-122"/>
                <a:cs typeface="Times New Roman" panose="02020603050405020304" pitchFamily="18" charset="0"/>
              </a:rPr>
              <a:t>员工持股平台</a:t>
            </a:r>
            <a:endParaRPr lang="zh-CN" altLang="en-US" sz="1000" b="1" dirty="0">
              <a:solidFill>
                <a:srgbClr val="C00000"/>
              </a:solidFill>
            </a:endParaRPr>
          </a:p>
        </p:txBody>
      </p:sp>
      <p:sp>
        <p:nvSpPr>
          <p:cNvPr id="45" name="矩形 44">
            <a:extLst>
              <a:ext uri="{FF2B5EF4-FFF2-40B4-BE49-F238E27FC236}">
                <a16:creationId xmlns:a16="http://schemas.microsoft.com/office/drawing/2014/main" id="{B343A9B4-DA9A-429E-8E5F-24674D9A2FAC}"/>
              </a:ext>
            </a:extLst>
          </p:cNvPr>
          <p:cNvSpPr/>
          <p:nvPr/>
        </p:nvSpPr>
        <p:spPr>
          <a:xfrm>
            <a:off x="2627865" y="2811316"/>
            <a:ext cx="426964" cy="214053"/>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zh-CN" altLang="en-US" sz="1100" b="1" kern="100" dirty="0">
                <a:solidFill>
                  <a:schemeClr val="tx1"/>
                </a:solidFill>
                <a:ea typeface="仿宋" panose="02010609060101010101" pitchFamily="49" charset="-122"/>
                <a:cs typeface="Times New Roman" panose="02020603050405020304" pitchFamily="18" charset="0"/>
              </a:rPr>
              <a:t>陈之翔</a:t>
            </a:r>
          </a:p>
        </p:txBody>
      </p:sp>
      <p:sp>
        <p:nvSpPr>
          <p:cNvPr id="49" name="文本框 48">
            <a:extLst>
              <a:ext uri="{FF2B5EF4-FFF2-40B4-BE49-F238E27FC236}">
                <a16:creationId xmlns:a16="http://schemas.microsoft.com/office/drawing/2014/main" id="{5B6FD953-B7AB-4001-829C-34DFF6852C1B}"/>
              </a:ext>
            </a:extLst>
          </p:cNvPr>
          <p:cNvSpPr txBox="1"/>
          <p:nvPr/>
        </p:nvSpPr>
        <p:spPr>
          <a:xfrm>
            <a:off x="2634216" y="2680511"/>
            <a:ext cx="420613" cy="153888"/>
          </a:xfrm>
          <a:prstGeom prst="rect">
            <a:avLst/>
          </a:prstGeom>
          <a:noFill/>
        </p:spPr>
        <p:txBody>
          <a:bodyPr wrap="square" lIns="0" tIns="0" rIns="0" bIns="0" anchor="ctr" anchorCtr="1">
            <a:spAutoFit/>
          </a:bodyPr>
          <a:lstStyle/>
          <a:p>
            <a:pPr algn="ctr"/>
            <a:r>
              <a:rPr lang="en-US" altLang="zh-CN" sz="1000" b="1" kern="100" dirty="0">
                <a:solidFill>
                  <a:srgbClr val="C00000"/>
                </a:solidFill>
                <a:effectLst/>
                <a:ea typeface="仿宋" panose="02010609060101010101" pitchFamily="49" charset="-122"/>
                <a:cs typeface="Times New Roman" panose="02020603050405020304" pitchFamily="18" charset="0"/>
              </a:rPr>
              <a:t>CTO</a:t>
            </a:r>
            <a:endParaRPr lang="zh-CN" altLang="en-US" sz="1000" b="1" dirty="0">
              <a:solidFill>
                <a:srgbClr val="C00000"/>
              </a:solidFill>
            </a:endParaRPr>
          </a:p>
        </p:txBody>
      </p:sp>
      <p:sp>
        <p:nvSpPr>
          <p:cNvPr id="50" name="矩形 49">
            <a:extLst>
              <a:ext uri="{FF2B5EF4-FFF2-40B4-BE49-F238E27FC236}">
                <a16:creationId xmlns:a16="http://schemas.microsoft.com/office/drawing/2014/main" id="{30A14CC6-B10C-4EB3-86DF-EA795EDD5BC0}"/>
              </a:ext>
            </a:extLst>
          </p:cNvPr>
          <p:cNvSpPr/>
          <p:nvPr/>
        </p:nvSpPr>
        <p:spPr>
          <a:xfrm>
            <a:off x="539720" y="2811316"/>
            <a:ext cx="1717823" cy="214053"/>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en-US" altLang="zh-CN" sz="1100" b="1" kern="100" dirty="0" err="1">
                <a:solidFill>
                  <a:srgbClr val="000000"/>
                </a:solidFill>
                <a:latin typeface="仿宋" panose="02010609060101010101" pitchFamily="49" charset="-122"/>
                <a:ea typeface="仿宋" panose="02010609060101010101" pitchFamily="49" charset="-122"/>
                <a:cs typeface="Times New Roman" panose="02020603050405020304" pitchFamily="18" charset="0"/>
              </a:rPr>
              <a:t>Trasimene</a:t>
            </a:r>
            <a:r>
              <a:rPr lang="en-US" altLang="zh-CN" sz="1100" b="1" kern="100" dirty="0">
                <a:solidFill>
                  <a:srgbClr val="000000"/>
                </a:solidFill>
                <a:latin typeface="仿宋" panose="02010609060101010101" pitchFamily="49" charset="-122"/>
                <a:ea typeface="仿宋" panose="02010609060101010101" pitchFamily="49" charset="-122"/>
                <a:cs typeface="Times New Roman" panose="02020603050405020304" pitchFamily="18" charset="0"/>
              </a:rPr>
              <a:t> International</a:t>
            </a:r>
            <a:endParaRPr lang="zh-CN" altLang="en-US" sz="1100" b="1" kern="100" dirty="0">
              <a:solidFill>
                <a:srgbClr val="000000"/>
              </a:solidFill>
              <a:latin typeface="仿宋" panose="02010609060101010101" pitchFamily="49" charset="-122"/>
              <a:ea typeface="仿宋" panose="02010609060101010101" pitchFamily="49" charset="-122"/>
              <a:cs typeface="Times New Roman" panose="02020603050405020304" pitchFamily="18" charset="0"/>
            </a:endParaRPr>
          </a:p>
        </p:txBody>
      </p:sp>
      <p:sp>
        <p:nvSpPr>
          <p:cNvPr id="52" name="矩形 51">
            <a:extLst>
              <a:ext uri="{FF2B5EF4-FFF2-40B4-BE49-F238E27FC236}">
                <a16:creationId xmlns:a16="http://schemas.microsoft.com/office/drawing/2014/main" id="{4A873EC4-41C7-4D53-B21C-4D3958D22189}"/>
              </a:ext>
            </a:extLst>
          </p:cNvPr>
          <p:cNvSpPr/>
          <p:nvPr/>
        </p:nvSpPr>
        <p:spPr>
          <a:xfrm>
            <a:off x="539720" y="2365438"/>
            <a:ext cx="420613" cy="214053"/>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zh-CN" altLang="en-US" sz="1100" b="1" kern="100" dirty="0">
                <a:solidFill>
                  <a:schemeClr val="tx1"/>
                </a:solidFill>
                <a:ea typeface="仿宋" panose="02010609060101010101" pitchFamily="49" charset="-122"/>
                <a:cs typeface="Times New Roman" panose="02020603050405020304" pitchFamily="18" charset="0"/>
              </a:rPr>
              <a:t>张立业</a:t>
            </a:r>
          </a:p>
        </p:txBody>
      </p:sp>
      <p:sp>
        <p:nvSpPr>
          <p:cNvPr id="54" name="矩形 53">
            <a:extLst>
              <a:ext uri="{FF2B5EF4-FFF2-40B4-BE49-F238E27FC236}">
                <a16:creationId xmlns:a16="http://schemas.microsoft.com/office/drawing/2014/main" id="{52C45CAE-C2BA-4D96-8436-C71736978C28}"/>
              </a:ext>
            </a:extLst>
          </p:cNvPr>
          <p:cNvSpPr/>
          <p:nvPr/>
        </p:nvSpPr>
        <p:spPr>
          <a:xfrm>
            <a:off x="1713600" y="2365438"/>
            <a:ext cx="482235" cy="214053"/>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lang="zh-CN" altLang="en-US" sz="1100" b="1" kern="100" dirty="0">
                <a:solidFill>
                  <a:schemeClr val="tx1"/>
                </a:solidFill>
                <a:ea typeface="仿宋" panose="02010609060101010101" pitchFamily="49" charset="-122"/>
                <a:cs typeface="Times New Roman" panose="02020603050405020304" pitchFamily="18" charset="0"/>
              </a:rPr>
              <a:t> 黄浩程</a:t>
            </a:r>
          </a:p>
        </p:txBody>
      </p:sp>
      <p:cxnSp>
        <p:nvCxnSpPr>
          <p:cNvPr id="26" name="连接符: 肘形 25">
            <a:extLst>
              <a:ext uri="{FF2B5EF4-FFF2-40B4-BE49-F238E27FC236}">
                <a16:creationId xmlns:a16="http://schemas.microsoft.com/office/drawing/2014/main" id="{B84C0365-4916-4F0A-A6D6-6E9DE9A032F2}"/>
              </a:ext>
            </a:extLst>
          </p:cNvPr>
          <p:cNvCxnSpPr>
            <a:stCxn id="50" idx="2"/>
            <a:endCxn id="115" idx="0"/>
          </p:cNvCxnSpPr>
          <p:nvPr/>
        </p:nvCxnSpPr>
        <p:spPr bwMode="auto">
          <a:xfrm rot="16200000" flipH="1">
            <a:off x="1517895" y="2906105"/>
            <a:ext cx="256536" cy="495063"/>
          </a:xfrm>
          <a:prstGeom prst="bentConnector3">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连接符: 肘形 27">
            <a:extLst>
              <a:ext uri="{FF2B5EF4-FFF2-40B4-BE49-F238E27FC236}">
                <a16:creationId xmlns:a16="http://schemas.microsoft.com/office/drawing/2014/main" id="{BA305BA3-6644-4E99-B77A-EAE0F2642728}"/>
              </a:ext>
            </a:extLst>
          </p:cNvPr>
          <p:cNvCxnSpPr>
            <a:stCxn id="45" idx="2"/>
            <a:endCxn id="115" idx="0"/>
          </p:cNvCxnSpPr>
          <p:nvPr/>
        </p:nvCxnSpPr>
        <p:spPr bwMode="auto">
          <a:xfrm rot="5400000">
            <a:off x="2239253" y="2679811"/>
            <a:ext cx="256536" cy="947652"/>
          </a:xfrm>
          <a:prstGeom prst="bentConnector3">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0" name="连接符: 肘形 29">
            <a:extLst>
              <a:ext uri="{FF2B5EF4-FFF2-40B4-BE49-F238E27FC236}">
                <a16:creationId xmlns:a16="http://schemas.microsoft.com/office/drawing/2014/main" id="{88EE5A3C-E703-4EAC-AB88-E5CD952A4E55}"/>
              </a:ext>
            </a:extLst>
          </p:cNvPr>
          <p:cNvCxnSpPr>
            <a:stCxn id="52" idx="2"/>
            <a:endCxn id="50" idx="0"/>
          </p:cNvCxnSpPr>
          <p:nvPr/>
        </p:nvCxnSpPr>
        <p:spPr bwMode="auto">
          <a:xfrm rot="16200000" flipH="1">
            <a:off x="958417" y="2371100"/>
            <a:ext cx="231825" cy="648605"/>
          </a:xfrm>
          <a:prstGeom prst="bentConnector3">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2" name="连接符: 肘形 31">
            <a:extLst>
              <a:ext uri="{FF2B5EF4-FFF2-40B4-BE49-F238E27FC236}">
                <a16:creationId xmlns:a16="http://schemas.microsoft.com/office/drawing/2014/main" id="{0F8D6EFC-5678-4553-843E-E7C0F1F4F6B3}"/>
              </a:ext>
            </a:extLst>
          </p:cNvPr>
          <p:cNvCxnSpPr>
            <a:stCxn id="54" idx="2"/>
            <a:endCxn id="50" idx="0"/>
          </p:cNvCxnSpPr>
          <p:nvPr/>
        </p:nvCxnSpPr>
        <p:spPr bwMode="auto">
          <a:xfrm rot="5400000">
            <a:off x="1560763" y="2417360"/>
            <a:ext cx="231825" cy="556086"/>
          </a:xfrm>
          <a:prstGeom prst="bentConnector3">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4" name="文本框 83">
            <a:extLst>
              <a:ext uri="{FF2B5EF4-FFF2-40B4-BE49-F238E27FC236}">
                <a16:creationId xmlns:a16="http://schemas.microsoft.com/office/drawing/2014/main" id="{A1FB8C8B-7B6A-4A13-9B83-FDEBF2178A7C}"/>
              </a:ext>
            </a:extLst>
          </p:cNvPr>
          <p:cNvSpPr txBox="1"/>
          <p:nvPr/>
        </p:nvSpPr>
        <p:spPr>
          <a:xfrm>
            <a:off x="534720" y="2215994"/>
            <a:ext cx="420613" cy="153888"/>
          </a:xfrm>
          <a:prstGeom prst="rect">
            <a:avLst/>
          </a:prstGeom>
          <a:noFill/>
        </p:spPr>
        <p:txBody>
          <a:bodyPr wrap="square" lIns="0" tIns="0" rIns="0" bIns="0" anchor="ctr" anchorCtr="1">
            <a:spAutoFit/>
          </a:bodyPr>
          <a:lstStyle/>
          <a:p>
            <a:pPr algn="ctr"/>
            <a:r>
              <a:rPr lang="zh-CN" altLang="en-US" sz="1000" b="1" kern="100" dirty="0">
                <a:solidFill>
                  <a:srgbClr val="C00000"/>
                </a:solidFill>
                <a:effectLst/>
                <a:ea typeface="仿宋" panose="02010609060101010101" pitchFamily="49" charset="-122"/>
                <a:cs typeface="Times New Roman" panose="02020603050405020304" pitchFamily="18" charset="0"/>
              </a:rPr>
              <a:t>董事长</a:t>
            </a:r>
            <a:endParaRPr lang="zh-CN" altLang="en-US" sz="1000" b="1" dirty="0">
              <a:solidFill>
                <a:srgbClr val="C00000"/>
              </a:solidFill>
            </a:endParaRPr>
          </a:p>
        </p:txBody>
      </p:sp>
      <p:sp>
        <p:nvSpPr>
          <p:cNvPr id="85" name="文本框 84">
            <a:extLst>
              <a:ext uri="{FF2B5EF4-FFF2-40B4-BE49-F238E27FC236}">
                <a16:creationId xmlns:a16="http://schemas.microsoft.com/office/drawing/2014/main" id="{743DC19B-D39D-4B76-914E-2CE6E9DD2F4C}"/>
              </a:ext>
            </a:extLst>
          </p:cNvPr>
          <p:cNvSpPr txBox="1"/>
          <p:nvPr/>
        </p:nvSpPr>
        <p:spPr>
          <a:xfrm>
            <a:off x="1351353" y="2207647"/>
            <a:ext cx="1183129" cy="153888"/>
          </a:xfrm>
          <a:prstGeom prst="rect">
            <a:avLst/>
          </a:prstGeom>
          <a:noFill/>
        </p:spPr>
        <p:txBody>
          <a:bodyPr wrap="square" lIns="0" tIns="0" rIns="0" bIns="0" anchor="ctr" anchorCtr="1">
            <a:spAutoFit/>
          </a:bodyPr>
          <a:lstStyle>
            <a:defPPr>
              <a:defRPr lang="zh-CN"/>
            </a:defPPr>
            <a:lvl1pPr algn="ctr">
              <a:defRPr sz="1000" b="1" kern="100">
                <a:solidFill>
                  <a:srgbClr val="C00000"/>
                </a:solidFill>
                <a:effectLst/>
                <a:ea typeface="仿宋" panose="02010609060101010101" pitchFamily="49" charset="-122"/>
                <a:cs typeface="Times New Roman" panose="02020603050405020304" pitchFamily="18" charset="0"/>
              </a:defRPr>
            </a:lvl1pPr>
          </a:lstStyle>
          <a:p>
            <a:r>
              <a:rPr lang="zh-CN" altLang="zh-CN" dirty="0"/>
              <a:t>电源事业部轮值</a:t>
            </a:r>
            <a:r>
              <a:rPr lang="en-US" altLang="zh-CN" dirty="0"/>
              <a:t>CEO</a:t>
            </a:r>
            <a:endParaRPr lang="zh-CN" altLang="en-US" dirty="0"/>
          </a:p>
        </p:txBody>
      </p:sp>
      <p:sp>
        <p:nvSpPr>
          <p:cNvPr id="86" name="文本框 85">
            <a:extLst>
              <a:ext uri="{FF2B5EF4-FFF2-40B4-BE49-F238E27FC236}">
                <a16:creationId xmlns:a16="http://schemas.microsoft.com/office/drawing/2014/main" id="{ED89683F-F112-4FDA-86CA-6AA6F2D3D003}"/>
              </a:ext>
            </a:extLst>
          </p:cNvPr>
          <p:cNvSpPr txBox="1"/>
          <p:nvPr/>
        </p:nvSpPr>
        <p:spPr>
          <a:xfrm>
            <a:off x="956769" y="2536181"/>
            <a:ext cx="206432" cy="161583"/>
          </a:xfrm>
          <a:prstGeom prst="rect">
            <a:avLst/>
          </a:prstGeom>
          <a:noFill/>
        </p:spPr>
        <p:txBody>
          <a:bodyPr wrap="square" lIns="0" tIns="0" rIns="0" bIns="0" anchor="ctr" anchorCtr="0">
            <a:spAutoFit/>
          </a:bodyPr>
          <a:lstStyle/>
          <a:p>
            <a:r>
              <a:rPr lang="en-US" altLang="zh-CN" sz="1050" kern="100" dirty="0">
                <a:effectLst/>
                <a:latin typeface="仿宋" panose="02010609060101010101" pitchFamily="49" charset="-122"/>
                <a:cs typeface="Times New Roman" panose="02020603050405020304" pitchFamily="18" charset="0"/>
              </a:rPr>
              <a:t>85%</a:t>
            </a:r>
            <a:endParaRPr lang="zh-CN" altLang="en-US" sz="1050" dirty="0"/>
          </a:p>
        </p:txBody>
      </p:sp>
      <p:sp>
        <p:nvSpPr>
          <p:cNvPr id="87" name="文本框 86">
            <a:extLst>
              <a:ext uri="{FF2B5EF4-FFF2-40B4-BE49-F238E27FC236}">
                <a16:creationId xmlns:a16="http://schemas.microsoft.com/office/drawing/2014/main" id="{ED52E220-0E12-42B2-9964-418EBE77B5C1}"/>
              </a:ext>
            </a:extLst>
          </p:cNvPr>
          <p:cNvSpPr txBox="1"/>
          <p:nvPr/>
        </p:nvSpPr>
        <p:spPr>
          <a:xfrm>
            <a:off x="1528773" y="2535332"/>
            <a:ext cx="206432" cy="161583"/>
          </a:xfrm>
          <a:prstGeom prst="rect">
            <a:avLst/>
          </a:prstGeom>
          <a:noFill/>
        </p:spPr>
        <p:txBody>
          <a:bodyPr wrap="square" lIns="0" tIns="0" rIns="0" bIns="0" anchor="ctr" anchorCtr="0">
            <a:spAutoFit/>
          </a:bodyPr>
          <a:lstStyle/>
          <a:p>
            <a:r>
              <a:rPr lang="en-US" altLang="zh-CN" sz="1050" kern="100" dirty="0">
                <a:effectLst/>
                <a:latin typeface="仿宋" panose="02010609060101010101" pitchFamily="49" charset="-122"/>
                <a:cs typeface="Times New Roman" panose="02020603050405020304" pitchFamily="18" charset="0"/>
              </a:rPr>
              <a:t>15%</a:t>
            </a:r>
            <a:endParaRPr lang="zh-CN" altLang="en-US" sz="1050" dirty="0"/>
          </a:p>
        </p:txBody>
      </p:sp>
      <p:sp>
        <p:nvSpPr>
          <p:cNvPr id="90" name="文本框 89">
            <a:extLst>
              <a:ext uri="{FF2B5EF4-FFF2-40B4-BE49-F238E27FC236}">
                <a16:creationId xmlns:a16="http://schemas.microsoft.com/office/drawing/2014/main" id="{A1CE25F2-7777-4A7A-8833-3C8BA4BB2240}"/>
              </a:ext>
            </a:extLst>
          </p:cNvPr>
          <p:cNvSpPr txBox="1"/>
          <p:nvPr/>
        </p:nvSpPr>
        <p:spPr>
          <a:xfrm>
            <a:off x="1485581" y="3009087"/>
            <a:ext cx="206432" cy="161583"/>
          </a:xfrm>
          <a:prstGeom prst="rect">
            <a:avLst/>
          </a:prstGeom>
          <a:noFill/>
        </p:spPr>
        <p:txBody>
          <a:bodyPr wrap="square" lIns="0" tIns="0" rIns="0" bIns="0" anchor="ctr" anchorCtr="0">
            <a:spAutoFit/>
          </a:bodyPr>
          <a:lstStyle/>
          <a:p>
            <a:r>
              <a:rPr lang="en-US" altLang="zh-CN" sz="1050" kern="100" dirty="0">
                <a:latin typeface="仿宋" panose="02010609060101010101" pitchFamily="49" charset="-122"/>
                <a:cs typeface="Times New Roman" panose="02020603050405020304" pitchFamily="18" charset="0"/>
              </a:rPr>
              <a:t>90</a:t>
            </a:r>
            <a:r>
              <a:rPr lang="en-US" altLang="zh-CN" sz="1050" kern="100" dirty="0">
                <a:effectLst/>
                <a:latin typeface="仿宋" panose="02010609060101010101" pitchFamily="49" charset="-122"/>
                <a:cs typeface="Times New Roman" panose="02020603050405020304" pitchFamily="18" charset="0"/>
              </a:rPr>
              <a:t>%</a:t>
            </a:r>
            <a:endParaRPr lang="zh-CN" altLang="en-US" sz="1050" dirty="0"/>
          </a:p>
        </p:txBody>
      </p:sp>
      <p:sp>
        <p:nvSpPr>
          <p:cNvPr id="91" name="文本框 90">
            <a:extLst>
              <a:ext uri="{FF2B5EF4-FFF2-40B4-BE49-F238E27FC236}">
                <a16:creationId xmlns:a16="http://schemas.microsoft.com/office/drawing/2014/main" id="{ABD1AF90-055F-4959-AB45-7B68136F3312}"/>
              </a:ext>
            </a:extLst>
          </p:cNvPr>
          <p:cNvSpPr txBox="1"/>
          <p:nvPr/>
        </p:nvSpPr>
        <p:spPr>
          <a:xfrm>
            <a:off x="2546174" y="3008351"/>
            <a:ext cx="206432" cy="161583"/>
          </a:xfrm>
          <a:prstGeom prst="rect">
            <a:avLst/>
          </a:prstGeom>
          <a:noFill/>
        </p:spPr>
        <p:txBody>
          <a:bodyPr wrap="square" lIns="0" tIns="0" rIns="0" bIns="0" anchor="ctr" anchorCtr="0">
            <a:spAutoFit/>
          </a:bodyPr>
          <a:lstStyle/>
          <a:p>
            <a:r>
              <a:rPr lang="en-US" altLang="zh-CN" sz="1050" kern="100" dirty="0">
                <a:effectLst/>
                <a:latin typeface="仿宋" panose="02010609060101010101" pitchFamily="49" charset="-122"/>
                <a:cs typeface="Times New Roman" panose="02020603050405020304" pitchFamily="18" charset="0"/>
              </a:rPr>
              <a:t>10%</a:t>
            </a:r>
            <a:endParaRPr lang="zh-CN" altLang="en-US" sz="1050" dirty="0"/>
          </a:p>
        </p:txBody>
      </p:sp>
    </p:spTree>
    <p:extLst>
      <p:ext uri="{BB962C8B-B14F-4D97-AF65-F5344CB8AC3E}">
        <p14:creationId xmlns:p14="http://schemas.microsoft.com/office/powerpoint/2010/main" val="1234043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F23499F8-7655-4B0D-B84B-FBE3024DDB0E}"/>
              </a:ext>
            </a:extLst>
          </p:cNvPr>
          <p:cNvPicPr>
            <a:picLocks noChangeAspect="1"/>
          </p:cNvPicPr>
          <p:nvPr/>
        </p:nvPicPr>
        <p:blipFill>
          <a:blip r:embed="rId3"/>
          <a:stretch>
            <a:fillRect/>
          </a:stretch>
        </p:blipFill>
        <p:spPr>
          <a:xfrm>
            <a:off x="4367406" y="1695460"/>
            <a:ext cx="4452889" cy="2526253"/>
          </a:xfrm>
          <a:prstGeom prst="rect">
            <a:avLst/>
          </a:prstGeom>
        </p:spPr>
      </p:pic>
      <p:sp>
        <p:nvSpPr>
          <p:cNvPr id="3" name="Rectangle 2">
            <a:extLst>
              <a:ext uri="{FF2B5EF4-FFF2-40B4-BE49-F238E27FC236}">
                <a16:creationId xmlns:a16="http://schemas.microsoft.com/office/drawing/2014/main" id="{E4D9FFAA-3D1D-4AF6-A642-0C83D3E4178A}"/>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二、公司分析</a:t>
            </a:r>
            <a:r>
              <a:rPr lang="en-US" altLang="zh-CN" sz="2400" dirty="0">
                <a:solidFill>
                  <a:schemeClr val="bg1">
                    <a:lumMod val="50000"/>
                  </a:schemeClr>
                </a:solidFill>
              </a:rPr>
              <a:t>|</a:t>
            </a:r>
            <a:r>
              <a:rPr lang="zh-CN" altLang="en-US" sz="2000" dirty="0"/>
              <a:t>组织结构</a:t>
            </a:r>
            <a:endParaRPr lang="en-US" altLang="zh-CN" sz="2400" dirty="0"/>
          </a:p>
        </p:txBody>
      </p:sp>
      <p:sp>
        <p:nvSpPr>
          <p:cNvPr id="8" name="文本框 7">
            <a:extLst>
              <a:ext uri="{FF2B5EF4-FFF2-40B4-BE49-F238E27FC236}">
                <a16:creationId xmlns:a16="http://schemas.microsoft.com/office/drawing/2014/main" id="{8EF3800C-C7EF-44C7-ABE4-9034911F4439}"/>
              </a:ext>
            </a:extLst>
          </p:cNvPr>
          <p:cNvSpPr txBox="1"/>
          <p:nvPr/>
        </p:nvSpPr>
        <p:spPr>
          <a:xfrm>
            <a:off x="6300120" y="2263973"/>
            <a:ext cx="1296089" cy="307777"/>
          </a:xfrm>
          <a:prstGeom prst="rect">
            <a:avLst/>
          </a:prstGeom>
          <a:noFill/>
        </p:spPr>
        <p:txBody>
          <a:bodyPr wrap="square" rtlCol="0">
            <a:spAutoFit/>
          </a:bodyPr>
          <a:lstStyle/>
          <a:p>
            <a:pPr algn="ctr"/>
            <a:r>
              <a:rPr lang="zh-CN" altLang="en-US" sz="1400" b="1" dirty="0">
                <a:solidFill>
                  <a:srgbClr val="FF0000"/>
                </a:solidFill>
                <a:latin typeface="黑体" panose="02010609060101010101" pitchFamily="49" charset="-122"/>
                <a:ea typeface="黑体" panose="02010609060101010101" pitchFamily="49" charset="-122"/>
              </a:rPr>
              <a:t>北京总部</a:t>
            </a:r>
          </a:p>
        </p:txBody>
      </p:sp>
      <p:sp>
        <p:nvSpPr>
          <p:cNvPr id="12" name="Rectangle 3">
            <a:extLst>
              <a:ext uri="{FF2B5EF4-FFF2-40B4-BE49-F238E27FC236}">
                <a16:creationId xmlns:a16="http://schemas.microsoft.com/office/drawing/2014/main" id="{C0CC28B9-105D-4B42-A2F0-B9B5DBE913B3}"/>
              </a:ext>
            </a:extLst>
          </p:cNvPr>
          <p:cNvSpPr txBox="1">
            <a:spLocks noChangeArrowheads="1"/>
          </p:cNvSpPr>
          <p:nvPr/>
        </p:nvSpPr>
        <p:spPr>
          <a:xfrm>
            <a:off x="539720" y="411599"/>
            <a:ext cx="8064560" cy="1461004"/>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indent="180000">
              <a:lnSpc>
                <a:spcPct val="150000"/>
              </a:lnSpc>
              <a:buSzPct val="70000"/>
              <a:buBlip>
                <a:blip r:embed="rId4"/>
              </a:buBlip>
            </a:pPr>
            <a:r>
              <a:rPr lang="zh-CN" altLang="en-US" sz="1000" b="1" dirty="0">
                <a:latin typeface="仿宋" panose="02010609060101010101" pitchFamily="49" charset="-122"/>
                <a:ea typeface="仿宋" panose="02010609060101010101" pitchFamily="49" charset="-122"/>
              </a:rPr>
              <a:t>员工情况</a:t>
            </a:r>
            <a:endParaRPr lang="en-US" altLang="zh-CN" sz="1000" b="1" dirty="0">
              <a:latin typeface="仿宋" panose="02010609060101010101" pitchFamily="49" charset="-122"/>
              <a:ea typeface="仿宋" panose="02010609060101010101" pitchFamily="49" charset="-122"/>
            </a:endParaRPr>
          </a:p>
          <a:p>
            <a:pPr marL="0" indent="270000">
              <a:lnSpc>
                <a:spcPct val="150000"/>
              </a:lnSpc>
              <a:spcBef>
                <a:spcPts val="0"/>
              </a:spcBef>
              <a:buSzPct val="70000"/>
              <a:buNone/>
              <a:tabLst>
                <a:tab pos="457200" algn="l"/>
                <a:tab pos="914400" algn="l"/>
              </a:tabLst>
            </a:pPr>
            <a:r>
              <a:rPr lang="zh-CN" altLang="zh-CN" sz="1200" dirty="0">
                <a:latin typeface="仿宋" panose="02010609060101010101" pitchFamily="49" charset="-122"/>
                <a:ea typeface="仿宋" panose="02010609060101010101" pitchFamily="49" charset="-122"/>
              </a:rPr>
              <a:t>截至</a:t>
            </a:r>
            <a:r>
              <a:rPr lang="en-US" altLang="zh-CN" sz="1200" dirty="0">
                <a:latin typeface="仿宋" panose="02010609060101010101" pitchFamily="49" charset="-122"/>
                <a:ea typeface="仿宋" panose="02010609060101010101" pitchFamily="49" charset="-122"/>
              </a:rPr>
              <a:t>2021</a:t>
            </a:r>
            <a:r>
              <a:rPr lang="zh-CN" altLang="zh-CN" sz="1200" dirty="0">
                <a:latin typeface="仿宋" panose="02010609060101010101" pitchFamily="49" charset="-122"/>
                <a:ea typeface="仿宋" panose="02010609060101010101" pitchFamily="49" charset="-122"/>
              </a:rPr>
              <a:t>年</a:t>
            </a:r>
            <a:r>
              <a:rPr lang="en-US" altLang="zh-CN" sz="1200" dirty="0">
                <a:latin typeface="仿宋" panose="02010609060101010101" pitchFamily="49" charset="-122"/>
                <a:ea typeface="仿宋" panose="02010609060101010101" pitchFamily="49" charset="-122"/>
              </a:rPr>
              <a:t>4</a:t>
            </a:r>
            <a:r>
              <a:rPr lang="zh-CN" altLang="zh-CN" sz="1200" dirty="0">
                <a:latin typeface="仿宋" panose="02010609060101010101" pitchFamily="49" charset="-122"/>
                <a:ea typeface="仿宋" panose="02010609060101010101" pitchFamily="49" charset="-122"/>
              </a:rPr>
              <a:t>月</a:t>
            </a:r>
            <a:r>
              <a:rPr lang="zh-CN" altLang="en-US" sz="1200" dirty="0">
                <a:latin typeface="仿宋" panose="02010609060101010101" pitchFamily="49" charset="-122"/>
                <a:ea typeface="仿宋" panose="02010609060101010101" pitchFamily="49" charset="-122"/>
              </a:rPr>
              <a:t>底</a:t>
            </a:r>
            <a:r>
              <a:rPr lang="zh-CN" altLang="zh-CN" sz="1200" dirty="0">
                <a:latin typeface="仿宋" panose="02010609060101010101" pitchFamily="49" charset="-122"/>
                <a:ea typeface="仿宋" panose="02010609060101010101" pitchFamily="49" charset="-122"/>
              </a:rPr>
              <a:t>，公司共有</a:t>
            </a:r>
            <a:r>
              <a:rPr lang="en-US" altLang="zh-CN" sz="1200" b="1" dirty="0">
                <a:latin typeface="仿宋" panose="02010609060101010101" pitchFamily="49" charset="-122"/>
                <a:ea typeface="仿宋" panose="02010609060101010101" pitchFamily="49" charset="-122"/>
              </a:rPr>
              <a:t>70</a:t>
            </a:r>
            <a:r>
              <a:rPr lang="zh-CN" altLang="zh-CN" sz="1200" b="1" dirty="0">
                <a:latin typeface="仿宋" panose="02010609060101010101" pitchFamily="49" charset="-122"/>
                <a:ea typeface="仿宋" panose="02010609060101010101" pitchFamily="49" charset="-122"/>
              </a:rPr>
              <a:t>名</a:t>
            </a:r>
            <a:r>
              <a:rPr lang="zh-CN" altLang="zh-CN" sz="1200" dirty="0">
                <a:latin typeface="仿宋" panose="02010609060101010101" pitchFamily="49" charset="-122"/>
                <a:ea typeface="仿宋" panose="02010609060101010101" pitchFamily="49" charset="-122"/>
              </a:rPr>
              <a:t>在册员工，</a:t>
            </a:r>
            <a:r>
              <a:rPr lang="zh-CN" altLang="en-US" sz="1200" dirty="0">
                <a:latin typeface="仿宋" panose="02010609060101010101" pitchFamily="49" charset="-122"/>
                <a:ea typeface="仿宋" panose="02010609060101010101" pitchFamily="49" charset="-122"/>
              </a:rPr>
              <a:t>分布在上海、武汉、成都、深圳、平潭、香港</a:t>
            </a:r>
            <a:r>
              <a:rPr lang="en-US" altLang="zh-CN" sz="1200" dirty="0">
                <a:latin typeface="仿宋" panose="02010609060101010101" pitchFamily="49" charset="-122"/>
                <a:ea typeface="仿宋" panose="02010609060101010101" pitchFamily="49" charset="-122"/>
              </a:rPr>
              <a:t>6</a:t>
            </a:r>
            <a:r>
              <a:rPr lang="zh-CN" altLang="en-US" sz="1200" dirty="0">
                <a:latin typeface="仿宋" panose="02010609060101010101" pitchFamily="49" charset="-122"/>
                <a:ea typeface="仿宋" panose="02010609060101010101" pitchFamily="49" charset="-122"/>
              </a:rPr>
              <a:t>地</a:t>
            </a:r>
            <a:r>
              <a:rPr lang="zh-CN" altLang="zh-CN" sz="1200" dirty="0">
                <a:latin typeface="仿宋" panose="02010609060101010101" pitchFamily="49" charset="-122"/>
                <a:ea typeface="仿宋" panose="02010609060101010101" pitchFamily="49" charset="-122"/>
              </a:rPr>
              <a:t>。</a:t>
            </a:r>
            <a:endParaRPr lang="en-US" altLang="zh-CN" sz="1200" dirty="0">
              <a:latin typeface="仿宋" panose="02010609060101010101" pitchFamily="49" charset="-122"/>
              <a:ea typeface="仿宋" panose="02010609060101010101" pitchFamily="49" charset="-122"/>
            </a:endParaRPr>
          </a:p>
          <a:p>
            <a:pPr marL="0" indent="180000">
              <a:lnSpc>
                <a:spcPct val="150000"/>
              </a:lnSpc>
              <a:buSzPct val="70000"/>
              <a:buBlip>
                <a:blip r:embed="rId4"/>
              </a:buBlip>
              <a:tabLst>
                <a:tab pos="457200" algn="l"/>
                <a:tab pos="914400" algn="l"/>
              </a:tabLst>
            </a:pPr>
            <a:r>
              <a:rPr lang="zh-CN" altLang="en-US" sz="1000" b="1" dirty="0">
                <a:latin typeface="仿宋" panose="02010609060101010101" pitchFamily="49" charset="-122"/>
                <a:ea typeface="仿宋" panose="02010609060101010101" pitchFamily="49" charset="-122"/>
              </a:rPr>
              <a:t>分布</a:t>
            </a:r>
            <a:endParaRPr lang="en-US" altLang="zh-CN" sz="1000" b="1" dirty="0">
              <a:latin typeface="仿宋" panose="02010609060101010101" pitchFamily="49" charset="-122"/>
              <a:ea typeface="仿宋" panose="02010609060101010101" pitchFamily="49" charset="-122"/>
            </a:endParaRPr>
          </a:p>
          <a:p>
            <a:pPr marL="0" indent="270000">
              <a:lnSpc>
                <a:spcPct val="150000"/>
              </a:lnSpc>
              <a:spcBef>
                <a:spcPts val="0"/>
              </a:spcBef>
              <a:buSzPct val="70000"/>
              <a:buNone/>
              <a:tabLst>
                <a:tab pos="457200" algn="l"/>
                <a:tab pos="914400" algn="l"/>
              </a:tabLst>
            </a:pPr>
            <a:r>
              <a:rPr lang="zh-CN" altLang="zh-CN" sz="1200" dirty="0">
                <a:latin typeface="仿宋" panose="02010609060101010101" pitchFamily="49" charset="-122"/>
                <a:ea typeface="仿宋" panose="02010609060101010101" pitchFamily="49" charset="-122"/>
              </a:rPr>
              <a:t>上海</a:t>
            </a:r>
            <a:r>
              <a:rPr lang="en-US" altLang="zh-CN" sz="1200" dirty="0">
                <a:latin typeface="仿宋" panose="02010609060101010101" pitchFamily="49" charset="-122"/>
                <a:ea typeface="仿宋" panose="02010609060101010101" pitchFamily="49" charset="-122"/>
              </a:rPr>
              <a:t>8</a:t>
            </a:r>
            <a:r>
              <a:rPr lang="zh-CN" altLang="zh-CN" sz="1200" dirty="0">
                <a:latin typeface="仿宋" panose="02010609060101010101" pitchFamily="49" charset="-122"/>
                <a:ea typeface="仿宋" panose="02010609060101010101" pitchFamily="49" charset="-122"/>
              </a:rPr>
              <a:t>人、武汉</a:t>
            </a:r>
            <a:r>
              <a:rPr lang="en-US" altLang="zh-CN" sz="1200" dirty="0">
                <a:latin typeface="仿宋" panose="02010609060101010101" pitchFamily="49" charset="-122"/>
                <a:ea typeface="仿宋" panose="02010609060101010101" pitchFamily="49" charset="-122"/>
              </a:rPr>
              <a:t>15</a:t>
            </a:r>
            <a:r>
              <a:rPr lang="zh-CN" altLang="zh-CN" sz="1200" dirty="0">
                <a:latin typeface="仿宋" panose="02010609060101010101" pitchFamily="49" charset="-122"/>
                <a:ea typeface="仿宋" panose="02010609060101010101" pitchFamily="49" charset="-122"/>
              </a:rPr>
              <a:t>人、成都</a:t>
            </a:r>
            <a:r>
              <a:rPr lang="en-US" altLang="zh-CN" sz="1200" dirty="0">
                <a:latin typeface="仿宋" panose="02010609060101010101" pitchFamily="49" charset="-122"/>
                <a:ea typeface="仿宋" panose="02010609060101010101" pitchFamily="49" charset="-122"/>
              </a:rPr>
              <a:t>29</a:t>
            </a:r>
            <a:r>
              <a:rPr lang="zh-CN" altLang="zh-CN" sz="1200" dirty="0">
                <a:latin typeface="仿宋" panose="02010609060101010101" pitchFamily="49" charset="-122"/>
                <a:ea typeface="仿宋" panose="02010609060101010101" pitchFamily="49" charset="-122"/>
              </a:rPr>
              <a:t>人、深圳</a:t>
            </a:r>
            <a:r>
              <a:rPr lang="en-US" altLang="zh-CN" sz="1200" dirty="0">
                <a:latin typeface="仿宋" panose="02010609060101010101" pitchFamily="49" charset="-122"/>
                <a:ea typeface="仿宋" panose="02010609060101010101" pitchFamily="49" charset="-122"/>
              </a:rPr>
              <a:t>17</a:t>
            </a:r>
            <a:r>
              <a:rPr lang="zh-CN" altLang="zh-CN" sz="1200" dirty="0">
                <a:latin typeface="仿宋" panose="02010609060101010101" pitchFamily="49" charset="-122"/>
                <a:ea typeface="仿宋" panose="02010609060101010101" pitchFamily="49" charset="-122"/>
              </a:rPr>
              <a:t>人、平潭</a:t>
            </a:r>
            <a:r>
              <a:rPr lang="en-US" altLang="zh-CN" sz="1200" dirty="0">
                <a:latin typeface="仿宋" panose="02010609060101010101" pitchFamily="49" charset="-122"/>
                <a:ea typeface="仿宋" panose="02010609060101010101" pitchFamily="49" charset="-122"/>
              </a:rPr>
              <a:t>5</a:t>
            </a:r>
            <a:r>
              <a:rPr lang="zh-CN" altLang="zh-CN" sz="1200" dirty="0">
                <a:latin typeface="仿宋" panose="02010609060101010101" pitchFamily="49" charset="-122"/>
                <a:ea typeface="仿宋" panose="02010609060101010101" pitchFamily="49" charset="-122"/>
              </a:rPr>
              <a:t>人、香港</a:t>
            </a:r>
            <a:r>
              <a:rPr lang="en-US" altLang="zh-CN" sz="1200" dirty="0">
                <a:latin typeface="仿宋" panose="02010609060101010101" pitchFamily="49" charset="-122"/>
                <a:ea typeface="仿宋" panose="02010609060101010101" pitchFamily="49" charset="-122"/>
              </a:rPr>
              <a:t>3</a:t>
            </a:r>
            <a:r>
              <a:rPr lang="zh-CN" altLang="zh-CN" sz="1200" dirty="0">
                <a:latin typeface="仿宋" panose="02010609060101010101" pitchFamily="49" charset="-122"/>
                <a:ea typeface="仿宋" panose="02010609060101010101" pitchFamily="49" charset="-122"/>
              </a:rPr>
              <a:t>人。</a:t>
            </a:r>
            <a:endParaRPr lang="en-US" altLang="zh-CN" sz="1000" b="1" dirty="0">
              <a:latin typeface="仿宋" panose="02010609060101010101" pitchFamily="49" charset="-122"/>
              <a:ea typeface="仿宋" panose="02010609060101010101" pitchFamily="49" charset="-122"/>
            </a:endParaRPr>
          </a:p>
          <a:p>
            <a:pPr marL="0" indent="270000">
              <a:lnSpc>
                <a:spcPct val="150000"/>
              </a:lnSpc>
              <a:spcBef>
                <a:spcPts val="0"/>
              </a:spcBef>
              <a:buSzPct val="70000"/>
              <a:buNone/>
              <a:tabLst>
                <a:tab pos="457200" algn="l"/>
                <a:tab pos="914400" algn="l"/>
              </a:tabLst>
            </a:pPr>
            <a:r>
              <a:rPr lang="zh-CN" altLang="zh-CN" sz="1200" dirty="0">
                <a:latin typeface="仿宋" panose="02010609060101010101" pitchFamily="49" charset="-122"/>
                <a:ea typeface="仿宋" panose="02010609060101010101" pitchFamily="49" charset="-122"/>
              </a:rPr>
              <a:t>目前</a:t>
            </a:r>
            <a:r>
              <a:rPr lang="zh-CN" altLang="en-US" sz="1200" dirty="0">
                <a:latin typeface="仿宋" panose="02010609060101010101" pitchFamily="49" charset="-122"/>
                <a:ea typeface="仿宋" panose="02010609060101010101" pitchFamily="49" charset="-122"/>
              </a:rPr>
              <a:t>公司</a:t>
            </a:r>
            <a:r>
              <a:rPr lang="zh-CN" altLang="zh-CN" sz="1200" dirty="0">
                <a:latin typeface="仿宋" panose="02010609060101010101" pitchFamily="49" charset="-122"/>
                <a:ea typeface="仿宋" panose="02010609060101010101" pitchFamily="49" charset="-122"/>
              </a:rPr>
              <a:t>员工中</a:t>
            </a:r>
            <a:r>
              <a:rPr lang="zh-CN" altLang="en-US" sz="1200" dirty="0">
                <a:latin typeface="仿宋" panose="02010609060101010101" pitchFamily="49" charset="-122"/>
                <a:ea typeface="仿宋" panose="02010609060101010101" pitchFamily="49" charset="-122"/>
              </a:rPr>
              <a:t>，</a:t>
            </a:r>
            <a:r>
              <a:rPr lang="zh-CN" altLang="zh-CN" sz="1200" kern="100" dirty="0">
                <a:effectLst/>
                <a:ea typeface="仿宋" panose="02010609060101010101" pitchFamily="49" charset="-122"/>
                <a:cs typeface="Times New Roman" panose="02020603050405020304" pitchFamily="18" charset="0"/>
              </a:rPr>
              <a:t>研发部门</a:t>
            </a:r>
            <a:r>
              <a:rPr lang="en-US" altLang="zh-CN" sz="1200" kern="100" dirty="0">
                <a:effectLst/>
                <a:ea typeface="仿宋" panose="02010609060101010101" pitchFamily="49" charset="-122"/>
                <a:cs typeface="Times New Roman" panose="02020603050405020304" pitchFamily="18" charset="0"/>
              </a:rPr>
              <a:t>57</a:t>
            </a:r>
            <a:r>
              <a:rPr lang="zh-CN" altLang="zh-CN" sz="1200" kern="100" dirty="0">
                <a:effectLst/>
                <a:ea typeface="仿宋" panose="02010609060101010101" pitchFamily="49" charset="-122"/>
                <a:cs typeface="Times New Roman" panose="02020603050405020304" pitchFamily="18" charset="0"/>
              </a:rPr>
              <a:t>人</a:t>
            </a:r>
            <a:r>
              <a:rPr lang="zh-CN" altLang="en-US" sz="1200" kern="100" dirty="0">
                <a:effectLst/>
                <a:ea typeface="仿宋" panose="02010609060101010101" pitchFamily="49" charset="-122"/>
                <a:cs typeface="Times New Roman" panose="02020603050405020304" pitchFamily="18" charset="0"/>
              </a:rPr>
              <a:t>，</a:t>
            </a:r>
            <a:r>
              <a:rPr lang="zh-CN" altLang="en-US" sz="1200" kern="100" dirty="0">
                <a:ea typeface="仿宋" panose="02010609060101010101" pitchFamily="49" charset="-122"/>
                <a:cs typeface="Times New Roman" panose="02020603050405020304" pitchFamily="18" charset="0"/>
              </a:rPr>
              <a:t>占比</a:t>
            </a:r>
            <a:r>
              <a:rPr lang="en-US" altLang="zh-CN" sz="1200" kern="100" dirty="0">
                <a:ea typeface="仿宋" panose="02010609060101010101" pitchFamily="49" charset="-122"/>
                <a:cs typeface="Times New Roman" panose="02020603050405020304" pitchFamily="18" charset="0"/>
              </a:rPr>
              <a:t>81%</a:t>
            </a:r>
            <a:r>
              <a:rPr lang="zh-CN" altLang="en-US" sz="1200" kern="100" dirty="0">
                <a:ea typeface="仿宋" panose="02010609060101010101" pitchFamily="49" charset="-122"/>
                <a:cs typeface="Times New Roman" panose="02020603050405020304" pitchFamily="18" charset="0"/>
              </a:rPr>
              <a:t>，</a:t>
            </a:r>
            <a:r>
              <a:rPr lang="zh-CN" altLang="zh-CN" sz="1200" kern="100" dirty="0">
                <a:ea typeface="仿宋" panose="02010609060101010101" pitchFamily="49" charset="-122"/>
                <a:cs typeface="Times New Roman" panose="02020603050405020304" pitchFamily="18" charset="0"/>
              </a:rPr>
              <a:t>市场</a:t>
            </a:r>
            <a:r>
              <a:rPr lang="zh-CN" altLang="zh-CN" sz="1200" kern="100" dirty="0">
                <a:effectLst/>
                <a:ea typeface="仿宋" panose="02010609060101010101" pitchFamily="49" charset="-122"/>
                <a:cs typeface="Times New Roman" panose="02020603050405020304" pitchFamily="18" charset="0"/>
              </a:rPr>
              <a:t>营销部门</a:t>
            </a:r>
            <a:r>
              <a:rPr lang="en-US" altLang="zh-CN" sz="1200" kern="100" dirty="0">
                <a:effectLst/>
                <a:ea typeface="仿宋" panose="02010609060101010101" pitchFamily="49" charset="-122"/>
                <a:cs typeface="Times New Roman" panose="02020603050405020304" pitchFamily="18" charset="0"/>
              </a:rPr>
              <a:t>4</a:t>
            </a:r>
            <a:r>
              <a:rPr lang="zh-CN" altLang="zh-CN" sz="1200" kern="100" dirty="0">
                <a:effectLst/>
                <a:ea typeface="仿宋" panose="02010609060101010101" pitchFamily="49" charset="-122"/>
                <a:cs typeface="Times New Roman" panose="02020603050405020304" pitchFamily="18" charset="0"/>
              </a:rPr>
              <a:t>人</a:t>
            </a:r>
            <a:r>
              <a:rPr lang="zh-CN" altLang="en-US" sz="1200" kern="100" dirty="0">
                <a:effectLst/>
                <a:ea typeface="仿宋" panose="02010609060101010101" pitchFamily="49" charset="-122"/>
                <a:cs typeface="Times New Roman" panose="02020603050405020304" pitchFamily="18" charset="0"/>
              </a:rPr>
              <a:t>，</a:t>
            </a:r>
            <a:r>
              <a:rPr lang="zh-CN" altLang="zh-CN" sz="1200" kern="100" dirty="0">
                <a:effectLst/>
                <a:ea typeface="仿宋" panose="02010609060101010101" pitchFamily="49" charset="-122"/>
                <a:cs typeface="Times New Roman" panose="02020603050405020304" pitchFamily="18" charset="0"/>
              </a:rPr>
              <a:t>生产运作及品质保证部门</a:t>
            </a:r>
            <a:r>
              <a:rPr lang="en-US" altLang="zh-CN" sz="1200" kern="100" dirty="0">
                <a:effectLst/>
                <a:ea typeface="仿宋" panose="02010609060101010101" pitchFamily="49" charset="-122"/>
                <a:cs typeface="Times New Roman" panose="02020603050405020304" pitchFamily="18" charset="0"/>
              </a:rPr>
              <a:t>4</a:t>
            </a:r>
            <a:r>
              <a:rPr lang="zh-CN" altLang="zh-CN" sz="1200" kern="100" dirty="0">
                <a:effectLst/>
                <a:ea typeface="仿宋" panose="02010609060101010101" pitchFamily="49" charset="-122"/>
                <a:cs typeface="Times New Roman" panose="02020603050405020304" pitchFamily="18" charset="0"/>
              </a:rPr>
              <a:t>人</a:t>
            </a:r>
            <a:r>
              <a:rPr lang="zh-CN" altLang="en-US" sz="1200" kern="100" dirty="0">
                <a:effectLst/>
                <a:ea typeface="仿宋" panose="02010609060101010101" pitchFamily="49" charset="-122"/>
                <a:cs typeface="Times New Roman" panose="02020603050405020304" pitchFamily="18" charset="0"/>
              </a:rPr>
              <a:t>，</a:t>
            </a:r>
            <a:r>
              <a:rPr lang="zh-CN" altLang="zh-CN" sz="1200" kern="100" dirty="0">
                <a:effectLst/>
                <a:ea typeface="仿宋" panose="02010609060101010101" pitchFamily="49" charset="-122"/>
                <a:cs typeface="Times New Roman" panose="02020603050405020304" pitchFamily="18" charset="0"/>
              </a:rPr>
              <a:t>综合管理部门</a:t>
            </a:r>
            <a:r>
              <a:rPr lang="en-US" altLang="zh-CN" sz="1200" kern="100" dirty="0">
                <a:effectLst/>
                <a:ea typeface="仿宋" panose="02010609060101010101" pitchFamily="49" charset="-122"/>
                <a:cs typeface="Times New Roman" panose="02020603050405020304" pitchFamily="18" charset="0"/>
              </a:rPr>
              <a:t>5</a:t>
            </a:r>
            <a:r>
              <a:rPr lang="zh-CN" altLang="zh-CN" sz="1200" kern="100" dirty="0">
                <a:effectLst/>
                <a:ea typeface="仿宋" panose="02010609060101010101" pitchFamily="49" charset="-122"/>
                <a:cs typeface="Times New Roman" panose="02020603050405020304" pitchFamily="18" charset="0"/>
              </a:rPr>
              <a:t>人</a:t>
            </a:r>
            <a:r>
              <a:rPr lang="zh-CN" altLang="zh-CN" sz="1200" dirty="0">
                <a:latin typeface="仿宋" panose="02010609060101010101" pitchFamily="49" charset="-122"/>
                <a:ea typeface="仿宋" panose="02010609060101010101" pitchFamily="49" charset="-122"/>
              </a:rPr>
              <a:t>。</a:t>
            </a:r>
          </a:p>
          <a:p>
            <a:pPr marL="0" indent="270000">
              <a:lnSpc>
                <a:spcPct val="150000"/>
              </a:lnSpc>
              <a:spcBef>
                <a:spcPts val="0"/>
              </a:spcBef>
              <a:buSzPct val="70000"/>
              <a:buNone/>
              <a:tabLst>
                <a:tab pos="457200" algn="l"/>
                <a:tab pos="914400" algn="l"/>
              </a:tabLst>
            </a:pPr>
            <a:endParaRPr lang="en-US" altLang="zh-CN" sz="1200" dirty="0">
              <a:latin typeface="仿宋" panose="02010609060101010101" pitchFamily="49" charset="-122"/>
              <a:ea typeface="仿宋" panose="02010609060101010101" pitchFamily="49" charset="-122"/>
            </a:endParaRPr>
          </a:p>
        </p:txBody>
      </p:sp>
      <p:graphicFrame>
        <p:nvGraphicFramePr>
          <p:cNvPr id="9" name="图示 8">
            <a:extLst>
              <a:ext uri="{FF2B5EF4-FFF2-40B4-BE49-F238E27FC236}">
                <a16:creationId xmlns:a16="http://schemas.microsoft.com/office/drawing/2014/main" id="{B1071AA3-6B77-48DC-A723-8779098E6CA2}"/>
              </a:ext>
            </a:extLst>
          </p:cNvPr>
          <p:cNvGraphicFramePr/>
          <p:nvPr>
            <p:extLst>
              <p:ext uri="{D42A27DB-BD31-4B8C-83A1-F6EECF244321}">
                <p14:modId xmlns:p14="http://schemas.microsoft.com/office/powerpoint/2010/main" val="3608875961"/>
              </p:ext>
            </p:extLst>
          </p:nvPr>
        </p:nvGraphicFramePr>
        <p:xfrm>
          <a:off x="4467284" y="3966758"/>
          <a:ext cx="4248295" cy="72377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3" name="文本框 12">
            <a:extLst>
              <a:ext uri="{FF2B5EF4-FFF2-40B4-BE49-F238E27FC236}">
                <a16:creationId xmlns:a16="http://schemas.microsoft.com/office/drawing/2014/main" id="{BA250948-D20B-4644-8B3B-AC0DF52F64F0}"/>
              </a:ext>
            </a:extLst>
          </p:cNvPr>
          <p:cNvSpPr txBox="1"/>
          <p:nvPr/>
        </p:nvSpPr>
        <p:spPr>
          <a:xfrm>
            <a:off x="6619907" y="2520242"/>
            <a:ext cx="648045" cy="442878"/>
          </a:xfrm>
          <a:prstGeom prst="rect">
            <a:avLst/>
          </a:prstGeom>
          <a:noFill/>
        </p:spPr>
        <p:txBody>
          <a:bodyPr wrap="square">
            <a:spAutoFit/>
          </a:bodyPr>
          <a:lstStyle/>
          <a:p>
            <a:pPr indent="274320" fontAlgn="base">
              <a:lnSpc>
                <a:spcPct val="150000"/>
              </a:lnSpc>
              <a:tabLst>
                <a:tab pos="457200" algn="l"/>
                <a:tab pos="914400" algn="l"/>
              </a:tabLst>
            </a:pPr>
            <a:r>
              <a:rPr lang="zh-CN" altLang="en-US" sz="1800" kern="1200" dirty="0">
                <a:solidFill>
                  <a:srgbClr val="FF0000"/>
                </a:solidFill>
                <a:effectLst/>
                <a:latin typeface="宋体" panose="02010600030101010101" pitchFamily="2" charset="-122"/>
                <a:ea typeface="仿宋" panose="02010609060101010101" pitchFamily="49" charset="-122"/>
                <a:cs typeface="Times New Roman" panose="02020603050405020304" pitchFamily="18" charset="0"/>
              </a:rPr>
              <a:t>★</a:t>
            </a:r>
            <a:endParaRPr lang="zh-CN" altLang="zh-CN" sz="1800" dirty="0">
              <a:solidFill>
                <a:srgbClr val="FF0000"/>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15" name="文本框 14">
            <a:extLst>
              <a:ext uri="{FF2B5EF4-FFF2-40B4-BE49-F238E27FC236}">
                <a16:creationId xmlns:a16="http://schemas.microsoft.com/office/drawing/2014/main" id="{ADEABB6F-7061-4C09-9738-03D736F9E193}"/>
              </a:ext>
            </a:extLst>
          </p:cNvPr>
          <p:cNvSpPr txBox="1"/>
          <p:nvPr/>
        </p:nvSpPr>
        <p:spPr>
          <a:xfrm>
            <a:off x="4539290" y="4780650"/>
            <a:ext cx="4572000" cy="230832"/>
          </a:xfrm>
          <a:prstGeom prst="rect">
            <a:avLst/>
          </a:prstGeom>
          <a:noFill/>
        </p:spPr>
        <p:txBody>
          <a:bodyPr wrap="square">
            <a:spAutoFit/>
          </a:bodyPr>
          <a:lstStyle/>
          <a:p>
            <a:r>
              <a:rPr lang="en-US" altLang="zh-CN" sz="900" b="1" kern="100" dirty="0">
                <a:effectLst/>
                <a:latin typeface="仿宋" panose="02010609060101010101" pitchFamily="49" charset="-122"/>
                <a:ea typeface="仿宋" panose="02010609060101010101" pitchFamily="49" charset="-122"/>
                <a:cs typeface="Times New Roman" panose="02020603050405020304" pitchFamily="18" charset="0"/>
              </a:rPr>
              <a:t> 8</a:t>
            </a:r>
            <a:r>
              <a:rPr lang="zh-CN" altLang="zh-CN" sz="900" b="1" kern="100" dirty="0">
                <a:effectLst/>
                <a:latin typeface="仿宋" panose="02010609060101010101" pitchFamily="49" charset="-122"/>
                <a:ea typeface="仿宋" panose="02010609060101010101" pitchFamily="49" charset="-122"/>
                <a:cs typeface="Times New Roman" panose="02020603050405020304" pitchFamily="18" charset="0"/>
              </a:rPr>
              <a:t>人</a:t>
            </a:r>
            <a:r>
              <a:rPr lang="en-US" altLang="zh-CN" sz="900" b="1" kern="100" dirty="0">
                <a:effectLst/>
                <a:latin typeface="仿宋" panose="02010609060101010101" pitchFamily="49" charset="-122"/>
                <a:ea typeface="仿宋" panose="02010609060101010101" pitchFamily="49" charset="-122"/>
                <a:cs typeface="Times New Roman" panose="02020603050405020304" pitchFamily="18" charset="0"/>
              </a:rPr>
              <a:t>         15</a:t>
            </a:r>
            <a:r>
              <a:rPr lang="zh-CN" altLang="zh-CN" sz="900" b="1" kern="100" dirty="0">
                <a:effectLst/>
                <a:latin typeface="仿宋" panose="02010609060101010101" pitchFamily="49" charset="-122"/>
                <a:ea typeface="仿宋" panose="02010609060101010101" pitchFamily="49" charset="-122"/>
                <a:cs typeface="Times New Roman" panose="02020603050405020304" pitchFamily="18" charset="0"/>
              </a:rPr>
              <a:t>人</a:t>
            </a:r>
            <a:r>
              <a:rPr lang="en-US" altLang="zh-CN" sz="900" b="1" kern="100" dirty="0">
                <a:effectLst/>
                <a:latin typeface="仿宋" panose="02010609060101010101" pitchFamily="49" charset="-122"/>
                <a:ea typeface="仿宋" panose="02010609060101010101" pitchFamily="49" charset="-122"/>
                <a:cs typeface="Times New Roman" panose="02020603050405020304" pitchFamily="18" charset="0"/>
              </a:rPr>
              <a:t>       29</a:t>
            </a:r>
            <a:r>
              <a:rPr lang="zh-CN" altLang="zh-CN" sz="900" b="1" kern="100" dirty="0">
                <a:effectLst/>
                <a:latin typeface="仿宋" panose="02010609060101010101" pitchFamily="49" charset="-122"/>
                <a:ea typeface="仿宋" panose="02010609060101010101" pitchFamily="49" charset="-122"/>
                <a:cs typeface="Times New Roman" panose="02020603050405020304" pitchFamily="18" charset="0"/>
              </a:rPr>
              <a:t>人 </a:t>
            </a:r>
            <a:r>
              <a:rPr lang="en-US" altLang="zh-CN" sz="900" b="1" kern="100" dirty="0">
                <a:effectLst/>
                <a:latin typeface="仿宋" panose="02010609060101010101" pitchFamily="49" charset="-122"/>
                <a:ea typeface="仿宋" panose="02010609060101010101" pitchFamily="49" charset="-122"/>
                <a:cs typeface="Times New Roman" panose="02020603050405020304" pitchFamily="18" charset="0"/>
              </a:rPr>
              <a:t>         17</a:t>
            </a:r>
            <a:r>
              <a:rPr lang="zh-CN" altLang="zh-CN" sz="900" b="1" kern="100" dirty="0">
                <a:effectLst/>
                <a:latin typeface="仿宋" panose="02010609060101010101" pitchFamily="49" charset="-122"/>
                <a:ea typeface="仿宋" panose="02010609060101010101" pitchFamily="49" charset="-122"/>
                <a:cs typeface="Times New Roman" panose="02020603050405020304" pitchFamily="18" charset="0"/>
              </a:rPr>
              <a:t>人</a:t>
            </a:r>
            <a:r>
              <a:rPr lang="en-US" altLang="zh-CN" sz="900" b="1" kern="100" dirty="0">
                <a:effectLst/>
                <a:latin typeface="仿宋" panose="02010609060101010101" pitchFamily="49" charset="-122"/>
                <a:ea typeface="仿宋" panose="02010609060101010101" pitchFamily="49" charset="-122"/>
                <a:cs typeface="Times New Roman" panose="02020603050405020304" pitchFamily="18" charset="0"/>
              </a:rPr>
              <a:t>           5</a:t>
            </a:r>
            <a:r>
              <a:rPr lang="zh-CN" altLang="zh-CN" sz="900" b="1" kern="100" dirty="0">
                <a:effectLst/>
                <a:latin typeface="仿宋" panose="02010609060101010101" pitchFamily="49" charset="-122"/>
                <a:ea typeface="仿宋" panose="02010609060101010101" pitchFamily="49" charset="-122"/>
                <a:cs typeface="Times New Roman" panose="02020603050405020304" pitchFamily="18" charset="0"/>
              </a:rPr>
              <a:t>人 </a:t>
            </a:r>
            <a:r>
              <a:rPr lang="en-US" altLang="zh-CN" sz="900" b="1" kern="100" dirty="0">
                <a:effectLst/>
                <a:latin typeface="仿宋" panose="02010609060101010101" pitchFamily="49" charset="-122"/>
                <a:ea typeface="仿宋" panose="02010609060101010101" pitchFamily="49" charset="-122"/>
                <a:cs typeface="Times New Roman" panose="02020603050405020304" pitchFamily="18" charset="0"/>
              </a:rPr>
              <a:t>         3</a:t>
            </a:r>
            <a:r>
              <a:rPr lang="zh-CN" altLang="zh-CN" sz="900" b="1" kern="100" dirty="0">
                <a:effectLst/>
                <a:latin typeface="仿宋" panose="02010609060101010101" pitchFamily="49" charset="-122"/>
                <a:ea typeface="仿宋" panose="02010609060101010101" pitchFamily="49" charset="-122"/>
                <a:cs typeface="Times New Roman" panose="02020603050405020304" pitchFamily="18" charset="0"/>
              </a:rPr>
              <a:t>人</a:t>
            </a:r>
            <a:endParaRPr lang="zh-CN" altLang="en-US" sz="900" b="1" dirty="0">
              <a:latin typeface="仿宋" panose="02010609060101010101" pitchFamily="49" charset="-122"/>
              <a:ea typeface="仿宋" panose="02010609060101010101" pitchFamily="49" charset="-122"/>
            </a:endParaRPr>
          </a:p>
        </p:txBody>
      </p:sp>
      <p:pic>
        <p:nvPicPr>
          <p:cNvPr id="4" name="图片 3">
            <a:extLst>
              <a:ext uri="{FF2B5EF4-FFF2-40B4-BE49-F238E27FC236}">
                <a16:creationId xmlns:a16="http://schemas.microsoft.com/office/drawing/2014/main" id="{A75F5899-4F44-4E90-AA94-8097663EF833}"/>
              </a:ext>
            </a:extLst>
          </p:cNvPr>
          <p:cNvPicPr>
            <a:picLocks noChangeAspect="1"/>
          </p:cNvPicPr>
          <p:nvPr/>
        </p:nvPicPr>
        <p:blipFill>
          <a:blip r:embed="rId10">
            <a:alphaModFix amt="50000"/>
          </a:blip>
          <a:stretch>
            <a:fillRect/>
          </a:stretch>
        </p:blipFill>
        <p:spPr>
          <a:xfrm>
            <a:off x="613755" y="2571750"/>
            <a:ext cx="3122172" cy="1505597"/>
          </a:xfrm>
          <a:prstGeom prst="rect">
            <a:avLst/>
          </a:prstGeom>
        </p:spPr>
      </p:pic>
      <p:pic>
        <p:nvPicPr>
          <p:cNvPr id="16" name="图片 15">
            <a:extLst>
              <a:ext uri="{FF2B5EF4-FFF2-40B4-BE49-F238E27FC236}">
                <a16:creationId xmlns:a16="http://schemas.microsoft.com/office/drawing/2014/main" id="{01E97E4F-2773-4D98-97BF-E0133C831530}"/>
              </a:ext>
            </a:extLst>
          </p:cNvPr>
          <p:cNvPicPr>
            <a:picLocks noChangeAspect="1"/>
          </p:cNvPicPr>
          <p:nvPr/>
        </p:nvPicPr>
        <p:blipFill>
          <a:blip r:embed="rId11">
            <a:alphaModFix amt="50000"/>
          </a:blip>
          <a:stretch>
            <a:fillRect/>
          </a:stretch>
        </p:blipFill>
        <p:spPr>
          <a:xfrm>
            <a:off x="220468" y="2435927"/>
            <a:ext cx="1074597" cy="545390"/>
          </a:xfrm>
          <a:prstGeom prst="rect">
            <a:avLst/>
          </a:prstGeom>
          <a:ln>
            <a:noFill/>
          </a:ln>
          <a:effectLst>
            <a:softEdge rad="112500"/>
          </a:effectLst>
        </p:spPr>
      </p:pic>
    </p:spTree>
    <p:extLst>
      <p:ext uri="{BB962C8B-B14F-4D97-AF65-F5344CB8AC3E}">
        <p14:creationId xmlns:p14="http://schemas.microsoft.com/office/powerpoint/2010/main" val="14598887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4D9FFAA-3D1D-4AF6-A642-0C83D3E4178A}"/>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二、公司分析</a:t>
            </a:r>
            <a:r>
              <a:rPr lang="en-US" altLang="zh-CN" sz="2400" dirty="0">
                <a:solidFill>
                  <a:schemeClr val="bg1">
                    <a:lumMod val="50000"/>
                  </a:schemeClr>
                </a:solidFill>
              </a:rPr>
              <a:t>|</a:t>
            </a:r>
            <a:r>
              <a:rPr lang="zh-CN" altLang="en-US" sz="2000" dirty="0"/>
              <a:t>专利资质</a:t>
            </a:r>
            <a:endParaRPr lang="en-US" altLang="zh-CN" sz="2400" dirty="0"/>
          </a:p>
        </p:txBody>
      </p:sp>
      <p:sp>
        <p:nvSpPr>
          <p:cNvPr id="6" name="Rectangle 3">
            <a:extLst>
              <a:ext uri="{FF2B5EF4-FFF2-40B4-BE49-F238E27FC236}">
                <a16:creationId xmlns:a16="http://schemas.microsoft.com/office/drawing/2014/main" id="{C43A0259-48A0-455A-BEBA-F34E33C3CE9C}"/>
              </a:ext>
            </a:extLst>
          </p:cNvPr>
          <p:cNvSpPr txBox="1">
            <a:spLocks noChangeArrowheads="1"/>
          </p:cNvSpPr>
          <p:nvPr/>
        </p:nvSpPr>
        <p:spPr>
          <a:xfrm>
            <a:off x="539720" y="411600"/>
            <a:ext cx="8064560" cy="2232156"/>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indent="180000">
              <a:lnSpc>
                <a:spcPct val="150000"/>
              </a:lnSpc>
              <a:buSzPct val="70000"/>
              <a:buBlip>
                <a:blip r:embed="rId3"/>
              </a:buBlip>
            </a:pPr>
            <a:r>
              <a:rPr lang="zh-CN" altLang="en-US" sz="1000" b="1" dirty="0">
                <a:latin typeface="仿宋" panose="02010609060101010101" pitchFamily="49" charset="-122"/>
                <a:ea typeface="仿宋" panose="02010609060101010101" pitchFamily="49" charset="-122"/>
              </a:rPr>
              <a:t>荣誉资质</a:t>
            </a:r>
            <a:endParaRPr lang="en-US" altLang="zh-CN" sz="1000" b="1" dirty="0">
              <a:latin typeface="仿宋" panose="02010609060101010101" pitchFamily="49" charset="-122"/>
              <a:ea typeface="仿宋" panose="02010609060101010101" pitchFamily="49" charset="-122"/>
            </a:endParaRPr>
          </a:p>
          <a:p>
            <a:pPr marL="0" indent="270000">
              <a:lnSpc>
                <a:spcPct val="150000"/>
              </a:lnSpc>
              <a:spcBef>
                <a:spcPts val="0"/>
              </a:spcBef>
              <a:buSzPct val="70000"/>
              <a:buNone/>
              <a:tabLst>
                <a:tab pos="457200" algn="l"/>
                <a:tab pos="914400" algn="l"/>
              </a:tabLst>
            </a:pPr>
            <a:r>
              <a:rPr lang="en-US" altLang="zh-CN" sz="1200" dirty="0">
                <a:latin typeface="仿宋" panose="02010609060101010101" pitchFamily="49" charset="-122"/>
                <a:ea typeface="仿宋" panose="02010609060101010101" pitchFamily="49" charset="-122"/>
              </a:rPr>
              <a:t>2021</a:t>
            </a:r>
            <a:r>
              <a:rPr lang="zh-CN" altLang="zh-CN" sz="1200" dirty="0">
                <a:latin typeface="仿宋" panose="02010609060101010101" pitchFamily="49" charset="-122"/>
                <a:ea typeface="仿宋" panose="02010609060101010101" pitchFamily="49" charset="-122"/>
              </a:rPr>
              <a:t>年</a:t>
            </a:r>
            <a:r>
              <a:rPr lang="en-US" altLang="zh-CN" sz="1200" dirty="0">
                <a:latin typeface="仿宋" panose="02010609060101010101" pitchFamily="49" charset="-122"/>
                <a:ea typeface="仿宋" panose="02010609060101010101" pitchFamily="49" charset="-122"/>
              </a:rPr>
              <a:t>3</a:t>
            </a:r>
            <a:r>
              <a:rPr lang="zh-CN" altLang="en-US" sz="1200" dirty="0">
                <a:latin typeface="仿宋" panose="02010609060101010101" pitchFamily="49" charset="-122"/>
                <a:ea typeface="仿宋" panose="02010609060101010101" pitchFamily="49" charset="-122"/>
              </a:rPr>
              <a:t>月</a:t>
            </a:r>
            <a:r>
              <a:rPr lang="zh-CN" altLang="zh-CN" sz="1200" dirty="0">
                <a:latin typeface="仿宋" panose="02010609060101010101" pitchFamily="49" charset="-122"/>
                <a:ea typeface="仿宋" panose="02010609060101010101" pitchFamily="49" charset="-122"/>
              </a:rPr>
              <a:t>，公司荣获</a:t>
            </a:r>
            <a:r>
              <a:rPr lang="zh-CN" altLang="zh-CN" sz="1200" b="1" dirty="0">
                <a:latin typeface="仿宋" panose="02010609060101010101" pitchFamily="49" charset="-122"/>
                <a:ea typeface="仿宋" panose="02010609060101010101" pitchFamily="49" charset="-122"/>
              </a:rPr>
              <a:t>“年度中国潜力</a:t>
            </a:r>
            <a:r>
              <a:rPr lang="en-US" altLang="zh-CN" sz="1200" b="1" dirty="0">
                <a:latin typeface="仿宋" panose="02010609060101010101" pitchFamily="49" charset="-122"/>
                <a:ea typeface="仿宋" panose="02010609060101010101" pitchFamily="49" charset="-122"/>
              </a:rPr>
              <a:t>IC</a:t>
            </a:r>
            <a:r>
              <a:rPr lang="zh-CN" altLang="zh-CN" sz="1200" b="1" dirty="0">
                <a:latin typeface="仿宋" panose="02010609060101010101" pitchFamily="49" charset="-122"/>
                <a:ea typeface="仿宋" panose="02010609060101010101" pitchFamily="49" charset="-122"/>
              </a:rPr>
              <a:t>设计公司”中国</a:t>
            </a:r>
            <a:r>
              <a:rPr lang="en-US" altLang="zh-CN" sz="1200" b="1" dirty="0">
                <a:latin typeface="仿宋" panose="02010609060101010101" pitchFamily="49" charset="-122"/>
                <a:ea typeface="仿宋" panose="02010609060101010101" pitchFamily="49" charset="-122"/>
              </a:rPr>
              <a:t>IC</a:t>
            </a:r>
            <a:r>
              <a:rPr lang="zh-CN" altLang="zh-CN" sz="1200" b="1" dirty="0">
                <a:latin typeface="仿宋" panose="02010609060101010101" pitchFamily="49" charset="-122"/>
                <a:ea typeface="仿宋" panose="02010609060101010101" pitchFamily="49" charset="-122"/>
              </a:rPr>
              <a:t>设计成就奖</a:t>
            </a:r>
            <a:r>
              <a:rPr lang="zh-CN" altLang="zh-CN" sz="1200" kern="100" dirty="0">
                <a:effectLst/>
                <a:ea typeface="仿宋" panose="02010609060101010101" pitchFamily="49" charset="-122"/>
                <a:cs typeface="Times New Roman" panose="02020603050405020304" pitchFamily="18" charset="0"/>
              </a:rPr>
              <a:t>。</a:t>
            </a:r>
            <a:endParaRPr lang="en-US" altLang="zh-CN" sz="1000" b="1" dirty="0">
              <a:latin typeface="仿宋" panose="02010609060101010101" pitchFamily="49" charset="-122"/>
              <a:ea typeface="仿宋" panose="02010609060101010101" pitchFamily="49" charset="-122"/>
            </a:endParaRPr>
          </a:p>
          <a:p>
            <a:pPr marL="0" indent="180000">
              <a:lnSpc>
                <a:spcPct val="150000"/>
              </a:lnSpc>
              <a:buSzPct val="70000"/>
              <a:buBlip>
                <a:blip r:embed="rId3"/>
              </a:buBlip>
            </a:pPr>
            <a:r>
              <a:rPr lang="zh-CN" altLang="en-US" sz="1000" b="1" dirty="0">
                <a:latin typeface="仿宋" panose="02010609060101010101" pitchFamily="49" charset="-122"/>
                <a:ea typeface="仿宋" panose="02010609060101010101" pitchFamily="49" charset="-122"/>
              </a:rPr>
              <a:t>专利情况</a:t>
            </a:r>
            <a:endParaRPr lang="en-US" altLang="zh-CN" sz="1000" b="1" dirty="0">
              <a:latin typeface="仿宋" panose="02010609060101010101" pitchFamily="49" charset="-122"/>
              <a:ea typeface="仿宋" panose="02010609060101010101" pitchFamily="49" charset="-122"/>
            </a:endParaRPr>
          </a:p>
          <a:p>
            <a:pPr marL="0" indent="270000">
              <a:lnSpc>
                <a:spcPct val="150000"/>
              </a:lnSpc>
              <a:spcBef>
                <a:spcPts val="0"/>
              </a:spcBef>
              <a:buSzPct val="70000"/>
              <a:buNone/>
              <a:tabLst>
                <a:tab pos="457200" algn="l"/>
                <a:tab pos="914400" algn="l"/>
              </a:tabLst>
            </a:pPr>
            <a:r>
              <a:rPr lang="zh-CN" altLang="zh-CN" sz="1200" dirty="0">
                <a:latin typeface="仿宋" panose="02010609060101010101" pitchFamily="49" charset="-122"/>
                <a:ea typeface="仿宋" panose="02010609060101010101" pitchFamily="49" charset="-122"/>
              </a:rPr>
              <a:t>拥有</a:t>
            </a:r>
            <a:r>
              <a:rPr lang="en-US" altLang="zh-CN" sz="1200" dirty="0">
                <a:latin typeface="仿宋" panose="02010609060101010101" pitchFamily="49" charset="-122"/>
                <a:ea typeface="仿宋" panose="02010609060101010101" pitchFamily="49" charset="-122"/>
              </a:rPr>
              <a:t>14</a:t>
            </a:r>
            <a:r>
              <a:rPr lang="zh-CN" altLang="zh-CN" sz="1200" dirty="0">
                <a:latin typeface="仿宋" panose="02010609060101010101" pitchFamily="49" charset="-122"/>
                <a:ea typeface="仿宋" panose="02010609060101010101" pitchFamily="49" charset="-122"/>
              </a:rPr>
              <a:t>项专利，包括</a:t>
            </a:r>
            <a:r>
              <a:rPr lang="en-US" altLang="zh-CN" sz="1200" dirty="0">
                <a:latin typeface="仿宋" panose="02010609060101010101" pitchFamily="49" charset="-122"/>
                <a:ea typeface="仿宋" panose="02010609060101010101" pitchFamily="49" charset="-122"/>
              </a:rPr>
              <a:t>11</a:t>
            </a:r>
            <a:r>
              <a:rPr lang="zh-CN" altLang="zh-CN" sz="1200" dirty="0">
                <a:latin typeface="仿宋" panose="02010609060101010101" pitchFamily="49" charset="-122"/>
                <a:ea typeface="仿宋" panose="02010609060101010101" pitchFamily="49" charset="-122"/>
              </a:rPr>
              <a:t>项发明授权专利，</a:t>
            </a:r>
            <a:r>
              <a:rPr lang="en-US" altLang="zh-CN" sz="1200" dirty="0">
                <a:latin typeface="仿宋" panose="02010609060101010101" pitchFamily="49" charset="-122"/>
                <a:ea typeface="仿宋" panose="02010609060101010101" pitchFamily="49" charset="-122"/>
              </a:rPr>
              <a:t>3</a:t>
            </a:r>
            <a:r>
              <a:rPr lang="zh-CN" altLang="zh-CN" sz="1200" dirty="0">
                <a:latin typeface="仿宋" panose="02010609060101010101" pitchFamily="49" charset="-122"/>
                <a:ea typeface="仿宋" panose="02010609060101010101" pitchFamily="49" charset="-122"/>
              </a:rPr>
              <a:t>项发明公布专利，其中</a:t>
            </a:r>
            <a:r>
              <a:rPr lang="en-US" altLang="zh-CN" sz="1200" dirty="0">
                <a:latin typeface="仿宋" panose="02010609060101010101" pitchFamily="49" charset="-122"/>
                <a:ea typeface="仿宋" panose="02010609060101010101" pitchFamily="49" charset="-122"/>
              </a:rPr>
              <a:t>10</a:t>
            </a:r>
            <a:r>
              <a:rPr lang="zh-CN" altLang="zh-CN" sz="1200" dirty="0">
                <a:latin typeface="仿宋" panose="02010609060101010101" pitchFamily="49" charset="-122"/>
                <a:ea typeface="仿宋" panose="02010609060101010101" pitchFamily="49" charset="-122"/>
              </a:rPr>
              <a:t>个专利属地在中国，</a:t>
            </a:r>
            <a:r>
              <a:rPr lang="en-US" altLang="zh-CN" sz="1200" dirty="0">
                <a:latin typeface="仿宋" panose="02010609060101010101" pitchFamily="49" charset="-122"/>
                <a:ea typeface="仿宋" panose="02010609060101010101" pitchFamily="49" charset="-122"/>
              </a:rPr>
              <a:t>4</a:t>
            </a:r>
            <a:r>
              <a:rPr lang="zh-CN" altLang="zh-CN" sz="1200" dirty="0">
                <a:latin typeface="仿宋" panose="02010609060101010101" pitchFamily="49" charset="-122"/>
                <a:ea typeface="仿宋" panose="02010609060101010101" pitchFamily="49" charset="-122"/>
              </a:rPr>
              <a:t>个专利属地在美国。 </a:t>
            </a:r>
            <a:endParaRPr lang="en-US" altLang="zh-CN" sz="1200" dirty="0">
              <a:latin typeface="仿宋" panose="02010609060101010101" pitchFamily="49" charset="-122"/>
              <a:ea typeface="仿宋" panose="02010609060101010101" pitchFamily="49" charset="-122"/>
            </a:endParaRPr>
          </a:p>
          <a:p>
            <a:pPr marL="0" indent="180000">
              <a:lnSpc>
                <a:spcPct val="150000"/>
              </a:lnSpc>
              <a:buSzPct val="70000"/>
              <a:buBlip>
                <a:blip r:embed="rId3"/>
              </a:buBlip>
              <a:tabLst>
                <a:tab pos="457200" algn="l"/>
                <a:tab pos="914400" algn="l"/>
              </a:tabLst>
            </a:pPr>
            <a:r>
              <a:rPr lang="zh-CN" altLang="en-US" sz="1000" b="1" dirty="0">
                <a:latin typeface="仿宋" panose="02010609060101010101" pitchFamily="49" charset="-122"/>
                <a:ea typeface="仿宋" panose="02010609060101010101" pitchFamily="49" charset="-122"/>
              </a:rPr>
              <a:t>核心技术</a:t>
            </a:r>
            <a:endParaRPr lang="en-US" altLang="zh-CN" sz="1000" b="1" dirty="0">
              <a:latin typeface="仿宋" panose="02010609060101010101" pitchFamily="49" charset="-122"/>
              <a:ea typeface="仿宋" panose="02010609060101010101" pitchFamily="49" charset="-122"/>
            </a:endParaRPr>
          </a:p>
          <a:p>
            <a:pPr marL="0" indent="270000">
              <a:lnSpc>
                <a:spcPct val="150000"/>
              </a:lnSpc>
              <a:spcBef>
                <a:spcPts val="0"/>
              </a:spcBef>
              <a:buSzPct val="70000"/>
              <a:buNone/>
              <a:tabLst>
                <a:tab pos="457200" algn="l"/>
                <a:tab pos="914400" algn="l"/>
              </a:tabLst>
            </a:pPr>
            <a:r>
              <a:rPr lang="zh-CN" altLang="zh-CN" sz="1200" dirty="0">
                <a:latin typeface="仿宋" panose="02010609060101010101" pitchFamily="49" charset="-122"/>
                <a:ea typeface="仿宋" panose="02010609060101010101" pitchFamily="49" charset="-122"/>
              </a:rPr>
              <a:t>高电流技术、高效率降压变换、高精度电流控制等核心技术</a:t>
            </a:r>
            <a:r>
              <a:rPr lang="zh-CN" altLang="en-US" sz="1200" dirty="0">
                <a:latin typeface="仿宋" panose="02010609060101010101" pitchFamily="49" charset="-122"/>
                <a:ea typeface="仿宋" panose="02010609060101010101" pitchFamily="49" charset="-122"/>
              </a:rPr>
              <a:t>；</a:t>
            </a:r>
            <a:endParaRPr lang="en-US" altLang="zh-CN" sz="1200" dirty="0">
              <a:latin typeface="仿宋" panose="02010609060101010101" pitchFamily="49" charset="-122"/>
              <a:ea typeface="仿宋" panose="02010609060101010101" pitchFamily="49" charset="-122"/>
            </a:endParaRPr>
          </a:p>
          <a:p>
            <a:pPr marL="0" indent="270000">
              <a:lnSpc>
                <a:spcPct val="150000"/>
              </a:lnSpc>
              <a:spcBef>
                <a:spcPts val="0"/>
              </a:spcBef>
              <a:buSzPct val="70000"/>
              <a:buNone/>
              <a:tabLst>
                <a:tab pos="457200" algn="l"/>
                <a:tab pos="914400" algn="l"/>
              </a:tabLst>
            </a:pPr>
            <a:r>
              <a:rPr lang="en-US" altLang="zh-CN" sz="1400" b="1" u="sng" dirty="0">
                <a:latin typeface="仿宋" panose="02010609060101010101" pitchFamily="49" charset="-122"/>
                <a:ea typeface="仿宋" panose="02010609060101010101" pitchFamily="49" charset="-122"/>
              </a:rPr>
              <a:t>98%</a:t>
            </a:r>
            <a:r>
              <a:rPr lang="zh-CN" altLang="zh-CN" sz="1400" b="1" u="sng" dirty="0">
                <a:latin typeface="仿宋" panose="02010609060101010101" pitchFamily="49" charset="-122"/>
                <a:ea typeface="仿宋" panose="02010609060101010101" pitchFamily="49" charset="-122"/>
              </a:rPr>
              <a:t>极高</a:t>
            </a:r>
            <a:r>
              <a:rPr lang="zh-CN" altLang="zh-CN" sz="1200" b="1" u="sng" dirty="0">
                <a:latin typeface="仿宋" panose="02010609060101010101" pitchFamily="49" charset="-122"/>
                <a:ea typeface="仿宋" panose="02010609060101010101" pitchFamily="49" charset="-122"/>
              </a:rPr>
              <a:t>的转换效率</a:t>
            </a:r>
            <a:r>
              <a:rPr lang="zh-CN" altLang="en-US" sz="1200" dirty="0">
                <a:latin typeface="仿宋" panose="02010609060101010101" pitchFamily="49" charset="-122"/>
                <a:ea typeface="仿宋" panose="02010609060101010101" pitchFamily="49" charset="-122"/>
              </a:rPr>
              <a:t>的</a:t>
            </a:r>
            <a:r>
              <a:rPr lang="zh-CN" altLang="zh-CN" sz="1200" dirty="0">
                <a:latin typeface="仿宋" panose="02010609060101010101" pitchFamily="49" charset="-122"/>
                <a:ea typeface="仿宋" panose="02010609060101010101" pitchFamily="49" charset="-122"/>
              </a:rPr>
              <a:t>切换型架构</a:t>
            </a:r>
            <a:r>
              <a:rPr lang="en-US" altLang="zh-CN" sz="1200" dirty="0">
                <a:latin typeface="仿宋" panose="02010609060101010101" pitchFamily="49" charset="-122"/>
                <a:ea typeface="仿宋" panose="02010609060101010101" pitchFamily="49" charset="-122"/>
              </a:rPr>
              <a:t>Charge Pump</a:t>
            </a:r>
            <a:r>
              <a:rPr lang="zh-CN" altLang="zh-CN" sz="1200" dirty="0">
                <a:latin typeface="仿宋" panose="02010609060101010101" pitchFamily="49" charset="-122"/>
                <a:ea typeface="仿宋" panose="02010609060101010101" pitchFamily="49" charset="-122"/>
              </a:rPr>
              <a:t>芯片</a:t>
            </a:r>
            <a:r>
              <a:rPr lang="zh-CN" altLang="en-US" sz="1200" dirty="0">
                <a:latin typeface="仿宋" panose="02010609060101010101" pitchFamily="49" charset="-122"/>
                <a:ea typeface="仿宋" panose="02010609060101010101" pitchFamily="49" charset="-122"/>
              </a:rPr>
              <a:t>技术；</a:t>
            </a:r>
            <a:endParaRPr lang="en-US" altLang="zh-CN" sz="1200" dirty="0">
              <a:latin typeface="仿宋" panose="02010609060101010101" pitchFamily="49" charset="-122"/>
              <a:ea typeface="仿宋" panose="02010609060101010101" pitchFamily="49" charset="-122"/>
            </a:endParaRPr>
          </a:p>
          <a:p>
            <a:pPr marL="0" indent="270000">
              <a:lnSpc>
                <a:spcPct val="150000"/>
              </a:lnSpc>
              <a:spcBef>
                <a:spcPts val="0"/>
              </a:spcBef>
              <a:buSzPct val="70000"/>
              <a:buNone/>
              <a:tabLst>
                <a:tab pos="457200" algn="l"/>
                <a:tab pos="914400" algn="l"/>
              </a:tabLst>
            </a:pPr>
            <a:r>
              <a:rPr lang="zh-CN" altLang="zh-CN" sz="1200" dirty="0">
                <a:latin typeface="仿宋" panose="02010609060101010101" pitchFamily="49" charset="-122"/>
                <a:ea typeface="仿宋" panose="02010609060101010101" pitchFamily="49" charset="-122"/>
              </a:rPr>
              <a:t>具有高精度控制的预充电、恒流充电、恒压充电以及涓流充电</a:t>
            </a:r>
            <a:r>
              <a:rPr lang="zh-CN" altLang="en-US" sz="1200" dirty="0">
                <a:latin typeface="仿宋" panose="02010609060101010101" pitchFamily="49" charset="-122"/>
                <a:ea typeface="仿宋" panose="02010609060101010101" pitchFamily="49" charset="-122"/>
              </a:rPr>
              <a:t>技术。</a:t>
            </a:r>
            <a:endParaRPr lang="en-US" altLang="zh-CN" sz="1200" dirty="0">
              <a:latin typeface="仿宋" panose="02010609060101010101" pitchFamily="49" charset="-122"/>
              <a:ea typeface="仿宋" panose="02010609060101010101" pitchFamily="49" charset="-122"/>
            </a:endParaRPr>
          </a:p>
          <a:p>
            <a:pPr marL="0" indent="270000">
              <a:lnSpc>
                <a:spcPct val="150000"/>
              </a:lnSpc>
              <a:spcBef>
                <a:spcPts val="0"/>
              </a:spcBef>
              <a:buSzPct val="70000"/>
              <a:buNone/>
              <a:tabLst>
                <a:tab pos="457200" algn="l"/>
                <a:tab pos="914400" algn="l"/>
              </a:tabLst>
            </a:pPr>
            <a:endParaRPr lang="en-US" altLang="zh-CN" sz="1200" dirty="0">
              <a:latin typeface="仿宋" panose="02010609060101010101" pitchFamily="49" charset="-122"/>
              <a:ea typeface="仿宋" panose="02010609060101010101" pitchFamily="49" charset="-122"/>
            </a:endParaRPr>
          </a:p>
        </p:txBody>
      </p:sp>
      <p:pic>
        <p:nvPicPr>
          <p:cNvPr id="4" name="图片 3">
            <a:extLst>
              <a:ext uri="{FF2B5EF4-FFF2-40B4-BE49-F238E27FC236}">
                <a16:creationId xmlns:a16="http://schemas.microsoft.com/office/drawing/2014/main" id="{0E8626E4-2F84-4A6A-A72E-EB3A69EF634D}"/>
              </a:ext>
            </a:extLst>
          </p:cNvPr>
          <p:cNvPicPr>
            <a:picLocks noChangeAspect="1"/>
          </p:cNvPicPr>
          <p:nvPr/>
        </p:nvPicPr>
        <p:blipFill>
          <a:blip r:embed="rId4"/>
          <a:stretch>
            <a:fillRect/>
          </a:stretch>
        </p:blipFill>
        <p:spPr>
          <a:xfrm>
            <a:off x="1043755" y="2759642"/>
            <a:ext cx="3050224" cy="2116268"/>
          </a:xfrm>
          <a:prstGeom prst="rect">
            <a:avLst/>
          </a:prstGeom>
        </p:spPr>
      </p:pic>
      <p:sp>
        <p:nvSpPr>
          <p:cNvPr id="8" name="文本框 7">
            <a:extLst>
              <a:ext uri="{FF2B5EF4-FFF2-40B4-BE49-F238E27FC236}">
                <a16:creationId xmlns:a16="http://schemas.microsoft.com/office/drawing/2014/main" id="{1B10F2AC-6A78-4C26-B453-EF76BF6B1D07}"/>
              </a:ext>
            </a:extLst>
          </p:cNvPr>
          <p:cNvSpPr txBox="1"/>
          <p:nvPr/>
        </p:nvSpPr>
        <p:spPr>
          <a:xfrm>
            <a:off x="323705" y="4804946"/>
            <a:ext cx="4572000" cy="338554"/>
          </a:xfrm>
          <a:prstGeom prst="rect">
            <a:avLst/>
          </a:prstGeom>
          <a:noFill/>
        </p:spPr>
        <p:txBody>
          <a:bodyPr wrap="square">
            <a:spAutoFit/>
          </a:bodyPr>
          <a:lstStyle/>
          <a:p>
            <a:pPr algn="ctr"/>
            <a:r>
              <a:rPr lang="en-US" altLang="zh-CN" sz="1600" dirty="0">
                <a:latin typeface="仿宋" panose="02010609060101010101" pitchFamily="49" charset="-122"/>
                <a:ea typeface="仿宋" panose="02010609060101010101" pitchFamily="49" charset="-122"/>
              </a:rPr>
              <a:t>Charge Pump</a:t>
            </a:r>
            <a:r>
              <a:rPr lang="en-US" altLang="zh-CN" sz="1600" b="0" i="0" u="none" strike="noStrike" baseline="0" dirty="0">
                <a:latin typeface="仿宋" panose="02010609060101010101" pitchFamily="49" charset="-122"/>
                <a:ea typeface="仿宋" panose="02010609060101010101" pitchFamily="49" charset="-122"/>
              </a:rPr>
              <a:t>(</a:t>
            </a:r>
            <a:r>
              <a:rPr lang="zh-CN" altLang="en-US" sz="1600" b="0" i="0" u="none" strike="noStrike" baseline="0" dirty="0">
                <a:latin typeface="仿宋" panose="02010609060101010101" pitchFamily="49" charset="-122"/>
                <a:ea typeface="仿宋" panose="02010609060101010101" pitchFamily="49" charset="-122"/>
              </a:rPr>
              <a:t>电荷泵</a:t>
            </a:r>
            <a:r>
              <a:rPr lang="en-US" altLang="zh-CN" sz="1600" b="0" i="0" u="none" strike="noStrike" baseline="0" dirty="0">
                <a:latin typeface="仿宋" panose="02010609060101010101" pitchFamily="49" charset="-122"/>
                <a:ea typeface="仿宋" panose="02010609060101010101" pitchFamily="49" charset="-122"/>
              </a:rPr>
              <a:t>)</a:t>
            </a:r>
            <a:r>
              <a:rPr lang="zh-CN" altLang="en-US" sz="1600" b="0" i="0" u="none" strike="noStrike" baseline="0" dirty="0">
                <a:latin typeface="仿宋" panose="02010609060101010101" pitchFamily="49" charset="-122"/>
                <a:ea typeface="仿宋" panose="02010609060101010101" pitchFamily="49" charset="-122"/>
              </a:rPr>
              <a:t>真实线路图</a:t>
            </a:r>
            <a:endParaRPr lang="zh-CN" altLang="en-US" sz="1600" dirty="0">
              <a:latin typeface="仿宋" panose="02010609060101010101" pitchFamily="49" charset="-122"/>
              <a:ea typeface="仿宋" panose="02010609060101010101" pitchFamily="49" charset="-122"/>
            </a:endParaRPr>
          </a:p>
        </p:txBody>
      </p:sp>
      <p:grpSp>
        <p:nvGrpSpPr>
          <p:cNvPr id="11" name="组合 10">
            <a:extLst>
              <a:ext uri="{FF2B5EF4-FFF2-40B4-BE49-F238E27FC236}">
                <a16:creationId xmlns:a16="http://schemas.microsoft.com/office/drawing/2014/main" id="{A1E7D638-AF60-4716-BE8B-CEF61DBD319B}"/>
              </a:ext>
            </a:extLst>
          </p:cNvPr>
          <p:cNvGrpSpPr/>
          <p:nvPr/>
        </p:nvGrpSpPr>
        <p:grpSpPr>
          <a:xfrm>
            <a:off x="4968430" y="3408040"/>
            <a:ext cx="971665" cy="675816"/>
            <a:chOff x="4464395" y="3408039"/>
            <a:chExt cx="1224085" cy="945387"/>
          </a:xfrm>
        </p:grpSpPr>
        <p:pic>
          <p:nvPicPr>
            <p:cNvPr id="9" name="图片 8">
              <a:extLst>
                <a:ext uri="{FF2B5EF4-FFF2-40B4-BE49-F238E27FC236}">
                  <a16:creationId xmlns:a16="http://schemas.microsoft.com/office/drawing/2014/main" id="{BFE6F92E-50A2-4C66-8926-67C5C7E0212A}"/>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156" b="95376" l="1786" r="95536">
                          <a14:foregroundMark x1="4911" y1="5202" x2="84375" y2="9249"/>
                          <a14:foregroundMark x1="84375" y1="9249" x2="91964" y2="43353"/>
                          <a14:foregroundMark x1="91964" y1="43353" x2="88393" y2="79191"/>
                          <a14:foregroundMark x1="88393" y1="79191" x2="59821" y2="90751"/>
                          <a14:foregroundMark x1="59821" y1="90751" x2="27679" y2="86705"/>
                          <a14:foregroundMark x1="27679" y1="86705" x2="12054" y2="31214"/>
                          <a14:foregroundMark x1="12054" y1="31214" x2="60268" y2="19075"/>
                          <a14:foregroundMark x1="60268" y1="19075" x2="78571" y2="63584"/>
                          <a14:foregroundMark x1="78571" y1="63584" x2="58929" y2="78035"/>
                          <a14:foregroundMark x1="58929" y1="78035" x2="26786" y2="67630"/>
                          <a14:foregroundMark x1="26786" y1="67630" x2="25000" y2="23699"/>
                          <a14:foregroundMark x1="25000" y1="23699" x2="53571" y2="17919"/>
                          <a14:foregroundMark x1="53571" y1="17919" x2="87054" y2="22543"/>
                          <a14:foregroundMark x1="87054" y1="22543" x2="84821" y2="74566"/>
                          <a14:foregroundMark x1="84821" y1="74566" x2="58482" y2="34104"/>
                          <a14:foregroundMark x1="58482" y1="34104" x2="27232" y2="61272"/>
                          <a14:foregroundMark x1="27232" y1="61272" x2="48661" y2="36994"/>
                          <a14:foregroundMark x1="48661" y1="36994" x2="19643" y2="42197"/>
                          <a14:foregroundMark x1="19643" y1="42197" x2="7143" y2="11561"/>
                          <a14:foregroundMark x1="6396" y1="76301" x2="6250" y2="89017"/>
                          <a14:foregroundMark x1="6443" y1="72254" x2="6396" y2="76301"/>
                          <a14:foregroundMark x1="7143" y1="11561" x2="6443" y2="72254"/>
                          <a14:foregroundMark x1="6250" y1="89017" x2="81250" y2="91329"/>
                          <a14:foregroundMark x1="81250" y1="91329" x2="93304" y2="66474"/>
                          <a14:foregroundMark x1="93304" y1="66474" x2="88393" y2="27746"/>
                          <a14:foregroundMark x1="88393" y1="27746" x2="31696" y2="31792"/>
                          <a14:foregroundMark x1="31696" y1="31792" x2="61161" y2="51445"/>
                          <a14:foregroundMark x1="61161" y1="51445" x2="37054" y2="69364"/>
                          <a14:foregroundMark x1="37054" y1="69364" x2="59821" y2="84971"/>
                          <a14:foregroundMark x1="59821" y1="84971" x2="84375" y2="65896"/>
                          <a14:foregroundMark x1="84375" y1="65896" x2="83036" y2="23699"/>
                          <a14:foregroundMark x1="83036" y1="23699" x2="55357" y2="9827"/>
                          <a14:foregroundMark x1="55357" y1="9827" x2="28571" y2="12717"/>
                          <a14:foregroundMark x1="28571" y1="12717" x2="16964" y2="38728"/>
                          <a14:foregroundMark x1="3571" y1="10405" x2="3571" y2="10405"/>
                          <a14:foregroundMark x1="91964" y1="12139" x2="91964" y2="12139"/>
                          <a14:foregroundMark x1="93304" y1="6358" x2="93304" y2="6358"/>
                          <a14:foregroundMark x1="87500" y1="5780" x2="87500" y2="5780"/>
                          <a14:foregroundMark x1="95089" y1="39306" x2="95089" y2="39306"/>
                          <a14:foregroundMark x1="92857" y1="89017" x2="92857" y2="89017"/>
                          <a14:foregroundMark x1="92857" y1="93064" x2="92857" y2="93064"/>
                          <a14:foregroundMark x1="90179" y1="92486" x2="90179" y2="92486"/>
                          <a14:foregroundMark x1="87500" y1="90173" x2="87500" y2="90173"/>
                          <a14:foregroundMark x1="93304" y1="82659" x2="93750" y2="80347"/>
                          <a14:foregroundMark x1="94643" y1="75723" x2="94643" y2="75723"/>
                          <a14:foregroundMark x1="84375" y1="94798" x2="83482" y2="94798"/>
                          <a14:foregroundMark x1="5357" y1="93642" x2="5357" y2="93642"/>
                          <a14:foregroundMark x1="3125" y1="5202" x2="3125" y2="5202"/>
                          <a14:foregroundMark x1="3125" y1="30058" x2="3125" y2="30058"/>
                          <a14:foregroundMark x1="3571" y1="35838" x2="3571" y2="35838"/>
                          <a14:foregroundMark x1="3125" y1="41040" x2="3125" y2="41040"/>
                          <a14:foregroundMark x1="2679" y1="43931" x2="2679" y2="43931"/>
                          <a14:foregroundMark x1="3125" y1="49711" x2="3125" y2="49711"/>
                          <a14:foregroundMark x1="2679" y1="44509" x2="2679" y2="43353"/>
                          <a14:foregroundMark x1="2679" y1="39306" x2="2679" y2="39306"/>
                          <a14:foregroundMark x1="2679" y1="37572" x2="2679" y2="37572"/>
                          <a14:foregroundMark x1="2232" y1="41618" x2="2232" y2="41618"/>
                          <a14:foregroundMark x1="94196" y1="17919" x2="94196" y2="17919"/>
                          <a14:foregroundMark x1="94643" y1="6358" x2="94643" y2="6358"/>
                          <a14:foregroundMark x1="95089" y1="16763" x2="95089" y2="16763"/>
                          <a14:foregroundMark x1="95536" y1="19075" x2="95536" y2="19075"/>
                          <a14:foregroundMark x1="85714" y1="5780" x2="85714" y2="5780"/>
                          <a14:foregroundMark x1="83482" y1="4624" x2="83482" y2="4624"/>
                          <a14:foregroundMark x1="70982" y1="4624" x2="70982" y2="4624"/>
                          <a14:foregroundMark x1="95089" y1="92486" x2="95089" y2="92486"/>
                          <a14:foregroundMark x1="95536" y1="79191" x2="95536" y2="79191"/>
                          <a14:foregroundMark x1="95089" y1="61272" x2="95089" y2="61272"/>
                          <a14:foregroundMark x1="87946" y1="95376" x2="87946" y2="95376"/>
                          <a14:backgroundMark x1="0" y1="72254" x2="0" y2="72254"/>
                          <a14:backgroundMark x1="446" y1="76301" x2="446" y2="76301"/>
                        </a14:backgroundRemoval>
                      </a14:imgEffect>
                    </a14:imgLayer>
                  </a14:imgProps>
                </a:ext>
              </a:extLst>
            </a:blip>
            <a:stretch>
              <a:fillRect/>
            </a:stretch>
          </p:blipFill>
          <p:spPr>
            <a:xfrm>
              <a:off x="4464395" y="3408039"/>
              <a:ext cx="1224085" cy="945387"/>
            </a:xfrm>
            <a:prstGeom prst="rect">
              <a:avLst/>
            </a:prstGeom>
          </p:spPr>
        </p:pic>
        <p:sp>
          <p:nvSpPr>
            <p:cNvPr id="10" name="矩形 9">
              <a:extLst>
                <a:ext uri="{FF2B5EF4-FFF2-40B4-BE49-F238E27FC236}">
                  <a16:creationId xmlns:a16="http://schemas.microsoft.com/office/drawing/2014/main" id="{321D8507-C016-49F3-8417-DEF56C0542EF}"/>
                </a:ext>
              </a:extLst>
            </p:cNvPr>
            <p:cNvSpPr/>
            <p:nvPr/>
          </p:nvSpPr>
          <p:spPr bwMode="auto">
            <a:xfrm>
              <a:off x="4499995" y="3435809"/>
              <a:ext cx="1152080" cy="889777"/>
            </a:xfrm>
            <a:prstGeom prst="rect">
              <a:avLst/>
            </a:prstGeom>
            <a:noFill/>
            <a:ln w="38100"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w="57150">
                  <a:solidFill>
                    <a:schemeClr val="tx1"/>
                  </a:solidFill>
                </a:ln>
                <a:solidFill>
                  <a:schemeClr val="tx1"/>
                </a:solidFill>
                <a:effectLst/>
                <a:latin typeface="Arial" panose="020B0604020202020204" pitchFamily="34" charset="0"/>
                <a:ea typeface="宋体" panose="02010600030101010101" pitchFamily="2" charset="-122"/>
              </a:endParaRPr>
            </a:p>
          </p:txBody>
        </p:sp>
      </p:grpSp>
      <p:pic>
        <p:nvPicPr>
          <p:cNvPr id="13" name="图片 12">
            <a:extLst>
              <a:ext uri="{FF2B5EF4-FFF2-40B4-BE49-F238E27FC236}">
                <a16:creationId xmlns:a16="http://schemas.microsoft.com/office/drawing/2014/main" id="{FA7DE321-0F5B-419D-B246-BE15B498EE27}"/>
              </a:ext>
            </a:extLst>
          </p:cNvPr>
          <p:cNvPicPr>
            <a:picLocks noChangeAspect="1"/>
          </p:cNvPicPr>
          <p:nvPr/>
        </p:nvPicPr>
        <p:blipFill>
          <a:blip r:embed="rId7"/>
          <a:stretch>
            <a:fillRect/>
          </a:stretch>
        </p:blipFill>
        <p:spPr>
          <a:xfrm>
            <a:off x="7149684" y="1563680"/>
            <a:ext cx="1080075" cy="3382878"/>
          </a:xfrm>
          <a:prstGeom prst="rect">
            <a:avLst/>
          </a:prstGeom>
        </p:spPr>
      </p:pic>
    </p:spTree>
    <p:extLst>
      <p:ext uri="{BB962C8B-B14F-4D97-AF65-F5344CB8AC3E}">
        <p14:creationId xmlns:p14="http://schemas.microsoft.com/office/powerpoint/2010/main" val="3611016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4D9FFAA-3D1D-4AF6-A642-0C83D3E4178A}"/>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二、公司分析</a:t>
            </a:r>
            <a:r>
              <a:rPr lang="en-US" altLang="zh-CN" sz="2400" dirty="0">
                <a:solidFill>
                  <a:schemeClr val="bg1">
                    <a:lumMod val="50000"/>
                  </a:schemeClr>
                </a:solidFill>
              </a:rPr>
              <a:t>|</a:t>
            </a:r>
            <a:r>
              <a:rPr lang="zh-CN" altLang="en-US" sz="2000" dirty="0"/>
              <a:t>组织结构</a:t>
            </a:r>
            <a:r>
              <a:rPr lang="en-US" altLang="zh-CN" sz="1600" b="1" dirty="0"/>
              <a:t>|</a:t>
            </a:r>
            <a:r>
              <a:rPr lang="zh-CN" altLang="en-US" sz="1600" b="1" dirty="0"/>
              <a:t>高管团队</a:t>
            </a:r>
            <a:endParaRPr lang="en-US" altLang="zh-CN" sz="2400" b="1" dirty="0"/>
          </a:p>
        </p:txBody>
      </p:sp>
      <p:sp>
        <p:nvSpPr>
          <p:cNvPr id="6" name="Rectangle 3">
            <a:extLst>
              <a:ext uri="{FF2B5EF4-FFF2-40B4-BE49-F238E27FC236}">
                <a16:creationId xmlns:a16="http://schemas.microsoft.com/office/drawing/2014/main" id="{C43A0259-48A0-455A-BEBA-F34E33C3CE9C}"/>
              </a:ext>
            </a:extLst>
          </p:cNvPr>
          <p:cNvSpPr txBox="1">
            <a:spLocks noChangeArrowheads="1"/>
          </p:cNvSpPr>
          <p:nvPr/>
        </p:nvSpPr>
        <p:spPr>
          <a:xfrm>
            <a:off x="499040" y="411601"/>
            <a:ext cx="8187759" cy="4207638"/>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indent="180000" algn="just">
              <a:lnSpc>
                <a:spcPct val="150000"/>
              </a:lnSpc>
              <a:spcBef>
                <a:spcPts val="0"/>
              </a:spcBef>
              <a:buSzPct val="70000"/>
              <a:buBlip>
                <a:blip r:embed="rId3"/>
              </a:buBlip>
              <a:tabLst>
                <a:tab pos="914400" algn="l"/>
              </a:tabLst>
            </a:pPr>
            <a:r>
              <a:rPr lang="zh-CN" altLang="en-US" sz="1100" b="1" dirty="0">
                <a:solidFill>
                  <a:srgbClr val="C00000"/>
                </a:solidFill>
                <a:latin typeface="仿宋" panose="02010609060101010101" pitchFamily="49" charset="-122"/>
                <a:ea typeface="仿宋" panose="02010609060101010101" pitchFamily="49" charset="-122"/>
              </a:rPr>
              <a:t>张立业，董事长</a:t>
            </a:r>
            <a:r>
              <a:rPr lang="zh-CN" altLang="en-US" sz="1100" kern="100" dirty="0">
                <a:latin typeface="仿宋" panose="02010609060101010101" pitchFamily="49" charset="-122"/>
                <a:ea typeface="仿宋" panose="02010609060101010101" pitchFamily="49" charset="-122"/>
              </a:rPr>
              <a:t>，</a:t>
            </a:r>
            <a:r>
              <a:rPr lang="zh-CN" altLang="zh-CN" sz="1100" kern="100" dirty="0">
                <a:effectLst/>
                <a:latin typeface="仿宋" panose="02010609060101010101" pitchFamily="49" charset="-122"/>
                <a:ea typeface="仿宋" panose="02010609060101010101" pitchFamily="49" charset="-122"/>
                <a:cs typeface="Times New Roman" panose="02020603050405020304" pitchFamily="18" charset="0"/>
              </a:rPr>
              <a:t>毕业于</a:t>
            </a:r>
            <a:r>
              <a:rPr lang="zh-CN" altLang="zh-CN" sz="1100" b="1" kern="100" dirty="0">
                <a:effectLst/>
                <a:latin typeface="仿宋" panose="02010609060101010101" pitchFamily="49" charset="-122"/>
                <a:ea typeface="仿宋" panose="02010609060101010101" pitchFamily="49" charset="-122"/>
                <a:cs typeface="Times New Roman" panose="02020603050405020304" pitchFamily="18" charset="0"/>
              </a:rPr>
              <a:t>台湾大学法律系</a:t>
            </a:r>
            <a:r>
              <a:rPr lang="zh-CN" altLang="zh-CN" sz="1100" kern="100" dirty="0">
                <a:effectLst/>
                <a:latin typeface="仿宋" panose="02010609060101010101" pitchFamily="49" charset="-122"/>
                <a:ea typeface="仿宋" panose="02010609060101010101" pitchFamily="49" charset="-122"/>
                <a:cs typeface="Times New Roman" panose="02020603050405020304" pitchFamily="18" charset="0"/>
              </a:rPr>
              <a:t>，</a:t>
            </a:r>
            <a:r>
              <a:rPr lang="en-US" altLang="zh-CN" sz="1100" kern="100" dirty="0">
                <a:effectLst/>
                <a:latin typeface="仿宋" panose="02010609060101010101" pitchFamily="49" charset="-122"/>
                <a:ea typeface="仿宋" panose="02010609060101010101" pitchFamily="49" charset="-122"/>
                <a:cs typeface="Times New Roman" panose="02020603050405020304" pitchFamily="18" charset="0"/>
              </a:rPr>
              <a:t>1988</a:t>
            </a:r>
            <a:r>
              <a:rPr lang="zh-CN" altLang="zh-CN" sz="1100" kern="100" dirty="0">
                <a:effectLst/>
                <a:latin typeface="仿宋" panose="02010609060101010101" pitchFamily="49" charset="-122"/>
                <a:ea typeface="仿宋" panose="02010609060101010101" pitchFamily="49" charset="-122"/>
                <a:cs typeface="Times New Roman" panose="02020603050405020304" pitchFamily="18" charset="0"/>
              </a:rPr>
              <a:t>年至今担任台湾地区执业律师，熟悉知识产权方面的法律，为多家微电子、生物科技企业提供法律顾问及诉讼服务，并</a:t>
            </a:r>
            <a:r>
              <a:rPr lang="zh-CN" altLang="zh-CN" sz="1100" b="1" kern="100" dirty="0">
                <a:effectLst/>
                <a:latin typeface="仿宋" panose="02010609060101010101" pitchFamily="49" charset="-122"/>
                <a:ea typeface="仿宋" panose="02010609060101010101" pitchFamily="49" charset="-122"/>
                <a:cs typeface="Times New Roman" panose="02020603050405020304" pitchFamily="18" charset="0"/>
              </a:rPr>
              <a:t>曾担任是</a:t>
            </a:r>
            <a:r>
              <a:rPr lang="en-US" altLang="zh-CN" sz="1100" b="1" kern="100" dirty="0">
                <a:effectLst/>
                <a:latin typeface="仿宋" panose="02010609060101010101" pitchFamily="49" charset="-122"/>
                <a:ea typeface="仿宋" panose="02010609060101010101" pitchFamily="49" charset="-122"/>
                <a:cs typeface="Times New Roman" panose="02020603050405020304" pitchFamily="18" charset="0"/>
              </a:rPr>
              <a:t>O2Micro</a:t>
            </a:r>
            <a:r>
              <a:rPr lang="zh-CN" altLang="zh-CN" sz="1100" b="1" kern="100" dirty="0">
                <a:effectLst/>
                <a:latin typeface="仿宋" panose="02010609060101010101" pitchFamily="49" charset="-122"/>
                <a:ea typeface="仿宋" panose="02010609060101010101" pitchFamily="49" charset="-122"/>
                <a:cs typeface="Times New Roman" panose="02020603050405020304" pitchFamily="18" charset="0"/>
              </a:rPr>
              <a:t>凹凸科技的常年法律顾问</a:t>
            </a:r>
            <a:r>
              <a:rPr lang="zh-CN" altLang="zh-CN" sz="1100" kern="100" dirty="0">
                <a:effectLst/>
                <a:latin typeface="仿宋" panose="02010609060101010101" pitchFamily="49" charset="-122"/>
                <a:ea typeface="仿宋" panose="02010609060101010101" pitchFamily="49" charset="-122"/>
                <a:cs typeface="Times New Roman" panose="02020603050405020304" pitchFamily="18" charset="0"/>
              </a:rPr>
              <a:t>。</a:t>
            </a:r>
            <a:endParaRPr lang="en-US" altLang="zh-CN" sz="1100" kern="100" dirty="0">
              <a:latin typeface="仿宋" panose="02010609060101010101" pitchFamily="49" charset="-122"/>
              <a:ea typeface="仿宋" panose="02010609060101010101" pitchFamily="49" charset="-122"/>
            </a:endParaRPr>
          </a:p>
          <a:p>
            <a:pPr marL="0" indent="180000" algn="just">
              <a:lnSpc>
                <a:spcPct val="150000"/>
              </a:lnSpc>
              <a:spcBef>
                <a:spcPts val="0"/>
              </a:spcBef>
              <a:buSzPct val="70000"/>
              <a:buBlip>
                <a:blip r:embed="rId3"/>
              </a:buBlip>
              <a:tabLst>
                <a:tab pos="914400" algn="l"/>
              </a:tabLst>
            </a:pPr>
            <a:r>
              <a:rPr lang="zh-CN" altLang="en-US" sz="1100" b="1" dirty="0">
                <a:solidFill>
                  <a:srgbClr val="C00000"/>
                </a:solidFill>
                <a:latin typeface="仿宋" panose="02010609060101010101" pitchFamily="49" charset="-122"/>
                <a:ea typeface="仿宋" panose="02010609060101010101" pitchFamily="49" charset="-122"/>
              </a:rPr>
              <a:t>唐晓</a:t>
            </a:r>
            <a:r>
              <a:rPr lang="zh-CN" altLang="zh-CN" sz="1100" b="1" dirty="0">
                <a:solidFill>
                  <a:srgbClr val="C00000"/>
                </a:solidFill>
                <a:latin typeface="仿宋" panose="02010609060101010101" pitchFamily="49" charset="-122"/>
                <a:ea typeface="仿宋" panose="02010609060101010101" pitchFamily="49" charset="-122"/>
              </a:rPr>
              <a:t>，总经理</a:t>
            </a:r>
            <a:r>
              <a:rPr lang="en-US" altLang="zh-CN" sz="1100" b="1" dirty="0">
                <a:solidFill>
                  <a:srgbClr val="C00000"/>
                </a:solidFill>
                <a:latin typeface="仿宋" panose="02010609060101010101" pitchFamily="49" charset="-122"/>
                <a:ea typeface="仿宋" panose="02010609060101010101" pitchFamily="49" charset="-122"/>
              </a:rPr>
              <a:t>/</a:t>
            </a:r>
            <a:r>
              <a:rPr lang="zh-CN" altLang="zh-CN" sz="1100" kern="100" dirty="0">
                <a:latin typeface="仿宋" panose="02010609060101010101" pitchFamily="49" charset="-122"/>
                <a:ea typeface="仿宋" panose="02010609060101010101" pitchFamily="49" charset="-122"/>
              </a:rPr>
              <a:t>法定代表人，毕业于东华大学行政管理专业，上海交通大学凯原法学院，</a:t>
            </a:r>
            <a:r>
              <a:rPr lang="en-US" altLang="zh-CN" sz="1100" b="1" kern="100" dirty="0">
                <a:latin typeface="仿宋" panose="02010609060101010101" pitchFamily="49" charset="-122"/>
                <a:ea typeface="仿宋" panose="02010609060101010101" pitchFamily="49" charset="-122"/>
              </a:rPr>
              <a:t>2004</a:t>
            </a:r>
            <a:r>
              <a:rPr lang="zh-CN" altLang="zh-CN" sz="1100" b="1" kern="100" dirty="0">
                <a:latin typeface="仿宋" panose="02010609060101010101" pitchFamily="49" charset="-122"/>
                <a:ea typeface="仿宋" panose="02010609060101010101" pitchFamily="49" charset="-122"/>
              </a:rPr>
              <a:t>年</a:t>
            </a:r>
            <a:r>
              <a:rPr lang="en-US" altLang="zh-CN" sz="1100" b="1" kern="100" dirty="0">
                <a:latin typeface="仿宋" panose="02010609060101010101" pitchFamily="49" charset="-122"/>
                <a:ea typeface="仿宋" panose="02010609060101010101" pitchFamily="49" charset="-122"/>
              </a:rPr>
              <a:t>7</a:t>
            </a:r>
            <a:r>
              <a:rPr lang="zh-CN" altLang="zh-CN" sz="1100" b="1" kern="100" dirty="0">
                <a:latin typeface="仿宋" panose="02010609060101010101" pitchFamily="49" charset="-122"/>
                <a:ea typeface="仿宋" panose="02010609060101010101" pitchFamily="49" charset="-122"/>
              </a:rPr>
              <a:t>月至</a:t>
            </a:r>
            <a:r>
              <a:rPr lang="en-US" altLang="zh-CN" sz="1100" b="1" kern="100" dirty="0">
                <a:latin typeface="仿宋" panose="02010609060101010101" pitchFamily="49" charset="-122"/>
                <a:ea typeface="仿宋" panose="02010609060101010101" pitchFamily="49" charset="-122"/>
              </a:rPr>
              <a:t>2020</a:t>
            </a:r>
            <a:r>
              <a:rPr lang="zh-CN" altLang="zh-CN" sz="1100" b="1" kern="100" dirty="0">
                <a:latin typeface="仿宋" panose="02010609060101010101" pitchFamily="49" charset="-122"/>
                <a:ea typeface="仿宋" panose="02010609060101010101" pitchFamily="49" charset="-122"/>
              </a:rPr>
              <a:t>年</a:t>
            </a:r>
            <a:r>
              <a:rPr lang="en-US" altLang="zh-CN" sz="1100" b="1" kern="100" dirty="0">
                <a:latin typeface="仿宋" panose="02010609060101010101" pitchFamily="49" charset="-122"/>
                <a:ea typeface="仿宋" panose="02010609060101010101" pitchFamily="49" charset="-122"/>
              </a:rPr>
              <a:t>2</a:t>
            </a:r>
            <a:r>
              <a:rPr lang="zh-CN" altLang="zh-CN" sz="1100" b="1" kern="100" dirty="0">
                <a:latin typeface="仿宋" panose="02010609060101010101" pitchFamily="49" charset="-122"/>
                <a:ea typeface="仿宋" panose="02010609060101010101" pitchFamily="49" charset="-122"/>
              </a:rPr>
              <a:t>月任职于</a:t>
            </a:r>
            <a:r>
              <a:rPr lang="en-US" altLang="zh-CN" sz="1100" b="1" kern="100" dirty="0">
                <a:latin typeface="仿宋" panose="02010609060101010101" pitchFamily="49" charset="-122"/>
                <a:ea typeface="仿宋" panose="02010609060101010101" pitchFamily="49" charset="-122"/>
              </a:rPr>
              <a:t>O2Micro</a:t>
            </a:r>
            <a:r>
              <a:rPr lang="zh-CN" altLang="zh-CN" sz="1100" kern="100" dirty="0">
                <a:latin typeface="仿宋" panose="02010609060101010101" pitchFamily="49" charset="-122"/>
                <a:ea typeface="仿宋" panose="02010609060101010101" pitchFamily="49" charset="-122"/>
              </a:rPr>
              <a:t>，曾担任行政经理、</a:t>
            </a:r>
            <a:r>
              <a:rPr lang="zh-CN" altLang="zh-CN" sz="1100" b="1" kern="100" dirty="0">
                <a:latin typeface="仿宋" panose="02010609060101010101" pitchFamily="49" charset="-122"/>
                <a:ea typeface="仿宋" panose="02010609060101010101" pitchFamily="49" charset="-122"/>
              </a:rPr>
              <a:t>凹凸科技（中国）有限公司总经理</a:t>
            </a:r>
            <a:r>
              <a:rPr lang="zh-CN" altLang="zh-CN" sz="1100" kern="100" dirty="0">
                <a:latin typeface="仿宋" panose="02010609060101010101" pitchFamily="49" charset="-122"/>
                <a:ea typeface="仿宋" panose="02010609060101010101" pitchFamily="49" charset="-122"/>
              </a:rPr>
              <a:t>等职务；拥有</a:t>
            </a:r>
            <a:r>
              <a:rPr lang="en-US" altLang="zh-CN" sz="1100" kern="100" dirty="0">
                <a:latin typeface="仿宋" panose="02010609060101010101" pitchFamily="49" charset="-122"/>
                <a:ea typeface="仿宋" panose="02010609060101010101" pitchFamily="49" charset="-122"/>
              </a:rPr>
              <a:t>15</a:t>
            </a:r>
            <a:r>
              <a:rPr lang="zh-CN" altLang="zh-CN" sz="1100" kern="100" dirty="0">
                <a:latin typeface="仿宋" panose="02010609060101010101" pitchFamily="49" charset="-122"/>
                <a:ea typeface="仿宋" panose="02010609060101010101" pitchFamily="49" charset="-122"/>
              </a:rPr>
              <a:t>余年公司内部控制、流程规划，财务、法务、投资以及公司治理相关经验；熟悉公司发展不同阶段的管控重点；在公司建立</a:t>
            </a:r>
            <a:r>
              <a:rPr lang="zh-CN" altLang="en-US" sz="1100" kern="100" dirty="0">
                <a:latin typeface="仿宋" panose="02010609060101010101" pitchFamily="49" charset="-122"/>
                <a:ea typeface="仿宋" panose="02010609060101010101" pitchFamily="49" charset="-122"/>
              </a:rPr>
              <a:t>、</a:t>
            </a:r>
            <a:r>
              <a:rPr lang="zh-CN" altLang="zh-CN" sz="1100" kern="100" dirty="0">
                <a:latin typeface="仿宋" panose="02010609060101010101" pitchFamily="49" charset="-122"/>
                <a:ea typeface="仿宋" panose="02010609060101010101" pitchFamily="49" charset="-122"/>
              </a:rPr>
              <a:t>投资评审、股权管理、员工持股管理方面均具有丰富经验。</a:t>
            </a:r>
            <a:endParaRPr lang="en-US" altLang="zh-CN" sz="1100" kern="100" dirty="0">
              <a:latin typeface="仿宋" panose="02010609060101010101" pitchFamily="49" charset="-122"/>
              <a:ea typeface="仿宋" panose="02010609060101010101" pitchFamily="49" charset="-122"/>
            </a:endParaRPr>
          </a:p>
          <a:p>
            <a:pPr marL="0" indent="180000" algn="just">
              <a:lnSpc>
                <a:spcPct val="150000"/>
              </a:lnSpc>
              <a:spcBef>
                <a:spcPts val="0"/>
              </a:spcBef>
              <a:buSzPct val="70000"/>
              <a:buBlip>
                <a:blip r:embed="rId3"/>
              </a:buBlip>
              <a:tabLst>
                <a:tab pos="914400" algn="l"/>
              </a:tabLst>
            </a:pPr>
            <a:r>
              <a:rPr lang="zh-CN" altLang="zh-CN" sz="1100" b="1" dirty="0">
                <a:solidFill>
                  <a:srgbClr val="C00000"/>
                </a:solidFill>
                <a:latin typeface="仿宋" panose="02010609060101010101" pitchFamily="49" charset="-122"/>
                <a:ea typeface="仿宋" panose="02010609060101010101" pitchFamily="49" charset="-122"/>
              </a:rPr>
              <a:t>陈</a:t>
            </a:r>
            <a:r>
              <a:rPr lang="zh-CN" altLang="en-US" sz="1100" b="1" dirty="0">
                <a:solidFill>
                  <a:srgbClr val="C00000"/>
                </a:solidFill>
                <a:latin typeface="仿宋" panose="02010609060101010101" pitchFamily="49" charset="-122"/>
                <a:ea typeface="仿宋" panose="02010609060101010101" pitchFamily="49" charset="-122"/>
              </a:rPr>
              <a:t>之翔</a:t>
            </a:r>
            <a:r>
              <a:rPr lang="en-US" altLang="zh-CN" sz="1100" b="1" dirty="0" err="1">
                <a:solidFill>
                  <a:srgbClr val="C00000"/>
                </a:solidFill>
                <a:latin typeface="仿宋" panose="02010609060101010101" pitchFamily="49" charset="-122"/>
                <a:ea typeface="仿宋" panose="02010609060101010101" pitchFamily="49" charset="-122"/>
              </a:rPr>
              <a:t>Richael</a:t>
            </a:r>
            <a:r>
              <a:rPr lang="zh-CN" altLang="zh-CN" sz="1100" b="1" dirty="0">
                <a:solidFill>
                  <a:srgbClr val="C00000"/>
                </a:solidFill>
                <a:latin typeface="仿宋" panose="02010609060101010101" pitchFamily="49" charset="-122"/>
                <a:ea typeface="仿宋" panose="02010609060101010101" pitchFamily="49" charset="-122"/>
              </a:rPr>
              <a:t>，</a:t>
            </a:r>
            <a:r>
              <a:rPr lang="en-US" altLang="zh-CN" sz="1100" b="1" dirty="0">
                <a:solidFill>
                  <a:srgbClr val="C00000"/>
                </a:solidFill>
                <a:latin typeface="仿宋" panose="02010609060101010101" pitchFamily="49" charset="-122"/>
                <a:ea typeface="仿宋" panose="02010609060101010101" pitchFamily="49" charset="-122"/>
              </a:rPr>
              <a:t>CTO</a:t>
            </a:r>
            <a:r>
              <a:rPr lang="zh-CN" altLang="en-US" sz="1100" b="1" dirty="0">
                <a:solidFill>
                  <a:srgbClr val="C00000"/>
                </a:solidFill>
                <a:latin typeface="仿宋" panose="02010609060101010101" pitchFamily="49" charset="-122"/>
                <a:ea typeface="仿宋" panose="02010609060101010101" pitchFamily="49" charset="-122"/>
              </a:rPr>
              <a:t>，</a:t>
            </a:r>
            <a:r>
              <a:rPr lang="zh-CN" altLang="zh-CN" sz="1100" kern="100" dirty="0">
                <a:latin typeface="仿宋" panose="02010609060101010101" pitchFamily="49" charset="-122"/>
                <a:ea typeface="仿宋" panose="02010609060101010101" pitchFamily="49" charset="-122"/>
              </a:rPr>
              <a:t>毕业于美国德州大学电子硕士，在半导体设计以及工程领域拥有</a:t>
            </a:r>
            <a:r>
              <a:rPr lang="en-US" altLang="zh-CN" sz="1100" b="1" kern="100" dirty="0">
                <a:latin typeface="仿宋" panose="02010609060101010101" pitchFamily="49" charset="-122"/>
                <a:ea typeface="仿宋" panose="02010609060101010101" pitchFamily="49" charset="-122"/>
              </a:rPr>
              <a:t>35</a:t>
            </a:r>
            <a:r>
              <a:rPr lang="zh-CN" altLang="zh-CN" sz="1100" b="1" kern="100" dirty="0">
                <a:latin typeface="仿宋" panose="02010609060101010101" pitchFamily="49" charset="-122"/>
                <a:ea typeface="仿宋" panose="02010609060101010101" pitchFamily="49" charset="-122"/>
              </a:rPr>
              <a:t>年以上的经验</a:t>
            </a:r>
            <a:r>
              <a:rPr lang="zh-CN" altLang="zh-CN" sz="1100" kern="100" dirty="0">
                <a:latin typeface="仿宋" panose="02010609060101010101" pitchFamily="49" charset="-122"/>
                <a:ea typeface="仿宋" panose="02010609060101010101" pitchFamily="49" charset="-122"/>
              </a:rPr>
              <a:t>，曾在</a:t>
            </a:r>
            <a:r>
              <a:rPr lang="en-US" altLang="zh-CN" sz="1100" b="1" kern="100" dirty="0">
                <a:latin typeface="仿宋" panose="02010609060101010101" pitchFamily="49" charset="-122"/>
                <a:ea typeface="仿宋" panose="02010609060101010101" pitchFamily="49" charset="-122"/>
              </a:rPr>
              <a:t>O2Micro</a:t>
            </a:r>
            <a:r>
              <a:rPr lang="zh-CN" altLang="zh-CN" sz="1100" b="1" kern="100" dirty="0">
                <a:latin typeface="仿宋" panose="02010609060101010101" pitchFamily="49" charset="-122"/>
                <a:ea typeface="仿宋" panose="02010609060101010101" pitchFamily="49" charset="-122"/>
              </a:rPr>
              <a:t>担任</a:t>
            </a:r>
            <a:r>
              <a:rPr lang="en-US" altLang="zh-CN" sz="1100" b="1" kern="100" dirty="0">
                <a:latin typeface="仿宋" panose="02010609060101010101" pitchFamily="49" charset="-122"/>
                <a:ea typeface="仿宋" panose="02010609060101010101" pitchFamily="49" charset="-122"/>
              </a:rPr>
              <a:t>CTO</a:t>
            </a:r>
            <a:r>
              <a:rPr lang="zh-CN" altLang="zh-CN" sz="1100" kern="100" dirty="0">
                <a:latin typeface="仿宋" panose="02010609060101010101" pitchFamily="49" charset="-122"/>
                <a:ea typeface="仿宋" panose="02010609060101010101" pitchFamily="49" charset="-122"/>
              </a:rPr>
              <a:t>、并曾在</a:t>
            </a:r>
            <a:r>
              <a:rPr lang="zh-CN" altLang="zh-CN" sz="1100" b="1" kern="100" dirty="0">
                <a:latin typeface="仿宋" panose="02010609060101010101" pitchFamily="49" charset="-122"/>
                <a:ea typeface="仿宋" panose="02010609060101010101" pitchFamily="49" charset="-122"/>
              </a:rPr>
              <a:t>英飞凌</a:t>
            </a:r>
            <a:r>
              <a:rPr lang="zh-CN" altLang="en-US" sz="1100" b="1" kern="100" dirty="0">
                <a:latin typeface="仿宋" panose="02010609060101010101" pitchFamily="49" charset="-122"/>
                <a:ea typeface="仿宋" panose="02010609060101010101" pitchFamily="49" charset="-122"/>
              </a:rPr>
              <a:t>、</a:t>
            </a:r>
            <a:r>
              <a:rPr lang="en-US" altLang="zh-CN" sz="1100" b="1" kern="100" dirty="0">
                <a:latin typeface="仿宋" panose="02010609060101010101" pitchFamily="49" charset="-122"/>
                <a:ea typeface="仿宋" panose="02010609060101010101" pitchFamily="49" charset="-122"/>
              </a:rPr>
              <a:t>CISCO</a:t>
            </a:r>
            <a:r>
              <a:rPr lang="zh-CN" altLang="zh-CN" sz="1100" b="1" kern="100" dirty="0">
                <a:latin typeface="仿宋" panose="02010609060101010101" pitchFamily="49" charset="-122"/>
                <a:ea typeface="仿宋" panose="02010609060101010101" pitchFamily="49" charset="-122"/>
              </a:rPr>
              <a:t>、</a:t>
            </a:r>
            <a:r>
              <a:rPr lang="en-US" altLang="zh-CN" sz="1100" b="1" kern="100" dirty="0">
                <a:latin typeface="仿宋" panose="02010609060101010101" pitchFamily="49" charset="-122"/>
                <a:ea typeface="仿宋" panose="02010609060101010101" pitchFamily="49" charset="-122"/>
              </a:rPr>
              <a:t>S3</a:t>
            </a:r>
            <a:r>
              <a:rPr lang="zh-CN" altLang="en-US" sz="1100" b="1" kern="100" dirty="0">
                <a:latin typeface="仿宋" panose="02010609060101010101" pitchFamily="49" charset="-122"/>
                <a:ea typeface="仿宋" panose="02010609060101010101" pitchFamily="49" charset="-122"/>
              </a:rPr>
              <a:t>、</a:t>
            </a:r>
            <a:r>
              <a:rPr lang="en-US" altLang="zh-CN" sz="1100" b="1" kern="100" dirty="0">
                <a:latin typeface="仿宋" panose="02010609060101010101" pitchFamily="49" charset="-122"/>
                <a:ea typeface="仿宋" panose="02010609060101010101" pitchFamily="49" charset="-122"/>
              </a:rPr>
              <a:t>LSI</a:t>
            </a:r>
            <a:r>
              <a:rPr lang="zh-CN" altLang="zh-CN" sz="1100" kern="100" dirty="0">
                <a:latin typeface="仿宋" panose="02010609060101010101" pitchFamily="49" charset="-122"/>
                <a:ea typeface="仿宋" panose="02010609060101010101" pitchFamily="49" charset="-122"/>
              </a:rPr>
              <a:t>等科技公司</a:t>
            </a:r>
            <a:r>
              <a:rPr lang="zh-CN" altLang="en-US" sz="1100" kern="100" dirty="0">
                <a:latin typeface="仿宋" panose="02010609060101010101" pitchFamily="49" charset="-122"/>
                <a:ea typeface="仿宋" panose="02010609060101010101" pitchFamily="49" charset="-122"/>
              </a:rPr>
              <a:t>从事</a:t>
            </a:r>
            <a:r>
              <a:rPr lang="zh-CN" altLang="zh-CN" sz="1100" kern="100" dirty="0">
                <a:latin typeface="仿宋" panose="02010609060101010101" pitchFamily="49" charset="-122"/>
                <a:ea typeface="仿宋" panose="02010609060101010101" pitchFamily="49" charset="-122"/>
              </a:rPr>
              <a:t>模拟混合信号芯片设计和系统研发，拥有数个国际专利。</a:t>
            </a:r>
          </a:p>
          <a:p>
            <a:pPr marL="0" indent="180000" algn="just">
              <a:lnSpc>
                <a:spcPct val="150000"/>
              </a:lnSpc>
              <a:spcBef>
                <a:spcPts val="0"/>
              </a:spcBef>
              <a:buSzPct val="70000"/>
              <a:buBlip>
                <a:blip r:embed="rId3"/>
              </a:buBlip>
              <a:tabLst>
                <a:tab pos="914400" algn="l"/>
              </a:tabLst>
            </a:pPr>
            <a:r>
              <a:rPr lang="zh-CN" altLang="zh-CN" sz="1100" b="1" dirty="0">
                <a:solidFill>
                  <a:srgbClr val="C00000"/>
                </a:solidFill>
                <a:latin typeface="仿宋" panose="02010609060101010101" pitchFamily="49" charset="-122"/>
                <a:ea typeface="仿宋" panose="02010609060101010101" pitchFamily="49" charset="-122"/>
              </a:rPr>
              <a:t>刘志国，轮值</a:t>
            </a:r>
            <a:r>
              <a:rPr lang="en-US" altLang="zh-CN" sz="1100" b="1" dirty="0">
                <a:solidFill>
                  <a:srgbClr val="C00000"/>
                </a:solidFill>
                <a:latin typeface="仿宋" panose="02010609060101010101" pitchFamily="49" charset="-122"/>
                <a:ea typeface="仿宋" panose="02010609060101010101" pitchFamily="49" charset="-122"/>
              </a:rPr>
              <a:t>CEO</a:t>
            </a:r>
            <a:r>
              <a:rPr lang="zh-CN" altLang="zh-CN" sz="1100" b="1" dirty="0">
                <a:solidFill>
                  <a:srgbClr val="C00000"/>
                </a:solidFill>
                <a:latin typeface="仿宋" panose="02010609060101010101" pitchFamily="49" charset="-122"/>
                <a:ea typeface="仿宋" panose="02010609060101010101" pitchFamily="49" charset="-122"/>
              </a:rPr>
              <a:t>，</a:t>
            </a:r>
            <a:r>
              <a:rPr lang="zh-CN" altLang="zh-CN" sz="1100" kern="100" dirty="0">
                <a:latin typeface="仿宋" panose="02010609060101010101" pitchFamily="49" charset="-122"/>
                <a:ea typeface="仿宋" panose="02010609060101010101" pitchFamily="49" charset="-122"/>
              </a:rPr>
              <a:t>硕士毕业于西安交通大学电力电子专业；</a:t>
            </a:r>
            <a:r>
              <a:rPr lang="en-US" altLang="zh-CN" sz="1100" b="1" kern="100" dirty="0">
                <a:latin typeface="仿宋" panose="02010609060101010101" pitchFamily="49" charset="-122"/>
                <a:ea typeface="仿宋" panose="02010609060101010101" pitchFamily="49" charset="-122"/>
              </a:rPr>
              <a:t>2005</a:t>
            </a:r>
            <a:r>
              <a:rPr lang="zh-CN" altLang="zh-CN" sz="1100" b="1" kern="100" dirty="0">
                <a:latin typeface="仿宋" panose="02010609060101010101" pitchFamily="49" charset="-122"/>
                <a:ea typeface="仿宋" panose="02010609060101010101" pitchFamily="49" charset="-122"/>
              </a:rPr>
              <a:t>年至</a:t>
            </a:r>
            <a:r>
              <a:rPr lang="en-US" altLang="zh-CN" sz="1100" b="1" kern="100" dirty="0">
                <a:latin typeface="仿宋" panose="02010609060101010101" pitchFamily="49" charset="-122"/>
                <a:ea typeface="仿宋" panose="02010609060101010101" pitchFamily="49" charset="-122"/>
              </a:rPr>
              <a:t>2020</a:t>
            </a:r>
            <a:r>
              <a:rPr lang="zh-CN" altLang="zh-CN" sz="1100" b="1" kern="100" dirty="0">
                <a:latin typeface="仿宋" panose="02010609060101010101" pitchFamily="49" charset="-122"/>
                <a:ea typeface="仿宋" panose="02010609060101010101" pitchFamily="49" charset="-122"/>
              </a:rPr>
              <a:t>年任职于</a:t>
            </a:r>
            <a:r>
              <a:rPr lang="en-US" altLang="zh-CN" sz="1100" b="1" kern="100" dirty="0">
                <a:latin typeface="仿宋" panose="02010609060101010101" pitchFamily="49" charset="-122"/>
                <a:ea typeface="仿宋" panose="02010609060101010101" pitchFamily="49" charset="-122"/>
              </a:rPr>
              <a:t>O2Micro</a:t>
            </a:r>
            <a:r>
              <a:rPr lang="zh-CN" altLang="zh-CN" sz="1100" kern="100" dirty="0">
                <a:latin typeface="仿宋" panose="02010609060101010101" pitchFamily="49" charset="-122"/>
                <a:ea typeface="仿宋" panose="02010609060101010101" pitchFamily="49" charset="-122"/>
              </a:rPr>
              <a:t>，先后担任电源芯片产品的研发及测试工程师、</a:t>
            </a:r>
            <a:r>
              <a:rPr lang="zh-CN" altLang="zh-CN" sz="1100" b="1" kern="100" dirty="0">
                <a:latin typeface="仿宋" panose="02010609060101010101" pitchFamily="49" charset="-122"/>
                <a:ea typeface="仿宋" panose="02010609060101010101" pitchFamily="49" charset="-122"/>
              </a:rPr>
              <a:t>研发经理、副总经理</a:t>
            </a:r>
            <a:r>
              <a:rPr lang="zh-CN" altLang="zh-CN" sz="1100" kern="100" dirty="0">
                <a:latin typeface="仿宋" panose="02010609060101010101" pitchFamily="49" charset="-122"/>
                <a:ea typeface="仿宋" panose="02010609060101010101" pitchFamily="49" charset="-122"/>
              </a:rPr>
              <a:t>等职位，成功主导公司</a:t>
            </a:r>
            <a:r>
              <a:rPr lang="zh-CN" altLang="zh-CN" sz="1100" b="1" kern="100" dirty="0">
                <a:latin typeface="仿宋" panose="02010609060101010101" pitchFamily="49" charset="-122"/>
                <a:ea typeface="仿宋" panose="02010609060101010101" pitchFamily="49" charset="-122"/>
              </a:rPr>
              <a:t>业界第一款直通充电方案并在</a:t>
            </a:r>
            <a:r>
              <a:rPr lang="en-US" altLang="zh-CN" sz="1100" b="1" kern="100" dirty="0">
                <a:latin typeface="仿宋" panose="02010609060101010101" pitchFamily="49" charset="-122"/>
                <a:ea typeface="仿宋" panose="02010609060101010101" pitchFamily="49" charset="-122"/>
              </a:rPr>
              <a:t>DELL</a:t>
            </a:r>
            <a:r>
              <a:rPr lang="zh-CN" altLang="zh-CN" sz="1100" b="1" kern="100" dirty="0">
                <a:latin typeface="仿宋" panose="02010609060101010101" pitchFamily="49" charset="-122"/>
                <a:ea typeface="仿宋" panose="02010609060101010101" pitchFamily="49" charset="-122"/>
              </a:rPr>
              <a:t>笔记本电脑量产</a:t>
            </a:r>
            <a:r>
              <a:rPr lang="zh-CN" altLang="zh-CN" sz="1100" kern="100" dirty="0">
                <a:latin typeface="仿宋" panose="02010609060101010101" pitchFamily="49" charset="-122"/>
                <a:ea typeface="仿宋" panose="02010609060101010101" pitchFamily="49" charset="-122"/>
              </a:rPr>
              <a:t>，并领导团队研发业界领先的太阳能充电芯片（在共享单车领域占有率接近</a:t>
            </a:r>
            <a:r>
              <a:rPr lang="en-US" altLang="zh-CN" sz="1100" kern="100" dirty="0">
                <a:latin typeface="仿宋" panose="02010609060101010101" pitchFamily="49" charset="-122"/>
                <a:ea typeface="仿宋" panose="02010609060101010101" pitchFamily="49" charset="-122"/>
              </a:rPr>
              <a:t>7</a:t>
            </a:r>
            <a:r>
              <a:rPr lang="zh-CN" altLang="zh-CN" sz="1100" kern="100" dirty="0">
                <a:latin typeface="仿宋" panose="02010609060101010101" pitchFamily="49" charset="-122"/>
                <a:ea typeface="仿宋" panose="02010609060101010101" pitchFamily="49" charset="-122"/>
              </a:rPr>
              <a:t>成）。在</a:t>
            </a:r>
            <a:r>
              <a:rPr lang="en-US" altLang="zh-CN" sz="1100" kern="100" dirty="0">
                <a:latin typeface="仿宋" panose="02010609060101010101" pitchFamily="49" charset="-122"/>
                <a:ea typeface="仿宋" panose="02010609060101010101" pitchFamily="49" charset="-122"/>
              </a:rPr>
              <a:t>O2Micro</a:t>
            </a:r>
            <a:r>
              <a:rPr lang="zh-CN" altLang="zh-CN" sz="1100" kern="100" dirty="0">
                <a:latin typeface="仿宋" panose="02010609060101010101" pitchFamily="49" charset="-122"/>
                <a:ea typeface="仿宋" panose="02010609060101010101" pitchFamily="49" charset="-122"/>
              </a:rPr>
              <a:t>工作期间，刘志国在芯片设计工程、高压低压电池管理和</a:t>
            </a:r>
            <a:r>
              <a:rPr lang="en-US" altLang="zh-CN" sz="1100" kern="100" dirty="0">
                <a:latin typeface="仿宋" panose="02010609060101010101" pitchFamily="49" charset="-122"/>
                <a:ea typeface="仿宋" panose="02010609060101010101" pitchFamily="49" charset="-122"/>
              </a:rPr>
              <a:t>CPU DC/DC</a:t>
            </a:r>
            <a:r>
              <a:rPr lang="zh-CN" altLang="zh-CN" sz="1100" kern="100" dirty="0">
                <a:latin typeface="仿宋" panose="02010609060101010101" pitchFamily="49" charset="-122"/>
                <a:ea typeface="仿宋" panose="02010609060101010101" pitchFamily="49" charset="-122"/>
              </a:rPr>
              <a:t>架构设计方面拥有多项世界专利；长期担任资深管理职位，在销售团队管理、大客户及代理商管控上成绩斐然。</a:t>
            </a:r>
            <a:endParaRPr lang="en-US" altLang="zh-CN" sz="1100" kern="100" dirty="0">
              <a:effectLst/>
              <a:latin typeface="仿宋" panose="02010609060101010101" pitchFamily="49" charset="-122"/>
              <a:ea typeface="仿宋" panose="02010609060101010101" pitchFamily="49" charset="-122"/>
            </a:endParaRPr>
          </a:p>
          <a:p>
            <a:pPr marL="0" indent="180000" algn="just">
              <a:lnSpc>
                <a:spcPct val="150000"/>
              </a:lnSpc>
              <a:spcBef>
                <a:spcPts val="0"/>
              </a:spcBef>
              <a:buSzPct val="70000"/>
              <a:buBlip>
                <a:blip r:embed="rId3"/>
              </a:buBlip>
              <a:tabLst>
                <a:tab pos="914400" algn="l"/>
              </a:tabLst>
            </a:pPr>
            <a:r>
              <a:rPr lang="zh-CN" altLang="zh-CN" sz="1100" b="1" dirty="0">
                <a:solidFill>
                  <a:srgbClr val="C00000"/>
                </a:solidFill>
                <a:latin typeface="仿宋" panose="02010609060101010101" pitchFamily="49" charset="-122"/>
                <a:ea typeface="仿宋" panose="02010609060101010101" pitchFamily="49" charset="-122"/>
              </a:rPr>
              <a:t>黄浩程</a:t>
            </a:r>
            <a:r>
              <a:rPr lang="en-US" altLang="zh-CN" sz="1100" b="1" dirty="0">
                <a:solidFill>
                  <a:srgbClr val="C00000"/>
                </a:solidFill>
                <a:latin typeface="仿宋" panose="02010609060101010101" pitchFamily="49" charset="-122"/>
                <a:ea typeface="仿宋" panose="02010609060101010101" pitchFamily="49" charset="-122"/>
              </a:rPr>
              <a:t>Gerry Huang</a:t>
            </a:r>
            <a:r>
              <a:rPr lang="zh-CN" altLang="zh-CN" sz="1100" b="1" dirty="0">
                <a:solidFill>
                  <a:srgbClr val="C00000"/>
                </a:solidFill>
                <a:latin typeface="仿宋" panose="02010609060101010101" pitchFamily="49" charset="-122"/>
                <a:ea typeface="仿宋" panose="02010609060101010101" pitchFamily="49" charset="-122"/>
              </a:rPr>
              <a:t>，电源事业部轮值</a:t>
            </a:r>
            <a:r>
              <a:rPr lang="en-US" altLang="zh-CN" sz="1100" b="1" dirty="0">
                <a:solidFill>
                  <a:srgbClr val="C00000"/>
                </a:solidFill>
                <a:latin typeface="仿宋" panose="02010609060101010101" pitchFamily="49" charset="-122"/>
                <a:ea typeface="仿宋" panose="02010609060101010101" pitchFamily="49" charset="-122"/>
              </a:rPr>
              <a:t>CEO</a:t>
            </a:r>
            <a:r>
              <a:rPr lang="zh-CN" altLang="zh-CN" sz="1100" kern="100" dirty="0">
                <a:effectLst/>
                <a:latin typeface="仿宋" panose="02010609060101010101" pitchFamily="49" charset="-122"/>
                <a:ea typeface="仿宋" panose="02010609060101010101" pitchFamily="49" charset="-122"/>
              </a:rPr>
              <a:t>，毕业于中国台湾亚东科技大学，</a:t>
            </a:r>
            <a:r>
              <a:rPr lang="en-US" altLang="zh-CN" sz="1100" kern="100" dirty="0">
                <a:effectLst/>
                <a:latin typeface="仿宋" panose="02010609060101010101" pitchFamily="49" charset="-122"/>
                <a:ea typeface="仿宋" panose="02010609060101010101" pitchFamily="49" charset="-122"/>
              </a:rPr>
              <a:t>MBA</a:t>
            </a:r>
            <a:r>
              <a:rPr lang="zh-CN" altLang="zh-CN" sz="1100" kern="100" dirty="0">
                <a:effectLst/>
                <a:latin typeface="仿宋" panose="02010609060101010101" pitchFamily="49" charset="-122"/>
                <a:ea typeface="仿宋" panose="02010609060101010101" pitchFamily="49" charset="-122"/>
              </a:rPr>
              <a:t>在读；</a:t>
            </a:r>
            <a:r>
              <a:rPr lang="en-US" altLang="zh-CN" sz="1100" kern="100" dirty="0">
                <a:effectLst/>
                <a:latin typeface="仿宋" panose="02010609060101010101" pitchFamily="49" charset="-122"/>
                <a:ea typeface="仿宋" panose="02010609060101010101" pitchFamily="49" charset="-122"/>
              </a:rPr>
              <a:t>2003</a:t>
            </a:r>
            <a:r>
              <a:rPr lang="zh-CN" altLang="zh-CN" sz="1100" kern="100" dirty="0">
                <a:effectLst/>
                <a:latin typeface="仿宋" panose="02010609060101010101" pitchFamily="49" charset="-122"/>
                <a:ea typeface="仿宋" panose="02010609060101010101" pitchFamily="49" charset="-122"/>
              </a:rPr>
              <a:t>年</a:t>
            </a:r>
            <a:r>
              <a:rPr lang="en-US" altLang="zh-CN" sz="1100" kern="100" dirty="0">
                <a:effectLst/>
                <a:latin typeface="仿宋" panose="02010609060101010101" pitchFamily="49" charset="-122"/>
                <a:ea typeface="仿宋" panose="02010609060101010101" pitchFamily="49" charset="-122"/>
              </a:rPr>
              <a:t>9</a:t>
            </a:r>
            <a:r>
              <a:rPr lang="zh-CN" altLang="zh-CN" sz="1100" kern="100" dirty="0">
                <a:effectLst/>
                <a:latin typeface="仿宋" panose="02010609060101010101" pitchFamily="49" charset="-122"/>
                <a:ea typeface="仿宋" panose="02010609060101010101" pitchFamily="49" charset="-122"/>
              </a:rPr>
              <a:t>月至</a:t>
            </a:r>
            <a:r>
              <a:rPr lang="en-US" altLang="zh-CN" sz="1100" kern="100" dirty="0">
                <a:effectLst/>
                <a:latin typeface="仿宋" panose="02010609060101010101" pitchFamily="49" charset="-122"/>
                <a:ea typeface="仿宋" panose="02010609060101010101" pitchFamily="49" charset="-122"/>
              </a:rPr>
              <a:t>2020</a:t>
            </a:r>
            <a:r>
              <a:rPr lang="zh-CN" altLang="zh-CN" sz="1100" kern="100" dirty="0">
                <a:effectLst/>
                <a:latin typeface="仿宋" panose="02010609060101010101" pitchFamily="49" charset="-122"/>
                <a:ea typeface="仿宋" panose="02010609060101010101" pitchFamily="49" charset="-122"/>
              </a:rPr>
              <a:t>年</a:t>
            </a:r>
            <a:r>
              <a:rPr lang="en-US" altLang="zh-CN" sz="1100" kern="100" dirty="0">
                <a:effectLst/>
                <a:latin typeface="仿宋" panose="02010609060101010101" pitchFamily="49" charset="-122"/>
                <a:ea typeface="仿宋" panose="02010609060101010101" pitchFamily="49" charset="-122"/>
              </a:rPr>
              <a:t>5</a:t>
            </a:r>
            <a:r>
              <a:rPr lang="zh-CN" altLang="zh-CN" sz="1100" kern="100" dirty="0">
                <a:effectLst/>
                <a:latin typeface="仿宋" panose="02010609060101010101" pitchFamily="49" charset="-122"/>
                <a:ea typeface="仿宋" panose="02010609060101010101" pitchFamily="49" charset="-122"/>
              </a:rPr>
              <a:t>月任职于</a:t>
            </a:r>
            <a:r>
              <a:rPr lang="en-US" altLang="zh-CN" sz="1100" kern="100" dirty="0">
                <a:effectLst/>
                <a:latin typeface="仿宋" panose="02010609060101010101" pitchFamily="49" charset="-122"/>
                <a:ea typeface="仿宋" panose="02010609060101010101" pitchFamily="49" charset="-122"/>
              </a:rPr>
              <a:t>O2Micro</a:t>
            </a:r>
            <a:r>
              <a:rPr lang="zh-CN" altLang="zh-CN" sz="1100" kern="100" dirty="0">
                <a:effectLst/>
                <a:latin typeface="仿宋" panose="02010609060101010101" pitchFamily="49" charset="-122"/>
                <a:ea typeface="仿宋" panose="02010609060101010101" pitchFamily="49" charset="-122"/>
              </a:rPr>
              <a:t>，曾担任</a:t>
            </a:r>
            <a:r>
              <a:rPr lang="en-US" altLang="zh-CN" sz="1100" b="1" kern="100" dirty="0">
                <a:effectLst/>
                <a:latin typeface="仿宋" panose="02010609060101010101" pitchFamily="49" charset="-122"/>
                <a:ea typeface="仿宋" panose="02010609060101010101" pitchFamily="49" charset="-122"/>
              </a:rPr>
              <a:t>O2Micro Power</a:t>
            </a:r>
            <a:r>
              <a:rPr lang="zh-CN" altLang="zh-CN" sz="1100" b="1" kern="100" dirty="0">
                <a:effectLst/>
                <a:latin typeface="仿宋" panose="02010609060101010101" pitchFamily="49" charset="-122"/>
                <a:ea typeface="仿宋" panose="02010609060101010101" pitchFamily="49" charset="-122"/>
              </a:rPr>
              <a:t>事业部技术总监</a:t>
            </a:r>
            <a:r>
              <a:rPr lang="zh-CN" altLang="zh-CN" sz="1100" kern="100" dirty="0">
                <a:effectLst/>
                <a:latin typeface="仿宋" panose="02010609060101010101" pitchFamily="49" charset="-122"/>
                <a:ea typeface="仿宋" panose="02010609060101010101" pitchFamily="49" charset="-122"/>
              </a:rPr>
              <a:t>；具有</a:t>
            </a:r>
            <a:r>
              <a:rPr lang="en-US" altLang="zh-CN" sz="1100" b="1" kern="100" dirty="0">
                <a:effectLst/>
                <a:latin typeface="仿宋" panose="02010609060101010101" pitchFamily="49" charset="-122"/>
                <a:ea typeface="仿宋" panose="02010609060101010101" pitchFamily="49" charset="-122"/>
              </a:rPr>
              <a:t>21</a:t>
            </a:r>
            <a:r>
              <a:rPr lang="zh-CN" altLang="zh-CN" sz="1100" b="1" kern="100" dirty="0">
                <a:effectLst/>
                <a:latin typeface="仿宋" panose="02010609060101010101" pitchFamily="49" charset="-122"/>
                <a:ea typeface="仿宋" panose="02010609060101010101" pitchFamily="49" charset="-122"/>
              </a:rPr>
              <a:t>年的电源管理芯片</a:t>
            </a:r>
            <a:r>
              <a:rPr lang="zh-CN" altLang="zh-CN" sz="1100" kern="100" dirty="0">
                <a:effectLst/>
                <a:latin typeface="仿宋" panose="02010609060101010101" pitchFamily="49" charset="-122"/>
                <a:ea typeface="仿宋" panose="02010609060101010101" pitchFamily="49" charset="-122"/>
              </a:rPr>
              <a:t>的定义、研发、测试及量产经验；在研发团队管理、新产品规划及</a:t>
            </a:r>
            <a:r>
              <a:rPr lang="zh-CN" altLang="zh-CN" sz="1100" b="1" kern="100" dirty="0">
                <a:effectLst/>
                <a:latin typeface="仿宋" panose="02010609060101010101" pitchFamily="49" charset="-122"/>
                <a:ea typeface="仿宋" panose="02010609060101010101" pitchFamily="49" charset="-122"/>
              </a:rPr>
              <a:t>量产、品控运营等各环节的管控</a:t>
            </a:r>
            <a:r>
              <a:rPr lang="zh-CN" altLang="zh-CN" sz="1100" kern="100" dirty="0">
                <a:effectLst/>
                <a:latin typeface="仿宋" panose="02010609060101010101" pitchFamily="49" charset="-122"/>
                <a:ea typeface="仿宋" panose="02010609060101010101" pitchFamily="49" charset="-122"/>
              </a:rPr>
              <a:t>上有着独到的见解及</a:t>
            </a:r>
            <a:r>
              <a:rPr lang="zh-CN" altLang="zh-CN" sz="1100" b="1" kern="100" dirty="0">
                <a:effectLst/>
                <a:latin typeface="仿宋" panose="02010609060101010101" pitchFamily="49" charset="-122"/>
                <a:ea typeface="仿宋" panose="02010609060101010101" pitchFamily="49" charset="-122"/>
              </a:rPr>
              <a:t>数十</a:t>
            </a:r>
            <a:r>
              <a:rPr lang="zh-CN" altLang="en-US" sz="1100" b="1" kern="100" dirty="0">
                <a:effectLst/>
                <a:latin typeface="仿宋" panose="02010609060101010101" pitchFamily="49" charset="-122"/>
                <a:ea typeface="仿宋" panose="02010609060101010101" pitchFamily="49" charset="-122"/>
              </a:rPr>
              <a:t>亿</a:t>
            </a:r>
            <a:r>
              <a:rPr lang="zh-CN" altLang="zh-CN" sz="1100" b="1" kern="100" dirty="0">
                <a:effectLst/>
                <a:latin typeface="仿宋" panose="02010609060101010101" pitchFamily="49" charset="-122"/>
                <a:ea typeface="仿宋" panose="02010609060101010101" pitchFamily="49" charset="-122"/>
              </a:rPr>
              <a:t>颗芯片成功热销案例</a:t>
            </a:r>
            <a:r>
              <a:rPr lang="zh-CN" altLang="zh-CN" sz="1100" kern="100" dirty="0">
                <a:effectLst/>
                <a:latin typeface="仿宋" panose="02010609060101010101" pitchFamily="49" charset="-122"/>
                <a:ea typeface="仿宋" panose="02010609060101010101" pitchFamily="49" charset="-122"/>
              </a:rPr>
              <a:t>；</a:t>
            </a:r>
            <a:r>
              <a:rPr lang="zh-CN" altLang="zh-CN" sz="1100" b="1" kern="100" dirty="0">
                <a:effectLst/>
                <a:latin typeface="仿宋" panose="02010609060101010101" pitchFamily="49" charset="-122"/>
                <a:ea typeface="仿宋" panose="02010609060101010101" pitchFamily="49" charset="-122"/>
              </a:rPr>
              <a:t>拥有多项电源管理</a:t>
            </a:r>
            <a:r>
              <a:rPr lang="en-US" altLang="zh-CN" sz="1100" b="1" kern="100" dirty="0">
                <a:effectLst/>
                <a:latin typeface="仿宋" panose="02010609060101010101" pitchFamily="49" charset="-122"/>
                <a:ea typeface="仿宋" panose="02010609060101010101" pitchFamily="49" charset="-122"/>
              </a:rPr>
              <a:t>IC</a:t>
            </a:r>
            <a:r>
              <a:rPr lang="zh-CN" altLang="zh-CN" sz="1100" b="1" kern="100" dirty="0">
                <a:effectLst/>
                <a:latin typeface="仿宋" panose="02010609060101010101" pitchFamily="49" charset="-122"/>
                <a:ea typeface="仿宋" panose="02010609060101010101" pitchFamily="49" charset="-122"/>
              </a:rPr>
              <a:t>国内外专利</a:t>
            </a:r>
            <a:r>
              <a:rPr lang="zh-CN" altLang="zh-CN" sz="1100" kern="100" dirty="0">
                <a:effectLst/>
                <a:latin typeface="仿宋" panose="02010609060101010101" pitchFamily="49" charset="-122"/>
                <a:ea typeface="仿宋" panose="02010609060101010101" pitchFamily="49" charset="-122"/>
              </a:rPr>
              <a:t>。</a:t>
            </a:r>
            <a:endParaRPr lang="en-US" altLang="zh-CN" sz="1100" kern="100" dirty="0">
              <a:effectLst/>
              <a:latin typeface="仿宋" panose="02010609060101010101" pitchFamily="49" charset="-122"/>
              <a:ea typeface="仿宋" panose="02010609060101010101" pitchFamily="49" charset="-122"/>
            </a:endParaRPr>
          </a:p>
          <a:p>
            <a:pPr marL="0" indent="180000" algn="just">
              <a:lnSpc>
                <a:spcPct val="150000"/>
              </a:lnSpc>
              <a:spcBef>
                <a:spcPts val="0"/>
              </a:spcBef>
              <a:buSzPct val="70000"/>
              <a:buBlip>
                <a:blip r:embed="rId3"/>
              </a:buBlip>
              <a:tabLst>
                <a:tab pos="914400" algn="l"/>
              </a:tabLst>
            </a:pPr>
            <a:r>
              <a:rPr lang="zh-CN" altLang="zh-CN" sz="1100" b="1" dirty="0">
                <a:solidFill>
                  <a:srgbClr val="C00000"/>
                </a:solidFill>
                <a:latin typeface="仿宋" panose="02010609060101010101" pitchFamily="49" charset="-122"/>
                <a:ea typeface="仿宋" panose="02010609060101010101" pitchFamily="49" charset="-122"/>
              </a:rPr>
              <a:t>李雅婷，单车事业部负责人，</a:t>
            </a:r>
            <a:r>
              <a:rPr lang="zh-CN" altLang="zh-CN" sz="1100" kern="100" dirty="0">
                <a:latin typeface="仿宋" panose="02010609060101010101" pitchFamily="49" charset="-122"/>
                <a:ea typeface="仿宋" panose="02010609060101010101" pitchFamily="49" charset="-122"/>
              </a:rPr>
              <a:t>华中科技大学</a:t>
            </a:r>
            <a:r>
              <a:rPr lang="en-US" altLang="zh-CN" sz="1100" kern="100" dirty="0">
                <a:latin typeface="仿宋" panose="02010609060101010101" pitchFamily="49" charset="-122"/>
                <a:ea typeface="仿宋" panose="02010609060101010101" pitchFamily="49" charset="-122"/>
              </a:rPr>
              <a:t>MBA</a:t>
            </a:r>
            <a:r>
              <a:rPr lang="zh-CN" altLang="zh-CN" sz="1100" kern="100" dirty="0">
                <a:latin typeface="仿宋" panose="02010609060101010101" pitchFamily="49" charset="-122"/>
                <a:ea typeface="仿宋" panose="02010609060101010101" pitchFamily="49" charset="-122"/>
              </a:rPr>
              <a:t>，</a:t>
            </a:r>
            <a:r>
              <a:rPr lang="en-US" altLang="zh-CN" sz="1100" kern="100" dirty="0">
                <a:latin typeface="仿宋" panose="02010609060101010101" pitchFamily="49" charset="-122"/>
                <a:ea typeface="仿宋" panose="02010609060101010101" pitchFamily="49" charset="-122"/>
              </a:rPr>
              <a:t>2009</a:t>
            </a:r>
            <a:r>
              <a:rPr lang="zh-CN" altLang="zh-CN" sz="1100" kern="100" dirty="0">
                <a:latin typeface="仿宋" panose="02010609060101010101" pitchFamily="49" charset="-122"/>
                <a:ea typeface="仿宋" panose="02010609060101010101" pitchFamily="49" charset="-122"/>
              </a:rPr>
              <a:t>年至</a:t>
            </a:r>
            <a:r>
              <a:rPr lang="en-US" altLang="zh-CN" sz="1100" kern="100" dirty="0">
                <a:latin typeface="仿宋" panose="02010609060101010101" pitchFamily="49" charset="-122"/>
                <a:ea typeface="仿宋" panose="02010609060101010101" pitchFamily="49" charset="-122"/>
              </a:rPr>
              <a:t>2010</a:t>
            </a:r>
            <a:r>
              <a:rPr lang="zh-CN" altLang="zh-CN" sz="1100" kern="100" dirty="0">
                <a:latin typeface="仿宋" panose="02010609060101010101" pitchFamily="49" charset="-122"/>
                <a:ea typeface="仿宋" panose="02010609060101010101" pitchFamily="49" charset="-122"/>
              </a:rPr>
              <a:t>年</a:t>
            </a:r>
            <a:r>
              <a:rPr lang="en-US" altLang="zh-CN" sz="1100" kern="100" dirty="0">
                <a:latin typeface="仿宋" panose="02010609060101010101" pitchFamily="49" charset="-122"/>
                <a:ea typeface="仿宋" panose="02010609060101010101" pitchFamily="49" charset="-122"/>
              </a:rPr>
              <a:t>4</a:t>
            </a:r>
            <a:r>
              <a:rPr lang="zh-CN" altLang="zh-CN" sz="1100" kern="100" dirty="0">
                <a:latin typeface="仿宋" panose="02010609060101010101" pitchFamily="49" charset="-122"/>
                <a:ea typeface="仿宋" panose="02010609060101010101" pitchFamily="49" charset="-122"/>
              </a:rPr>
              <a:t>月任职于</a:t>
            </a:r>
            <a:r>
              <a:rPr lang="en-US" altLang="zh-CN" sz="1100" kern="100" dirty="0">
                <a:latin typeface="仿宋" panose="02010609060101010101" pitchFamily="49" charset="-122"/>
                <a:ea typeface="仿宋" panose="02010609060101010101" pitchFamily="49" charset="-122"/>
              </a:rPr>
              <a:t>O2Micro</a:t>
            </a:r>
            <a:r>
              <a:rPr lang="zh-CN" altLang="zh-CN" sz="1100" kern="100" dirty="0">
                <a:latin typeface="仿宋" panose="02010609060101010101" pitchFamily="49" charset="-122"/>
                <a:ea typeface="仿宋" panose="02010609060101010101" pitchFamily="49" charset="-122"/>
              </a:rPr>
              <a:t>；在初创团队组建、项目预研、立项规划、项目开发过程控制及管理上具备卓越的协调与宏观把控能力；带领团队开发作品曾赢获</a:t>
            </a:r>
            <a:r>
              <a:rPr lang="zh-CN" altLang="zh-CN" sz="1100" b="1" kern="100" dirty="0">
                <a:latin typeface="仿宋" panose="02010609060101010101" pitchFamily="49" charset="-122"/>
                <a:ea typeface="仿宋" panose="02010609060101010101" pitchFamily="49" charset="-122"/>
              </a:rPr>
              <a:t>美国</a:t>
            </a:r>
            <a:r>
              <a:rPr lang="en-US" altLang="zh-CN" sz="1100" b="1" kern="100" dirty="0">
                <a:latin typeface="仿宋" panose="02010609060101010101" pitchFamily="49" charset="-122"/>
                <a:ea typeface="仿宋" panose="02010609060101010101" pitchFamily="49" charset="-122"/>
              </a:rPr>
              <a:t>CES</a:t>
            </a:r>
            <a:r>
              <a:rPr lang="zh-CN" altLang="zh-CN" sz="1100" b="1" kern="100" dirty="0">
                <a:latin typeface="仿宋" panose="02010609060101010101" pitchFamily="49" charset="-122"/>
                <a:ea typeface="仿宋" panose="02010609060101010101" pitchFamily="49" charset="-122"/>
              </a:rPr>
              <a:t>创新大奖</a:t>
            </a:r>
            <a:r>
              <a:rPr lang="zh-CN" altLang="zh-CN" sz="1100" kern="100" dirty="0">
                <a:latin typeface="仿宋" panose="02010609060101010101" pitchFamily="49" charset="-122"/>
                <a:ea typeface="仿宋" panose="02010609060101010101" pitchFamily="49" charset="-122"/>
              </a:rPr>
              <a:t>。并有内部多项专利，外部取得市场</a:t>
            </a:r>
            <a:r>
              <a:rPr lang="en-US" altLang="zh-CN" sz="1100" kern="100" dirty="0">
                <a:latin typeface="仿宋" panose="02010609060101010101" pitchFamily="49" charset="-122"/>
                <a:ea typeface="仿宋" panose="02010609060101010101" pitchFamily="49" charset="-122"/>
              </a:rPr>
              <a:t>GPS</a:t>
            </a:r>
            <a:r>
              <a:rPr lang="zh-CN" altLang="zh-CN" sz="1100" kern="100" dirty="0">
                <a:latin typeface="仿宋" panose="02010609060101010101" pitchFamily="49" charset="-122"/>
                <a:ea typeface="仿宋" panose="02010609060101010101" pitchFamily="49" charset="-122"/>
              </a:rPr>
              <a:t>顶级客户。擅长团队战略制定，精通运营管理。</a:t>
            </a:r>
            <a:endParaRPr lang="zh-CN" altLang="zh-CN" sz="1100" b="1" dirty="0">
              <a:solidFill>
                <a:srgbClr val="C00000"/>
              </a:solidFill>
              <a:latin typeface="仿宋" panose="02010609060101010101" pitchFamily="49" charset="-122"/>
              <a:ea typeface="仿宋" panose="02010609060101010101" pitchFamily="49" charset="-122"/>
            </a:endParaRPr>
          </a:p>
          <a:p>
            <a:pPr marL="0" indent="270000">
              <a:lnSpc>
                <a:spcPct val="150000"/>
              </a:lnSpc>
              <a:spcBef>
                <a:spcPts val="0"/>
              </a:spcBef>
              <a:buSzPct val="70000"/>
              <a:buNone/>
              <a:tabLst>
                <a:tab pos="457200" algn="l"/>
                <a:tab pos="914400" algn="l"/>
              </a:tabLst>
            </a:pPr>
            <a:r>
              <a:rPr lang="zh-CN" altLang="en-US" sz="1100" dirty="0">
                <a:solidFill>
                  <a:srgbClr val="C00000"/>
                </a:solidFill>
                <a:latin typeface="仿宋" panose="02010609060101010101" pitchFamily="49" charset="-122"/>
                <a:ea typeface="仿宋" panose="02010609060101010101" pitchFamily="49" charset="-122"/>
              </a:rPr>
              <a:t>芯片设计</a:t>
            </a:r>
            <a:r>
              <a:rPr lang="en-US" altLang="zh-CN" sz="1100" dirty="0">
                <a:solidFill>
                  <a:srgbClr val="C00000"/>
                </a:solidFill>
                <a:latin typeface="仿宋" panose="02010609060101010101" pitchFamily="49" charset="-122"/>
                <a:ea typeface="仿宋" panose="02010609060101010101" pitchFamily="49" charset="-122"/>
              </a:rPr>
              <a:t>+</a:t>
            </a:r>
            <a:r>
              <a:rPr lang="zh-CN" altLang="en-US" sz="1100" dirty="0">
                <a:solidFill>
                  <a:srgbClr val="C00000"/>
                </a:solidFill>
                <a:latin typeface="仿宋" panose="02010609060101010101" pitchFamily="49" charset="-122"/>
                <a:ea typeface="仿宋" panose="02010609060101010101" pitchFamily="49" charset="-122"/>
              </a:rPr>
              <a:t>产品品质，互补性强。</a:t>
            </a:r>
            <a:endParaRPr lang="zh-CN" altLang="zh-CN" sz="1100" dirty="0">
              <a:solidFill>
                <a:srgbClr val="C00000"/>
              </a:solidFill>
              <a:latin typeface="仿宋" panose="02010609060101010101" pitchFamily="49" charset="-122"/>
              <a:ea typeface="仿宋" panose="02010609060101010101" pitchFamily="49" charset="-122"/>
            </a:endParaRPr>
          </a:p>
        </p:txBody>
      </p:sp>
      <p:sp>
        <p:nvSpPr>
          <p:cNvPr id="2" name="文本框 1">
            <a:extLst>
              <a:ext uri="{FF2B5EF4-FFF2-40B4-BE49-F238E27FC236}">
                <a16:creationId xmlns:a16="http://schemas.microsoft.com/office/drawing/2014/main" id="{48A838CD-C047-41E8-9F7A-D6C686797BE4}"/>
              </a:ext>
            </a:extLst>
          </p:cNvPr>
          <p:cNvSpPr txBox="1"/>
          <p:nvPr/>
        </p:nvSpPr>
        <p:spPr>
          <a:xfrm>
            <a:off x="5148040" y="4619239"/>
            <a:ext cx="3470745" cy="369332"/>
          </a:xfrm>
          <a:prstGeom prst="rect">
            <a:avLst/>
          </a:prstGeom>
          <a:noFill/>
        </p:spPr>
        <p:txBody>
          <a:bodyPr wrap="square" rtlCol="0">
            <a:spAutoFit/>
          </a:bodyPr>
          <a:lstStyle/>
          <a:p>
            <a:r>
              <a:rPr lang="zh-CN" altLang="en-US" dirty="0">
                <a:solidFill>
                  <a:srgbClr val="C00000"/>
                </a:solidFill>
                <a:latin typeface="仿宋" panose="02010609060101010101" pitchFamily="49" charset="-122"/>
                <a:ea typeface="仿宋" panose="02010609060101010101" pitchFamily="49" charset="-122"/>
              </a:rPr>
              <a:t>产能</a:t>
            </a:r>
            <a:r>
              <a:rPr lang="en-US" altLang="zh-CN" dirty="0">
                <a:solidFill>
                  <a:srgbClr val="C00000"/>
                </a:solidFill>
                <a:latin typeface="仿宋" panose="02010609060101010101" pitchFamily="49" charset="-122"/>
                <a:ea typeface="仿宋" panose="02010609060101010101" pitchFamily="49" charset="-122"/>
                <a:sym typeface="Wingdings" panose="05000000000000000000" pitchFamily="2" charset="2"/>
              </a:rPr>
              <a:t></a:t>
            </a:r>
            <a:r>
              <a:rPr lang="zh-CN" altLang="en-US" dirty="0">
                <a:solidFill>
                  <a:srgbClr val="C00000"/>
                </a:solidFill>
                <a:latin typeface="仿宋" panose="02010609060101010101" pitchFamily="49" charset="-122"/>
                <a:ea typeface="仿宋" panose="02010609060101010101" pitchFamily="49" charset="-122"/>
                <a:sym typeface="Wingdings" panose="05000000000000000000" pitchFamily="2" charset="2"/>
              </a:rPr>
              <a:t>技术</a:t>
            </a:r>
            <a:r>
              <a:rPr lang="en-US" altLang="zh-CN" dirty="0">
                <a:solidFill>
                  <a:srgbClr val="C00000"/>
                </a:solidFill>
                <a:latin typeface="仿宋" panose="02010609060101010101" pitchFamily="49" charset="-122"/>
                <a:ea typeface="仿宋" panose="02010609060101010101" pitchFamily="49" charset="-122"/>
                <a:sym typeface="Wingdings" panose="05000000000000000000" pitchFamily="2" charset="2"/>
              </a:rPr>
              <a:t></a:t>
            </a:r>
            <a:r>
              <a:rPr lang="zh-CN" altLang="en-US" dirty="0">
                <a:solidFill>
                  <a:srgbClr val="C00000"/>
                </a:solidFill>
                <a:latin typeface="仿宋" panose="02010609060101010101" pitchFamily="49" charset="-122"/>
                <a:ea typeface="仿宋" panose="02010609060101010101" pitchFamily="49" charset="-122"/>
              </a:rPr>
              <a:t>产品</a:t>
            </a:r>
            <a:r>
              <a:rPr lang="en-US" altLang="zh-CN" dirty="0">
                <a:solidFill>
                  <a:srgbClr val="C00000"/>
                </a:solidFill>
                <a:latin typeface="仿宋" panose="02010609060101010101" pitchFamily="49" charset="-122"/>
                <a:ea typeface="仿宋" panose="02010609060101010101" pitchFamily="49" charset="-122"/>
                <a:sym typeface="Wingdings" panose="05000000000000000000" pitchFamily="2" charset="2"/>
              </a:rPr>
              <a:t></a:t>
            </a:r>
            <a:r>
              <a:rPr lang="zh-CN" altLang="en-US" dirty="0">
                <a:solidFill>
                  <a:srgbClr val="C00000"/>
                </a:solidFill>
                <a:latin typeface="仿宋" panose="02010609060101010101" pitchFamily="49" charset="-122"/>
                <a:ea typeface="仿宋" panose="02010609060101010101" pitchFamily="49" charset="-122"/>
              </a:rPr>
              <a:t>方案</a:t>
            </a:r>
            <a:r>
              <a:rPr lang="en-US" altLang="zh-CN" dirty="0">
                <a:solidFill>
                  <a:srgbClr val="C00000"/>
                </a:solidFill>
                <a:latin typeface="仿宋" panose="02010609060101010101" pitchFamily="49" charset="-122"/>
                <a:ea typeface="仿宋" panose="02010609060101010101" pitchFamily="49" charset="-122"/>
                <a:sym typeface="Wingdings" panose="05000000000000000000" pitchFamily="2" charset="2"/>
              </a:rPr>
              <a:t></a:t>
            </a:r>
            <a:r>
              <a:rPr lang="zh-CN" altLang="en-US" dirty="0">
                <a:solidFill>
                  <a:srgbClr val="C00000"/>
                </a:solidFill>
                <a:latin typeface="仿宋" panose="02010609060101010101" pitchFamily="49" charset="-122"/>
                <a:ea typeface="仿宋" panose="02010609060101010101" pitchFamily="49" charset="-122"/>
                <a:sym typeface="Wingdings" panose="05000000000000000000" pitchFamily="2" charset="2"/>
              </a:rPr>
              <a:t>客户</a:t>
            </a:r>
            <a:endParaRPr lang="zh-CN" altLang="en-US" dirty="0">
              <a:solidFill>
                <a:srgbClr val="C00000"/>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526977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7B6A86E-ADF0-4CB6-B0FE-7995BB11DE4F}"/>
              </a:ext>
            </a:extLst>
          </p:cNvPr>
          <p:cNvPicPr>
            <a:picLocks noChangeAspect="1"/>
          </p:cNvPicPr>
          <p:nvPr/>
        </p:nvPicPr>
        <p:blipFill>
          <a:blip r:embed="rId3"/>
          <a:stretch>
            <a:fillRect/>
          </a:stretch>
        </p:blipFill>
        <p:spPr>
          <a:xfrm>
            <a:off x="4680389" y="1756871"/>
            <a:ext cx="2124593" cy="3069857"/>
          </a:xfrm>
          <a:prstGeom prst="rect">
            <a:avLst/>
          </a:prstGeom>
        </p:spPr>
      </p:pic>
      <p:sp>
        <p:nvSpPr>
          <p:cNvPr id="3" name="Rectangle 2">
            <a:extLst>
              <a:ext uri="{FF2B5EF4-FFF2-40B4-BE49-F238E27FC236}">
                <a16:creationId xmlns:a16="http://schemas.microsoft.com/office/drawing/2014/main" id="{E4D9FFAA-3D1D-4AF6-A642-0C83D3E4178A}"/>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二、公司分析</a:t>
            </a:r>
            <a:r>
              <a:rPr lang="en-US" altLang="zh-CN" sz="2400" dirty="0">
                <a:solidFill>
                  <a:schemeClr val="bg1">
                    <a:lumMod val="50000"/>
                  </a:schemeClr>
                </a:solidFill>
              </a:rPr>
              <a:t>|</a:t>
            </a:r>
            <a:r>
              <a:rPr lang="zh-CN" altLang="en-US" sz="2000" dirty="0">
                <a:solidFill>
                  <a:schemeClr val="bg1">
                    <a:lumMod val="50000"/>
                  </a:schemeClr>
                </a:solidFill>
              </a:rPr>
              <a:t>公司基本情况</a:t>
            </a:r>
            <a:r>
              <a:rPr lang="en-US" altLang="zh-CN" sz="2000" dirty="0">
                <a:solidFill>
                  <a:schemeClr val="bg1">
                    <a:lumMod val="50000"/>
                  </a:schemeClr>
                </a:solidFill>
              </a:rPr>
              <a:t>|</a:t>
            </a:r>
            <a:r>
              <a:rPr lang="zh-CN" altLang="en-US" sz="1800" dirty="0"/>
              <a:t>产品线</a:t>
            </a:r>
            <a:endParaRPr lang="en-US" altLang="zh-CN" sz="2400" dirty="0"/>
          </a:p>
        </p:txBody>
      </p:sp>
      <p:sp>
        <p:nvSpPr>
          <p:cNvPr id="5" name="Rectangle 3">
            <a:extLst>
              <a:ext uri="{FF2B5EF4-FFF2-40B4-BE49-F238E27FC236}">
                <a16:creationId xmlns:a16="http://schemas.microsoft.com/office/drawing/2014/main" id="{BB4A7A6B-BC47-4FD9-A54B-F164D276F5CD}"/>
              </a:ext>
            </a:extLst>
          </p:cNvPr>
          <p:cNvSpPr txBox="1">
            <a:spLocks noChangeArrowheads="1"/>
          </p:cNvSpPr>
          <p:nvPr/>
        </p:nvSpPr>
        <p:spPr>
          <a:xfrm>
            <a:off x="539720" y="411600"/>
            <a:ext cx="8064560" cy="1273337"/>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indent="180000">
              <a:lnSpc>
                <a:spcPct val="150000"/>
              </a:lnSpc>
              <a:buSzPct val="70000"/>
              <a:buBlip>
                <a:blip r:embed="rId4"/>
              </a:buBlip>
            </a:pPr>
            <a:r>
              <a:rPr lang="zh-CN" altLang="en-US" sz="1000" b="1" dirty="0">
                <a:latin typeface="仿宋" panose="02010609060101010101" pitchFamily="49" charset="-122"/>
                <a:ea typeface="仿宋" panose="02010609060101010101" pitchFamily="49" charset="-122"/>
              </a:rPr>
              <a:t>产品分类</a:t>
            </a:r>
            <a:endParaRPr lang="en-US" altLang="zh-CN" sz="1000" b="1" dirty="0">
              <a:latin typeface="仿宋" panose="02010609060101010101" pitchFamily="49" charset="-122"/>
              <a:ea typeface="仿宋" panose="02010609060101010101" pitchFamily="49" charset="-122"/>
            </a:endParaRPr>
          </a:p>
          <a:p>
            <a:pPr marL="0" indent="270000">
              <a:lnSpc>
                <a:spcPct val="150000"/>
              </a:lnSpc>
              <a:spcBef>
                <a:spcPts val="0"/>
              </a:spcBef>
              <a:buSzPct val="70000"/>
              <a:buNone/>
              <a:tabLst>
                <a:tab pos="457200" algn="l"/>
                <a:tab pos="914400" algn="l"/>
              </a:tabLst>
            </a:pPr>
            <a:r>
              <a:rPr lang="zh-CN" altLang="zh-CN" sz="1100" kern="100" dirty="0">
                <a:effectLst/>
                <a:ea typeface="仿宋" panose="02010609060101010101" pitchFamily="49" charset="-122"/>
                <a:cs typeface="Times New Roman" panose="02020603050405020304" pitchFamily="18" charset="0"/>
              </a:rPr>
              <a:t>高端手机快充芯片</a:t>
            </a:r>
            <a:r>
              <a:rPr lang="en-US" altLang="zh-CN" sz="1100" kern="100" dirty="0">
                <a:effectLst/>
                <a:ea typeface="仿宋" panose="02010609060101010101" pitchFamily="49" charset="-122"/>
                <a:cs typeface="Times New Roman" panose="02020603050405020304" pitchFamily="18" charset="0"/>
              </a:rPr>
              <a:t>+</a:t>
            </a:r>
            <a:r>
              <a:rPr lang="zh-CN" altLang="zh-CN" sz="1100" kern="100" dirty="0">
                <a:effectLst/>
                <a:ea typeface="仿宋" panose="02010609060101010101" pitchFamily="49" charset="-122"/>
                <a:cs typeface="Times New Roman" panose="02020603050405020304" pitchFamily="18" charset="0"/>
              </a:rPr>
              <a:t>高精度电量计、笔电</a:t>
            </a:r>
            <a:r>
              <a:rPr lang="en-US" altLang="zh-CN" sz="1100" kern="100" dirty="0">
                <a:effectLst/>
                <a:ea typeface="仿宋" panose="02010609060101010101" pitchFamily="49" charset="-122"/>
                <a:cs typeface="Times New Roman" panose="02020603050405020304" pitchFamily="18" charset="0"/>
              </a:rPr>
              <a:t>DC/DC</a:t>
            </a:r>
            <a:r>
              <a:rPr lang="zh-CN" altLang="zh-CN" sz="1100" kern="100" dirty="0">
                <a:effectLst/>
                <a:ea typeface="仿宋" panose="02010609060101010101" pitchFamily="49" charset="-122"/>
                <a:cs typeface="Times New Roman" panose="02020603050405020304" pitchFamily="18" charset="0"/>
              </a:rPr>
              <a:t>转换芯片、共享单车充电芯片、</a:t>
            </a:r>
            <a:r>
              <a:rPr lang="en-US" altLang="zh-CN" sz="1100" kern="100" dirty="0">
                <a:effectLst/>
                <a:ea typeface="仿宋" panose="02010609060101010101" pitchFamily="49" charset="-122"/>
                <a:cs typeface="Times New Roman" panose="02020603050405020304" pitchFamily="18" charset="0"/>
              </a:rPr>
              <a:t>TWS</a:t>
            </a:r>
            <a:r>
              <a:rPr lang="zh-CN" altLang="zh-CN" sz="1100" kern="100" dirty="0">
                <a:effectLst/>
                <a:ea typeface="仿宋" panose="02010609060101010101" pitchFamily="49" charset="-122"/>
                <a:cs typeface="Times New Roman" panose="02020603050405020304" pitchFamily="18" charset="0"/>
              </a:rPr>
              <a:t>耳机充电芯片和高精度</a:t>
            </a:r>
            <a:r>
              <a:rPr lang="en-US" altLang="zh-CN" sz="1100" kern="100" dirty="0">
                <a:effectLst/>
                <a:ea typeface="仿宋" panose="02010609060101010101" pitchFamily="49" charset="-122"/>
                <a:cs typeface="Times New Roman" panose="02020603050405020304" pitchFamily="18" charset="0"/>
              </a:rPr>
              <a:t>GPS/BD3</a:t>
            </a:r>
            <a:r>
              <a:rPr lang="zh-CN" altLang="zh-CN" sz="1100" kern="100" dirty="0">
                <a:effectLst/>
                <a:ea typeface="仿宋" panose="02010609060101010101" pitchFamily="49" charset="-122"/>
                <a:cs typeface="Times New Roman" panose="02020603050405020304" pitchFamily="18" charset="0"/>
              </a:rPr>
              <a:t>定位芯片模组</a:t>
            </a:r>
            <a:r>
              <a:rPr lang="zh-CN" altLang="zh-CN" sz="1050" dirty="0">
                <a:latin typeface="仿宋" panose="02010609060101010101" pitchFamily="49" charset="-122"/>
                <a:ea typeface="仿宋" panose="02010609060101010101" pitchFamily="49" charset="-122"/>
              </a:rPr>
              <a:t>。</a:t>
            </a:r>
            <a:endParaRPr lang="en-US" altLang="zh-CN" sz="1050" dirty="0">
              <a:latin typeface="仿宋" panose="02010609060101010101" pitchFamily="49" charset="-122"/>
              <a:ea typeface="仿宋" panose="02010609060101010101" pitchFamily="49" charset="-122"/>
            </a:endParaRPr>
          </a:p>
          <a:p>
            <a:pPr marL="0" indent="180000">
              <a:lnSpc>
                <a:spcPct val="150000"/>
              </a:lnSpc>
              <a:buSzPct val="70000"/>
              <a:buBlip>
                <a:blip r:embed="rId4"/>
              </a:buBlip>
              <a:tabLst>
                <a:tab pos="457200" algn="l"/>
                <a:tab pos="914400" algn="l"/>
              </a:tabLst>
            </a:pPr>
            <a:r>
              <a:rPr lang="zh-CN" altLang="en-US" sz="1000" b="1" dirty="0">
                <a:latin typeface="仿宋" panose="02010609060101010101" pitchFamily="49" charset="-122"/>
                <a:ea typeface="仿宋" panose="02010609060101010101" pitchFamily="49" charset="-122"/>
              </a:rPr>
              <a:t>主要应用领域</a:t>
            </a:r>
            <a:endParaRPr lang="en-US" altLang="zh-CN" sz="1000" b="1" dirty="0">
              <a:latin typeface="仿宋" panose="02010609060101010101" pitchFamily="49" charset="-122"/>
              <a:ea typeface="仿宋" panose="02010609060101010101" pitchFamily="49" charset="-122"/>
            </a:endParaRPr>
          </a:p>
          <a:p>
            <a:pPr marL="0" indent="270000">
              <a:lnSpc>
                <a:spcPct val="150000"/>
              </a:lnSpc>
              <a:spcBef>
                <a:spcPts val="0"/>
              </a:spcBef>
              <a:buSzPct val="70000"/>
              <a:buNone/>
              <a:tabLst>
                <a:tab pos="457200" algn="l"/>
                <a:tab pos="914400" algn="l"/>
              </a:tabLst>
            </a:pPr>
            <a:r>
              <a:rPr lang="zh-CN" altLang="en-US" sz="1050" dirty="0">
                <a:latin typeface="仿宋" panose="02010609060101010101" pitchFamily="49" charset="-122"/>
                <a:ea typeface="仿宋" panose="02010609060101010101" pitchFamily="49" charset="-122"/>
              </a:rPr>
              <a:t>高端手机</a:t>
            </a:r>
            <a:r>
              <a:rPr lang="zh-CN" altLang="zh-CN" sz="1050" dirty="0">
                <a:latin typeface="仿宋" panose="02010609060101010101" pitchFamily="49" charset="-122"/>
                <a:ea typeface="仿宋" panose="02010609060101010101" pitchFamily="49" charset="-122"/>
              </a:rPr>
              <a:t>、</a:t>
            </a:r>
            <a:r>
              <a:rPr lang="zh-CN" altLang="en-US" sz="1050" dirty="0">
                <a:latin typeface="仿宋" panose="02010609060101010101" pitchFamily="49" charset="-122"/>
                <a:ea typeface="仿宋" panose="02010609060101010101" pitchFamily="49" charset="-122"/>
              </a:rPr>
              <a:t>高端充电宝、共享单车、</a:t>
            </a:r>
            <a:r>
              <a:rPr lang="en-US" altLang="zh-CN" sz="1050" dirty="0">
                <a:latin typeface="仿宋" panose="02010609060101010101" pitchFamily="49" charset="-122"/>
                <a:ea typeface="仿宋" panose="02010609060101010101" pitchFamily="49" charset="-122"/>
              </a:rPr>
              <a:t>TWS</a:t>
            </a:r>
            <a:r>
              <a:rPr lang="zh-CN" altLang="en-US" sz="1050" dirty="0">
                <a:latin typeface="仿宋" panose="02010609060101010101" pitchFamily="49" charset="-122"/>
                <a:ea typeface="仿宋" panose="02010609060101010101" pitchFamily="49" charset="-122"/>
              </a:rPr>
              <a:t>、笔记本电脑</a:t>
            </a:r>
            <a:r>
              <a:rPr lang="zh-CN" altLang="zh-CN" sz="1050" dirty="0">
                <a:latin typeface="仿宋" panose="02010609060101010101" pitchFamily="49" charset="-122"/>
                <a:ea typeface="仿宋" panose="02010609060101010101" pitchFamily="49" charset="-122"/>
              </a:rPr>
              <a:t>等。</a:t>
            </a:r>
            <a:endParaRPr lang="en-US" altLang="zh-CN" sz="1050" dirty="0">
              <a:latin typeface="仿宋" panose="02010609060101010101" pitchFamily="49" charset="-122"/>
              <a:ea typeface="仿宋" panose="02010609060101010101" pitchFamily="49" charset="-122"/>
            </a:endParaRPr>
          </a:p>
          <a:p>
            <a:pPr marL="0" indent="270000">
              <a:lnSpc>
                <a:spcPct val="150000"/>
              </a:lnSpc>
              <a:spcBef>
                <a:spcPts val="0"/>
              </a:spcBef>
              <a:buSzPct val="70000"/>
              <a:buNone/>
              <a:tabLst>
                <a:tab pos="457200" algn="l"/>
                <a:tab pos="914400" algn="l"/>
              </a:tabLst>
            </a:pPr>
            <a:endParaRPr lang="en-US" altLang="zh-CN" sz="1000" b="1" dirty="0">
              <a:latin typeface="仿宋" panose="02010609060101010101" pitchFamily="49" charset="-122"/>
              <a:ea typeface="仿宋" panose="02010609060101010101" pitchFamily="49" charset="-122"/>
            </a:endParaRPr>
          </a:p>
        </p:txBody>
      </p:sp>
      <p:graphicFrame>
        <p:nvGraphicFramePr>
          <p:cNvPr id="8" name="表格 7">
            <a:extLst>
              <a:ext uri="{FF2B5EF4-FFF2-40B4-BE49-F238E27FC236}">
                <a16:creationId xmlns:a16="http://schemas.microsoft.com/office/drawing/2014/main" id="{B59102A4-C484-43AD-BFE8-8022C05FAC0A}"/>
              </a:ext>
            </a:extLst>
          </p:cNvPr>
          <p:cNvGraphicFramePr>
            <a:graphicFrameLocks noGrp="1"/>
          </p:cNvGraphicFramePr>
          <p:nvPr>
            <p:extLst>
              <p:ext uri="{D42A27DB-BD31-4B8C-83A1-F6EECF244321}">
                <p14:modId xmlns:p14="http://schemas.microsoft.com/office/powerpoint/2010/main" val="481045924"/>
              </p:ext>
            </p:extLst>
          </p:nvPr>
        </p:nvGraphicFramePr>
        <p:xfrm>
          <a:off x="690511" y="1993935"/>
          <a:ext cx="3737479" cy="2464768"/>
        </p:xfrm>
        <a:graphic>
          <a:graphicData uri="http://schemas.openxmlformats.org/drawingml/2006/table">
            <a:tbl>
              <a:tblPr firstRow="1" firstCol="1" bandRow="1"/>
              <a:tblGrid>
                <a:gridCol w="438840">
                  <a:extLst>
                    <a:ext uri="{9D8B030D-6E8A-4147-A177-3AD203B41FA5}">
                      <a16:colId xmlns:a16="http://schemas.microsoft.com/office/drawing/2014/main" val="1754887439"/>
                    </a:ext>
                  </a:extLst>
                </a:gridCol>
                <a:gridCol w="1876380">
                  <a:extLst>
                    <a:ext uri="{9D8B030D-6E8A-4147-A177-3AD203B41FA5}">
                      <a16:colId xmlns:a16="http://schemas.microsoft.com/office/drawing/2014/main" val="3172790204"/>
                    </a:ext>
                  </a:extLst>
                </a:gridCol>
                <a:gridCol w="1422259">
                  <a:extLst>
                    <a:ext uri="{9D8B030D-6E8A-4147-A177-3AD203B41FA5}">
                      <a16:colId xmlns:a16="http://schemas.microsoft.com/office/drawing/2014/main" val="3524243820"/>
                    </a:ext>
                  </a:extLst>
                </a:gridCol>
              </a:tblGrid>
              <a:tr h="153435">
                <a:tc>
                  <a:txBody>
                    <a:bodyPr/>
                    <a:lstStyle/>
                    <a:p>
                      <a:pPr algn="ctr"/>
                      <a:r>
                        <a:rPr lang="zh-CN" sz="900" b="1"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序号</a:t>
                      </a:r>
                      <a:endParaRPr lang="zh-CN" sz="105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DDEBF7"/>
                    </a:solidFill>
                  </a:tcPr>
                </a:tc>
                <a:tc>
                  <a:txBody>
                    <a:bodyPr/>
                    <a:lstStyle/>
                    <a:p>
                      <a:pPr algn="ctr"/>
                      <a:r>
                        <a:rPr lang="zh-CN" sz="900" b="1"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芯片产品</a:t>
                      </a:r>
                      <a:endParaRPr lang="zh-CN" sz="105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DDEBF7"/>
                    </a:solidFill>
                  </a:tcPr>
                </a:tc>
                <a:tc>
                  <a:txBody>
                    <a:bodyPr/>
                    <a:lstStyle/>
                    <a:p>
                      <a:pPr algn="ctr"/>
                      <a:r>
                        <a:rPr lang="zh-CN" sz="900" b="1"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芯片架构</a:t>
                      </a:r>
                      <a:endParaRPr lang="zh-CN" sz="105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DDEBF7"/>
                    </a:solidFill>
                  </a:tcPr>
                </a:tc>
                <a:extLst>
                  <a:ext uri="{0D108BD9-81ED-4DB2-BD59-A6C34878D82A}">
                    <a16:rowId xmlns:a16="http://schemas.microsoft.com/office/drawing/2014/main" val="3769533199"/>
                  </a:ext>
                </a:extLst>
              </a:tr>
              <a:tr h="153435">
                <a:tc>
                  <a:txBody>
                    <a:bodyPr/>
                    <a:lstStyle/>
                    <a:p>
                      <a:pPr algn="ctr"/>
                      <a:r>
                        <a:rPr lang="en-US" sz="9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1</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高端手机快充</a:t>
                      </a:r>
                      <a:r>
                        <a:rPr lang="en-US"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IC</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切换型架构充电方案</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457488765"/>
                  </a:ext>
                </a:extLst>
              </a:tr>
              <a:tr h="153435">
                <a:tc>
                  <a:txBody>
                    <a:bodyPr/>
                    <a:lstStyle/>
                    <a:p>
                      <a:pPr algn="ctr"/>
                      <a:r>
                        <a:rPr lang="en-US" sz="9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2</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精准电量计</a:t>
                      </a:r>
                      <a:r>
                        <a:rPr lang="en-US"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IC</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　</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305650209"/>
                  </a:ext>
                </a:extLst>
              </a:tr>
              <a:tr h="153435">
                <a:tc>
                  <a:txBody>
                    <a:bodyPr/>
                    <a:lstStyle/>
                    <a:p>
                      <a:pPr algn="ctr"/>
                      <a:r>
                        <a:rPr lang="en-US" sz="9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3</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zh-CN" sz="900" kern="0" dirty="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手机系统端</a:t>
                      </a:r>
                      <a:r>
                        <a:rPr lang="en-US" sz="900" kern="0" dirty="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Charge Pump</a:t>
                      </a:r>
                      <a:endParaRPr lang="zh-CN" sz="1050" kern="100" dirty="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极高转换效率</a:t>
                      </a:r>
                      <a:r>
                        <a:rPr lang="en-US"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98%</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694574125"/>
                  </a:ext>
                </a:extLst>
              </a:tr>
              <a:tr h="153435">
                <a:tc>
                  <a:txBody>
                    <a:bodyPr/>
                    <a:lstStyle/>
                    <a:p>
                      <a:pPr algn="ctr"/>
                      <a:r>
                        <a:rPr lang="en-US" sz="9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4</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专用单</a:t>
                      </a:r>
                      <a:r>
                        <a:rPr lang="en-US"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a:t>
                      </a:r>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多节锂电池保护</a:t>
                      </a:r>
                      <a:r>
                        <a:rPr lang="en-US"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IC</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　</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95912634"/>
                  </a:ext>
                </a:extLst>
              </a:tr>
              <a:tr h="153435">
                <a:tc>
                  <a:txBody>
                    <a:bodyPr/>
                    <a:lstStyle/>
                    <a:p>
                      <a:pPr algn="ctr"/>
                      <a:r>
                        <a:rPr lang="en-US" sz="9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5</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笔电</a:t>
                      </a:r>
                      <a:r>
                        <a:rPr lang="en-US"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DC/DC</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高效，大负载</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225521178"/>
                  </a:ext>
                </a:extLst>
              </a:tr>
              <a:tr h="153435">
                <a:tc>
                  <a:txBody>
                    <a:bodyPr/>
                    <a:lstStyle/>
                    <a:p>
                      <a:pPr algn="ctr"/>
                      <a:r>
                        <a:rPr lang="en-US" sz="9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6</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笔电</a:t>
                      </a:r>
                      <a:r>
                        <a:rPr lang="en-US"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Charger</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切换型架构充电方案</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4083094738"/>
                  </a:ext>
                </a:extLst>
              </a:tr>
              <a:tr h="153435">
                <a:tc>
                  <a:txBody>
                    <a:bodyPr/>
                    <a:lstStyle/>
                    <a:p>
                      <a:pPr algn="ctr"/>
                      <a:r>
                        <a:rPr lang="en-US" sz="9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7</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中国芯平台</a:t>
                      </a:r>
                      <a:r>
                        <a:rPr lang="en-US"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DC/DC</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　</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729682616"/>
                  </a:ext>
                </a:extLst>
              </a:tr>
              <a:tr h="153435">
                <a:tc>
                  <a:txBody>
                    <a:bodyPr/>
                    <a:lstStyle/>
                    <a:p>
                      <a:pPr algn="ctr"/>
                      <a:r>
                        <a:rPr lang="en-US" sz="9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8</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中国芯平台</a:t>
                      </a:r>
                      <a:r>
                        <a:rPr lang="en-US"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Charger</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切换型架构充电方案</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285338621"/>
                  </a:ext>
                </a:extLst>
              </a:tr>
              <a:tr h="153435">
                <a:tc>
                  <a:txBody>
                    <a:bodyPr/>
                    <a:lstStyle/>
                    <a:p>
                      <a:pPr algn="ctr"/>
                      <a:r>
                        <a:rPr lang="en-US" sz="9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9</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太阳能电池充电</a:t>
                      </a:r>
                      <a:r>
                        <a:rPr lang="en-US"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IC</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　</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585951447"/>
                  </a:ext>
                </a:extLst>
              </a:tr>
              <a:tr h="153435">
                <a:tc>
                  <a:txBody>
                    <a:bodyPr/>
                    <a:lstStyle/>
                    <a:p>
                      <a:pPr algn="ctr"/>
                      <a:r>
                        <a:rPr lang="en-US" sz="9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10</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单频亚米级</a:t>
                      </a:r>
                      <a:r>
                        <a:rPr lang="en-US"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GPS</a:t>
                      </a:r>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定位芯片※</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　</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4145808436"/>
                  </a:ext>
                </a:extLst>
              </a:tr>
              <a:tr h="153435">
                <a:tc>
                  <a:txBody>
                    <a:bodyPr/>
                    <a:lstStyle/>
                    <a:p>
                      <a:pPr algn="ctr"/>
                      <a:r>
                        <a:rPr lang="en-US" sz="9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11</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en-US" sz="9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BLE</a:t>
                      </a:r>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车用芯片（汽车</a:t>
                      </a:r>
                      <a:r>
                        <a:rPr lang="en-US"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&amp;</a:t>
                      </a:r>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单车）</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　</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4256035839"/>
                  </a:ext>
                </a:extLst>
              </a:tr>
              <a:tr h="153435">
                <a:tc>
                  <a:txBody>
                    <a:bodyPr/>
                    <a:lstStyle/>
                    <a:p>
                      <a:pPr algn="ctr"/>
                      <a:r>
                        <a:rPr lang="en-US" sz="9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12</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en-US" sz="9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BLE </a:t>
                      </a:r>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智能</a:t>
                      </a:r>
                      <a:r>
                        <a:rPr lang="en-US"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AI MESH IC</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　</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388216284"/>
                  </a:ext>
                </a:extLst>
              </a:tr>
              <a:tr h="153435">
                <a:tc>
                  <a:txBody>
                    <a:bodyPr/>
                    <a:lstStyle/>
                    <a:p>
                      <a:pPr algn="ctr"/>
                      <a:r>
                        <a:rPr lang="en-US" sz="9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13</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en-US" sz="9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TWS</a:t>
                      </a:r>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充电</a:t>
                      </a:r>
                      <a:r>
                        <a:rPr lang="en-US"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IC</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线性充电方案主流</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629674193"/>
                  </a:ext>
                </a:extLst>
              </a:tr>
              <a:tr h="153435">
                <a:tc>
                  <a:txBody>
                    <a:bodyPr/>
                    <a:lstStyle/>
                    <a:p>
                      <a:pPr algn="ctr"/>
                      <a:r>
                        <a:rPr lang="en-US" sz="9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14</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充电宝充电</a:t>
                      </a:r>
                      <a:r>
                        <a:rPr lang="en-US"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IC</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切换型架构充电方案</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376841763"/>
                  </a:ext>
                </a:extLst>
              </a:tr>
              <a:tr h="163243">
                <a:tc>
                  <a:txBody>
                    <a:bodyPr/>
                    <a:lstStyle/>
                    <a:p>
                      <a:pPr algn="ctr"/>
                      <a:r>
                        <a:rPr lang="en-US" sz="9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15</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en-US" sz="9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Buck-boost</a:t>
                      </a:r>
                      <a:r>
                        <a:rPr lang="zh-CN"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升降压充电</a:t>
                      </a:r>
                      <a:r>
                        <a:rPr lang="en-US" sz="9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IC</a:t>
                      </a:r>
                      <a:endParaRPr lang="zh-CN" sz="1050" kern="10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r>
                        <a:rPr lang="zh-CN" sz="900" kern="0" dirty="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切换型架构充电方案</a:t>
                      </a:r>
                      <a:endParaRPr lang="zh-CN" sz="1050" kern="100" dirty="0">
                        <a:effectLst/>
                        <a:latin typeface="Times New Roman" panose="02020603050405020304" pitchFamily="18" charset="0"/>
                        <a:ea typeface="宋体" panose="02010600030101010101" pitchFamily="2" charset="-122"/>
                      </a:endParaRPr>
                    </a:p>
                  </a:txBody>
                  <a:tcPr marL="68580" marR="68580" marT="0" marB="0" anchor="b">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830792505"/>
                  </a:ext>
                </a:extLst>
              </a:tr>
            </a:tbl>
          </a:graphicData>
        </a:graphic>
      </p:graphicFrame>
      <p:pic>
        <p:nvPicPr>
          <p:cNvPr id="12" name="图片 11">
            <a:extLst>
              <a:ext uri="{FF2B5EF4-FFF2-40B4-BE49-F238E27FC236}">
                <a16:creationId xmlns:a16="http://schemas.microsoft.com/office/drawing/2014/main" id="{EE9B0C8E-6D9F-4A75-BF32-D81FE3668C82}"/>
              </a:ext>
            </a:extLst>
          </p:cNvPr>
          <p:cNvPicPr>
            <a:picLocks noChangeAspect="1"/>
          </p:cNvPicPr>
          <p:nvPr/>
        </p:nvPicPr>
        <p:blipFill>
          <a:blip r:embed="rId5"/>
          <a:stretch>
            <a:fillRect/>
          </a:stretch>
        </p:blipFill>
        <p:spPr>
          <a:xfrm>
            <a:off x="6942930" y="3291800"/>
            <a:ext cx="1152079" cy="1152079"/>
          </a:xfrm>
          <a:prstGeom prst="rect">
            <a:avLst/>
          </a:prstGeom>
        </p:spPr>
      </p:pic>
      <p:sp>
        <p:nvSpPr>
          <p:cNvPr id="15" name="object 20">
            <a:extLst>
              <a:ext uri="{FF2B5EF4-FFF2-40B4-BE49-F238E27FC236}">
                <a16:creationId xmlns:a16="http://schemas.microsoft.com/office/drawing/2014/main" id="{DF84F659-1449-430D-84EF-296FC9481078}"/>
              </a:ext>
            </a:extLst>
          </p:cNvPr>
          <p:cNvSpPr/>
          <p:nvPr/>
        </p:nvSpPr>
        <p:spPr>
          <a:xfrm>
            <a:off x="6870924" y="2139721"/>
            <a:ext cx="1373331" cy="1020984"/>
          </a:xfrm>
          <a:prstGeom prst="rect">
            <a:avLst/>
          </a:prstGeom>
          <a:blipFill>
            <a:blip r:embed="rId6" cstate="print"/>
            <a:stretch>
              <a:fillRect/>
            </a:stretch>
          </a:blipFill>
        </p:spPr>
        <p:txBody>
          <a:bodyPr wrap="square" lIns="0" tIns="0" rIns="0" bIns="0" rtlCol="0"/>
          <a:lstStyle/>
          <a:p>
            <a:endParaRPr/>
          </a:p>
        </p:txBody>
      </p:sp>
      <p:pic>
        <p:nvPicPr>
          <p:cNvPr id="1026" name="Picture 2">
            <a:extLst>
              <a:ext uri="{FF2B5EF4-FFF2-40B4-BE49-F238E27FC236}">
                <a16:creationId xmlns:a16="http://schemas.microsoft.com/office/drawing/2014/main" id="{37114D73-4588-4D06-89B7-EBA595AA60B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148040" y="2571750"/>
            <a:ext cx="1271363" cy="1695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0808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4D9FFAA-3D1D-4AF6-A642-0C83D3E4178A}"/>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二、公司分析</a:t>
            </a:r>
            <a:r>
              <a:rPr lang="en-US" altLang="zh-CN" sz="2400" dirty="0">
                <a:solidFill>
                  <a:schemeClr val="bg1">
                    <a:lumMod val="50000"/>
                  </a:schemeClr>
                </a:solidFill>
              </a:rPr>
              <a:t>|</a:t>
            </a:r>
            <a:r>
              <a:rPr lang="zh-CN" altLang="en-US" sz="2000" dirty="0">
                <a:solidFill>
                  <a:schemeClr val="bg1">
                    <a:lumMod val="50000"/>
                  </a:schemeClr>
                </a:solidFill>
              </a:rPr>
              <a:t>公司基本情况</a:t>
            </a:r>
            <a:r>
              <a:rPr lang="en-US" altLang="zh-CN" sz="2000" dirty="0">
                <a:solidFill>
                  <a:schemeClr val="bg1">
                    <a:lumMod val="50000"/>
                  </a:schemeClr>
                </a:solidFill>
              </a:rPr>
              <a:t>|</a:t>
            </a:r>
            <a:r>
              <a:rPr lang="zh-CN" altLang="en-US" sz="1800" dirty="0"/>
              <a:t>产品线</a:t>
            </a:r>
            <a:endParaRPr lang="en-US" altLang="zh-CN" sz="2400" dirty="0"/>
          </a:p>
        </p:txBody>
      </p:sp>
      <p:sp>
        <p:nvSpPr>
          <p:cNvPr id="5" name="Rectangle 3">
            <a:extLst>
              <a:ext uri="{FF2B5EF4-FFF2-40B4-BE49-F238E27FC236}">
                <a16:creationId xmlns:a16="http://schemas.microsoft.com/office/drawing/2014/main" id="{BB4A7A6B-BC47-4FD9-A54B-F164D276F5CD}"/>
              </a:ext>
            </a:extLst>
          </p:cNvPr>
          <p:cNvSpPr txBox="1">
            <a:spLocks noChangeArrowheads="1"/>
          </p:cNvSpPr>
          <p:nvPr/>
        </p:nvSpPr>
        <p:spPr>
          <a:xfrm>
            <a:off x="539720" y="411600"/>
            <a:ext cx="8064560" cy="720050"/>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indent="180000">
              <a:lnSpc>
                <a:spcPct val="150000"/>
              </a:lnSpc>
              <a:buSzPct val="70000"/>
              <a:buBlip>
                <a:blip r:embed="rId3"/>
              </a:buBlip>
            </a:pPr>
            <a:r>
              <a:rPr lang="zh-CN" altLang="en-US" sz="1000" b="1" dirty="0">
                <a:latin typeface="仿宋" panose="02010609060101010101" pitchFamily="49" charset="-122"/>
                <a:ea typeface="仿宋" panose="02010609060101010101" pitchFamily="49" charset="-122"/>
              </a:rPr>
              <a:t>应用领域</a:t>
            </a:r>
            <a:endParaRPr lang="en-US" altLang="zh-CN" sz="1000" b="1" dirty="0">
              <a:latin typeface="仿宋" panose="02010609060101010101" pitchFamily="49" charset="-122"/>
              <a:ea typeface="仿宋" panose="02010609060101010101" pitchFamily="49" charset="-122"/>
            </a:endParaRPr>
          </a:p>
          <a:p>
            <a:pPr marL="0" indent="270000">
              <a:lnSpc>
                <a:spcPct val="150000"/>
              </a:lnSpc>
              <a:spcBef>
                <a:spcPts val="0"/>
              </a:spcBef>
              <a:buSzPct val="70000"/>
              <a:buNone/>
              <a:tabLst>
                <a:tab pos="457200" algn="l"/>
                <a:tab pos="914400" algn="l"/>
              </a:tabLst>
            </a:pPr>
            <a:r>
              <a:rPr lang="zh-CN" altLang="zh-CN" sz="1200" dirty="0">
                <a:latin typeface="仿宋" panose="02010609060101010101" pitchFamily="49" charset="-122"/>
                <a:ea typeface="仿宋" panose="02010609060101010101" pitchFamily="49" charset="-122"/>
              </a:rPr>
              <a:t>主力销售产品为</a:t>
            </a:r>
            <a:r>
              <a:rPr lang="zh-CN" altLang="en-US" sz="1200" u="sng" dirty="0">
                <a:latin typeface="仿宋" panose="02010609060101010101" pitchFamily="49" charset="-122"/>
                <a:ea typeface="仿宋" panose="02010609060101010101" pitchFamily="49" charset="-122"/>
              </a:rPr>
              <a:t>电荷泵芯片</a:t>
            </a:r>
            <a:r>
              <a:rPr lang="zh-CN" altLang="zh-CN" sz="1200" dirty="0">
                <a:latin typeface="仿宋" panose="02010609060101010101" pitchFamily="49" charset="-122"/>
                <a:ea typeface="仿宋" panose="02010609060101010101" pitchFamily="49" charset="-122"/>
              </a:rPr>
              <a:t>和</a:t>
            </a:r>
            <a:r>
              <a:rPr lang="en-US" altLang="zh-CN" sz="1200" u="sng" dirty="0">
                <a:latin typeface="仿宋" panose="02010609060101010101" pitchFamily="49" charset="-122"/>
                <a:ea typeface="仿宋" panose="02010609060101010101" pitchFamily="49" charset="-122"/>
              </a:rPr>
              <a:t>E-Marker</a:t>
            </a:r>
            <a:r>
              <a:rPr lang="zh-CN" altLang="en-US" sz="1200" u="sng" dirty="0">
                <a:latin typeface="仿宋" panose="02010609060101010101" pitchFamily="49" charset="-122"/>
                <a:ea typeface="仿宋" panose="02010609060101010101" pitchFamily="49" charset="-122"/>
              </a:rPr>
              <a:t>芯片</a:t>
            </a:r>
            <a:r>
              <a:rPr lang="zh-CN" altLang="en-US" sz="1200" dirty="0">
                <a:latin typeface="仿宋" panose="02010609060101010101" pitchFamily="49" charset="-122"/>
                <a:ea typeface="仿宋" panose="02010609060101010101" pitchFamily="49" charset="-122"/>
              </a:rPr>
              <a:t>，占比销售额</a:t>
            </a:r>
            <a:r>
              <a:rPr lang="en-US" altLang="zh-CN" sz="1200" dirty="0">
                <a:latin typeface="仿宋" panose="02010609060101010101" pitchFamily="49" charset="-122"/>
                <a:ea typeface="仿宋" panose="02010609060101010101" pitchFamily="49" charset="-122"/>
              </a:rPr>
              <a:t>50%</a:t>
            </a:r>
            <a:r>
              <a:rPr lang="zh-CN" altLang="en-US" sz="1200" dirty="0">
                <a:latin typeface="仿宋" panose="02010609060101010101" pitchFamily="49" charset="-122"/>
                <a:ea typeface="仿宋" panose="02010609060101010101" pitchFamily="49" charset="-122"/>
              </a:rPr>
              <a:t>以上。</a:t>
            </a:r>
            <a:endParaRPr lang="en-US" altLang="zh-CN" sz="1200" dirty="0">
              <a:latin typeface="仿宋" panose="02010609060101010101" pitchFamily="49" charset="-122"/>
              <a:ea typeface="仿宋" panose="02010609060101010101" pitchFamily="49" charset="-122"/>
            </a:endParaRPr>
          </a:p>
          <a:p>
            <a:pPr marL="0" indent="270000">
              <a:lnSpc>
                <a:spcPct val="150000"/>
              </a:lnSpc>
              <a:spcBef>
                <a:spcPts val="0"/>
              </a:spcBef>
              <a:buSzPct val="70000"/>
              <a:buNone/>
              <a:tabLst>
                <a:tab pos="457200" algn="l"/>
                <a:tab pos="914400" algn="l"/>
              </a:tabLst>
            </a:pPr>
            <a:r>
              <a:rPr lang="zh-CN" altLang="en-US" sz="1200" dirty="0">
                <a:latin typeface="仿宋" panose="02010609060101010101" pitchFamily="49" charset="-122"/>
                <a:ea typeface="仿宋" panose="02010609060101010101" pitchFamily="49" charset="-122"/>
              </a:rPr>
              <a:t>笔电产品：</a:t>
            </a:r>
            <a:r>
              <a:rPr lang="en-US" altLang="zh-CN" sz="1200" dirty="0">
                <a:latin typeface="仿宋" panose="02010609060101010101" pitchFamily="49" charset="-122"/>
                <a:ea typeface="仿宋" panose="02010609060101010101" pitchFamily="49" charset="-122"/>
              </a:rPr>
              <a:t>HP</a:t>
            </a:r>
            <a:r>
              <a:rPr lang="zh-CN" altLang="en-US" sz="1200" dirty="0">
                <a:latin typeface="仿宋" panose="02010609060101010101" pitchFamily="49" charset="-122"/>
                <a:ea typeface="仿宋" panose="02010609060101010101" pitchFamily="49" charset="-122"/>
              </a:rPr>
              <a:t>、</a:t>
            </a:r>
            <a:r>
              <a:rPr lang="en-US" altLang="zh-CN" sz="1200" dirty="0">
                <a:latin typeface="仿宋" panose="02010609060101010101" pitchFamily="49" charset="-122"/>
                <a:ea typeface="仿宋" panose="02010609060101010101" pitchFamily="49" charset="-122"/>
              </a:rPr>
              <a:t>Acer CPU  core</a:t>
            </a:r>
            <a:r>
              <a:rPr lang="zh-CN" altLang="en-US" sz="1200" dirty="0">
                <a:latin typeface="仿宋" panose="02010609060101010101" pitchFamily="49" charset="-122"/>
                <a:ea typeface="仿宋" panose="02010609060101010101" pitchFamily="49" charset="-122"/>
              </a:rPr>
              <a:t>锂电池充电方案；</a:t>
            </a:r>
            <a:endParaRPr lang="en-US" altLang="zh-CN" sz="1200" dirty="0">
              <a:latin typeface="仿宋" panose="02010609060101010101" pitchFamily="49" charset="-122"/>
              <a:ea typeface="仿宋" panose="02010609060101010101" pitchFamily="49" charset="-122"/>
            </a:endParaRPr>
          </a:p>
          <a:p>
            <a:pPr marL="0" indent="270000">
              <a:lnSpc>
                <a:spcPct val="150000"/>
              </a:lnSpc>
              <a:spcBef>
                <a:spcPts val="0"/>
              </a:spcBef>
              <a:buSzPct val="70000"/>
              <a:buNone/>
              <a:tabLst>
                <a:tab pos="457200" algn="l"/>
                <a:tab pos="914400" algn="l"/>
              </a:tabLst>
            </a:pPr>
            <a:r>
              <a:rPr lang="zh-CN" altLang="en-US" sz="1200" dirty="0">
                <a:latin typeface="仿宋" panose="02010609060101010101" pitchFamily="49" charset="-122"/>
                <a:ea typeface="仿宋" panose="02010609060101010101" pitchFamily="49" charset="-122"/>
              </a:rPr>
              <a:t>双串电池充电芯片：小米等。</a:t>
            </a:r>
            <a:endParaRPr lang="en-US" altLang="zh-CN" sz="1200" dirty="0">
              <a:latin typeface="仿宋" panose="02010609060101010101" pitchFamily="49" charset="-122"/>
              <a:ea typeface="仿宋" panose="02010609060101010101" pitchFamily="49" charset="-122"/>
            </a:endParaRPr>
          </a:p>
        </p:txBody>
      </p:sp>
      <p:pic>
        <p:nvPicPr>
          <p:cNvPr id="10" name="图片 9">
            <a:extLst>
              <a:ext uri="{FF2B5EF4-FFF2-40B4-BE49-F238E27FC236}">
                <a16:creationId xmlns:a16="http://schemas.microsoft.com/office/drawing/2014/main" id="{74DDE113-9703-4F3C-AD41-7EDD6E3A6D11}"/>
              </a:ext>
            </a:extLst>
          </p:cNvPr>
          <p:cNvPicPr>
            <a:picLocks noChangeAspect="1"/>
          </p:cNvPicPr>
          <p:nvPr/>
        </p:nvPicPr>
        <p:blipFill>
          <a:blip r:embed="rId4"/>
          <a:stretch>
            <a:fillRect/>
          </a:stretch>
        </p:blipFill>
        <p:spPr>
          <a:xfrm>
            <a:off x="1331775" y="3142330"/>
            <a:ext cx="2803051" cy="1440100"/>
          </a:xfrm>
          <a:prstGeom prst="rect">
            <a:avLst/>
          </a:prstGeom>
        </p:spPr>
      </p:pic>
      <p:sp>
        <p:nvSpPr>
          <p:cNvPr id="12" name="文本框 11">
            <a:extLst>
              <a:ext uri="{FF2B5EF4-FFF2-40B4-BE49-F238E27FC236}">
                <a16:creationId xmlns:a16="http://schemas.microsoft.com/office/drawing/2014/main" id="{352F1FA0-BF9B-4CFE-BEC8-A9CC183E5AAE}"/>
              </a:ext>
            </a:extLst>
          </p:cNvPr>
          <p:cNvSpPr txBox="1"/>
          <p:nvPr/>
        </p:nvSpPr>
        <p:spPr>
          <a:xfrm>
            <a:off x="1331775" y="4589033"/>
            <a:ext cx="2803051" cy="430887"/>
          </a:xfrm>
          <a:prstGeom prst="rect">
            <a:avLst/>
          </a:prstGeom>
          <a:noFill/>
        </p:spPr>
        <p:txBody>
          <a:bodyPr wrap="square">
            <a:spAutoFit/>
          </a:bodyPr>
          <a:lstStyle/>
          <a:p>
            <a:r>
              <a:rPr lang="en-US" altLang="zh-CN" sz="1100" b="1" u="sng" kern="100" dirty="0">
                <a:effectLst/>
                <a:latin typeface="仿宋" panose="02010609060101010101" pitchFamily="49" charset="-122"/>
                <a:ea typeface="仿宋" panose="02010609060101010101" pitchFamily="49" charset="-122"/>
                <a:cs typeface="Times New Roman" panose="02020603050405020304" pitchFamily="18" charset="0"/>
              </a:rPr>
              <a:t>HP</a:t>
            </a:r>
            <a:r>
              <a:rPr lang="en-US" altLang="zh-CN" sz="1100" u="sng" kern="100" dirty="0">
                <a:latin typeface="仿宋" panose="02010609060101010101" pitchFamily="49" charset="-122"/>
                <a:ea typeface="仿宋" panose="02010609060101010101" pitchFamily="49" charset="-122"/>
                <a:cs typeface="Times New Roman" panose="02020603050405020304" pitchFamily="18" charset="0"/>
              </a:rPr>
              <a:t> </a:t>
            </a:r>
            <a:r>
              <a:rPr lang="en-US" altLang="zh-CN" sz="1100" u="sng" kern="100" dirty="0">
                <a:effectLst/>
                <a:latin typeface="仿宋" panose="02010609060101010101" pitchFamily="49" charset="-122"/>
                <a:ea typeface="仿宋" panose="02010609060101010101" pitchFamily="49" charset="-122"/>
                <a:cs typeface="Times New Roman" panose="02020603050405020304" pitchFamily="18" charset="0"/>
              </a:rPr>
              <a:t>notebook</a:t>
            </a:r>
            <a:r>
              <a:rPr lang="zh-CN" altLang="en-US" sz="1100" u="sng" kern="100" dirty="0">
                <a:effectLst/>
                <a:latin typeface="仿宋" panose="02010609060101010101" pitchFamily="49" charset="-122"/>
                <a:ea typeface="仿宋" panose="02010609060101010101" pitchFamily="49" charset="-122"/>
                <a:cs typeface="Times New Roman" panose="02020603050405020304" pitchFamily="18" charset="0"/>
              </a:rPr>
              <a:t>：</a:t>
            </a:r>
            <a:r>
              <a:rPr lang="en-US" altLang="zh-CN" sz="1100" u="sng" kern="100" dirty="0">
                <a:effectLst/>
                <a:latin typeface="仿宋" panose="02010609060101010101" pitchFamily="49" charset="-122"/>
                <a:ea typeface="仿宋" panose="02010609060101010101" pitchFamily="49" charset="-122"/>
                <a:cs typeface="Times New Roman" panose="02020603050405020304" pitchFamily="18" charset="0"/>
              </a:rPr>
              <a:t>CPU core power+3Cell</a:t>
            </a:r>
            <a:r>
              <a:rPr lang="zh-CN" altLang="zh-CN" sz="1100" u="sng" kern="100" dirty="0">
                <a:effectLst/>
                <a:latin typeface="仿宋" panose="02010609060101010101" pitchFamily="49" charset="-122"/>
                <a:ea typeface="仿宋" panose="02010609060101010101" pitchFamily="49" charset="-122"/>
                <a:cs typeface="Times New Roman" panose="02020603050405020304" pitchFamily="18" charset="0"/>
              </a:rPr>
              <a:t>锂电池充电芯片方案，即</a:t>
            </a:r>
            <a:r>
              <a:rPr lang="en-US" altLang="zh-CN" sz="1100" u="sng" kern="100" dirty="0">
                <a:effectLst/>
                <a:latin typeface="仿宋" panose="02010609060101010101" pitchFamily="49" charset="-122"/>
                <a:ea typeface="仿宋" panose="02010609060101010101" pitchFamily="49" charset="-122"/>
                <a:cs typeface="Times New Roman" panose="02020603050405020304" pitchFamily="18" charset="0"/>
              </a:rPr>
              <a:t>OZ8296+OZ8660</a:t>
            </a:r>
            <a:r>
              <a:rPr lang="zh-CN" altLang="zh-CN" sz="1100" u="sng" kern="100" dirty="0">
                <a:effectLst/>
                <a:latin typeface="仿宋" panose="02010609060101010101" pitchFamily="49" charset="-122"/>
                <a:ea typeface="仿宋" panose="02010609060101010101" pitchFamily="49" charset="-122"/>
                <a:cs typeface="Times New Roman" panose="02020603050405020304" pitchFamily="18" charset="0"/>
              </a:rPr>
              <a:t>组合。</a:t>
            </a:r>
            <a:endParaRPr lang="zh-CN" altLang="en-US" sz="1100" u="sng" dirty="0">
              <a:latin typeface="仿宋" panose="02010609060101010101" pitchFamily="49" charset="-122"/>
              <a:ea typeface="仿宋" panose="02010609060101010101" pitchFamily="49" charset="-122"/>
            </a:endParaRPr>
          </a:p>
        </p:txBody>
      </p:sp>
      <p:pic>
        <p:nvPicPr>
          <p:cNvPr id="14" name="图片 13">
            <a:extLst>
              <a:ext uri="{FF2B5EF4-FFF2-40B4-BE49-F238E27FC236}">
                <a16:creationId xmlns:a16="http://schemas.microsoft.com/office/drawing/2014/main" id="{029BC951-39D2-44EF-BE4F-0EF3E6544307}"/>
              </a:ext>
            </a:extLst>
          </p:cNvPr>
          <p:cNvPicPr>
            <a:picLocks noChangeAspect="1"/>
          </p:cNvPicPr>
          <p:nvPr/>
        </p:nvPicPr>
        <p:blipFill>
          <a:blip r:embed="rId5"/>
          <a:stretch>
            <a:fillRect/>
          </a:stretch>
        </p:blipFill>
        <p:spPr>
          <a:xfrm>
            <a:off x="5561856" y="3121833"/>
            <a:ext cx="1728120" cy="1443692"/>
          </a:xfrm>
          <a:prstGeom prst="rect">
            <a:avLst/>
          </a:prstGeom>
        </p:spPr>
      </p:pic>
      <p:sp>
        <p:nvSpPr>
          <p:cNvPr id="16" name="文本框 15">
            <a:extLst>
              <a:ext uri="{FF2B5EF4-FFF2-40B4-BE49-F238E27FC236}">
                <a16:creationId xmlns:a16="http://schemas.microsoft.com/office/drawing/2014/main" id="{3825A21D-80C5-4898-A46B-C6F5729C7707}"/>
              </a:ext>
            </a:extLst>
          </p:cNvPr>
          <p:cNvSpPr txBox="1"/>
          <p:nvPr/>
        </p:nvSpPr>
        <p:spPr>
          <a:xfrm>
            <a:off x="5417846" y="4589033"/>
            <a:ext cx="2803051" cy="430887"/>
          </a:xfrm>
          <a:prstGeom prst="rect">
            <a:avLst/>
          </a:prstGeom>
          <a:noFill/>
        </p:spPr>
        <p:txBody>
          <a:bodyPr wrap="square">
            <a:spAutoFit/>
          </a:bodyPr>
          <a:lstStyle>
            <a:defPPr>
              <a:defRPr lang="zh-CN"/>
            </a:defPPr>
            <a:lvl1pPr>
              <a:defRPr sz="1100" u="sng" kern="100">
                <a:effectLst/>
                <a:latin typeface="仿宋" panose="02010609060101010101" pitchFamily="49" charset="-122"/>
                <a:ea typeface="仿宋" panose="02010609060101010101" pitchFamily="49" charset="-122"/>
                <a:cs typeface="Times New Roman" panose="02020603050405020304" pitchFamily="18" charset="0"/>
              </a:defRPr>
            </a:lvl1pPr>
          </a:lstStyle>
          <a:p>
            <a:r>
              <a:rPr lang="en-US" altLang="zh-CN" b="1" dirty="0"/>
              <a:t>Acer</a:t>
            </a:r>
            <a:r>
              <a:rPr lang="en-US" altLang="zh-CN" dirty="0"/>
              <a:t> notebook</a:t>
            </a:r>
            <a:r>
              <a:rPr lang="zh-CN" altLang="en-US" dirty="0"/>
              <a:t>：</a:t>
            </a:r>
            <a:r>
              <a:rPr lang="en-US" altLang="zh-CN" dirty="0"/>
              <a:t>CPU core power+3Cell</a:t>
            </a:r>
            <a:r>
              <a:rPr lang="zh-CN" altLang="zh-CN" dirty="0"/>
              <a:t>锂电池充电芯片方案，即</a:t>
            </a:r>
            <a:r>
              <a:rPr lang="en-US" altLang="zh-CN" dirty="0"/>
              <a:t>OZ8127+OZ8660</a:t>
            </a:r>
            <a:r>
              <a:rPr lang="zh-CN" altLang="zh-CN" dirty="0"/>
              <a:t>组合。</a:t>
            </a:r>
          </a:p>
        </p:txBody>
      </p:sp>
      <p:sp>
        <p:nvSpPr>
          <p:cNvPr id="11" name="文本框 10">
            <a:extLst>
              <a:ext uri="{FF2B5EF4-FFF2-40B4-BE49-F238E27FC236}">
                <a16:creationId xmlns:a16="http://schemas.microsoft.com/office/drawing/2014/main" id="{760CFBAC-0C68-4370-8E95-D92B1C74F3C2}"/>
              </a:ext>
            </a:extLst>
          </p:cNvPr>
          <p:cNvSpPr txBox="1"/>
          <p:nvPr/>
        </p:nvSpPr>
        <p:spPr>
          <a:xfrm>
            <a:off x="1331774" y="2603354"/>
            <a:ext cx="2803051" cy="261610"/>
          </a:xfrm>
          <a:prstGeom prst="rect">
            <a:avLst/>
          </a:prstGeom>
          <a:noFill/>
        </p:spPr>
        <p:txBody>
          <a:bodyPr wrap="square">
            <a:spAutoFit/>
          </a:bodyPr>
          <a:lstStyle/>
          <a:p>
            <a:r>
              <a:rPr lang="en-US" altLang="zh-CN" sz="1100" b="1" u="sng" kern="100" dirty="0">
                <a:effectLst/>
                <a:latin typeface="仿宋" panose="02010609060101010101" pitchFamily="49" charset="-122"/>
                <a:ea typeface="仿宋" panose="02010609060101010101" pitchFamily="49" charset="-122"/>
                <a:cs typeface="Times New Roman" panose="02020603050405020304" pitchFamily="18" charset="0"/>
              </a:rPr>
              <a:t>OPPO</a:t>
            </a:r>
            <a:r>
              <a:rPr lang="zh-CN" altLang="en-US" sz="1100" u="sng" kern="100" dirty="0">
                <a:effectLst/>
                <a:latin typeface="仿宋" panose="02010609060101010101" pitchFamily="49" charset="-122"/>
                <a:ea typeface="仿宋" panose="02010609060101010101" pitchFamily="49" charset="-122"/>
                <a:cs typeface="Times New Roman" panose="02020603050405020304" pitchFamily="18" charset="0"/>
              </a:rPr>
              <a:t>旗舰手机</a:t>
            </a:r>
            <a:r>
              <a:rPr lang="en-US" altLang="zh-CN" sz="1100" u="sng" kern="100" dirty="0">
                <a:effectLst/>
                <a:latin typeface="仿宋" panose="02010609060101010101" pitchFamily="49" charset="-122"/>
                <a:ea typeface="仿宋" panose="02010609060101010101" pitchFamily="49" charset="-122"/>
                <a:cs typeface="Times New Roman" panose="02020603050405020304" pitchFamily="18" charset="0"/>
              </a:rPr>
              <a:t>K9</a:t>
            </a:r>
            <a:r>
              <a:rPr lang="zh-CN" altLang="en-US" sz="1100" u="sng" kern="100" dirty="0">
                <a:effectLst/>
                <a:latin typeface="仿宋" panose="02010609060101010101" pitchFamily="49" charset="-122"/>
                <a:ea typeface="仿宋" panose="02010609060101010101" pitchFamily="49" charset="-122"/>
                <a:cs typeface="Times New Roman" panose="02020603050405020304" pitchFamily="18" charset="0"/>
              </a:rPr>
              <a:t>：</a:t>
            </a:r>
            <a:r>
              <a:rPr lang="en-US" altLang="zh-CN" sz="1100" u="sng" kern="100" dirty="0">
                <a:effectLst/>
                <a:latin typeface="仿宋" panose="02010609060101010101" pitchFamily="49" charset="-122"/>
                <a:ea typeface="仿宋" panose="02010609060101010101" pitchFamily="49" charset="-122"/>
                <a:cs typeface="Times New Roman" panose="02020603050405020304" pitchFamily="18" charset="0"/>
              </a:rPr>
              <a:t>SD77313</a:t>
            </a:r>
            <a:r>
              <a:rPr lang="zh-CN" altLang="zh-CN" sz="1100" u="sng" kern="100" dirty="0">
                <a:effectLst/>
                <a:latin typeface="仿宋" panose="02010609060101010101" pitchFamily="49" charset="-122"/>
                <a:ea typeface="仿宋" panose="02010609060101010101" pitchFamily="49" charset="-122"/>
                <a:cs typeface="Times New Roman" panose="02020603050405020304" pitchFamily="18" charset="0"/>
              </a:rPr>
              <a:t>。</a:t>
            </a:r>
            <a:endParaRPr lang="zh-CN" altLang="en-US" sz="1100" u="sng" dirty="0">
              <a:latin typeface="仿宋" panose="02010609060101010101" pitchFamily="49" charset="-122"/>
              <a:ea typeface="仿宋" panose="02010609060101010101" pitchFamily="49" charset="-122"/>
            </a:endParaRPr>
          </a:p>
        </p:txBody>
      </p:sp>
      <p:pic>
        <p:nvPicPr>
          <p:cNvPr id="7" name="图片 6">
            <a:extLst>
              <a:ext uri="{FF2B5EF4-FFF2-40B4-BE49-F238E27FC236}">
                <a16:creationId xmlns:a16="http://schemas.microsoft.com/office/drawing/2014/main" id="{3309B5D0-3F51-40EE-B8C0-202B99136DF3}"/>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7331" b="95677" l="5341" r="99886">
                        <a14:foregroundMark x1="25341" y1="26880" x2="19773" y2="20489"/>
                        <a14:foregroundMark x1="19773" y1="20489" x2="14432" y2="17481"/>
                        <a14:foregroundMark x1="14432" y1="17481" x2="15455" y2="27256"/>
                        <a14:foregroundMark x1="15455" y1="27256" x2="16591" y2="27632"/>
                        <a14:foregroundMark x1="17159" y1="20301" x2="29886" y2="29699"/>
                        <a14:foregroundMark x1="30341" y1="22556" x2="32273" y2="27444"/>
                        <a14:foregroundMark x1="27727" y1="20865" x2="14886" y2="10338"/>
                        <a14:foregroundMark x1="5341" y1="28195" x2="6136" y2="26504"/>
                        <a14:foregroundMark x1="6364" y1="22556" x2="6364" y2="22556"/>
                        <a14:foregroundMark x1="11932" y1="8271" x2="11932" y2="8271"/>
                        <a14:foregroundMark x1="12386" y1="7895" x2="12386" y2="7895"/>
                        <a14:foregroundMark x1="11250" y1="7331" x2="11250" y2="7331"/>
                        <a14:foregroundMark x1="11250" y1="7331" x2="11250" y2="7331"/>
                        <a14:foregroundMark x1="10568" y1="8271" x2="10568" y2="8271"/>
                        <a14:foregroundMark x1="74773" y1="67293" x2="85455" y2="77820"/>
                        <a14:foregroundMark x1="85455" y1="77820" x2="96932" y2="85902"/>
                        <a14:foregroundMark x1="96932" y1="85902" x2="96932" y2="85902"/>
                        <a14:foregroundMark x1="98523" y1="92293" x2="84886" y2="84586"/>
                        <a14:foregroundMark x1="84886" y1="84586" x2="83636" y2="83083"/>
                        <a14:foregroundMark x1="92727" y1="87782" x2="99886" y2="95677"/>
                        <a14:foregroundMark x1="76591" y1="68609" x2="72159" y2="63534"/>
                        <a14:foregroundMark x1="76591" y1="66165" x2="73523" y2="64662"/>
                        <a14:foregroundMark x1="73523" y1="63534" x2="69205" y2="60338"/>
                        <a14:backgroundMark x1="84318" y1="93609" x2="94886" y2="99812"/>
                        <a14:backgroundMark x1="95455" y1="99436" x2="96023" y2="99812"/>
                        <a14:backgroundMark x1="99091" y1="84586" x2="99886" y2="85714"/>
                        <a14:backgroundMark x1="99773" y1="86278" x2="99773" y2="86278"/>
                      </a14:backgroundRemoval>
                    </a14:imgEffect>
                  </a14:imgLayer>
                </a14:imgProps>
              </a:ext>
            </a:extLst>
          </a:blip>
          <a:stretch>
            <a:fillRect/>
          </a:stretch>
        </p:blipFill>
        <p:spPr>
          <a:xfrm>
            <a:off x="5411238" y="1491675"/>
            <a:ext cx="1824947" cy="1103263"/>
          </a:xfrm>
          <a:prstGeom prst="rect">
            <a:avLst/>
          </a:prstGeom>
        </p:spPr>
      </p:pic>
      <p:sp>
        <p:nvSpPr>
          <p:cNvPr id="13" name="文本框 12">
            <a:extLst>
              <a:ext uri="{FF2B5EF4-FFF2-40B4-BE49-F238E27FC236}">
                <a16:creationId xmlns:a16="http://schemas.microsoft.com/office/drawing/2014/main" id="{94FE73F5-A1F6-4E51-95F4-E710D9CCA7DA}"/>
              </a:ext>
            </a:extLst>
          </p:cNvPr>
          <p:cNvSpPr txBox="1"/>
          <p:nvPr/>
        </p:nvSpPr>
        <p:spPr>
          <a:xfrm>
            <a:off x="5441204" y="2587366"/>
            <a:ext cx="2803051" cy="261610"/>
          </a:xfrm>
          <a:prstGeom prst="rect">
            <a:avLst/>
          </a:prstGeom>
          <a:noFill/>
        </p:spPr>
        <p:txBody>
          <a:bodyPr wrap="square">
            <a:spAutoFit/>
          </a:bodyPr>
          <a:lstStyle/>
          <a:p>
            <a:r>
              <a:rPr lang="en-US" altLang="zh-CN" sz="1100" b="1" u="sng" kern="100" dirty="0">
                <a:effectLst/>
                <a:latin typeface="仿宋" panose="02010609060101010101" pitchFamily="49" charset="-122"/>
                <a:ea typeface="仿宋" panose="02010609060101010101" pitchFamily="49" charset="-122"/>
                <a:cs typeface="Times New Roman" panose="02020603050405020304" pitchFamily="18" charset="0"/>
              </a:rPr>
              <a:t>OPPO</a:t>
            </a:r>
            <a:r>
              <a:rPr lang="zh-CN" altLang="en-US" sz="1100" u="sng" kern="100" dirty="0">
                <a:effectLst/>
                <a:latin typeface="仿宋" panose="02010609060101010101" pitchFamily="49" charset="-122"/>
                <a:ea typeface="仿宋" panose="02010609060101010101" pitchFamily="49" charset="-122"/>
                <a:cs typeface="Times New Roman" panose="02020603050405020304" pitchFamily="18" charset="0"/>
              </a:rPr>
              <a:t>闪充线：</a:t>
            </a:r>
            <a:r>
              <a:rPr lang="en-US" altLang="zh-CN" sz="1100" u="sng" kern="100" dirty="0">
                <a:effectLst/>
                <a:latin typeface="仿宋" panose="02010609060101010101" pitchFamily="49" charset="-122"/>
                <a:ea typeface="仿宋" panose="02010609060101010101" pitchFamily="49" charset="-122"/>
                <a:cs typeface="Times New Roman" panose="02020603050405020304" pitchFamily="18" charset="0"/>
              </a:rPr>
              <a:t>SD77007</a:t>
            </a:r>
            <a:r>
              <a:rPr lang="zh-CN" altLang="zh-CN" sz="1100" u="sng" kern="100" dirty="0">
                <a:effectLst/>
                <a:latin typeface="仿宋" panose="02010609060101010101" pitchFamily="49" charset="-122"/>
                <a:ea typeface="仿宋" panose="02010609060101010101" pitchFamily="49" charset="-122"/>
                <a:cs typeface="Times New Roman" panose="02020603050405020304" pitchFamily="18" charset="0"/>
              </a:rPr>
              <a:t>。</a:t>
            </a:r>
            <a:endParaRPr lang="zh-CN" altLang="en-US" sz="1100" u="sng" dirty="0">
              <a:latin typeface="仿宋" panose="02010609060101010101" pitchFamily="49" charset="-122"/>
              <a:ea typeface="仿宋" panose="02010609060101010101" pitchFamily="49" charset="-122"/>
            </a:endParaRPr>
          </a:p>
        </p:txBody>
      </p:sp>
      <p:pic>
        <p:nvPicPr>
          <p:cNvPr id="15" name="图片 14">
            <a:extLst>
              <a:ext uri="{FF2B5EF4-FFF2-40B4-BE49-F238E27FC236}">
                <a16:creationId xmlns:a16="http://schemas.microsoft.com/office/drawing/2014/main" id="{D1E263D4-45BB-41A3-A8A5-1568D6891D4F}"/>
              </a:ext>
            </a:extLst>
          </p:cNvPr>
          <p:cNvPicPr/>
          <p:nvPr/>
        </p:nvPicPr>
        <p:blipFill>
          <a:blip r:embed="rId8"/>
          <a:stretch>
            <a:fillRect/>
          </a:stretch>
        </p:blipFill>
        <p:spPr>
          <a:xfrm>
            <a:off x="1317057" y="1532040"/>
            <a:ext cx="2162387" cy="1103264"/>
          </a:xfrm>
          <a:prstGeom prst="rect">
            <a:avLst/>
          </a:prstGeom>
        </p:spPr>
      </p:pic>
    </p:spTree>
    <p:extLst>
      <p:ext uri="{BB962C8B-B14F-4D97-AF65-F5344CB8AC3E}">
        <p14:creationId xmlns:p14="http://schemas.microsoft.com/office/powerpoint/2010/main" val="3606890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4D9FFAA-3D1D-4AF6-A642-0C83D3E4178A}"/>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二、公司分析</a:t>
            </a:r>
            <a:r>
              <a:rPr lang="en-US" altLang="zh-CN" sz="2400" dirty="0">
                <a:solidFill>
                  <a:schemeClr val="bg1">
                    <a:lumMod val="50000"/>
                  </a:schemeClr>
                </a:solidFill>
              </a:rPr>
              <a:t>|</a:t>
            </a:r>
            <a:r>
              <a:rPr lang="zh-CN" altLang="en-US" sz="2000" dirty="0">
                <a:solidFill>
                  <a:schemeClr val="bg1">
                    <a:lumMod val="50000"/>
                  </a:schemeClr>
                </a:solidFill>
              </a:rPr>
              <a:t>公司基本情况</a:t>
            </a:r>
            <a:r>
              <a:rPr lang="en-US" altLang="zh-CN" sz="2000" dirty="0">
                <a:solidFill>
                  <a:schemeClr val="bg1">
                    <a:lumMod val="50000"/>
                  </a:schemeClr>
                </a:solidFill>
              </a:rPr>
              <a:t>|</a:t>
            </a:r>
            <a:r>
              <a:rPr lang="zh-CN" altLang="en-US" sz="1800" dirty="0"/>
              <a:t>商业模式</a:t>
            </a:r>
            <a:endParaRPr lang="en-US" altLang="zh-CN" sz="2400" dirty="0"/>
          </a:p>
        </p:txBody>
      </p:sp>
      <p:sp>
        <p:nvSpPr>
          <p:cNvPr id="6" name="Rectangle 3">
            <a:extLst>
              <a:ext uri="{FF2B5EF4-FFF2-40B4-BE49-F238E27FC236}">
                <a16:creationId xmlns:a16="http://schemas.microsoft.com/office/drawing/2014/main" id="{C43A0259-48A0-455A-BEBA-F34E33C3CE9C}"/>
              </a:ext>
            </a:extLst>
          </p:cNvPr>
          <p:cNvSpPr txBox="1">
            <a:spLocks noChangeArrowheads="1"/>
          </p:cNvSpPr>
          <p:nvPr/>
        </p:nvSpPr>
        <p:spPr>
          <a:xfrm>
            <a:off x="483978" y="411601"/>
            <a:ext cx="8048297" cy="4536314"/>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indent="180000">
              <a:lnSpc>
                <a:spcPct val="150000"/>
              </a:lnSpc>
              <a:spcBef>
                <a:spcPts val="600"/>
              </a:spcBef>
              <a:buSzPct val="70000"/>
              <a:buBlip>
                <a:blip r:embed="rId3"/>
              </a:buBlip>
            </a:pPr>
            <a:r>
              <a:rPr lang="zh-CN" altLang="en-US" sz="1400" b="1" dirty="0">
                <a:latin typeface="仿宋" panose="02010609060101010101" pitchFamily="49" charset="-122"/>
                <a:ea typeface="仿宋" panose="02010609060101010101" pitchFamily="49" charset="-122"/>
              </a:rPr>
              <a:t>生产模式：</a:t>
            </a:r>
            <a:r>
              <a:rPr lang="en-US" altLang="zh-CN" sz="1400" b="1" dirty="0">
                <a:latin typeface="仿宋" panose="02010609060101010101" pitchFamily="49" charset="-122"/>
                <a:ea typeface="仿宋" panose="02010609060101010101" pitchFamily="49" charset="-122"/>
              </a:rPr>
              <a:t>Fabless</a:t>
            </a:r>
            <a:endParaRPr lang="en-US" altLang="zh-CN" sz="1600" b="1" dirty="0">
              <a:latin typeface="仿宋" panose="02010609060101010101" pitchFamily="49" charset="-122"/>
              <a:ea typeface="仿宋" panose="02010609060101010101" pitchFamily="49" charset="-122"/>
            </a:endParaRPr>
          </a:p>
          <a:p>
            <a:pPr marL="288000" lvl="1">
              <a:lnSpc>
                <a:spcPct val="150000"/>
              </a:lnSpc>
              <a:spcBef>
                <a:spcPts val="0"/>
              </a:spcBef>
              <a:buSzPct val="70000"/>
              <a:tabLst>
                <a:tab pos="457200" algn="l"/>
                <a:tab pos="914400" algn="l"/>
              </a:tabLst>
            </a:pPr>
            <a:r>
              <a:rPr lang="zh-CN" altLang="en-US" sz="1200" dirty="0">
                <a:latin typeface="仿宋" panose="02010609060101010101" pitchFamily="49" charset="-122"/>
                <a:ea typeface="仿宋" panose="02010609060101010101" pitchFamily="49" charset="-122"/>
              </a:rPr>
              <a:t>经典</a:t>
            </a:r>
            <a:r>
              <a:rPr lang="en-US" altLang="zh-CN" sz="1200" dirty="0">
                <a:latin typeface="仿宋" panose="02010609060101010101" pitchFamily="49" charset="-122"/>
                <a:ea typeface="仿宋" panose="02010609060101010101" pitchFamily="49" charset="-122"/>
              </a:rPr>
              <a:t>Fabless</a:t>
            </a:r>
            <a:r>
              <a:rPr lang="zh-CN" altLang="en-US" sz="1200" dirty="0">
                <a:latin typeface="仿宋" panose="02010609060101010101" pitchFamily="49" charset="-122"/>
                <a:ea typeface="仿宋" panose="02010609060101010101" pitchFamily="49" charset="-122"/>
              </a:rPr>
              <a:t>模式，韩国东部高科、</a:t>
            </a:r>
            <a:r>
              <a:rPr lang="zh-CN" altLang="zh-CN" sz="1200" dirty="0">
                <a:latin typeface="仿宋" panose="02010609060101010101" pitchFamily="49" charset="-122"/>
                <a:ea typeface="仿宋" panose="02010609060101010101" pitchFamily="49" charset="-122"/>
              </a:rPr>
              <a:t>无锡华润上华</a:t>
            </a:r>
            <a:r>
              <a:rPr lang="zh-CN" altLang="en-US" sz="1200" dirty="0">
                <a:latin typeface="仿宋" panose="02010609060101010101" pitchFamily="49" charset="-122"/>
                <a:ea typeface="仿宋" panose="02010609060101010101" pitchFamily="49" charset="-122"/>
              </a:rPr>
              <a:t>、</a:t>
            </a:r>
            <a:r>
              <a:rPr lang="en-US" altLang="zh-CN" sz="1200" dirty="0">
                <a:latin typeface="仿宋" panose="02010609060101010101" pitchFamily="49" charset="-122"/>
                <a:ea typeface="仿宋" panose="02010609060101010101" pitchFamily="49" charset="-122"/>
              </a:rPr>
              <a:t>VIS</a:t>
            </a:r>
            <a:r>
              <a:rPr lang="zh-CN" altLang="en-US" sz="1200" dirty="0">
                <a:latin typeface="仿宋" panose="02010609060101010101" pitchFamily="49" charset="-122"/>
                <a:ea typeface="仿宋" panose="02010609060101010101" pitchFamily="49" charset="-122"/>
              </a:rPr>
              <a:t>等；</a:t>
            </a:r>
            <a:endParaRPr lang="en-US" altLang="zh-CN" sz="1200" dirty="0">
              <a:latin typeface="仿宋" panose="02010609060101010101" pitchFamily="49" charset="-122"/>
              <a:ea typeface="仿宋" panose="02010609060101010101" pitchFamily="49" charset="-122"/>
            </a:endParaRPr>
          </a:p>
          <a:p>
            <a:pPr marL="288000" lvl="1">
              <a:lnSpc>
                <a:spcPct val="150000"/>
              </a:lnSpc>
              <a:spcBef>
                <a:spcPts val="0"/>
              </a:spcBef>
              <a:buSzPct val="70000"/>
              <a:tabLst>
                <a:tab pos="457200" algn="l"/>
                <a:tab pos="914400" algn="l"/>
              </a:tabLst>
            </a:pPr>
            <a:r>
              <a:rPr lang="zh-CN" altLang="zh-CN" sz="1200" dirty="0">
                <a:latin typeface="仿宋" panose="02010609060101010101" pitchFamily="49" charset="-122"/>
                <a:ea typeface="仿宋" panose="02010609060101010101" pitchFamily="49" charset="-122"/>
              </a:rPr>
              <a:t>以</a:t>
            </a:r>
            <a:r>
              <a:rPr lang="en-US" altLang="zh-CN" sz="1200" b="1" dirty="0">
                <a:latin typeface="仿宋" panose="02010609060101010101" pitchFamily="49" charset="-122"/>
                <a:ea typeface="仿宋" panose="02010609060101010101" pitchFamily="49" charset="-122"/>
              </a:rPr>
              <a:t>forecast</a:t>
            </a:r>
            <a:r>
              <a:rPr lang="zh-CN" altLang="zh-CN" sz="1200" b="1" dirty="0">
                <a:latin typeface="仿宋" panose="02010609060101010101" pitchFamily="49" charset="-122"/>
                <a:ea typeface="仿宋" panose="02010609060101010101" pitchFamily="49" charset="-122"/>
              </a:rPr>
              <a:t>以及订单</a:t>
            </a:r>
            <a:r>
              <a:rPr lang="zh-CN" altLang="zh-CN" sz="1200" dirty="0">
                <a:latin typeface="仿宋" panose="02010609060101010101" pitchFamily="49" charset="-122"/>
                <a:ea typeface="仿宋" panose="02010609060101010101" pitchFamily="49" charset="-122"/>
              </a:rPr>
              <a:t>为契约精神，通过拜访终端客户了解需求，排除代理商库存情况，合理制定</a:t>
            </a:r>
            <a:r>
              <a:rPr lang="en-US" altLang="zh-CN" sz="1200" dirty="0">
                <a:latin typeface="仿宋" panose="02010609060101010101" pitchFamily="49" charset="-122"/>
                <a:ea typeface="仿宋" panose="02010609060101010101" pitchFamily="49" charset="-122"/>
              </a:rPr>
              <a:t>forecast</a:t>
            </a:r>
            <a:r>
              <a:rPr lang="zh-CN" altLang="zh-CN" sz="1200" dirty="0">
                <a:latin typeface="仿宋" panose="02010609060101010101" pitchFamily="49" charset="-122"/>
                <a:ea typeface="仿宋" panose="02010609060101010101" pitchFamily="49" charset="-122"/>
              </a:rPr>
              <a:t>数据，并得到客户确认的金额额情况下，原厂开始备料流程。</a:t>
            </a:r>
            <a:endParaRPr lang="en-US" altLang="zh-CN" sz="1200" dirty="0">
              <a:latin typeface="仿宋" panose="02010609060101010101" pitchFamily="49" charset="-122"/>
              <a:ea typeface="仿宋" panose="02010609060101010101" pitchFamily="49" charset="-122"/>
            </a:endParaRPr>
          </a:p>
          <a:p>
            <a:pPr marL="0" lvl="1" indent="180000">
              <a:lnSpc>
                <a:spcPct val="150000"/>
              </a:lnSpc>
              <a:spcBef>
                <a:spcPts val="600"/>
              </a:spcBef>
              <a:buSzPct val="70000"/>
              <a:buBlip>
                <a:blip r:embed="rId3"/>
              </a:buBlip>
            </a:pPr>
            <a:r>
              <a:rPr lang="zh-CN" altLang="en-US" sz="1400" b="1" dirty="0">
                <a:latin typeface="仿宋" panose="02010609060101010101" pitchFamily="49" charset="-122"/>
                <a:ea typeface="仿宋" panose="02010609060101010101" pitchFamily="49" charset="-122"/>
              </a:rPr>
              <a:t>采购模式：</a:t>
            </a:r>
            <a:endParaRPr lang="en-US" altLang="zh-CN" sz="1400" b="1" dirty="0">
              <a:latin typeface="仿宋" panose="02010609060101010101" pitchFamily="49" charset="-122"/>
              <a:ea typeface="仿宋" panose="02010609060101010101" pitchFamily="49" charset="-122"/>
            </a:endParaRPr>
          </a:p>
          <a:p>
            <a:pPr marL="288000" lvl="1">
              <a:lnSpc>
                <a:spcPct val="150000"/>
              </a:lnSpc>
              <a:spcBef>
                <a:spcPts val="600"/>
              </a:spcBef>
              <a:buSzPct val="70000"/>
              <a:tabLst>
                <a:tab pos="457200" algn="l"/>
                <a:tab pos="914400" algn="l"/>
              </a:tabLst>
            </a:pPr>
            <a:r>
              <a:rPr lang="zh-CN" altLang="en-US" sz="1200" dirty="0">
                <a:latin typeface="仿宋" panose="02010609060101010101" pitchFamily="49" charset="-122"/>
                <a:ea typeface="仿宋" panose="02010609060101010101" pitchFamily="49" charset="-122"/>
              </a:rPr>
              <a:t>晶圆资源：</a:t>
            </a:r>
            <a:r>
              <a:rPr lang="en-US" altLang="zh-CN" sz="1200" dirty="0">
                <a:latin typeface="仿宋" panose="02010609060101010101" pitchFamily="49" charset="-122"/>
                <a:ea typeface="仿宋" panose="02010609060101010101" pitchFamily="49" charset="-122"/>
              </a:rPr>
              <a:t>【</a:t>
            </a:r>
            <a:r>
              <a:rPr lang="zh-CN" altLang="en-US" sz="1200" dirty="0">
                <a:latin typeface="仿宋" panose="02010609060101010101" pitchFamily="49" charset="-122"/>
                <a:ea typeface="仿宋" panose="02010609060101010101" pitchFamily="49" charset="-122"/>
              </a:rPr>
              <a:t>下线</a:t>
            </a:r>
            <a:r>
              <a:rPr lang="en-US" altLang="zh-CN" sz="1200" dirty="0">
                <a:latin typeface="仿宋" panose="02010609060101010101" pitchFamily="49" charset="-122"/>
                <a:ea typeface="仿宋" panose="02010609060101010101" pitchFamily="49" charset="-122"/>
              </a:rPr>
              <a:t>】</a:t>
            </a:r>
            <a:r>
              <a:rPr lang="zh-CN" altLang="en-US" sz="1200" b="1" dirty="0">
                <a:latin typeface="仿宋" panose="02010609060101010101" pitchFamily="49" charset="-122"/>
                <a:ea typeface="仿宋" panose="02010609060101010101" pitchFamily="49" charset="-122"/>
              </a:rPr>
              <a:t>台湾世界先进平均</a:t>
            </a:r>
            <a:r>
              <a:rPr lang="en-US" altLang="zh-CN" sz="1200" b="1" dirty="0">
                <a:latin typeface="仿宋" panose="02010609060101010101" pitchFamily="49" charset="-122"/>
                <a:ea typeface="仿宋" panose="02010609060101010101" pitchFamily="49" charset="-122"/>
              </a:rPr>
              <a:t>1100</a:t>
            </a:r>
            <a:r>
              <a:rPr lang="zh-CN" altLang="en-US" sz="1200" b="1" dirty="0">
                <a:latin typeface="仿宋" panose="02010609060101010101" pitchFamily="49" charset="-122"/>
                <a:ea typeface="仿宋" panose="02010609060101010101" pitchFamily="49" charset="-122"/>
              </a:rPr>
              <a:t>片</a:t>
            </a:r>
            <a:r>
              <a:rPr lang="en-US" altLang="zh-CN" sz="1200" b="1" dirty="0">
                <a:latin typeface="仿宋" panose="02010609060101010101" pitchFamily="49" charset="-122"/>
                <a:ea typeface="仿宋" panose="02010609060101010101" pitchFamily="49" charset="-122"/>
              </a:rPr>
              <a:t>/</a:t>
            </a:r>
            <a:r>
              <a:rPr lang="zh-CN" altLang="en-US" sz="1200" b="1" dirty="0">
                <a:latin typeface="仿宋" panose="02010609060101010101" pitchFamily="49" charset="-122"/>
                <a:ea typeface="仿宋" panose="02010609060101010101" pitchFamily="49" charset="-122"/>
              </a:rPr>
              <a:t>月，韩国东部平均</a:t>
            </a:r>
            <a:r>
              <a:rPr lang="en-US" altLang="zh-CN" sz="1200" b="1" dirty="0">
                <a:latin typeface="仿宋" panose="02010609060101010101" pitchFamily="49" charset="-122"/>
                <a:ea typeface="仿宋" panose="02010609060101010101" pitchFamily="49" charset="-122"/>
              </a:rPr>
              <a:t>700</a:t>
            </a:r>
            <a:r>
              <a:rPr lang="zh-CN" altLang="en-US" sz="1200" b="1" dirty="0">
                <a:latin typeface="仿宋" panose="02010609060101010101" pitchFamily="49" charset="-122"/>
                <a:ea typeface="仿宋" panose="02010609060101010101" pitchFamily="49" charset="-122"/>
              </a:rPr>
              <a:t>片</a:t>
            </a:r>
            <a:r>
              <a:rPr lang="en-US" altLang="zh-CN" sz="1200" b="1" dirty="0">
                <a:latin typeface="仿宋" panose="02010609060101010101" pitchFamily="49" charset="-122"/>
                <a:ea typeface="仿宋" panose="02010609060101010101" pitchFamily="49" charset="-122"/>
              </a:rPr>
              <a:t>/</a:t>
            </a:r>
            <a:r>
              <a:rPr lang="zh-CN" altLang="en-US" sz="1200" b="1" dirty="0">
                <a:latin typeface="仿宋" panose="02010609060101010101" pitchFamily="49" charset="-122"/>
                <a:ea typeface="仿宋" panose="02010609060101010101" pitchFamily="49" charset="-122"/>
              </a:rPr>
              <a:t>月，华润上华</a:t>
            </a:r>
            <a:r>
              <a:rPr lang="en-US" altLang="zh-CN" sz="1200" b="1" dirty="0">
                <a:latin typeface="仿宋" panose="02010609060101010101" pitchFamily="49" charset="-122"/>
                <a:ea typeface="仿宋" panose="02010609060101010101" pitchFamily="49" charset="-122"/>
              </a:rPr>
              <a:t>3</a:t>
            </a:r>
            <a:r>
              <a:rPr lang="zh-CN" altLang="en-US" sz="1200" b="1" dirty="0">
                <a:latin typeface="仿宋" panose="02010609060101010101" pitchFamily="49" charset="-122"/>
                <a:ea typeface="仿宋" panose="02010609060101010101" pitchFamily="49" charset="-122"/>
              </a:rPr>
              <a:t>月</a:t>
            </a:r>
            <a:r>
              <a:rPr lang="en-US" altLang="zh-CN" sz="1200" b="1" dirty="0">
                <a:latin typeface="仿宋" panose="02010609060101010101" pitchFamily="49" charset="-122"/>
                <a:ea typeface="仿宋" panose="02010609060101010101" pitchFamily="49" charset="-122"/>
              </a:rPr>
              <a:t>30</a:t>
            </a:r>
            <a:r>
              <a:rPr lang="zh-CN" altLang="en-US" sz="1200" b="1" dirty="0">
                <a:latin typeface="仿宋" panose="02010609060101010101" pitchFamily="49" charset="-122"/>
                <a:ea typeface="仿宋" panose="02010609060101010101" pitchFamily="49" charset="-122"/>
              </a:rPr>
              <a:t>日</a:t>
            </a:r>
            <a:r>
              <a:rPr lang="en-US" altLang="zh-CN" sz="1200" b="1" dirty="0">
                <a:latin typeface="仿宋" panose="02010609060101010101" pitchFamily="49" charset="-122"/>
                <a:ea typeface="仿宋" panose="02010609060101010101" pitchFamily="49" charset="-122"/>
              </a:rPr>
              <a:t>-525</a:t>
            </a:r>
            <a:r>
              <a:rPr lang="zh-CN" altLang="en-US" sz="1200" b="1" dirty="0">
                <a:latin typeface="仿宋" panose="02010609060101010101" pitchFamily="49" charset="-122"/>
                <a:ea typeface="仿宋" panose="02010609060101010101" pitchFamily="49" charset="-122"/>
              </a:rPr>
              <a:t>片</a:t>
            </a:r>
            <a:r>
              <a:rPr lang="zh-CN" altLang="en-US" sz="1200" dirty="0">
                <a:latin typeface="仿宋" panose="02010609060101010101" pitchFamily="49" charset="-122"/>
                <a:ea typeface="仿宋" panose="02010609060101010101" pitchFamily="49" charset="-122"/>
              </a:rPr>
              <a:t>。</a:t>
            </a:r>
            <a:endParaRPr lang="en-US" altLang="zh-CN" sz="1200" dirty="0">
              <a:latin typeface="仿宋" panose="02010609060101010101" pitchFamily="49" charset="-122"/>
              <a:ea typeface="仿宋" panose="02010609060101010101" pitchFamily="49" charset="-122"/>
            </a:endParaRPr>
          </a:p>
          <a:p>
            <a:pPr marL="288000" lvl="1">
              <a:lnSpc>
                <a:spcPct val="150000"/>
              </a:lnSpc>
              <a:spcBef>
                <a:spcPts val="600"/>
              </a:spcBef>
              <a:buSzPct val="70000"/>
              <a:tabLst>
                <a:tab pos="457200" algn="l"/>
                <a:tab pos="914400" algn="l"/>
              </a:tabLst>
            </a:pPr>
            <a:r>
              <a:rPr lang="zh-CN" altLang="en-US" sz="1200" dirty="0">
                <a:latin typeface="仿宋" panose="02010609060101010101" pitchFamily="49" charset="-122"/>
                <a:ea typeface="仿宋" panose="02010609060101010101" pitchFamily="49" charset="-122"/>
              </a:rPr>
              <a:t>封测资源：日月光、通富微电等。</a:t>
            </a:r>
            <a:endParaRPr lang="en-US" altLang="zh-CN" sz="1200" dirty="0">
              <a:latin typeface="仿宋" panose="02010609060101010101" pitchFamily="49" charset="-122"/>
              <a:ea typeface="仿宋" panose="02010609060101010101" pitchFamily="49" charset="-122"/>
            </a:endParaRPr>
          </a:p>
          <a:p>
            <a:pPr marL="288000" lvl="1">
              <a:lnSpc>
                <a:spcPct val="150000"/>
              </a:lnSpc>
              <a:spcBef>
                <a:spcPts val="600"/>
              </a:spcBef>
              <a:buSzPct val="70000"/>
              <a:tabLst>
                <a:tab pos="457200" algn="l"/>
                <a:tab pos="914400" algn="l"/>
              </a:tabLst>
            </a:pPr>
            <a:r>
              <a:rPr lang="zh-CN" altLang="en-US" sz="1200" dirty="0">
                <a:latin typeface="仿宋" panose="02010609060101010101" pitchFamily="49" charset="-122"/>
                <a:ea typeface="仿宋" panose="02010609060101010101" pitchFamily="49" charset="-122"/>
              </a:rPr>
              <a:t>建立了自主的</a:t>
            </a:r>
            <a:r>
              <a:rPr lang="zh-CN" altLang="zh-CN" sz="1200" dirty="0">
                <a:latin typeface="仿宋" panose="02010609060101010101" pitchFamily="49" charset="-122"/>
                <a:ea typeface="仿宋" panose="02010609060101010101" pitchFamily="49" charset="-122"/>
              </a:rPr>
              <a:t>供应链采购体系</a:t>
            </a:r>
            <a:r>
              <a:rPr lang="zh-CN" altLang="en-US" sz="1200" dirty="0">
                <a:latin typeface="仿宋" panose="02010609060101010101" pitchFamily="49" charset="-122"/>
                <a:ea typeface="仿宋" panose="02010609060101010101" pitchFamily="49" charset="-122"/>
              </a:rPr>
              <a:t>；</a:t>
            </a:r>
            <a:endParaRPr lang="zh-CN" altLang="zh-CN" sz="1200" dirty="0">
              <a:latin typeface="仿宋" panose="02010609060101010101" pitchFamily="49" charset="-122"/>
              <a:ea typeface="仿宋" panose="02010609060101010101" pitchFamily="49" charset="-122"/>
            </a:endParaRPr>
          </a:p>
          <a:p>
            <a:pPr marL="288000" lvl="1">
              <a:lnSpc>
                <a:spcPct val="150000"/>
              </a:lnSpc>
              <a:spcBef>
                <a:spcPts val="600"/>
              </a:spcBef>
              <a:buSzPct val="70000"/>
              <a:tabLst>
                <a:tab pos="457200" algn="l"/>
                <a:tab pos="914400" algn="l"/>
              </a:tabLst>
            </a:pPr>
            <a:r>
              <a:rPr lang="zh-CN" altLang="zh-CN" sz="1200" b="1" dirty="0">
                <a:latin typeface="仿宋" panose="02010609060101010101" pitchFamily="49" charset="-122"/>
                <a:ea typeface="仿宋" panose="02010609060101010101" pitchFamily="49" charset="-122"/>
              </a:rPr>
              <a:t>与</a:t>
            </a:r>
            <a:r>
              <a:rPr lang="en-US" altLang="zh-CN" sz="1200" b="1" dirty="0">
                <a:latin typeface="仿宋" panose="02010609060101010101" pitchFamily="49" charset="-122"/>
                <a:ea typeface="仿宋" panose="02010609060101010101" pitchFamily="49" charset="-122"/>
              </a:rPr>
              <a:t>O2Micro</a:t>
            </a:r>
            <a:r>
              <a:rPr lang="zh-CN" altLang="zh-CN" sz="1200" b="1" dirty="0">
                <a:latin typeface="仿宋" panose="02010609060101010101" pitchFamily="49" charset="-122"/>
                <a:ea typeface="仿宋" panose="02010609060101010101" pitchFamily="49" charset="-122"/>
              </a:rPr>
              <a:t>同等的服务条件</a:t>
            </a:r>
            <a:r>
              <a:rPr lang="zh-CN" altLang="zh-CN" sz="1200" dirty="0">
                <a:latin typeface="仿宋" panose="02010609060101010101" pitchFamily="49" charset="-122"/>
                <a:ea typeface="仿宋" panose="02010609060101010101" pitchFamily="49" charset="-122"/>
              </a:rPr>
              <a:t>，包括但不仅限于账期、交期、价格等内容。</a:t>
            </a:r>
            <a:endParaRPr lang="en-US" altLang="zh-CN" sz="1200" dirty="0">
              <a:latin typeface="仿宋" panose="02010609060101010101" pitchFamily="49" charset="-122"/>
              <a:ea typeface="仿宋" panose="02010609060101010101" pitchFamily="49" charset="-122"/>
            </a:endParaRPr>
          </a:p>
          <a:p>
            <a:pPr marL="0" lvl="1" indent="180000">
              <a:lnSpc>
                <a:spcPct val="150000"/>
              </a:lnSpc>
              <a:spcBef>
                <a:spcPts val="600"/>
              </a:spcBef>
              <a:buSzPct val="70000"/>
              <a:buBlip>
                <a:blip r:embed="rId3"/>
              </a:buBlip>
            </a:pPr>
            <a:r>
              <a:rPr lang="zh-CN" altLang="en-US" sz="1400" b="1" dirty="0">
                <a:latin typeface="仿宋" panose="02010609060101010101" pitchFamily="49" charset="-122"/>
                <a:ea typeface="仿宋" panose="02010609060101010101" pitchFamily="49" charset="-122"/>
              </a:rPr>
              <a:t>销售模式：</a:t>
            </a:r>
            <a:endParaRPr lang="en-US" altLang="zh-CN" sz="1400" b="1" dirty="0">
              <a:latin typeface="仿宋" panose="02010609060101010101" pitchFamily="49" charset="-122"/>
              <a:ea typeface="仿宋" panose="02010609060101010101" pitchFamily="49" charset="-122"/>
            </a:endParaRPr>
          </a:p>
          <a:p>
            <a:pPr marL="288000" lvl="1">
              <a:lnSpc>
                <a:spcPct val="150000"/>
              </a:lnSpc>
              <a:spcBef>
                <a:spcPts val="0"/>
              </a:spcBef>
              <a:buSzPct val="70000"/>
              <a:tabLst>
                <a:tab pos="457200" algn="l"/>
                <a:tab pos="914400" algn="l"/>
              </a:tabLst>
            </a:pPr>
            <a:r>
              <a:rPr lang="zh-CN" altLang="en-US" sz="1200" dirty="0">
                <a:latin typeface="仿宋" panose="02010609060101010101" pitchFamily="49" charset="-122"/>
                <a:ea typeface="仿宋" panose="02010609060101010101" pitchFamily="49" charset="-122"/>
              </a:rPr>
              <a:t>行业模式：</a:t>
            </a:r>
            <a:r>
              <a:rPr lang="zh-CN" altLang="zh-CN" sz="1200" dirty="0">
                <a:latin typeface="仿宋" panose="02010609060101010101" pitchFamily="49" charset="-122"/>
                <a:ea typeface="仿宋" panose="02010609060101010101" pitchFamily="49" charset="-122"/>
              </a:rPr>
              <a:t>经销商</a:t>
            </a:r>
            <a:r>
              <a:rPr lang="en-US" altLang="zh-CN" sz="1200" dirty="0">
                <a:latin typeface="仿宋" panose="02010609060101010101" pitchFamily="49" charset="-122"/>
                <a:ea typeface="仿宋" panose="02010609060101010101" pitchFamily="49" charset="-122"/>
              </a:rPr>
              <a:t>/</a:t>
            </a:r>
            <a:r>
              <a:rPr lang="zh-CN" altLang="zh-CN" sz="1200" dirty="0">
                <a:latin typeface="仿宋" panose="02010609060101010101" pitchFamily="49" charset="-122"/>
                <a:ea typeface="仿宋" panose="02010609060101010101" pitchFamily="49" charset="-122"/>
              </a:rPr>
              <a:t>代理商销售为主，直销为辅的销售模式。</a:t>
            </a:r>
            <a:endParaRPr lang="en-US" altLang="zh-CN" sz="1200" dirty="0">
              <a:latin typeface="仿宋" panose="02010609060101010101" pitchFamily="49" charset="-122"/>
              <a:ea typeface="仿宋" panose="02010609060101010101" pitchFamily="49" charset="-122"/>
            </a:endParaRPr>
          </a:p>
          <a:p>
            <a:pPr marL="288000" lvl="1">
              <a:lnSpc>
                <a:spcPct val="150000"/>
              </a:lnSpc>
              <a:spcBef>
                <a:spcPts val="0"/>
              </a:spcBef>
              <a:buSzPct val="70000"/>
              <a:tabLst>
                <a:tab pos="457200" algn="l"/>
                <a:tab pos="914400" algn="l"/>
              </a:tabLst>
            </a:pPr>
            <a:r>
              <a:rPr lang="zh-CN" altLang="en-US" sz="1200" dirty="0">
                <a:latin typeface="仿宋" panose="02010609060101010101" pitchFamily="49" charset="-122"/>
                <a:ea typeface="仿宋" panose="02010609060101010101" pitchFamily="49" charset="-122"/>
              </a:rPr>
              <a:t>大瞬特点：终端客户指定大瞬为芯片原厂，后续大瞬指定代理商发货；</a:t>
            </a:r>
            <a:endParaRPr lang="en-US" altLang="zh-CN" sz="1200" dirty="0">
              <a:latin typeface="仿宋" panose="02010609060101010101" pitchFamily="49" charset="-122"/>
              <a:ea typeface="仿宋" panose="02010609060101010101" pitchFamily="49" charset="-122"/>
            </a:endParaRPr>
          </a:p>
          <a:p>
            <a:pPr marL="288000" lvl="1">
              <a:lnSpc>
                <a:spcPct val="150000"/>
              </a:lnSpc>
              <a:spcBef>
                <a:spcPts val="0"/>
              </a:spcBef>
              <a:buSzPct val="70000"/>
              <a:tabLst>
                <a:tab pos="457200" algn="l"/>
                <a:tab pos="914400" algn="l"/>
              </a:tabLst>
            </a:pPr>
            <a:r>
              <a:rPr lang="zh-CN" altLang="en-US" sz="1200" dirty="0">
                <a:latin typeface="仿宋" panose="02010609060101010101" pitchFamily="49" charset="-122"/>
                <a:ea typeface="仿宋" panose="02010609060101010101" pitchFamily="49" charset="-122"/>
              </a:rPr>
              <a:t>目前给代理商</a:t>
            </a:r>
            <a:r>
              <a:rPr lang="en-US" altLang="zh-CN" sz="1200" b="1" dirty="0">
                <a:latin typeface="仿宋" panose="02010609060101010101" pitchFamily="49" charset="-122"/>
                <a:ea typeface="仿宋" panose="02010609060101010101" pitchFamily="49" charset="-122"/>
              </a:rPr>
              <a:t>0</a:t>
            </a:r>
            <a:r>
              <a:rPr lang="zh-CN" altLang="en-US" sz="1200" b="1" dirty="0">
                <a:latin typeface="仿宋" panose="02010609060101010101" pitchFamily="49" charset="-122"/>
                <a:ea typeface="仿宋" panose="02010609060101010101" pitchFamily="49" charset="-122"/>
              </a:rPr>
              <a:t>账期</a:t>
            </a:r>
            <a:r>
              <a:rPr lang="zh-CN" altLang="en-US" sz="1200" dirty="0">
                <a:latin typeface="仿宋" panose="02010609060101010101" pitchFamily="49" charset="-122"/>
                <a:ea typeface="仿宋" panose="02010609060101010101" pitchFamily="49" charset="-122"/>
              </a:rPr>
              <a:t>。</a:t>
            </a:r>
            <a:endParaRPr lang="zh-CN" altLang="zh-CN" sz="12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1135190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4D9FFAA-3D1D-4AF6-A642-0C83D3E4178A}"/>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二、公司分析</a:t>
            </a:r>
            <a:r>
              <a:rPr lang="en-US" altLang="zh-CN" sz="2400" dirty="0">
                <a:solidFill>
                  <a:schemeClr val="bg1">
                    <a:lumMod val="50000"/>
                  </a:schemeClr>
                </a:solidFill>
              </a:rPr>
              <a:t>|</a:t>
            </a:r>
            <a:r>
              <a:rPr lang="zh-CN" altLang="en-US" sz="2000" dirty="0">
                <a:solidFill>
                  <a:schemeClr val="bg1">
                    <a:lumMod val="50000"/>
                  </a:schemeClr>
                </a:solidFill>
              </a:rPr>
              <a:t>公司基本情况</a:t>
            </a:r>
            <a:r>
              <a:rPr lang="en-US" altLang="zh-CN" sz="2000" dirty="0">
                <a:solidFill>
                  <a:schemeClr val="bg1">
                    <a:lumMod val="50000"/>
                  </a:schemeClr>
                </a:solidFill>
              </a:rPr>
              <a:t>|</a:t>
            </a:r>
            <a:r>
              <a:rPr lang="zh-CN" altLang="en-US" sz="1800" dirty="0"/>
              <a:t>客户</a:t>
            </a:r>
            <a:endParaRPr lang="en-US" altLang="zh-CN" sz="2400" dirty="0"/>
          </a:p>
        </p:txBody>
      </p:sp>
      <p:sp>
        <p:nvSpPr>
          <p:cNvPr id="2" name="Rectangle 3">
            <a:extLst>
              <a:ext uri="{FF2B5EF4-FFF2-40B4-BE49-F238E27FC236}">
                <a16:creationId xmlns:a16="http://schemas.microsoft.com/office/drawing/2014/main" id="{029E3679-0A77-47CD-AB86-83BAA2088A91}"/>
              </a:ext>
            </a:extLst>
          </p:cNvPr>
          <p:cNvSpPr txBox="1">
            <a:spLocks noChangeArrowheads="1"/>
          </p:cNvSpPr>
          <p:nvPr/>
        </p:nvSpPr>
        <p:spPr>
          <a:xfrm>
            <a:off x="539720" y="411599"/>
            <a:ext cx="8064560" cy="2376166"/>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indent="180000">
              <a:lnSpc>
                <a:spcPct val="150000"/>
              </a:lnSpc>
              <a:buSzPct val="70000"/>
              <a:buBlip>
                <a:blip r:embed="rId3"/>
              </a:buBlip>
            </a:pPr>
            <a:r>
              <a:rPr lang="zh-CN" altLang="en-US" sz="1050" b="1" dirty="0">
                <a:solidFill>
                  <a:srgbClr val="FF0000"/>
                </a:solidFill>
                <a:latin typeface="仿宋" panose="02010609060101010101" pitchFamily="49" charset="-122"/>
                <a:ea typeface="仿宋" panose="02010609060101010101" pitchFamily="49" charset="-122"/>
              </a:rPr>
              <a:t>终端客户</a:t>
            </a:r>
            <a:endParaRPr lang="en-US" altLang="zh-CN" sz="1050" b="1" dirty="0">
              <a:solidFill>
                <a:srgbClr val="FF0000"/>
              </a:solidFill>
              <a:latin typeface="仿宋" panose="02010609060101010101" pitchFamily="49" charset="-122"/>
              <a:ea typeface="仿宋" panose="02010609060101010101" pitchFamily="49" charset="-122"/>
            </a:endParaRPr>
          </a:p>
          <a:p>
            <a:pPr marL="0" indent="270000">
              <a:lnSpc>
                <a:spcPct val="150000"/>
              </a:lnSpc>
              <a:spcBef>
                <a:spcPts val="0"/>
              </a:spcBef>
              <a:buSzPct val="70000"/>
              <a:buNone/>
              <a:tabLst>
                <a:tab pos="457200" algn="l"/>
                <a:tab pos="914400" algn="l"/>
              </a:tabLst>
            </a:pPr>
            <a:r>
              <a:rPr lang="zh-CN" altLang="zh-CN" sz="1200" dirty="0">
                <a:latin typeface="仿宋" panose="02010609060101010101" pitchFamily="49" charset="-122"/>
                <a:ea typeface="仿宋" panose="02010609060101010101" pitchFamily="49" charset="-122"/>
              </a:rPr>
              <a:t>公司产品主要应用在</a:t>
            </a:r>
            <a:r>
              <a:rPr lang="zh-CN" altLang="zh-CN" sz="1200" kern="100" dirty="0">
                <a:effectLst/>
                <a:latin typeface="仿宋" panose="02010609060101010101" pitchFamily="49" charset="-122"/>
                <a:ea typeface="仿宋" panose="02010609060101010101" pitchFamily="49" charset="-122"/>
                <a:cs typeface="Times New Roman" panose="02020603050405020304" pitchFamily="18" charset="0"/>
              </a:rPr>
              <a:t>高端手机、笔记本电脑、共享单车、</a:t>
            </a:r>
            <a:r>
              <a:rPr lang="en-US" altLang="zh-CN" sz="1200" kern="100" dirty="0">
                <a:effectLst/>
                <a:latin typeface="仿宋" panose="02010609060101010101" pitchFamily="49" charset="-122"/>
                <a:ea typeface="仿宋" panose="02010609060101010101" pitchFamily="49" charset="-122"/>
                <a:cs typeface="Times New Roman" panose="02020603050405020304" pitchFamily="18" charset="0"/>
              </a:rPr>
              <a:t>TWS</a:t>
            </a:r>
            <a:r>
              <a:rPr lang="zh-CN" altLang="zh-CN" sz="1200" kern="100" dirty="0">
                <a:effectLst/>
                <a:latin typeface="仿宋" panose="02010609060101010101" pitchFamily="49" charset="-122"/>
                <a:ea typeface="仿宋" panose="02010609060101010101" pitchFamily="49" charset="-122"/>
                <a:cs typeface="Times New Roman" panose="02020603050405020304" pitchFamily="18" charset="0"/>
              </a:rPr>
              <a:t>等</a:t>
            </a:r>
            <a:r>
              <a:rPr lang="zh-CN" altLang="en-US" sz="1200" dirty="0">
                <a:latin typeface="仿宋" panose="02010609060101010101" pitchFamily="49" charset="-122"/>
                <a:ea typeface="仿宋" panose="02010609060101010101" pitchFamily="49" charset="-122"/>
              </a:rPr>
              <a:t>：</a:t>
            </a:r>
            <a:endParaRPr lang="en-US" altLang="zh-CN" sz="1200" dirty="0">
              <a:latin typeface="仿宋" panose="02010609060101010101" pitchFamily="49" charset="-122"/>
              <a:ea typeface="仿宋" panose="02010609060101010101" pitchFamily="49" charset="-122"/>
            </a:endParaRPr>
          </a:p>
          <a:p>
            <a:pPr marL="0" indent="270000">
              <a:lnSpc>
                <a:spcPct val="150000"/>
              </a:lnSpc>
              <a:spcBef>
                <a:spcPts val="0"/>
              </a:spcBef>
              <a:buSzPct val="70000"/>
              <a:buNone/>
              <a:tabLst>
                <a:tab pos="457200" algn="l"/>
                <a:tab pos="914400" algn="l"/>
              </a:tabLst>
            </a:pPr>
            <a:r>
              <a:rPr lang="zh-CN" altLang="en-US" sz="1200" b="1" u="sng" dirty="0">
                <a:latin typeface="仿宋" panose="02010609060101010101" pitchFamily="49" charset="-122"/>
                <a:ea typeface="仿宋" panose="02010609060101010101" pitchFamily="49" charset="-122"/>
              </a:rPr>
              <a:t>手机终端</a:t>
            </a:r>
            <a:r>
              <a:rPr lang="zh-CN" altLang="zh-CN" sz="1200" b="1" u="sng" dirty="0">
                <a:latin typeface="仿宋" panose="02010609060101010101" pitchFamily="49" charset="-122"/>
                <a:ea typeface="仿宋" panose="02010609060101010101" pitchFamily="49" charset="-122"/>
              </a:rPr>
              <a:t>客户</a:t>
            </a:r>
            <a:r>
              <a:rPr lang="zh-CN" altLang="zh-CN" sz="1200" dirty="0">
                <a:latin typeface="仿宋" panose="02010609060101010101" pitchFamily="49" charset="-122"/>
                <a:ea typeface="仿宋" panose="02010609060101010101" pitchFamily="49" charset="-122"/>
              </a:rPr>
              <a:t>主要为</a:t>
            </a:r>
            <a:r>
              <a:rPr lang="en-US" altLang="zh-CN" sz="1200" kern="100" dirty="0">
                <a:effectLst/>
                <a:latin typeface="仿宋" panose="02010609060101010101" pitchFamily="49" charset="-122"/>
                <a:ea typeface="仿宋" panose="02010609060101010101" pitchFamily="49" charset="-122"/>
                <a:cs typeface="Times New Roman" panose="02020603050405020304" pitchFamily="18" charset="0"/>
              </a:rPr>
              <a:t>OPPO</a:t>
            </a:r>
            <a:r>
              <a:rPr lang="zh-CN" altLang="zh-CN" sz="1200" kern="100" dirty="0">
                <a:effectLst/>
                <a:latin typeface="仿宋" panose="02010609060101010101" pitchFamily="49" charset="-122"/>
                <a:ea typeface="仿宋" panose="02010609060101010101" pitchFamily="49" charset="-122"/>
                <a:cs typeface="Times New Roman" panose="02020603050405020304" pitchFamily="18" charset="0"/>
              </a:rPr>
              <a:t>、</a:t>
            </a:r>
            <a:r>
              <a:rPr lang="en-US" altLang="zh-CN" sz="1200" kern="100" dirty="0">
                <a:effectLst/>
                <a:latin typeface="仿宋" panose="02010609060101010101" pitchFamily="49" charset="-122"/>
                <a:ea typeface="仿宋" panose="02010609060101010101" pitchFamily="49" charset="-122"/>
                <a:cs typeface="Times New Roman" panose="02020603050405020304" pitchFamily="18" charset="0"/>
              </a:rPr>
              <a:t>vivo</a:t>
            </a:r>
            <a:r>
              <a:rPr lang="zh-CN" altLang="en-US" sz="1200" kern="100" dirty="0">
                <a:effectLst/>
                <a:latin typeface="仿宋" panose="02010609060101010101" pitchFamily="49" charset="-122"/>
                <a:ea typeface="仿宋" panose="02010609060101010101" pitchFamily="49" charset="-122"/>
                <a:cs typeface="Times New Roman" panose="02020603050405020304" pitchFamily="18" charset="0"/>
              </a:rPr>
              <a:t>、</a:t>
            </a:r>
            <a:r>
              <a:rPr lang="zh-CN" altLang="zh-CN" sz="1200" kern="100" dirty="0">
                <a:effectLst/>
                <a:latin typeface="仿宋" panose="02010609060101010101" pitchFamily="49" charset="-122"/>
                <a:ea typeface="仿宋" panose="02010609060101010101" pitchFamily="49" charset="-122"/>
                <a:cs typeface="Times New Roman" panose="02020603050405020304" pitchFamily="18" charset="0"/>
              </a:rPr>
              <a:t>酷派、小米</a:t>
            </a:r>
            <a:r>
              <a:rPr lang="zh-CN" altLang="zh-CN" sz="1200" dirty="0">
                <a:latin typeface="仿宋" panose="02010609060101010101" pitchFamily="49" charset="-122"/>
                <a:ea typeface="仿宋" panose="02010609060101010101" pitchFamily="49" charset="-122"/>
              </a:rPr>
              <a:t>等</a:t>
            </a:r>
            <a:r>
              <a:rPr lang="zh-CN" altLang="en-US" sz="1200" dirty="0">
                <a:latin typeface="仿宋" panose="02010609060101010101" pitchFamily="49" charset="-122"/>
                <a:ea typeface="仿宋" panose="02010609060101010101" pitchFamily="49" charset="-122"/>
              </a:rPr>
              <a:t>；</a:t>
            </a:r>
            <a:r>
              <a:rPr lang="zh-CN" altLang="en-US" sz="1200" b="1" u="sng" dirty="0">
                <a:latin typeface="仿宋" panose="02010609060101010101" pitchFamily="49" charset="-122"/>
                <a:ea typeface="仿宋" panose="02010609060101010101" pitchFamily="49" charset="-122"/>
              </a:rPr>
              <a:t>手机</a:t>
            </a:r>
            <a:r>
              <a:rPr lang="en-US" altLang="zh-CN" sz="1200" b="1" u="sng" dirty="0">
                <a:latin typeface="仿宋" panose="02010609060101010101" pitchFamily="49" charset="-122"/>
                <a:ea typeface="仿宋" panose="02010609060101010101" pitchFamily="49" charset="-122"/>
              </a:rPr>
              <a:t>ODM</a:t>
            </a:r>
            <a:r>
              <a:rPr lang="zh-CN" altLang="en-US" sz="1200" b="1" u="sng" dirty="0">
                <a:latin typeface="仿宋" panose="02010609060101010101" pitchFamily="49" charset="-122"/>
                <a:ea typeface="仿宋" panose="02010609060101010101" pitchFamily="49" charset="-122"/>
              </a:rPr>
              <a:t>厂商</a:t>
            </a:r>
            <a:r>
              <a:rPr lang="zh-CN" altLang="en-US" sz="1200" dirty="0">
                <a:latin typeface="仿宋" panose="02010609060101010101" pitchFamily="49" charset="-122"/>
                <a:ea typeface="仿宋" panose="02010609060101010101" pitchFamily="49" charset="-122"/>
              </a:rPr>
              <a:t>包括：华勤、禾苗等。</a:t>
            </a:r>
            <a:endParaRPr lang="en-US" altLang="zh-CN" sz="1200" dirty="0">
              <a:latin typeface="仿宋" panose="02010609060101010101" pitchFamily="49" charset="-122"/>
              <a:ea typeface="仿宋" panose="02010609060101010101" pitchFamily="49" charset="-122"/>
            </a:endParaRPr>
          </a:p>
          <a:p>
            <a:pPr marL="0" indent="270000">
              <a:lnSpc>
                <a:spcPct val="150000"/>
              </a:lnSpc>
              <a:spcBef>
                <a:spcPts val="0"/>
              </a:spcBef>
              <a:buSzPct val="70000"/>
              <a:buNone/>
              <a:tabLst>
                <a:tab pos="457200" algn="l"/>
                <a:tab pos="914400" algn="l"/>
              </a:tabLst>
            </a:pPr>
            <a:r>
              <a:rPr lang="zh-CN" altLang="en-US" sz="1200" b="1" u="sng" dirty="0">
                <a:latin typeface="仿宋" panose="02010609060101010101" pitchFamily="49" charset="-122"/>
                <a:ea typeface="仿宋" panose="02010609060101010101" pitchFamily="49" charset="-122"/>
              </a:rPr>
              <a:t>笔记本终端厂商</a:t>
            </a:r>
            <a:r>
              <a:rPr lang="zh-CN" altLang="en-US" sz="1200" dirty="0">
                <a:latin typeface="仿宋" panose="02010609060101010101" pitchFamily="49" charset="-122"/>
                <a:ea typeface="仿宋" panose="02010609060101010101" pitchFamily="49" charset="-122"/>
              </a:rPr>
              <a:t>包括</a:t>
            </a:r>
            <a:r>
              <a:rPr lang="en-US" altLang="zh-CN" sz="1200" kern="100" dirty="0">
                <a:effectLst/>
                <a:latin typeface="仿宋" panose="02010609060101010101" pitchFamily="49" charset="-122"/>
                <a:ea typeface="仿宋" panose="02010609060101010101" pitchFamily="49" charset="-122"/>
                <a:cs typeface="Times New Roman" panose="02020603050405020304" pitchFamily="18" charset="0"/>
              </a:rPr>
              <a:t>Acer</a:t>
            </a:r>
            <a:r>
              <a:rPr lang="zh-CN" altLang="zh-CN" sz="1200" kern="100" dirty="0">
                <a:effectLst/>
                <a:latin typeface="仿宋" panose="02010609060101010101" pitchFamily="49" charset="-122"/>
                <a:ea typeface="仿宋" panose="02010609060101010101" pitchFamily="49" charset="-122"/>
                <a:cs typeface="Times New Roman" panose="02020603050405020304" pitchFamily="18" charset="0"/>
              </a:rPr>
              <a:t>、联想、广达电脑、松下、步步高</a:t>
            </a:r>
            <a:r>
              <a:rPr lang="zh-CN" altLang="en-US" sz="1200" kern="100" dirty="0">
                <a:effectLst/>
                <a:latin typeface="仿宋" panose="02010609060101010101" pitchFamily="49" charset="-122"/>
                <a:ea typeface="仿宋" panose="02010609060101010101" pitchFamily="49" charset="-122"/>
                <a:cs typeface="Times New Roman" panose="02020603050405020304" pitchFamily="18" charset="0"/>
              </a:rPr>
              <a:t>等</a:t>
            </a:r>
            <a:r>
              <a:rPr lang="zh-CN" altLang="en-US" sz="1200" dirty="0">
                <a:latin typeface="仿宋" panose="02010609060101010101" pitchFamily="49" charset="-122"/>
                <a:ea typeface="仿宋" panose="02010609060101010101" pitchFamily="49" charset="-122"/>
              </a:rPr>
              <a:t>；（龙芯等也在导入）</a:t>
            </a:r>
            <a:endParaRPr lang="en-US" altLang="zh-CN" sz="1200" dirty="0">
              <a:highlight>
                <a:srgbClr val="FFFF00"/>
              </a:highlight>
              <a:latin typeface="仿宋" panose="02010609060101010101" pitchFamily="49" charset="-122"/>
              <a:ea typeface="仿宋" panose="02010609060101010101" pitchFamily="49" charset="-122"/>
            </a:endParaRPr>
          </a:p>
          <a:p>
            <a:pPr marL="0" indent="180000">
              <a:lnSpc>
                <a:spcPct val="150000"/>
              </a:lnSpc>
              <a:buSzPct val="70000"/>
              <a:buBlip>
                <a:blip r:embed="rId3"/>
              </a:buBlip>
              <a:tabLst>
                <a:tab pos="457200" algn="l"/>
                <a:tab pos="914400" algn="l"/>
              </a:tabLst>
            </a:pPr>
            <a:r>
              <a:rPr lang="zh-CN" altLang="en-US" sz="1050" b="1" dirty="0">
                <a:solidFill>
                  <a:srgbClr val="FF0000"/>
                </a:solidFill>
                <a:latin typeface="仿宋" panose="02010609060101010101" pitchFamily="49" charset="-122"/>
                <a:ea typeface="仿宋" panose="02010609060101010101" pitchFamily="49" charset="-122"/>
              </a:rPr>
              <a:t>直接客户</a:t>
            </a:r>
            <a:endParaRPr lang="en-US" altLang="zh-CN" sz="1050" b="1" dirty="0">
              <a:solidFill>
                <a:srgbClr val="FF0000"/>
              </a:solidFill>
              <a:latin typeface="仿宋" panose="02010609060101010101" pitchFamily="49" charset="-122"/>
              <a:ea typeface="仿宋" panose="02010609060101010101" pitchFamily="49" charset="-122"/>
            </a:endParaRPr>
          </a:p>
          <a:p>
            <a:pPr marL="0" indent="270000">
              <a:lnSpc>
                <a:spcPct val="150000"/>
              </a:lnSpc>
              <a:spcBef>
                <a:spcPts val="0"/>
              </a:spcBef>
              <a:buSzPct val="70000"/>
              <a:buNone/>
              <a:tabLst>
                <a:tab pos="457200" algn="l"/>
                <a:tab pos="914400" algn="l"/>
              </a:tabLst>
            </a:pPr>
            <a:r>
              <a:rPr lang="zh-CN" altLang="en-US" sz="1200" dirty="0">
                <a:latin typeface="仿宋" panose="02010609060101010101" pitchFamily="49" charset="-122"/>
                <a:ea typeface="仿宋" panose="02010609060101010101" pitchFamily="49" charset="-122"/>
              </a:rPr>
              <a:t>公司主要走代理商发货。</a:t>
            </a:r>
            <a:endParaRPr lang="en-US" altLang="zh-CN" sz="1200" dirty="0">
              <a:latin typeface="仿宋" panose="02010609060101010101" pitchFamily="49" charset="-122"/>
              <a:ea typeface="仿宋" panose="02010609060101010101" pitchFamily="49" charset="-122"/>
            </a:endParaRPr>
          </a:p>
          <a:p>
            <a:pPr marL="0" indent="270000">
              <a:lnSpc>
                <a:spcPct val="150000"/>
              </a:lnSpc>
              <a:spcBef>
                <a:spcPts val="0"/>
              </a:spcBef>
              <a:buSzPct val="70000"/>
              <a:buNone/>
              <a:tabLst>
                <a:tab pos="457200" algn="l"/>
                <a:tab pos="914400" algn="l"/>
              </a:tabLst>
            </a:pPr>
            <a:r>
              <a:rPr lang="zh-CN" altLang="en-US" sz="1200" dirty="0">
                <a:latin typeface="仿宋" panose="02010609060101010101" pitchFamily="49" charset="-122"/>
                <a:ea typeface="仿宋" panose="02010609060101010101" pitchFamily="49" charset="-122"/>
              </a:rPr>
              <a:t>前五大代理商包括</a:t>
            </a:r>
            <a:r>
              <a:rPr lang="zh-CN" altLang="zh-CN" sz="1200" kern="100" dirty="0">
                <a:effectLst/>
                <a:ea typeface="仿宋" panose="02010609060101010101" pitchFamily="49" charset="-122"/>
                <a:cs typeface="Times New Roman" panose="02020603050405020304" pitchFamily="18" charset="0"/>
              </a:rPr>
              <a:t>香港联烨电子、台湾丰艺电子、香港和弘信息、台湾千腾科技等境外代理商</a:t>
            </a:r>
            <a:r>
              <a:rPr lang="zh-CN" altLang="en-US" sz="1200" kern="100" dirty="0">
                <a:effectLst/>
                <a:ea typeface="仿宋" panose="02010609060101010101" pitchFamily="49" charset="-122"/>
                <a:cs typeface="Times New Roman" panose="02020603050405020304" pitchFamily="18" charset="0"/>
              </a:rPr>
              <a:t>。</a:t>
            </a:r>
            <a:endParaRPr lang="en-US" altLang="zh-CN" sz="1200" dirty="0">
              <a:latin typeface="仿宋" panose="02010609060101010101" pitchFamily="49" charset="-122"/>
              <a:ea typeface="仿宋" panose="02010609060101010101" pitchFamily="49" charset="-122"/>
            </a:endParaRPr>
          </a:p>
          <a:p>
            <a:pPr marL="0" indent="180000">
              <a:lnSpc>
                <a:spcPct val="150000"/>
              </a:lnSpc>
              <a:buSzPct val="70000"/>
              <a:buBlip>
                <a:blip r:embed="rId3"/>
              </a:buBlip>
              <a:tabLst>
                <a:tab pos="457200" algn="l"/>
                <a:tab pos="914400" algn="l"/>
              </a:tabLst>
            </a:pPr>
            <a:r>
              <a:rPr lang="zh-CN" altLang="en-US" sz="1050" b="1" dirty="0">
                <a:solidFill>
                  <a:srgbClr val="FF0000"/>
                </a:solidFill>
                <a:latin typeface="仿宋" panose="02010609060101010101" pitchFamily="49" charset="-122"/>
                <a:ea typeface="仿宋" panose="02010609060101010101" pitchFamily="49" charset="-122"/>
              </a:rPr>
              <a:t>战略客户</a:t>
            </a:r>
            <a:endParaRPr lang="en-US" altLang="zh-CN" sz="1050" b="1" dirty="0">
              <a:solidFill>
                <a:srgbClr val="FF0000"/>
              </a:solidFill>
              <a:latin typeface="仿宋" panose="02010609060101010101" pitchFamily="49" charset="-122"/>
              <a:ea typeface="仿宋" panose="02010609060101010101" pitchFamily="49" charset="-122"/>
            </a:endParaRPr>
          </a:p>
          <a:p>
            <a:pPr marL="0" indent="270000">
              <a:lnSpc>
                <a:spcPct val="150000"/>
              </a:lnSpc>
              <a:spcBef>
                <a:spcPts val="0"/>
              </a:spcBef>
              <a:buSzPct val="70000"/>
              <a:buNone/>
              <a:tabLst>
                <a:tab pos="457200" algn="l"/>
                <a:tab pos="914400" algn="l"/>
              </a:tabLst>
            </a:pPr>
            <a:r>
              <a:rPr lang="en-US" altLang="zh-CN" sz="1200" dirty="0">
                <a:latin typeface="仿宋" panose="02010609060101010101" pitchFamily="49" charset="-122"/>
                <a:ea typeface="仿宋" panose="02010609060101010101" pitchFamily="49" charset="-122"/>
              </a:rPr>
              <a:t>OPPO</a:t>
            </a:r>
            <a:r>
              <a:rPr lang="zh-CN" altLang="en-US" sz="1200" dirty="0">
                <a:latin typeface="仿宋" panose="02010609060101010101" pitchFamily="49" charset="-122"/>
                <a:ea typeface="仿宋" panose="02010609060101010101" pitchFamily="49" charset="-122"/>
              </a:rPr>
              <a:t>、小米、</a:t>
            </a:r>
            <a:r>
              <a:rPr lang="en-US" altLang="zh-CN" sz="1200" dirty="0">
                <a:latin typeface="仿宋" panose="02010609060101010101" pitchFamily="49" charset="-122"/>
                <a:ea typeface="仿宋" panose="02010609060101010101" pitchFamily="49" charset="-122"/>
              </a:rPr>
              <a:t>vivo</a:t>
            </a:r>
            <a:r>
              <a:rPr lang="zh-CN" altLang="en-US" sz="1200" dirty="0">
                <a:latin typeface="仿宋" panose="02010609060101010101" pitchFamily="49" charset="-122"/>
                <a:ea typeface="仿宋" panose="02010609060101010101" pitchFamily="49" charset="-122"/>
              </a:rPr>
              <a:t>、华硕等；</a:t>
            </a:r>
            <a:endParaRPr lang="zh-CN" altLang="zh-CN" sz="1200" dirty="0">
              <a:latin typeface="仿宋" panose="02010609060101010101" pitchFamily="49" charset="-122"/>
              <a:ea typeface="仿宋" panose="02010609060101010101" pitchFamily="49" charset="-122"/>
            </a:endParaRPr>
          </a:p>
          <a:p>
            <a:pPr marL="0" indent="270000">
              <a:lnSpc>
                <a:spcPct val="150000"/>
              </a:lnSpc>
              <a:spcBef>
                <a:spcPts val="0"/>
              </a:spcBef>
              <a:buSzPct val="70000"/>
              <a:buNone/>
              <a:tabLst>
                <a:tab pos="457200" algn="l"/>
                <a:tab pos="914400" algn="l"/>
              </a:tabLst>
            </a:pPr>
            <a:endParaRPr lang="zh-CN" altLang="zh-CN" sz="1400" dirty="0">
              <a:solidFill>
                <a:srgbClr val="FF0000"/>
              </a:solidFill>
              <a:latin typeface="仿宋" panose="02010609060101010101" pitchFamily="49" charset="-122"/>
              <a:ea typeface="仿宋" panose="02010609060101010101" pitchFamily="49" charset="-122"/>
            </a:endParaRPr>
          </a:p>
        </p:txBody>
      </p:sp>
      <p:pic>
        <p:nvPicPr>
          <p:cNvPr id="5" name="图片 4">
            <a:extLst>
              <a:ext uri="{FF2B5EF4-FFF2-40B4-BE49-F238E27FC236}">
                <a16:creationId xmlns:a16="http://schemas.microsoft.com/office/drawing/2014/main" id="{BE5466DB-0AD8-4F81-BC23-A3A2575CABD6}"/>
              </a:ext>
            </a:extLst>
          </p:cNvPr>
          <p:cNvPicPr>
            <a:picLocks noChangeAspect="1"/>
          </p:cNvPicPr>
          <p:nvPr/>
        </p:nvPicPr>
        <p:blipFill>
          <a:blip r:embed="rId4"/>
          <a:stretch>
            <a:fillRect/>
          </a:stretch>
        </p:blipFill>
        <p:spPr>
          <a:xfrm>
            <a:off x="1043755" y="3041710"/>
            <a:ext cx="2288343" cy="616417"/>
          </a:xfrm>
          <a:prstGeom prst="rect">
            <a:avLst/>
          </a:prstGeom>
        </p:spPr>
      </p:pic>
      <p:pic>
        <p:nvPicPr>
          <p:cNvPr id="17" name="图片 16">
            <a:extLst>
              <a:ext uri="{FF2B5EF4-FFF2-40B4-BE49-F238E27FC236}">
                <a16:creationId xmlns:a16="http://schemas.microsoft.com/office/drawing/2014/main" id="{53DF65B2-E487-4D01-878A-FFE59508F265}"/>
              </a:ext>
            </a:extLst>
          </p:cNvPr>
          <p:cNvPicPr>
            <a:picLocks noChangeAspect="1"/>
          </p:cNvPicPr>
          <p:nvPr/>
        </p:nvPicPr>
        <p:blipFill>
          <a:blip r:embed="rId5"/>
          <a:stretch>
            <a:fillRect/>
          </a:stretch>
        </p:blipFill>
        <p:spPr>
          <a:xfrm>
            <a:off x="6156110" y="3897226"/>
            <a:ext cx="1671858" cy="452254"/>
          </a:xfrm>
          <a:prstGeom prst="rect">
            <a:avLst/>
          </a:prstGeom>
        </p:spPr>
      </p:pic>
      <p:pic>
        <p:nvPicPr>
          <p:cNvPr id="22" name="图片 21">
            <a:extLst>
              <a:ext uri="{FF2B5EF4-FFF2-40B4-BE49-F238E27FC236}">
                <a16:creationId xmlns:a16="http://schemas.microsoft.com/office/drawing/2014/main" id="{1FBD655F-0006-4E97-84E6-48D2BD2ABB3F}"/>
              </a:ext>
            </a:extLst>
          </p:cNvPr>
          <p:cNvPicPr>
            <a:picLocks noChangeAspect="1"/>
          </p:cNvPicPr>
          <p:nvPr/>
        </p:nvPicPr>
        <p:blipFill>
          <a:blip r:embed="rId6"/>
          <a:stretch>
            <a:fillRect/>
          </a:stretch>
        </p:blipFill>
        <p:spPr>
          <a:xfrm>
            <a:off x="3676755" y="3902233"/>
            <a:ext cx="1790489" cy="397667"/>
          </a:xfrm>
          <a:prstGeom prst="rect">
            <a:avLst/>
          </a:prstGeom>
        </p:spPr>
      </p:pic>
      <p:pic>
        <p:nvPicPr>
          <p:cNvPr id="23" name="图片 22">
            <a:extLst>
              <a:ext uri="{FF2B5EF4-FFF2-40B4-BE49-F238E27FC236}">
                <a16:creationId xmlns:a16="http://schemas.microsoft.com/office/drawing/2014/main" id="{A4D4AD61-A665-4A2C-9CA9-27CF27B9BEC8}"/>
              </a:ext>
            </a:extLst>
          </p:cNvPr>
          <p:cNvPicPr>
            <a:picLocks noChangeAspect="1"/>
          </p:cNvPicPr>
          <p:nvPr/>
        </p:nvPicPr>
        <p:blipFill>
          <a:blip r:embed="rId7"/>
          <a:stretch>
            <a:fillRect/>
          </a:stretch>
        </p:blipFill>
        <p:spPr>
          <a:xfrm>
            <a:off x="1074235" y="3852654"/>
            <a:ext cx="1528212" cy="496826"/>
          </a:xfrm>
          <a:prstGeom prst="rect">
            <a:avLst/>
          </a:prstGeom>
        </p:spPr>
      </p:pic>
      <p:pic>
        <p:nvPicPr>
          <p:cNvPr id="24" name="图片 23">
            <a:extLst>
              <a:ext uri="{FF2B5EF4-FFF2-40B4-BE49-F238E27FC236}">
                <a16:creationId xmlns:a16="http://schemas.microsoft.com/office/drawing/2014/main" id="{6828EB10-F2C3-49F7-BAD6-76E1F13D291C}"/>
              </a:ext>
            </a:extLst>
          </p:cNvPr>
          <p:cNvPicPr>
            <a:picLocks noChangeAspect="1"/>
          </p:cNvPicPr>
          <p:nvPr/>
        </p:nvPicPr>
        <p:blipFill>
          <a:blip r:embed="rId8"/>
          <a:stretch>
            <a:fillRect/>
          </a:stretch>
        </p:blipFill>
        <p:spPr>
          <a:xfrm>
            <a:off x="4956203" y="3071463"/>
            <a:ext cx="743583" cy="461867"/>
          </a:xfrm>
          <a:prstGeom prst="rect">
            <a:avLst/>
          </a:prstGeom>
        </p:spPr>
      </p:pic>
      <p:pic>
        <p:nvPicPr>
          <p:cNvPr id="28" name="图片 27">
            <a:extLst>
              <a:ext uri="{FF2B5EF4-FFF2-40B4-BE49-F238E27FC236}">
                <a16:creationId xmlns:a16="http://schemas.microsoft.com/office/drawing/2014/main" id="{B00A7C76-5EA8-4120-AA63-4BD90FA1C06C}"/>
              </a:ext>
            </a:extLst>
          </p:cNvPr>
          <p:cNvPicPr>
            <a:picLocks noChangeAspect="1"/>
          </p:cNvPicPr>
          <p:nvPr/>
        </p:nvPicPr>
        <p:blipFill>
          <a:blip r:embed="rId9"/>
          <a:stretch>
            <a:fillRect/>
          </a:stretch>
        </p:blipFill>
        <p:spPr>
          <a:xfrm>
            <a:off x="6642031" y="3049715"/>
            <a:ext cx="700015" cy="585560"/>
          </a:xfrm>
          <a:prstGeom prst="rect">
            <a:avLst/>
          </a:prstGeom>
        </p:spPr>
      </p:pic>
      <p:pic>
        <p:nvPicPr>
          <p:cNvPr id="29" name="图片 28">
            <a:extLst>
              <a:ext uri="{FF2B5EF4-FFF2-40B4-BE49-F238E27FC236}">
                <a16:creationId xmlns:a16="http://schemas.microsoft.com/office/drawing/2014/main" id="{BAC644B8-138B-44AA-A0F5-3B8904765BB5}"/>
              </a:ext>
            </a:extLst>
          </p:cNvPr>
          <p:cNvPicPr>
            <a:picLocks noChangeAspect="1"/>
          </p:cNvPicPr>
          <p:nvPr/>
        </p:nvPicPr>
        <p:blipFill>
          <a:blip r:embed="rId10"/>
          <a:stretch>
            <a:fillRect/>
          </a:stretch>
        </p:blipFill>
        <p:spPr>
          <a:xfrm>
            <a:off x="3779945" y="3041710"/>
            <a:ext cx="588902" cy="584584"/>
          </a:xfrm>
          <a:prstGeom prst="rect">
            <a:avLst/>
          </a:prstGeom>
        </p:spPr>
      </p:pic>
    </p:spTree>
    <p:extLst>
      <p:ext uri="{BB962C8B-B14F-4D97-AF65-F5344CB8AC3E}">
        <p14:creationId xmlns:p14="http://schemas.microsoft.com/office/powerpoint/2010/main" val="502967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4D9FFAA-3D1D-4AF6-A642-0C83D3E4178A}"/>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二、公司分析</a:t>
            </a:r>
            <a:r>
              <a:rPr lang="en-US" altLang="zh-CN" sz="2400" dirty="0">
                <a:solidFill>
                  <a:schemeClr val="bg1">
                    <a:lumMod val="50000"/>
                  </a:schemeClr>
                </a:solidFill>
              </a:rPr>
              <a:t>|</a:t>
            </a:r>
            <a:r>
              <a:rPr lang="zh-CN" altLang="en-US" sz="2000" dirty="0">
                <a:solidFill>
                  <a:schemeClr val="bg1">
                    <a:lumMod val="50000"/>
                  </a:schemeClr>
                </a:solidFill>
              </a:rPr>
              <a:t>公司基本情况</a:t>
            </a:r>
            <a:r>
              <a:rPr lang="en-US" altLang="zh-CN" sz="2000" dirty="0">
                <a:solidFill>
                  <a:schemeClr val="bg1">
                    <a:lumMod val="50000"/>
                  </a:schemeClr>
                </a:solidFill>
              </a:rPr>
              <a:t>|</a:t>
            </a:r>
            <a:r>
              <a:rPr lang="zh-CN" altLang="en-US" sz="1800" dirty="0"/>
              <a:t>供应商</a:t>
            </a:r>
            <a:endParaRPr lang="en-US" altLang="zh-CN" sz="2400" dirty="0"/>
          </a:p>
        </p:txBody>
      </p:sp>
      <p:sp>
        <p:nvSpPr>
          <p:cNvPr id="14" name="Rectangle 3">
            <a:extLst>
              <a:ext uri="{FF2B5EF4-FFF2-40B4-BE49-F238E27FC236}">
                <a16:creationId xmlns:a16="http://schemas.microsoft.com/office/drawing/2014/main" id="{BDDBC892-D6B4-45A7-A782-614FA18576DE}"/>
              </a:ext>
            </a:extLst>
          </p:cNvPr>
          <p:cNvSpPr txBox="1">
            <a:spLocks noChangeArrowheads="1"/>
          </p:cNvSpPr>
          <p:nvPr/>
        </p:nvSpPr>
        <p:spPr>
          <a:xfrm>
            <a:off x="5364055" y="645169"/>
            <a:ext cx="3653052" cy="4014726"/>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indent="180000">
              <a:lnSpc>
                <a:spcPct val="150000"/>
              </a:lnSpc>
              <a:buSzPct val="70000"/>
              <a:buBlip>
                <a:blip r:embed="rId3"/>
              </a:buBlip>
              <a:tabLst>
                <a:tab pos="457200" algn="l"/>
                <a:tab pos="914400" algn="l"/>
              </a:tabLst>
            </a:pPr>
            <a:r>
              <a:rPr lang="zh-CN" altLang="en-US" sz="1200" b="1" dirty="0">
                <a:latin typeface="仿宋" panose="02010609060101010101" pitchFamily="49" charset="-122"/>
                <a:ea typeface="仿宋" panose="02010609060101010101" pitchFamily="49" charset="-122"/>
              </a:rPr>
              <a:t>晶圆厂：</a:t>
            </a:r>
            <a:r>
              <a:rPr lang="en-US" altLang="zh-CN" sz="1200" dirty="0">
                <a:latin typeface="仿宋" panose="02010609060101010101" pitchFamily="49" charset="-122"/>
                <a:ea typeface="仿宋" panose="02010609060101010101" pitchFamily="49" charset="-122"/>
              </a:rPr>
              <a:t>VIS</a:t>
            </a:r>
            <a:r>
              <a:rPr lang="zh-CN" altLang="en-US" sz="1200" dirty="0">
                <a:latin typeface="仿宋" panose="02010609060101010101" pitchFamily="49" charset="-122"/>
                <a:ea typeface="仿宋" panose="02010609060101010101" pitchFamily="49" charset="-122"/>
              </a:rPr>
              <a:t>、韩国东部、华润上华等；</a:t>
            </a:r>
            <a:endParaRPr lang="en-US" altLang="zh-CN" sz="1200" dirty="0">
              <a:latin typeface="仿宋" panose="02010609060101010101" pitchFamily="49" charset="-122"/>
              <a:ea typeface="仿宋" panose="02010609060101010101" pitchFamily="49" charset="-122"/>
            </a:endParaRPr>
          </a:p>
          <a:p>
            <a:pPr marL="0" indent="180000">
              <a:lnSpc>
                <a:spcPct val="150000"/>
              </a:lnSpc>
              <a:buSzPct val="70000"/>
              <a:buBlip>
                <a:blip r:embed="rId3"/>
              </a:buBlip>
              <a:tabLst>
                <a:tab pos="457200" algn="l"/>
                <a:tab pos="914400" algn="l"/>
              </a:tabLst>
            </a:pPr>
            <a:r>
              <a:rPr lang="zh-CN" altLang="en-US" sz="1200" b="1" dirty="0">
                <a:latin typeface="仿宋" panose="02010609060101010101" pitchFamily="49" charset="-122"/>
                <a:ea typeface="仿宋" panose="02010609060101010101" pitchFamily="49" charset="-122"/>
              </a:rPr>
              <a:t>封测厂：</a:t>
            </a:r>
            <a:r>
              <a:rPr lang="zh-CN" altLang="zh-CN" sz="1200" kern="100" dirty="0">
                <a:effectLst/>
                <a:ea typeface="仿宋" panose="02010609060101010101" pitchFamily="49" charset="-122"/>
                <a:cs typeface="Times New Roman" panose="02020603050405020304" pitchFamily="18" charset="0"/>
              </a:rPr>
              <a:t>超丰电子</a:t>
            </a:r>
            <a:r>
              <a:rPr lang="zh-CN" altLang="en-US" sz="1200" kern="100" dirty="0">
                <a:effectLst/>
                <a:ea typeface="仿宋" panose="02010609060101010101" pitchFamily="49" charset="-122"/>
                <a:cs typeface="Times New Roman" panose="02020603050405020304" pitchFamily="18" charset="0"/>
              </a:rPr>
              <a:t>、</a:t>
            </a:r>
            <a:r>
              <a:rPr lang="zh-CN" altLang="zh-CN" sz="1200" kern="100" dirty="0">
                <a:effectLst/>
                <a:ea typeface="仿宋" panose="02010609060101010101" pitchFamily="49" charset="-122"/>
                <a:cs typeface="Times New Roman" panose="02020603050405020304" pitchFamily="18" charset="0"/>
              </a:rPr>
              <a:t>通富微电子</a:t>
            </a:r>
            <a:r>
              <a:rPr lang="zh-CN" altLang="en-US" sz="1200" kern="100" dirty="0">
                <a:effectLst/>
                <a:ea typeface="仿宋" panose="02010609060101010101" pitchFamily="49" charset="-122"/>
                <a:cs typeface="Times New Roman" panose="02020603050405020304" pitchFamily="18" charset="0"/>
              </a:rPr>
              <a:t>等。</a:t>
            </a:r>
            <a:endParaRPr lang="en-US" altLang="zh-CN" sz="1200" kern="100" dirty="0">
              <a:effectLst/>
              <a:ea typeface="仿宋" panose="02010609060101010101" pitchFamily="49" charset="-122"/>
              <a:cs typeface="Times New Roman" panose="02020603050405020304" pitchFamily="18" charset="0"/>
            </a:endParaRPr>
          </a:p>
          <a:p>
            <a:pPr marL="0" indent="180000">
              <a:lnSpc>
                <a:spcPct val="150000"/>
              </a:lnSpc>
              <a:buSzPct val="70000"/>
              <a:buBlip>
                <a:blip r:embed="rId3"/>
              </a:buBlip>
              <a:tabLst>
                <a:tab pos="457200" algn="l"/>
                <a:tab pos="914400" algn="l"/>
              </a:tabLst>
            </a:pPr>
            <a:r>
              <a:rPr lang="zh-CN" altLang="en-US" sz="1200" kern="100" dirty="0">
                <a:latin typeface="仿宋" panose="02010609060101010101" pitchFamily="49" charset="-122"/>
                <a:ea typeface="仿宋" panose="02010609060101010101" pitchFamily="49" charset="-122"/>
                <a:cs typeface="Times New Roman" panose="02020603050405020304" pitchFamily="18" charset="0"/>
              </a:rPr>
              <a:t>晶圆渠道商：</a:t>
            </a:r>
            <a:r>
              <a:rPr lang="en-US" altLang="zh-CN" sz="1200" b="0" i="0" u="none" strike="noStrike" dirty="0">
                <a:solidFill>
                  <a:srgbClr val="000000"/>
                </a:solidFill>
                <a:effectLst/>
                <a:latin typeface="仿宋" panose="02010609060101010101" pitchFamily="49" charset="-122"/>
                <a:ea typeface="仿宋" panose="02010609060101010101" pitchFamily="49" charset="-122"/>
              </a:rPr>
              <a:t>O2Micro International Limited</a:t>
            </a:r>
          </a:p>
          <a:p>
            <a:pPr marL="0" indent="457200">
              <a:lnSpc>
                <a:spcPct val="150000"/>
              </a:lnSpc>
              <a:buSzPct val="70000"/>
              <a:buNone/>
              <a:tabLst>
                <a:tab pos="457200" algn="l"/>
                <a:tab pos="914400" algn="l"/>
              </a:tabLst>
            </a:pPr>
            <a:r>
              <a:rPr lang="zh-CN" altLang="zh-CN" sz="1200" kern="100" dirty="0">
                <a:effectLst/>
                <a:ea typeface="仿宋" panose="02010609060101010101" pitchFamily="49" charset="-122"/>
                <a:cs typeface="Times New Roman" panose="02020603050405020304" pitchFamily="18" charset="0"/>
              </a:rPr>
              <a:t>业务发展初期继续使用了凹凸科技的供应链，包括晶圆、封装和测试等，并向凹凸科技采购了一定量的</a:t>
            </a:r>
            <a:r>
              <a:rPr lang="en-US" altLang="zh-CN" sz="1200" kern="100" dirty="0">
                <a:effectLst/>
                <a:ea typeface="仿宋" panose="02010609060101010101" pitchFamily="49" charset="-122"/>
                <a:cs typeface="Times New Roman" panose="02020603050405020304" pitchFamily="18" charset="0"/>
              </a:rPr>
              <a:t>PC</a:t>
            </a:r>
            <a:r>
              <a:rPr lang="zh-CN" altLang="zh-CN" sz="1200" kern="100" dirty="0">
                <a:effectLst/>
                <a:ea typeface="仿宋" panose="02010609060101010101" pitchFamily="49" charset="-122"/>
                <a:cs typeface="Times New Roman" panose="02020603050405020304" pitchFamily="18" charset="0"/>
              </a:rPr>
              <a:t>类芯片。</a:t>
            </a:r>
            <a:endParaRPr lang="en-US" altLang="zh-CN" sz="1200" kern="100" dirty="0">
              <a:effectLst/>
              <a:ea typeface="仿宋" panose="02010609060101010101" pitchFamily="49" charset="-122"/>
              <a:cs typeface="Times New Roman" panose="02020603050405020304" pitchFamily="18" charset="0"/>
            </a:endParaRPr>
          </a:p>
          <a:p>
            <a:pPr marL="0" indent="457200">
              <a:lnSpc>
                <a:spcPct val="150000"/>
              </a:lnSpc>
              <a:buSzPct val="70000"/>
              <a:buNone/>
              <a:tabLst>
                <a:tab pos="457200" algn="l"/>
                <a:tab pos="914400" algn="l"/>
              </a:tabLst>
            </a:pPr>
            <a:r>
              <a:rPr lang="zh-CN" altLang="en-US" sz="1200" kern="100" dirty="0">
                <a:latin typeface="仿宋" panose="02010609060101010101" pitchFamily="49" charset="-122"/>
                <a:ea typeface="仿宋" panose="02010609060101010101" pitchFamily="49" charset="-122"/>
                <a:cs typeface="Times New Roman" panose="02020603050405020304" pitchFamily="18" charset="0"/>
              </a:rPr>
              <a:t>预计</a:t>
            </a:r>
            <a:r>
              <a:rPr lang="en-US" altLang="zh-CN" sz="1200" kern="100" dirty="0">
                <a:latin typeface="仿宋" panose="02010609060101010101" pitchFamily="49" charset="-122"/>
                <a:ea typeface="仿宋" panose="02010609060101010101" pitchFamily="49" charset="-122"/>
                <a:cs typeface="Times New Roman" panose="02020603050405020304" pitchFamily="18" charset="0"/>
              </a:rPr>
              <a:t>2022</a:t>
            </a:r>
            <a:r>
              <a:rPr lang="zh-CN" altLang="en-US" sz="1200" kern="100" dirty="0">
                <a:latin typeface="仿宋" panose="02010609060101010101" pitchFamily="49" charset="-122"/>
                <a:ea typeface="仿宋" panose="02010609060101010101" pitchFamily="49" charset="-122"/>
                <a:cs typeface="Times New Roman" panose="02020603050405020304" pitchFamily="18" charset="0"/>
              </a:rPr>
              <a:t>年占比将快速下降。</a:t>
            </a:r>
            <a:endParaRPr lang="en-US" altLang="zh-CN" sz="1200" kern="100" dirty="0">
              <a:latin typeface="仿宋" panose="02010609060101010101" pitchFamily="49" charset="-122"/>
              <a:ea typeface="仿宋" panose="02010609060101010101" pitchFamily="49" charset="-122"/>
              <a:cs typeface="Times New Roman" panose="02020603050405020304" pitchFamily="18" charset="0"/>
            </a:endParaRPr>
          </a:p>
          <a:p>
            <a:pPr marL="0" indent="180000">
              <a:lnSpc>
                <a:spcPct val="150000"/>
              </a:lnSpc>
              <a:buSzPct val="70000"/>
              <a:buBlip>
                <a:blip r:embed="rId3"/>
              </a:buBlip>
              <a:tabLst>
                <a:tab pos="457200" algn="l"/>
                <a:tab pos="914400" algn="l"/>
              </a:tabLst>
            </a:pPr>
            <a:r>
              <a:rPr lang="zh-CN" altLang="zh-CN" sz="1200" kern="100" dirty="0">
                <a:latin typeface="仿宋" panose="02010609060101010101" pitchFamily="49" charset="-122"/>
                <a:ea typeface="仿宋" panose="02010609060101010101" pitchFamily="49" charset="-122"/>
                <a:cs typeface="Times New Roman" panose="02020603050405020304" pitchFamily="18" charset="0"/>
              </a:rPr>
              <a:t>封测渠道商</a:t>
            </a:r>
            <a:r>
              <a:rPr lang="zh-CN" altLang="en-US" sz="1200" kern="100" dirty="0">
                <a:latin typeface="仿宋" panose="02010609060101010101" pitchFamily="49" charset="-122"/>
                <a:ea typeface="仿宋" panose="02010609060101010101" pitchFamily="49" charset="-122"/>
                <a:cs typeface="Times New Roman" panose="02020603050405020304" pitchFamily="18" charset="0"/>
              </a:rPr>
              <a:t>：</a:t>
            </a:r>
            <a:r>
              <a:rPr lang="en-US" altLang="zh-CN" sz="1200" kern="100" dirty="0" err="1">
                <a:latin typeface="仿宋" panose="02010609060101010101" pitchFamily="49" charset="-122"/>
                <a:ea typeface="仿宋" panose="02010609060101010101" pitchFamily="49" charset="-122"/>
                <a:cs typeface="Times New Roman" panose="02020603050405020304" pitchFamily="18" charset="0"/>
              </a:rPr>
              <a:t>Dashun</a:t>
            </a:r>
            <a:r>
              <a:rPr lang="en-US" altLang="zh-CN" sz="1200" kern="100" dirty="0">
                <a:latin typeface="仿宋" panose="02010609060101010101" pitchFamily="49" charset="-122"/>
                <a:ea typeface="仿宋" panose="02010609060101010101" pitchFamily="49" charset="-122"/>
                <a:cs typeface="Times New Roman" panose="02020603050405020304" pitchFamily="18" charset="0"/>
              </a:rPr>
              <a:t> Technology Limited</a:t>
            </a:r>
          </a:p>
          <a:p>
            <a:pPr marL="0" indent="457200">
              <a:lnSpc>
                <a:spcPct val="150000"/>
              </a:lnSpc>
              <a:buSzPct val="70000"/>
              <a:buNone/>
              <a:tabLst>
                <a:tab pos="457200" algn="l"/>
                <a:tab pos="914400" algn="l"/>
              </a:tabLst>
            </a:pPr>
            <a:r>
              <a:rPr lang="zh-CN" altLang="en-US" sz="1200" kern="100" dirty="0">
                <a:ea typeface="仿宋" panose="02010609060101010101" pitchFamily="49" charset="-122"/>
                <a:cs typeface="Times New Roman" panose="02020603050405020304" pitchFamily="18" charset="0"/>
              </a:rPr>
              <a:t>大瞬通过其采购</a:t>
            </a:r>
            <a:r>
              <a:rPr lang="zh-CN" altLang="zh-CN" sz="1200" kern="100" dirty="0">
                <a:ea typeface="仿宋" panose="02010609060101010101" pitchFamily="49" charset="-122"/>
                <a:cs typeface="Times New Roman" panose="02020603050405020304" pitchFamily="18" charset="0"/>
              </a:rPr>
              <a:t>上市公司提供的操作和测试服务</a:t>
            </a:r>
            <a:r>
              <a:rPr lang="zh-CN" altLang="en-US" sz="1200" kern="100" dirty="0">
                <a:ea typeface="仿宋" panose="02010609060101010101" pitchFamily="49" charset="-122"/>
                <a:cs typeface="Times New Roman" panose="02020603050405020304" pitchFamily="18" charset="0"/>
              </a:rPr>
              <a:t>。</a:t>
            </a:r>
            <a:endParaRPr lang="en-US" altLang="zh-CN" sz="1200" kern="100" dirty="0">
              <a:ea typeface="仿宋" panose="02010609060101010101" pitchFamily="49" charset="-122"/>
              <a:cs typeface="Times New Roman" panose="02020603050405020304" pitchFamily="18" charset="0"/>
            </a:endParaRPr>
          </a:p>
          <a:p>
            <a:pPr marL="0" indent="180000">
              <a:lnSpc>
                <a:spcPct val="150000"/>
              </a:lnSpc>
              <a:buSzPct val="70000"/>
              <a:buBlip>
                <a:blip r:embed="rId3"/>
              </a:buBlip>
              <a:tabLst>
                <a:tab pos="457200" algn="l"/>
                <a:tab pos="914400" algn="l"/>
              </a:tabLst>
            </a:pPr>
            <a:endParaRPr lang="en-US" altLang="zh-CN" sz="1200" kern="100" dirty="0">
              <a:latin typeface="仿宋" panose="02010609060101010101" pitchFamily="49" charset="-122"/>
              <a:ea typeface="仿宋" panose="02010609060101010101" pitchFamily="49" charset="-122"/>
              <a:cs typeface="Times New Roman" panose="02020603050405020304" pitchFamily="18" charset="0"/>
            </a:endParaRPr>
          </a:p>
        </p:txBody>
      </p:sp>
      <p:graphicFrame>
        <p:nvGraphicFramePr>
          <p:cNvPr id="7" name="表格 6">
            <a:extLst>
              <a:ext uri="{FF2B5EF4-FFF2-40B4-BE49-F238E27FC236}">
                <a16:creationId xmlns:a16="http://schemas.microsoft.com/office/drawing/2014/main" id="{B41E7595-EA90-4D7D-AF2C-EB1F3CAA7081}"/>
              </a:ext>
            </a:extLst>
          </p:cNvPr>
          <p:cNvGraphicFramePr>
            <a:graphicFrameLocks noGrp="1"/>
          </p:cNvGraphicFramePr>
          <p:nvPr>
            <p:extLst>
              <p:ext uri="{D42A27DB-BD31-4B8C-83A1-F6EECF244321}">
                <p14:modId xmlns:p14="http://schemas.microsoft.com/office/powerpoint/2010/main" val="2354962523"/>
              </p:ext>
            </p:extLst>
          </p:nvPr>
        </p:nvGraphicFramePr>
        <p:xfrm>
          <a:off x="344502" y="915635"/>
          <a:ext cx="4813300" cy="2924175"/>
        </p:xfrm>
        <a:graphic>
          <a:graphicData uri="http://schemas.openxmlformats.org/drawingml/2006/table">
            <a:tbl>
              <a:tblPr/>
              <a:tblGrid>
                <a:gridCol w="401108">
                  <a:extLst>
                    <a:ext uri="{9D8B030D-6E8A-4147-A177-3AD203B41FA5}">
                      <a16:colId xmlns:a16="http://schemas.microsoft.com/office/drawing/2014/main" val="2943331970"/>
                    </a:ext>
                  </a:extLst>
                </a:gridCol>
                <a:gridCol w="2196546">
                  <a:extLst>
                    <a:ext uri="{9D8B030D-6E8A-4147-A177-3AD203B41FA5}">
                      <a16:colId xmlns:a16="http://schemas.microsoft.com/office/drawing/2014/main" val="4074363922"/>
                    </a:ext>
                  </a:extLst>
                </a:gridCol>
                <a:gridCol w="783116">
                  <a:extLst>
                    <a:ext uri="{9D8B030D-6E8A-4147-A177-3AD203B41FA5}">
                      <a16:colId xmlns:a16="http://schemas.microsoft.com/office/drawing/2014/main" val="586961022"/>
                    </a:ext>
                  </a:extLst>
                </a:gridCol>
                <a:gridCol w="716265">
                  <a:extLst>
                    <a:ext uri="{9D8B030D-6E8A-4147-A177-3AD203B41FA5}">
                      <a16:colId xmlns:a16="http://schemas.microsoft.com/office/drawing/2014/main" val="3885625061"/>
                    </a:ext>
                  </a:extLst>
                </a:gridCol>
                <a:gridCol w="716265">
                  <a:extLst>
                    <a:ext uri="{9D8B030D-6E8A-4147-A177-3AD203B41FA5}">
                      <a16:colId xmlns:a16="http://schemas.microsoft.com/office/drawing/2014/main" val="669506463"/>
                    </a:ext>
                  </a:extLst>
                </a:gridCol>
              </a:tblGrid>
              <a:tr h="190500">
                <a:tc gridSpan="5">
                  <a:txBody>
                    <a:bodyPr/>
                    <a:lstStyle/>
                    <a:p>
                      <a:pPr algn="ctr" fontAlgn="ctr"/>
                      <a:r>
                        <a:rPr lang="en-US" altLang="zh-CN" sz="1100" b="1" i="0" u="none" strike="noStrike">
                          <a:solidFill>
                            <a:srgbClr val="000000"/>
                          </a:solidFill>
                          <a:effectLst/>
                          <a:latin typeface="仿宋" panose="02010609060101010101" pitchFamily="49" charset="-122"/>
                          <a:ea typeface="仿宋" panose="02010609060101010101" pitchFamily="49" charset="-122"/>
                        </a:rPr>
                        <a:t>2021</a:t>
                      </a:r>
                      <a:r>
                        <a:rPr lang="zh-CN" altLang="en-US" sz="1100" b="1" i="0" u="none" strike="noStrike">
                          <a:solidFill>
                            <a:srgbClr val="000000"/>
                          </a:solidFill>
                          <a:effectLst/>
                          <a:latin typeface="仿宋" panose="02010609060101010101" pitchFamily="49" charset="-122"/>
                          <a:ea typeface="仿宋" panose="02010609060101010101" pitchFamily="49" charset="-122"/>
                        </a:rPr>
                        <a:t>年</a:t>
                      </a:r>
                      <a:r>
                        <a:rPr lang="en-US" altLang="zh-CN" sz="1100" b="1" i="0" u="none" strike="noStrike">
                          <a:solidFill>
                            <a:srgbClr val="000000"/>
                          </a:solidFill>
                          <a:effectLst/>
                          <a:latin typeface="仿宋" panose="02010609060101010101" pitchFamily="49" charset="-122"/>
                          <a:ea typeface="仿宋" panose="02010609060101010101" pitchFamily="49" charset="-122"/>
                        </a:rPr>
                        <a:t>1-4</a:t>
                      </a:r>
                      <a:r>
                        <a:rPr lang="zh-CN" altLang="en-US" sz="1100" b="1" i="0" u="none" strike="noStrike">
                          <a:solidFill>
                            <a:srgbClr val="000000"/>
                          </a:solidFill>
                          <a:effectLst/>
                          <a:latin typeface="仿宋" panose="02010609060101010101" pitchFamily="49" charset="-122"/>
                          <a:ea typeface="仿宋" panose="02010609060101010101" pitchFamily="49" charset="-122"/>
                        </a:rPr>
                        <a:t>月</a:t>
                      </a:r>
                    </a:p>
                  </a:txBody>
                  <a:tcPr marL="9525" marR="9525" marT="9525" marB="0" anchor="ctr">
                    <a:lnL>
                      <a:noFill/>
                    </a:lnL>
                    <a:lnR>
                      <a:noFill/>
                    </a:lnR>
                    <a:lnT>
                      <a:noFill/>
                    </a:lnT>
                    <a:lnB w="12700" cap="flat" cmpd="sng" algn="ctr">
                      <a:solidFill>
                        <a:srgbClr val="00B0F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74478364"/>
                  </a:ext>
                </a:extLst>
              </a:tr>
              <a:tr h="180975">
                <a:tc>
                  <a:txBody>
                    <a:bodyPr/>
                    <a:lstStyle/>
                    <a:p>
                      <a:pPr algn="ctr" fontAlgn="ctr"/>
                      <a:r>
                        <a:rPr lang="zh-CN" altLang="en-US" sz="1100" b="1" i="0" u="none" strike="noStrike">
                          <a:solidFill>
                            <a:srgbClr val="000000"/>
                          </a:solidFill>
                          <a:effectLst/>
                          <a:latin typeface="仿宋" panose="02010609060101010101" pitchFamily="49" charset="-122"/>
                          <a:ea typeface="仿宋" panose="02010609060101010101" pitchFamily="49" charset="-122"/>
                        </a:rPr>
                        <a:t>序号</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供应商名称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 采购内容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 采购金额</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占比（</a:t>
                      </a:r>
                      <a:r>
                        <a:rPr lang="en-US" altLang="zh-CN" sz="1050" b="1" i="0" u="none" strike="noStrike">
                          <a:solidFill>
                            <a:srgbClr val="000000"/>
                          </a:solidFill>
                          <a:effectLst/>
                          <a:latin typeface="仿宋" panose="02010609060101010101" pitchFamily="49" charset="-122"/>
                          <a:ea typeface="仿宋" panose="02010609060101010101" pitchFamily="49" charset="-122"/>
                        </a:rPr>
                        <a:t>%</a:t>
                      </a:r>
                      <a:r>
                        <a:rPr lang="zh-CN" altLang="en-US" sz="1050" b="1" i="0" u="none" strike="noStrike">
                          <a:solidFill>
                            <a:srgbClr val="000000"/>
                          </a:solidFill>
                          <a:effectLst/>
                          <a:latin typeface="仿宋" panose="02010609060101010101" pitchFamily="49" charset="-122"/>
                          <a:ea typeface="仿宋" panose="02010609060101010101" pitchFamily="49" charset="-122"/>
                        </a:rPr>
                        <a:t>）</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extLst>
                  <a:ext uri="{0D108BD9-81ED-4DB2-BD59-A6C34878D82A}">
                    <a16:rowId xmlns:a16="http://schemas.microsoft.com/office/drawing/2014/main" val="3622194284"/>
                  </a:ext>
                </a:extLst>
              </a:tr>
              <a:tr h="180975">
                <a:tc>
                  <a:txBody>
                    <a:bodyPr/>
                    <a:lstStyle/>
                    <a:p>
                      <a:pPr algn="ctr" fontAlgn="ctr"/>
                      <a:r>
                        <a:rPr lang="en-US" altLang="zh-CN" sz="1100" b="0" i="0" u="none" strike="noStrike">
                          <a:solidFill>
                            <a:srgbClr val="000000"/>
                          </a:solidFill>
                          <a:effectLst/>
                          <a:latin typeface="仿宋" panose="02010609060101010101" pitchFamily="49" charset="-122"/>
                          <a:ea typeface="仿宋" panose="02010609060101010101" pitchFamily="49" charset="-122"/>
                        </a:rPr>
                        <a:t>1</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just" fontAlgn="ctr"/>
                      <a:r>
                        <a:rPr lang="en-US" sz="1050" b="0" i="0" u="none" strike="noStrike">
                          <a:solidFill>
                            <a:srgbClr val="000000"/>
                          </a:solidFill>
                          <a:effectLst/>
                          <a:latin typeface="仿宋" panose="02010609060101010101" pitchFamily="49" charset="-122"/>
                          <a:ea typeface="仿宋" panose="02010609060101010101" pitchFamily="49" charset="-122"/>
                        </a:rPr>
                        <a:t>O2Micro International Limited</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芯片</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2,197.29</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sz="1050" b="0" i="0" u="none" strike="noStrike">
                          <a:solidFill>
                            <a:srgbClr val="000000"/>
                          </a:solidFill>
                          <a:effectLst/>
                          <a:latin typeface="仿宋" panose="02010609060101010101" pitchFamily="49" charset="-122"/>
                          <a:ea typeface="仿宋" panose="02010609060101010101" pitchFamily="49" charset="-122"/>
                        </a:rPr>
                        <a:t>61.07</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978292474"/>
                  </a:ext>
                </a:extLst>
              </a:tr>
              <a:tr h="180975">
                <a:tc>
                  <a:txBody>
                    <a:bodyPr/>
                    <a:lstStyle/>
                    <a:p>
                      <a:pPr algn="ctr" fontAlgn="ctr"/>
                      <a:r>
                        <a:rPr lang="en-US" altLang="zh-CN" sz="1100" b="0" i="0" u="none" strike="noStrike">
                          <a:solidFill>
                            <a:srgbClr val="000000"/>
                          </a:solidFill>
                          <a:effectLst/>
                          <a:latin typeface="仿宋" panose="02010609060101010101" pitchFamily="49" charset="-122"/>
                          <a:ea typeface="仿宋" panose="02010609060101010101" pitchFamily="49" charset="-122"/>
                        </a:rPr>
                        <a:t>2</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just" fontAlgn="ctr"/>
                      <a:r>
                        <a:rPr lang="zh-TW" altLang="en-US" sz="1050" b="0" i="0" u="none" strike="noStrike">
                          <a:solidFill>
                            <a:srgbClr val="000000"/>
                          </a:solidFill>
                          <a:effectLst/>
                          <a:latin typeface="仿宋" panose="02010609060101010101" pitchFamily="49" charset="-122"/>
                          <a:ea typeface="仿宋" panose="02010609060101010101" pitchFamily="49" charset="-122"/>
                        </a:rPr>
                        <a:t>超豐電子股份有限公司</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封测</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677.95</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sz="1050" b="0" i="0" u="none" strike="noStrike">
                          <a:solidFill>
                            <a:srgbClr val="000000"/>
                          </a:solidFill>
                          <a:effectLst/>
                          <a:latin typeface="仿宋" panose="02010609060101010101" pitchFamily="49" charset="-122"/>
                          <a:ea typeface="仿宋" panose="02010609060101010101" pitchFamily="49" charset="-122"/>
                        </a:rPr>
                        <a:t>18.84</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58167427"/>
                  </a:ext>
                </a:extLst>
              </a:tr>
              <a:tr h="180975">
                <a:tc>
                  <a:txBody>
                    <a:bodyPr/>
                    <a:lstStyle/>
                    <a:p>
                      <a:pPr algn="ctr" fontAlgn="ctr"/>
                      <a:r>
                        <a:rPr lang="en-US" altLang="zh-CN" sz="1100" b="0" i="0" u="none" strike="noStrike">
                          <a:solidFill>
                            <a:srgbClr val="000000"/>
                          </a:solidFill>
                          <a:effectLst/>
                          <a:latin typeface="仿宋" panose="02010609060101010101" pitchFamily="49" charset="-122"/>
                          <a:ea typeface="仿宋" panose="02010609060101010101" pitchFamily="49" charset="-122"/>
                        </a:rPr>
                        <a:t>3</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just" fontAlgn="ctr"/>
                      <a:r>
                        <a:rPr lang="en-US" sz="1050" b="0" i="0" u="none" strike="noStrike">
                          <a:solidFill>
                            <a:srgbClr val="000000"/>
                          </a:solidFill>
                          <a:effectLst/>
                          <a:latin typeface="仿宋" panose="02010609060101010101" pitchFamily="49" charset="-122"/>
                          <a:ea typeface="仿宋" panose="02010609060101010101" pitchFamily="49" charset="-122"/>
                        </a:rPr>
                        <a:t>DASHUN TECHNOLOGY LIMITED</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测试</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334.54</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sz="1050" b="0" i="0" u="none" strike="noStrike">
                          <a:solidFill>
                            <a:srgbClr val="000000"/>
                          </a:solidFill>
                          <a:effectLst/>
                          <a:latin typeface="仿宋" panose="02010609060101010101" pitchFamily="49" charset="-122"/>
                          <a:ea typeface="仿宋" panose="02010609060101010101" pitchFamily="49" charset="-122"/>
                        </a:rPr>
                        <a:t>9.3</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666468491"/>
                  </a:ext>
                </a:extLst>
              </a:tr>
              <a:tr h="180975">
                <a:tc>
                  <a:txBody>
                    <a:bodyPr/>
                    <a:lstStyle/>
                    <a:p>
                      <a:pPr algn="ctr" fontAlgn="ctr"/>
                      <a:r>
                        <a:rPr lang="en-US" altLang="zh-CN" sz="1100" b="0" i="0" u="none" strike="noStrike">
                          <a:solidFill>
                            <a:srgbClr val="000000"/>
                          </a:solidFill>
                          <a:effectLst/>
                          <a:latin typeface="仿宋" panose="02010609060101010101" pitchFamily="49" charset="-122"/>
                          <a:ea typeface="仿宋" panose="02010609060101010101" pitchFamily="49" charset="-122"/>
                        </a:rPr>
                        <a:t>4</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just" fontAlgn="ctr"/>
                      <a:r>
                        <a:rPr lang="en-US" sz="1050" b="0" i="0" u="none" strike="noStrike">
                          <a:solidFill>
                            <a:srgbClr val="000000"/>
                          </a:solidFill>
                          <a:effectLst/>
                          <a:latin typeface="仿宋" panose="02010609060101010101" pitchFamily="49" charset="-122"/>
                          <a:ea typeface="仿宋" panose="02010609060101010101" pitchFamily="49" charset="-122"/>
                        </a:rPr>
                        <a:t>DB HITEK USA, INC.</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晶圆</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155.17</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sz="1050" b="0" i="0" u="none" strike="noStrike">
                          <a:solidFill>
                            <a:srgbClr val="000000"/>
                          </a:solidFill>
                          <a:effectLst/>
                          <a:latin typeface="仿宋" panose="02010609060101010101" pitchFamily="49" charset="-122"/>
                          <a:ea typeface="仿宋" panose="02010609060101010101" pitchFamily="49" charset="-122"/>
                        </a:rPr>
                        <a:t>4.31</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852641784"/>
                  </a:ext>
                </a:extLst>
              </a:tr>
              <a:tr h="180975">
                <a:tc>
                  <a:txBody>
                    <a:bodyPr/>
                    <a:lstStyle/>
                    <a:p>
                      <a:pPr algn="ctr" fontAlgn="ctr"/>
                      <a:r>
                        <a:rPr lang="en-US" altLang="zh-CN" sz="1100" b="0" i="0" u="none" strike="noStrike">
                          <a:solidFill>
                            <a:srgbClr val="000000"/>
                          </a:solidFill>
                          <a:effectLst/>
                          <a:latin typeface="仿宋" panose="02010609060101010101" pitchFamily="49" charset="-122"/>
                          <a:ea typeface="仿宋" panose="02010609060101010101" pitchFamily="49" charset="-122"/>
                        </a:rPr>
                        <a:t>5</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just"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其他</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晶圆</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233.29</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sz="1050" b="0" i="0" u="none" strike="noStrike">
                          <a:solidFill>
                            <a:srgbClr val="000000"/>
                          </a:solidFill>
                          <a:effectLst/>
                          <a:latin typeface="仿宋" panose="02010609060101010101" pitchFamily="49" charset="-122"/>
                          <a:ea typeface="仿宋" panose="02010609060101010101" pitchFamily="49" charset="-122"/>
                        </a:rPr>
                        <a:t>6.48</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4289149743"/>
                  </a:ext>
                </a:extLst>
              </a:tr>
              <a:tr h="190500">
                <a:tc gridSpan="2">
                  <a:txBody>
                    <a:bodyPr/>
                    <a:lstStyle/>
                    <a:p>
                      <a:pPr algn="ctr"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 合  计 </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hMerge="1">
                  <a:txBody>
                    <a:bodyPr/>
                    <a:lstStyle/>
                    <a:p>
                      <a:endParaRPr lang="zh-CN" altLang="en-US"/>
                    </a:p>
                  </a:txBody>
                  <a:tcPr/>
                </a:tc>
                <a:tc>
                  <a:txBody>
                    <a:bodyPr/>
                    <a:lstStyle/>
                    <a:p>
                      <a:pPr algn="ctr"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3,598.24</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fontAlgn="ctr"/>
                      <a:r>
                        <a:rPr lang="en-US" sz="1050" b="0" i="0" u="none" strike="noStrike">
                          <a:solidFill>
                            <a:srgbClr val="000000"/>
                          </a:solidFill>
                          <a:effectLst/>
                          <a:latin typeface="仿宋" panose="02010609060101010101" pitchFamily="49" charset="-122"/>
                          <a:ea typeface="仿宋" panose="02010609060101010101" pitchFamily="49" charset="-122"/>
                        </a:rPr>
                        <a:t>100</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243177013"/>
                  </a:ext>
                </a:extLst>
              </a:tr>
              <a:tr h="180975">
                <a:tc gridSpan="5">
                  <a:txBody>
                    <a:bodyPr/>
                    <a:lstStyle/>
                    <a:p>
                      <a:pPr algn="ctr" fontAlgn="ctr"/>
                      <a:r>
                        <a:rPr lang="en-US" altLang="zh-CN" sz="1100" b="1" i="0" u="none" strike="noStrike">
                          <a:solidFill>
                            <a:srgbClr val="000000"/>
                          </a:solidFill>
                          <a:effectLst/>
                          <a:latin typeface="仿宋" panose="02010609060101010101" pitchFamily="49" charset="-122"/>
                          <a:ea typeface="仿宋" panose="02010609060101010101" pitchFamily="49" charset="-122"/>
                        </a:rPr>
                        <a:t>2020</a:t>
                      </a:r>
                      <a:r>
                        <a:rPr lang="zh-CN" altLang="en-US" sz="1100" b="1" i="0" u="none" strike="noStrike">
                          <a:solidFill>
                            <a:srgbClr val="000000"/>
                          </a:solidFill>
                          <a:effectLst/>
                          <a:latin typeface="仿宋" panose="02010609060101010101" pitchFamily="49" charset="-122"/>
                          <a:ea typeface="仿宋" panose="02010609060101010101" pitchFamily="49" charset="-122"/>
                        </a:rPr>
                        <a:t>年</a:t>
                      </a:r>
                    </a:p>
                  </a:txBody>
                  <a:tcPr marL="9525" marR="9525" marT="9525"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787127741"/>
                  </a:ext>
                </a:extLst>
              </a:tr>
              <a:tr h="180975">
                <a:tc>
                  <a:txBody>
                    <a:bodyPr/>
                    <a:lstStyle/>
                    <a:p>
                      <a:pPr algn="ctr" fontAlgn="ctr"/>
                      <a:r>
                        <a:rPr lang="zh-CN" altLang="en-US" sz="1100" b="1" i="0" u="none" strike="noStrike">
                          <a:solidFill>
                            <a:srgbClr val="000000"/>
                          </a:solidFill>
                          <a:effectLst/>
                          <a:latin typeface="仿宋" panose="02010609060101010101" pitchFamily="49" charset="-122"/>
                          <a:ea typeface="仿宋" panose="02010609060101010101" pitchFamily="49" charset="-122"/>
                        </a:rPr>
                        <a:t>序号</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供应商名称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 采购内容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 采购金额</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占比（</a:t>
                      </a:r>
                      <a:r>
                        <a:rPr lang="en-US" altLang="zh-CN" sz="1050" b="1" i="0" u="none" strike="noStrike">
                          <a:solidFill>
                            <a:srgbClr val="000000"/>
                          </a:solidFill>
                          <a:effectLst/>
                          <a:latin typeface="仿宋" panose="02010609060101010101" pitchFamily="49" charset="-122"/>
                          <a:ea typeface="仿宋" panose="02010609060101010101" pitchFamily="49" charset="-122"/>
                        </a:rPr>
                        <a:t>%</a:t>
                      </a:r>
                      <a:r>
                        <a:rPr lang="zh-CN" altLang="en-US" sz="1050" b="1" i="0" u="none" strike="noStrike">
                          <a:solidFill>
                            <a:srgbClr val="000000"/>
                          </a:solidFill>
                          <a:effectLst/>
                          <a:latin typeface="仿宋" panose="02010609060101010101" pitchFamily="49" charset="-122"/>
                          <a:ea typeface="仿宋" panose="02010609060101010101" pitchFamily="49" charset="-122"/>
                        </a:rPr>
                        <a:t>）</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extLst>
                  <a:ext uri="{0D108BD9-81ED-4DB2-BD59-A6C34878D82A}">
                    <a16:rowId xmlns:a16="http://schemas.microsoft.com/office/drawing/2014/main" val="3055160164"/>
                  </a:ext>
                </a:extLst>
              </a:tr>
              <a:tr h="180975">
                <a:tc>
                  <a:txBody>
                    <a:bodyPr/>
                    <a:lstStyle/>
                    <a:p>
                      <a:pPr algn="ctr" fontAlgn="ctr"/>
                      <a:r>
                        <a:rPr lang="en-US" altLang="zh-CN" sz="1100" b="0" i="0" u="none" strike="noStrike">
                          <a:solidFill>
                            <a:srgbClr val="000000"/>
                          </a:solidFill>
                          <a:effectLst/>
                          <a:latin typeface="仿宋" panose="02010609060101010101" pitchFamily="49" charset="-122"/>
                          <a:ea typeface="仿宋" panose="02010609060101010101" pitchFamily="49" charset="-122"/>
                        </a:rPr>
                        <a:t>1</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just" fontAlgn="ctr"/>
                      <a:r>
                        <a:rPr lang="en-US" sz="1050" b="0" i="0" u="none" strike="noStrike" dirty="0">
                          <a:solidFill>
                            <a:srgbClr val="000000"/>
                          </a:solidFill>
                          <a:effectLst/>
                          <a:latin typeface="仿宋" panose="02010609060101010101" pitchFamily="49" charset="-122"/>
                          <a:ea typeface="仿宋" panose="02010609060101010101" pitchFamily="49" charset="-122"/>
                        </a:rPr>
                        <a:t>O2Micro International Limited</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芯片</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2,315.92</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sz="1050" b="0" i="0" u="none" strike="noStrike">
                          <a:solidFill>
                            <a:srgbClr val="000000"/>
                          </a:solidFill>
                          <a:effectLst/>
                          <a:latin typeface="仿宋" panose="02010609060101010101" pitchFamily="49" charset="-122"/>
                          <a:ea typeface="仿宋" panose="02010609060101010101" pitchFamily="49" charset="-122"/>
                        </a:rPr>
                        <a:t>46.05</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003561889"/>
                  </a:ext>
                </a:extLst>
              </a:tr>
              <a:tr h="180975">
                <a:tc>
                  <a:txBody>
                    <a:bodyPr/>
                    <a:lstStyle/>
                    <a:p>
                      <a:pPr algn="ctr" fontAlgn="ctr"/>
                      <a:r>
                        <a:rPr lang="en-US" altLang="zh-CN" sz="1100" b="0" i="0" u="none" strike="noStrike">
                          <a:solidFill>
                            <a:srgbClr val="000000"/>
                          </a:solidFill>
                          <a:effectLst/>
                          <a:latin typeface="仿宋" panose="02010609060101010101" pitchFamily="49" charset="-122"/>
                          <a:ea typeface="仿宋" panose="02010609060101010101" pitchFamily="49" charset="-122"/>
                        </a:rPr>
                        <a:t>2</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just" fontAlgn="ctr"/>
                      <a:r>
                        <a:rPr lang="zh-TW" altLang="en-US" sz="1050" b="0" i="0" u="none" strike="noStrike">
                          <a:solidFill>
                            <a:srgbClr val="000000"/>
                          </a:solidFill>
                          <a:effectLst/>
                          <a:latin typeface="仿宋" panose="02010609060101010101" pitchFamily="49" charset="-122"/>
                          <a:ea typeface="仿宋" panose="02010609060101010101" pitchFamily="49" charset="-122"/>
                        </a:rPr>
                        <a:t>超豐電子股份有限公司</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封测</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1,541.70</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sz="1050" b="0" i="0" u="none" strike="noStrike">
                          <a:solidFill>
                            <a:srgbClr val="000000"/>
                          </a:solidFill>
                          <a:effectLst/>
                          <a:latin typeface="仿宋" panose="02010609060101010101" pitchFamily="49" charset="-122"/>
                          <a:ea typeface="仿宋" panose="02010609060101010101" pitchFamily="49" charset="-122"/>
                        </a:rPr>
                        <a:t>30.66</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737224141"/>
                  </a:ext>
                </a:extLst>
              </a:tr>
              <a:tr h="180975">
                <a:tc>
                  <a:txBody>
                    <a:bodyPr/>
                    <a:lstStyle/>
                    <a:p>
                      <a:pPr algn="ctr" fontAlgn="ctr"/>
                      <a:r>
                        <a:rPr lang="en-US" altLang="zh-CN" sz="1100" b="0" i="0" u="none" strike="noStrike">
                          <a:solidFill>
                            <a:srgbClr val="000000"/>
                          </a:solidFill>
                          <a:effectLst/>
                          <a:latin typeface="仿宋" panose="02010609060101010101" pitchFamily="49" charset="-122"/>
                          <a:ea typeface="仿宋" panose="02010609060101010101" pitchFamily="49" charset="-122"/>
                        </a:rPr>
                        <a:t>3</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just" fontAlgn="ctr"/>
                      <a:r>
                        <a:rPr lang="en-US" sz="1050" b="0" i="0" u="none" strike="noStrike">
                          <a:solidFill>
                            <a:srgbClr val="000000"/>
                          </a:solidFill>
                          <a:effectLst/>
                          <a:latin typeface="仿宋" panose="02010609060101010101" pitchFamily="49" charset="-122"/>
                          <a:ea typeface="仿宋" panose="02010609060101010101" pitchFamily="49" charset="-122"/>
                        </a:rPr>
                        <a:t>DASHUN TECHNOLOGY LIMITED</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测试</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667.81</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sz="1050" b="0" i="0" u="none" strike="noStrike">
                          <a:solidFill>
                            <a:srgbClr val="000000"/>
                          </a:solidFill>
                          <a:effectLst/>
                          <a:latin typeface="仿宋" panose="02010609060101010101" pitchFamily="49" charset="-122"/>
                          <a:ea typeface="仿宋" panose="02010609060101010101" pitchFamily="49" charset="-122"/>
                        </a:rPr>
                        <a:t>13.28</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253133548"/>
                  </a:ext>
                </a:extLst>
              </a:tr>
              <a:tr h="180975">
                <a:tc>
                  <a:txBody>
                    <a:bodyPr/>
                    <a:lstStyle/>
                    <a:p>
                      <a:pPr algn="ctr" fontAlgn="ctr"/>
                      <a:r>
                        <a:rPr lang="en-US" altLang="zh-CN" sz="1100" b="0" i="0" u="none" strike="noStrike">
                          <a:solidFill>
                            <a:srgbClr val="000000"/>
                          </a:solidFill>
                          <a:effectLst/>
                          <a:latin typeface="仿宋" panose="02010609060101010101" pitchFamily="49" charset="-122"/>
                          <a:ea typeface="仿宋" panose="02010609060101010101" pitchFamily="49" charset="-122"/>
                        </a:rPr>
                        <a:t>4</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just"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通富微电子股份有限公司</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晶圆</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321.87</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sz="1050" b="0" i="0" u="none" strike="noStrike">
                          <a:solidFill>
                            <a:srgbClr val="000000"/>
                          </a:solidFill>
                          <a:effectLst/>
                          <a:latin typeface="仿宋" panose="02010609060101010101" pitchFamily="49" charset="-122"/>
                          <a:ea typeface="仿宋" panose="02010609060101010101" pitchFamily="49" charset="-122"/>
                        </a:rPr>
                        <a:t>6.4</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757772150"/>
                  </a:ext>
                </a:extLst>
              </a:tr>
              <a:tr h="180975">
                <a:tc>
                  <a:txBody>
                    <a:bodyPr/>
                    <a:lstStyle/>
                    <a:p>
                      <a:pPr algn="ctr" fontAlgn="ctr"/>
                      <a:r>
                        <a:rPr lang="en-US" altLang="zh-CN" sz="1100" b="0" i="0" u="none" strike="noStrike">
                          <a:solidFill>
                            <a:srgbClr val="000000"/>
                          </a:solidFill>
                          <a:effectLst/>
                          <a:latin typeface="仿宋" panose="02010609060101010101" pitchFamily="49" charset="-122"/>
                          <a:ea typeface="仿宋" panose="02010609060101010101" pitchFamily="49" charset="-122"/>
                        </a:rPr>
                        <a:t>5</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just"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其他</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晶圆</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181.56</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sz="1050" b="0" i="0" u="none" strike="noStrike">
                          <a:solidFill>
                            <a:srgbClr val="000000"/>
                          </a:solidFill>
                          <a:effectLst/>
                          <a:latin typeface="仿宋" panose="02010609060101010101" pitchFamily="49" charset="-122"/>
                          <a:ea typeface="仿宋" panose="02010609060101010101" pitchFamily="49" charset="-122"/>
                        </a:rPr>
                        <a:t>3.61</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4219762240"/>
                  </a:ext>
                </a:extLst>
              </a:tr>
              <a:tr h="190500">
                <a:tc gridSpan="2">
                  <a:txBody>
                    <a:bodyPr/>
                    <a:lstStyle/>
                    <a:p>
                      <a:pPr algn="ctr"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 合  计 </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hMerge="1">
                  <a:txBody>
                    <a:bodyPr/>
                    <a:lstStyle/>
                    <a:p>
                      <a:endParaRPr lang="zh-CN" altLang="en-US"/>
                    </a:p>
                  </a:txBody>
                  <a:tcPr/>
                </a:tc>
                <a:tc>
                  <a:txBody>
                    <a:bodyPr/>
                    <a:lstStyle/>
                    <a:p>
                      <a:pPr algn="ctr"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5,028.87</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fontAlgn="ctr"/>
                      <a:r>
                        <a:rPr lang="en-US" sz="1050" b="0" i="0" u="none" strike="noStrike" dirty="0">
                          <a:solidFill>
                            <a:srgbClr val="000000"/>
                          </a:solidFill>
                          <a:effectLst/>
                          <a:latin typeface="仿宋" panose="02010609060101010101" pitchFamily="49" charset="-122"/>
                          <a:ea typeface="仿宋" panose="02010609060101010101" pitchFamily="49" charset="-122"/>
                        </a:rPr>
                        <a:t>100</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865861115"/>
                  </a:ext>
                </a:extLst>
              </a:tr>
            </a:tbl>
          </a:graphicData>
        </a:graphic>
      </p:graphicFrame>
      <p:pic>
        <p:nvPicPr>
          <p:cNvPr id="13" name="图片 12">
            <a:extLst>
              <a:ext uri="{FF2B5EF4-FFF2-40B4-BE49-F238E27FC236}">
                <a16:creationId xmlns:a16="http://schemas.microsoft.com/office/drawing/2014/main" id="{FD25FC95-C5FF-47F2-9010-D46C2EEA0395}"/>
              </a:ext>
            </a:extLst>
          </p:cNvPr>
          <p:cNvPicPr>
            <a:picLocks noChangeAspect="1"/>
          </p:cNvPicPr>
          <p:nvPr/>
        </p:nvPicPr>
        <p:blipFill>
          <a:blip r:embed="rId4"/>
          <a:stretch>
            <a:fillRect/>
          </a:stretch>
        </p:blipFill>
        <p:spPr>
          <a:xfrm>
            <a:off x="6300120" y="3755482"/>
            <a:ext cx="1574669" cy="928988"/>
          </a:xfrm>
          <a:prstGeom prst="rect">
            <a:avLst/>
          </a:prstGeom>
        </p:spPr>
      </p:pic>
    </p:spTree>
    <p:extLst>
      <p:ext uri="{BB962C8B-B14F-4D97-AF65-F5344CB8AC3E}">
        <p14:creationId xmlns:p14="http://schemas.microsoft.com/office/powerpoint/2010/main" val="34856110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4D9FFAA-3D1D-4AF6-A642-0C83D3E4178A}"/>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二、公司分析</a:t>
            </a:r>
            <a:r>
              <a:rPr lang="en-US" altLang="zh-CN" sz="2400" dirty="0">
                <a:solidFill>
                  <a:schemeClr val="bg1">
                    <a:lumMod val="50000"/>
                  </a:schemeClr>
                </a:solidFill>
              </a:rPr>
              <a:t>|</a:t>
            </a:r>
            <a:r>
              <a:rPr lang="zh-CN" altLang="en-US" sz="2000" dirty="0">
                <a:solidFill>
                  <a:schemeClr val="bg1">
                    <a:lumMod val="50000"/>
                  </a:schemeClr>
                </a:solidFill>
              </a:rPr>
              <a:t>公司基本情况</a:t>
            </a:r>
            <a:r>
              <a:rPr lang="en-US" altLang="zh-CN" sz="2000" dirty="0">
                <a:solidFill>
                  <a:schemeClr val="bg1">
                    <a:lumMod val="50000"/>
                  </a:schemeClr>
                </a:solidFill>
              </a:rPr>
              <a:t>|</a:t>
            </a:r>
            <a:r>
              <a:rPr lang="zh-CN" altLang="en-US" sz="1800" dirty="0"/>
              <a:t>供应商</a:t>
            </a:r>
            <a:endParaRPr lang="en-US" altLang="zh-CN" sz="2400" dirty="0"/>
          </a:p>
        </p:txBody>
      </p:sp>
      <p:sp>
        <p:nvSpPr>
          <p:cNvPr id="14" name="Rectangle 3">
            <a:extLst>
              <a:ext uri="{FF2B5EF4-FFF2-40B4-BE49-F238E27FC236}">
                <a16:creationId xmlns:a16="http://schemas.microsoft.com/office/drawing/2014/main" id="{BDDBC892-D6B4-45A7-A782-614FA18576DE}"/>
              </a:ext>
            </a:extLst>
          </p:cNvPr>
          <p:cNvSpPr txBox="1">
            <a:spLocks noChangeArrowheads="1"/>
          </p:cNvSpPr>
          <p:nvPr/>
        </p:nvSpPr>
        <p:spPr>
          <a:xfrm>
            <a:off x="4995019" y="645169"/>
            <a:ext cx="3969286" cy="4392306"/>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indent="180000">
              <a:lnSpc>
                <a:spcPct val="150000"/>
              </a:lnSpc>
              <a:spcBef>
                <a:spcPts val="0"/>
              </a:spcBef>
              <a:buSzPct val="70000"/>
              <a:buBlip>
                <a:blip r:embed="rId3"/>
              </a:buBlip>
            </a:pPr>
            <a:r>
              <a:rPr lang="en-US" altLang="zh-CN" sz="1200" b="1" dirty="0">
                <a:latin typeface="仿宋" panose="02010609060101010101" pitchFamily="49" charset="-122"/>
                <a:ea typeface="仿宋" panose="02010609060101010101" pitchFamily="49" charset="-122"/>
              </a:rPr>
              <a:t>VIS:</a:t>
            </a:r>
          </a:p>
          <a:p>
            <a:pPr marL="0" indent="270000">
              <a:lnSpc>
                <a:spcPct val="150000"/>
              </a:lnSpc>
              <a:spcBef>
                <a:spcPts val="0"/>
              </a:spcBef>
              <a:buSzPct val="70000"/>
              <a:buNone/>
              <a:tabLst>
                <a:tab pos="457200" algn="l"/>
                <a:tab pos="914400" algn="l"/>
              </a:tabLst>
            </a:pPr>
            <a:r>
              <a:rPr lang="zh-CN" altLang="zh-CN" sz="1200" kern="100" dirty="0">
                <a:effectLst/>
                <a:ea typeface="仿宋" panose="02010609060101010101" pitchFamily="49" charset="-122"/>
                <a:cs typeface="Times New Roman" panose="02020603050405020304" pitchFamily="18" charset="0"/>
              </a:rPr>
              <a:t>全球最大的</a:t>
            </a:r>
            <a:r>
              <a:rPr lang="en-US" altLang="zh-CN" sz="1200" kern="100" dirty="0">
                <a:effectLst/>
                <a:ea typeface="仿宋" panose="02010609060101010101" pitchFamily="49" charset="-122"/>
                <a:cs typeface="Times New Roman" panose="02020603050405020304" pitchFamily="18" charset="0"/>
              </a:rPr>
              <a:t>8</a:t>
            </a:r>
            <a:r>
              <a:rPr lang="zh-CN" altLang="zh-CN" sz="1200" kern="100" dirty="0">
                <a:effectLst/>
                <a:ea typeface="仿宋" panose="02010609060101010101" pitchFamily="49" charset="-122"/>
                <a:cs typeface="Times New Roman" panose="02020603050405020304" pitchFamily="18" charset="0"/>
              </a:rPr>
              <a:t>英寸纯晶圆代工商</a:t>
            </a:r>
            <a:r>
              <a:rPr lang="zh-CN" altLang="en-US" sz="1200" kern="100" dirty="0">
                <a:effectLst/>
                <a:ea typeface="仿宋" panose="02010609060101010101" pitchFamily="49" charset="-122"/>
                <a:cs typeface="Times New Roman" panose="02020603050405020304" pitchFamily="18" charset="0"/>
              </a:rPr>
              <a:t>，</a:t>
            </a:r>
            <a:r>
              <a:rPr lang="zh-CN" altLang="zh-CN" sz="1200" kern="100" dirty="0">
                <a:effectLst/>
                <a:ea typeface="仿宋" panose="02010609060101010101" pitchFamily="49" charset="-122"/>
                <a:cs typeface="Times New Roman" panose="02020603050405020304" pitchFamily="18" charset="0"/>
              </a:rPr>
              <a:t>拥有</a:t>
            </a:r>
            <a:r>
              <a:rPr lang="en-US" altLang="zh-CN" sz="1200" kern="100" dirty="0">
                <a:effectLst/>
                <a:ea typeface="仿宋" panose="02010609060101010101" pitchFamily="49" charset="-122"/>
                <a:cs typeface="Times New Roman" panose="02020603050405020304" pitchFamily="18" charset="0"/>
              </a:rPr>
              <a:t>4</a:t>
            </a:r>
            <a:r>
              <a:rPr lang="zh-CN" altLang="zh-CN" sz="1200" kern="100" dirty="0">
                <a:effectLst/>
                <a:ea typeface="仿宋" panose="02010609060101010101" pitchFamily="49" charset="-122"/>
                <a:cs typeface="Times New Roman" panose="02020603050405020304" pitchFamily="18" charset="0"/>
              </a:rPr>
              <a:t>座</a:t>
            </a:r>
            <a:r>
              <a:rPr lang="en-US" altLang="zh-CN" sz="1200" kern="100" dirty="0">
                <a:effectLst/>
                <a:ea typeface="仿宋" panose="02010609060101010101" pitchFamily="49" charset="-122"/>
                <a:cs typeface="Times New Roman" panose="02020603050405020304" pitchFamily="18" charset="0"/>
              </a:rPr>
              <a:t>8</a:t>
            </a:r>
            <a:r>
              <a:rPr lang="zh-CN" altLang="zh-CN" sz="1200" kern="100" dirty="0">
                <a:effectLst/>
                <a:ea typeface="仿宋" panose="02010609060101010101" pitchFamily="49" charset="-122"/>
                <a:cs typeface="Times New Roman" panose="02020603050405020304" pitchFamily="18" charset="0"/>
              </a:rPr>
              <a:t>英寸晶圆厂</a:t>
            </a:r>
            <a:r>
              <a:rPr lang="zh-CN" altLang="en-US" sz="1200" kern="100" dirty="0">
                <a:effectLst/>
                <a:ea typeface="仿宋" panose="02010609060101010101" pitchFamily="49" charset="-122"/>
                <a:cs typeface="Times New Roman" panose="02020603050405020304" pitchFamily="18" charset="0"/>
              </a:rPr>
              <a:t>，</a:t>
            </a:r>
            <a:r>
              <a:rPr lang="en-US" altLang="zh-CN" sz="1200" kern="100" dirty="0">
                <a:effectLst/>
                <a:latin typeface="仿宋" panose="02010609060101010101" pitchFamily="49" charset="-122"/>
                <a:cs typeface="Times New Roman" panose="02020603050405020304" pitchFamily="18" charset="0"/>
              </a:rPr>
              <a:t>2020</a:t>
            </a:r>
            <a:r>
              <a:rPr lang="zh-CN" altLang="zh-CN" sz="1200" kern="100" dirty="0">
                <a:effectLst/>
                <a:ea typeface="仿宋" panose="02010609060101010101" pitchFamily="49" charset="-122"/>
                <a:cs typeface="Times New Roman" panose="02020603050405020304" pitchFamily="18" charset="0"/>
              </a:rPr>
              <a:t>年平均月产能约</a:t>
            </a:r>
            <a:r>
              <a:rPr lang="en-US" altLang="zh-CN" sz="1200" kern="100" dirty="0">
                <a:effectLst/>
                <a:ea typeface="仿宋" panose="02010609060101010101" pitchFamily="49" charset="-122"/>
                <a:cs typeface="Times New Roman" panose="02020603050405020304" pitchFamily="18" charset="0"/>
              </a:rPr>
              <a:t>23</a:t>
            </a:r>
            <a:r>
              <a:rPr lang="zh-CN" altLang="zh-CN" sz="1200" kern="100" dirty="0">
                <a:effectLst/>
                <a:ea typeface="仿宋" panose="02010609060101010101" pitchFamily="49" charset="-122"/>
                <a:cs typeface="Times New Roman" panose="02020603050405020304" pitchFamily="18" charset="0"/>
              </a:rPr>
              <a:t>万片</a:t>
            </a:r>
            <a:r>
              <a:rPr lang="zh-CN" altLang="en-US" sz="1200" kern="100" dirty="0">
                <a:effectLst/>
                <a:ea typeface="仿宋" panose="02010609060101010101" pitchFamily="49" charset="-122"/>
                <a:cs typeface="Times New Roman" panose="02020603050405020304" pitchFamily="18" charset="0"/>
              </a:rPr>
              <a:t>。</a:t>
            </a:r>
            <a:endParaRPr lang="en-US" altLang="zh-CN" sz="1200" kern="100" dirty="0">
              <a:effectLst/>
              <a:ea typeface="仿宋" panose="02010609060101010101" pitchFamily="49" charset="-122"/>
              <a:cs typeface="Times New Roman" panose="02020603050405020304" pitchFamily="18" charset="0"/>
            </a:endParaRPr>
          </a:p>
          <a:p>
            <a:pPr marL="0" indent="270000">
              <a:lnSpc>
                <a:spcPct val="150000"/>
              </a:lnSpc>
              <a:spcBef>
                <a:spcPts val="0"/>
              </a:spcBef>
              <a:buSzPct val="70000"/>
              <a:buNone/>
              <a:tabLst>
                <a:tab pos="457200" algn="l"/>
                <a:tab pos="914400" algn="l"/>
              </a:tabLst>
            </a:pPr>
            <a:r>
              <a:rPr lang="en-US" altLang="zh-CN" sz="1200" kern="100" dirty="0">
                <a:effectLst/>
                <a:latin typeface="仿宋" panose="02010609060101010101" pitchFamily="49" charset="-122"/>
                <a:cs typeface="Times New Roman" panose="02020603050405020304" pitchFamily="18" charset="0"/>
              </a:rPr>
              <a:t>2020</a:t>
            </a:r>
            <a:r>
              <a:rPr lang="zh-CN" altLang="zh-CN" sz="1200" kern="100" dirty="0">
                <a:effectLst/>
                <a:ea typeface="仿宋" panose="02010609060101010101" pitchFamily="49" charset="-122"/>
                <a:cs typeface="Times New Roman" panose="02020603050405020304" pitchFamily="18" charset="0"/>
              </a:rPr>
              <a:t>年</a:t>
            </a:r>
            <a:r>
              <a:rPr lang="en-US" altLang="zh-CN" sz="1200" kern="100" dirty="0">
                <a:effectLst/>
                <a:ea typeface="仿宋" panose="02010609060101010101" pitchFamily="49" charset="-122"/>
                <a:cs typeface="Times New Roman" panose="02020603050405020304" pitchFamily="18" charset="0"/>
              </a:rPr>
              <a:t>10</a:t>
            </a:r>
            <a:r>
              <a:rPr lang="zh-CN" altLang="zh-CN" sz="1200" kern="100" dirty="0">
                <a:effectLst/>
                <a:ea typeface="仿宋" panose="02010609060101010101" pitchFamily="49" charset="-122"/>
                <a:cs typeface="Times New Roman" panose="02020603050405020304" pitchFamily="18" charset="0"/>
              </a:rPr>
              <a:t>月</a:t>
            </a:r>
            <a:r>
              <a:rPr lang="en-US" altLang="zh-CN" sz="1200" kern="100" dirty="0">
                <a:effectLst/>
                <a:ea typeface="仿宋" panose="02010609060101010101" pitchFamily="49" charset="-122"/>
                <a:cs typeface="Times New Roman" panose="02020603050405020304" pitchFamily="18" charset="0"/>
              </a:rPr>
              <a:t>-2021</a:t>
            </a:r>
            <a:r>
              <a:rPr lang="zh-CN" altLang="zh-CN" sz="1200" kern="100" dirty="0">
                <a:effectLst/>
                <a:ea typeface="仿宋" panose="02010609060101010101" pitchFamily="49" charset="-122"/>
                <a:cs typeface="Times New Roman" panose="02020603050405020304" pitchFamily="18" charset="0"/>
              </a:rPr>
              <a:t>年</a:t>
            </a:r>
            <a:r>
              <a:rPr lang="en-US" altLang="zh-CN" sz="1200" kern="100" dirty="0">
                <a:effectLst/>
                <a:ea typeface="仿宋" panose="02010609060101010101" pitchFamily="49" charset="-122"/>
                <a:cs typeface="Times New Roman" panose="02020603050405020304" pitchFamily="18" charset="0"/>
              </a:rPr>
              <a:t>3</a:t>
            </a:r>
            <a:r>
              <a:rPr lang="zh-CN" altLang="zh-CN" sz="1200" kern="100" dirty="0">
                <a:effectLst/>
                <a:ea typeface="仿宋" panose="02010609060101010101" pitchFamily="49" charset="-122"/>
                <a:cs typeface="Times New Roman" panose="02020603050405020304" pitchFamily="18" charset="0"/>
              </a:rPr>
              <a:t>月公司在世界先进累计投片数量为</a:t>
            </a:r>
            <a:r>
              <a:rPr lang="en-US" altLang="zh-CN" sz="1200" kern="100" dirty="0">
                <a:effectLst/>
                <a:ea typeface="仿宋" panose="02010609060101010101" pitchFamily="49" charset="-122"/>
                <a:cs typeface="Times New Roman" panose="02020603050405020304" pitchFamily="18" charset="0"/>
              </a:rPr>
              <a:t>6,797</a:t>
            </a:r>
            <a:r>
              <a:rPr lang="zh-CN" altLang="zh-CN" sz="1200" kern="100" dirty="0">
                <a:effectLst/>
                <a:ea typeface="仿宋" panose="02010609060101010101" pitchFamily="49" charset="-122"/>
                <a:cs typeface="Times New Roman" panose="02020603050405020304" pitchFamily="18" charset="0"/>
              </a:rPr>
              <a:t>片，平均每月在</a:t>
            </a:r>
            <a:r>
              <a:rPr lang="en-US" altLang="zh-CN" sz="1200" kern="100" dirty="0">
                <a:effectLst/>
                <a:ea typeface="仿宋" panose="02010609060101010101" pitchFamily="49" charset="-122"/>
                <a:cs typeface="Times New Roman" panose="02020603050405020304" pitchFamily="18" charset="0"/>
              </a:rPr>
              <a:t>1100</a:t>
            </a:r>
            <a:r>
              <a:rPr lang="zh-CN" altLang="zh-CN" sz="1200" kern="100" dirty="0">
                <a:effectLst/>
                <a:ea typeface="仿宋" panose="02010609060101010101" pitchFamily="49" charset="-122"/>
                <a:cs typeface="Times New Roman" panose="02020603050405020304" pitchFamily="18" charset="0"/>
              </a:rPr>
              <a:t>片，其中</a:t>
            </a:r>
            <a:r>
              <a:rPr lang="en-US" altLang="zh-CN" sz="1200" kern="100" dirty="0">
                <a:effectLst/>
                <a:ea typeface="仿宋" panose="02010609060101010101" pitchFamily="49" charset="-122"/>
                <a:cs typeface="Times New Roman" panose="02020603050405020304" pitchFamily="18" charset="0"/>
              </a:rPr>
              <a:t>SD77313</a:t>
            </a:r>
            <a:r>
              <a:rPr lang="zh-CN" altLang="zh-CN" sz="1200" kern="100" dirty="0">
                <a:effectLst/>
                <a:ea typeface="仿宋" panose="02010609060101010101" pitchFamily="49" charset="-122"/>
                <a:cs typeface="Times New Roman" panose="02020603050405020304" pitchFamily="18" charset="0"/>
              </a:rPr>
              <a:t>芯片平均</a:t>
            </a:r>
            <a:r>
              <a:rPr lang="en-US" altLang="zh-CN" sz="1200" kern="100" dirty="0">
                <a:effectLst/>
                <a:ea typeface="仿宋" panose="02010609060101010101" pitchFamily="49" charset="-122"/>
                <a:cs typeface="Times New Roman" panose="02020603050405020304" pitchFamily="18" charset="0"/>
              </a:rPr>
              <a:t>630</a:t>
            </a:r>
            <a:r>
              <a:rPr lang="zh-CN" altLang="zh-CN" sz="1200" kern="100" dirty="0">
                <a:effectLst/>
                <a:ea typeface="仿宋" panose="02010609060101010101" pitchFamily="49" charset="-122"/>
                <a:cs typeface="Times New Roman" panose="02020603050405020304" pitchFamily="18" charset="0"/>
              </a:rPr>
              <a:t>片</a:t>
            </a:r>
            <a:r>
              <a:rPr lang="en-US" altLang="zh-CN" sz="1200" kern="100" dirty="0">
                <a:effectLst/>
                <a:ea typeface="仿宋" panose="02010609060101010101" pitchFamily="49" charset="-122"/>
                <a:cs typeface="Times New Roman" panose="02020603050405020304" pitchFamily="18" charset="0"/>
              </a:rPr>
              <a:t>/</a:t>
            </a:r>
            <a:r>
              <a:rPr lang="zh-CN" altLang="zh-CN" sz="1200" kern="100" dirty="0">
                <a:effectLst/>
                <a:ea typeface="仿宋" panose="02010609060101010101" pitchFamily="49" charset="-122"/>
                <a:cs typeface="Times New Roman" panose="02020603050405020304" pitchFamily="18" charset="0"/>
              </a:rPr>
              <a:t>月。</a:t>
            </a:r>
            <a:endParaRPr lang="en-US" altLang="zh-CN" sz="1200" kern="100" dirty="0">
              <a:effectLst/>
              <a:ea typeface="仿宋" panose="02010609060101010101" pitchFamily="49" charset="-122"/>
              <a:cs typeface="Times New Roman" panose="02020603050405020304" pitchFamily="18" charset="0"/>
            </a:endParaRPr>
          </a:p>
          <a:p>
            <a:pPr marL="0" indent="180000">
              <a:lnSpc>
                <a:spcPct val="150000"/>
              </a:lnSpc>
              <a:spcBef>
                <a:spcPts val="0"/>
              </a:spcBef>
              <a:buSzPct val="70000"/>
              <a:buBlip>
                <a:blip r:embed="rId3"/>
              </a:buBlip>
              <a:tabLst>
                <a:tab pos="457200" algn="l"/>
                <a:tab pos="914400" algn="l"/>
              </a:tabLst>
            </a:pPr>
            <a:r>
              <a:rPr lang="en-US" altLang="zh-CN" sz="1200" b="1" dirty="0">
                <a:latin typeface="仿宋" panose="02010609060101010101" pitchFamily="49" charset="-122"/>
                <a:ea typeface="仿宋" panose="02010609060101010101" pitchFamily="49" charset="-122"/>
              </a:rPr>
              <a:t>DBH</a:t>
            </a:r>
            <a:r>
              <a:rPr lang="zh-CN" altLang="en-US" sz="1200" b="1" dirty="0">
                <a:latin typeface="仿宋" panose="02010609060101010101" pitchFamily="49" charset="-122"/>
                <a:ea typeface="仿宋" panose="02010609060101010101" pitchFamily="49" charset="-122"/>
              </a:rPr>
              <a:t>：</a:t>
            </a:r>
            <a:endParaRPr lang="en-US" altLang="zh-CN" sz="1200" b="1" dirty="0">
              <a:latin typeface="仿宋" panose="02010609060101010101" pitchFamily="49" charset="-122"/>
              <a:ea typeface="仿宋" panose="02010609060101010101" pitchFamily="49" charset="-122"/>
            </a:endParaRPr>
          </a:p>
          <a:p>
            <a:pPr marL="0" indent="270000">
              <a:lnSpc>
                <a:spcPct val="150000"/>
              </a:lnSpc>
              <a:spcBef>
                <a:spcPts val="0"/>
              </a:spcBef>
              <a:buSzPct val="70000"/>
              <a:buNone/>
              <a:tabLst>
                <a:tab pos="457200" algn="l"/>
                <a:tab pos="914400" algn="l"/>
              </a:tabLst>
            </a:pPr>
            <a:r>
              <a:rPr lang="zh-CN" altLang="zh-CN" sz="1200" kern="100" dirty="0">
                <a:ea typeface="仿宋" panose="02010609060101010101" pitchFamily="49" charset="-122"/>
                <a:cs typeface="Times New Roman" panose="02020603050405020304" pitchFamily="18" charset="0"/>
              </a:rPr>
              <a:t>全球前十大芯片代工商之一</a:t>
            </a:r>
            <a:r>
              <a:rPr lang="zh-CN" altLang="en-US" sz="1200" kern="100" dirty="0">
                <a:ea typeface="仿宋" panose="02010609060101010101" pitchFamily="49" charset="-122"/>
                <a:cs typeface="Times New Roman" panose="02020603050405020304" pitchFamily="18" charset="0"/>
              </a:rPr>
              <a:t>，</a:t>
            </a:r>
            <a:r>
              <a:rPr lang="zh-CN" altLang="zh-CN" sz="1200" kern="100" dirty="0">
                <a:ea typeface="仿宋" panose="02010609060101010101" pitchFamily="49" charset="-122"/>
                <a:cs typeface="Times New Roman" panose="02020603050405020304" pitchFamily="18" charset="0"/>
              </a:rPr>
              <a:t>拥有两座晶圆代工厂</a:t>
            </a:r>
            <a:r>
              <a:rPr lang="zh-CN" altLang="en-US" sz="1200" kern="100" dirty="0">
                <a:ea typeface="仿宋" panose="02010609060101010101" pitchFamily="49" charset="-122"/>
                <a:cs typeface="Times New Roman" panose="02020603050405020304" pitchFamily="18" charset="0"/>
              </a:rPr>
              <a:t>。</a:t>
            </a:r>
            <a:endParaRPr lang="en-US" altLang="zh-CN" sz="1200" kern="100" dirty="0">
              <a:ea typeface="仿宋" panose="02010609060101010101" pitchFamily="49" charset="-122"/>
              <a:cs typeface="Times New Roman" panose="02020603050405020304" pitchFamily="18" charset="0"/>
            </a:endParaRPr>
          </a:p>
          <a:p>
            <a:pPr marL="0" indent="270000">
              <a:lnSpc>
                <a:spcPct val="150000"/>
              </a:lnSpc>
              <a:spcBef>
                <a:spcPts val="0"/>
              </a:spcBef>
              <a:buSzPct val="70000"/>
              <a:buNone/>
              <a:tabLst>
                <a:tab pos="457200" algn="l"/>
                <a:tab pos="914400" algn="l"/>
              </a:tabLst>
            </a:pPr>
            <a:r>
              <a:rPr lang="en-US" altLang="zh-CN" sz="1200" kern="100" dirty="0">
                <a:ea typeface="仿宋" panose="02010609060101010101" pitchFamily="49" charset="-122"/>
                <a:cs typeface="Times New Roman" panose="02020603050405020304" pitchFamily="18" charset="0"/>
              </a:rPr>
              <a:t>2020</a:t>
            </a:r>
            <a:r>
              <a:rPr lang="zh-CN" altLang="zh-CN" sz="1200" kern="100" dirty="0">
                <a:ea typeface="仿宋" panose="02010609060101010101" pitchFamily="49" charset="-122"/>
                <a:cs typeface="Times New Roman" panose="02020603050405020304" pitchFamily="18" charset="0"/>
              </a:rPr>
              <a:t>年</a:t>
            </a:r>
            <a:r>
              <a:rPr lang="en-US" altLang="zh-CN" sz="1200" kern="100" dirty="0">
                <a:ea typeface="仿宋" panose="02010609060101010101" pitchFamily="49" charset="-122"/>
                <a:cs typeface="Times New Roman" panose="02020603050405020304" pitchFamily="18" charset="0"/>
              </a:rPr>
              <a:t>10</a:t>
            </a:r>
            <a:r>
              <a:rPr lang="zh-CN" altLang="zh-CN" sz="1200" kern="100" dirty="0">
                <a:ea typeface="仿宋" panose="02010609060101010101" pitchFamily="49" charset="-122"/>
                <a:cs typeface="Times New Roman" panose="02020603050405020304" pitchFamily="18" charset="0"/>
              </a:rPr>
              <a:t>月</a:t>
            </a:r>
            <a:r>
              <a:rPr lang="en-US" altLang="zh-CN" sz="1200" kern="100" dirty="0">
                <a:ea typeface="仿宋" panose="02010609060101010101" pitchFamily="49" charset="-122"/>
                <a:cs typeface="Times New Roman" panose="02020603050405020304" pitchFamily="18" charset="0"/>
              </a:rPr>
              <a:t>-2021</a:t>
            </a:r>
            <a:r>
              <a:rPr lang="zh-CN" altLang="zh-CN" sz="1200" kern="100" dirty="0">
                <a:ea typeface="仿宋" panose="02010609060101010101" pitchFamily="49" charset="-122"/>
                <a:cs typeface="Times New Roman" panose="02020603050405020304" pitchFamily="18" charset="0"/>
              </a:rPr>
              <a:t>年</a:t>
            </a:r>
            <a:r>
              <a:rPr lang="en-US" altLang="zh-CN" sz="1200" kern="100" dirty="0">
                <a:ea typeface="仿宋" panose="02010609060101010101" pitchFamily="49" charset="-122"/>
                <a:cs typeface="Times New Roman" panose="02020603050405020304" pitchFamily="18" charset="0"/>
              </a:rPr>
              <a:t>3</a:t>
            </a:r>
            <a:r>
              <a:rPr lang="zh-CN" altLang="zh-CN" sz="1200" kern="100" dirty="0">
                <a:ea typeface="仿宋" panose="02010609060101010101" pitchFamily="49" charset="-122"/>
                <a:cs typeface="Times New Roman" panose="02020603050405020304" pitchFamily="18" charset="0"/>
              </a:rPr>
              <a:t>月公司在东部高科的</a:t>
            </a:r>
            <a:r>
              <a:rPr lang="en-US" altLang="zh-CN" sz="1200" kern="100" dirty="0">
                <a:ea typeface="仿宋" panose="02010609060101010101" pitchFamily="49" charset="-122"/>
                <a:cs typeface="Times New Roman" panose="02020603050405020304" pitchFamily="18" charset="0"/>
              </a:rPr>
              <a:t>Fab2</a:t>
            </a:r>
            <a:r>
              <a:rPr lang="zh-CN" altLang="zh-CN" sz="1200" kern="100" dirty="0">
                <a:ea typeface="仿宋" panose="02010609060101010101" pitchFamily="49" charset="-122"/>
                <a:cs typeface="Times New Roman" panose="02020603050405020304" pitchFamily="18" charset="0"/>
              </a:rPr>
              <a:t>厂投片数量</a:t>
            </a:r>
            <a:r>
              <a:rPr lang="zh-CN" altLang="zh-CN" sz="1200" kern="100" dirty="0">
                <a:effectLst/>
                <a:ea typeface="仿宋" panose="02010609060101010101" pitchFamily="49" charset="-122"/>
                <a:cs typeface="Times New Roman" panose="02020603050405020304" pitchFamily="18" charset="0"/>
              </a:rPr>
              <a:t>累计</a:t>
            </a:r>
            <a:r>
              <a:rPr lang="zh-CN" altLang="zh-CN" sz="1200" kern="100" dirty="0">
                <a:ea typeface="仿宋" panose="02010609060101010101" pitchFamily="49" charset="-122"/>
                <a:cs typeface="Times New Roman" panose="02020603050405020304" pitchFamily="18" charset="0"/>
              </a:rPr>
              <a:t>为</a:t>
            </a:r>
            <a:r>
              <a:rPr lang="en-US" altLang="zh-CN" sz="1200" kern="100" dirty="0">
                <a:ea typeface="仿宋" panose="02010609060101010101" pitchFamily="49" charset="-122"/>
                <a:cs typeface="Times New Roman" panose="02020603050405020304" pitchFamily="18" charset="0"/>
              </a:rPr>
              <a:t>4059</a:t>
            </a:r>
            <a:r>
              <a:rPr lang="zh-CN" altLang="zh-CN" sz="1200" kern="100" dirty="0">
                <a:ea typeface="仿宋" panose="02010609060101010101" pitchFamily="49" charset="-122"/>
                <a:cs typeface="Times New Roman" panose="02020603050405020304" pitchFamily="18" charset="0"/>
              </a:rPr>
              <a:t>片</a:t>
            </a:r>
            <a:r>
              <a:rPr lang="zh-CN" altLang="en-US" sz="1200" kern="100" dirty="0">
                <a:ea typeface="仿宋" panose="02010609060101010101" pitchFamily="49" charset="-122"/>
                <a:cs typeface="Times New Roman" panose="02020603050405020304" pitchFamily="18" charset="0"/>
              </a:rPr>
              <a:t>，</a:t>
            </a:r>
            <a:r>
              <a:rPr lang="zh-CN" altLang="zh-CN" sz="1200" kern="100" dirty="0">
                <a:effectLst/>
                <a:ea typeface="仿宋" panose="02010609060101010101" pitchFamily="49" charset="-122"/>
                <a:cs typeface="Times New Roman" panose="02020603050405020304" pitchFamily="18" charset="0"/>
              </a:rPr>
              <a:t>平均每月在</a:t>
            </a:r>
            <a:r>
              <a:rPr lang="en-US" altLang="zh-CN" sz="1200" kern="100" dirty="0">
                <a:effectLst/>
                <a:ea typeface="仿宋" panose="02010609060101010101" pitchFamily="49" charset="-122"/>
                <a:cs typeface="Times New Roman" panose="02020603050405020304" pitchFamily="18" charset="0"/>
              </a:rPr>
              <a:t>700</a:t>
            </a:r>
            <a:r>
              <a:rPr lang="zh-CN" altLang="zh-CN" sz="1200" kern="100" dirty="0">
                <a:effectLst/>
                <a:ea typeface="仿宋" panose="02010609060101010101" pitchFamily="49" charset="-122"/>
                <a:cs typeface="Times New Roman" panose="02020603050405020304" pitchFamily="18" charset="0"/>
              </a:rPr>
              <a:t>片</a:t>
            </a:r>
            <a:r>
              <a:rPr lang="zh-CN" altLang="zh-CN" sz="1200" kern="100" dirty="0">
                <a:ea typeface="仿宋" panose="02010609060101010101" pitchFamily="49" charset="-122"/>
                <a:cs typeface="Times New Roman" panose="02020603050405020304" pitchFamily="18" charset="0"/>
              </a:rPr>
              <a:t>。</a:t>
            </a:r>
            <a:r>
              <a:rPr lang="zh-CN" altLang="zh-CN" sz="1200" kern="100" dirty="0">
                <a:effectLst/>
                <a:ea typeface="仿宋" panose="02010609060101010101" pitchFamily="49" charset="-122"/>
                <a:cs typeface="Times New Roman" panose="02020603050405020304" pitchFamily="18" charset="0"/>
              </a:rPr>
              <a:t>主要用于</a:t>
            </a:r>
            <a:r>
              <a:rPr lang="en-US" altLang="zh-CN" sz="1200" kern="100" dirty="0">
                <a:effectLst/>
                <a:ea typeface="仿宋" panose="02010609060101010101" pitchFamily="49" charset="-122"/>
                <a:cs typeface="Times New Roman" panose="02020603050405020304" pitchFamily="18" charset="0"/>
              </a:rPr>
              <a:t>WUBAI</a:t>
            </a:r>
            <a:r>
              <a:rPr lang="zh-CN" altLang="zh-CN" sz="1200" kern="100" dirty="0">
                <a:effectLst/>
                <a:ea typeface="仿宋" panose="02010609060101010101" pitchFamily="49" charset="-122"/>
                <a:cs typeface="Times New Roman" panose="02020603050405020304" pitchFamily="18" charset="0"/>
              </a:rPr>
              <a:t>项目</a:t>
            </a:r>
            <a:r>
              <a:rPr lang="en-US" altLang="zh-CN" sz="1200" kern="100" dirty="0">
                <a:effectLst/>
                <a:ea typeface="仿宋" panose="02010609060101010101" pitchFamily="49" charset="-122"/>
                <a:cs typeface="Times New Roman" panose="02020603050405020304" pitchFamily="18" charset="0"/>
              </a:rPr>
              <a:t>SD77007</a:t>
            </a:r>
            <a:r>
              <a:rPr lang="zh-CN" altLang="zh-CN" sz="1200" kern="100" dirty="0">
                <a:effectLst/>
                <a:ea typeface="仿宋" panose="02010609060101010101" pitchFamily="49" charset="-122"/>
                <a:cs typeface="Times New Roman" panose="02020603050405020304" pitchFamily="18" charset="0"/>
              </a:rPr>
              <a:t>芯片（</a:t>
            </a:r>
            <a:r>
              <a:rPr lang="en-US" altLang="zh-CN" sz="1200" kern="100" dirty="0">
                <a:effectLst/>
                <a:ea typeface="仿宋" panose="02010609060101010101" pitchFamily="49" charset="-122"/>
                <a:cs typeface="Times New Roman" panose="02020603050405020304" pitchFamily="18" charset="0"/>
              </a:rPr>
              <a:t>E-marker</a:t>
            </a:r>
            <a:r>
              <a:rPr lang="zh-CN" altLang="zh-CN" sz="1200" kern="100" dirty="0">
                <a:effectLst/>
                <a:ea typeface="仿宋" panose="02010609060101010101" pitchFamily="49" charset="-122"/>
                <a:cs typeface="Times New Roman" panose="02020603050405020304" pitchFamily="18" charset="0"/>
              </a:rPr>
              <a:t>）的量产。</a:t>
            </a:r>
            <a:endParaRPr lang="en-US" altLang="zh-CN" sz="1200" b="1" dirty="0">
              <a:latin typeface="仿宋" panose="02010609060101010101" pitchFamily="49" charset="-122"/>
              <a:ea typeface="仿宋" panose="02010609060101010101" pitchFamily="49" charset="-122"/>
            </a:endParaRPr>
          </a:p>
          <a:p>
            <a:pPr marL="0" indent="180000">
              <a:lnSpc>
                <a:spcPct val="150000"/>
              </a:lnSpc>
              <a:spcBef>
                <a:spcPts val="0"/>
              </a:spcBef>
              <a:buSzPct val="70000"/>
              <a:buBlip>
                <a:blip r:embed="rId3"/>
              </a:buBlip>
              <a:tabLst>
                <a:tab pos="457200" algn="l"/>
                <a:tab pos="914400" algn="l"/>
              </a:tabLst>
            </a:pPr>
            <a:r>
              <a:rPr lang="en-US" altLang="zh-CN" sz="1200" b="1" dirty="0">
                <a:latin typeface="仿宋" panose="02010609060101010101" pitchFamily="49" charset="-122"/>
                <a:ea typeface="仿宋" panose="02010609060101010101" pitchFamily="49" charset="-122"/>
              </a:rPr>
              <a:t>CSMC</a:t>
            </a:r>
            <a:r>
              <a:rPr lang="zh-CN" altLang="en-US" sz="1200" b="1" dirty="0">
                <a:latin typeface="仿宋" panose="02010609060101010101" pitchFamily="49" charset="-122"/>
                <a:ea typeface="仿宋" panose="02010609060101010101" pitchFamily="49" charset="-122"/>
              </a:rPr>
              <a:t>：</a:t>
            </a:r>
            <a:endParaRPr lang="en-US" altLang="zh-CN" sz="1200" b="1" dirty="0">
              <a:latin typeface="仿宋" panose="02010609060101010101" pitchFamily="49" charset="-122"/>
              <a:ea typeface="仿宋" panose="02010609060101010101" pitchFamily="49" charset="-122"/>
            </a:endParaRPr>
          </a:p>
          <a:p>
            <a:pPr marL="0" indent="270000">
              <a:lnSpc>
                <a:spcPct val="150000"/>
              </a:lnSpc>
              <a:spcBef>
                <a:spcPts val="0"/>
              </a:spcBef>
              <a:buSzPct val="70000"/>
              <a:buNone/>
              <a:tabLst>
                <a:tab pos="457200" algn="l"/>
                <a:tab pos="914400" algn="l"/>
              </a:tabLst>
            </a:pPr>
            <a:r>
              <a:rPr lang="en-US" altLang="zh-CN" sz="1200" kern="100" dirty="0">
                <a:ea typeface="仿宋" panose="02010609060101010101" pitchFamily="49" charset="-122"/>
                <a:cs typeface="Times New Roman" panose="02020603050405020304" pitchFamily="18" charset="0"/>
              </a:rPr>
              <a:t>2021</a:t>
            </a:r>
            <a:r>
              <a:rPr lang="zh-CN" altLang="zh-CN" sz="1200" kern="100" dirty="0">
                <a:ea typeface="仿宋" panose="02010609060101010101" pitchFamily="49" charset="-122"/>
                <a:cs typeface="Times New Roman" panose="02020603050405020304" pitchFamily="18" charset="0"/>
              </a:rPr>
              <a:t>年</a:t>
            </a:r>
            <a:r>
              <a:rPr lang="en-US" altLang="zh-CN" sz="1200" kern="100" dirty="0">
                <a:ea typeface="仿宋" panose="02010609060101010101" pitchFamily="49" charset="-122"/>
                <a:cs typeface="Times New Roman" panose="02020603050405020304" pitchFamily="18" charset="0"/>
              </a:rPr>
              <a:t>3</a:t>
            </a:r>
            <a:r>
              <a:rPr lang="zh-CN" altLang="zh-CN" sz="1200" kern="100" dirty="0">
                <a:ea typeface="仿宋" panose="02010609060101010101" pitchFamily="49" charset="-122"/>
                <a:cs typeface="Times New Roman" panose="02020603050405020304" pitchFamily="18" charset="0"/>
              </a:rPr>
              <a:t>月</a:t>
            </a:r>
            <a:r>
              <a:rPr lang="en-US" altLang="zh-CN" sz="1200" kern="100" dirty="0">
                <a:ea typeface="仿宋" panose="02010609060101010101" pitchFamily="49" charset="-122"/>
                <a:cs typeface="Times New Roman" panose="02020603050405020304" pitchFamily="18" charset="0"/>
              </a:rPr>
              <a:t>30</a:t>
            </a:r>
            <a:r>
              <a:rPr lang="zh-CN" altLang="en-US" sz="1200" kern="100" dirty="0">
                <a:ea typeface="仿宋" panose="02010609060101010101" pitchFamily="49" charset="-122"/>
                <a:cs typeface="Times New Roman" panose="02020603050405020304" pitchFamily="18" charset="0"/>
              </a:rPr>
              <a:t>日</a:t>
            </a:r>
            <a:r>
              <a:rPr lang="zh-CN" altLang="zh-CN" sz="1200" kern="100" dirty="0">
                <a:ea typeface="仿宋" panose="02010609060101010101" pitchFamily="49" charset="-122"/>
                <a:cs typeface="Times New Roman" panose="02020603050405020304" pitchFamily="18" charset="0"/>
              </a:rPr>
              <a:t>公司在华润上华的投片数量为</a:t>
            </a:r>
            <a:r>
              <a:rPr lang="en-US" altLang="zh-CN" sz="1200" kern="100" dirty="0">
                <a:ea typeface="仿宋" panose="02010609060101010101" pitchFamily="49" charset="-122"/>
                <a:cs typeface="Times New Roman" panose="02020603050405020304" pitchFamily="18" charset="0"/>
              </a:rPr>
              <a:t>525</a:t>
            </a:r>
            <a:r>
              <a:rPr lang="zh-CN" altLang="zh-CN" sz="1200" kern="100" dirty="0">
                <a:ea typeface="仿宋" panose="02010609060101010101" pitchFamily="49" charset="-122"/>
                <a:cs typeface="Times New Roman" panose="02020603050405020304" pitchFamily="18" charset="0"/>
              </a:rPr>
              <a:t>片</a:t>
            </a:r>
          </a:p>
          <a:p>
            <a:pPr marL="0" indent="270000">
              <a:lnSpc>
                <a:spcPct val="150000"/>
              </a:lnSpc>
              <a:spcBef>
                <a:spcPts val="0"/>
              </a:spcBef>
              <a:buSzPct val="70000"/>
              <a:buNone/>
              <a:tabLst>
                <a:tab pos="457200" algn="l"/>
                <a:tab pos="914400" algn="l"/>
              </a:tabLst>
            </a:pPr>
            <a:r>
              <a:rPr lang="zh-CN" altLang="zh-CN" sz="1200" kern="100" dirty="0">
                <a:ea typeface="仿宋" panose="02010609060101010101" pitchFamily="49" charset="-122"/>
                <a:cs typeface="Times New Roman" panose="02020603050405020304" pitchFamily="18" charset="0"/>
              </a:rPr>
              <a:t>主要用于笔电用电源管理</a:t>
            </a:r>
            <a:r>
              <a:rPr lang="en-US" altLang="zh-CN" sz="1200" kern="100" dirty="0">
                <a:ea typeface="仿宋" panose="02010609060101010101" pitchFamily="49" charset="-122"/>
                <a:cs typeface="Times New Roman" panose="02020603050405020304" pitchFamily="18" charset="0"/>
              </a:rPr>
              <a:t>OZ</a:t>
            </a:r>
            <a:r>
              <a:rPr lang="zh-CN" altLang="zh-CN" sz="1200" kern="100" dirty="0">
                <a:ea typeface="仿宋" panose="02010609060101010101" pitchFamily="49" charset="-122"/>
                <a:cs typeface="Times New Roman" panose="02020603050405020304" pitchFamily="18" charset="0"/>
              </a:rPr>
              <a:t>系列产品的量产</a:t>
            </a:r>
            <a:r>
              <a:rPr lang="zh-CN" altLang="en-US" sz="1200" kern="100" dirty="0">
                <a:ea typeface="仿宋" panose="02010609060101010101" pitchFamily="49" charset="-122"/>
                <a:cs typeface="Times New Roman" panose="02020603050405020304" pitchFamily="18" charset="0"/>
              </a:rPr>
              <a:t>。</a:t>
            </a:r>
            <a:endParaRPr lang="en-US" altLang="zh-CN" sz="1200" kern="100" dirty="0">
              <a:ea typeface="仿宋" panose="02010609060101010101" pitchFamily="49" charset="-122"/>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346AA685-BF39-491F-81C0-9ED56A9E95D6}"/>
              </a:ext>
            </a:extLst>
          </p:cNvPr>
          <p:cNvGraphicFramePr>
            <a:graphicFrameLocks noGrp="1"/>
          </p:cNvGraphicFramePr>
          <p:nvPr>
            <p:extLst>
              <p:ext uri="{D42A27DB-BD31-4B8C-83A1-F6EECF244321}">
                <p14:modId xmlns:p14="http://schemas.microsoft.com/office/powerpoint/2010/main" val="237371511"/>
              </p:ext>
            </p:extLst>
          </p:nvPr>
        </p:nvGraphicFramePr>
        <p:xfrm>
          <a:off x="510095" y="1023666"/>
          <a:ext cx="2607680" cy="2790636"/>
        </p:xfrm>
        <a:graphic>
          <a:graphicData uri="http://schemas.openxmlformats.org/drawingml/2006/table">
            <a:tbl>
              <a:tblPr/>
              <a:tblGrid>
                <a:gridCol w="483985">
                  <a:extLst>
                    <a:ext uri="{9D8B030D-6E8A-4147-A177-3AD203B41FA5}">
                      <a16:colId xmlns:a16="http://schemas.microsoft.com/office/drawing/2014/main" val="12021101"/>
                    </a:ext>
                  </a:extLst>
                </a:gridCol>
                <a:gridCol w="584121">
                  <a:extLst>
                    <a:ext uri="{9D8B030D-6E8A-4147-A177-3AD203B41FA5}">
                      <a16:colId xmlns:a16="http://schemas.microsoft.com/office/drawing/2014/main" val="4262815588"/>
                    </a:ext>
                  </a:extLst>
                </a:gridCol>
                <a:gridCol w="751012">
                  <a:extLst>
                    <a:ext uri="{9D8B030D-6E8A-4147-A177-3AD203B41FA5}">
                      <a16:colId xmlns:a16="http://schemas.microsoft.com/office/drawing/2014/main" val="1499554612"/>
                    </a:ext>
                  </a:extLst>
                </a:gridCol>
                <a:gridCol w="788562">
                  <a:extLst>
                    <a:ext uri="{9D8B030D-6E8A-4147-A177-3AD203B41FA5}">
                      <a16:colId xmlns:a16="http://schemas.microsoft.com/office/drawing/2014/main" val="1100367459"/>
                    </a:ext>
                  </a:extLst>
                </a:gridCol>
              </a:tblGrid>
              <a:tr h="213569">
                <a:tc>
                  <a:txBody>
                    <a:bodyPr/>
                    <a:lstStyle/>
                    <a:p>
                      <a:pPr algn="ctr"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序号</a:t>
                      </a:r>
                    </a:p>
                  </a:txBody>
                  <a:tcPr marL="0" marR="0" marT="0"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en-US" sz="1050" b="1" i="0" u="none" strike="noStrike">
                          <a:solidFill>
                            <a:srgbClr val="000000"/>
                          </a:solidFill>
                          <a:effectLst/>
                          <a:latin typeface="仿宋" panose="02010609060101010101" pitchFamily="49" charset="-122"/>
                          <a:ea typeface="仿宋" panose="02010609060101010101" pitchFamily="49" charset="-122"/>
                        </a:rPr>
                        <a:t>Fab</a:t>
                      </a:r>
                      <a:r>
                        <a:rPr lang="zh-CN" altLang="en-US" sz="1050" b="1" i="0" u="none" strike="noStrike">
                          <a:solidFill>
                            <a:srgbClr val="000000"/>
                          </a:solidFill>
                          <a:effectLst/>
                          <a:latin typeface="仿宋" panose="02010609060101010101" pitchFamily="49" charset="-122"/>
                          <a:ea typeface="仿宋" panose="02010609060101010101" pitchFamily="49" charset="-122"/>
                        </a:rPr>
                        <a:t>厂</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en-US" sz="1050" b="1" i="0" u="none" strike="noStrike">
                          <a:solidFill>
                            <a:srgbClr val="000000"/>
                          </a:solidFill>
                          <a:effectLst/>
                          <a:latin typeface="仿宋" panose="02010609060101010101" pitchFamily="49" charset="-122"/>
                          <a:ea typeface="仿宋" panose="02010609060101010101" pitchFamily="49" charset="-122"/>
                        </a:rPr>
                        <a:t>WIP</a:t>
                      </a:r>
                      <a:r>
                        <a:rPr lang="zh-CN" altLang="en-US" sz="1050" b="1" i="0" u="none" strike="noStrike">
                          <a:solidFill>
                            <a:srgbClr val="000000"/>
                          </a:solidFill>
                          <a:effectLst/>
                          <a:latin typeface="仿宋" panose="02010609060101010101" pitchFamily="49" charset="-122"/>
                          <a:ea typeface="仿宋" panose="02010609060101010101" pitchFamily="49" charset="-122"/>
                        </a:rPr>
                        <a:t>时间</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数量</a:t>
                      </a:r>
                      <a:r>
                        <a:rPr lang="en-US" altLang="zh-CN" sz="1050" b="1" i="0" u="none" strike="noStrike">
                          <a:solidFill>
                            <a:srgbClr val="000000"/>
                          </a:solidFill>
                          <a:effectLst/>
                          <a:latin typeface="仿宋" panose="02010609060101010101" pitchFamily="49" charset="-122"/>
                          <a:ea typeface="仿宋" panose="02010609060101010101" pitchFamily="49" charset="-122"/>
                        </a:rPr>
                        <a:t>/</a:t>
                      </a:r>
                      <a:r>
                        <a:rPr lang="zh-CN" altLang="en-US" sz="1050" b="1" i="0" u="none" strike="noStrike">
                          <a:solidFill>
                            <a:srgbClr val="000000"/>
                          </a:solidFill>
                          <a:effectLst/>
                          <a:latin typeface="仿宋" panose="02010609060101010101" pitchFamily="49" charset="-122"/>
                          <a:ea typeface="仿宋" panose="02010609060101010101" pitchFamily="49" charset="-122"/>
                        </a:rPr>
                        <a:t>片</a:t>
                      </a:r>
                    </a:p>
                  </a:txBody>
                  <a:tcPr marL="0" marR="0" marT="0"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extLst>
                  <a:ext uri="{0D108BD9-81ED-4DB2-BD59-A6C34878D82A}">
                    <a16:rowId xmlns:a16="http://schemas.microsoft.com/office/drawing/2014/main" val="1357893453"/>
                  </a:ext>
                </a:extLst>
              </a:tr>
              <a:tr h="213569">
                <a:tc>
                  <a:txBody>
                    <a:bodyPr/>
                    <a:lstStyle/>
                    <a:p>
                      <a:pPr algn="ct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1</a:t>
                      </a:r>
                    </a:p>
                  </a:txBody>
                  <a:tcPr marL="0" marR="0" marT="0"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rowSpan="5">
                  <a:txBody>
                    <a:bodyPr/>
                    <a:lstStyle/>
                    <a:p>
                      <a:pPr algn="ctr" fontAlgn="ctr"/>
                      <a:r>
                        <a:rPr lang="en-US" sz="1050" b="0" i="0" u="none" strike="noStrike">
                          <a:solidFill>
                            <a:srgbClr val="000000"/>
                          </a:solidFill>
                          <a:effectLst/>
                          <a:latin typeface="仿宋" panose="02010609060101010101" pitchFamily="49" charset="-122"/>
                          <a:ea typeface="仿宋" panose="02010609060101010101" pitchFamily="49" charset="-122"/>
                        </a:rPr>
                        <a:t>VIS</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20201001</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734 </a:t>
                      </a:r>
                    </a:p>
                  </a:txBody>
                  <a:tcPr marL="0" marR="0" marT="0"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88221874"/>
                  </a:ext>
                </a:extLst>
              </a:tr>
              <a:tr h="213569">
                <a:tc>
                  <a:txBody>
                    <a:bodyPr/>
                    <a:lstStyle/>
                    <a:p>
                      <a:pPr algn="ct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2</a:t>
                      </a:r>
                    </a:p>
                  </a:txBody>
                  <a:tcPr marL="0" marR="0" marT="0"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20201119</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1,866 </a:t>
                      </a:r>
                    </a:p>
                  </a:txBody>
                  <a:tcPr marL="0" marR="0" marT="0"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442090897"/>
                  </a:ext>
                </a:extLst>
              </a:tr>
              <a:tr h="213569">
                <a:tc>
                  <a:txBody>
                    <a:bodyPr/>
                    <a:lstStyle/>
                    <a:p>
                      <a:pPr algn="ct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3</a:t>
                      </a:r>
                    </a:p>
                  </a:txBody>
                  <a:tcPr marL="0" marR="0" marT="0"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20201201</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1,568 </a:t>
                      </a:r>
                    </a:p>
                  </a:txBody>
                  <a:tcPr marL="0" marR="0" marT="0"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652632532"/>
                  </a:ext>
                </a:extLst>
              </a:tr>
              <a:tr h="213569">
                <a:tc>
                  <a:txBody>
                    <a:bodyPr/>
                    <a:lstStyle/>
                    <a:p>
                      <a:pPr algn="ct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4</a:t>
                      </a:r>
                    </a:p>
                  </a:txBody>
                  <a:tcPr marL="0" marR="0" marT="0"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20210101</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969 </a:t>
                      </a:r>
                    </a:p>
                  </a:txBody>
                  <a:tcPr marL="0" marR="0" marT="0"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152070108"/>
                  </a:ext>
                </a:extLst>
              </a:tr>
              <a:tr h="213569">
                <a:tc>
                  <a:txBody>
                    <a:bodyPr/>
                    <a:lstStyle/>
                    <a:p>
                      <a:pPr algn="ct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5</a:t>
                      </a:r>
                    </a:p>
                  </a:txBody>
                  <a:tcPr marL="0" marR="0" marT="0"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20210328</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1,659 </a:t>
                      </a:r>
                    </a:p>
                  </a:txBody>
                  <a:tcPr marL="0" marR="0" marT="0"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165970554"/>
                  </a:ext>
                </a:extLst>
              </a:tr>
              <a:tr h="213569">
                <a:tc>
                  <a:txBody>
                    <a:bodyPr/>
                    <a:lstStyle/>
                    <a:p>
                      <a:pPr algn="ct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6</a:t>
                      </a:r>
                    </a:p>
                  </a:txBody>
                  <a:tcPr marL="0" marR="0" marT="0"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仿宋" panose="02010609060101010101" pitchFamily="49" charset="-122"/>
                          <a:ea typeface="仿宋" panose="02010609060101010101" pitchFamily="49" charset="-122"/>
                        </a:rPr>
                        <a:t>CSMC</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fontAlgn="ctr"/>
                      <a:r>
                        <a:rPr lang="en-US" altLang="zh-CN" sz="1050" b="0" i="0" u="none" strike="noStrike" dirty="0">
                          <a:solidFill>
                            <a:srgbClr val="000000"/>
                          </a:solidFill>
                          <a:effectLst/>
                          <a:latin typeface="仿宋" panose="02010609060101010101" pitchFamily="49" charset="-122"/>
                          <a:ea typeface="仿宋" panose="02010609060101010101" pitchFamily="49" charset="-122"/>
                        </a:rPr>
                        <a:t>20210330</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525 </a:t>
                      </a:r>
                    </a:p>
                  </a:txBody>
                  <a:tcPr marL="0" marR="0" marT="0"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109145248"/>
                  </a:ext>
                </a:extLst>
              </a:tr>
              <a:tr h="213569">
                <a:tc>
                  <a:txBody>
                    <a:bodyPr/>
                    <a:lstStyle/>
                    <a:p>
                      <a:pPr algn="ct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7</a:t>
                      </a:r>
                    </a:p>
                  </a:txBody>
                  <a:tcPr marL="0" marR="0" marT="0"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rowSpan="6">
                  <a:txBody>
                    <a:bodyPr/>
                    <a:lstStyle/>
                    <a:p>
                      <a:pPr algn="ctr" fontAlgn="ctr"/>
                      <a:r>
                        <a:rPr lang="en-US" sz="1050" b="0" i="0" u="none" strike="noStrike">
                          <a:solidFill>
                            <a:srgbClr val="000000"/>
                          </a:solidFill>
                          <a:effectLst/>
                          <a:latin typeface="仿宋" panose="02010609060101010101" pitchFamily="49" charset="-122"/>
                          <a:ea typeface="仿宋" panose="02010609060101010101" pitchFamily="49" charset="-122"/>
                        </a:rPr>
                        <a:t>DBH</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20201001</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836 </a:t>
                      </a:r>
                    </a:p>
                  </a:txBody>
                  <a:tcPr marL="0" marR="0" marT="0"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446913256"/>
                  </a:ext>
                </a:extLst>
              </a:tr>
              <a:tr h="213569">
                <a:tc>
                  <a:txBody>
                    <a:bodyPr/>
                    <a:lstStyle/>
                    <a:p>
                      <a:pPr algn="ct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8</a:t>
                      </a:r>
                    </a:p>
                  </a:txBody>
                  <a:tcPr marL="0" marR="0" marT="0"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20201101</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609 </a:t>
                      </a:r>
                    </a:p>
                  </a:txBody>
                  <a:tcPr marL="0" marR="0" marT="0"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718219607"/>
                  </a:ext>
                </a:extLst>
              </a:tr>
              <a:tr h="213569">
                <a:tc>
                  <a:txBody>
                    <a:bodyPr/>
                    <a:lstStyle/>
                    <a:p>
                      <a:pPr algn="ct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9</a:t>
                      </a:r>
                    </a:p>
                  </a:txBody>
                  <a:tcPr marL="0" marR="0" marT="0"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20201201</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880 </a:t>
                      </a:r>
                    </a:p>
                  </a:txBody>
                  <a:tcPr marL="0" marR="0" marT="0"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438617278"/>
                  </a:ext>
                </a:extLst>
              </a:tr>
              <a:tr h="213569">
                <a:tc>
                  <a:txBody>
                    <a:bodyPr/>
                    <a:lstStyle/>
                    <a:p>
                      <a:pPr algn="ct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10</a:t>
                      </a:r>
                    </a:p>
                  </a:txBody>
                  <a:tcPr marL="0" marR="0" marT="0"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20210101</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905 </a:t>
                      </a:r>
                    </a:p>
                  </a:txBody>
                  <a:tcPr marL="0" marR="0" marT="0"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173852496"/>
                  </a:ext>
                </a:extLst>
              </a:tr>
              <a:tr h="213569">
                <a:tc>
                  <a:txBody>
                    <a:bodyPr/>
                    <a:lstStyle/>
                    <a:p>
                      <a:pPr algn="ct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11</a:t>
                      </a:r>
                    </a:p>
                  </a:txBody>
                  <a:tcPr marL="0" marR="0" marT="0"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20210201</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327 </a:t>
                      </a:r>
                    </a:p>
                  </a:txBody>
                  <a:tcPr marL="0" marR="0" marT="0"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85421504"/>
                  </a:ext>
                </a:extLst>
              </a:tr>
              <a:tr h="227808">
                <a:tc>
                  <a:txBody>
                    <a:bodyPr/>
                    <a:lstStyle/>
                    <a:p>
                      <a:pPr algn="ct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12</a:t>
                      </a:r>
                    </a:p>
                  </a:txBody>
                  <a:tcPr marL="0" marR="0" marT="0"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20210301</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fontAlgn="ctr"/>
                      <a:r>
                        <a:rPr lang="zh-CN" altLang="en-US" sz="1050" b="0" i="0" u="none" strike="noStrike" dirty="0">
                          <a:solidFill>
                            <a:srgbClr val="000000"/>
                          </a:solidFill>
                          <a:effectLst/>
                          <a:latin typeface="仿宋" panose="02010609060101010101" pitchFamily="49" charset="-122"/>
                          <a:ea typeface="仿宋" panose="02010609060101010101" pitchFamily="49" charset="-122"/>
                        </a:rPr>
                        <a:t>     </a:t>
                      </a:r>
                      <a:r>
                        <a:rPr lang="en-US" altLang="zh-CN" sz="1050" b="0" i="0" u="none" strike="noStrike" dirty="0">
                          <a:solidFill>
                            <a:srgbClr val="000000"/>
                          </a:solidFill>
                          <a:effectLst/>
                          <a:latin typeface="仿宋" panose="02010609060101010101" pitchFamily="49" charset="-122"/>
                          <a:ea typeface="仿宋" panose="02010609060101010101" pitchFamily="49" charset="-122"/>
                        </a:rPr>
                        <a:t>502 </a:t>
                      </a:r>
                    </a:p>
                  </a:txBody>
                  <a:tcPr marL="0" marR="0" marT="0"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4248452966"/>
                  </a:ext>
                </a:extLst>
              </a:tr>
            </a:tbl>
          </a:graphicData>
        </a:graphic>
      </p:graphicFrame>
      <p:sp>
        <p:nvSpPr>
          <p:cNvPr id="6" name="文本框 5">
            <a:extLst>
              <a:ext uri="{FF2B5EF4-FFF2-40B4-BE49-F238E27FC236}">
                <a16:creationId xmlns:a16="http://schemas.microsoft.com/office/drawing/2014/main" id="{EF2F13AB-A64E-46C4-A60B-B82F90D1180A}"/>
              </a:ext>
            </a:extLst>
          </p:cNvPr>
          <p:cNvSpPr txBox="1"/>
          <p:nvPr/>
        </p:nvSpPr>
        <p:spPr>
          <a:xfrm>
            <a:off x="609395" y="4128999"/>
            <a:ext cx="2601096" cy="369332"/>
          </a:xfrm>
          <a:prstGeom prst="rect">
            <a:avLst/>
          </a:prstGeom>
          <a:noFill/>
        </p:spPr>
        <p:txBody>
          <a:bodyPr wrap="square" rtlCol="0">
            <a:spAutoFit/>
          </a:bodyPr>
          <a:lstStyle/>
          <a:p>
            <a:r>
              <a:rPr lang="zh-CN" altLang="en-US" b="1" dirty="0">
                <a:latin typeface="仿宋" panose="02010609060101010101" pitchFamily="49" charset="-122"/>
                <a:ea typeface="仿宋" panose="02010609060101010101" pitchFamily="49" charset="-122"/>
              </a:rPr>
              <a:t>半年下线：</a:t>
            </a:r>
            <a:r>
              <a:rPr lang="en-US" altLang="zh-CN" b="1" dirty="0">
                <a:solidFill>
                  <a:srgbClr val="C00000"/>
                </a:solidFill>
                <a:latin typeface="仿宋" panose="02010609060101010101" pitchFamily="49" charset="-122"/>
                <a:ea typeface="仿宋" panose="02010609060101010101" pitchFamily="49" charset="-122"/>
              </a:rPr>
              <a:t>11,380</a:t>
            </a:r>
            <a:r>
              <a:rPr lang="zh-CN" altLang="en-US" b="1" dirty="0">
                <a:solidFill>
                  <a:srgbClr val="C00000"/>
                </a:solidFill>
                <a:latin typeface="仿宋" panose="02010609060101010101" pitchFamily="49" charset="-122"/>
                <a:ea typeface="仿宋" panose="02010609060101010101" pitchFamily="49" charset="-122"/>
              </a:rPr>
              <a:t>片</a:t>
            </a:r>
          </a:p>
        </p:txBody>
      </p:sp>
      <p:pic>
        <p:nvPicPr>
          <p:cNvPr id="8" name="图片 7">
            <a:extLst>
              <a:ext uri="{FF2B5EF4-FFF2-40B4-BE49-F238E27FC236}">
                <a16:creationId xmlns:a16="http://schemas.microsoft.com/office/drawing/2014/main" id="{05A2C10A-2A6E-4BDF-925F-C69FFD4F3921}"/>
              </a:ext>
            </a:extLst>
          </p:cNvPr>
          <p:cNvPicPr>
            <a:picLocks noChangeAspect="1"/>
          </p:cNvPicPr>
          <p:nvPr/>
        </p:nvPicPr>
        <p:blipFill>
          <a:blip r:embed="rId4"/>
          <a:stretch>
            <a:fillRect/>
          </a:stretch>
        </p:blipFill>
        <p:spPr>
          <a:xfrm>
            <a:off x="3461670" y="3848220"/>
            <a:ext cx="1561463" cy="646218"/>
          </a:xfrm>
          <a:prstGeom prst="rect">
            <a:avLst/>
          </a:prstGeom>
        </p:spPr>
      </p:pic>
      <p:pic>
        <p:nvPicPr>
          <p:cNvPr id="12" name="图片 11">
            <a:extLst>
              <a:ext uri="{FF2B5EF4-FFF2-40B4-BE49-F238E27FC236}">
                <a16:creationId xmlns:a16="http://schemas.microsoft.com/office/drawing/2014/main" id="{36B554DE-4C16-4272-A985-ED767E06AF89}"/>
              </a:ext>
            </a:extLst>
          </p:cNvPr>
          <p:cNvPicPr>
            <a:picLocks noChangeAspect="1"/>
          </p:cNvPicPr>
          <p:nvPr/>
        </p:nvPicPr>
        <p:blipFill>
          <a:blip r:embed="rId5"/>
          <a:stretch>
            <a:fillRect/>
          </a:stretch>
        </p:blipFill>
        <p:spPr>
          <a:xfrm>
            <a:off x="3473286" y="2380274"/>
            <a:ext cx="1535835" cy="382951"/>
          </a:xfrm>
          <a:prstGeom prst="rect">
            <a:avLst/>
          </a:prstGeom>
        </p:spPr>
      </p:pic>
      <p:pic>
        <p:nvPicPr>
          <p:cNvPr id="15" name="图片 14">
            <a:extLst>
              <a:ext uri="{FF2B5EF4-FFF2-40B4-BE49-F238E27FC236}">
                <a16:creationId xmlns:a16="http://schemas.microsoft.com/office/drawing/2014/main" id="{8C085CCE-731A-4A1D-A8B9-25A34DBBC817}"/>
              </a:ext>
            </a:extLst>
          </p:cNvPr>
          <p:cNvPicPr>
            <a:picLocks noChangeAspect="1"/>
          </p:cNvPicPr>
          <p:nvPr/>
        </p:nvPicPr>
        <p:blipFill>
          <a:blip r:embed="rId6"/>
          <a:stretch>
            <a:fillRect/>
          </a:stretch>
        </p:blipFill>
        <p:spPr>
          <a:xfrm>
            <a:off x="3427206" y="645169"/>
            <a:ext cx="1418160" cy="732788"/>
          </a:xfrm>
          <a:prstGeom prst="rect">
            <a:avLst/>
          </a:prstGeom>
        </p:spPr>
      </p:pic>
    </p:spTree>
    <p:extLst>
      <p:ext uri="{BB962C8B-B14F-4D97-AF65-F5344CB8AC3E}">
        <p14:creationId xmlns:p14="http://schemas.microsoft.com/office/powerpoint/2010/main" val="25830616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BC24FAAA-E96D-48C5-BC0F-92549B622546}"/>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二、公司分析</a:t>
            </a:r>
            <a:r>
              <a:rPr lang="en-US" altLang="zh-CN" sz="2400" dirty="0">
                <a:solidFill>
                  <a:schemeClr val="bg1">
                    <a:lumMod val="50000"/>
                  </a:schemeClr>
                </a:solidFill>
              </a:rPr>
              <a:t>|</a:t>
            </a:r>
            <a:r>
              <a:rPr lang="zh-CN" altLang="en-US" sz="2000" dirty="0"/>
              <a:t>历史财务数据分析</a:t>
            </a:r>
            <a:r>
              <a:rPr lang="en-US" altLang="zh-CN" sz="1600" b="1" dirty="0"/>
              <a:t>|</a:t>
            </a:r>
            <a:r>
              <a:rPr lang="zh-CN" altLang="en-US" sz="1600" dirty="0"/>
              <a:t>资产负债表</a:t>
            </a:r>
            <a:endParaRPr lang="en-US" altLang="zh-CN" sz="2000" dirty="0"/>
          </a:p>
        </p:txBody>
      </p:sp>
      <p:sp>
        <p:nvSpPr>
          <p:cNvPr id="3" name="矩形 2">
            <a:extLst>
              <a:ext uri="{FF2B5EF4-FFF2-40B4-BE49-F238E27FC236}">
                <a16:creationId xmlns:a16="http://schemas.microsoft.com/office/drawing/2014/main" id="{58699D81-4EF0-4000-A1E7-95CA9CF309A8}"/>
              </a:ext>
            </a:extLst>
          </p:cNvPr>
          <p:cNvSpPr/>
          <p:nvPr/>
        </p:nvSpPr>
        <p:spPr>
          <a:xfrm>
            <a:off x="4788015" y="699620"/>
            <a:ext cx="3600249" cy="3880871"/>
          </a:xfrm>
          <a:prstGeom prst="rect">
            <a:avLst/>
          </a:prstGeom>
        </p:spPr>
        <p:txBody>
          <a:bodyPr wrap="square">
            <a:spAutoFit/>
          </a:bodyPr>
          <a:lstStyle/>
          <a:p>
            <a:pPr indent="180000" algn="just" eaLnBrk="0" hangingPunct="0">
              <a:lnSpc>
                <a:spcPct val="150000"/>
              </a:lnSpc>
              <a:spcBef>
                <a:spcPts val="0"/>
              </a:spcBef>
              <a:spcAft>
                <a:spcPts val="600"/>
              </a:spcAft>
              <a:buSzPct val="70000"/>
              <a:buBlip>
                <a:blip r:embed="rId3"/>
              </a:buBlip>
            </a:pPr>
            <a:r>
              <a:rPr lang="zh-CN" altLang="en-US" sz="1200" dirty="0">
                <a:latin typeface="仿宋" panose="02010609060101010101" pitchFamily="49" charset="-122"/>
                <a:ea typeface="仿宋" panose="02010609060101010101" pitchFamily="49" charset="-122"/>
              </a:rPr>
              <a:t>净</a:t>
            </a:r>
            <a:r>
              <a:rPr lang="zh-CN" altLang="zh-CN" sz="1200" dirty="0">
                <a:latin typeface="仿宋" panose="02010609060101010101" pitchFamily="49" charset="-122"/>
                <a:ea typeface="仿宋" panose="02010609060101010101" pitchFamily="49" charset="-122"/>
              </a:rPr>
              <a:t>资产</a:t>
            </a:r>
            <a:r>
              <a:rPr lang="en-US" altLang="zh-CN" sz="1200" dirty="0">
                <a:latin typeface="仿宋" panose="02010609060101010101" pitchFamily="49" charset="-122"/>
                <a:ea typeface="仿宋" panose="02010609060101010101" pitchFamily="49" charset="-122"/>
              </a:rPr>
              <a:t>:2020</a:t>
            </a:r>
            <a:r>
              <a:rPr lang="zh-CN" altLang="en-US" sz="1200" dirty="0">
                <a:latin typeface="仿宋" panose="02010609060101010101" pitchFamily="49" charset="-122"/>
                <a:ea typeface="仿宋" panose="02010609060101010101" pitchFamily="49" charset="-122"/>
              </a:rPr>
              <a:t>年</a:t>
            </a:r>
            <a:r>
              <a:rPr lang="en-US" altLang="zh-CN" sz="1200" dirty="0">
                <a:latin typeface="仿宋" panose="02010609060101010101" pitchFamily="49" charset="-122"/>
                <a:ea typeface="仿宋" panose="02010609060101010101" pitchFamily="49" charset="-122"/>
              </a:rPr>
              <a:t>-2021</a:t>
            </a:r>
            <a:r>
              <a:rPr lang="zh-CN" altLang="en-US" sz="1200" dirty="0">
                <a:latin typeface="仿宋" panose="02010609060101010101" pitchFamily="49" charset="-122"/>
                <a:ea typeface="仿宋" panose="02010609060101010101" pitchFamily="49" charset="-122"/>
              </a:rPr>
              <a:t>年</a:t>
            </a:r>
            <a:r>
              <a:rPr lang="en-US" altLang="zh-CN" sz="1200" dirty="0">
                <a:latin typeface="仿宋" panose="02010609060101010101" pitchFamily="49" charset="-122"/>
                <a:ea typeface="仿宋" panose="02010609060101010101" pitchFamily="49" charset="-122"/>
              </a:rPr>
              <a:t>4</a:t>
            </a:r>
            <a:r>
              <a:rPr lang="zh-CN" altLang="en-US" sz="1200" dirty="0">
                <a:latin typeface="仿宋" panose="02010609060101010101" pitchFamily="49" charset="-122"/>
                <a:ea typeface="仿宋" panose="02010609060101010101" pitchFamily="49" charset="-122"/>
              </a:rPr>
              <a:t>月底净资产分别为</a:t>
            </a:r>
            <a:r>
              <a:rPr lang="en-US" altLang="zh-CN" sz="1200" dirty="0">
                <a:latin typeface="仿宋" panose="02010609060101010101" pitchFamily="49" charset="-122"/>
                <a:ea typeface="仿宋" panose="02010609060101010101" pitchFamily="49" charset="-122"/>
              </a:rPr>
              <a:t>3,019.83 </a:t>
            </a:r>
            <a:r>
              <a:rPr lang="zh-CN" altLang="zh-CN" sz="1200" dirty="0">
                <a:latin typeface="仿宋" panose="02010609060101010101" pitchFamily="49" charset="-122"/>
                <a:ea typeface="仿宋" panose="02010609060101010101" pitchFamily="49" charset="-122"/>
              </a:rPr>
              <a:t>万元</a:t>
            </a:r>
            <a:r>
              <a:rPr lang="zh-CN" altLang="en-US" sz="1200" dirty="0">
                <a:latin typeface="仿宋" panose="02010609060101010101" pitchFamily="49" charset="-122"/>
                <a:ea typeface="仿宋" panose="02010609060101010101" pitchFamily="49" charset="-122"/>
              </a:rPr>
              <a:t>和</a:t>
            </a:r>
            <a:r>
              <a:rPr lang="en-US" altLang="zh-CN" sz="1200" dirty="0">
                <a:latin typeface="仿宋" panose="02010609060101010101" pitchFamily="49" charset="-122"/>
                <a:ea typeface="仿宋" panose="02010609060101010101" pitchFamily="49" charset="-122"/>
              </a:rPr>
              <a:t>3,425.40</a:t>
            </a:r>
            <a:r>
              <a:rPr lang="zh-CN" altLang="zh-CN" sz="1200" dirty="0">
                <a:latin typeface="仿宋" panose="02010609060101010101" pitchFamily="49" charset="-122"/>
                <a:ea typeface="仿宋" panose="02010609060101010101" pitchFamily="49" charset="-122"/>
              </a:rPr>
              <a:t>万元</a:t>
            </a:r>
            <a:r>
              <a:rPr lang="zh-CN" altLang="en-US" sz="1200" dirty="0">
                <a:latin typeface="仿宋" panose="02010609060101010101" pitchFamily="49" charset="-122"/>
                <a:ea typeface="仿宋" panose="02010609060101010101" pitchFamily="49" charset="-122"/>
              </a:rPr>
              <a:t>；</a:t>
            </a:r>
            <a:r>
              <a:rPr lang="zh-CN" altLang="zh-CN" sz="1200" dirty="0">
                <a:latin typeface="仿宋" panose="02010609060101010101" pitchFamily="49" charset="-122"/>
                <a:ea typeface="仿宋" panose="02010609060101010101" pitchFamily="49" charset="-122"/>
              </a:rPr>
              <a:t>相应的资产负债率为</a:t>
            </a:r>
            <a:r>
              <a:rPr lang="en-US" altLang="zh-CN" sz="1200" dirty="0">
                <a:latin typeface="仿宋" panose="02010609060101010101" pitchFamily="49" charset="-122"/>
                <a:ea typeface="仿宋" panose="02010609060101010101" pitchFamily="49" charset="-122"/>
              </a:rPr>
              <a:t>40.44%</a:t>
            </a:r>
            <a:r>
              <a:rPr lang="zh-CN" altLang="zh-CN" sz="1200" dirty="0">
                <a:latin typeface="仿宋" panose="02010609060101010101" pitchFamily="49" charset="-122"/>
                <a:ea typeface="仿宋" panose="02010609060101010101" pitchFamily="49" charset="-122"/>
              </a:rPr>
              <a:t>和</a:t>
            </a:r>
            <a:r>
              <a:rPr lang="en-US" altLang="zh-CN" sz="1200" dirty="0">
                <a:latin typeface="仿宋" panose="02010609060101010101" pitchFamily="49" charset="-122"/>
                <a:ea typeface="仿宋" panose="02010609060101010101" pitchFamily="49" charset="-122"/>
              </a:rPr>
              <a:t>41.40%</a:t>
            </a:r>
            <a:r>
              <a:rPr lang="zh-CN" altLang="zh-CN" sz="1200" dirty="0">
                <a:latin typeface="仿宋" panose="02010609060101010101" pitchFamily="49" charset="-122"/>
                <a:ea typeface="仿宋" panose="02010609060101010101" pitchFamily="49" charset="-122"/>
              </a:rPr>
              <a:t>。公司近</a:t>
            </a:r>
            <a:r>
              <a:rPr lang="zh-CN" altLang="en-US" sz="1200" dirty="0">
                <a:latin typeface="仿宋" panose="02010609060101010101" pitchFamily="49" charset="-122"/>
                <a:ea typeface="仿宋" panose="02010609060101010101" pitchFamily="49" charset="-122"/>
              </a:rPr>
              <a:t>两</a:t>
            </a:r>
            <a:r>
              <a:rPr lang="zh-CN" altLang="zh-CN" sz="1200" dirty="0">
                <a:latin typeface="仿宋" panose="02010609060101010101" pitchFamily="49" charset="-122"/>
                <a:ea typeface="仿宋" panose="02010609060101010101" pitchFamily="49" charset="-122"/>
              </a:rPr>
              <a:t>年净资产快速增加，</a:t>
            </a:r>
            <a:r>
              <a:rPr lang="zh-CN" altLang="en-US" sz="1200" dirty="0">
                <a:latin typeface="仿宋" panose="02010609060101010101" pitchFamily="49" charset="-122"/>
                <a:ea typeface="仿宋" panose="02010609060101010101" pitchFamily="49" charset="-122"/>
              </a:rPr>
              <a:t>主要是</a:t>
            </a:r>
            <a:r>
              <a:rPr lang="en-US" altLang="zh-CN" sz="1200" dirty="0">
                <a:latin typeface="仿宋" panose="02010609060101010101" pitchFamily="49" charset="-122"/>
                <a:ea typeface="仿宋" panose="02010609060101010101" pitchFamily="49" charset="-122"/>
              </a:rPr>
              <a:t>2020</a:t>
            </a:r>
            <a:r>
              <a:rPr lang="zh-CN" altLang="en-US" sz="1200" dirty="0">
                <a:latin typeface="仿宋" panose="02010609060101010101" pitchFamily="49" charset="-122"/>
                <a:ea typeface="仿宋" panose="02010609060101010101" pitchFamily="49" charset="-122"/>
              </a:rPr>
              <a:t>年</a:t>
            </a:r>
            <a:r>
              <a:rPr lang="en-US" altLang="zh-CN" sz="1200" dirty="0">
                <a:latin typeface="仿宋" panose="02010609060101010101" pitchFamily="49" charset="-122"/>
                <a:ea typeface="仿宋" panose="02010609060101010101" pitchFamily="49" charset="-122"/>
              </a:rPr>
              <a:t>5</a:t>
            </a:r>
            <a:r>
              <a:rPr lang="zh-CN" altLang="en-US" sz="1200" dirty="0">
                <a:latin typeface="仿宋" panose="02010609060101010101" pitchFamily="49" charset="-122"/>
                <a:ea typeface="仿宋" panose="02010609060101010101" pitchFamily="49" charset="-122"/>
              </a:rPr>
              <a:t>月承接了上市公司的部分资产。</a:t>
            </a:r>
            <a:endParaRPr lang="zh-CN" altLang="zh-CN" sz="1200" dirty="0">
              <a:latin typeface="仿宋" panose="02010609060101010101" pitchFamily="49" charset="-122"/>
              <a:ea typeface="仿宋" panose="02010609060101010101" pitchFamily="49" charset="-122"/>
            </a:endParaRPr>
          </a:p>
          <a:p>
            <a:pPr indent="180000" algn="just" eaLnBrk="0" hangingPunct="0">
              <a:lnSpc>
                <a:spcPct val="150000"/>
              </a:lnSpc>
              <a:spcBef>
                <a:spcPts val="0"/>
              </a:spcBef>
              <a:spcAft>
                <a:spcPts val="600"/>
              </a:spcAft>
              <a:buSzPct val="70000"/>
              <a:buBlip>
                <a:blip r:embed="rId3"/>
              </a:buBlip>
            </a:pPr>
            <a:r>
              <a:rPr lang="zh-CN" altLang="en-US" sz="1200" dirty="0">
                <a:latin typeface="仿宋" panose="02010609060101010101" pitchFamily="49" charset="-122"/>
                <a:ea typeface="仿宋" panose="02010609060101010101" pitchFamily="49" charset="-122"/>
              </a:rPr>
              <a:t>应收账款：</a:t>
            </a:r>
            <a:r>
              <a:rPr lang="zh-CN" altLang="zh-CN" sz="1200" dirty="0">
                <a:latin typeface="仿宋" panose="02010609060101010101" pitchFamily="49" charset="-122"/>
                <a:ea typeface="仿宋" panose="02010609060101010101" pitchFamily="49" charset="-122"/>
              </a:rPr>
              <a:t>沿用上市公司</a:t>
            </a:r>
            <a:r>
              <a:rPr lang="en-US" altLang="zh-CN" sz="1200" dirty="0">
                <a:latin typeface="仿宋" panose="02010609060101010101" pitchFamily="49" charset="-122"/>
                <a:ea typeface="仿宋" panose="02010609060101010101" pitchFamily="49" charset="-122"/>
              </a:rPr>
              <a:t>O2Micro</a:t>
            </a:r>
            <a:r>
              <a:rPr lang="zh-CN" altLang="zh-CN" sz="1200" dirty="0">
                <a:latin typeface="仿宋" panose="02010609060101010101" pitchFamily="49" charset="-122"/>
                <a:ea typeface="仿宋" panose="02010609060101010101" pitchFamily="49" charset="-122"/>
              </a:rPr>
              <a:t>的代理体系及供应链。公司一般要求代理商备货</a:t>
            </a:r>
            <a:r>
              <a:rPr lang="en-US" altLang="zh-CN" sz="1200" dirty="0">
                <a:latin typeface="仿宋" panose="02010609060101010101" pitchFamily="49" charset="-122"/>
                <a:ea typeface="仿宋" panose="02010609060101010101" pitchFamily="49" charset="-122"/>
              </a:rPr>
              <a:t>1</a:t>
            </a:r>
            <a:r>
              <a:rPr lang="zh-CN" altLang="zh-CN" sz="1200" dirty="0">
                <a:latin typeface="仿宋" panose="02010609060101010101" pitchFamily="49" charset="-122"/>
                <a:ea typeface="仿宋" panose="02010609060101010101" pitchFamily="49" charset="-122"/>
              </a:rPr>
              <a:t>个月的库存，</a:t>
            </a:r>
            <a:r>
              <a:rPr lang="zh-CN" altLang="zh-CN" sz="1200" b="1" dirty="0">
                <a:latin typeface="仿宋" panose="02010609060101010101" pitchFamily="49" charset="-122"/>
                <a:ea typeface="仿宋" panose="02010609060101010101" pitchFamily="49" charset="-122"/>
              </a:rPr>
              <a:t>几乎没有给到代理商账期，基本为现结模式。</a:t>
            </a:r>
            <a:r>
              <a:rPr lang="en-US" altLang="zh-CN" sz="1200" dirty="0">
                <a:latin typeface="仿宋" panose="02010609060101010101" pitchFamily="49" charset="-122"/>
                <a:ea typeface="仿宋" panose="02010609060101010101" pitchFamily="49" charset="-122"/>
              </a:rPr>
              <a:t>2019</a:t>
            </a:r>
            <a:r>
              <a:rPr lang="zh-CN" altLang="zh-CN" sz="1200" dirty="0">
                <a:latin typeface="仿宋" panose="02010609060101010101" pitchFamily="49" charset="-122"/>
                <a:ea typeface="仿宋" panose="02010609060101010101" pitchFamily="49" charset="-122"/>
              </a:rPr>
              <a:t>年、</a:t>
            </a:r>
            <a:r>
              <a:rPr lang="en-US" altLang="zh-CN" sz="1200" dirty="0">
                <a:latin typeface="仿宋" panose="02010609060101010101" pitchFamily="49" charset="-122"/>
                <a:ea typeface="仿宋" panose="02010609060101010101" pitchFamily="49" charset="-122"/>
              </a:rPr>
              <a:t>2020</a:t>
            </a:r>
            <a:r>
              <a:rPr lang="zh-CN" altLang="zh-CN" sz="1200" dirty="0">
                <a:latin typeface="仿宋" panose="02010609060101010101" pitchFamily="49" charset="-122"/>
                <a:ea typeface="仿宋" panose="02010609060101010101" pitchFamily="49" charset="-122"/>
              </a:rPr>
              <a:t>年末都没有应收票据。</a:t>
            </a:r>
            <a:endParaRPr lang="en-US" altLang="zh-CN" sz="1200" b="1" dirty="0">
              <a:latin typeface="仿宋" panose="02010609060101010101" pitchFamily="49" charset="-122"/>
              <a:ea typeface="仿宋" panose="02010609060101010101" pitchFamily="49" charset="-122"/>
            </a:endParaRPr>
          </a:p>
          <a:p>
            <a:pPr indent="180000" algn="just" eaLnBrk="0" hangingPunct="0">
              <a:lnSpc>
                <a:spcPct val="150000"/>
              </a:lnSpc>
              <a:spcBef>
                <a:spcPts val="0"/>
              </a:spcBef>
              <a:spcAft>
                <a:spcPts val="600"/>
              </a:spcAft>
              <a:buSzPct val="70000"/>
              <a:buBlip>
                <a:blip r:embed="rId3"/>
              </a:buBlip>
            </a:pPr>
            <a:r>
              <a:rPr lang="zh-CN" altLang="en-US" sz="1200" dirty="0">
                <a:latin typeface="仿宋" panose="02010609060101010101" pitchFamily="49" charset="-122"/>
                <a:ea typeface="仿宋" panose="02010609060101010101" pitchFamily="49" charset="-122"/>
              </a:rPr>
              <a:t>存货：</a:t>
            </a:r>
            <a:r>
              <a:rPr lang="en-US" altLang="zh-CN" sz="1200" dirty="0">
                <a:latin typeface="仿宋" panose="02010609060101010101" pitchFamily="49" charset="-122"/>
                <a:ea typeface="仿宋" panose="02010609060101010101" pitchFamily="49" charset="-122"/>
              </a:rPr>
              <a:t>2020</a:t>
            </a:r>
            <a:r>
              <a:rPr lang="zh-CN" altLang="zh-CN" sz="1200" dirty="0">
                <a:latin typeface="仿宋" panose="02010609060101010101" pitchFamily="49" charset="-122"/>
                <a:ea typeface="仿宋" panose="02010609060101010101" pitchFamily="49" charset="-122"/>
              </a:rPr>
              <a:t>年底、</a:t>
            </a:r>
            <a:r>
              <a:rPr lang="en-US" altLang="zh-CN" sz="1200" dirty="0">
                <a:latin typeface="仿宋" panose="02010609060101010101" pitchFamily="49" charset="-122"/>
                <a:ea typeface="仿宋" panose="02010609060101010101" pitchFamily="49" charset="-122"/>
              </a:rPr>
              <a:t>2021</a:t>
            </a:r>
            <a:r>
              <a:rPr lang="zh-CN" altLang="zh-CN" sz="1200" dirty="0">
                <a:latin typeface="仿宋" panose="02010609060101010101" pitchFamily="49" charset="-122"/>
                <a:ea typeface="仿宋" panose="02010609060101010101" pitchFamily="49" charset="-122"/>
              </a:rPr>
              <a:t>年</a:t>
            </a:r>
            <a:r>
              <a:rPr lang="en-US" altLang="zh-CN" sz="1200" dirty="0">
                <a:latin typeface="仿宋" panose="02010609060101010101" pitchFamily="49" charset="-122"/>
                <a:ea typeface="仿宋" panose="02010609060101010101" pitchFamily="49" charset="-122"/>
              </a:rPr>
              <a:t>4</a:t>
            </a:r>
            <a:r>
              <a:rPr lang="zh-CN" altLang="zh-CN" sz="1200" dirty="0">
                <a:latin typeface="仿宋" panose="02010609060101010101" pitchFamily="49" charset="-122"/>
                <a:ea typeface="仿宋" panose="02010609060101010101" pitchFamily="49" charset="-122"/>
              </a:rPr>
              <a:t>月底的存货金额分别为</a:t>
            </a:r>
            <a:r>
              <a:rPr lang="en-US" altLang="zh-CN" sz="1200" dirty="0">
                <a:latin typeface="仿宋" panose="02010609060101010101" pitchFamily="49" charset="-122"/>
                <a:ea typeface="仿宋" panose="02010609060101010101" pitchFamily="49" charset="-122"/>
              </a:rPr>
              <a:t>1,203,40</a:t>
            </a:r>
            <a:r>
              <a:rPr lang="zh-CN" altLang="zh-CN" sz="1200" dirty="0">
                <a:latin typeface="仿宋" panose="02010609060101010101" pitchFamily="49" charset="-122"/>
                <a:ea typeface="仿宋" panose="02010609060101010101" pitchFamily="49" charset="-122"/>
              </a:rPr>
              <a:t>万元、</a:t>
            </a:r>
            <a:r>
              <a:rPr lang="en-US" altLang="zh-CN" sz="1200" dirty="0">
                <a:latin typeface="仿宋" panose="02010609060101010101" pitchFamily="49" charset="-122"/>
                <a:ea typeface="仿宋" panose="02010609060101010101" pitchFamily="49" charset="-122"/>
              </a:rPr>
              <a:t>3,204.97</a:t>
            </a:r>
            <a:r>
              <a:rPr lang="zh-CN" altLang="zh-CN" sz="1200" dirty="0">
                <a:latin typeface="仿宋" panose="02010609060101010101" pitchFamily="49" charset="-122"/>
                <a:ea typeface="仿宋" panose="02010609060101010101" pitchFamily="49" charset="-122"/>
              </a:rPr>
              <a:t>万元</a:t>
            </a:r>
            <a:r>
              <a:rPr lang="zh-CN" altLang="en-US" sz="1200" dirty="0">
                <a:latin typeface="仿宋" panose="02010609060101010101" pitchFamily="49" charset="-122"/>
                <a:ea typeface="仿宋" panose="02010609060101010101" pitchFamily="49" charset="-122"/>
              </a:rPr>
              <a:t>公司存货增加幅度较大；</a:t>
            </a:r>
            <a:r>
              <a:rPr lang="zh-CN" altLang="zh-CN" sz="1200" dirty="0">
                <a:latin typeface="仿宋" panose="02010609060101010101" pitchFamily="49" charset="-122"/>
                <a:ea typeface="仿宋" panose="02010609060101010101" pitchFamily="49" charset="-122"/>
              </a:rPr>
              <a:t>主要原因系客户需求增加，为缓减出货压力，后端已经启动加急备货方案。</a:t>
            </a:r>
          </a:p>
          <a:p>
            <a:pPr algn="just" eaLnBrk="0" hangingPunct="0">
              <a:lnSpc>
                <a:spcPct val="150000"/>
              </a:lnSpc>
              <a:spcBef>
                <a:spcPts val="0"/>
              </a:spcBef>
              <a:spcAft>
                <a:spcPts val="600"/>
              </a:spcAft>
              <a:buSzPct val="70000"/>
            </a:pPr>
            <a:endParaRPr lang="zh-CN" altLang="zh-CN" sz="1200" dirty="0">
              <a:latin typeface="仿宋" panose="02010609060101010101" pitchFamily="49" charset="-122"/>
              <a:ea typeface="仿宋" panose="02010609060101010101" pitchFamily="49" charset="-122"/>
            </a:endParaRPr>
          </a:p>
        </p:txBody>
      </p:sp>
      <p:sp>
        <p:nvSpPr>
          <p:cNvPr id="2" name="矩形 1">
            <a:extLst>
              <a:ext uri="{FF2B5EF4-FFF2-40B4-BE49-F238E27FC236}">
                <a16:creationId xmlns:a16="http://schemas.microsoft.com/office/drawing/2014/main" id="{99DD45AA-A732-4FA3-9E0D-90C96042AE1D}"/>
              </a:ext>
            </a:extLst>
          </p:cNvPr>
          <p:cNvSpPr/>
          <p:nvPr/>
        </p:nvSpPr>
        <p:spPr bwMode="auto">
          <a:xfrm>
            <a:off x="2051824" y="915635"/>
            <a:ext cx="2448171" cy="216015"/>
          </a:xfrm>
          <a:prstGeom prst="rect">
            <a:avLst/>
          </a:prstGeom>
          <a:noFill/>
          <a:ln w="12700" cap="flat" cmpd="sng" algn="ctr">
            <a:solidFill>
              <a:srgbClr val="0070C0"/>
            </a:solidFill>
            <a:prstDash val="sysDash"/>
            <a:round/>
            <a:headEnd type="none" w="med" len="med"/>
            <a:tailEnd type="none" w="med" len="med"/>
          </a:ln>
        </p:spPr>
        <p:txBody>
          <a:bodyPr vert="horz" wrap="square" lIns="91440" tIns="45720" rIns="91440" bIns="45720" numCol="1" rtlCol="0" anchor="t" anchorCtr="0" compatLnSpc="1"/>
          <a:lstStyle/>
          <a:p>
            <a:endParaRPr lang="zh-CN" altLang="en-US" sz="1400">
              <a:latin typeface="仿宋" panose="02010609060101010101" pitchFamily="49" charset="-122"/>
              <a:ea typeface="仿宋" panose="02010609060101010101" pitchFamily="49" charset="-122"/>
            </a:endParaRPr>
          </a:p>
        </p:txBody>
      </p:sp>
      <p:sp>
        <p:nvSpPr>
          <p:cNvPr id="4" name="矩形 3">
            <a:extLst>
              <a:ext uri="{FF2B5EF4-FFF2-40B4-BE49-F238E27FC236}">
                <a16:creationId xmlns:a16="http://schemas.microsoft.com/office/drawing/2014/main" id="{77258968-6FC0-4F01-8297-75301A01DF71}"/>
              </a:ext>
            </a:extLst>
          </p:cNvPr>
          <p:cNvSpPr/>
          <p:nvPr/>
        </p:nvSpPr>
        <p:spPr bwMode="auto">
          <a:xfrm>
            <a:off x="2051824" y="2571750"/>
            <a:ext cx="2448171" cy="216015"/>
          </a:xfrm>
          <a:prstGeom prst="rect">
            <a:avLst/>
          </a:prstGeom>
          <a:noFill/>
          <a:ln w="12700" cap="flat" cmpd="sng" algn="ctr">
            <a:solidFill>
              <a:srgbClr val="0070C0"/>
            </a:solidFill>
            <a:prstDash val="sysDash"/>
            <a:round/>
            <a:headEnd type="none" w="med" len="med"/>
            <a:tailEnd type="none" w="med" len="med"/>
          </a:ln>
        </p:spPr>
        <p:txBody>
          <a:bodyPr vert="horz" wrap="square" lIns="91440" tIns="45720" rIns="91440" bIns="45720" numCol="1" rtlCol="0" anchor="t" anchorCtr="0" compatLnSpc="1"/>
          <a:lstStyle/>
          <a:p>
            <a:endParaRPr lang="zh-CN" altLang="en-US" sz="1400">
              <a:latin typeface="仿宋" panose="02010609060101010101" pitchFamily="49" charset="-122"/>
              <a:ea typeface="仿宋" panose="02010609060101010101" pitchFamily="49" charset="-122"/>
            </a:endParaRPr>
          </a:p>
        </p:txBody>
      </p:sp>
      <p:graphicFrame>
        <p:nvGraphicFramePr>
          <p:cNvPr id="7" name="表格 6">
            <a:extLst>
              <a:ext uri="{FF2B5EF4-FFF2-40B4-BE49-F238E27FC236}">
                <a16:creationId xmlns:a16="http://schemas.microsoft.com/office/drawing/2014/main" id="{21E79DB8-92D4-422E-9866-97057F007996}"/>
              </a:ext>
            </a:extLst>
          </p:cNvPr>
          <p:cNvGraphicFramePr>
            <a:graphicFrameLocks noGrp="1"/>
          </p:cNvGraphicFramePr>
          <p:nvPr>
            <p:extLst>
              <p:ext uri="{D42A27DB-BD31-4B8C-83A1-F6EECF244321}">
                <p14:modId xmlns:p14="http://schemas.microsoft.com/office/powerpoint/2010/main" val="3759208703"/>
              </p:ext>
            </p:extLst>
          </p:nvPr>
        </p:nvGraphicFramePr>
        <p:xfrm>
          <a:off x="539720" y="627617"/>
          <a:ext cx="3816265" cy="4320290"/>
        </p:xfrm>
        <a:graphic>
          <a:graphicData uri="http://schemas.openxmlformats.org/drawingml/2006/table">
            <a:tbl>
              <a:tblPr/>
              <a:tblGrid>
                <a:gridCol w="1542747">
                  <a:extLst>
                    <a:ext uri="{9D8B030D-6E8A-4147-A177-3AD203B41FA5}">
                      <a16:colId xmlns:a16="http://schemas.microsoft.com/office/drawing/2014/main" val="2601471790"/>
                    </a:ext>
                  </a:extLst>
                </a:gridCol>
                <a:gridCol w="685925">
                  <a:extLst>
                    <a:ext uri="{9D8B030D-6E8A-4147-A177-3AD203B41FA5}">
                      <a16:colId xmlns:a16="http://schemas.microsoft.com/office/drawing/2014/main" val="3715996415"/>
                    </a:ext>
                  </a:extLst>
                </a:gridCol>
                <a:gridCol w="832395">
                  <a:extLst>
                    <a:ext uri="{9D8B030D-6E8A-4147-A177-3AD203B41FA5}">
                      <a16:colId xmlns:a16="http://schemas.microsoft.com/office/drawing/2014/main" val="4038893293"/>
                    </a:ext>
                  </a:extLst>
                </a:gridCol>
                <a:gridCol w="755198">
                  <a:extLst>
                    <a:ext uri="{9D8B030D-6E8A-4147-A177-3AD203B41FA5}">
                      <a16:colId xmlns:a16="http://schemas.microsoft.com/office/drawing/2014/main" val="109684666"/>
                    </a:ext>
                  </a:extLst>
                </a:gridCol>
              </a:tblGrid>
              <a:tr h="166165">
                <a:tc>
                  <a:txBody>
                    <a:bodyPr/>
                    <a:lstStyle/>
                    <a:p>
                      <a:pPr algn="ctr" fontAlgn="ctr"/>
                      <a:r>
                        <a:rPr lang="zh-CN" altLang="en-US" sz="1000" b="1" i="0" u="none" strike="noStrike">
                          <a:solidFill>
                            <a:srgbClr val="000000"/>
                          </a:solidFill>
                          <a:effectLst/>
                          <a:latin typeface="仿宋" panose="02010609060101010101" pitchFamily="49" charset="-122"/>
                          <a:ea typeface="仿宋" panose="02010609060101010101" pitchFamily="49" charset="-122"/>
                        </a:rPr>
                        <a:t>项目</a:t>
                      </a:r>
                    </a:p>
                  </a:txBody>
                  <a:tcPr marL="6857" marR="6857" marT="6857"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en-US" altLang="zh-CN" sz="1000" b="1" i="0" u="none" strike="noStrike">
                          <a:solidFill>
                            <a:srgbClr val="000000"/>
                          </a:solidFill>
                          <a:effectLst/>
                          <a:latin typeface="仿宋" panose="02010609060101010101" pitchFamily="49" charset="-122"/>
                          <a:ea typeface="仿宋" panose="02010609060101010101" pitchFamily="49" charset="-122"/>
                        </a:rPr>
                        <a:t>2019/12/31</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en-US" altLang="zh-CN" sz="1000" b="1" i="0" u="none" strike="noStrike">
                          <a:solidFill>
                            <a:srgbClr val="000000"/>
                          </a:solidFill>
                          <a:effectLst/>
                          <a:latin typeface="仿宋" panose="02010609060101010101" pitchFamily="49" charset="-122"/>
                          <a:ea typeface="仿宋" panose="02010609060101010101" pitchFamily="49" charset="-122"/>
                        </a:rPr>
                        <a:t>2020/12/31</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en-US" altLang="zh-CN" sz="1000" b="1" i="0" u="none" strike="noStrike">
                          <a:solidFill>
                            <a:srgbClr val="000000"/>
                          </a:solidFill>
                          <a:effectLst/>
                          <a:latin typeface="仿宋" panose="02010609060101010101" pitchFamily="49" charset="-122"/>
                          <a:ea typeface="仿宋" panose="02010609060101010101" pitchFamily="49" charset="-122"/>
                        </a:rPr>
                        <a:t>2021/4/30</a:t>
                      </a:r>
                    </a:p>
                  </a:txBody>
                  <a:tcPr marL="6857" marR="6857" marT="6857"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extLst>
                  <a:ext uri="{0D108BD9-81ED-4DB2-BD59-A6C34878D82A}">
                    <a16:rowId xmlns:a16="http://schemas.microsoft.com/office/drawing/2014/main" val="2032132003"/>
                  </a:ext>
                </a:extLst>
              </a:tr>
              <a:tr h="166165">
                <a:tc>
                  <a:txBody>
                    <a:bodyPr/>
                    <a:lstStyle/>
                    <a:p>
                      <a:pPr algn="just" fontAlgn="ctr"/>
                      <a:r>
                        <a:rPr lang="zh-CN" altLang="en-US" sz="1000" b="1" i="0" u="none" strike="noStrike">
                          <a:solidFill>
                            <a:srgbClr val="000000"/>
                          </a:solidFill>
                          <a:effectLst/>
                          <a:latin typeface="仿宋" panose="02010609060101010101" pitchFamily="49" charset="-122"/>
                          <a:ea typeface="仿宋" panose="02010609060101010101" pitchFamily="49" charset="-122"/>
                        </a:rPr>
                        <a:t>资 产：</a:t>
                      </a:r>
                    </a:p>
                  </a:txBody>
                  <a:tcPr marL="6857" marR="6857" marT="6857"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just" fontAlgn="ctr"/>
                      <a:r>
                        <a:rPr lang="zh-CN" altLang="en-US" sz="1000" b="1" i="0" u="none" strike="noStrike">
                          <a:solidFill>
                            <a:srgbClr val="000000"/>
                          </a:solidFill>
                          <a:effectLst/>
                          <a:latin typeface="仿宋" panose="02010609060101010101" pitchFamily="49" charset="-122"/>
                          <a:ea typeface="仿宋" panose="02010609060101010101" pitchFamily="49" charset="-122"/>
                        </a:rPr>
                        <a:t>　</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b"/>
                      <a:r>
                        <a:rPr lang="zh-CN" altLang="en-US" sz="1000" b="0" i="0" u="none" strike="noStrike">
                          <a:solidFill>
                            <a:srgbClr val="000000"/>
                          </a:solidFill>
                          <a:effectLst/>
                          <a:latin typeface="仿宋" panose="02010609060101010101" pitchFamily="49" charset="-122"/>
                          <a:ea typeface="仿宋" panose="02010609060101010101" pitchFamily="49" charset="-122"/>
                        </a:rPr>
                        <a:t>　</a:t>
                      </a:r>
                    </a:p>
                  </a:txBody>
                  <a:tcPr marL="6857" marR="6857" marT="6857" marB="0" anchor="b">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b"/>
                      <a:r>
                        <a:rPr lang="zh-CN" altLang="en-US" sz="1000" b="0" i="0" u="none" strike="noStrike">
                          <a:solidFill>
                            <a:srgbClr val="000000"/>
                          </a:solidFill>
                          <a:effectLst/>
                          <a:latin typeface="仿宋" panose="02010609060101010101" pitchFamily="49" charset="-122"/>
                          <a:ea typeface="仿宋" panose="02010609060101010101" pitchFamily="49" charset="-122"/>
                        </a:rPr>
                        <a:t>　</a:t>
                      </a:r>
                    </a:p>
                  </a:txBody>
                  <a:tcPr marL="6857" marR="6857" marT="6857" marB="0" anchor="b">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4211257862"/>
                  </a:ext>
                </a:extLst>
              </a:tr>
              <a:tr h="166165">
                <a:tc>
                  <a:txBody>
                    <a:bodyPr/>
                    <a:lstStyle/>
                    <a:p>
                      <a:pPr algn="just"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货币资金</a:t>
                      </a:r>
                    </a:p>
                  </a:txBody>
                  <a:tcPr marL="6857" marR="6857" marT="6857"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　</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3450.08</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1761.28</a:t>
                      </a:r>
                    </a:p>
                  </a:txBody>
                  <a:tcPr marL="6857" marR="6857" marT="6857"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625161453"/>
                  </a:ext>
                </a:extLst>
              </a:tr>
              <a:tr h="166165">
                <a:tc>
                  <a:txBody>
                    <a:bodyPr/>
                    <a:lstStyle/>
                    <a:p>
                      <a:pPr algn="l" fontAlgn="ctr"/>
                      <a:r>
                        <a:rPr lang="zh-CN" altLang="en-US" sz="1000" b="0" i="0" u="none" strike="noStrike" dirty="0">
                          <a:solidFill>
                            <a:srgbClr val="000000"/>
                          </a:solidFill>
                          <a:effectLst/>
                          <a:latin typeface="仿宋" panose="02010609060101010101" pitchFamily="49" charset="-122"/>
                          <a:ea typeface="仿宋" panose="02010609060101010101" pitchFamily="49" charset="-122"/>
                        </a:rPr>
                        <a:t>应收账款</a:t>
                      </a:r>
                    </a:p>
                  </a:txBody>
                  <a:tcPr marL="6857" marR="6857" marT="6857"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　</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182.65</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719.96</a:t>
                      </a:r>
                    </a:p>
                  </a:txBody>
                  <a:tcPr marL="6857" marR="6857" marT="6857"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564951308"/>
                  </a:ext>
                </a:extLst>
              </a:tr>
              <a:tr h="166165">
                <a:tc>
                  <a:txBody>
                    <a:bodyPr/>
                    <a:lstStyle/>
                    <a:p>
                      <a:pPr algn="just"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预付账款</a:t>
                      </a:r>
                    </a:p>
                  </a:txBody>
                  <a:tcPr marL="6857" marR="6857" marT="6857"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1.28</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92.50</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dirty="0">
                          <a:solidFill>
                            <a:srgbClr val="000000"/>
                          </a:solidFill>
                          <a:effectLst/>
                          <a:latin typeface="仿宋" panose="02010609060101010101" pitchFamily="49" charset="-122"/>
                          <a:ea typeface="仿宋" panose="02010609060101010101" pitchFamily="49" charset="-122"/>
                        </a:rPr>
                        <a:t>205.97</a:t>
                      </a:r>
                    </a:p>
                  </a:txBody>
                  <a:tcPr marL="6857" marR="6857" marT="6857"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649413377"/>
                  </a:ext>
                </a:extLst>
              </a:tr>
              <a:tr h="166165">
                <a:tc>
                  <a:txBody>
                    <a:bodyPr/>
                    <a:lstStyle/>
                    <a:p>
                      <a:pPr algn="just"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其他应收款</a:t>
                      </a:r>
                    </a:p>
                  </a:txBody>
                  <a:tcPr marL="6857" marR="6857" marT="6857"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1.44</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2.79</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3.45</a:t>
                      </a:r>
                    </a:p>
                  </a:txBody>
                  <a:tcPr marL="6857" marR="6857" marT="6857"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4120470543"/>
                  </a:ext>
                </a:extLst>
              </a:tr>
              <a:tr h="166165">
                <a:tc>
                  <a:txBody>
                    <a:bodyPr/>
                    <a:lstStyle/>
                    <a:p>
                      <a:pPr algn="just"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存货</a:t>
                      </a:r>
                    </a:p>
                  </a:txBody>
                  <a:tcPr marL="6857" marR="6857" marT="6857"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0.00</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1203.40</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3204.97</a:t>
                      </a:r>
                    </a:p>
                  </a:txBody>
                  <a:tcPr marL="6857" marR="6857" marT="6857"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397398952"/>
                  </a:ext>
                </a:extLst>
              </a:tr>
              <a:tr h="166165">
                <a:tc>
                  <a:txBody>
                    <a:bodyPr/>
                    <a:lstStyle/>
                    <a:p>
                      <a:pPr algn="just"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其他流动资产</a:t>
                      </a:r>
                    </a:p>
                  </a:txBody>
                  <a:tcPr marL="6857" marR="6857" marT="6857"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1.20</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23.63</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30.63</a:t>
                      </a:r>
                    </a:p>
                  </a:txBody>
                  <a:tcPr marL="6857" marR="6857" marT="6857"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758351329"/>
                  </a:ext>
                </a:extLst>
              </a:tr>
              <a:tr h="166165">
                <a:tc>
                  <a:txBody>
                    <a:bodyPr/>
                    <a:lstStyle/>
                    <a:p>
                      <a:pPr algn="just" fontAlgn="ctr"/>
                      <a:r>
                        <a:rPr lang="zh-CN" altLang="en-US" sz="1000" b="1" i="0" u="none" strike="noStrike">
                          <a:solidFill>
                            <a:srgbClr val="000000"/>
                          </a:solidFill>
                          <a:effectLst/>
                          <a:latin typeface="仿宋" panose="02010609060101010101" pitchFamily="49" charset="-122"/>
                          <a:ea typeface="仿宋" panose="02010609060101010101" pitchFamily="49" charset="-122"/>
                        </a:rPr>
                        <a:t>流动资产合计</a:t>
                      </a:r>
                    </a:p>
                  </a:txBody>
                  <a:tcPr marL="6857" marR="6857" marT="6857"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1" i="0" u="none" strike="noStrike">
                          <a:solidFill>
                            <a:srgbClr val="000000"/>
                          </a:solidFill>
                          <a:effectLst/>
                          <a:latin typeface="仿宋" panose="02010609060101010101" pitchFamily="49" charset="-122"/>
                          <a:ea typeface="仿宋" panose="02010609060101010101" pitchFamily="49" charset="-122"/>
                        </a:rPr>
                        <a:t>3.92</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1" i="0" u="none" strike="noStrike">
                          <a:solidFill>
                            <a:srgbClr val="000000"/>
                          </a:solidFill>
                          <a:effectLst/>
                          <a:latin typeface="仿宋" panose="02010609060101010101" pitchFamily="49" charset="-122"/>
                          <a:ea typeface="仿宋" panose="02010609060101010101" pitchFamily="49" charset="-122"/>
                        </a:rPr>
                        <a:t>4955.06</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1" i="0" u="none" strike="noStrike">
                          <a:solidFill>
                            <a:srgbClr val="000000"/>
                          </a:solidFill>
                          <a:effectLst/>
                          <a:latin typeface="仿宋" panose="02010609060101010101" pitchFamily="49" charset="-122"/>
                          <a:ea typeface="仿宋" panose="02010609060101010101" pitchFamily="49" charset="-122"/>
                        </a:rPr>
                        <a:t>5926.26</a:t>
                      </a:r>
                    </a:p>
                  </a:txBody>
                  <a:tcPr marL="6857" marR="6857" marT="6857"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743116550"/>
                  </a:ext>
                </a:extLst>
              </a:tr>
              <a:tr h="166165">
                <a:tc>
                  <a:txBody>
                    <a:bodyPr/>
                    <a:lstStyle/>
                    <a:p>
                      <a:pPr algn="just"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固定资产</a:t>
                      </a:r>
                    </a:p>
                  </a:txBody>
                  <a:tcPr marL="6857" marR="6857" marT="6857"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　</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109.02</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102.88</a:t>
                      </a:r>
                    </a:p>
                  </a:txBody>
                  <a:tcPr marL="6857" marR="6857" marT="6857"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969863242"/>
                  </a:ext>
                </a:extLst>
              </a:tr>
              <a:tr h="166165">
                <a:tc>
                  <a:txBody>
                    <a:bodyPr/>
                    <a:lstStyle/>
                    <a:p>
                      <a:pPr algn="just"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无形资产</a:t>
                      </a:r>
                    </a:p>
                  </a:txBody>
                  <a:tcPr marL="6857" marR="6857" marT="6857"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　</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97.50</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94.17</a:t>
                      </a:r>
                    </a:p>
                  </a:txBody>
                  <a:tcPr marL="6857" marR="6857" marT="6857"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909441838"/>
                  </a:ext>
                </a:extLst>
              </a:tr>
              <a:tr h="166165">
                <a:tc>
                  <a:txBody>
                    <a:bodyPr/>
                    <a:lstStyle/>
                    <a:p>
                      <a:pPr algn="just" fontAlgn="ctr"/>
                      <a:r>
                        <a:rPr lang="zh-CN" altLang="en-US" sz="1000" b="1" i="0" u="none" strike="noStrike">
                          <a:solidFill>
                            <a:srgbClr val="000000"/>
                          </a:solidFill>
                          <a:effectLst/>
                          <a:latin typeface="仿宋" panose="02010609060101010101" pitchFamily="49" charset="-122"/>
                          <a:ea typeface="仿宋" panose="02010609060101010101" pitchFamily="49" charset="-122"/>
                        </a:rPr>
                        <a:t>非流动资产合计</a:t>
                      </a:r>
                    </a:p>
                  </a:txBody>
                  <a:tcPr marL="6857" marR="6857" marT="6857"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000" b="1" i="0" u="none" strike="noStrike">
                          <a:solidFill>
                            <a:srgbClr val="000000"/>
                          </a:solidFill>
                          <a:effectLst/>
                          <a:latin typeface="仿宋" panose="02010609060101010101" pitchFamily="49" charset="-122"/>
                          <a:ea typeface="仿宋" panose="02010609060101010101" pitchFamily="49" charset="-122"/>
                        </a:rPr>
                        <a:t>　</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1" i="0" u="none" strike="noStrike">
                          <a:solidFill>
                            <a:srgbClr val="000000"/>
                          </a:solidFill>
                          <a:effectLst/>
                          <a:latin typeface="仿宋" panose="02010609060101010101" pitchFamily="49" charset="-122"/>
                          <a:ea typeface="仿宋" panose="02010609060101010101" pitchFamily="49" charset="-122"/>
                        </a:rPr>
                        <a:t>206.52</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1" i="0" u="none" strike="noStrike">
                          <a:solidFill>
                            <a:srgbClr val="000000"/>
                          </a:solidFill>
                          <a:effectLst/>
                          <a:latin typeface="仿宋" panose="02010609060101010101" pitchFamily="49" charset="-122"/>
                          <a:ea typeface="仿宋" panose="02010609060101010101" pitchFamily="49" charset="-122"/>
                        </a:rPr>
                        <a:t>197.05</a:t>
                      </a:r>
                    </a:p>
                  </a:txBody>
                  <a:tcPr marL="6857" marR="6857" marT="6857"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485584274"/>
                  </a:ext>
                </a:extLst>
              </a:tr>
              <a:tr h="166165">
                <a:tc>
                  <a:txBody>
                    <a:bodyPr/>
                    <a:lstStyle/>
                    <a:p>
                      <a:pPr algn="just" fontAlgn="ctr"/>
                      <a:r>
                        <a:rPr lang="zh-CN" altLang="en-US" sz="1000" b="1" i="0" u="none" strike="noStrike">
                          <a:solidFill>
                            <a:srgbClr val="000000"/>
                          </a:solidFill>
                          <a:effectLst/>
                          <a:latin typeface="仿宋" panose="02010609060101010101" pitchFamily="49" charset="-122"/>
                          <a:ea typeface="仿宋" panose="02010609060101010101" pitchFamily="49" charset="-122"/>
                        </a:rPr>
                        <a:t>资产总计</a:t>
                      </a:r>
                    </a:p>
                  </a:txBody>
                  <a:tcPr marL="6857" marR="6857" marT="6857"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3.92</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5161.58</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6123.31</a:t>
                      </a:r>
                    </a:p>
                  </a:txBody>
                  <a:tcPr marL="6857" marR="6857" marT="6857"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460825755"/>
                  </a:ext>
                </a:extLst>
              </a:tr>
              <a:tr h="166165">
                <a:tc>
                  <a:txBody>
                    <a:bodyPr/>
                    <a:lstStyle/>
                    <a:p>
                      <a:pPr algn="just" fontAlgn="ctr"/>
                      <a:r>
                        <a:rPr lang="zh-CN" altLang="en-US" sz="1000" b="1" i="0" u="none" strike="noStrike">
                          <a:solidFill>
                            <a:srgbClr val="000000"/>
                          </a:solidFill>
                          <a:effectLst/>
                          <a:latin typeface="仿宋" panose="02010609060101010101" pitchFamily="49" charset="-122"/>
                          <a:ea typeface="仿宋" panose="02010609060101010101" pitchFamily="49" charset="-122"/>
                        </a:rPr>
                        <a:t>负债和所有者权益：</a:t>
                      </a:r>
                    </a:p>
                  </a:txBody>
                  <a:tcPr marL="6857" marR="6857" marT="6857"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000" b="1" i="0" u="none" strike="noStrike">
                          <a:solidFill>
                            <a:srgbClr val="000000"/>
                          </a:solidFill>
                          <a:effectLst/>
                          <a:latin typeface="仿宋" panose="02010609060101010101" pitchFamily="49" charset="-122"/>
                          <a:ea typeface="仿宋" panose="02010609060101010101" pitchFamily="49" charset="-122"/>
                        </a:rPr>
                        <a:t>　</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b"/>
                      <a:r>
                        <a:rPr lang="zh-CN" altLang="en-US" sz="1000" b="0" i="0" u="none" strike="noStrike">
                          <a:solidFill>
                            <a:srgbClr val="000000"/>
                          </a:solidFill>
                          <a:effectLst/>
                          <a:latin typeface="仿宋" panose="02010609060101010101" pitchFamily="49" charset="-122"/>
                          <a:ea typeface="仿宋" panose="02010609060101010101" pitchFamily="49" charset="-122"/>
                        </a:rPr>
                        <a:t>　</a:t>
                      </a:r>
                    </a:p>
                  </a:txBody>
                  <a:tcPr marL="6857" marR="6857" marT="6857" marB="0" anchor="b">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b"/>
                      <a:r>
                        <a:rPr lang="zh-CN" altLang="en-US" sz="1000" b="0" i="0" u="none" strike="noStrike">
                          <a:solidFill>
                            <a:srgbClr val="000000"/>
                          </a:solidFill>
                          <a:effectLst/>
                          <a:latin typeface="仿宋" panose="02010609060101010101" pitchFamily="49" charset="-122"/>
                          <a:ea typeface="仿宋" panose="02010609060101010101" pitchFamily="49" charset="-122"/>
                        </a:rPr>
                        <a:t>　</a:t>
                      </a:r>
                    </a:p>
                  </a:txBody>
                  <a:tcPr marL="6857" marR="6857" marT="6857" marB="0" anchor="b">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101526633"/>
                  </a:ext>
                </a:extLst>
              </a:tr>
              <a:tr h="166165">
                <a:tc>
                  <a:txBody>
                    <a:bodyPr/>
                    <a:lstStyle/>
                    <a:p>
                      <a:pPr algn="just"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应付账款</a:t>
                      </a:r>
                    </a:p>
                  </a:txBody>
                  <a:tcPr marL="6857" marR="6857" marT="6857"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　</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1701.19</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2200.68</a:t>
                      </a:r>
                    </a:p>
                  </a:txBody>
                  <a:tcPr marL="6857" marR="6857" marT="6857"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412053225"/>
                  </a:ext>
                </a:extLst>
              </a:tr>
              <a:tr h="166165">
                <a:tc>
                  <a:txBody>
                    <a:bodyPr/>
                    <a:lstStyle/>
                    <a:p>
                      <a:pPr algn="just"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合同负债</a:t>
                      </a:r>
                    </a:p>
                  </a:txBody>
                  <a:tcPr marL="6857" marR="6857" marT="6857"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　</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0.02</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8.75</a:t>
                      </a:r>
                    </a:p>
                  </a:txBody>
                  <a:tcPr marL="6857" marR="6857" marT="6857"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360587461"/>
                  </a:ext>
                </a:extLst>
              </a:tr>
              <a:tr h="166165">
                <a:tc>
                  <a:txBody>
                    <a:bodyPr/>
                    <a:lstStyle/>
                    <a:p>
                      <a:pPr algn="just"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应付职工薪酬</a:t>
                      </a:r>
                    </a:p>
                  </a:txBody>
                  <a:tcPr marL="6857" marR="6857" marT="6857"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　</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239.04</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83.77</a:t>
                      </a:r>
                    </a:p>
                  </a:txBody>
                  <a:tcPr marL="6857" marR="6857" marT="6857"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938170280"/>
                  </a:ext>
                </a:extLst>
              </a:tr>
              <a:tr h="166165">
                <a:tc>
                  <a:txBody>
                    <a:bodyPr/>
                    <a:lstStyle/>
                    <a:p>
                      <a:pPr algn="just"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应交税金</a:t>
                      </a:r>
                    </a:p>
                  </a:txBody>
                  <a:tcPr marL="6857" marR="6857" marT="6857"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　</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34.61</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153.86</a:t>
                      </a:r>
                    </a:p>
                  </a:txBody>
                  <a:tcPr marL="6857" marR="6857" marT="6857"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275934818"/>
                  </a:ext>
                </a:extLst>
              </a:tr>
              <a:tr h="166165">
                <a:tc>
                  <a:txBody>
                    <a:bodyPr/>
                    <a:lstStyle/>
                    <a:p>
                      <a:pPr algn="just"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其他应付款</a:t>
                      </a:r>
                    </a:p>
                  </a:txBody>
                  <a:tcPr marL="6857" marR="6857" marT="6857"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　</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166.90</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250.84</a:t>
                      </a:r>
                    </a:p>
                  </a:txBody>
                  <a:tcPr marL="6857" marR="6857" marT="6857"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555443629"/>
                  </a:ext>
                </a:extLst>
              </a:tr>
              <a:tr h="166165">
                <a:tc>
                  <a:txBody>
                    <a:bodyPr/>
                    <a:lstStyle/>
                    <a:p>
                      <a:pPr algn="just" fontAlgn="ctr"/>
                      <a:r>
                        <a:rPr lang="zh-CN" altLang="en-US" sz="1000" b="1" i="0" u="none" strike="noStrike">
                          <a:solidFill>
                            <a:srgbClr val="000000"/>
                          </a:solidFill>
                          <a:effectLst/>
                          <a:latin typeface="仿宋" panose="02010609060101010101" pitchFamily="49" charset="-122"/>
                          <a:ea typeface="仿宋" panose="02010609060101010101" pitchFamily="49" charset="-122"/>
                        </a:rPr>
                        <a:t>流动负债合计</a:t>
                      </a:r>
                    </a:p>
                  </a:txBody>
                  <a:tcPr marL="6857" marR="6857" marT="6857"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1" i="0" u="none" strike="noStrike">
                          <a:solidFill>
                            <a:srgbClr val="000000"/>
                          </a:solidFill>
                          <a:effectLst/>
                          <a:latin typeface="仿宋" panose="02010609060101010101" pitchFamily="49" charset="-122"/>
                          <a:ea typeface="仿宋" panose="02010609060101010101" pitchFamily="49" charset="-122"/>
                        </a:rPr>
                        <a:t>1.18</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1" i="0" u="none" strike="noStrike">
                          <a:solidFill>
                            <a:srgbClr val="000000"/>
                          </a:solidFill>
                          <a:effectLst/>
                          <a:latin typeface="仿宋" panose="02010609060101010101" pitchFamily="49" charset="-122"/>
                          <a:ea typeface="仿宋" panose="02010609060101010101" pitchFamily="49" charset="-122"/>
                        </a:rPr>
                        <a:t>2141.76</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1" i="0" u="none" strike="noStrike">
                          <a:solidFill>
                            <a:srgbClr val="000000"/>
                          </a:solidFill>
                          <a:effectLst/>
                          <a:latin typeface="仿宋" panose="02010609060101010101" pitchFamily="49" charset="-122"/>
                          <a:ea typeface="仿宋" panose="02010609060101010101" pitchFamily="49" charset="-122"/>
                        </a:rPr>
                        <a:t>2697.90</a:t>
                      </a:r>
                    </a:p>
                  </a:txBody>
                  <a:tcPr marL="6857" marR="6857" marT="6857"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07487989"/>
                  </a:ext>
                </a:extLst>
              </a:tr>
              <a:tr h="166165">
                <a:tc>
                  <a:txBody>
                    <a:bodyPr/>
                    <a:lstStyle/>
                    <a:p>
                      <a:pPr algn="just"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实收资本</a:t>
                      </a:r>
                    </a:p>
                  </a:txBody>
                  <a:tcPr marL="6857" marR="6857" marT="6857"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180.00</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1341.96</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1366.30</a:t>
                      </a:r>
                    </a:p>
                  </a:txBody>
                  <a:tcPr marL="6857" marR="6857" marT="6857"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3647617"/>
                  </a:ext>
                </a:extLst>
              </a:tr>
              <a:tr h="166165">
                <a:tc>
                  <a:txBody>
                    <a:bodyPr/>
                    <a:lstStyle/>
                    <a:p>
                      <a:pPr algn="just"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资本公积</a:t>
                      </a:r>
                    </a:p>
                  </a:txBody>
                  <a:tcPr marL="6857" marR="6857" marT="6857"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　</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3124.23</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3709.89</a:t>
                      </a:r>
                    </a:p>
                  </a:txBody>
                  <a:tcPr marL="6857" marR="6857" marT="6857"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073874395"/>
                  </a:ext>
                </a:extLst>
              </a:tr>
              <a:tr h="166165">
                <a:tc>
                  <a:txBody>
                    <a:bodyPr/>
                    <a:lstStyle/>
                    <a:p>
                      <a:pPr algn="just"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其他综合收益</a:t>
                      </a:r>
                    </a:p>
                  </a:txBody>
                  <a:tcPr marL="6857" marR="6857" marT="6857"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　</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-8.83</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-27.55</a:t>
                      </a:r>
                    </a:p>
                  </a:txBody>
                  <a:tcPr marL="6857" marR="6857" marT="6857"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956917021"/>
                  </a:ext>
                </a:extLst>
              </a:tr>
              <a:tr h="166165">
                <a:tc>
                  <a:txBody>
                    <a:bodyPr/>
                    <a:lstStyle/>
                    <a:p>
                      <a:pPr algn="just"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未分配利润</a:t>
                      </a:r>
                    </a:p>
                  </a:txBody>
                  <a:tcPr marL="6857" marR="6857" marT="6857"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-177.26</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-1437.54</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-1623.24</a:t>
                      </a:r>
                    </a:p>
                  </a:txBody>
                  <a:tcPr marL="6857" marR="6857" marT="6857"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564498066"/>
                  </a:ext>
                </a:extLst>
              </a:tr>
              <a:tr h="166165">
                <a:tc>
                  <a:txBody>
                    <a:bodyPr/>
                    <a:lstStyle/>
                    <a:p>
                      <a:pPr algn="just" fontAlgn="ctr"/>
                      <a:r>
                        <a:rPr lang="zh-CN" altLang="en-US" sz="1000" b="1" i="0" u="none" strike="noStrike">
                          <a:solidFill>
                            <a:srgbClr val="000000"/>
                          </a:solidFill>
                          <a:effectLst/>
                          <a:latin typeface="仿宋" panose="02010609060101010101" pitchFamily="49" charset="-122"/>
                          <a:ea typeface="仿宋" panose="02010609060101010101" pitchFamily="49" charset="-122"/>
                        </a:rPr>
                        <a:t>所有者权益合计</a:t>
                      </a:r>
                    </a:p>
                  </a:txBody>
                  <a:tcPr marL="6857" marR="6857" marT="6857"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1" i="0" u="none" strike="noStrike">
                          <a:solidFill>
                            <a:srgbClr val="000000"/>
                          </a:solidFill>
                          <a:effectLst/>
                          <a:latin typeface="仿宋" panose="02010609060101010101" pitchFamily="49" charset="-122"/>
                          <a:ea typeface="仿宋" panose="02010609060101010101" pitchFamily="49" charset="-122"/>
                        </a:rPr>
                        <a:t>2.74</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1" i="0" u="none" strike="noStrike">
                          <a:solidFill>
                            <a:srgbClr val="000000"/>
                          </a:solidFill>
                          <a:effectLst/>
                          <a:latin typeface="仿宋" panose="02010609060101010101" pitchFamily="49" charset="-122"/>
                          <a:ea typeface="仿宋" panose="02010609060101010101" pitchFamily="49" charset="-122"/>
                        </a:rPr>
                        <a:t>3019.83</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1" i="0" u="none" strike="noStrike">
                          <a:solidFill>
                            <a:srgbClr val="000000"/>
                          </a:solidFill>
                          <a:effectLst/>
                          <a:latin typeface="仿宋" panose="02010609060101010101" pitchFamily="49" charset="-122"/>
                          <a:ea typeface="仿宋" panose="02010609060101010101" pitchFamily="49" charset="-122"/>
                        </a:rPr>
                        <a:t>3425.40</a:t>
                      </a:r>
                    </a:p>
                  </a:txBody>
                  <a:tcPr marL="6857" marR="6857" marT="6857"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585522379"/>
                  </a:ext>
                </a:extLst>
              </a:tr>
              <a:tr h="166165">
                <a:tc>
                  <a:txBody>
                    <a:bodyPr/>
                    <a:lstStyle/>
                    <a:p>
                      <a:pPr algn="just" fontAlgn="ctr"/>
                      <a:r>
                        <a:rPr lang="zh-CN" altLang="en-US" sz="1000" b="1" i="0" u="none" strike="noStrike">
                          <a:solidFill>
                            <a:srgbClr val="000000"/>
                          </a:solidFill>
                          <a:effectLst/>
                          <a:latin typeface="仿宋" panose="02010609060101010101" pitchFamily="49" charset="-122"/>
                          <a:ea typeface="仿宋" panose="02010609060101010101" pitchFamily="49" charset="-122"/>
                        </a:rPr>
                        <a:t>负债和所有者权益总计</a:t>
                      </a:r>
                    </a:p>
                  </a:txBody>
                  <a:tcPr marL="6857" marR="6857" marT="6857"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fontAlgn="ctr"/>
                      <a:r>
                        <a:rPr lang="en-US" altLang="zh-CN" sz="1000" b="1" i="0" u="none" strike="noStrike">
                          <a:solidFill>
                            <a:srgbClr val="000000"/>
                          </a:solidFill>
                          <a:effectLst/>
                          <a:latin typeface="仿宋" panose="02010609060101010101" pitchFamily="49" charset="-122"/>
                          <a:ea typeface="仿宋" panose="02010609060101010101" pitchFamily="49" charset="-122"/>
                        </a:rPr>
                        <a:t>3.92</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fontAlgn="ctr"/>
                      <a:r>
                        <a:rPr lang="en-US" altLang="zh-CN" sz="1000" b="1" i="0" u="none" strike="noStrike">
                          <a:solidFill>
                            <a:srgbClr val="000000"/>
                          </a:solidFill>
                          <a:effectLst/>
                          <a:latin typeface="仿宋" panose="02010609060101010101" pitchFamily="49" charset="-122"/>
                          <a:ea typeface="仿宋" panose="02010609060101010101" pitchFamily="49" charset="-122"/>
                        </a:rPr>
                        <a:t>5161.58</a:t>
                      </a:r>
                    </a:p>
                  </a:txBody>
                  <a:tcPr marL="6857" marR="6857" marT="6857"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fontAlgn="ctr"/>
                      <a:r>
                        <a:rPr lang="en-US" altLang="zh-CN" sz="1000" b="1" i="0" u="none" strike="noStrike" dirty="0">
                          <a:solidFill>
                            <a:srgbClr val="000000"/>
                          </a:solidFill>
                          <a:effectLst/>
                          <a:latin typeface="仿宋" panose="02010609060101010101" pitchFamily="49" charset="-122"/>
                          <a:ea typeface="仿宋" panose="02010609060101010101" pitchFamily="49" charset="-122"/>
                        </a:rPr>
                        <a:t>6123.31</a:t>
                      </a:r>
                    </a:p>
                  </a:txBody>
                  <a:tcPr marL="6857" marR="6857" marT="6857"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528132022"/>
                  </a:ext>
                </a:extLst>
              </a:tr>
            </a:tbl>
          </a:graphicData>
        </a:graphic>
      </p:graphicFrame>
      <p:sp>
        <p:nvSpPr>
          <p:cNvPr id="8" name="矩形 7">
            <a:extLst>
              <a:ext uri="{FF2B5EF4-FFF2-40B4-BE49-F238E27FC236}">
                <a16:creationId xmlns:a16="http://schemas.microsoft.com/office/drawing/2014/main" id="{03974CC0-C0E9-444E-B94A-30C79FDF4509}"/>
              </a:ext>
            </a:extLst>
          </p:cNvPr>
          <p:cNvSpPr/>
          <p:nvPr/>
        </p:nvSpPr>
        <p:spPr bwMode="auto">
          <a:xfrm>
            <a:off x="2037076" y="1560572"/>
            <a:ext cx="2448171" cy="216015"/>
          </a:xfrm>
          <a:prstGeom prst="rect">
            <a:avLst/>
          </a:prstGeom>
          <a:noFill/>
          <a:ln w="12700" cap="flat" cmpd="sng" algn="ctr">
            <a:solidFill>
              <a:srgbClr val="0070C0"/>
            </a:solidFill>
            <a:prstDash val="sysDash"/>
            <a:round/>
            <a:headEnd type="none" w="med" len="med"/>
            <a:tailEnd type="none" w="med" len="med"/>
          </a:ln>
        </p:spPr>
        <p:txBody>
          <a:bodyPr vert="horz" wrap="square" lIns="91440" tIns="45720" rIns="91440" bIns="45720" numCol="1" rtlCol="0" anchor="t" anchorCtr="0" compatLnSpc="1"/>
          <a:lstStyle/>
          <a:p>
            <a:endParaRPr lang="zh-CN" altLang="en-US" sz="140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1477718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BC24FAAA-E96D-48C5-BC0F-92549B622546}"/>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二、公司分析</a:t>
            </a:r>
            <a:r>
              <a:rPr lang="en-US" altLang="zh-CN" sz="2400" dirty="0">
                <a:solidFill>
                  <a:schemeClr val="bg1">
                    <a:lumMod val="50000"/>
                  </a:schemeClr>
                </a:solidFill>
              </a:rPr>
              <a:t>|</a:t>
            </a:r>
            <a:r>
              <a:rPr lang="zh-CN" altLang="en-US" sz="2000" dirty="0"/>
              <a:t>历史财务数据分析</a:t>
            </a:r>
            <a:r>
              <a:rPr lang="en-US" altLang="zh-CN" sz="1600" b="1" dirty="0"/>
              <a:t>|</a:t>
            </a:r>
            <a:r>
              <a:rPr lang="zh-CN" altLang="en-US" sz="1600" dirty="0"/>
              <a:t>利润表</a:t>
            </a:r>
            <a:endParaRPr lang="en-US" altLang="zh-CN" sz="2000" dirty="0"/>
          </a:p>
        </p:txBody>
      </p:sp>
      <p:sp>
        <p:nvSpPr>
          <p:cNvPr id="3" name="矩形 2">
            <a:extLst>
              <a:ext uri="{FF2B5EF4-FFF2-40B4-BE49-F238E27FC236}">
                <a16:creationId xmlns:a16="http://schemas.microsoft.com/office/drawing/2014/main" id="{58699D81-4EF0-4000-A1E7-95CA9CF309A8}"/>
              </a:ext>
            </a:extLst>
          </p:cNvPr>
          <p:cNvSpPr/>
          <p:nvPr/>
        </p:nvSpPr>
        <p:spPr>
          <a:xfrm>
            <a:off x="5188199" y="555610"/>
            <a:ext cx="3560091" cy="4115294"/>
          </a:xfrm>
          <a:prstGeom prst="rect">
            <a:avLst/>
          </a:prstGeom>
        </p:spPr>
        <p:txBody>
          <a:bodyPr wrap="square">
            <a:spAutoFit/>
          </a:bodyPr>
          <a:lstStyle/>
          <a:p>
            <a:pPr marL="0" indent="180000" algn="just">
              <a:lnSpc>
                <a:spcPct val="150000"/>
              </a:lnSpc>
              <a:buSzPct val="70000"/>
              <a:buBlip>
                <a:blip r:embed="rId3"/>
              </a:buBlip>
            </a:pPr>
            <a:r>
              <a:rPr lang="zh-CN" altLang="en-US" sz="1100" b="1" kern="100" dirty="0">
                <a:effectLst/>
                <a:latin typeface="仿宋" panose="02010609060101010101" pitchFamily="49" charset="-122"/>
                <a:ea typeface="仿宋" panose="02010609060101010101" pitchFamily="49" charset="-122"/>
                <a:cs typeface="Times New Roman" panose="02020603050405020304" pitchFamily="18" charset="0"/>
              </a:rPr>
              <a:t>营收：</a:t>
            </a:r>
            <a:r>
              <a:rPr lang="en-US" altLang="zh-CN" sz="1100" kern="100" dirty="0">
                <a:effectLst/>
                <a:latin typeface="仿宋" panose="02010609060101010101" pitchFamily="49" charset="-122"/>
                <a:ea typeface="仿宋" panose="02010609060101010101" pitchFamily="49" charset="-122"/>
                <a:cs typeface="Times New Roman" panose="02020603050405020304" pitchFamily="18" charset="0"/>
              </a:rPr>
              <a:t>2020</a:t>
            </a:r>
            <a:r>
              <a:rPr lang="zh-CN" altLang="zh-CN" sz="1100" kern="100" dirty="0">
                <a:effectLst/>
                <a:latin typeface="仿宋" panose="02010609060101010101" pitchFamily="49" charset="-122"/>
                <a:ea typeface="仿宋" panose="02010609060101010101" pitchFamily="49" charset="-122"/>
                <a:cs typeface="Times New Roman" panose="02020603050405020304" pitchFamily="18" charset="0"/>
              </a:rPr>
              <a:t>年全年团队实现营业收入</a:t>
            </a:r>
            <a:r>
              <a:rPr lang="en-US" altLang="zh-CN" sz="1100" b="1" kern="100" dirty="0">
                <a:effectLst/>
                <a:latin typeface="仿宋" panose="02010609060101010101" pitchFamily="49" charset="-122"/>
                <a:ea typeface="仿宋" panose="02010609060101010101" pitchFamily="49" charset="-122"/>
                <a:cs typeface="Times New Roman" panose="02020603050405020304" pitchFamily="18" charset="0"/>
              </a:rPr>
              <a:t>3,700</a:t>
            </a:r>
            <a:r>
              <a:rPr lang="zh-CN" altLang="zh-CN" sz="1100" b="1" kern="100" dirty="0">
                <a:effectLst/>
                <a:latin typeface="仿宋" panose="02010609060101010101" pitchFamily="49" charset="-122"/>
                <a:ea typeface="仿宋" panose="02010609060101010101" pitchFamily="49" charset="-122"/>
                <a:cs typeface="Times New Roman" panose="02020603050405020304" pitchFamily="18" charset="0"/>
              </a:rPr>
              <a:t>万元</a:t>
            </a:r>
            <a:r>
              <a:rPr lang="zh-CN" altLang="zh-CN" sz="1100" kern="100" dirty="0">
                <a:effectLst/>
                <a:latin typeface="仿宋" panose="02010609060101010101" pitchFamily="49" charset="-122"/>
                <a:ea typeface="仿宋" panose="02010609060101010101" pitchFamily="49" charset="-122"/>
                <a:cs typeface="Times New Roman" panose="02020603050405020304" pitchFamily="18" charset="0"/>
              </a:rPr>
              <a:t>，其中</a:t>
            </a:r>
            <a:r>
              <a:rPr lang="en-US" altLang="zh-CN" sz="1100" kern="100" dirty="0">
                <a:effectLst/>
                <a:latin typeface="仿宋" panose="02010609060101010101" pitchFamily="49" charset="-122"/>
                <a:ea typeface="仿宋" panose="02010609060101010101" pitchFamily="49" charset="-122"/>
                <a:cs typeface="Times New Roman" panose="02020603050405020304" pitchFamily="18" charset="0"/>
              </a:rPr>
              <a:t>1,200</a:t>
            </a:r>
            <a:r>
              <a:rPr lang="zh-CN" altLang="zh-CN" sz="1100" kern="100" dirty="0">
                <a:effectLst/>
                <a:latin typeface="仿宋" panose="02010609060101010101" pitchFamily="49" charset="-122"/>
                <a:ea typeface="仿宋" panose="02010609060101010101" pitchFamily="49" charset="-122"/>
                <a:cs typeface="Times New Roman" panose="02020603050405020304" pitchFamily="18" charset="0"/>
              </a:rPr>
              <a:t>万元左右的营业收入留存在了上市公司，</a:t>
            </a:r>
            <a:r>
              <a:rPr lang="en-US" altLang="zh-CN" sz="1100" kern="100" dirty="0">
                <a:effectLst/>
                <a:latin typeface="仿宋" panose="02010609060101010101" pitchFamily="49" charset="-122"/>
                <a:ea typeface="仿宋" panose="02010609060101010101" pitchFamily="49" charset="-122"/>
                <a:cs typeface="Times New Roman" panose="02020603050405020304" pitchFamily="18" charset="0"/>
              </a:rPr>
              <a:t>2020</a:t>
            </a:r>
            <a:r>
              <a:rPr lang="zh-CN" altLang="zh-CN" sz="1100" kern="100" dirty="0">
                <a:effectLst/>
                <a:latin typeface="仿宋" panose="02010609060101010101" pitchFamily="49" charset="-122"/>
                <a:ea typeface="仿宋" panose="02010609060101010101" pitchFamily="49" charset="-122"/>
                <a:cs typeface="Times New Roman" panose="02020603050405020304" pitchFamily="18" charset="0"/>
              </a:rPr>
              <a:t>年审计的营收收入为</a:t>
            </a:r>
            <a:r>
              <a:rPr lang="en-US" altLang="zh-CN" sz="1100" kern="100" dirty="0">
                <a:effectLst/>
                <a:latin typeface="仿宋" panose="02010609060101010101" pitchFamily="49" charset="-122"/>
                <a:ea typeface="仿宋" panose="02010609060101010101" pitchFamily="49" charset="-122"/>
                <a:cs typeface="Times New Roman" panose="02020603050405020304" pitchFamily="18" charset="0"/>
              </a:rPr>
              <a:t>2,600</a:t>
            </a:r>
            <a:r>
              <a:rPr lang="zh-CN" altLang="zh-CN" sz="1100" kern="100" dirty="0">
                <a:effectLst/>
                <a:latin typeface="仿宋" panose="02010609060101010101" pitchFamily="49" charset="-122"/>
                <a:ea typeface="仿宋" panose="02010609060101010101" pitchFamily="49" charset="-122"/>
                <a:cs typeface="Times New Roman" panose="02020603050405020304" pitchFamily="18" charset="0"/>
              </a:rPr>
              <a:t>万元。</a:t>
            </a:r>
            <a:endParaRPr lang="en-US" altLang="zh-CN" sz="1100" kern="100" dirty="0">
              <a:latin typeface="仿宋" panose="02010609060101010101" pitchFamily="49" charset="-122"/>
              <a:ea typeface="仿宋" panose="02010609060101010101" pitchFamily="49" charset="-122"/>
              <a:cs typeface="Times New Roman" panose="02020603050405020304" pitchFamily="18" charset="0"/>
            </a:endParaRPr>
          </a:p>
          <a:p>
            <a:pPr indent="288000" algn="just">
              <a:lnSpc>
                <a:spcPct val="150000"/>
              </a:lnSpc>
              <a:buSzPct val="70000"/>
            </a:pP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2021</a:t>
            </a:r>
            <a:r>
              <a:rPr lang="zh-CN" altLang="zh-CN" sz="1100" kern="100" dirty="0">
                <a:latin typeface="仿宋" panose="02010609060101010101" pitchFamily="49" charset="-122"/>
                <a:ea typeface="仿宋" panose="02010609060101010101" pitchFamily="49" charset="-122"/>
                <a:cs typeface="Times New Roman" panose="02020603050405020304" pitchFamily="18" charset="0"/>
              </a:rPr>
              <a:t>年</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1-4</a:t>
            </a:r>
            <a:r>
              <a:rPr lang="zh-CN" altLang="zh-CN" sz="1100" kern="100" dirty="0">
                <a:latin typeface="仿宋" panose="02010609060101010101" pitchFamily="49" charset="-122"/>
                <a:ea typeface="仿宋" panose="02010609060101010101" pitchFamily="49" charset="-122"/>
                <a:cs typeface="Times New Roman" panose="02020603050405020304" pitchFamily="18" charset="0"/>
              </a:rPr>
              <a:t>月营业收入为</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2,500</a:t>
            </a:r>
            <a:r>
              <a:rPr lang="zh-CN" altLang="zh-CN" sz="1100" kern="100" dirty="0">
                <a:latin typeface="仿宋" panose="02010609060101010101" pitchFamily="49" charset="-122"/>
                <a:ea typeface="仿宋" panose="02010609060101010101" pitchFamily="49" charset="-122"/>
                <a:cs typeface="Times New Roman" panose="02020603050405020304" pitchFamily="18" charset="0"/>
              </a:rPr>
              <a:t>万元</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5</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月实现</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1,000</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万元，</a:t>
            </a:r>
            <a:r>
              <a:rPr lang="zh-CN" altLang="zh-CN" sz="1100" kern="100" dirty="0">
                <a:latin typeface="仿宋" panose="02010609060101010101" pitchFamily="49" charset="-122"/>
                <a:ea typeface="仿宋" panose="02010609060101010101" pitchFamily="49" charset="-122"/>
                <a:cs typeface="Times New Roman" panose="02020603050405020304" pitchFamily="18" charset="0"/>
              </a:rPr>
              <a:t>连续创下历史新高。</a:t>
            </a:r>
            <a:endParaRPr lang="en-US" altLang="zh-CN" sz="1100" kern="100" dirty="0">
              <a:latin typeface="仿宋" panose="02010609060101010101" pitchFamily="49" charset="-122"/>
              <a:ea typeface="仿宋" panose="02010609060101010101" pitchFamily="49" charset="-122"/>
              <a:cs typeface="Times New Roman" panose="02020603050405020304" pitchFamily="18" charset="0"/>
            </a:endParaRPr>
          </a:p>
          <a:p>
            <a:pPr indent="180000" algn="just">
              <a:lnSpc>
                <a:spcPct val="150000"/>
              </a:lnSpc>
              <a:buSzPct val="70000"/>
              <a:buBlip>
                <a:blip r:embed="rId3"/>
              </a:buBlip>
            </a:pPr>
            <a:r>
              <a:rPr lang="zh-CN" altLang="en-US" sz="1100" b="1" kern="100" dirty="0">
                <a:latin typeface="仿宋" panose="02010609060101010101" pitchFamily="49" charset="-122"/>
                <a:ea typeface="仿宋" panose="02010609060101010101" pitchFamily="49" charset="-122"/>
                <a:cs typeface="Times New Roman" panose="02020603050405020304" pitchFamily="18" charset="0"/>
              </a:rPr>
              <a:t>毛利率：</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2021</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年</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1-4</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月，整体业务</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53.87%</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a:t>
            </a:r>
            <a:endParaRPr lang="en-US" altLang="zh-CN" sz="1100" kern="100" dirty="0">
              <a:latin typeface="仿宋" panose="02010609060101010101" pitchFamily="49" charset="-122"/>
              <a:ea typeface="仿宋" panose="02010609060101010101" pitchFamily="49" charset="-122"/>
              <a:cs typeface="Times New Roman" panose="02020603050405020304" pitchFamily="18" charset="0"/>
            </a:endParaRPr>
          </a:p>
          <a:p>
            <a:pPr indent="288000" algn="just">
              <a:lnSpc>
                <a:spcPct val="150000"/>
              </a:lnSpc>
              <a:buSzPct val="70000"/>
            </a:pP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手机产品线毛利率</a:t>
            </a:r>
            <a:r>
              <a:rPr lang="en-US" altLang="zh-CN" sz="1100" b="1" kern="100" dirty="0">
                <a:latin typeface="仿宋" panose="02010609060101010101" pitchFamily="49" charset="-122"/>
                <a:ea typeface="仿宋" panose="02010609060101010101" pitchFamily="49" charset="-122"/>
                <a:cs typeface="Times New Roman" panose="02020603050405020304" pitchFamily="18" charset="0"/>
              </a:rPr>
              <a:t>51%</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，共享单车</a:t>
            </a:r>
            <a:r>
              <a:rPr lang="en-US" altLang="zh-CN" sz="1100" b="1" kern="100" dirty="0">
                <a:latin typeface="仿宋" panose="02010609060101010101" pitchFamily="49" charset="-122"/>
                <a:ea typeface="仿宋" panose="02010609060101010101" pitchFamily="49" charset="-122"/>
                <a:cs typeface="Times New Roman" panose="02020603050405020304" pitchFamily="18" charset="0"/>
              </a:rPr>
              <a:t>62%</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，笔电</a:t>
            </a:r>
            <a:r>
              <a:rPr lang="en-US" altLang="zh-CN" sz="1100" b="1" kern="100" dirty="0">
                <a:latin typeface="仿宋" panose="02010609060101010101" pitchFamily="49" charset="-122"/>
                <a:ea typeface="仿宋" panose="02010609060101010101" pitchFamily="49" charset="-122"/>
                <a:cs typeface="Times New Roman" panose="02020603050405020304" pitchFamily="18" charset="0"/>
              </a:rPr>
              <a:t>59%</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a:t>
            </a:r>
            <a:endParaRPr lang="en-US" altLang="zh-CN" sz="1100" kern="100" dirty="0">
              <a:latin typeface="仿宋" panose="02010609060101010101" pitchFamily="49" charset="-122"/>
              <a:ea typeface="仿宋" panose="02010609060101010101" pitchFamily="49" charset="-122"/>
              <a:cs typeface="Times New Roman" panose="02020603050405020304" pitchFamily="18" charset="0"/>
            </a:endParaRPr>
          </a:p>
          <a:p>
            <a:pPr indent="180000" algn="just">
              <a:lnSpc>
                <a:spcPct val="150000"/>
              </a:lnSpc>
              <a:buSzPct val="70000"/>
              <a:buBlip>
                <a:blip r:embed="rId3"/>
              </a:buBlip>
            </a:pPr>
            <a:r>
              <a:rPr lang="zh-CN" altLang="en-US" sz="1100" b="1" kern="100" dirty="0">
                <a:latin typeface="仿宋" panose="02010609060101010101" pitchFamily="49" charset="-122"/>
                <a:ea typeface="仿宋" panose="02010609060101010101" pitchFamily="49" charset="-122"/>
                <a:cs typeface="Times New Roman" panose="02020603050405020304" pitchFamily="18" charset="0"/>
              </a:rPr>
              <a:t>净利：</a:t>
            </a:r>
            <a:endParaRPr lang="en-US" altLang="zh-CN" sz="1100" b="1" kern="100" dirty="0">
              <a:latin typeface="仿宋" panose="02010609060101010101" pitchFamily="49" charset="-122"/>
              <a:ea typeface="仿宋" panose="02010609060101010101" pitchFamily="49" charset="-122"/>
              <a:cs typeface="Times New Roman" panose="02020603050405020304" pitchFamily="18" charset="0"/>
            </a:endParaRPr>
          </a:p>
          <a:p>
            <a:pPr indent="288000" algn="just">
              <a:lnSpc>
                <a:spcPct val="150000"/>
              </a:lnSpc>
              <a:buSzPct val="70000"/>
            </a:pP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利润得到快速释放，</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2020</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年亏损</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1,260</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万元；</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2021</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年</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1-4</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月份微亏</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185</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万元，</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5</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月份实现微盈。</a:t>
            </a:r>
            <a:endParaRPr lang="en-US" altLang="zh-CN" sz="1100" kern="100" dirty="0">
              <a:latin typeface="仿宋" panose="02010609060101010101" pitchFamily="49" charset="-122"/>
              <a:ea typeface="仿宋" panose="02010609060101010101" pitchFamily="49" charset="-122"/>
              <a:cs typeface="Times New Roman" panose="02020603050405020304" pitchFamily="18" charset="0"/>
            </a:endParaRPr>
          </a:p>
          <a:p>
            <a:pPr indent="180000" algn="just">
              <a:lnSpc>
                <a:spcPct val="150000"/>
              </a:lnSpc>
              <a:buSzPct val="70000"/>
              <a:buBlip>
                <a:blip r:embed="rId3"/>
              </a:buBlip>
            </a:pPr>
            <a:r>
              <a:rPr lang="zh-CN" altLang="en-US" sz="1100" b="1" kern="100" dirty="0">
                <a:latin typeface="仿宋" panose="02010609060101010101" pitchFamily="49" charset="-122"/>
                <a:ea typeface="仿宋" panose="02010609060101010101" pitchFamily="49" charset="-122"/>
                <a:cs typeface="Times New Roman" panose="02020603050405020304" pitchFamily="18" charset="0"/>
              </a:rPr>
              <a:t>管理费用</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a:t>
            </a:r>
            <a:r>
              <a:rPr lang="zh-CN" altLang="zh-CN" sz="1100" kern="100" dirty="0">
                <a:latin typeface="仿宋" panose="02010609060101010101" pitchFamily="49" charset="-122"/>
                <a:ea typeface="仿宋" panose="02010609060101010101" pitchFamily="49" charset="-122"/>
                <a:cs typeface="Times New Roman" panose="02020603050405020304" pitchFamily="18" charset="0"/>
              </a:rPr>
              <a:t>公司超过</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80%</a:t>
            </a:r>
            <a:r>
              <a:rPr lang="zh-CN" altLang="zh-CN" sz="1100" kern="100" dirty="0">
                <a:latin typeface="仿宋" panose="02010609060101010101" pitchFamily="49" charset="-122"/>
                <a:ea typeface="仿宋" panose="02010609060101010101" pitchFamily="49" charset="-122"/>
                <a:cs typeface="Times New Roman" panose="02020603050405020304" pitchFamily="18" charset="0"/>
              </a:rPr>
              <a:t>的员工为工程师，研发费用占比较大；相应地，公司管理人员数量较少，管理费用平均每年不超过</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500</a:t>
            </a:r>
            <a:r>
              <a:rPr lang="zh-CN" altLang="zh-CN" sz="1100" kern="100" dirty="0">
                <a:latin typeface="仿宋" panose="02010609060101010101" pitchFamily="49" charset="-122"/>
                <a:ea typeface="仿宋" panose="02010609060101010101" pitchFamily="49" charset="-122"/>
                <a:cs typeface="Times New Roman" panose="02020603050405020304" pitchFamily="18" charset="0"/>
              </a:rPr>
              <a:t>万元。</a:t>
            </a:r>
          </a:p>
          <a:p>
            <a:pPr indent="180000" algn="just">
              <a:lnSpc>
                <a:spcPct val="150000"/>
              </a:lnSpc>
              <a:buSzPct val="70000"/>
              <a:buBlip>
                <a:blip r:embed="rId3"/>
              </a:buBlip>
            </a:pPr>
            <a:r>
              <a:rPr lang="zh-CN" altLang="en-US" sz="1100" b="1" kern="100" dirty="0">
                <a:latin typeface="仿宋" panose="02010609060101010101" pitchFamily="49" charset="-122"/>
                <a:ea typeface="仿宋" panose="02010609060101010101" pitchFamily="49" charset="-122"/>
                <a:cs typeface="Times New Roman" panose="02020603050405020304" pitchFamily="18" charset="0"/>
              </a:rPr>
              <a:t>所得税：</a:t>
            </a:r>
            <a:r>
              <a:rPr lang="zh-CN" altLang="zh-CN" sz="1100" kern="100" dirty="0">
                <a:latin typeface="仿宋" panose="02010609060101010101" pitchFamily="49" charset="-122"/>
                <a:ea typeface="仿宋" panose="02010609060101010101" pitchFamily="49" charset="-122"/>
                <a:cs typeface="Times New Roman" panose="02020603050405020304" pitchFamily="18" charset="0"/>
              </a:rPr>
              <a:t>公司在香港设有子公司，采用香港</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16.5%</a:t>
            </a:r>
            <a:r>
              <a:rPr lang="zh-CN" altLang="zh-CN" sz="1100" kern="100" dirty="0">
                <a:latin typeface="仿宋" panose="02010609060101010101" pitchFamily="49" charset="-122"/>
                <a:ea typeface="仿宋" panose="02010609060101010101" pitchFamily="49" charset="-122"/>
                <a:cs typeface="Times New Roman" panose="02020603050405020304" pitchFamily="18" charset="0"/>
              </a:rPr>
              <a:t>的企业所得税进行缴纳。未来公司将积极进行高新技术企业的申请。</a:t>
            </a:r>
          </a:p>
        </p:txBody>
      </p:sp>
      <p:sp>
        <p:nvSpPr>
          <p:cNvPr id="7" name="矩形 6">
            <a:extLst>
              <a:ext uri="{FF2B5EF4-FFF2-40B4-BE49-F238E27FC236}">
                <a16:creationId xmlns:a16="http://schemas.microsoft.com/office/drawing/2014/main" id="{0F1F84E8-A203-41E9-B204-3B48D7586DF1}"/>
              </a:ext>
            </a:extLst>
          </p:cNvPr>
          <p:cNvSpPr/>
          <p:nvPr/>
        </p:nvSpPr>
        <p:spPr bwMode="auto">
          <a:xfrm>
            <a:off x="3116729" y="1086238"/>
            <a:ext cx="1684262" cy="216015"/>
          </a:xfrm>
          <a:prstGeom prst="rect">
            <a:avLst/>
          </a:prstGeom>
          <a:noFill/>
          <a:ln w="12700" cap="flat" cmpd="sng" algn="ctr">
            <a:solidFill>
              <a:srgbClr val="0070C0"/>
            </a:solidFill>
            <a:prstDash val="sysDash"/>
            <a:round/>
            <a:headEnd type="none" w="med" len="med"/>
            <a:tailEnd type="none" w="med" len="med"/>
          </a:ln>
        </p:spPr>
        <p:txBody>
          <a:bodyPr vert="horz" wrap="square" lIns="91440" tIns="45720" rIns="91440" bIns="45720" numCol="1" rtlCol="0" anchor="t" anchorCtr="0" compatLnSpc="1"/>
          <a:lstStyle/>
          <a:p>
            <a:endParaRPr lang="zh-CN" altLang="en-US" sz="1400">
              <a:latin typeface="仿宋" panose="02010609060101010101" pitchFamily="49" charset="-122"/>
              <a:ea typeface="仿宋" panose="02010609060101010101" pitchFamily="49" charset="-122"/>
            </a:endParaRPr>
          </a:p>
        </p:txBody>
      </p:sp>
      <p:sp>
        <p:nvSpPr>
          <p:cNvPr id="4" name="矩形 3">
            <a:extLst>
              <a:ext uri="{FF2B5EF4-FFF2-40B4-BE49-F238E27FC236}">
                <a16:creationId xmlns:a16="http://schemas.microsoft.com/office/drawing/2014/main" id="{EBCD736E-5B67-41C4-8E78-32F46F74DE79}"/>
              </a:ext>
            </a:extLst>
          </p:cNvPr>
          <p:cNvSpPr/>
          <p:nvPr/>
        </p:nvSpPr>
        <p:spPr bwMode="auto">
          <a:xfrm>
            <a:off x="3131900" y="2362460"/>
            <a:ext cx="1728120" cy="216015"/>
          </a:xfrm>
          <a:prstGeom prst="rect">
            <a:avLst/>
          </a:prstGeom>
          <a:noFill/>
          <a:ln w="12700" cap="flat" cmpd="sng" algn="ctr">
            <a:solidFill>
              <a:srgbClr val="0070C0"/>
            </a:solidFill>
            <a:prstDash val="sysDash"/>
            <a:round/>
            <a:headEnd type="none" w="med" len="med"/>
            <a:tailEnd type="none" w="med" len="med"/>
          </a:ln>
        </p:spPr>
        <p:txBody>
          <a:bodyPr vert="horz" wrap="square" lIns="91440" tIns="45720" rIns="91440" bIns="45720" numCol="1" rtlCol="0" anchor="t" anchorCtr="0" compatLnSpc="1"/>
          <a:lstStyle/>
          <a:p>
            <a:endParaRPr lang="zh-CN" altLang="en-US" sz="1400">
              <a:latin typeface="仿宋" panose="02010609060101010101" pitchFamily="49" charset="-122"/>
              <a:ea typeface="仿宋" panose="02010609060101010101" pitchFamily="49" charset="-122"/>
            </a:endParaRPr>
          </a:p>
        </p:txBody>
      </p:sp>
      <p:sp>
        <p:nvSpPr>
          <p:cNvPr id="5" name="矩形 4">
            <a:extLst>
              <a:ext uri="{FF2B5EF4-FFF2-40B4-BE49-F238E27FC236}">
                <a16:creationId xmlns:a16="http://schemas.microsoft.com/office/drawing/2014/main" id="{48669BD9-84A6-4892-8145-C96290B33785}"/>
              </a:ext>
            </a:extLst>
          </p:cNvPr>
          <p:cNvSpPr/>
          <p:nvPr/>
        </p:nvSpPr>
        <p:spPr bwMode="auto">
          <a:xfrm>
            <a:off x="3115005" y="3939845"/>
            <a:ext cx="1728120" cy="216015"/>
          </a:xfrm>
          <a:prstGeom prst="rect">
            <a:avLst/>
          </a:prstGeom>
          <a:noFill/>
          <a:ln w="12700" cap="flat" cmpd="sng" algn="ctr">
            <a:solidFill>
              <a:srgbClr val="0070C0"/>
            </a:solidFill>
            <a:prstDash val="sysDash"/>
            <a:round/>
            <a:headEnd type="none" w="med" len="med"/>
            <a:tailEnd type="none" w="med" len="med"/>
          </a:ln>
        </p:spPr>
        <p:txBody>
          <a:bodyPr vert="horz" wrap="square" lIns="91440" tIns="45720" rIns="91440" bIns="45720" numCol="1" rtlCol="0" anchor="t" anchorCtr="0" compatLnSpc="1"/>
          <a:lstStyle/>
          <a:p>
            <a:endParaRPr lang="zh-CN" altLang="en-US" sz="1400">
              <a:latin typeface="仿宋" panose="02010609060101010101" pitchFamily="49" charset="-122"/>
              <a:ea typeface="仿宋" panose="02010609060101010101" pitchFamily="49" charset="-122"/>
            </a:endParaRPr>
          </a:p>
        </p:txBody>
      </p:sp>
      <p:graphicFrame>
        <p:nvGraphicFramePr>
          <p:cNvPr id="2" name="表格 1">
            <a:extLst>
              <a:ext uri="{FF2B5EF4-FFF2-40B4-BE49-F238E27FC236}">
                <a16:creationId xmlns:a16="http://schemas.microsoft.com/office/drawing/2014/main" id="{1FD638A2-09F8-43EF-9D09-D326F5F24EAD}"/>
              </a:ext>
            </a:extLst>
          </p:cNvPr>
          <p:cNvGraphicFramePr>
            <a:graphicFrameLocks noGrp="1"/>
          </p:cNvGraphicFramePr>
          <p:nvPr>
            <p:extLst>
              <p:ext uri="{D42A27DB-BD31-4B8C-83A1-F6EECF244321}">
                <p14:modId xmlns:p14="http://schemas.microsoft.com/office/powerpoint/2010/main" val="1128862965"/>
              </p:ext>
            </p:extLst>
          </p:nvPr>
        </p:nvGraphicFramePr>
        <p:xfrm>
          <a:off x="683730" y="843630"/>
          <a:ext cx="4048455" cy="3309381"/>
        </p:xfrm>
        <a:graphic>
          <a:graphicData uri="http://schemas.openxmlformats.org/drawingml/2006/table">
            <a:tbl>
              <a:tblPr/>
              <a:tblGrid>
                <a:gridCol w="2527766">
                  <a:extLst>
                    <a:ext uri="{9D8B030D-6E8A-4147-A177-3AD203B41FA5}">
                      <a16:colId xmlns:a16="http://schemas.microsoft.com/office/drawing/2014/main" val="2889649607"/>
                    </a:ext>
                  </a:extLst>
                </a:gridCol>
                <a:gridCol w="604247">
                  <a:extLst>
                    <a:ext uri="{9D8B030D-6E8A-4147-A177-3AD203B41FA5}">
                      <a16:colId xmlns:a16="http://schemas.microsoft.com/office/drawing/2014/main" val="4056314532"/>
                    </a:ext>
                  </a:extLst>
                </a:gridCol>
                <a:gridCol w="916442">
                  <a:extLst>
                    <a:ext uri="{9D8B030D-6E8A-4147-A177-3AD203B41FA5}">
                      <a16:colId xmlns:a16="http://schemas.microsoft.com/office/drawing/2014/main" val="1139608807"/>
                    </a:ext>
                  </a:extLst>
                </a:gridCol>
              </a:tblGrid>
              <a:tr h="219854">
                <a:tc>
                  <a:txBody>
                    <a:bodyPr/>
                    <a:lstStyle/>
                    <a:p>
                      <a:pPr algn="ctr" fontAlgn="ctr"/>
                      <a:r>
                        <a:rPr lang="zh-CN" altLang="en-US" sz="1000" b="1" i="0" u="none" strike="noStrike">
                          <a:solidFill>
                            <a:srgbClr val="000000"/>
                          </a:solidFill>
                          <a:effectLst/>
                          <a:latin typeface="仿宋" panose="02010609060101010101" pitchFamily="49" charset="-122"/>
                          <a:ea typeface="仿宋" panose="02010609060101010101" pitchFamily="49" charset="-122"/>
                        </a:rPr>
                        <a:t>项  目</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en-US" altLang="zh-CN" sz="1000" b="1" i="0" u="none" strike="noStrike">
                          <a:solidFill>
                            <a:srgbClr val="000000"/>
                          </a:solidFill>
                          <a:effectLst/>
                          <a:latin typeface="仿宋" panose="02010609060101010101" pitchFamily="49" charset="-122"/>
                          <a:ea typeface="仿宋" panose="02010609060101010101" pitchFamily="49" charset="-122"/>
                        </a:rPr>
                        <a:t>2020</a:t>
                      </a:r>
                      <a:r>
                        <a:rPr lang="zh-CN" altLang="en-US" sz="1000" b="1" i="0" u="none" strike="noStrike">
                          <a:solidFill>
                            <a:srgbClr val="000000"/>
                          </a:solidFill>
                          <a:effectLst/>
                          <a:latin typeface="仿宋" panose="02010609060101010101" pitchFamily="49" charset="-122"/>
                          <a:ea typeface="仿宋" panose="02010609060101010101" pitchFamily="49" charset="-122"/>
                        </a:rPr>
                        <a:t>年</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en-US" altLang="zh-CN" sz="1000" b="1" i="0" u="none" strike="noStrike">
                          <a:solidFill>
                            <a:srgbClr val="000000"/>
                          </a:solidFill>
                          <a:effectLst/>
                          <a:latin typeface="仿宋" panose="02010609060101010101" pitchFamily="49" charset="-122"/>
                          <a:ea typeface="仿宋" panose="02010609060101010101" pitchFamily="49" charset="-122"/>
                        </a:rPr>
                        <a:t>2021</a:t>
                      </a:r>
                      <a:r>
                        <a:rPr lang="zh-CN" altLang="en-US" sz="1000" b="1" i="0" u="none" strike="noStrike">
                          <a:solidFill>
                            <a:srgbClr val="000000"/>
                          </a:solidFill>
                          <a:effectLst/>
                          <a:latin typeface="仿宋" panose="02010609060101010101" pitchFamily="49" charset="-122"/>
                          <a:ea typeface="仿宋" panose="02010609060101010101" pitchFamily="49" charset="-122"/>
                        </a:rPr>
                        <a:t>年</a:t>
                      </a:r>
                      <a:r>
                        <a:rPr lang="en-US" altLang="zh-CN" sz="1000" b="1" i="0" u="none" strike="noStrike">
                          <a:solidFill>
                            <a:srgbClr val="000000"/>
                          </a:solidFill>
                          <a:effectLst/>
                          <a:latin typeface="仿宋" panose="02010609060101010101" pitchFamily="49" charset="-122"/>
                          <a:ea typeface="仿宋" panose="02010609060101010101" pitchFamily="49" charset="-122"/>
                        </a:rPr>
                        <a:t>1-4</a:t>
                      </a:r>
                      <a:r>
                        <a:rPr lang="zh-CN" altLang="en-US" sz="1000" b="1" i="0" u="none" strike="noStrike">
                          <a:solidFill>
                            <a:srgbClr val="000000"/>
                          </a:solidFill>
                          <a:effectLst/>
                          <a:latin typeface="仿宋" panose="02010609060101010101" pitchFamily="49" charset="-122"/>
                          <a:ea typeface="仿宋" panose="02010609060101010101" pitchFamily="49" charset="-122"/>
                        </a:rPr>
                        <a:t>月</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extLst>
                  <a:ext uri="{0D108BD9-81ED-4DB2-BD59-A6C34878D82A}">
                    <a16:rowId xmlns:a16="http://schemas.microsoft.com/office/drawing/2014/main" val="2485670783"/>
                  </a:ext>
                </a:extLst>
              </a:tr>
              <a:tr h="219854">
                <a:tc>
                  <a:txBody>
                    <a:bodyPr/>
                    <a:lstStyle/>
                    <a:p>
                      <a:pPr algn="l"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一、营业收入</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2561.82</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2498.02</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237503488"/>
                  </a:ext>
                </a:extLst>
              </a:tr>
              <a:tr h="219854">
                <a:tc>
                  <a:txBody>
                    <a:bodyPr/>
                    <a:lstStyle/>
                    <a:p>
                      <a:pPr algn="l"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减：营业成本</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1548.22</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1152.41</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876680358"/>
                  </a:ext>
                </a:extLst>
              </a:tr>
              <a:tr h="219854">
                <a:tc>
                  <a:txBody>
                    <a:bodyPr/>
                    <a:lstStyle/>
                    <a:p>
                      <a:pPr algn="l"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营业税金及附加</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0.03</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616154251"/>
                  </a:ext>
                </a:extLst>
              </a:tr>
              <a:tr h="219854">
                <a:tc>
                  <a:txBody>
                    <a:bodyPr/>
                    <a:lstStyle/>
                    <a:p>
                      <a:pPr algn="l" fontAlgn="ctr"/>
                      <a:r>
                        <a:rPr lang="zh-CN" altLang="en-US" sz="1000" b="0" i="0" u="none" strike="noStrike" dirty="0">
                          <a:solidFill>
                            <a:srgbClr val="000000"/>
                          </a:solidFill>
                          <a:effectLst/>
                          <a:latin typeface="仿宋" panose="02010609060101010101" pitchFamily="49" charset="-122"/>
                          <a:ea typeface="仿宋" panose="02010609060101010101" pitchFamily="49" charset="-122"/>
                        </a:rPr>
                        <a:t>销售费用</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920.86</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519.23</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532884572"/>
                  </a:ext>
                </a:extLst>
              </a:tr>
              <a:tr h="219854">
                <a:tc>
                  <a:txBody>
                    <a:bodyPr/>
                    <a:lstStyle/>
                    <a:p>
                      <a:pPr algn="l"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管理费用</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353.13</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146.97</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650003134"/>
                  </a:ext>
                </a:extLst>
              </a:tr>
              <a:tr h="219854">
                <a:tc>
                  <a:txBody>
                    <a:bodyPr/>
                    <a:lstStyle/>
                    <a:p>
                      <a:pPr algn="l"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研发费用</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958.81</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719.65</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146373770"/>
                  </a:ext>
                </a:extLst>
              </a:tr>
              <a:tr h="219854">
                <a:tc>
                  <a:txBody>
                    <a:bodyPr/>
                    <a:lstStyle/>
                    <a:p>
                      <a:pPr algn="l"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财务费用</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2.12</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0.49</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79783849"/>
                  </a:ext>
                </a:extLst>
              </a:tr>
              <a:tr h="219854">
                <a:tc>
                  <a:txBody>
                    <a:bodyPr/>
                    <a:lstStyle/>
                    <a:p>
                      <a:pPr algn="l"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加：信用减值损失（损失以“</a:t>
                      </a:r>
                      <a:r>
                        <a:rPr lang="en-US" altLang="zh-CN" sz="1000" b="0" i="0" u="none" strike="noStrike">
                          <a:solidFill>
                            <a:srgbClr val="000000"/>
                          </a:solidFill>
                          <a:effectLst/>
                          <a:latin typeface="仿宋" panose="02010609060101010101" pitchFamily="49" charset="-122"/>
                          <a:ea typeface="仿宋" panose="02010609060101010101" pitchFamily="49" charset="-122"/>
                        </a:rPr>
                        <a:t>-”</a:t>
                      </a:r>
                      <a:r>
                        <a:rPr lang="zh-CN" altLang="en-US" sz="1000" b="0" i="0" u="none" strike="noStrike">
                          <a:solidFill>
                            <a:srgbClr val="000000"/>
                          </a:solidFill>
                          <a:effectLst/>
                          <a:latin typeface="仿宋" panose="02010609060101010101" pitchFamily="49" charset="-122"/>
                          <a:ea typeface="仿宋" panose="02010609060101010101" pitchFamily="49" charset="-122"/>
                        </a:rPr>
                        <a:t>号填列）</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-9.68</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-28.31</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202278752"/>
                  </a:ext>
                </a:extLst>
              </a:tr>
              <a:tr h="219854">
                <a:tc>
                  <a:txBody>
                    <a:bodyPr/>
                    <a:lstStyle/>
                    <a:p>
                      <a:pPr algn="l"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二、营业利润（亏损以“</a:t>
                      </a:r>
                      <a:r>
                        <a:rPr lang="en-US" altLang="zh-CN" sz="1000" b="0" i="0" u="none" strike="noStrike">
                          <a:solidFill>
                            <a:srgbClr val="000000"/>
                          </a:solidFill>
                          <a:effectLst/>
                          <a:latin typeface="仿宋" panose="02010609060101010101" pitchFamily="49" charset="-122"/>
                          <a:ea typeface="仿宋" panose="02010609060101010101" pitchFamily="49" charset="-122"/>
                        </a:rPr>
                        <a:t>-”</a:t>
                      </a:r>
                      <a:r>
                        <a:rPr lang="zh-CN" altLang="en-US" sz="1000" b="0" i="0" u="none" strike="noStrike">
                          <a:solidFill>
                            <a:srgbClr val="000000"/>
                          </a:solidFill>
                          <a:effectLst/>
                          <a:latin typeface="仿宋" panose="02010609060101010101" pitchFamily="49" charset="-122"/>
                          <a:ea typeface="仿宋" panose="02010609060101010101" pitchFamily="49" charset="-122"/>
                        </a:rPr>
                        <a:t>号填列）</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-1231.03</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-69.04</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639660417"/>
                  </a:ext>
                </a:extLst>
              </a:tr>
              <a:tr h="219854">
                <a:tc>
                  <a:txBody>
                    <a:bodyPr/>
                    <a:lstStyle/>
                    <a:p>
                      <a:pPr algn="l"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加：营业外收入</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0.07</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0.38</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979286018"/>
                  </a:ext>
                </a:extLst>
              </a:tr>
              <a:tr h="219854">
                <a:tc>
                  <a:txBody>
                    <a:bodyPr/>
                    <a:lstStyle/>
                    <a:p>
                      <a:pPr algn="l"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减：营业外支出</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2.60</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195160737"/>
                  </a:ext>
                </a:extLst>
              </a:tr>
              <a:tr h="219854">
                <a:tc>
                  <a:txBody>
                    <a:bodyPr/>
                    <a:lstStyle/>
                    <a:p>
                      <a:pPr algn="l"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三、利润总额（亏损总额以“</a:t>
                      </a:r>
                      <a:r>
                        <a:rPr lang="en-US" altLang="zh-CN" sz="1000" b="0" i="0" u="none" strike="noStrike">
                          <a:solidFill>
                            <a:srgbClr val="000000"/>
                          </a:solidFill>
                          <a:effectLst/>
                          <a:latin typeface="仿宋" panose="02010609060101010101" pitchFamily="49" charset="-122"/>
                          <a:ea typeface="仿宋" panose="02010609060101010101" pitchFamily="49" charset="-122"/>
                        </a:rPr>
                        <a:t>-”</a:t>
                      </a:r>
                      <a:r>
                        <a:rPr lang="zh-CN" altLang="en-US" sz="1000" b="0" i="0" u="none" strike="noStrike">
                          <a:solidFill>
                            <a:srgbClr val="000000"/>
                          </a:solidFill>
                          <a:effectLst/>
                          <a:latin typeface="仿宋" panose="02010609060101010101" pitchFamily="49" charset="-122"/>
                          <a:ea typeface="仿宋" panose="02010609060101010101" pitchFamily="49" charset="-122"/>
                        </a:rPr>
                        <a:t>号填列）</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-1233.56</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-68.66</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406098419"/>
                  </a:ext>
                </a:extLst>
              </a:tr>
              <a:tr h="219854">
                <a:tc>
                  <a:txBody>
                    <a:bodyPr/>
                    <a:lstStyle/>
                    <a:p>
                      <a:pPr algn="l"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减：所得税费用</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26.72</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117.04</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830841862"/>
                  </a:ext>
                </a:extLst>
              </a:tr>
              <a:tr h="231425">
                <a:tc>
                  <a:txBody>
                    <a:bodyPr/>
                    <a:lstStyle/>
                    <a:p>
                      <a:pPr algn="l" fontAlgn="ctr"/>
                      <a:r>
                        <a:rPr lang="zh-CN" altLang="en-US" sz="1000" b="0" i="0" u="none" strike="noStrike">
                          <a:solidFill>
                            <a:srgbClr val="000000"/>
                          </a:solidFill>
                          <a:effectLst/>
                          <a:latin typeface="仿宋" panose="02010609060101010101" pitchFamily="49" charset="-122"/>
                          <a:ea typeface="仿宋" panose="02010609060101010101" pitchFamily="49" charset="-122"/>
                        </a:rPr>
                        <a:t>四、净利润（净亏损以“</a:t>
                      </a:r>
                      <a:r>
                        <a:rPr lang="en-US" altLang="zh-CN" sz="1000" b="0" i="0" u="none" strike="noStrike">
                          <a:solidFill>
                            <a:srgbClr val="000000"/>
                          </a:solidFill>
                          <a:effectLst/>
                          <a:latin typeface="仿宋" panose="02010609060101010101" pitchFamily="49" charset="-122"/>
                          <a:ea typeface="仿宋" panose="02010609060101010101" pitchFamily="49" charset="-122"/>
                        </a:rPr>
                        <a:t>-”</a:t>
                      </a:r>
                      <a:r>
                        <a:rPr lang="zh-CN" altLang="en-US" sz="1000" b="0" i="0" u="none" strike="noStrike">
                          <a:solidFill>
                            <a:srgbClr val="000000"/>
                          </a:solidFill>
                          <a:effectLst/>
                          <a:latin typeface="仿宋" panose="02010609060101010101" pitchFamily="49" charset="-122"/>
                          <a:ea typeface="仿宋" panose="02010609060101010101" pitchFamily="49" charset="-122"/>
                        </a:rPr>
                        <a:t>号填列）</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a:solidFill>
                            <a:srgbClr val="000000"/>
                          </a:solidFill>
                          <a:effectLst/>
                          <a:latin typeface="仿宋" panose="02010609060101010101" pitchFamily="49" charset="-122"/>
                          <a:ea typeface="仿宋" panose="02010609060101010101" pitchFamily="49" charset="-122"/>
                        </a:rPr>
                        <a:t>-1260.28</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fontAlgn="ctr"/>
                      <a:r>
                        <a:rPr lang="en-US" altLang="zh-CN" sz="1000" b="0" i="0" u="none" strike="noStrike" dirty="0">
                          <a:solidFill>
                            <a:srgbClr val="000000"/>
                          </a:solidFill>
                          <a:effectLst/>
                          <a:latin typeface="仿宋" panose="02010609060101010101" pitchFamily="49" charset="-122"/>
                          <a:ea typeface="仿宋" panose="02010609060101010101" pitchFamily="49" charset="-122"/>
                        </a:rPr>
                        <a:t>-185.71</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358117550"/>
                  </a:ext>
                </a:extLst>
              </a:tr>
            </a:tbl>
          </a:graphicData>
        </a:graphic>
      </p:graphicFrame>
    </p:spTree>
    <p:extLst>
      <p:ext uri="{BB962C8B-B14F-4D97-AF65-F5344CB8AC3E}">
        <p14:creationId xmlns:p14="http://schemas.microsoft.com/office/powerpoint/2010/main" val="412237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5F5DF15C-FF5A-49F6-AD9E-2341F6416A13}"/>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11421" y="2196902"/>
            <a:ext cx="5745375" cy="2918928"/>
          </a:xfrm>
          <a:prstGeom prst="rect">
            <a:avLst/>
          </a:prstGeom>
          <a:noFill/>
          <a:ln>
            <a:noFill/>
          </a:ln>
        </p:spPr>
      </p:pic>
      <p:sp>
        <p:nvSpPr>
          <p:cNvPr id="3" name="Rectangle 2">
            <a:extLst>
              <a:ext uri="{FF2B5EF4-FFF2-40B4-BE49-F238E27FC236}">
                <a16:creationId xmlns:a16="http://schemas.microsoft.com/office/drawing/2014/main" id="{E4D9FFAA-3D1D-4AF6-A642-0C83D3E4178A}"/>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三、行业分析</a:t>
            </a:r>
            <a:r>
              <a:rPr lang="en-US" altLang="zh-CN" sz="2400" dirty="0">
                <a:solidFill>
                  <a:schemeClr val="bg1">
                    <a:lumMod val="50000"/>
                  </a:schemeClr>
                </a:solidFill>
              </a:rPr>
              <a:t>|</a:t>
            </a:r>
            <a:r>
              <a:rPr lang="zh-CN" altLang="en-US" sz="2000" dirty="0"/>
              <a:t>行业简介</a:t>
            </a:r>
            <a:endParaRPr lang="en-US" altLang="zh-CN" sz="2400" dirty="0"/>
          </a:p>
        </p:txBody>
      </p:sp>
      <p:sp>
        <p:nvSpPr>
          <p:cNvPr id="6" name="Rectangle 3">
            <a:extLst>
              <a:ext uri="{FF2B5EF4-FFF2-40B4-BE49-F238E27FC236}">
                <a16:creationId xmlns:a16="http://schemas.microsoft.com/office/drawing/2014/main" id="{C43A0259-48A0-455A-BEBA-F34E33C3CE9C}"/>
              </a:ext>
            </a:extLst>
          </p:cNvPr>
          <p:cNvSpPr txBox="1">
            <a:spLocks noChangeArrowheads="1"/>
          </p:cNvSpPr>
          <p:nvPr/>
        </p:nvSpPr>
        <p:spPr>
          <a:xfrm>
            <a:off x="395710" y="411599"/>
            <a:ext cx="8424585" cy="1728121"/>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indent="180000" algn="just">
              <a:lnSpc>
                <a:spcPct val="150000"/>
              </a:lnSpc>
              <a:buSzPct val="70000"/>
              <a:buBlip>
                <a:blip r:embed="rId4"/>
              </a:buBlip>
            </a:pPr>
            <a:r>
              <a:rPr lang="zh-CN" altLang="en-US" sz="1100" b="1" dirty="0">
                <a:solidFill>
                  <a:srgbClr val="C00000"/>
                </a:solidFill>
                <a:latin typeface="仿宋" panose="02010609060101010101" pitchFamily="49" charset="-122"/>
                <a:ea typeface="仿宋" panose="02010609060101010101" pitchFamily="49" charset="-122"/>
              </a:rPr>
              <a:t>大模拟</a:t>
            </a:r>
            <a:r>
              <a:rPr lang="zh-CN" altLang="zh-CN" sz="1100" b="1" dirty="0">
                <a:solidFill>
                  <a:srgbClr val="C00000"/>
                </a:solidFill>
                <a:latin typeface="仿宋" panose="02010609060101010101" pitchFamily="49" charset="-122"/>
                <a:ea typeface="仿宋" panose="02010609060101010101" pitchFamily="49" charset="-122"/>
              </a:rPr>
              <a:t>市场</a:t>
            </a:r>
          </a:p>
          <a:p>
            <a:pPr marL="288000" lvl="1">
              <a:lnSpc>
                <a:spcPct val="150000"/>
              </a:lnSpc>
              <a:buSzPct val="70000"/>
            </a:pPr>
            <a:r>
              <a:rPr lang="zh-CN" altLang="zh-CN" sz="1050" dirty="0">
                <a:latin typeface="仿宋" panose="02010609060101010101" pitchFamily="49" charset="-122"/>
                <a:ea typeface="仿宋" panose="02010609060101010101" pitchFamily="49" charset="-122"/>
              </a:rPr>
              <a:t>模拟芯片中电源管理芯片占模拟芯片整体市场比例约为</a:t>
            </a:r>
            <a:r>
              <a:rPr lang="en-US" altLang="zh-CN" sz="1050" b="1" dirty="0">
                <a:latin typeface="仿宋" panose="02010609060101010101" pitchFamily="49" charset="-122"/>
                <a:ea typeface="仿宋" panose="02010609060101010101" pitchFamily="49" charset="-122"/>
              </a:rPr>
              <a:t>53%</a:t>
            </a:r>
            <a:r>
              <a:rPr lang="zh-CN" altLang="zh-CN" sz="1050" dirty="0">
                <a:latin typeface="仿宋" panose="02010609060101010101" pitchFamily="49" charset="-122"/>
                <a:ea typeface="仿宋" panose="02010609060101010101" pitchFamily="49" charset="-122"/>
              </a:rPr>
              <a:t>，信号链芯片占比约为</a:t>
            </a:r>
            <a:r>
              <a:rPr lang="en-US" altLang="zh-CN" sz="1050" b="1" dirty="0">
                <a:latin typeface="仿宋" panose="02010609060101010101" pitchFamily="49" charset="-122"/>
                <a:ea typeface="仿宋" panose="02010609060101010101" pitchFamily="49" charset="-122"/>
              </a:rPr>
              <a:t>47%</a:t>
            </a:r>
            <a:r>
              <a:rPr lang="zh-CN" altLang="zh-CN" sz="1050" dirty="0">
                <a:latin typeface="仿宋" panose="02010609060101010101" pitchFamily="49" charset="-122"/>
                <a:ea typeface="仿宋" panose="02010609060101010101" pitchFamily="49" charset="-122"/>
              </a:rPr>
              <a:t>。</a:t>
            </a:r>
          </a:p>
          <a:p>
            <a:pPr marL="288000" lvl="1">
              <a:lnSpc>
                <a:spcPct val="150000"/>
              </a:lnSpc>
              <a:buSzPct val="70000"/>
            </a:pPr>
            <a:r>
              <a:rPr lang="zh-CN" altLang="zh-CN" sz="1050" dirty="0">
                <a:latin typeface="仿宋" panose="02010609060101010101" pitchFamily="49" charset="-122"/>
                <a:ea typeface="仿宋" panose="02010609060101010101" pitchFamily="49" charset="-122"/>
              </a:rPr>
              <a:t>电源管理芯片主要归纳为八类</a:t>
            </a:r>
            <a:r>
              <a:rPr lang="zh-CN" altLang="en-US" sz="1050" dirty="0">
                <a:latin typeface="仿宋" panose="02010609060101010101" pitchFamily="49" charset="-122"/>
                <a:ea typeface="仿宋" panose="02010609060101010101" pitchFamily="49" charset="-122"/>
              </a:rPr>
              <a:t>，其中包括</a:t>
            </a:r>
            <a:r>
              <a:rPr lang="en-US" altLang="zh-CN" sz="1050" dirty="0">
                <a:latin typeface="仿宋" panose="02010609060101010101" pitchFamily="49" charset="-122"/>
                <a:ea typeface="仿宋" panose="02010609060101010101" pitchFamily="49" charset="-122"/>
              </a:rPr>
              <a:t>DC/DC</a:t>
            </a:r>
            <a:r>
              <a:rPr lang="zh-CN" altLang="en-US" sz="1050" dirty="0">
                <a:latin typeface="仿宋" panose="02010609060101010101" pitchFamily="49" charset="-122"/>
                <a:ea typeface="仿宋" panose="02010609060101010101" pitchFamily="49" charset="-122"/>
              </a:rPr>
              <a:t>调制</a:t>
            </a:r>
            <a:r>
              <a:rPr lang="en-US" altLang="zh-CN" sz="1050" dirty="0">
                <a:latin typeface="仿宋" panose="02010609060101010101" pitchFamily="49" charset="-122"/>
                <a:ea typeface="仿宋" panose="02010609060101010101" pitchFamily="49" charset="-122"/>
              </a:rPr>
              <a:t>IC</a:t>
            </a:r>
            <a:r>
              <a:rPr lang="zh-CN" altLang="en-US" sz="1050" dirty="0">
                <a:latin typeface="仿宋" panose="02010609060101010101" pitchFamily="49" charset="-122"/>
                <a:ea typeface="仿宋" panose="02010609060101010101" pitchFamily="49" charset="-122"/>
              </a:rPr>
              <a:t>、电池管理</a:t>
            </a:r>
            <a:r>
              <a:rPr lang="en-US" altLang="zh-CN" sz="1050" dirty="0">
                <a:latin typeface="仿宋" panose="02010609060101010101" pitchFamily="49" charset="-122"/>
                <a:ea typeface="仿宋" panose="02010609060101010101" pitchFamily="49" charset="-122"/>
              </a:rPr>
              <a:t>IC</a:t>
            </a:r>
            <a:r>
              <a:rPr lang="zh-CN" altLang="en-US" sz="1050" dirty="0">
                <a:latin typeface="仿宋" panose="02010609060101010101" pitchFamily="49" charset="-122"/>
                <a:ea typeface="仿宋" panose="02010609060101010101" pitchFamily="49" charset="-122"/>
              </a:rPr>
              <a:t>等；</a:t>
            </a:r>
            <a:endParaRPr lang="en-US" altLang="zh-CN" sz="1050" dirty="0">
              <a:latin typeface="仿宋" panose="02010609060101010101" pitchFamily="49" charset="-122"/>
              <a:ea typeface="仿宋" panose="02010609060101010101" pitchFamily="49" charset="-122"/>
            </a:endParaRPr>
          </a:p>
          <a:p>
            <a:pPr marL="288000" lvl="1">
              <a:lnSpc>
                <a:spcPct val="150000"/>
              </a:lnSpc>
              <a:buSzPct val="70000"/>
            </a:pPr>
            <a:r>
              <a:rPr lang="en-US" altLang="zh-CN" sz="1050" dirty="0">
                <a:latin typeface="仿宋" panose="02010609060101010101" pitchFamily="49" charset="-122"/>
                <a:ea typeface="仿宋" panose="02010609060101010101" pitchFamily="49" charset="-122"/>
              </a:rPr>
              <a:t>DC/DC</a:t>
            </a:r>
            <a:r>
              <a:rPr lang="zh-CN" altLang="en-US" sz="1050" dirty="0">
                <a:latin typeface="仿宋" panose="02010609060101010101" pitchFamily="49" charset="-122"/>
                <a:ea typeface="仿宋" panose="02010609060101010101" pitchFamily="49" charset="-122"/>
              </a:rPr>
              <a:t>：</a:t>
            </a:r>
            <a:r>
              <a:rPr lang="zh-CN" altLang="zh-CN" sz="1050" dirty="0">
                <a:latin typeface="仿宋" panose="02010609060101010101" pitchFamily="49" charset="-122"/>
                <a:ea typeface="仿宋" panose="02010609060101010101" pitchFamily="49" charset="-122"/>
              </a:rPr>
              <a:t>用于</a:t>
            </a:r>
            <a:r>
              <a:rPr lang="zh-CN" altLang="en-US" sz="1050" dirty="0">
                <a:latin typeface="仿宋" panose="02010609060101010101" pitchFamily="49" charset="-122"/>
                <a:ea typeface="仿宋" panose="02010609060101010101" pitchFamily="49" charset="-122"/>
              </a:rPr>
              <a:t>直流电</a:t>
            </a:r>
            <a:r>
              <a:rPr lang="zh-CN" altLang="zh-CN" sz="1050" dirty="0">
                <a:latin typeface="仿宋" panose="02010609060101010101" pitchFamily="49" charset="-122"/>
                <a:ea typeface="仿宋" panose="02010609060101010101" pitchFamily="49" charset="-122"/>
              </a:rPr>
              <a:t>转化为直流电，内含低电压控制电路及高压开关晶体管</a:t>
            </a:r>
            <a:r>
              <a:rPr lang="zh-CN" altLang="en-US" sz="1050" dirty="0">
                <a:latin typeface="仿宋" panose="02010609060101010101" pitchFamily="49" charset="-122"/>
                <a:ea typeface="仿宋" panose="02010609060101010101" pitchFamily="49" charset="-122"/>
              </a:rPr>
              <a:t>；</a:t>
            </a:r>
            <a:r>
              <a:rPr lang="zh-CN" altLang="zh-CN" sz="1050" dirty="0">
                <a:latin typeface="仿宋" panose="02010609060101010101" pitchFamily="49" charset="-122"/>
                <a:ea typeface="仿宋" panose="02010609060101010101" pitchFamily="49" charset="-122"/>
              </a:rPr>
              <a:t>利用电子开关器件</a:t>
            </a:r>
            <a:r>
              <a:rPr lang="en-US" altLang="zh-CN" sz="1050" dirty="0">
                <a:latin typeface="仿宋" panose="02010609060101010101" pitchFamily="49" charset="-122"/>
                <a:ea typeface="仿宋" panose="02010609060101010101" pitchFamily="49" charset="-122"/>
              </a:rPr>
              <a:t>MOS</a:t>
            </a:r>
            <a:r>
              <a:rPr lang="zh-CN" altLang="zh-CN" sz="1050" dirty="0">
                <a:latin typeface="仿宋" panose="02010609060101010101" pitchFamily="49" charset="-122"/>
                <a:ea typeface="仿宋" panose="02010609060101010101" pitchFamily="49" charset="-122"/>
              </a:rPr>
              <a:t>管，通过控制电路，使电子开关器件不停地“接通”和“关断”，让电子开关器件对输入电压进行脉冲调制。</a:t>
            </a:r>
            <a:endParaRPr lang="en-US" altLang="zh-CN" sz="1050" dirty="0">
              <a:latin typeface="仿宋" panose="02010609060101010101" pitchFamily="49" charset="-122"/>
              <a:ea typeface="仿宋" panose="02010609060101010101" pitchFamily="49" charset="-122"/>
            </a:endParaRPr>
          </a:p>
          <a:p>
            <a:pPr marL="288000" lvl="1">
              <a:lnSpc>
                <a:spcPct val="150000"/>
              </a:lnSpc>
              <a:buSzPct val="70000"/>
            </a:pPr>
            <a:r>
              <a:rPr lang="zh-CN" altLang="en-US" sz="1050" dirty="0">
                <a:latin typeface="仿宋" panose="02010609060101010101" pitchFamily="49" charset="-122"/>
                <a:ea typeface="仿宋" panose="02010609060101010101" pitchFamily="49" charset="-122"/>
              </a:rPr>
              <a:t>同步整流：</a:t>
            </a:r>
            <a:r>
              <a:rPr lang="zh-CN" altLang="zh-CN" sz="1050" dirty="0">
                <a:latin typeface="仿宋" panose="02010609060101010101" pitchFamily="49" charset="-122"/>
                <a:ea typeface="仿宋" panose="02010609060101010101" pitchFamily="49" charset="-122"/>
              </a:rPr>
              <a:t>采用低导通电阻的功率</a:t>
            </a:r>
            <a:r>
              <a:rPr lang="en-US" altLang="zh-CN" sz="1050" dirty="0">
                <a:latin typeface="仿宋" panose="02010609060101010101" pitchFamily="49" charset="-122"/>
                <a:ea typeface="仿宋" panose="02010609060101010101" pitchFamily="49" charset="-122"/>
              </a:rPr>
              <a:t>MOS</a:t>
            </a:r>
            <a:r>
              <a:rPr lang="zh-CN" altLang="zh-CN" sz="1050" dirty="0">
                <a:latin typeface="仿宋" panose="02010609060101010101" pitchFamily="49" charset="-122"/>
                <a:ea typeface="仿宋" panose="02010609060101010101" pitchFamily="49" charset="-122"/>
              </a:rPr>
              <a:t>管代替</a:t>
            </a:r>
            <a:r>
              <a:rPr lang="zh-CN" altLang="en-US" sz="1050" dirty="0">
                <a:latin typeface="仿宋" panose="02010609060101010101" pitchFamily="49" charset="-122"/>
                <a:ea typeface="仿宋" panose="02010609060101010101" pitchFamily="49" charset="-122"/>
              </a:rPr>
              <a:t>肖特基</a:t>
            </a:r>
            <a:r>
              <a:rPr lang="zh-CN" altLang="zh-CN" sz="1050" dirty="0">
                <a:latin typeface="仿宋" panose="02010609060101010101" pitchFamily="49" charset="-122"/>
                <a:ea typeface="仿宋" panose="02010609060101010101" pitchFamily="49" charset="-122"/>
              </a:rPr>
              <a:t>二极管，起整流管的作用，从而达到降低整流损耗，提高效率的目的。</a:t>
            </a:r>
            <a:r>
              <a:rPr lang="zh-CN" altLang="en-US" sz="1050" dirty="0">
                <a:latin typeface="仿宋" panose="02010609060101010101" pitchFamily="49" charset="-122"/>
                <a:ea typeface="仿宋" panose="02010609060101010101" pitchFamily="49" charset="-122"/>
              </a:rPr>
              <a:t>（</a:t>
            </a:r>
            <a:r>
              <a:rPr lang="zh-CN" altLang="zh-CN" sz="1050" dirty="0">
                <a:latin typeface="仿宋" panose="02010609060101010101" pitchFamily="49" charset="-122"/>
                <a:ea typeface="仿宋" panose="02010609060101010101" pitchFamily="49" charset="-122"/>
              </a:rPr>
              <a:t>栅极电压必须与被整流电压的相位保持同步才能完成整流功能</a:t>
            </a:r>
            <a:r>
              <a:rPr lang="zh-CN" altLang="en-US" sz="1050" dirty="0">
                <a:latin typeface="仿宋" panose="02010609060101010101" pitchFamily="49" charset="-122"/>
                <a:ea typeface="仿宋" panose="02010609060101010101" pitchFamily="49" charset="-122"/>
              </a:rPr>
              <a:t>）</a:t>
            </a:r>
            <a:endParaRPr lang="en-US" altLang="zh-CN" sz="1050" dirty="0">
              <a:latin typeface="仿宋" panose="02010609060101010101" pitchFamily="49" charset="-122"/>
              <a:ea typeface="仿宋" panose="02010609060101010101" pitchFamily="49" charset="-122"/>
            </a:endParaRPr>
          </a:p>
        </p:txBody>
      </p:sp>
      <p:sp>
        <p:nvSpPr>
          <p:cNvPr id="5" name="矩形 4">
            <a:extLst>
              <a:ext uri="{FF2B5EF4-FFF2-40B4-BE49-F238E27FC236}">
                <a16:creationId xmlns:a16="http://schemas.microsoft.com/office/drawing/2014/main" id="{349A3B28-419D-4FE6-8CC7-C30F15CCD7A3}"/>
              </a:ext>
            </a:extLst>
          </p:cNvPr>
          <p:cNvSpPr/>
          <p:nvPr/>
        </p:nvSpPr>
        <p:spPr bwMode="auto">
          <a:xfrm>
            <a:off x="5796085" y="3147790"/>
            <a:ext cx="1656115" cy="1296090"/>
          </a:xfrm>
          <a:prstGeom prst="rect">
            <a:avLst/>
          </a:prstGeom>
          <a:noFill/>
          <a:ln w="28575"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aphicFrame>
        <p:nvGraphicFramePr>
          <p:cNvPr id="4" name="表格 3">
            <a:extLst>
              <a:ext uri="{FF2B5EF4-FFF2-40B4-BE49-F238E27FC236}">
                <a16:creationId xmlns:a16="http://schemas.microsoft.com/office/drawing/2014/main" id="{3BCB7156-DA9E-43E0-9705-F1CE1C42512E}"/>
              </a:ext>
            </a:extLst>
          </p:cNvPr>
          <p:cNvGraphicFramePr>
            <a:graphicFrameLocks noGrp="1"/>
          </p:cNvGraphicFramePr>
          <p:nvPr>
            <p:extLst>
              <p:ext uri="{D42A27DB-BD31-4B8C-83A1-F6EECF244321}">
                <p14:modId xmlns:p14="http://schemas.microsoft.com/office/powerpoint/2010/main" val="2801978057"/>
              </p:ext>
            </p:extLst>
          </p:nvPr>
        </p:nvGraphicFramePr>
        <p:xfrm>
          <a:off x="395709" y="2571749"/>
          <a:ext cx="2664184" cy="2016140"/>
        </p:xfrm>
        <a:graphic>
          <a:graphicData uri="http://schemas.openxmlformats.org/drawingml/2006/table">
            <a:tbl>
              <a:tblPr firstRow="1" firstCol="1" bandRow="1"/>
              <a:tblGrid>
                <a:gridCol w="470150">
                  <a:extLst>
                    <a:ext uri="{9D8B030D-6E8A-4147-A177-3AD203B41FA5}">
                      <a16:colId xmlns:a16="http://schemas.microsoft.com/office/drawing/2014/main" val="2785389142"/>
                    </a:ext>
                  </a:extLst>
                </a:gridCol>
                <a:gridCol w="1097017">
                  <a:extLst>
                    <a:ext uri="{9D8B030D-6E8A-4147-A177-3AD203B41FA5}">
                      <a16:colId xmlns:a16="http://schemas.microsoft.com/office/drawing/2014/main" val="1135406997"/>
                    </a:ext>
                  </a:extLst>
                </a:gridCol>
                <a:gridCol w="1097017">
                  <a:extLst>
                    <a:ext uri="{9D8B030D-6E8A-4147-A177-3AD203B41FA5}">
                      <a16:colId xmlns:a16="http://schemas.microsoft.com/office/drawing/2014/main" val="3639053116"/>
                    </a:ext>
                  </a:extLst>
                </a:gridCol>
              </a:tblGrid>
              <a:tr h="332941">
                <a:tc>
                  <a:txBody>
                    <a:bodyPr/>
                    <a:lstStyle/>
                    <a:p>
                      <a:pPr algn="ctr"/>
                      <a:r>
                        <a:rPr lang="zh-CN" sz="900" b="1" kern="100">
                          <a:solidFill>
                            <a:srgbClr val="000000"/>
                          </a:solidFill>
                          <a:effectLst/>
                          <a:latin typeface="Times New Roman" panose="02020603050405020304" pitchFamily="18" charset="0"/>
                          <a:ea typeface="仿宋" panose="02010609060101010101" pitchFamily="49" charset="-122"/>
                        </a:rPr>
                        <a:t>类型</a:t>
                      </a:r>
                      <a:endParaRPr lang="zh-CN" sz="1050" kern="100">
                        <a:effectLst/>
                        <a:latin typeface="Times New Roman" panose="02020603050405020304" pitchFamily="18" charset="0"/>
                        <a:ea typeface="宋体" panose="02010600030101010101" pitchFamily="2" charset="-122"/>
                      </a:endParaRPr>
                    </a:p>
                  </a:txBody>
                  <a:tcPr marL="9525" marR="9525" marT="9525"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DCE6F1"/>
                    </a:solidFill>
                  </a:tcPr>
                </a:tc>
                <a:tc>
                  <a:txBody>
                    <a:bodyPr/>
                    <a:lstStyle/>
                    <a:p>
                      <a:pPr algn="ctr"/>
                      <a:r>
                        <a:rPr lang="zh-CN" sz="900" b="1" kern="100">
                          <a:solidFill>
                            <a:srgbClr val="000000"/>
                          </a:solidFill>
                          <a:effectLst/>
                          <a:latin typeface="Times New Roman" panose="02020603050405020304" pitchFamily="18" charset="0"/>
                          <a:ea typeface="仿宋" panose="02010609060101010101" pitchFamily="49" charset="-122"/>
                        </a:rPr>
                        <a:t>产品分类</a:t>
                      </a:r>
                      <a:endParaRPr lang="zh-CN" sz="1050" kern="100">
                        <a:effectLst/>
                        <a:latin typeface="Times New Roman" panose="02020603050405020304" pitchFamily="18" charset="0"/>
                        <a:ea typeface="宋体" panose="02010600030101010101" pitchFamily="2" charset="-122"/>
                      </a:endParaRPr>
                    </a:p>
                  </a:txBody>
                  <a:tcPr marL="9525" marR="9525" marT="9525"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DCE6F1"/>
                    </a:solidFill>
                  </a:tcPr>
                </a:tc>
                <a:tc>
                  <a:txBody>
                    <a:bodyPr/>
                    <a:lstStyle/>
                    <a:p>
                      <a:pPr algn="ctr"/>
                      <a:r>
                        <a:rPr lang="zh-CN" sz="900" b="1" kern="100">
                          <a:solidFill>
                            <a:srgbClr val="000000"/>
                          </a:solidFill>
                          <a:effectLst/>
                          <a:latin typeface="Times New Roman" panose="02020603050405020304" pitchFamily="18" charset="0"/>
                          <a:ea typeface="仿宋" panose="02010609060101010101" pitchFamily="49" charset="-122"/>
                        </a:rPr>
                        <a:t>主要功能</a:t>
                      </a:r>
                      <a:endParaRPr lang="zh-CN" sz="1050" kern="100">
                        <a:effectLst/>
                        <a:latin typeface="Times New Roman" panose="02020603050405020304" pitchFamily="18" charset="0"/>
                        <a:ea typeface="宋体" panose="02010600030101010101" pitchFamily="2" charset="-122"/>
                      </a:endParaRPr>
                    </a:p>
                  </a:txBody>
                  <a:tcPr marL="9525" marR="9525" marT="9525"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DCE6F1"/>
                    </a:solidFill>
                  </a:tcPr>
                </a:tc>
                <a:extLst>
                  <a:ext uri="{0D108BD9-81ED-4DB2-BD59-A6C34878D82A}">
                    <a16:rowId xmlns:a16="http://schemas.microsoft.com/office/drawing/2014/main" val="2613627583"/>
                  </a:ext>
                </a:extLst>
              </a:tr>
              <a:tr h="832351">
                <a:tc>
                  <a:txBody>
                    <a:bodyPr/>
                    <a:lstStyle/>
                    <a:p>
                      <a:pPr algn="ctr"/>
                      <a:r>
                        <a:rPr lang="zh-CN" sz="900" b="1" kern="100">
                          <a:solidFill>
                            <a:srgbClr val="000000"/>
                          </a:solidFill>
                          <a:effectLst/>
                          <a:latin typeface="Times New Roman" panose="02020603050405020304" pitchFamily="18" charset="0"/>
                          <a:ea typeface="仿宋" panose="02010609060101010101" pitchFamily="49" charset="-122"/>
                        </a:rPr>
                        <a:t>信号链</a:t>
                      </a:r>
                      <a:endParaRPr lang="zh-CN" sz="1050" kern="100">
                        <a:effectLst/>
                        <a:latin typeface="Times New Roman" panose="02020603050405020304" pitchFamily="18" charset="0"/>
                        <a:ea typeface="宋体" panose="02010600030101010101" pitchFamily="2" charset="-122"/>
                      </a:endParaRPr>
                    </a:p>
                  </a:txBody>
                  <a:tcPr marL="9525" marR="9525" marT="9525"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lnSpc>
                          <a:spcPct val="125000"/>
                        </a:lnSpc>
                      </a:pPr>
                      <a:r>
                        <a:rPr lang="zh-CN" sz="900" kern="100" dirty="0">
                          <a:solidFill>
                            <a:srgbClr val="000000"/>
                          </a:solidFill>
                          <a:effectLst/>
                          <a:latin typeface="Times New Roman" panose="02020603050405020304" pitchFamily="18" charset="0"/>
                          <a:ea typeface="仿宋" panose="02010609060101010101" pitchFamily="49" charset="-122"/>
                        </a:rPr>
                        <a:t>滤波器、模拟开关、电平转换、接口电路、</a:t>
                      </a:r>
                      <a:r>
                        <a:rPr lang="en-US" sz="900" kern="100" dirty="0">
                          <a:solidFill>
                            <a:srgbClr val="000000"/>
                          </a:solidFill>
                          <a:effectLst/>
                          <a:latin typeface="Times New Roman" panose="02020603050405020304" pitchFamily="18" charset="0"/>
                          <a:ea typeface="仿宋" panose="02010609060101010101" pitchFamily="49" charset="-122"/>
                        </a:rPr>
                        <a:t>ADC</a:t>
                      </a:r>
                      <a:r>
                        <a:rPr lang="zh-CN" sz="900" kern="100" dirty="0">
                          <a:solidFill>
                            <a:srgbClr val="000000"/>
                          </a:solidFill>
                          <a:effectLst/>
                          <a:latin typeface="Times New Roman" panose="02020603050405020304" pitchFamily="18" charset="0"/>
                          <a:ea typeface="仿宋" panose="02010609060101010101" pitchFamily="49" charset="-122"/>
                        </a:rPr>
                        <a:t>、</a:t>
                      </a:r>
                      <a:r>
                        <a:rPr lang="en-US" sz="900" kern="100" dirty="0">
                          <a:solidFill>
                            <a:srgbClr val="000000"/>
                          </a:solidFill>
                          <a:effectLst/>
                          <a:latin typeface="Times New Roman" panose="02020603050405020304" pitchFamily="18" charset="0"/>
                          <a:ea typeface="仿宋" panose="02010609060101010101" pitchFamily="49" charset="-122"/>
                        </a:rPr>
                        <a:t>DAC</a:t>
                      </a:r>
                      <a:r>
                        <a:rPr lang="zh-CN" sz="900" kern="100" dirty="0">
                          <a:solidFill>
                            <a:srgbClr val="000000"/>
                          </a:solidFill>
                          <a:effectLst/>
                          <a:latin typeface="Times New Roman" panose="02020603050405020304" pitchFamily="18" charset="0"/>
                          <a:ea typeface="仿宋" panose="02010609060101010101" pitchFamily="49" charset="-122"/>
                        </a:rPr>
                        <a:t>等</a:t>
                      </a:r>
                      <a:endParaRPr lang="zh-CN" sz="1050" kern="100" dirty="0">
                        <a:effectLst/>
                        <a:latin typeface="Times New Roman" panose="02020603050405020304" pitchFamily="18" charset="0"/>
                        <a:ea typeface="宋体" panose="02010600030101010101" pitchFamily="2" charset="-122"/>
                      </a:endParaRPr>
                    </a:p>
                  </a:txBody>
                  <a:tcPr marL="9525" marR="9525" marT="9525"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just">
                        <a:lnSpc>
                          <a:spcPct val="125000"/>
                        </a:lnSpc>
                      </a:pPr>
                      <a:r>
                        <a:rPr lang="zh-CN" sz="900" kern="100" dirty="0">
                          <a:solidFill>
                            <a:srgbClr val="000000"/>
                          </a:solidFill>
                          <a:effectLst/>
                          <a:latin typeface="Times New Roman" panose="02020603050405020304" pitchFamily="18" charset="0"/>
                          <a:ea typeface="仿宋" panose="02010609060101010101" pitchFamily="49" charset="-122"/>
                        </a:rPr>
                        <a:t>信号放大、信号过滤、模拟信号</a:t>
                      </a:r>
                      <a:r>
                        <a:rPr lang="en-US" sz="900" kern="100" dirty="0">
                          <a:solidFill>
                            <a:srgbClr val="000000"/>
                          </a:solidFill>
                          <a:effectLst/>
                          <a:latin typeface="Times New Roman" panose="02020603050405020304" pitchFamily="18" charset="0"/>
                          <a:ea typeface="仿宋" panose="02010609060101010101" pitchFamily="49" charset="-122"/>
                        </a:rPr>
                        <a:t>/</a:t>
                      </a:r>
                      <a:r>
                        <a:rPr lang="zh-CN" sz="900" kern="100" dirty="0">
                          <a:solidFill>
                            <a:srgbClr val="000000"/>
                          </a:solidFill>
                          <a:effectLst/>
                          <a:latin typeface="Times New Roman" panose="02020603050405020304" pitchFamily="18" charset="0"/>
                          <a:ea typeface="仿宋" panose="02010609060101010101" pitchFamily="49" charset="-122"/>
                        </a:rPr>
                        <a:t>数字信号互相转换等</a:t>
                      </a:r>
                      <a:endParaRPr lang="zh-CN" sz="1050" kern="100" dirty="0">
                        <a:effectLst/>
                        <a:latin typeface="Times New Roman" panose="02020603050405020304" pitchFamily="18" charset="0"/>
                        <a:ea typeface="宋体" panose="02010600030101010101" pitchFamily="2" charset="-122"/>
                      </a:endParaRPr>
                    </a:p>
                  </a:txBody>
                  <a:tcPr marL="9525" marR="9525" marT="9525"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920835650"/>
                  </a:ext>
                </a:extLst>
              </a:tr>
              <a:tr h="850848">
                <a:tc>
                  <a:txBody>
                    <a:bodyPr/>
                    <a:lstStyle/>
                    <a:p>
                      <a:pPr algn="ctr"/>
                      <a:r>
                        <a:rPr lang="zh-CN" sz="900" b="1" kern="100">
                          <a:solidFill>
                            <a:srgbClr val="000000"/>
                          </a:solidFill>
                          <a:effectLst/>
                          <a:latin typeface="Times New Roman" panose="02020603050405020304" pitchFamily="18" charset="0"/>
                          <a:ea typeface="仿宋" panose="02010609060101010101" pitchFamily="49" charset="-122"/>
                        </a:rPr>
                        <a:t>电源管理</a:t>
                      </a:r>
                      <a:endParaRPr lang="zh-CN" sz="1050" kern="100">
                        <a:effectLst/>
                        <a:latin typeface="Times New Roman" panose="02020603050405020304" pitchFamily="18" charset="0"/>
                        <a:ea typeface="宋体" panose="02010600030101010101" pitchFamily="2" charset="-122"/>
                      </a:endParaRPr>
                    </a:p>
                  </a:txBody>
                  <a:tcPr marL="9525" marR="9525" marT="9525"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a:lnSpc>
                          <a:spcPct val="125000"/>
                        </a:lnSpc>
                      </a:pPr>
                      <a:r>
                        <a:rPr lang="en-US" sz="900" kern="100" dirty="0">
                          <a:solidFill>
                            <a:srgbClr val="000000"/>
                          </a:solidFill>
                          <a:effectLst/>
                          <a:latin typeface="仿宋" panose="02010609060101010101" pitchFamily="49" charset="-122"/>
                          <a:ea typeface="仿宋" panose="02010609060101010101" pitchFamily="49" charset="-122"/>
                        </a:rPr>
                        <a:t>AD/DC</a:t>
                      </a:r>
                      <a:r>
                        <a:rPr lang="zh-CN" sz="900" kern="100" dirty="0">
                          <a:solidFill>
                            <a:srgbClr val="000000"/>
                          </a:solidFill>
                          <a:effectLst/>
                          <a:latin typeface="仿宋" panose="02010609060101010101" pitchFamily="49" charset="-122"/>
                          <a:ea typeface="仿宋" panose="02010609060101010101" pitchFamily="49" charset="-122"/>
                        </a:rPr>
                        <a:t>、</a:t>
                      </a:r>
                      <a:r>
                        <a:rPr lang="en-US" sz="900" b="1" kern="100" dirty="0">
                          <a:solidFill>
                            <a:srgbClr val="000000"/>
                          </a:solidFill>
                          <a:effectLst/>
                          <a:latin typeface="仿宋" panose="02010609060101010101" pitchFamily="49" charset="-122"/>
                          <a:ea typeface="仿宋" panose="02010609060101010101" pitchFamily="49" charset="-122"/>
                        </a:rPr>
                        <a:t>DC/DC</a:t>
                      </a:r>
                      <a:r>
                        <a:rPr lang="zh-CN" sz="900" kern="100" dirty="0">
                          <a:solidFill>
                            <a:srgbClr val="000000"/>
                          </a:solidFill>
                          <a:effectLst/>
                          <a:latin typeface="仿宋" panose="02010609060101010101" pitchFamily="49" charset="-122"/>
                          <a:ea typeface="仿宋" panose="02010609060101010101" pitchFamily="49" charset="-122"/>
                        </a:rPr>
                        <a:t>、</a:t>
                      </a:r>
                      <a:r>
                        <a:rPr lang="en-US" sz="900" kern="100" dirty="0">
                          <a:solidFill>
                            <a:srgbClr val="000000"/>
                          </a:solidFill>
                          <a:effectLst/>
                          <a:latin typeface="仿宋" panose="02010609060101010101" pitchFamily="49" charset="-122"/>
                          <a:ea typeface="仿宋" panose="02010609060101010101" pitchFamily="49" charset="-122"/>
                        </a:rPr>
                        <a:t>LDO</a:t>
                      </a:r>
                      <a:r>
                        <a:rPr lang="zh-CN" sz="900" kern="100" dirty="0">
                          <a:solidFill>
                            <a:srgbClr val="000000"/>
                          </a:solidFill>
                          <a:effectLst/>
                          <a:latin typeface="仿宋" panose="02010609060101010101" pitchFamily="49" charset="-122"/>
                          <a:ea typeface="仿宋" panose="02010609060101010101" pitchFamily="49" charset="-122"/>
                        </a:rPr>
                        <a:t>、</a:t>
                      </a:r>
                      <a:r>
                        <a:rPr lang="en-US" sz="900" kern="100" dirty="0">
                          <a:solidFill>
                            <a:srgbClr val="000000"/>
                          </a:solidFill>
                          <a:effectLst/>
                          <a:latin typeface="仿宋" panose="02010609060101010101" pitchFamily="49" charset="-122"/>
                          <a:ea typeface="仿宋" panose="02010609060101010101" pitchFamily="49" charset="-122"/>
                        </a:rPr>
                        <a:t>OVP/OCP</a:t>
                      </a:r>
                      <a:r>
                        <a:rPr lang="zh-CN" sz="900" kern="100" dirty="0">
                          <a:solidFill>
                            <a:srgbClr val="000000"/>
                          </a:solidFill>
                          <a:effectLst/>
                          <a:latin typeface="仿宋" panose="02010609060101010101" pitchFamily="49" charset="-122"/>
                          <a:ea typeface="仿宋" panose="02010609060101010101" pitchFamily="49" charset="-122"/>
                        </a:rPr>
                        <a:t>、</a:t>
                      </a:r>
                      <a:r>
                        <a:rPr lang="zh-CN" sz="900" b="1" kern="100" dirty="0">
                          <a:solidFill>
                            <a:srgbClr val="000000"/>
                          </a:solidFill>
                          <a:effectLst/>
                          <a:latin typeface="仿宋" panose="02010609060101010101" pitchFamily="49" charset="-122"/>
                          <a:ea typeface="仿宋" panose="02010609060101010101" pitchFamily="49" charset="-122"/>
                        </a:rPr>
                        <a:t>电池管理</a:t>
                      </a:r>
                      <a:r>
                        <a:rPr lang="zh-CN" sz="900" kern="100" dirty="0">
                          <a:solidFill>
                            <a:srgbClr val="000000"/>
                          </a:solidFill>
                          <a:effectLst/>
                          <a:latin typeface="仿宋" panose="02010609060101010101" pitchFamily="49" charset="-122"/>
                          <a:ea typeface="仿宋" panose="02010609060101010101" pitchFamily="49" charset="-122"/>
                        </a:rPr>
                        <a:t>、</a:t>
                      </a:r>
                      <a:r>
                        <a:rPr lang="en-US" sz="900" kern="100" dirty="0">
                          <a:solidFill>
                            <a:srgbClr val="000000"/>
                          </a:solidFill>
                          <a:effectLst/>
                          <a:latin typeface="仿宋" panose="02010609060101010101" pitchFamily="49" charset="-122"/>
                          <a:ea typeface="仿宋" panose="02010609060101010101" pitchFamily="49" charset="-122"/>
                        </a:rPr>
                        <a:t>LED</a:t>
                      </a:r>
                      <a:r>
                        <a:rPr lang="zh-CN" sz="900" kern="100" dirty="0">
                          <a:solidFill>
                            <a:srgbClr val="000000"/>
                          </a:solidFill>
                          <a:effectLst/>
                          <a:latin typeface="仿宋" panose="02010609060101010101" pitchFamily="49" charset="-122"/>
                          <a:ea typeface="仿宋" panose="02010609060101010101" pitchFamily="49" charset="-122"/>
                        </a:rPr>
                        <a:t>驱动、</a:t>
                      </a:r>
                      <a:r>
                        <a:rPr lang="en-US" sz="900" kern="100" dirty="0">
                          <a:solidFill>
                            <a:srgbClr val="000000"/>
                          </a:solidFill>
                          <a:effectLst/>
                          <a:latin typeface="仿宋" panose="02010609060101010101" pitchFamily="49" charset="-122"/>
                          <a:ea typeface="仿宋" panose="02010609060101010101" pitchFamily="49" charset="-122"/>
                        </a:rPr>
                        <a:t>MOSFET</a:t>
                      </a:r>
                      <a:r>
                        <a:rPr lang="zh-CN" sz="900" kern="100" dirty="0">
                          <a:solidFill>
                            <a:srgbClr val="000000"/>
                          </a:solidFill>
                          <a:effectLst/>
                          <a:latin typeface="仿宋" panose="02010609060101010101" pitchFamily="49" charset="-122"/>
                          <a:ea typeface="仿宋" panose="02010609060101010101" pitchFamily="49" charset="-122"/>
                        </a:rPr>
                        <a:t>驱动</a:t>
                      </a:r>
                      <a:endParaRPr lang="zh-CN" sz="1050" kern="100" dirty="0">
                        <a:effectLst/>
                        <a:latin typeface="仿宋" panose="02010609060101010101" pitchFamily="49" charset="-122"/>
                        <a:ea typeface="仿宋" panose="02010609060101010101" pitchFamily="49" charset="-122"/>
                      </a:endParaRPr>
                    </a:p>
                  </a:txBody>
                  <a:tcPr marL="9525" marR="9525" marT="9525"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just">
                        <a:lnSpc>
                          <a:spcPct val="125000"/>
                        </a:lnSpc>
                      </a:pPr>
                      <a:r>
                        <a:rPr lang="zh-CN" sz="900" kern="100" dirty="0">
                          <a:solidFill>
                            <a:srgbClr val="000000"/>
                          </a:solidFill>
                          <a:effectLst/>
                          <a:latin typeface="Times New Roman" panose="02020603050405020304" pitchFamily="18" charset="0"/>
                          <a:ea typeface="仿宋" panose="02010609060101010101" pitchFamily="49" charset="-122"/>
                        </a:rPr>
                        <a:t>电流、电压大小控制、功率控制等</a:t>
                      </a:r>
                      <a:endParaRPr lang="zh-CN" sz="1050" kern="100" dirty="0">
                        <a:effectLst/>
                        <a:latin typeface="Times New Roman" panose="02020603050405020304" pitchFamily="18" charset="0"/>
                        <a:ea typeface="宋体" panose="02010600030101010101" pitchFamily="2" charset="-122"/>
                      </a:endParaRPr>
                    </a:p>
                  </a:txBody>
                  <a:tcPr marL="9525" marR="9525" marT="9525"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925870775"/>
                  </a:ext>
                </a:extLst>
              </a:tr>
            </a:tbl>
          </a:graphicData>
        </a:graphic>
      </p:graphicFrame>
    </p:spTree>
    <p:extLst>
      <p:ext uri="{BB962C8B-B14F-4D97-AF65-F5344CB8AC3E}">
        <p14:creationId xmlns:p14="http://schemas.microsoft.com/office/powerpoint/2010/main" val="3082279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4D9FFAA-3D1D-4AF6-A642-0C83D3E4178A}"/>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三、行业分析</a:t>
            </a:r>
            <a:r>
              <a:rPr lang="en-US" altLang="zh-CN" sz="2400" dirty="0">
                <a:solidFill>
                  <a:schemeClr val="bg1">
                    <a:lumMod val="50000"/>
                  </a:schemeClr>
                </a:solidFill>
              </a:rPr>
              <a:t>|</a:t>
            </a:r>
            <a:r>
              <a:rPr lang="zh-CN" altLang="en-US" sz="2000" dirty="0"/>
              <a:t>快充发展趋势</a:t>
            </a:r>
            <a:endParaRPr lang="en-US" altLang="zh-CN" sz="2400" dirty="0"/>
          </a:p>
        </p:txBody>
      </p:sp>
      <p:sp>
        <p:nvSpPr>
          <p:cNvPr id="6" name="Rectangle 3">
            <a:extLst>
              <a:ext uri="{FF2B5EF4-FFF2-40B4-BE49-F238E27FC236}">
                <a16:creationId xmlns:a16="http://schemas.microsoft.com/office/drawing/2014/main" id="{C43A0259-48A0-455A-BEBA-F34E33C3CE9C}"/>
              </a:ext>
            </a:extLst>
          </p:cNvPr>
          <p:cNvSpPr txBox="1">
            <a:spLocks noChangeArrowheads="1"/>
          </p:cNvSpPr>
          <p:nvPr/>
        </p:nvSpPr>
        <p:spPr>
          <a:xfrm>
            <a:off x="395710" y="411600"/>
            <a:ext cx="8424585" cy="1944136"/>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indent="180000" algn="just">
              <a:lnSpc>
                <a:spcPct val="150000"/>
              </a:lnSpc>
              <a:buSzPct val="70000"/>
              <a:buBlip>
                <a:blip r:embed="rId3"/>
              </a:buBlip>
            </a:pPr>
            <a:r>
              <a:rPr lang="zh-CN" altLang="en-US" sz="1100" b="1" dirty="0">
                <a:solidFill>
                  <a:srgbClr val="C00000"/>
                </a:solidFill>
                <a:latin typeface="仿宋" panose="02010609060101010101" pitchFamily="49" charset="-122"/>
                <a:ea typeface="仿宋" panose="02010609060101010101" pitchFamily="49" charset="-122"/>
              </a:rPr>
              <a:t>大功率快充的</a:t>
            </a:r>
            <a:r>
              <a:rPr lang="zh-CN" altLang="zh-CN" sz="1100" b="1" dirty="0">
                <a:solidFill>
                  <a:srgbClr val="C00000"/>
                </a:solidFill>
                <a:latin typeface="仿宋" panose="02010609060101010101" pitchFamily="49" charset="-122"/>
                <a:ea typeface="仿宋" panose="02010609060101010101" pitchFamily="49" charset="-122"/>
              </a:rPr>
              <a:t>“万物皆可充”时代</a:t>
            </a:r>
          </a:p>
          <a:p>
            <a:pPr marL="288000" lvl="1">
              <a:lnSpc>
                <a:spcPct val="150000"/>
              </a:lnSpc>
              <a:buSzPct val="70000"/>
            </a:pPr>
            <a:r>
              <a:rPr lang="en-US" altLang="zh-CN" sz="1100" kern="100" dirty="0">
                <a:effectLst/>
                <a:latin typeface="仿宋" panose="02010609060101010101" pitchFamily="49" charset="-122"/>
                <a:ea typeface="仿宋" panose="02010609060101010101" pitchFamily="49" charset="-122"/>
                <a:cs typeface="Times New Roman" panose="02020603050405020304" pitchFamily="18" charset="0"/>
              </a:rPr>
              <a:t>USB PD</a:t>
            </a:r>
            <a:r>
              <a:rPr lang="zh-CN" altLang="zh-CN" sz="1100" kern="100" dirty="0">
                <a:effectLst/>
                <a:latin typeface="仿宋" panose="02010609060101010101" pitchFamily="49" charset="-122"/>
                <a:ea typeface="仿宋" panose="02010609060101010101" pitchFamily="49" charset="-122"/>
                <a:cs typeface="Times New Roman" panose="02020603050405020304" pitchFamily="18" charset="0"/>
              </a:rPr>
              <a:t>快充</a:t>
            </a:r>
            <a:r>
              <a:rPr lang="zh-CN" altLang="en-US" sz="1100" kern="100" dirty="0">
                <a:effectLst/>
                <a:latin typeface="仿宋" panose="02010609060101010101" pitchFamily="49" charset="-122"/>
                <a:ea typeface="仿宋" panose="02010609060101010101" pitchFamily="49" charset="-122"/>
                <a:cs typeface="Times New Roman" panose="02020603050405020304" pitchFamily="18" charset="0"/>
              </a:rPr>
              <a:t>实现普及，</a:t>
            </a:r>
            <a:r>
              <a:rPr lang="en-US" altLang="zh-CN" sz="1100" kern="100" dirty="0">
                <a:effectLst/>
                <a:latin typeface="仿宋" panose="02010609060101010101" pitchFamily="49" charset="-122"/>
                <a:ea typeface="仿宋" panose="02010609060101010101" pitchFamily="49" charset="-122"/>
                <a:cs typeface="Times New Roman" panose="02020603050405020304" pitchFamily="18" charset="0"/>
              </a:rPr>
              <a:t>iPhone 8</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之后，</a:t>
            </a:r>
            <a:r>
              <a:rPr lang="zh-CN" altLang="zh-CN" sz="1100" kern="100" dirty="0">
                <a:effectLst/>
                <a:latin typeface="仿宋" panose="02010609060101010101" pitchFamily="49" charset="-122"/>
                <a:ea typeface="仿宋" panose="02010609060101010101" pitchFamily="49" charset="-122"/>
                <a:cs typeface="Times New Roman" panose="02020603050405020304" pitchFamily="18" charset="0"/>
              </a:rPr>
              <a:t>各大手机厂商、电脑厂商</a:t>
            </a:r>
            <a:r>
              <a:rPr lang="zh-CN" altLang="en-US" sz="1100" kern="100" dirty="0">
                <a:effectLst/>
                <a:latin typeface="仿宋" panose="02010609060101010101" pitchFamily="49" charset="-122"/>
                <a:ea typeface="仿宋" panose="02010609060101010101" pitchFamily="49" charset="-122"/>
                <a:cs typeface="Times New Roman" panose="02020603050405020304" pitchFamily="18" charset="0"/>
              </a:rPr>
              <a:t>统一采用</a:t>
            </a:r>
            <a:r>
              <a:rPr lang="en-US" altLang="zh-CN" sz="1100" kern="100" dirty="0">
                <a:effectLst/>
                <a:latin typeface="仿宋" panose="02010609060101010101" pitchFamily="49" charset="-122"/>
                <a:ea typeface="仿宋" panose="02010609060101010101" pitchFamily="49" charset="-122"/>
                <a:cs typeface="Times New Roman" panose="02020603050405020304" pitchFamily="18" charset="0"/>
              </a:rPr>
              <a:t>PD</a:t>
            </a:r>
            <a:r>
              <a:rPr lang="zh-CN" altLang="zh-CN" sz="1100" kern="100" dirty="0">
                <a:effectLst/>
                <a:latin typeface="仿宋" panose="02010609060101010101" pitchFamily="49" charset="-122"/>
                <a:ea typeface="仿宋" panose="02010609060101010101" pitchFamily="49" charset="-122"/>
                <a:cs typeface="Times New Roman" panose="02020603050405020304" pitchFamily="18" charset="0"/>
              </a:rPr>
              <a:t>快充</a:t>
            </a:r>
            <a:r>
              <a:rPr lang="zh-CN" altLang="en-US" sz="1100" kern="100" dirty="0">
                <a:effectLst/>
                <a:latin typeface="仿宋" panose="02010609060101010101" pitchFamily="49" charset="-122"/>
                <a:ea typeface="仿宋" panose="02010609060101010101" pitchFamily="49" charset="-122"/>
                <a:cs typeface="Times New Roman" panose="02020603050405020304" pitchFamily="18" charset="0"/>
              </a:rPr>
              <a:t>标准和首选方案；</a:t>
            </a:r>
            <a:endParaRPr lang="en-US" altLang="zh-CN" sz="1100" kern="100" dirty="0">
              <a:effectLst/>
              <a:latin typeface="仿宋" panose="02010609060101010101" pitchFamily="49" charset="-122"/>
              <a:ea typeface="仿宋" panose="02010609060101010101" pitchFamily="49" charset="-122"/>
              <a:cs typeface="Times New Roman" panose="02020603050405020304" pitchFamily="18" charset="0"/>
            </a:endParaRPr>
          </a:p>
          <a:p>
            <a:pPr marL="288000" lvl="1">
              <a:lnSpc>
                <a:spcPct val="150000"/>
              </a:lnSpc>
              <a:buSzPct val="70000"/>
            </a:pPr>
            <a:r>
              <a:rPr lang="en-US" altLang="zh-CN" sz="1100" b="1" kern="100" dirty="0">
                <a:effectLst/>
                <a:latin typeface="仿宋" panose="02010609060101010101" pitchFamily="49" charset="-122"/>
                <a:ea typeface="仿宋" panose="02010609060101010101" pitchFamily="49" charset="-122"/>
                <a:cs typeface="Times New Roman" panose="02020603050405020304" pitchFamily="18" charset="0"/>
              </a:rPr>
              <a:t>Type-C</a:t>
            </a:r>
            <a:r>
              <a:rPr lang="zh-CN" altLang="en-US" sz="1100" b="1" kern="100" dirty="0">
                <a:latin typeface="仿宋" panose="02010609060101010101" pitchFamily="49" charset="-122"/>
                <a:ea typeface="仿宋" panose="02010609060101010101" pitchFamily="49" charset="-122"/>
                <a:cs typeface="Times New Roman" panose="02020603050405020304" pitchFamily="18" charset="0"/>
              </a:rPr>
              <a:t>目前支持</a:t>
            </a:r>
            <a:r>
              <a:rPr lang="zh-CN" altLang="zh-CN" sz="1100" kern="100" dirty="0">
                <a:effectLst/>
                <a:latin typeface="仿宋" panose="02010609060101010101" pitchFamily="49" charset="-122"/>
                <a:ea typeface="仿宋" panose="02010609060101010101" pitchFamily="49" charset="-122"/>
                <a:cs typeface="Times New Roman" panose="02020603050405020304" pitchFamily="18" charset="0"/>
              </a:rPr>
              <a:t>最大功率</a:t>
            </a:r>
            <a:r>
              <a:rPr lang="en-US" altLang="zh-CN" sz="1100" b="1" kern="100" dirty="0">
                <a:effectLst/>
                <a:latin typeface="仿宋" panose="02010609060101010101" pitchFamily="49" charset="-122"/>
                <a:ea typeface="仿宋" panose="02010609060101010101" pitchFamily="49" charset="-122"/>
                <a:cs typeface="Times New Roman" panose="02020603050405020304" pitchFamily="18" charset="0"/>
              </a:rPr>
              <a:t>240W</a:t>
            </a:r>
            <a:r>
              <a:rPr lang="zh-CN" altLang="zh-CN" sz="1100" kern="100" dirty="0">
                <a:effectLst/>
                <a:latin typeface="仿宋" panose="02010609060101010101" pitchFamily="49" charset="-122"/>
                <a:ea typeface="仿宋" panose="02010609060101010101" pitchFamily="49" charset="-122"/>
                <a:cs typeface="Times New Roman" panose="02020603050405020304" pitchFamily="18" charset="0"/>
              </a:rPr>
              <a:t>（</a:t>
            </a:r>
            <a:r>
              <a:rPr lang="en-US" altLang="zh-CN" sz="1100" kern="100" dirty="0">
                <a:effectLst/>
                <a:latin typeface="仿宋" panose="02010609060101010101" pitchFamily="49" charset="-122"/>
                <a:ea typeface="仿宋" panose="02010609060101010101" pitchFamily="49" charset="-122"/>
                <a:cs typeface="Times New Roman" panose="02020603050405020304" pitchFamily="18" charset="0"/>
              </a:rPr>
              <a:t>48V</a:t>
            </a:r>
            <a:r>
              <a:rPr lang="zh-CN" altLang="zh-CN" sz="1100" kern="100" dirty="0">
                <a:effectLst/>
                <a:latin typeface="仿宋" panose="02010609060101010101" pitchFamily="49" charset="-122"/>
                <a:ea typeface="仿宋" panose="02010609060101010101" pitchFamily="49" charset="-122"/>
                <a:cs typeface="Times New Roman" panose="02020603050405020304" pitchFamily="18" charset="0"/>
              </a:rPr>
              <a:t>、</a:t>
            </a:r>
            <a:r>
              <a:rPr lang="en-US" altLang="zh-CN" sz="1100" kern="100" dirty="0">
                <a:effectLst/>
                <a:latin typeface="仿宋" panose="02010609060101010101" pitchFamily="49" charset="-122"/>
                <a:ea typeface="仿宋" panose="02010609060101010101" pitchFamily="49" charset="-122"/>
                <a:cs typeface="Times New Roman" panose="02020603050405020304" pitchFamily="18" charset="0"/>
              </a:rPr>
              <a:t>5A</a:t>
            </a:r>
            <a:r>
              <a:rPr lang="zh-CN" altLang="zh-CN" sz="1100" kern="100" dirty="0">
                <a:effectLst/>
                <a:latin typeface="仿宋" panose="02010609060101010101" pitchFamily="49" charset="-122"/>
                <a:ea typeface="仿宋" panose="02010609060101010101" pitchFamily="49" charset="-122"/>
                <a:cs typeface="Times New Roman" panose="02020603050405020304" pitchFamily="18" charset="0"/>
              </a:rPr>
              <a:t>）</a:t>
            </a:r>
            <a:r>
              <a:rPr lang="zh-CN" altLang="en-US" sz="1100" kern="100" dirty="0">
                <a:effectLst/>
                <a:latin typeface="仿宋" panose="02010609060101010101" pitchFamily="49" charset="-122"/>
                <a:ea typeface="仿宋" panose="02010609060101010101" pitchFamily="49" charset="-122"/>
                <a:cs typeface="Times New Roman" panose="02020603050405020304" pitchFamily="18" charset="0"/>
              </a:rPr>
              <a:t>，</a:t>
            </a:r>
            <a:r>
              <a:rPr lang="zh-CN" altLang="zh-CN" sz="1100" b="1" kern="100" dirty="0">
                <a:effectLst/>
                <a:latin typeface="仿宋" panose="02010609060101010101" pitchFamily="49" charset="-122"/>
                <a:ea typeface="仿宋" panose="02010609060101010101" pitchFamily="49" charset="-122"/>
                <a:cs typeface="Times New Roman" panose="02020603050405020304" pitchFamily="18" charset="0"/>
              </a:rPr>
              <a:t>覆盖笔记本电脑、显示器、电动工具、工业电源、服务器等产品</a:t>
            </a:r>
            <a:r>
              <a:rPr lang="zh-CN" altLang="en-US" sz="1100" b="1" kern="100" dirty="0">
                <a:effectLst/>
                <a:latin typeface="仿宋" panose="02010609060101010101" pitchFamily="49" charset="-122"/>
                <a:ea typeface="仿宋" panose="02010609060101010101" pitchFamily="49" charset="-122"/>
                <a:cs typeface="Times New Roman" panose="02020603050405020304" pitchFamily="18" charset="0"/>
              </a:rPr>
              <a:t>，</a:t>
            </a:r>
            <a:r>
              <a:rPr lang="en-US" altLang="zh-CN" sz="1100" b="1" kern="100" dirty="0">
                <a:effectLst/>
                <a:latin typeface="仿宋" panose="02010609060101010101" pitchFamily="49" charset="-122"/>
                <a:ea typeface="仿宋" panose="02010609060101010101" pitchFamily="49" charset="-122"/>
                <a:cs typeface="Times New Roman" panose="02020603050405020304" pitchFamily="18" charset="0"/>
              </a:rPr>
              <a:t>USB PD3.1</a:t>
            </a:r>
            <a:r>
              <a:rPr lang="zh-CN" altLang="zh-CN" sz="1100" b="1" kern="100" dirty="0">
                <a:effectLst/>
                <a:latin typeface="仿宋" panose="02010609060101010101" pitchFamily="49" charset="-122"/>
                <a:ea typeface="仿宋" panose="02010609060101010101" pitchFamily="49" charset="-122"/>
                <a:cs typeface="Times New Roman" panose="02020603050405020304" pitchFamily="18" charset="0"/>
              </a:rPr>
              <a:t>标准推动电源行业进入“万物皆可充”时代</a:t>
            </a:r>
            <a:r>
              <a:rPr lang="zh-CN" altLang="en-US" sz="1100" b="1" kern="100" dirty="0">
                <a:effectLst/>
                <a:latin typeface="仿宋" panose="02010609060101010101" pitchFamily="49" charset="-122"/>
                <a:ea typeface="仿宋" panose="02010609060101010101" pitchFamily="49" charset="-122"/>
                <a:cs typeface="Times New Roman" panose="02020603050405020304" pitchFamily="18" charset="0"/>
              </a:rPr>
              <a:t>。</a:t>
            </a:r>
            <a:endParaRPr lang="en-US" altLang="zh-CN" sz="1100" b="1" kern="100" dirty="0">
              <a:effectLst/>
              <a:latin typeface="仿宋" panose="02010609060101010101" pitchFamily="49" charset="-122"/>
              <a:ea typeface="仿宋" panose="02010609060101010101" pitchFamily="49" charset="-122"/>
              <a:cs typeface="Times New Roman" panose="02020603050405020304" pitchFamily="18" charset="0"/>
            </a:endParaRPr>
          </a:p>
          <a:p>
            <a:pPr marL="288000" lvl="1">
              <a:lnSpc>
                <a:spcPct val="150000"/>
              </a:lnSpc>
              <a:buSzPct val="70000"/>
            </a:pP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2021</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年</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5</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月，小米</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11 Pro</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魔改版，搭载</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200W</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有线快充，仅需</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8</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分钟充</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100%</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2021</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年</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6</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月，华为推出</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135W</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充电器，支持华为笔记本与华为手机超级快充。</a:t>
            </a:r>
            <a:endParaRPr lang="en-US" altLang="zh-CN" sz="1100" kern="100" dirty="0">
              <a:latin typeface="仿宋" panose="02010609060101010101" pitchFamily="49" charset="-122"/>
              <a:ea typeface="仿宋" panose="02010609060101010101" pitchFamily="49" charset="-122"/>
              <a:cs typeface="Times New Roman" panose="02020603050405020304" pitchFamily="18" charset="0"/>
            </a:endParaRPr>
          </a:p>
          <a:p>
            <a:pPr marL="288000" lvl="1">
              <a:lnSpc>
                <a:spcPct val="150000"/>
              </a:lnSpc>
              <a:buSzPct val="70000"/>
            </a:pP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30W</a:t>
            </a: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以上的手机快充，</a:t>
            </a:r>
            <a:r>
              <a:rPr lang="zh-CN" altLang="zh-CN" sz="1200" b="1" kern="100" dirty="0">
                <a:effectLst/>
                <a:latin typeface="仿宋" panose="02010609060101010101" pitchFamily="49" charset="-122"/>
                <a:ea typeface="仿宋" panose="02010609060101010101" pitchFamily="49" charset="-122"/>
                <a:cs typeface="Times New Roman" panose="02020603050405020304" pitchFamily="18" charset="0"/>
              </a:rPr>
              <a:t>高效降压方案的</a:t>
            </a:r>
            <a:r>
              <a:rPr lang="en-US" altLang="zh-CN" sz="1200" b="1" kern="100" dirty="0">
                <a:effectLst/>
                <a:latin typeface="仿宋" panose="02010609060101010101" pitchFamily="49" charset="-122"/>
                <a:ea typeface="仿宋" panose="02010609060101010101" pitchFamily="49" charset="-122"/>
                <a:cs typeface="Times New Roman" panose="02020603050405020304" pitchFamily="18" charset="0"/>
              </a:rPr>
              <a:t>Charge Pump</a:t>
            </a:r>
            <a:r>
              <a:rPr lang="zh-CN" altLang="zh-CN" sz="1200" b="1" kern="100" dirty="0">
                <a:effectLst/>
                <a:latin typeface="仿宋" panose="02010609060101010101" pitchFamily="49" charset="-122"/>
                <a:ea typeface="仿宋" panose="02010609060101010101" pitchFamily="49" charset="-122"/>
                <a:cs typeface="Times New Roman" panose="02020603050405020304" pitchFamily="18" charset="0"/>
              </a:rPr>
              <a:t>电荷泵技术成为必需</a:t>
            </a:r>
            <a:r>
              <a:rPr lang="zh-CN" altLang="en-US" sz="1200" b="1" kern="100" dirty="0">
                <a:latin typeface="仿宋" panose="02010609060101010101" pitchFamily="49" charset="-122"/>
                <a:ea typeface="仿宋" panose="02010609060101010101" pitchFamily="49" charset="-122"/>
                <a:cs typeface="Times New Roman" panose="02020603050405020304" pitchFamily="18" charset="0"/>
              </a:rPr>
              <a:t>，单</a:t>
            </a:r>
            <a:r>
              <a:rPr lang="en-US" altLang="zh-CN" sz="1200" b="1" kern="100" dirty="0">
                <a:latin typeface="仿宋" panose="02010609060101010101" pitchFamily="49" charset="-122"/>
                <a:ea typeface="仿宋" panose="02010609060101010101" pitchFamily="49" charset="-122"/>
                <a:cs typeface="Times New Roman" panose="02020603050405020304" pitchFamily="18" charset="0"/>
              </a:rPr>
              <a:t>/</a:t>
            </a:r>
            <a:r>
              <a:rPr lang="zh-CN" altLang="en-US" sz="1200" b="1" kern="100" dirty="0">
                <a:latin typeface="仿宋" panose="02010609060101010101" pitchFamily="49" charset="-122"/>
                <a:ea typeface="仿宋" panose="02010609060101010101" pitchFamily="49" charset="-122"/>
                <a:cs typeface="Times New Roman" panose="02020603050405020304" pitchFamily="18" charset="0"/>
              </a:rPr>
              <a:t>双串电池的组合管理技术需求趋势明显。</a:t>
            </a:r>
            <a:endParaRPr lang="en-US" altLang="zh-CN" sz="1200" b="1" kern="100" dirty="0">
              <a:latin typeface="仿宋" panose="02010609060101010101" pitchFamily="49" charset="-122"/>
              <a:ea typeface="仿宋" panose="02010609060101010101" pitchFamily="49" charset="-122"/>
              <a:cs typeface="Times New Roman" panose="02020603050405020304" pitchFamily="18" charset="0"/>
            </a:endParaRPr>
          </a:p>
          <a:p>
            <a:pPr marL="288000" lvl="1">
              <a:lnSpc>
                <a:spcPct val="150000"/>
              </a:lnSpc>
              <a:buSzPct val="70000"/>
            </a:pPr>
            <a:endParaRPr lang="zh-CN" altLang="zh-CN" sz="1100" dirty="0">
              <a:latin typeface="仿宋" panose="02010609060101010101" pitchFamily="49" charset="-122"/>
              <a:ea typeface="仿宋" panose="02010609060101010101" pitchFamily="49" charset="-122"/>
            </a:endParaRPr>
          </a:p>
        </p:txBody>
      </p:sp>
      <p:pic>
        <p:nvPicPr>
          <p:cNvPr id="4" name="图片 3">
            <a:extLst>
              <a:ext uri="{FF2B5EF4-FFF2-40B4-BE49-F238E27FC236}">
                <a16:creationId xmlns:a16="http://schemas.microsoft.com/office/drawing/2014/main" id="{193CC5AC-5B96-47BF-AF77-4327B36864DD}"/>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3286425" y="2556864"/>
            <a:ext cx="5400375" cy="2396585"/>
          </a:xfrm>
          <a:prstGeom prst="rect">
            <a:avLst/>
          </a:prstGeom>
          <a:noFill/>
          <a:ln>
            <a:noFill/>
          </a:ln>
        </p:spPr>
      </p:pic>
      <p:pic>
        <p:nvPicPr>
          <p:cNvPr id="5" name="图片 4">
            <a:extLst>
              <a:ext uri="{FF2B5EF4-FFF2-40B4-BE49-F238E27FC236}">
                <a16:creationId xmlns:a16="http://schemas.microsoft.com/office/drawing/2014/main" id="{7EB7D079-E171-4415-ACE8-C52A58FA279A}"/>
              </a:ext>
            </a:extLst>
          </p:cNvPr>
          <p:cNvPicPr>
            <a:picLocks noChangeAspect="1"/>
          </p:cNvPicPr>
          <p:nvPr/>
        </p:nvPicPr>
        <p:blipFill>
          <a:blip r:embed="rId5"/>
          <a:stretch>
            <a:fillRect/>
          </a:stretch>
        </p:blipFill>
        <p:spPr>
          <a:xfrm>
            <a:off x="539720" y="2787765"/>
            <a:ext cx="1944135" cy="1679840"/>
          </a:xfrm>
          <a:prstGeom prst="rect">
            <a:avLst/>
          </a:prstGeom>
        </p:spPr>
      </p:pic>
    </p:spTree>
    <p:extLst>
      <p:ext uri="{BB962C8B-B14F-4D97-AF65-F5344CB8AC3E}">
        <p14:creationId xmlns:p14="http://schemas.microsoft.com/office/powerpoint/2010/main" val="9756220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4D9FFAA-3D1D-4AF6-A642-0C83D3E4178A}"/>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三、行业分析</a:t>
            </a:r>
            <a:r>
              <a:rPr lang="en-US" altLang="zh-CN" sz="2400" dirty="0">
                <a:solidFill>
                  <a:schemeClr val="bg1">
                    <a:lumMod val="50000"/>
                  </a:schemeClr>
                </a:solidFill>
              </a:rPr>
              <a:t>|</a:t>
            </a:r>
            <a:r>
              <a:rPr lang="zh-CN" altLang="en-US" sz="2000" dirty="0"/>
              <a:t>电荷泵方案</a:t>
            </a:r>
            <a:endParaRPr lang="en-US" altLang="zh-CN" sz="2400" dirty="0"/>
          </a:p>
        </p:txBody>
      </p:sp>
      <p:sp>
        <p:nvSpPr>
          <p:cNvPr id="6" name="Rectangle 3">
            <a:extLst>
              <a:ext uri="{FF2B5EF4-FFF2-40B4-BE49-F238E27FC236}">
                <a16:creationId xmlns:a16="http://schemas.microsoft.com/office/drawing/2014/main" id="{C43A0259-48A0-455A-BEBA-F34E33C3CE9C}"/>
              </a:ext>
            </a:extLst>
          </p:cNvPr>
          <p:cNvSpPr txBox="1">
            <a:spLocks noChangeArrowheads="1"/>
          </p:cNvSpPr>
          <p:nvPr/>
        </p:nvSpPr>
        <p:spPr>
          <a:xfrm>
            <a:off x="395710" y="411599"/>
            <a:ext cx="8424585" cy="1728121"/>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lvl="1" indent="180000" algn="just">
              <a:lnSpc>
                <a:spcPct val="150000"/>
              </a:lnSpc>
              <a:buSzPct val="70000"/>
              <a:buBlip>
                <a:blip r:embed="rId3"/>
              </a:buBlip>
            </a:pPr>
            <a:r>
              <a:rPr lang="zh-CN" altLang="en-US" sz="1200" b="1" dirty="0">
                <a:solidFill>
                  <a:srgbClr val="C00000"/>
                </a:solidFill>
                <a:latin typeface="仿宋" panose="02010609060101010101" pitchFamily="49" charset="-122"/>
                <a:ea typeface="仿宋" panose="02010609060101010101" pitchFamily="49" charset="-122"/>
              </a:rPr>
              <a:t>电荷泵原理</a:t>
            </a:r>
            <a:endParaRPr lang="en-US" altLang="zh-CN" sz="1200" b="1" dirty="0">
              <a:solidFill>
                <a:srgbClr val="C00000"/>
              </a:solidFill>
              <a:latin typeface="仿宋" panose="02010609060101010101" pitchFamily="49" charset="-122"/>
              <a:ea typeface="仿宋" panose="02010609060101010101" pitchFamily="49" charset="-122"/>
            </a:endParaRPr>
          </a:p>
          <a:p>
            <a:pPr marL="288000" lvl="1">
              <a:lnSpc>
                <a:spcPct val="150000"/>
              </a:lnSpc>
              <a:buSzPct val="70000"/>
            </a:pPr>
            <a:r>
              <a:rPr lang="zh-CN" altLang="en-US" sz="1100" b="1" dirty="0">
                <a:latin typeface="仿宋" panose="02010609060101010101" pitchFamily="49" charset="-122"/>
                <a:ea typeface="仿宋" panose="02010609060101010101" pitchFamily="49" charset="-122"/>
              </a:rPr>
              <a:t>以升压降流的手机应用为主；</a:t>
            </a:r>
            <a:endParaRPr lang="en-US" altLang="zh-CN" sz="1100" b="1" dirty="0">
              <a:latin typeface="仿宋" panose="02010609060101010101" pitchFamily="49" charset="-122"/>
              <a:ea typeface="仿宋" panose="02010609060101010101" pitchFamily="49" charset="-122"/>
            </a:endParaRPr>
          </a:p>
          <a:p>
            <a:pPr marL="288000" lvl="1">
              <a:lnSpc>
                <a:spcPct val="150000"/>
              </a:lnSpc>
              <a:buSzPct val="70000"/>
            </a:pPr>
            <a:r>
              <a:rPr lang="zh-CN" altLang="en-US" sz="1100" b="1" dirty="0">
                <a:latin typeface="仿宋" panose="02010609060101010101" pitchFamily="49" charset="-122"/>
                <a:ea typeface="仿宋" panose="02010609060101010101" pitchFamily="49" charset="-122"/>
              </a:rPr>
              <a:t>电容的“串联充电，并联放电”；</a:t>
            </a:r>
            <a:r>
              <a:rPr lang="zh-CN" altLang="en-US" sz="1100" dirty="0">
                <a:latin typeface="仿宋" panose="02010609060101010101" pitchFamily="49" charset="-122"/>
                <a:ea typeface="仿宋" panose="02010609060101010101" pitchFamily="49" charset="-122"/>
              </a:rPr>
              <a:t>实现</a:t>
            </a:r>
            <a:r>
              <a:rPr lang="en-US" altLang="zh-CN" sz="1100" b="1" dirty="0">
                <a:latin typeface="仿宋" panose="02010609060101010101" pitchFamily="49" charset="-122"/>
                <a:ea typeface="仿宋" panose="02010609060101010101" pitchFamily="49" charset="-122"/>
              </a:rPr>
              <a:t>20V</a:t>
            </a:r>
            <a:r>
              <a:rPr lang="en-US" altLang="zh-CN" sz="1100" b="1" dirty="0">
                <a:latin typeface="仿宋" panose="02010609060101010101" pitchFamily="49" charset="-122"/>
                <a:ea typeface="仿宋" panose="02010609060101010101" pitchFamily="49" charset="-122"/>
                <a:sym typeface="Wingdings" panose="05000000000000000000" pitchFamily="2" charset="2"/>
              </a:rPr>
              <a:t>10V</a:t>
            </a:r>
            <a:r>
              <a:rPr lang="zh-CN" altLang="en-US" sz="1100" dirty="0">
                <a:latin typeface="仿宋" panose="02010609060101010101" pitchFamily="49" charset="-122"/>
                <a:ea typeface="仿宋" panose="02010609060101010101" pitchFamily="49" charset="-122"/>
                <a:sym typeface="Wingdings" panose="05000000000000000000" pitchFamily="2" charset="2"/>
              </a:rPr>
              <a:t>或者</a:t>
            </a:r>
            <a:r>
              <a:rPr lang="en-US" altLang="zh-CN" sz="1100" b="1" dirty="0">
                <a:latin typeface="仿宋" panose="02010609060101010101" pitchFamily="49" charset="-122"/>
                <a:ea typeface="仿宋" panose="02010609060101010101" pitchFamily="49" charset="-122"/>
              </a:rPr>
              <a:t>10V</a:t>
            </a:r>
            <a:r>
              <a:rPr lang="en-US" altLang="zh-CN" sz="1100" b="1" dirty="0">
                <a:latin typeface="仿宋" panose="02010609060101010101" pitchFamily="49" charset="-122"/>
                <a:ea typeface="仿宋" panose="02010609060101010101" pitchFamily="49" charset="-122"/>
                <a:sym typeface="Wingdings" panose="05000000000000000000" pitchFamily="2" charset="2"/>
              </a:rPr>
              <a:t>5V</a:t>
            </a:r>
            <a:r>
              <a:rPr lang="zh-CN" altLang="en-US" sz="1100" b="1" dirty="0">
                <a:latin typeface="仿宋" panose="02010609060101010101" pitchFamily="49" charset="-122"/>
                <a:ea typeface="仿宋" panose="02010609060101010101" pitchFamily="49" charset="-122"/>
                <a:sym typeface="Wingdings" panose="05000000000000000000" pitchFamily="2" charset="2"/>
              </a:rPr>
              <a:t>。</a:t>
            </a:r>
            <a:endParaRPr lang="en-US" altLang="zh-CN" sz="1100" b="1" dirty="0">
              <a:latin typeface="仿宋" panose="02010609060101010101" pitchFamily="49" charset="-122"/>
              <a:ea typeface="仿宋" panose="02010609060101010101" pitchFamily="49" charset="-122"/>
            </a:endParaRPr>
          </a:p>
          <a:p>
            <a:pPr marL="0" lvl="1" indent="180000" algn="just">
              <a:lnSpc>
                <a:spcPct val="150000"/>
              </a:lnSpc>
              <a:buSzPct val="70000"/>
              <a:buBlip>
                <a:blip r:embed="rId3"/>
              </a:buBlip>
            </a:pPr>
            <a:r>
              <a:rPr lang="zh-CN" altLang="en-US" sz="1200" b="1" dirty="0">
                <a:solidFill>
                  <a:srgbClr val="C00000"/>
                </a:solidFill>
                <a:latin typeface="仿宋" panose="02010609060101010101" pitchFamily="49" charset="-122"/>
                <a:ea typeface="仿宋" panose="02010609060101010101" pitchFamily="49" charset="-122"/>
              </a:rPr>
              <a:t>大功率快充</a:t>
            </a:r>
            <a:endParaRPr lang="zh-CN" altLang="zh-CN" sz="1200" b="1" dirty="0">
              <a:solidFill>
                <a:srgbClr val="C00000"/>
              </a:solidFill>
              <a:latin typeface="仿宋" panose="02010609060101010101" pitchFamily="49" charset="-122"/>
              <a:ea typeface="仿宋" panose="02010609060101010101" pitchFamily="49" charset="-122"/>
            </a:endParaRPr>
          </a:p>
          <a:p>
            <a:pPr marL="288000" lvl="1">
              <a:lnSpc>
                <a:spcPct val="150000"/>
              </a:lnSpc>
              <a:buSzPct val="70000"/>
            </a:pPr>
            <a:r>
              <a:rPr lang="zh-CN" altLang="en-US" sz="1100" b="1" dirty="0">
                <a:latin typeface="仿宋" panose="02010609060101010101" pitchFamily="49" charset="-122"/>
                <a:ea typeface="仿宋" panose="02010609060101010101" pitchFamily="49" charset="-122"/>
              </a:rPr>
              <a:t>高效率</a:t>
            </a:r>
            <a:r>
              <a:rPr lang="zh-CN" altLang="en-US" sz="1100" dirty="0">
                <a:latin typeface="仿宋" panose="02010609060101010101" pitchFamily="49" charset="-122"/>
                <a:ea typeface="仿宋" panose="02010609060101010101" pitchFamily="49" charset="-122"/>
              </a:rPr>
              <a:t>：</a:t>
            </a:r>
            <a:r>
              <a:rPr lang="en-US" altLang="zh-CN" sz="1100" dirty="0">
                <a:latin typeface="仿宋" panose="02010609060101010101" pitchFamily="49" charset="-122"/>
                <a:ea typeface="仿宋" panose="02010609060101010101" pitchFamily="49" charset="-122"/>
              </a:rPr>
              <a:t>vs. DC-DC</a:t>
            </a:r>
            <a:r>
              <a:rPr lang="zh-CN" altLang="en-US" sz="1100" dirty="0">
                <a:latin typeface="仿宋" panose="02010609060101010101" pitchFamily="49" charset="-122"/>
                <a:ea typeface="仿宋" panose="02010609060101010101" pitchFamily="49" charset="-122"/>
              </a:rPr>
              <a:t>的电感转换器的</a:t>
            </a:r>
            <a:r>
              <a:rPr lang="en-US" altLang="zh-CN" sz="1100" dirty="0">
                <a:latin typeface="仿宋" panose="02010609060101010101" pitchFamily="49" charset="-122"/>
                <a:ea typeface="仿宋" panose="02010609060101010101" pitchFamily="49" charset="-122"/>
              </a:rPr>
              <a:t>92%-93%</a:t>
            </a:r>
            <a:r>
              <a:rPr lang="zh-CN" altLang="en-US" sz="1100" dirty="0">
                <a:latin typeface="仿宋" panose="02010609060101010101" pitchFamily="49" charset="-122"/>
                <a:ea typeface="仿宋" panose="02010609060101010101" pitchFamily="49" charset="-122"/>
              </a:rPr>
              <a:t>；效率高达</a:t>
            </a:r>
            <a:r>
              <a:rPr lang="en-US" altLang="zh-CN" sz="1100" dirty="0">
                <a:latin typeface="仿宋" panose="02010609060101010101" pitchFamily="49" charset="-122"/>
                <a:ea typeface="仿宋" panose="02010609060101010101" pitchFamily="49" charset="-122"/>
              </a:rPr>
              <a:t>97%-98%</a:t>
            </a:r>
            <a:r>
              <a:rPr lang="zh-CN" altLang="en-US" sz="1100" dirty="0">
                <a:latin typeface="仿宋" panose="02010609060101010101" pitchFamily="49" charset="-122"/>
                <a:ea typeface="仿宋" panose="02010609060101010101" pitchFamily="49" charset="-122"/>
              </a:rPr>
              <a:t>，能量损失更小，发热更少；</a:t>
            </a:r>
            <a:endParaRPr lang="en-US" altLang="zh-CN" sz="1100" dirty="0">
              <a:latin typeface="仿宋" panose="02010609060101010101" pitchFamily="49" charset="-122"/>
              <a:ea typeface="仿宋" panose="02010609060101010101" pitchFamily="49" charset="-122"/>
            </a:endParaRPr>
          </a:p>
          <a:p>
            <a:pPr marL="288000" lvl="1">
              <a:lnSpc>
                <a:spcPct val="150000"/>
              </a:lnSpc>
              <a:buSzPct val="70000"/>
            </a:pPr>
            <a:r>
              <a:rPr lang="zh-CN" altLang="en-US" sz="1100" b="1" dirty="0">
                <a:latin typeface="仿宋" panose="02010609060101010101" pitchFamily="49" charset="-122"/>
                <a:ea typeface="仿宋" panose="02010609060101010101" pitchFamily="49" charset="-122"/>
              </a:rPr>
              <a:t>体积小</a:t>
            </a:r>
            <a:r>
              <a:rPr lang="zh-CN" altLang="en-US" sz="1100" dirty="0">
                <a:latin typeface="仿宋" panose="02010609060101010101" pitchFamily="49" charset="-122"/>
                <a:ea typeface="仿宋" panose="02010609060101010101" pitchFamily="49" charset="-122"/>
              </a:rPr>
              <a:t>：</a:t>
            </a:r>
            <a:r>
              <a:rPr lang="en-US" altLang="zh-CN" sz="1100" dirty="0">
                <a:latin typeface="仿宋" panose="02010609060101010101" pitchFamily="49" charset="-122"/>
                <a:ea typeface="仿宋" panose="02010609060101010101" pitchFamily="49" charset="-122"/>
              </a:rPr>
              <a:t>vs. DC-DC</a:t>
            </a:r>
            <a:r>
              <a:rPr lang="zh-CN" altLang="en-US" sz="1100" dirty="0">
                <a:latin typeface="仿宋" panose="02010609060101010101" pitchFamily="49" charset="-122"/>
                <a:ea typeface="仿宋" panose="02010609060101010101" pitchFamily="49" charset="-122"/>
              </a:rPr>
              <a:t>的电感转换器需要外挂电容等</a:t>
            </a:r>
            <a:r>
              <a:rPr lang="en-US" altLang="zh-CN" sz="1100" dirty="0">
                <a:latin typeface="仿宋" panose="02010609060101010101" pitchFamily="49" charset="-122"/>
                <a:ea typeface="仿宋" panose="02010609060101010101" pitchFamily="49" charset="-122"/>
              </a:rPr>
              <a:t>BOM</a:t>
            </a:r>
            <a:r>
              <a:rPr lang="zh-CN" altLang="en-US" sz="1100" dirty="0">
                <a:latin typeface="仿宋" panose="02010609060101010101" pitchFamily="49" charset="-122"/>
                <a:ea typeface="仿宋" panose="02010609060101010101" pitchFamily="49" charset="-122"/>
              </a:rPr>
              <a:t>多、面积大等问题；内置大电容，外围器件少；</a:t>
            </a:r>
            <a:endParaRPr lang="en-US" altLang="zh-CN" sz="1100" dirty="0">
              <a:latin typeface="仿宋" panose="02010609060101010101" pitchFamily="49" charset="-122"/>
              <a:ea typeface="仿宋" panose="02010609060101010101" pitchFamily="49" charset="-122"/>
            </a:endParaRPr>
          </a:p>
          <a:p>
            <a:pPr marL="288000" lvl="1">
              <a:lnSpc>
                <a:spcPct val="150000"/>
              </a:lnSpc>
              <a:buSzPct val="70000"/>
            </a:pPr>
            <a:r>
              <a:rPr lang="zh-CN" altLang="en-US" sz="1100" b="1" dirty="0">
                <a:latin typeface="仿宋" panose="02010609060101010101" pitchFamily="49" charset="-122"/>
                <a:ea typeface="仿宋" panose="02010609060101010101" pitchFamily="49" charset="-122"/>
              </a:rPr>
              <a:t>工作条件优</a:t>
            </a:r>
            <a:r>
              <a:rPr lang="zh-CN" altLang="en-US" sz="1100" dirty="0">
                <a:latin typeface="仿宋" panose="02010609060101010101" pitchFamily="49" charset="-122"/>
                <a:ea typeface="仿宋" panose="02010609060101010101" pitchFamily="49" charset="-122"/>
              </a:rPr>
              <a:t>：最低工作电压低至</a:t>
            </a:r>
            <a:r>
              <a:rPr lang="en-US" altLang="zh-CN" sz="1100" dirty="0">
                <a:latin typeface="仿宋" panose="02010609060101010101" pitchFamily="49" charset="-122"/>
                <a:ea typeface="仿宋" panose="02010609060101010101" pitchFamily="49" charset="-122"/>
              </a:rPr>
              <a:t>3V</a:t>
            </a:r>
            <a:r>
              <a:rPr lang="zh-CN" altLang="en-US" sz="1100" dirty="0">
                <a:latin typeface="仿宋" panose="02010609060101010101" pitchFamily="49" charset="-122"/>
                <a:ea typeface="仿宋" panose="02010609060101010101" pitchFamily="49" charset="-122"/>
              </a:rPr>
              <a:t>左右；</a:t>
            </a:r>
            <a:endParaRPr lang="en-US" altLang="zh-CN" sz="1100" dirty="0">
              <a:latin typeface="仿宋" panose="02010609060101010101" pitchFamily="49" charset="-122"/>
              <a:ea typeface="仿宋" panose="02010609060101010101" pitchFamily="49" charset="-122"/>
            </a:endParaRPr>
          </a:p>
          <a:p>
            <a:pPr marL="288000" lvl="1">
              <a:lnSpc>
                <a:spcPct val="150000"/>
              </a:lnSpc>
              <a:buSzPct val="70000"/>
            </a:pPr>
            <a:r>
              <a:rPr lang="zh-CN" altLang="en-US" sz="1100" b="1" dirty="0">
                <a:latin typeface="仿宋" panose="02010609060101010101" pitchFamily="49" charset="-122"/>
                <a:ea typeface="仿宋" panose="02010609060101010101" pitchFamily="49" charset="-122"/>
              </a:rPr>
              <a:t>噪声低、</a:t>
            </a:r>
            <a:r>
              <a:rPr lang="en-US" altLang="zh-CN" sz="1100" b="1" dirty="0">
                <a:latin typeface="仿宋" panose="02010609060101010101" pitchFamily="49" charset="-122"/>
                <a:ea typeface="仿宋" panose="02010609060101010101" pitchFamily="49" charset="-122"/>
              </a:rPr>
              <a:t>EMI</a:t>
            </a:r>
            <a:r>
              <a:rPr lang="zh-CN" altLang="en-US" sz="1100" b="1" dirty="0">
                <a:latin typeface="仿宋" panose="02010609060101010101" pitchFamily="49" charset="-122"/>
                <a:ea typeface="仿宋" panose="02010609060101010101" pitchFamily="49" charset="-122"/>
              </a:rPr>
              <a:t>低</a:t>
            </a:r>
            <a:r>
              <a:rPr lang="zh-CN" altLang="en-US" sz="1100" dirty="0">
                <a:latin typeface="仿宋" panose="02010609060101010101" pitchFamily="49" charset="-122"/>
                <a:ea typeface="仿宋" panose="02010609060101010101" pitchFamily="49" charset="-122"/>
              </a:rPr>
              <a:t>：只有电容充放电，没有电感的电磁场的变换，对电子领域的稳定性很重要。</a:t>
            </a:r>
            <a:endParaRPr lang="en-US" altLang="zh-CN" sz="1100" dirty="0">
              <a:latin typeface="仿宋" panose="02010609060101010101" pitchFamily="49" charset="-122"/>
              <a:ea typeface="仿宋" panose="02010609060101010101" pitchFamily="49" charset="-122"/>
            </a:endParaRPr>
          </a:p>
          <a:p>
            <a:pPr marL="0" lvl="1" indent="180000" algn="just">
              <a:lnSpc>
                <a:spcPct val="150000"/>
              </a:lnSpc>
              <a:buSzPct val="70000"/>
              <a:buBlip>
                <a:blip r:embed="rId3"/>
              </a:buBlip>
            </a:pPr>
            <a:r>
              <a:rPr lang="zh-CN" altLang="en-US" sz="1200" b="1" dirty="0">
                <a:solidFill>
                  <a:srgbClr val="C00000"/>
                </a:solidFill>
                <a:latin typeface="仿宋" panose="02010609060101010101" pitchFamily="49" charset="-122"/>
                <a:ea typeface="仿宋" panose="02010609060101010101" pitchFamily="49" charset="-122"/>
              </a:rPr>
              <a:t>高压小电流充电路线</a:t>
            </a:r>
            <a:endParaRPr lang="en-US" altLang="zh-CN" sz="1200" b="1" dirty="0">
              <a:solidFill>
                <a:srgbClr val="C00000"/>
              </a:solidFill>
              <a:latin typeface="仿宋" panose="02010609060101010101" pitchFamily="49" charset="-122"/>
              <a:ea typeface="仿宋" panose="02010609060101010101" pitchFamily="49" charset="-122"/>
            </a:endParaRPr>
          </a:p>
          <a:p>
            <a:pPr marL="288000" lvl="1">
              <a:lnSpc>
                <a:spcPct val="150000"/>
              </a:lnSpc>
              <a:buSzPct val="70000"/>
            </a:pPr>
            <a:r>
              <a:rPr lang="zh-CN" altLang="en-US" sz="1100" b="1" dirty="0">
                <a:latin typeface="仿宋" panose="02010609060101010101" pitchFamily="49" charset="-122"/>
                <a:ea typeface="仿宋" panose="02010609060101010101" pitchFamily="49" charset="-122"/>
              </a:rPr>
              <a:t>以</a:t>
            </a:r>
            <a:r>
              <a:rPr lang="en-US" altLang="zh-CN" sz="1100" b="1" dirty="0">
                <a:latin typeface="仿宋" panose="02010609060101010101" pitchFamily="49" charset="-122"/>
                <a:ea typeface="仿宋" panose="02010609060101010101" pitchFamily="49" charset="-122"/>
              </a:rPr>
              <a:t>10V</a:t>
            </a:r>
            <a:r>
              <a:rPr lang="zh-CN" altLang="en-US" sz="1100" b="1" dirty="0">
                <a:latin typeface="仿宋" panose="02010609060101010101" pitchFamily="49" charset="-122"/>
                <a:ea typeface="仿宋" panose="02010609060101010101" pitchFamily="49" charset="-122"/>
              </a:rPr>
              <a:t>转</a:t>
            </a:r>
            <a:r>
              <a:rPr lang="en-US" altLang="zh-CN" sz="1100" b="1" dirty="0">
                <a:latin typeface="仿宋" panose="02010609060101010101" pitchFamily="49" charset="-122"/>
                <a:ea typeface="仿宋" panose="02010609060101010101" pitchFamily="49" charset="-122"/>
              </a:rPr>
              <a:t>5V</a:t>
            </a:r>
            <a:r>
              <a:rPr lang="zh-CN" altLang="en-US" sz="1100" b="1" dirty="0">
                <a:latin typeface="仿宋" panose="02010609060101010101" pitchFamily="49" charset="-122"/>
                <a:ea typeface="仿宋" panose="02010609060101010101" pitchFamily="49" charset="-122"/>
              </a:rPr>
              <a:t>为例：</a:t>
            </a:r>
            <a:endParaRPr lang="en-US" altLang="zh-CN" sz="1100" b="1" dirty="0">
              <a:latin typeface="仿宋" panose="02010609060101010101" pitchFamily="49" charset="-122"/>
              <a:ea typeface="仿宋" panose="02010609060101010101" pitchFamily="49" charset="-122"/>
            </a:endParaRPr>
          </a:p>
        </p:txBody>
      </p:sp>
      <p:graphicFrame>
        <p:nvGraphicFramePr>
          <p:cNvPr id="5" name="表格 4">
            <a:extLst>
              <a:ext uri="{FF2B5EF4-FFF2-40B4-BE49-F238E27FC236}">
                <a16:creationId xmlns:a16="http://schemas.microsoft.com/office/drawing/2014/main" id="{A4C1AEA2-076A-42E5-9E6A-9EA7A84B6B69}"/>
              </a:ext>
            </a:extLst>
          </p:cNvPr>
          <p:cNvGraphicFramePr>
            <a:graphicFrameLocks noGrp="1"/>
          </p:cNvGraphicFramePr>
          <p:nvPr>
            <p:extLst>
              <p:ext uri="{D42A27DB-BD31-4B8C-83A1-F6EECF244321}">
                <p14:modId xmlns:p14="http://schemas.microsoft.com/office/powerpoint/2010/main" val="2515368361"/>
              </p:ext>
            </p:extLst>
          </p:nvPr>
        </p:nvGraphicFramePr>
        <p:xfrm>
          <a:off x="2771875" y="3219795"/>
          <a:ext cx="4668655" cy="1047750"/>
        </p:xfrm>
        <a:graphic>
          <a:graphicData uri="http://schemas.openxmlformats.org/drawingml/2006/table">
            <a:tbl>
              <a:tblPr/>
              <a:tblGrid>
                <a:gridCol w="380775">
                  <a:extLst>
                    <a:ext uri="{9D8B030D-6E8A-4147-A177-3AD203B41FA5}">
                      <a16:colId xmlns:a16="http://schemas.microsoft.com/office/drawing/2014/main" val="128404723"/>
                    </a:ext>
                  </a:extLst>
                </a:gridCol>
                <a:gridCol w="1008070">
                  <a:extLst>
                    <a:ext uri="{9D8B030D-6E8A-4147-A177-3AD203B41FA5}">
                      <a16:colId xmlns:a16="http://schemas.microsoft.com/office/drawing/2014/main" val="2855652507"/>
                    </a:ext>
                  </a:extLst>
                </a:gridCol>
                <a:gridCol w="503455">
                  <a:extLst>
                    <a:ext uri="{9D8B030D-6E8A-4147-A177-3AD203B41FA5}">
                      <a16:colId xmlns:a16="http://schemas.microsoft.com/office/drawing/2014/main" val="2684865069"/>
                    </a:ext>
                  </a:extLst>
                </a:gridCol>
                <a:gridCol w="1224665">
                  <a:extLst>
                    <a:ext uri="{9D8B030D-6E8A-4147-A177-3AD203B41FA5}">
                      <a16:colId xmlns:a16="http://schemas.microsoft.com/office/drawing/2014/main" val="3889132443"/>
                    </a:ext>
                  </a:extLst>
                </a:gridCol>
                <a:gridCol w="1551690">
                  <a:extLst>
                    <a:ext uri="{9D8B030D-6E8A-4147-A177-3AD203B41FA5}">
                      <a16:colId xmlns:a16="http://schemas.microsoft.com/office/drawing/2014/main" val="1059454391"/>
                    </a:ext>
                  </a:extLst>
                </a:gridCol>
              </a:tblGrid>
              <a:tr h="171450">
                <a:tc>
                  <a:txBody>
                    <a:bodyPr/>
                    <a:lstStyle/>
                    <a:p>
                      <a:pPr algn="ctr" fontAlgn="ctr"/>
                      <a:r>
                        <a:rPr lang="zh-CN" altLang="en-US" sz="1100" b="1" i="0" u="none" strike="noStrike" dirty="0">
                          <a:solidFill>
                            <a:srgbClr val="000000"/>
                          </a:solidFill>
                          <a:effectLst/>
                          <a:latin typeface="仿宋" panose="02010609060101010101" pitchFamily="49" charset="-122"/>
                          <a:ea typeface="仿宋" panose="02010609060101010101" pitchFamily="49" charset="-122"/>
                        </a:rPr>
                        <a:t>序号</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zh-CN" altLang="en-US" sz="1100" b="1" i="0" u="none" strike="noStrike">
                          <a:solidFill>
                            <a:srgbClr val="000000"/>
                          </a:solidFill>
                          <a:effectLst/>
                          <a:latin typeface="仿宋" panose="02010609060101010101" pitchFamily="49" charset="-122"/>
                          <a:ea typeface="仿宋" panose="02010609060101010101" pitchFamily="49" charset="-122"/>
                        </a:rPr>
                        <a:t>技术路线</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zh-CN" altLang="en-US" sz="1100" b="1" i="0" u="none" strike="noStrike">
                          <a:solidFill>
                            <a:srgbClr val="000000"/>
                          </a:solidFill>
                          <a:effectLst/>
                          <a:latin typeface="仿宋" panose="02010609060101010101" pitchFamily="49" charset="-122"/>
                          <a:ea typeface="仿宋" panose="02010609060101010101" pitchFamily="49" charset="-122"/>
                        </a:rPr>
                        <a:t>效率</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zh-CN" altLang="en-US" sz="1100" b="1" i="0" u="none" strike="noStrike">
                          <a:solidFill>
                            <a:srgbClr val="000000"/>
                          </a:solidFill>
                          <a:effectLst/>
                          <a:latin typeface="仿宋" panose="02010609060101010101" pitchFamily="49" charset="-122"/>
                          <a:ea typeface="仿宋" panose="02010609060101010101" pitchFamily="49" charset="-122"/>
                        </a:rPr>
                        <a:t>缺点</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zh-CN" altLang="en-US" sz="1100" b="1" i="0" u="none" strike="noStrike">
                          <a:solidFill>
                            <a:srgbClr val="000000"/>
                          </a:solidFill>
                          <a:effectLst/>
                          <a:latin typeface="仿宋" panose="02010609060101010101" pitchFamily="49" charset="-122"/>
                          <a:ea typeface="仿宋" panose="02010609060101010101" pitchFamily="49" charset="-122"/>
                        </a:rPr>
                        <a:t>优点</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extLst>
                  <a:ext uri="{0D108BD9-81ED-4DB2-BD59-A6C34878D82A}">
                    <a16:rowId xmlns:a16="http://schemas.microsoft.com/office/drawing/2014/main" val="112484948"/>
                  </a:ext>
                </a:extLst>
              </a:tr>
              <a:tr h="171450">
                <a:tc>
                  <a:txBody>
                    <a:bodyPr/>
                    <a:lstStyle/>
                    <a:p>
                      <a:pPr algn="ctr" fontAlgn="ctr"/>
                      <a:r>
                        <a:rPr lang="en-US" altLang="zh-CN" sz="1100" b="0" i="0" u="none" strike="noStrike">
                          <a:solidFill>
                            <a:srgbClr val="000000"/>
                          </a:solidFill>
                          <a:effectLst/>
                          <a:latin typeface="仿宋" panose="02010609060101010101" pitchFamily="49" charset="-122"/>
                          <a:ea typeface="仿宋" panose="02010609060101010101" pitchFamily="49" charset="-122"/>
                        </a:rPr>
                        <a:t>1</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仿宋" panose="02010609060101010101" pitchFamily="49" charset="-122"/>
                          <a:ea typeface="仿宋" panose="02010609060101010101" pitchFamily="49" charset="-122"/>
                        </a:rPr>
                        <a:t>LDO</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仿宋" panose="02010609060101010101" pitchFamily="49" charset="-122"/>
                          <a:ea typeface="仿宋" panose="02010609060101010101" pitchFamily="49" charset="-122"/>
                        </a:rPr>
                        <a:t>50%</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设计简单、低噪声、面积小</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fontAlgn="ctr"/>
                      <a:r>
                        <a:rPr lang="zh-CN" altLang="en-US" sz="1100" b="0" i="0" u="none" strike="noStrike" dirty="0">
                          <a:solidFill>
                            <a:srgbClr val="000000"/>
                          </a:solidFill>
                          <a:effectLst/>
                          <a:latin typeface="仿宋" panose="02010609060101010101" pitchFamily="49" charset="-122"/>
                          <a:ea typeface="仿宋" panose="02010609060101010101" pitchFamily="49" charset="-122"/>
                        </a:rPr>
                        <a:t>低效、只能降压、发热严重</a:t>
                      </a:r>
                      <a:r>
                        <a:rPr lang="en-US" altLang="zh-CN" sz="1100" b="0" i="0" u="none" strike="noStrike" dirty="0">
                          <a:solidFill>
                            <a:srgbClr val="000000"/>
                          </a:solidFill>
                          <a:effectLst/>
                          <a:latin typeface="仿宋" panose="02010609060101010101" pitchFamily="49" charset="-122"/>
                          <a:ea typeface="仿宋" panose="02010609060101010101" pitchFamily="49" charset="-122"/>
                        </a:rPr>
                        <a:t>&amp;</a:t>
                      </a:r>
                      <a:r>
                        <a:rPr lang="zh-CN" altLang="en-US" sz="1100" b="0" i="0" u="none" strike="noStrike" dirty="0">
                          <a:solidFill>
                            <a:srgbClr val="000000"/>
                          </a:solidFill>
                          <a:effectLst/>
                          <a:latin typeface="仿宋" panose="02010609060101010101" pitchFamily="49" charset="-122"/>
                          <a:ea typeface="仿宋" panose="02010609060101010101" pitchFamily="49" charset="-122"/>
                        </a:rPr>
                        <a:t>易爆炸</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369904474"/>
                  </a:ext>
                </a:extLst>
              </a:tr>
              <a:tr h="171450">
                <a:tc>
                  <a:txBody>
                    <a:bodyPr/>
                    <a:lstStyle/>
                    <a:p>
                      <a:pPr algn="ctr" fontAlgn="ctr"/>
                      <a:r>
                        <a:rPr lang="en-US" altLang="zh-CN" sz="1100" b="0" i="0" u="none" strike="noStrike">
                          <a:solidFill>
                            <a:srgbClr val="000000"/>
                          </a:solidFill>
                          <a:effectLst/>
                          <a:latin typeface="仿宋" panose="02010609060101010101" pitchFamily="49" charset="-122"/>
                          <a:ea typeface="仿宋" panose="02010609060101010101" pitchFamily="49" charset="-122"/>
                        </a:rPr>
                        <a:t>2</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仿宋" panose="02010609060101010101" pitchFamily="49" charset="-122"/>
                          <a:ea typeface="仿宋" panose="02010609060101010101" pitchFamily="49" charset="-122"/>
                        </a:rPr>
                        <a:t>Buck-Boost</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仿宋" panose="02010609060101010101" pitchFamily="49" charset="-122"/>
                          <a:ea typeface="仿宋" panose="02010609060101010101" pitchFamily="49" charset="-122"/>
                        </a:rPr>
                        <a:t>92%</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高效、大功率、客胜可将</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ctr" fontAlgn="ctr"/>
                      <a:r>
                        <a:rPr lang="zh-CN" altLang="en-US" sz="1100" b="0" i="0" u="none" strike="noStrike" dirty="0">
                          <a:solidFill>
                            <a:srgbClr val="000000"/>
                          </a:solidFill>
                          <a:effectLst/>
                          <a:latin typeface="仿宋" panose="02010609060101010101" pitchFamily="49" charset="-122"/>
                          <a:ea typeface="仿宋" panose="02010609060101010101" pitchFamily="49" charset="-122"/>
                        </a:rPr>
                        <a:t>需要电感</a:t>
                      </a:r>
                      <a:r>
                        <a:rPr lang="en-US" altLang="zh-CN" sz="1100" b="0" i="0" u="none" strike="noStrike" dirty="0">
                          <a:solidFill>
                            <a:srgbClr val="000000"/>
                          </a:solidFill>
                          <a:effectLst/>
                          <a:latin typeface="仿宋" panose="02010609060101010101" pitchFamily="49" charset="-122"/>
                          <a:ea typeface="仿宋" panose="02010609060101010101" pitchFamily="49" charset="-122"/>
                        </a:rPr>
                        <a:t>&amp;</a:t>
                      </a:r>
                      <a:r>
                        <a:rPr lang="zh-CN" altLang="en-US" sz="1100" b="0" i="0" u="none" strike="noStrike" dirty="0">
                          <a:solidFill>
                            <a:srgbClr val="000000"/>
                          </a:solidFill>
                          <a:effectLst/>
                          <a:latin typeface="仿宋" panose="02010609060101010101" pitchFamily="49" charset="-122"/>
                          <a:ea typeface="仿宋" panose="02010609060101010101" pitchFamily="49" charset="-122"/>
                        </a:rPr>
                        <a:t>面积大、设计复杂、噪声大</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340271339"/>
                  </a:ext>
                </a:extLst>
              </a:tr>
              <a:tr h="180975">
                <a:tc>
                  <a:txBody>
                    <a:bodyPr/>
                    <a:lstStyle/>
                    <a:p>
                      <a:pPr algn="ctr" fontAlgn="ctr"/>
                      <a:r>
                        <a:rPr lang="en-US" altLang="zh-CN" sz="1100" b="0" i="0" u="none" strike="noStrike">
                          <a:solidFill>
                            <a:srgbClr val="000000"/>
                          </a:solidFill>
                          <a:effectLst/>
                          <a:latin typeface="仿宋" panose="02010609060101010101" pitchFamily="49" charset="-122"/>
                          <a:ea typeface="仿宋" panose="02010609060101010101" pitchFamily="49" charset="-122"/>
                        </a:rPr>
                        <a:t>3</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仿宋" panose="02010609060101010101" pitchFamily="49" charset="-122"/>
                          <a:ea typeface="仿宋" panose="02010609060101010101" pitchFamily="49" charset="-122"/>
                        </a:rPr>
                        <a:t>Charge Pump</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fontAlgn="ctr"/>
                      <a:r>
                        <a:rPr lang="en-US" altLang="zh-CN" sz="1100" b="0" i="0" u="none" strike="noStrike" dirty="0">
                          <a:solidFill>
                            <a:srgbClr val="000000"/>
                          </a:solidFill>
                          <a:effectLst/>
                          <a:latin typeface="仿宋" panose="02010609060101010101" pitchFamily="49" charset="-122"/>
                          <a:ea typeface="仿宋" panose="02010609060101010101" pitchFamily="49" charset="-122"/>
                        </a:rPr>
                        <a:t>98%</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中小功率</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fontAlgn="ctr"/>
                      <a:r>
                        <a:rPr lang="zh-CN" altLang="en-US" sz="1100" b="0" i="0" u="none" strike="noStrike" dirty="0">
                          <a:solidFill>
                            <a:srgbClr val="000000"/>
                          </a:solidFill>
                          <a:effectLst/>
                          <a:latin typeface="仿宋" panose="02010609060101010101" pitchFamily="49" charset="-122"/>
                          <a:ea typeface="仿宋" panose="02010609060101010101" pitchFamily="49" charset="-122"/>
                        </a:rPr>
                        <a:t>体积小、效率高、</a:t>
                      </a:r>
                      <a:r>
                        <a:rPr lang="en-US" altLang="zh-CN" sz="1100" b="0" i="0" u="none" strike="noStrike" dirty="0">
                          <a:solidFill>
                            <a:srgbClr val="000000"/>
                          </a:solidFill>
                          <a:effectLst/>
                          <a:latin typeface="仿宋" panose="02010609060101010101" pitchFamily="49" charset="-122"/>
                          <a:ea typeface="仿宋" panose="02010609060101010101" pitchFamily="49" charset="-122"/>
                        </a:rPr>
                        <a:t>EMI</a:t>
                      </a:r>
                      <a:r>
                        <a:rPr lang="zh-CN" altLang="en-US" sz="1100" b="0" i="0" u="none" strike="noStrike" dirty="0">
                          <a:solidFill>
                            <a:srgbClr val="000000"/>
                          </a:solidFill>
                          <a:effectLst/>
                          <a:latin typeface="仿宋" panose="02010609060101010101" pitchFamily="49" charset="-122"/>
                          <a:ea typeface="仿宋" panose="02010609060101010101" pitchFamily="49" charset="-122"/>
                        </a:rPr>
                        <a:t>小</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907869576"/>
                  </a:ext>
                </a:extLst>
              </a:tr>
            </a:tbl>
          </a:graphicData>
        </a:graphic>
      </p:graphicFrame>
      <p:pic>
        <p:nvPicPr>
          <p:cNvPr id="9" name="图片 8">
            <a:extLst>
              <a:ext uri="{FF2B5EF4-FFF2-40B4-BE49-F238E27FC236}">
                <a16:creationId xmlns:a16="http://schemas.microsoft.com/office/drawing/2014/main" id="{B031463D-8A7E-4D65-AC5B-A4965BC237E0}"/>
              </a:ext>
            </a:extLst>
          </p:cNvPr>
          <p:cNvPicPr>
            <a:picLocks noChangeAspect="1"/>
          </p:cNvPicPr>
          <p:nvPr/>
        </p:nvPicPr>
        <p:blipFill>
          <a:blip r:embed="rId4"/>
          <a:stretch>
            <a:fillRect/>
          </a:stretch>
        </p:blipFill>
        <p:spPr>
          <a:xfrm>
            <a:off x="7092175" y="555610"/>
            <a:ext cx="1490853" cy="2298636"/>
          </a:xfrm>
          <a:prstGeom prst="rect">
            <a:avLst/>
          </a:prstGeom>
        </p:spPr>
      </p:pic>
    </p:spTree>
    <p:extLst>
      <p:ext uri="{BB962C8B-B14F-4D97-AF65-F5344CB8AC3E}">
        <p14:creationId xmlns:p14="http://schemas.microsoft.com/office/powerpoint/2010/main" val="2391850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4D9FFAA-3D1D-4AF6-A642-0C83D3E4178A}"/>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三、行业分析</a:t>
            </a:r>
            <a:r>
              <a:rPr lang="en-US" altLang="zh-CN" sz="2400" dirty="0">
                <a:solidFill>
                  <a:schemeClr val="bg1">
                    <a:lumMod val="50000"/>
                  </a:schemeClr>
                </a:solidFill>
              </a:rPr>
              <a:t>|</a:t>
            </a:r>
            <a:r>
              <a:rPr lang="zh-CN" altLang="en-US" sz="2000" dirty="0"/>
              <a:t>市场规模</a:t>
            </a:r>
            <a:endParaRPr lang="en-US" altLang="zh-CN" sz="2400" dirty="0"/>
          </a:p>
        </p:txBody>
      </p:sp>
      <p:sp>
        <p:nvSpPr>
          <p:cNvPr id="6" name="Rectangle 3">
            <a:extLst>
              <a:ext uri="{FF2B5EF4-FFF2-40B4-BE49-F238E27FC236}">
                <a16:creationId xmlns:a16="http://schemas.microsoft.com/office/drawing/2014/main" id="{C43A0259-48A0-455A-BEBA-F34E33C3CE9C}"/>
              </a:ext>
            </a:extLst>
          </p:cNvPr>
          <p:cNvSpPr txBox="1">
            <a:spLocks noChangeArrowheads="1"/>
          </p:cNvSpPr>
          <p:nvPr/>
        </p:nvSpPr>
        <p:spPr>
          <a:xfrm>
            <a:off x="395710" y="411599"/>
            <a:ext cx="8424585" cy="1872131"/>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indent="180000" algn="just">
              <a:lnSpc>
                <a:spcPct val="150000"/>
              </a:lnSpc>
              <a:buSzPct val="70000"/>
              <a:buBlip>
                <a:blip r:embed="rId3"/>
              </a:buBlip>
            </a:pPr>
            <a:r>
              <a:rPr lang="zh-CN" altLang="en-US" sz="1100" b="1" dirty="0">
                <a:solidFill>
                  <a:srgbClr val="0070C0"/>
                </a:solidFill>
                <a:latin typeface="仿宋" panose="02010609060101010101" pitchFamily="49" charset="-122"/>
                <a:ea typeface="仿宋" panose="02010609060101010101" pitchFamily="49" charset="-122"/>
              </a:rPr>
              <a:t>电源管理芯片</a:t>
            </a:r>
            <a:r>
              <a:rPr lang="en-US" altLang="zh-CN" sz="1100" b="1" dirty="0">
                <a:solidFill>
                  <a:srgbClr val="0070C0"/>
                </a:solidFill>
                <a:latin typeface="仿宋" panose="02010609060101010101" pitchFamily="49" charset="-122"/>
                <a:ea typeface="仿宋" panose="02010609060101010101" pitchFamily="49" charset="-122"/>
              </a:rPr>
              <a:t>PMIC</a:t>
            </a:r>
            <a:r>
              <a:rPr lang="zh-CN" altLang="zh-CN" sz="1100" b="1" dirty="0">
                <a:solidFill>
                  <a:srgbClr val="0070C0"/>
                </a:solidFill>
                <a:latin typeface="仿宋" panose="02010609060101010101" pitchFamily="49" charset="-122"/>
                <a:ea typeface="仿宋" panose="02010609060101010101" pitchFamily="49" charset="-122"/>
              </a:rPr>
              <a:t>市场</a:t>
            </a:r>
            <a:endParaRPr lang="en-US" altLang="zh-CN" sz="1050" dirty="0">
              <a:latin typeface="仿宋" panose="02010609060101010101" pitchFamily="49" charset="-122"/>
              <a:ea typeface="仿宋" panose="02010609060101010101" pitchFamily="49" charset="-122"/>
            </a:endParaRPr>
          </a:p>
          <a:p>
            <a:pPr marL="288000" lvl="1">
              <a:lnSpc>
                <a:spcPct val="150000"/>
              </a:lnSpc>
              <a:buSzPct val="70000"/>
            </a:pPr>
            <a:r>
              <a:rPr lang="zh-CN" altLang="zh-CN" sz="1050" dirty="0">
                <a:latin typeface="仿宋" panose="02010609060101010101" pitchFamily="49" charset="-122"/>
                <a:ea typeface="仿宋" panose="02010609060101010101" pitchFamily="49" charset="-122"/>
              </a:rPr>
              <a:t>国际市场调研机构</a:t>
            </a:r>
            <a:r>
              <a:rPr lang="en-US" altLang="zh-CN" sz="1050" dirty="0">
                <a:latin typeface="仿宋" panose="02010609060101010101" pitchFamily="49" charset="-122"/>
                <a:ea typeface="仿宋" panose="02010609060101010101" pitchFamily="49" charset="-122"/>
              </a:rPr>
              <a:t>TMR</a:t>
            </a:r>
            <a:r>
              <a:rPr lang="zh-CN" altLang="en-US" sz="1050" dirty="0">
                <a:latin typeface="仿宋" panose="02010609060101010101" pitchFamily="49" charset="-122"/>
                <a:ea typeface="仿宋" panose="02010609060101010101" pitchFamily="49" charset="-122"/>
              </a:rPr>
              <a:t>数据</a:t>
            </a:r>
            <a:r>
              <a:rPr lang="zh-CN" altLang="zh-CN" sz="1050" dirty="0">
                <a:latin typeface="仿宋" panose="02010609060101010101" pitchFamily="49" charset="-122"/>
                <a:ea typeface="仿宋" panose="02010609060101010101" pitchFamily="49" charset="-122"/>
              </a:rPr>
              <a:t>，到</a:t>
            </a:r>
            <a:r>
              <a:rPr lang="en-US" altLang="zh-CN" sz="1050" dirty="0">
                <a:solidFill>
                  <a:srgbClr val="C00000"/>
                </a:solidFill>
                <a:latin typeface="仿宋" panose="02010609060101010101" pitchFamily="49" charset="-122"/>
                <a:ea typeface="仿宋" panose="02010609060101010101" pitchFamily="49" charset="-122"/>
              </a:rPr>
              <a:t>2019</a:t>
            </a:r>
            <a:r>
              <a:rPr lang="zh-CN" altLang="zh-CN" sz="1050" dirty="0">
                <a:solidFill>
                  <a:srgbClr val="C00000"/>
                </a:solidFill>
                <a:latin typeface="仿宋" panose="02010609060101010101" pitchFamily="49" charset="-122"/>
                <a:ea typeface="仿宋" panose="02010609060101010101" pitchFamily="49" charset="-122"/>
              </a:rPr>
              <a:t>年全球</a:t>
            </a:r>
            <a:r>
              <a:rPr lang="en-US" altLang="zh-CN" sz="1050" dirty="0">
                <a:solidFill>
                  <a:srgbClr val="C00000"/>
                </a:solidFill>
                <a:latin typeface="仿宋" panose="02010609060101010101" pitchFamily="49" charset="-122"/>
                <a:ea typeface="仿宋" panose="02010609060101010101" pitchFamily="49" charset="-122"/>
              </a:rPr>
              <a:t>PMIC</a:t>
            </a:r>
            <a:r>
              <a:rPr lang="zh-CN" altLang="zh-CN" sz="1050" dirty="0">
                <a:solidFill>
                  <a:srgbClr val="C00000"/>
                </a:solidFill>
                <a:latin typeface="仿宋" panose="02010609060101010101" pitchFamily="49" charset="-122"/>
                <a:ea typeface="仿宋" panose="02010609060101010101" pitchFamily="49" charset="-122"/>
              </a:rPr>
              <a:t>市场规模将达到</a:t>
            </a:r>
            <a:r>
              <a:rPr lang="en-US" altLang="zh-CN" sz="1050" dirty="0">
                <a:solidFill>
                  <a:srgbClr val="C00000"/>
                </a:solidFill>
                <a:latin typeface="仿宋" panose="02010609060101010101" pitchFamily="49" charset="-122"/>
                <a:ea typeface="仿宋" panose="02010609060101010101" pitchFamily="49" charset="-122"/>
              </a:rPr>
              <a:t>470</a:t>
            </a:r>
            <a:r>
              <a:rPr lang="zh-CN" altLang="zh-CN" sz="1050" dirty="0">
                <a:solidFill>
                  <a:srgbClr val="C00000"/>
                </a:solidFill>
                <a:latin typeface="仿宋" panose="02010609060101010101" pitchFamily="49" charset="-122"/>
                <a:ea typeface="仿宋" panose="02010609060101010101" pitchFamily="49" charset="-122"/>
              </a:rPr>
              <a:t>亿美元</a:t>
            </a:r>
            <a:r>
              <a:rPr lang="zh-CN" altLang="zh-CN" sz="1050" dirty="0">
                <a:latin typeface="仿宋" panose="02010609060101010101" pitchFamily="49" charset="-122"/>
                <a:ea typeface="仿宋" panose="02010609060101010101" pitchFamily="49" charset="-122"/>
              </a:rPr>
              <a:t>左右，亚太地区承担主要的增长动力。</a:t>
            </a:r>
            <a:r>
              <a:rPr lang="zh-CN" altLang="en-US" sz="1050" dirty="0">
                <a:latin typeface="仿宋" panose="02010609060101010101" pitchFamily="49" charset="-122"/>
                <a:ea typeface="仿宋" panose="02010609060101010101" pitchFamily="49" charset="-122"/>
              </a:rPr>
              <a:t>预测</a:t>
            </a:r>
            <a:r>
              <a:rPr lang="en-US" altLang="zh-CN" sz="1050" dirty="0">
                <a:latin typeface="仿宋" panose="02010609060101010101" pitchFamily="49" charset="-122"/>
                <a:ea typeface="仿宋" panose="02010609060101010101" pitchFamily="49" charset="-122"/>
              </a:rPr>
              <a:t>2018</a:t>
            </a:r>
            <a:r>
              <a:rPr lang="zh-CN" altLang="zh-CN" sz="1050" dirty="0">
                <a:latin typeface="仿宋" panose="02010609060101010101" pitchFamily="49" charset="-122"/>
                <a:ea typeface="仿宋" panose="02010609060101010101" pitchFamily="49" charset="-122"/>
              </a:rPr>
              <a:t>年至</a:t>
            </a:r>
            <a:r>
              <a:rPr lang="en-US" altLang="zh-CN" sz="1050" dirty="0">
                <a:latin typeface="仿宋" panose="02010609060101010101" pitchFamily="49" charset="-122"/>
                <a:ea typeface="仿宋" panose="02010609060101010101" pitchFamily="49" charset="-122"/>
              </a:rPr>
              <a:t>2026</a:t>
            </a:r>
            <a:r>
              <a:rPr lang="zh-CN" altLang="zh-CN" sz="1050" dirty="0">
                <a:latin typeface="仿宋" panose="02010609060101010101" pitchFamily="49" charset="-122"/>
                <a:ea typeface="仿宋" panose="02010609060101010101" pitchFamily="49" charset="-122"/>
              </a:rPr>
              <a:t>年，全球</a:t>
            </a:r>
            <a:r>
              <a:rPr lang="en-US" altLang="zh-CN" sz="1050" dirty="0">
                <a:latin typeface="仿宋" panose="02010609060101010101" pitchFamily="49" charset="-122"/>
                <a:ea typeface="仿宋" panose="02010609060101010101" pitchFamily="49" charset="-122"/>
              </a:rPr>
              <a:t>PMIC</a:t>
            </a:r>
            <a:r>
              <a:rPr lang="zh-CN" altLang="zh-CN" sz="1050" dirty="0">
                <a:latin typeface="仿宋" panose="02010609060101010101" pitchFamily="49" charset="-122"/>
                <a:ea typeface="仿宋" panose="02010609060101010101" pitchFamily="49" charset="-122"/>
              </a:rPr>
              <a:t>市场</a:t>
            </a:r>
            <a:r>
              <a:rPr lang="en-US" altLang="zh-CN" sz="1050" dirty="0">
                <a:latin typeface="仿宋" panose="02010609060101010101" pitchFamily="49" charset="-122"/>
                <a:ea typeface="仿宋" panose="02010609060101010101" pitchFamily="49" charset="-122"/>
              </a:rPr>
              <a:t>CAGR</a:t>
            </a:r>
            <a:r>
              <a:rPr lang="zh-CN" altLang="zh-CN" sz="1050" dirty="0">
                <a:latin typeface="仿宋" panose="02010609060101010101" pitchFamily="49" charset="-122"/>
                <a:ea typeface="仿宋" panose="02010609060101010101" pitchFamily="49" charset="-122"/>
              </a:rPr>
              <a:t>将达</a:t>
            </a:r>
            <a:r>
              <a:rPr lang="en-US" altLang="zh-CN" sz="1050" dirty="0">
                <a:latin typeface="仿宋" panose="02010609060101010101" pitchFamily="49" charset="-122"/>
                <a:ea typeface="仿宋" panose="02010609060101010101" pitchFamily="49" charset="-122"/>
              </a:rPr>
              <a:t>10.69</a:t>
            </a:r>
            <a:r>
              <a:rPr lang="zh-CN" altLang="zh-CN" sz="1050" dirty="0">
                <a:latin typeface="仿宋" panose="02010609060101010101" pitchFamily="49" charset="-122"/>
                <a:ea typeface="仿宋" panose="02010609060101010101" pitchFamily="49" charset="-122"/>
              </a:rPr>
              <a:t>％</a:t>
            </a:r>
            <a:r>
              <a:rPr lang="zh-CN" altLang="en-US" sz="1050" dirty="0">
                <a:latin typeface="仿宋" panose="02010609060101010101" pitchFamily="49" charset="-122"/>
                <a:ea typeface="仿宋" panose="02010609060101010101" pitchFamily="49" charset="-122"/>
              </a:rPr>
              <a:t>；</a:t>
            </a:r>
            <a:r>
              <a:rPr lang="en-US" altLang="zh-CN" sz="1050" dirty="0">
                <a:latin typeface="仿宋" panose="02010609060101010101" pitchFamily="49" charset="-122"/>
                <a:ea typeface="仿宋" panose="02010609060101010101" pitchFamily="49" charset="-122"/>
                <a:sym typeface="Wingdings" panose="05000000000000000000" pitchFamily="2" charset="2"/>
              </a:rPr>
              <a:t></a:t>
            </a:r>
            <a:r>
              <a:rPr lang="en-US" altLang="zh-CN" sz="1050" b="0" i="0" dirty="0">
                <a:solidFill>
                  <a:srgbClr val="4C4A4A"/>
                </a:solidFill>
                <a:effectLst/>
                <a:latin typeface="Helvetica Neue"/>
              </a:rPr>
              <a:t> </a:t>
            </a:r>
            <a:r>
              <a:rPr lang="en-US" altLang="zh-CN" sz="1050" dirty="0">
                <a:latin typeface="仿宋" panose="02010609060101010101" pitchFamily="49" charset="-122"/>
                <a:ea typeface="仿宋" panose="02010609060101010101" pitchFamily="49" charset="-122"/>
              </a:rPr>
              <a:t>WSTS</a:t>
            </a:r>
            <a:r>
              <a:rPr lang="zh-CN" altLang="en-US" sz="1050" dirty="0">
                <a:latin typeface="仿宋" panose="02010609060101010101" pitchFamily="49" charset="-122"/>
                <a:ea typeface="仿宋" panose="02010609060101010101" pitchFamily="49" charset="-122"/>
              </a:rPr>
              <a:t>最新数据，</a:t>
            </a:r>
            <a:r>
              <a:rPr lang="en-US" altLang="zh-CN" sz="1100" dirty="0">
                <a:solidFill>
                  <a:srgbClr val="C00000"/>
                </a:solidFill>
                <a:latin typeface="仿宋" panose="02010609060101010101" pitchFamily="49" charset="-122"/>
                <a:ea typeface="仿宋" panose="02010609060101010101" pitchFamily="49" charset="-122"/>
              </a:rPr>
              <a:t>2021</a:t>
            </a:r>
            <a:r>
              <a:rPr lang="zh-CN" altLang="en-US" sz="1100" dirty="0">
                <a:solidFill>
                  <a:srgbClr val="C00000"/>
                </a:solidFill>
                <a:latin typeface="仿宋" panose="02010609060101010101" pitchFamily="49" charset="-122"/>
                <a:ea typeface="仿宋" panose="02010609060101010101" pitchFamily="49" charset="-122"/>
              </a:rPr>
              <a:t>模拟</a:t>
            </a:r>
            <a:r>
              <a:rPr lang="en-US" altLang="zh-CN" sz="1100" dirty="0">
                <a:solidFill>
                  <a:srgbClr val="C00000"/>
                </a:solidFill>
                <a:latin typeface="仿宋" panose="02010609060101010101" pitchFamily="49" charset="-122"/>
                <a:ea typeface="仿宋" panose="02010609060101010101" pitchFamily="49" charset="-122"/>
              </a:rPr>
              <a:t>IC</a:t>
            </a:r>
            <a:r>
              <a:rPr lang="zh-CN" altLang="en-US" sz="1100" dirty="0">
                <a:solidFill>
                  <a:srgbClr val="C00000"/>
                </a:solidFill>
                <a:latin typeface="仿宋" panose="02010609060101010101" pitchFamily="49" charset="-122"/>
                <a:ea typeface="仿宋" panose="02010609060101010101" pitchFamily="49" charset="-122"/>
              </a:rPr>
              <a:t>市场年增</a:t>
            </a:r>
            <a:r>
              <a:rPr lang="en-US" altLang="zh-CN" sz="1100" b="1" dirty="0">
                <a:solidFill>
                  <a:srgbClr val="C00000"/>
                </a:solidFill>
                <a:latin typeface="仿宋" panose="02010609060101010101" pitchFamily="49" charset="-122"/>
                <a:ea typeface="仿宋" panose="02010609060101010101" pitchFamily="49" charset="-122"/>
              </a:rPr>
              <a:t>21.7</a:t>
            </a:r>
            <a:r>
              <a:rPr lang="zh-CN" altLang="en-US" sz="1100" b="1" dirty="0">
                <a:solidFill>
                  <a:srgbClr val="C00000"/>
                </a:solidFill>
                <a:latin typeface="仿宋" panose="02010609060101010101" pitchFamily="49" charset="-122"/>
                <a:ea typeface="仿宋" panose="02010609060101010101" pitchFamily="49" charset="-122"/>
              </a:rPr>
              <a:t>％</a:t>
            </a:r>
            <a:r>
              <a:rPr lang="zh-CN" altLang="en-US" sz="1100" dirty="0">
                <a:solidFill>
                  <a:srgbClr val="C00000"/>
                </a:solidFill>
                <a:latin typeface="仿宋" panose="02010609060101010101" pitchFamily="49" charset="-122"/>
                <a:ea typeface="仿宋" panose="02010609060101010101" pitchFamily="49" charset="-122"/>
              </a:rPr>
              <a:t>。</a:t>
            </a:r>
            <a:endParaRPr lang="en-US" altLang="zh-CN" sz="1100" dirty="0">
              <a:latin typeface="仿宋" panose="02010609060101010101" pitchFamily="49" charset="-122"/>
              <a:ea typeface="仿宋" panose="02010609060101010101" pitchFamily="49" charset="-122"/>
            </a:endParaRPr>
          </a:p>
          <a:p>
            <a:pPr marL="288000" lvl="1">
              <a:lnSpc>
                <a:spcPct val="150000"/>
              </a:lnSpc>
              <a:buSzPct val="70000"/>
            </a:pPr>
            <a:r>
              <a:rPr lang="zh-CN" altLang="zh-CN" sz="1050" dirty="0">
                <a:latin typeface="仿宋" panose="02010609060101010101" pitchFamily="49" charset="-122"/>
                <a:ea typeface="仿宋" panose="02010609060101010101" pitchFamily="49" charset="-122"/>
              </a:rPr>
              <a:t>赛迪顾问数据，受益于国内智能家电、</a:t>
            </a:r>
            <a:r>
              <a:rPr lang="en-US" altLang="zh-CN" sz="1050" dirty="0">
                <a:latin typeface="仿宋" panose="02010609060101010101" pitchFamily="49" charset="-122"/>
                <a:ea typeface="仿宋" panose="02010609060101010101" pitchFamily="49" charset="-122"/>
              </a:rPr>
              <a:t>3C</a:t>
            </a:r>
            <a:r>
              <a:rPr lang="zh-CN" altLang="zh-CN" sz="1050" dirty="0">
                <a:latin typeface="仿宋" panose="02010609060101010101" pitchFamily="49" charset="-122"/>
                <a:ea typeface="仿宋" panose="02010609060101010101" pitchFamily="49" charset="-122"/>
              </a:rPr>
              <a:t>产品等领域持续增长</a:t>
            </a:r>
            <a:r>
              <a:rPr lang="zh-CN" altLang="en-US" sz="1050" dirty="0">
                <a:latin typeface="仿宋" panose="02010609060101010101" pitchFamily="49" charset="-122"/>
                <a:ea typeface="仿宋" panose="02010609060101010101" pitchFamily="49" charset="-122"/>
              </a:rPr>
              <a:t>，</a:t>
            </a:r>
            <a:r>
              <a:rPr lang="zh-CN" altLang="zh-CN" sz="1050" dirty="0">
                <a:solidFill>
                  <a:srgbClr val="C00000"/>
                </a:solidFill>
                <a:latin typeface="仿宋" panose="02010609060101010101" pitchFamily="49" charset="-122"/>
                <a:ea typeface="仿宋" panose="02010609060101010101" pitchFamily="49" charset="-122"/>
              </a:rPr>
              <a:t>国内</a:t>
            </a:r>
            <a:r>
              <a:rPr lang="en-US" altLang="zh-CN" sz="1050" dirty="0">
                <a:solidFill>
                  <a:srgbClr val="C00000"/>
                </a:solidFill>
                <a:latin typeface="仿宋" panose="02010609060101010101" pitchFamily="49" charset="-122"/>
                <a:ea typeface="仿宋" panose="02010609060101010101" pitchFamily="49" charset="-122"/>
              </a:rPr>
              <a:t>PMIC</a:t>
            </a:r>
            <a:r>
              <a:rPr lang="zh-CN" altLang="zh-CN" sz="1050" dirty="0">
                <a:solidFill>
                  <a:srgbClr val="C00000"/>
                </a:solidFill>
                <a:latin typeface="仿宋" panose="02010609060101010101" pitchFamily="49" charset="-122"/>
                <a:ea typeface="仿宋" panose="02010609060101010101" pitchFamily="49" charset="-122"/>
              </a:rPr>
              <a:t>市场</a:t>
            </a:r>
            <a:r>
              <a:rPr lang="zh-CN" altLang="zh-CN" sz="1050" dirty="0">
                <a:latin typeface="仿宋" panose="02010609060101010101" pitchFamily="49" charset="-122"/>
                <a:ea typeface="仿宋" panose="02010609060101010101" pitchFamily="49" charset="-122"/>
              </a:rPr>
              <a:t>规模由</a:t>
            </a:r>
            <a:r>
              <a:rPr lang="en-US" altLang="zh-CN" sz="1050" dirty="0">
                <a:latin typeface="仿宋" panose="02010609060101010101" pitchFamily="49" charset="-122"/>
                <a:ea typeface="仿宋" panose="02010609060101010101" pitchFamily="49" charset="-122"/>
              </a:rPr>
              <a:t>2012</a:t>
            </a:r>
            <a:r>
              <a:rPr lang="zh-CN" altLang="zh-CN" sz="1050" dirty="0">
                <a:latin typeface="仿宋" panose="02010609060101010101" pitchFamily="49" charset="-122"/>
                <a:ea typeface="仿宋" panose="02010609060101010101" pitchFamily="49" charset="-122"/>
              </a:rPr>
              <a:t>年的</a:t>
            </a:r>
            <a:r>
              <a:rPr lang="en-US" altLang="zh-CN" sz="1050" dirty="0">
                <a:latin typeface="仿宋" panose="02010609060101010101" pitchFamily="49" charset="-122"/>
                <a:ea typeface="仿宋" panose="02010609060101010101" pitchFamily="49" charset="-122"/>
              </a:rPr>
              <a:t>430.68</a:t>
            </a:r>
            <a:r>
              <a:rPr lang="zh-CN" altLang="zh-CN" sz="1050" dirty="0">
                <a:latin typeface="仿宋" panose="02010609060101010101" pitchFamily="49" charset="-122"/>
                <a:ea typeface="仿宋" panose="02010609060101010101" pitchFamily="49" charset="-122"/>
              </a:rPr>
              <a:t>亿元增长至</a:t>
            </a:r>
            <a:r>
              <a:rPr lang="en-US" altLang="zh-CN" sz="1050" dirty="0">
                <a:latin typeface="仿宋" panose="02010609060101010101" pitchFamily="49" charset="-122"/>
                <a:ea typeface="仿宋" panose="02010609060101010101" pitchFamily="49" charset="-122"/>
              </a:rPr>
              <a:t>2018</a:t>
            </a:r>
            <a:r>
              <a:rPr lang="zh-CN" altLang="zh-CN" sz="1050" dirty="0">
                <a:latin typeface="仿宋" panose="02010609060101010101" pitchFamily="49" charset="-122"/>
                <a:ea typeface="仿宋" panose="02010609060101010101" pitchFamily="49" charset="-122"/>
              </a:rPr>
              <a:t>年的</a:t>
            </a:r>
            <a:r>
              <a:rPr lang="en-US" altLang="zh-CN" sz="1050" dirty="0">
                <a:latin typeface="仿宋" panose="02010609060101010101" pitchFamily="49" charset="-122"/>
                <a:ea typeface="仿宋" panose="02010609060101010101" pitchFamily="49" charset="-122"/>
              </a:rPr>
              <a:t>681.53</a:t>
            </a:r>
            <a:r>
              <a:rPr lang="zh-CN" altLang="zh-CN" sz="1050" dirty="0">
                <a:latin typeface="仿宋" panose="02010609060101010101" pitchFamily="49" charset="-122"/>
                <a:ea typeface="仿宋" panose="02010609060101010101" pitchFamily="49" charset="-122"/>
              </a:rPr>
              <a:t>亿元，年均复合增长率为</a:t>
            </a:r>
            <a:r>
              <a:rPr lang="en-US" altLang="zh-CN" sz="1050" dirty="0">
                <a:latin typeface="仿宋" panose="02010609060101010101" pitchFamily="49" charset="-122"/>
                <a:ea typeface="仿宋" panose="02010609060101010101" pitchFamily="49" charset="-122"/>
              </a:rPr>
              <a:t>7.95%</a:t>
            </a:r>
            <a:r>
              <a:rPr lang="zh-CN" altLang="zh-CN" sz="1050" dirty="0">
                <a:latin typeface="仿宋" panose="02010609060101010101" pitchFamily="49" charset="-122"/>
                <a:ea typeface="仿宋" panose="02010609060101010101" pitchFamily="49" charset="-122"/>
              </a:rPr>
              <a:t>。</a:t>
            </a:r>
            <a:r>
              <a:rPr lang="zh-CN" altLang="en-US" sz="1050" dirty="0">
                <a:latin typeface="仿宋" panose="02010609060101010101" pitchFamily="49" charset="-122"/>
                <a:ea typeface="仿宋" panose="02010609060101010101" pitchFamily="49" charset="-122"/>
              </a:rPr>
              <a:t>预计</a:t>
            </a:r>
            <a:r>
              <a:rPr lang="en-US" altLang="zh-CN" sz="1050" dirty="0">
                <a:latin typeface="仿宋" panose="02010609060101010101" pitchFamily="49" charset="-122"/>
                <a:ea typeface="仿宋" panose="02010609060101010101" pitchFamily="49" charset="-122"/>
              </a:rPr>
              <a:t>2020</a:t>
            </a:r>
            <a:r>
              <a:rPr lang="zh-CN" altLang="en-US" sz="1050" dirty="0">
                <a:latin typeface="仿宋" panose="02010609060101010101" pitchFamily="49" charset="-122"/>
                <a:ea typeface="仿宋" panose="02010609060101010101" pitchFamily="49" charset="-122"/>
              </a:rPr>
              <a:t>年</a:t>
            </a:r>
            <a:r>
              <a:rPr lang="en-US" altLang="zh-CN" sz="1050" dirty="0">
                <a:latin typeface="仿宋" panose="02010609060101010101" pitchFamily="49" charset="-122"/>
                <a:ea typeface="仿宋" panose="02010609060101010101" pitchFamily="49" charset="-122"/>
              </a:rPr>
              <a:t>-2025</a:t>
            </a:r>
            <a:r>
              <a:rPr lang="zh-CN" altLang="en-US" sz="1050" dirty="0">
                <a:latin typeface="仿宋" panose="02010609060101010101" pitchFamily="49" charset="-122"/>
                <a:ea typeface="仿宋" panose="02010609060101010101" pitchFamily="49" charset="-122"/>
              </a:rPr>
              <a:t>年，国内</a:t>
            </a:r>
            <a:r>
              <a:rPr lang="en-US" altLang="zh-CN" sz="1050" dirty="0">
                <a:latin typeface="仿宋" panose="02010609060101010101" pitchFamily="49" charset="-122"/>
                <a:ea typeface="仿宋" panose="02010609060101010101" pitchFamily="49" charset="-122"/>
              </a:rPr>
              <a:t>PMIC</a:t>
            </a:r>
            <a:r>
              <a:rPr lang="zh-CN" altLang="zh-CN" sz="1050" dirty="0">
                <a:latin typeface="仿宋" panose="02010609060101010101" pitchFamily="49" charset="-122"/>
                <a:ea typeface="仿宋" panose="02010609060101010101" pitchFamily="49" charset="-122"/>
              </a:rPr>
              <a:t>市场</a:t>
            </a:r>
            <a:r>
              <a:rPr lang="en-US" altLang="zh-CN" sz="1050" dirty="0">
                <a:latin typeface="仿宋" panose="02010609060101010101" pitchFamily="49" charset="-122"/>
                <a:ea typeface="仿宋" panose="02010609060101010101" pitchFamily="49" charset="-122"/>
              </a:rPr>
              <a:t>CAGR</a:t>
            </a:r>
            <a:r>
              <a:rPr lang="zh-CN" altLang="zh-CN" sz="1050" dirty="0">
                <a:latin typeface="仿宋" panose="02010609060101010101" pitchFamily="49" charset="-122"/>
                <a:ea typeface="仿宋" panose="02010609060101010101" pitchFamily="49" charset="-122"/>
              </a:rPr>
              <a:t>将达</a:t>
            </a:r>
            <a:r>
              <a:rPr lang="en-US" altLang="zh-CN" sz="1050" dirty="0">
                <a:latin typeface="仿宋" panose="02010609060101010101" pitchFamily="49" charset="-122"/>
                <a:ea typeface="仿宋" panose="02010609060101010101" pitchFamily="49" charset="-122"/>
              </a:rPr>
              <a:t>15</a:t>
            </a:r>
            <a:r>
              <a:rPr lang="zh-CN" altLang="zh-CN" sz="1050" dirty="0">
                <a:latin typeface="仿宋" panose="02010609060101010101" pitchFamily="49" charset="-122"/>
                <a:ea typeface="仿宋" panose="02010609060101010101" pitchFamily="49" charset="-122"/>
              </a:rPr>
              <a:t>％</a:t>
            </a:r>
            <a:r>
              <a:rPr lang="zh-CN" altLang="en-US" sz="1050" dirty="0">
                <a:latin typeface="仿宋" panose="02010609060101010101" pitchFamily="49" charset="-122"/>
                <a:ea typeface="仿宋" panose="02010609060101010101" pitchFamily="49" charset="-122"/>
              </a:rPr>
              <a:t>左右。</a:t>
            </a:r>
            <a:endParaRPr lang="zh-CN" altLang="zh-CN" sz="1050" dirty="0">
              <a:solidFill>
                <a:srgbClr val="C00000"/>
              </a:solidFill>
              <a:latin typeface="仿宋" panose="02010609060101010101" pitchFamily="49" charset="-122"/>
              <a:ea typeface="仿宋" panose="02010609060101010101" pitchFamily="49" charset="-122"/>
            </a:endParaRPr>
          </a:p>
          <a:p>
            <a:pPr marL="288000" lvl="1">
              <a:lnSpc>
                <a:spcPct val="150000"/>
              </a:lnSpc>
              <a:buSzPct val="70000"/>
            </a:pPr>
            <a:r>
              <a:rPr lang="zh-CN" altLang="zh-CN" sz="1050" dirty="0">
                <a:latin typeface="仿宋" panose="02010609060101010101" pitchFamily="49" charset="-122"/>
                <a:ea typeface="仿宋" panose="02010609060101010101" pitchFamily="49" charset="-122"/>
              </a:rPr>
              <a:t>目前国内电源管理芯片市场的主要参与者仍主要为</a:t>
            </a:r>
            <a:r>
              <a:rPr lang="en-US" altLang="zh-CN" sz="1050" dirty="0">
                <a:latin typeface="仿宋" panose="02010609060101010101" pitchFamily="49" charset="-122"/>
                <a:ea typeface="仿宋" panose="02010609060101010101" pitchFamily="49" charset="-122"/>
              </a:rPr>
              <a:t>TI</a:t>
            </a:r>
            <a:r>
              <a:rPr lang="zh-CN" altLang="en-US" sz="1050" dirty="0">
                <a:latin typeface="仿宋" panose="02010609060101010101" pitchFamily="49" charset="-122"/>
                <a:ea typeface="仿宋" panose="02010609060101010101" pitchFamily="49" charset="-122"/>
              </a:rPr>
              <a:t>、</a:t>
            </a:r>
            <a:r>
              <a:rPr lang="en-US" altLang="zh-CN" sz="1050" dirty="0">
                <a:latin typeface="仿宋" panose="02010609060101010101" pitchFamily="49" charset="-122"/>
                <a:ea typeface="仿宋" panose="02010609060101010101" pitchFamily="49" charset="-122"/>
              </a:rPr>
              <a:t>ADI</a:t>
            </a:r>
            <a:r>
              <a:rPr lang="zh-CN" altLang="en-US" sz="1050" dirty="0">
                <a:latin typeface="仿宋" panose="02010609060101010101" pitchFamily="49" charset="-122"/>
                <a:ea typeface="仿宋" panose="02010609060101010101" pitchFamily="49" charset="-122"/>
              </a:rPr>
              <a:t>等</a:t>
            </a:r>
            <a:r>
              <a:rPr lang="zh-CN" altLang="zh-CN" sz="1050" dirty="0">
                <a:solidFill>
                  <a:srgbClr val="C00000"/>
                </a:solidFill>
                <a:latin typeface="仿宋" panose="02010609060101010101" pitchFamily="49" charset="-122"/>
                <a:ea typeface="仿宋" panose="02010609060101010101" pitchFamily="49" charset="-122"/>
              </a:rPr>
              <a:t>欧美企业，占据了</a:t>
            </a:r>
            <a:r>
              <a:rPr lang="en-US" altLang="zh-CN" sz="1050" dirty="0">
                <a:solidFill>
                  <a:srgbClr val="C00000"/>
                </a:solidFill>
                <a:latin typeface="仿宋" panose="02010609060101010101" pitchFamily="49" charset="-122"/>
                <a:ea typeface="仿宋" panose="02010609060101010101" pitchFamily="49" charset="-122"/>
              </a:rPr>
              <a:t>80%</a:t>
            </a:r>
            <a:r>
              <a:rPr lang="zh-CN" altLang="zh-CN" sz="1050" dirty="0">
                <a:solidFill>
                  <a:srgbClr val="C00000"/>
                </a:solidFill>
                <a:latin typeface="仿宋" panose="02010609060101010101" pitchFamily="49" charset="-122"/>
                <a:ea typeface="仿宋" panose="02010609060101010101" pitchFamily="49" charset="-122"/>
              </a:rPr>
              <a:t>以上的市场份额</a:t>
            </a:r>
            <a:r>
              <a:rPr lang="zh-CN" altLang="en-US" sz="1050" dirty="0">
                <a:latin typeface="仿宋" panose="02010609060101010101" pitchFamily="49" charset="-122"/>
                <a:ea typeface="仿宋" panose="02010609060101010101" pitchFamily="49" charset="-122"/>
              </a:rPr>
              <a:t>；</a:t>
            </a:r>
            <a:r>
              <a:rPr lang="zh-CN" altLang="zh-CN" sz="1050" dirty="0">
                <a:latin typeface="仿宋" panose="02010609060101010101" pitchFamily="49" charset="-122"/>
                <a:ea typeface="仿宋" panose="02010609060101010101" pitchFamily="49" charset="-122"/>
              </a:rPr>
              <a:t>国内主要厂商包括士兰微、上海贝岭、韦尔股份、芯朋微、富满电子、</a:t>
            </a:r>
            <a:r>
              <a:rPr lang="zh-CN" altLang="en-US" sz="1050" dirty="0">
                <a:latin typeface="仿宋" panose="02010609060101010101" pitchFamily="49" charset="-122"/>
                <a:ea typeface="仿宋" panose="02010609060101010101" pitchFamily="49" charset="-122"/>
              </a:rPr>
              <a:t>大瞬科技</a:t>
            </a:r>
            <a:r>
              <a:rPr lang="zh-CN" altLang="zh-CN" sz="1050" dirty="0">
                <a:latin typeface="仿宋" panose="02010609060101010101" pitchFamily="49" charset="-122"/>
                <a:ea typeface="仿宋" panose="02010609060101010101" pitchFamily="49" charset="-122"/>
              </a:rPr>
              <a:t>等，</a:t>
            </a:r>
            <a:r>
              <a:rPr lang="zh-CN" altLang="zh-CN" sz="1050" dirty="0">
                <a:solidFill>
                  <a:srgbClr val="C00000"/>
                </a:solidFill>
                <a:latin typeface="仿宋" panose="02010609060101010101" pitchFamily="49" charset="-122"/>
                <a:ea typeface="仿宋" panose="02010609060101010101" pitchFamily="49" charset="-122"/>
              </a:rPr>
              <a:t>各家公司的市场占有率均不到</a:t>
            </a:r>
            <a:r>
              <a:rPr lang="en-US" altLang="zh-CN" sz="1050" dirty="0">
                <a:solidFill>
                  <a:srgbClr val="C00000"/>
                </a:solidFill>
                <a:latin typeface="仿宋" panose="02010609060101010101" pitchFamily="49" charset="-122"/>
                <a:ea typeface="仿宋" panose="02010609060101010101" pitchFamily="49" charset="-122"/>
              </a:rPr>
              <a:t>1%</a:t>
            </a:r>
            <a:r>
              <a:rPr lang="zh-CN" altLang="zh-CN" sz="1050" dirty="0">
                <a:solidFill>
                  <a:srgbClr val="C00000"/>
                </a:solidFill>
                <a:latin typeface="仿宋" panose="02010609060101010101" pitchFamily="49" charset="-122"/>
                <a:ea typeface="仿宋" panose="02010609060101010101" pitchFamily="49" charset="-122"/>
              </a:rPr>
              <a:t>。</a:t>
            </a:r>
            <a:endParaRPr lang="en-US" altLang="zh-CN" sz="1050" dirty="0">
              <a:solidFill>
                <a:srgbClr val="C00000"/>
              </a:solidFill>
              <a:latin typeface="仿宋" panose="02010609060101010101" pitchFamily="49" charset="-122"/>
              <a:ea typeface="仿宋" panose="02010609060101010101" pitchFamily="49" charset="-122"/>
            </a:endParaRPr>
          </a:p>
        </p:txBody>
      </p:sp>
      <p:pic>
        <p:nvPicPr>
          <p:cNvPr id="2" name="图片 1">
            <a:extLst>
              <a:ext uri="{FF2B5EF4-FFF2-40B4-BE49-F238E27FC236}">
                <a16:creationId xmlns:a16="http://schemas.microsoft.com/office/drawing/2014/main" id="{22B4B9B0-B4E3-4099-9F7B-B9FFB8884801}"/>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4608002" y="2279434"/>
            <a:ext cx="4176290" cy="2736190"/>
          </a:xfrm>
          <a:prstGeom prst="rect">
            <a:avLst/>
          </a:prstGeom>
          <a:noFill/>
          <a:ln>
            <a:noFill/>
          </a:ln>
        </p:spPr>
      </p:pic>
      <p:graphicFrame>
        <p:nvGraphicFramePr>
          <p:cNvPr id="5" name="图表 4">
            <a:extLst>
              <a:ext uri="{FF2B5EF4-FFF2-40B4-BE49-F238E27FC236}">
                <a16:creationId xmlns:a16="http://schemas.microsoft.com/office/drawing/2014/main" id="{393C8F7F-B1E8-4772-A194-A1B9A74B8A15}"/>
              </a:ext>
            </a:extLst>
          </p:cNvPr>
          <p:cNvGraphicFramePr/>
          <p:nvPr>
            <p:extLst>
              <p:ext uri="{D42A27DB-BD31-4B8C-83A1-F6EECF244321}">
                <p14:modId xmlns:p14="http://schemas.microsoft.com/office/powerpoint/2010/main" val="490278457"/>
              </p:ext>
            </p:extLst>
          </p:nvPr>
        </p:nvGraphicFramePr>
        <p:xfrm>
          <a:off x="683730" y="2378275"/>
          <a:ext cx="3642360" cy="2331085"/>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0062078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4D9FFAA-3D1D-4AF6-A642-0C83D3E4178A}"/>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三、行业分析</a:t>
            </a:r>
            <a:r>
              <a:rPr lang="en-US" altLang="zh-CN" sz="2400" dirty="0">
                <a:solidFill>
                  <a:schemeClr val="bg1">
                    <a:lumMod val="50000"/>
                  </a:schemeClr>
                </a:solidFill>
              </a:rPr>
              <a:t>|</a:t>
            </a:r>
            <a:r>
              <a:rPr lang="zh-CN" altLang="en-US" sz="2000" dirty="0"/>
              <a:t>细分市场规模</a:t>
            </a:r>
            <a:endParaRPr lang="en-US" altLang="zh-CN" sz="2400" dirty="0"/>
          </a:p>
        </p:txBody>
      </p:sp>
      <p:sp>
        <p:nvSpPr>
          <p:cNvPr id="6" name="Rectangle 3">
            <a:extLst>
              <a:ext uri="{FF2B5EF4-FFF2-40B4-BE49-F238E27FC236}">
                <a16:creationId xmlns:a16="http://schemas.microsoft.com/office/drawing/2014/main" id="{C43A0259-48A0-455A-BEBA-F34E33C3CE9C}"/>
              </a:ext>
            </a:extLst>
          </p:cNvPr>
          <p:cNvSpPr txBox="1">
            <a:spLocks noChangeArrowheads="1"/>
          </p:cNvSpPr>
          <p:nvPr/>
        </p:nvSpPr>
        <p:spPr>
          <a:xfrm>
            <a:off x="395710" y="411599"/>
            <a:ext cx="8424585" cy="3168221"/>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lvl="1" indent="180000" algn="just">
              <a:lnSpc>
                <a:spcPct val="150000"/>
              </a:lnSpc>
              <a:buSzPct val="70000"/>
              <a:buBlip>
                <a:blip r:embed="rId3"/>
              </a:buBlip>
            </a:pPr>
            <a:r>
              <a:rPr lang="zh-CN" altLang="en-US" sz="1200" b="1" dirty="0">
                <a:solidFill>
                  <a:srgbClr val="C00000"/>
                </a:solidFill>
                <a:latin typeface="仿宋" panose="02010609060101010101" pitchFamily="49" charset="-122"/>
                <a:ea typeface="仿宋" panose="02010609060101010101" pitchFamily="49" charset="-122"/>
              </a:rPr>
              <a:t>智能手机市场</a:t>
            </a:r>
            <a:endParaRPr lang="en-US" altLang="zh-CN" sz="1200" b="1" dirty="0">
              <a:solidFill>
                <a:srgbClr val="C00000"/>
              </a:solidFill>
              <a:latin typeface="仿宋" panose="02010609060101010101" pitchFamily="49" charset="-122"/>
              <a:ea typeface="仿宋" panose="02010609060101010101" pitchFamily="49" charset="-122"/>
            </a:endParaRPr>
          </a:p>
          <a:p>
            <a:pPr marL="288000" lvl="1">
              <a:lnSpc>
                <a:spcPct val="125000"/>
              </a:lnSpc>
              <a:buSzPct val="70000"/>
            </a:pPr>
            <a:r>
              <a:rPr lang="zh-CN" altLang="en-US" sz="1100" dirty="0">
                <a:latin typeface="仿宋" panose="02010609060101010101" pitchFamily="49" charset="-122"/>
                <a:ea typeface="仿宋" panose="02010609060101010101" pitchFamily="49" charset="-122"/>
              </a:rPr>
              <a:t>根据</a:t>
            </a:r>
            <a:r>
              <a:rPr lang="en-US" altLang="zh-CN" sz="1100" dirty="0" err="1">
                <a:latin typeface="仿宋" panose="02010609060101010101" pitchFamily="49" charset="-122"/>
                <a:ea typeface="仿宋" panose="02010609060101010101" pitchFamily="49" charset="-122"/>
              </a:rPr>
              <a:t>Digitimes</a:t>
            </a:r>
            <a:r>
              <a:rPr lang="zh-CN" altLang="en-US" sz="1100" dirty="0">
                <a:latin typeface="仿宋" panose="02010609060101010101" pitchFamily="49" charset="-122"/>
                <a:ea typeface="仿宋" panose="02010609060101010101" pitchFamily="49" charset="-122"/>
              </a:rPr>
              <a:t>数据，</a:t>
            </a:r>
            <a:r>
              <a:rPr lang="en-US" altLang="zh-CN" sz="1100" dirty="0">
                <a:latin typeface="仿宋" panose="02010609060101010101" pitchFamily="49" charset="-122"/>
                <a:ea typeface="仿宋" panose="02010609060101010101" pitchFamily="49" charset="-122"/>
              </a:rPr>
              <a:t>2020</a:t>
            </a:r>
            <a:r>
              <a:rPr lang="zh-CN" altLang="en-US" sz="1100" dirty="0">
                <a:latin typeface="仿宋" panose="02010609060101010101" pitchFamily="49" charset="-122"/>
                <a:ea typeface="仿宋" panose="02010609060101010101" pitchFamily="49" charset="-122"/>
              </a:rPr>
              <a:t>年全球智能手机出货</a:t>
            </a:r>
            <a:r>
              <a:rPr lang="en-US" altLang="zh-CN" sz="1100" dirty="0">
                <a:latin typeface="仿宋" panose="02010609060101010101" pitchFamily="49" charset="-122"/>
                <a:ea typeface="仿宋" panose="02010609060101010101" pitchFamily="49" charset="-122"/>
              </a:rPr>
              <a:t>12.4</a:t>
            </a:r>
            <a:r>
              <a:rPr lang="zh-CN" altLang="en-US" sz="1100" dirty="0">
                <a:latin typeface="仿宋" panose="02010609060101010101" pitchFamily="49" charset="-122"/>
                <a:ea typeface="仿宋" panose="02010609060101010101" pitchFamily="49" charset="-122"/>
              </a:rPr>
              <a:t>亿部；</a:t>
            </a:r>
            <a:r>
              <a:rPr lang="en-US" altLang="zh-CN" sz="1100" dirty="0">
                <a:latin typeface="仿宋" panose="02010609060101010101" pitchFamily="49" charset="-122"/>
                <a:ea typeface="仿宋" panose="02010609060101010101" pitchFamily="49" charset="-122"/>
              </a:rPr>
              <a:t> Strategy</a:t>
            </a:r>
            <a:r>
              <a:rPr lang="zh-CN" altLang="en-US" sz="1100" dirty="0">
                <a:latin typeface="仿宋" panose="02010609060101010101" pitchFamily="49" charset="-122"/>
                <a:ea typeface="仿宋" panose="02010609060101010101" pitchFamily="49" charset="-122"/>
              </a:rPr>
              <a:t>预计</a:t>
            </a:r>
            <a:r>
              <a:rPr lang="en-US" altLang="zh-CN" sz="1100" dirty="0">
                <a:latin typeface="仿宋" panose="02010609060101010101" pitchFamily="49" charset="-122"/>
                <a:ea typeface="仿宋" panose="02010609060101010101" pitchFamily="49" charset="-122"/>
              </a:rPr>
              <a:t>2021</a:t>
            </a:r>
            <a:r>
              <a:rPr lang="zh-CN" altLang="en-US" sz="1100" dirty="0">
                <a:latin typeface="仿宋" panose="02010609060101010101" pitchFamily="49" charset="-122"/>
                <a:ea typeface="仿宋" panose="02010609060101010101" pitchFamily="49" charset="-122"/>
              </a:rPr>
              <a:t>年</a:t>
            </a:r>
            <a:r>
              <a:rPr lang="zh-CN" altLang="zh-CN" sz="1100" dirty="0">
                <a:latin typeface="仿宋" panose="02010609060101010101" pitchFamily="49" charset="-122"/>
                <a:ea typeface="仿宋" panose="02010609060101010101" pitchFamily="49" charset="-122"/>
              </a:rPr>
              <a:t>全球智能手机出货量达到</a:t>
            </a:r>
            <a:r>
              <a:rPr lang="en-US" altLang="zh-CN" sz="1100" b="1" dirty="0">
                <a:latin typeface="仿宋" panose="02010609060101010101" pitchFamily="49" charset="-122"/>
                <a:ea typeface="仿宋" panose="02010609060101010101" pitchFamily="49" charset="-122"/>
              </a:rPr>
              <a:t>13.8</a:t>
            </a:r>
            <a:r>
              <a:rPr lang="zh-CN" altLang="zh-CN" sz="1100" b="1" dirty="0">
                <a:latin typeface="仿宋" panose="02010609060101010101" pitchFamily="49" charset="-122"/>
                <a:ea typeface="仿宋" panose="02010609060101010101" pitchFamily="49" charset="-122"/>
              </a:rPr>
              <a:t>亿台</a:t>
            </a:r>
            <a:r>
              <a:rPr lang="zh-CN" altLang="zh-CN" sz="1100" dirty="0">
                <a:latin typeface="仿宋" panose="02010609060101010101" pitchFamily="49" charset="-122"/>
                <a:ea typeface="仿宋" panose="02010609060101010101" pitchFamily="49" charset="-122"/>
              </a:rPr>
              <a:t>。根据</a:t>
            </a:r>
            <a:r>
              <a:rPr lang="en-US" altLang="zh-CN" sz="1100" dirty="0">
                <a:latin typeface="仿宋" panose="02010609060101010101" pitchFamily="49" charset="-122"/>
                <a:ea typeface="仿宋" panose="02010609060101010101" pitchFamily="49" charset="-122"/>
              </a:rPr>
              <a:t>IDC</a:t>
            </a:r>
            <a:r>
              <a:rPr lang="zh-CN" altLang="zh-CN" sz="1100" dirty="0">
                <a:latin typeface="仿宋" panose="02010609060101010101" pitchFamily="49" charset="-122"/>
                <a:ea typeface="仿宋" panose="02010609060101010101" pitchFamily="49" charset="-122"/>
              </a:rPr>
              <a:t>数据，</a:t>
            </a:r>
            <a:r>
              <a:rPr lang="en-US" altLang="zh-CN" sz="1100" dirty="0">
                <a:latin typeface="仿宋" panose="02010609060101010101" pitchFamily="49" charset="-122"/>
                <a:ea typeface="仿宋" panose="02010609060101010101" pitchFamily="49" charset="-122"/>
              </a:rPr>
              <a:t>2020</a:t>
            </a:r>
            <a:r>
              <a:rPr lang="zh-CN" altLang="en-US" sz="1100" dirty="0">
                <a:latin typeface="仿宋" panose="02010609060101010101" pitchFamily="49" charset="-122"/>
                <a:ea typeface="仿宋" panose="02010609060101010101" pitchFamily="49" charset="-122"/>
              </a:rPr>
              <a:t>年全年的中国智能手机市场出货量接近</a:t>
            </a:r>
            <a:r>
              <a:rPr lang="en-US" altLang="zh-CN" sz="1100" dirty="0">
                <a:latin typeface="仿宋" panose="02010609060101010101" pitchFamily="49" charset="-122"/>
                <a:ea typeface="仿宋" panose="02010609060101010101" pitchFamily="49" charset="-122"/>
              </a:rPr>
              <a:t>3.26</a:t>
            </a:r>
            <a:r>
              <a:rPr lang="zh-CN" altLang="en-US" sz="1100" dirty="0">
                <a:latin typeface="仿宋" panose="02010609060101010101" pitchFamily="49" charset="-122"/>
                <a:ea typeface="仿宋" panose="02010609060101010101" pitchFamily="49" charset="-122"/>
              </a:rPr>
              <a:t>亿部。</a:t>
            </a:r>
            <a:endParaRPr lang="en-US" altLang="zh-CN" sz="1100" dirty="0">
              <a:latin typeface="仿宋" panose="02010609060101010101" pitchFamily="49" charset="-122"/>
              <a:ea typeface="仿宋" panose="02010609060101010101" pitchFamily="49" charset="-122"/>
            </a:endParaRPr>
          </a:p>
          <a:p>
            <a:pPr marL="288000" lvl="1">
              <a:lnSpc>
                <a:spcPct val="125000"/>
              </a:lnSpc>
              <a:buSzPct val="70000"/>
            </a:pPr>
            <a:r>
              <a:rPr lang="en-US" altLang="zh-CN" sz="1100" kern="100" dirty="0" err="1">
                <a:effectLst/>
                <a:latin typeface="仿宋" panose="02010609060101010101" pitchFamily="49" charset="-122"/>
                <a:ea typeface="仿宋" panose="02010609060101010101" pitchFamily="49" charset="-122"/>
                <a:cs typeface="Times New Roman" panose="02020603050405020304" pitchFamily="18" charset="0"/>
              </a:rPr>
              <a:t>Digitimes</a:t>
            </a:r>
            <a:r>
              <a:rPr lang="en-US" altLang="zh-CN" sz="1100" kern="100" dirty="0">
                <a:effectLst/>
                <a:latin typeface="仿宋" panose="02010609060101010101" pitchFamily="49" charset="-122"/>
                <a:ea typeface="仿宋" panose="02010609060101010101" pitchFamily="49" charset="-122"/>
                <a:cs typeface="Times New Roman" panose="02020603050405020304" pitchFamily="18" charset="0"/>
              </a:rPr>
              <a:t> Research</a:t>
            </a:r>
            <a:r>
              <a:rPr lang="zh-CN" altLang="zh-CN" sz="1100" kern="100" dirty="0">
                <a:effectLst/>
                <a:latin typeface="仿宋" panose="02010609060101010101" pitchFamily="49" charset="-122"/>
                <a:ea typeface="仿宋" panose="02010609060101010101" pitchFamily="49" charset="-122"/>
                <a:cs typeface="Times New Roman" panose="02020603050405020304" pitchFamily="18" charset="0"/>
              </a:rPr>
              <a:t>数据显示，</a:t>
            </a:r>
            <a:r>
              <a:rPr lang="en-US" altLang="zh-CN" sz="1100" kern="100" dirty="0">
                <a:effectLst/>
                <a:latin typeface="仿宋" panose="02010609060101010101" pitchFamily="49" charset="-122"/>
                <a:ea typeface="仿宋" panose="02010609060101010101" pitchFamily="49" charset="-122"/>
                <a:cs typeface="Times New Roman" panose="02020603050405020304" pitchFamily="18" charset="0"/>
              </a:rPr>
              <a:t>2020</a:t>
            </a:r>
            <a:r>
              <a:rPr lang="zh-CN" altLang="zh-CN" sz="1100" kern="100" dirty="0">
                <a:effectLst/>
                <a:latin typeface="仿宋" panose="02010609060101010101" pitchFamily="49" charset="-122"/>
                <a:ea typeface="仿宋" panose="02010609060101010101" pitchFamily="49" charset="-122"/>
                <a:cs typeface="Times New Roman" panose="02020603050405020304" pitchFamily="18" charset="0"/>
              </a:rPr>
              <a:t>年全球</a:t>
            </a:r>
            <a:r>
              <a:rPr lang="en-US" altLang="zh-CN" sz="1100" kern="100" dirty="0">
                <a:effectLst/>
                <a:latin typeface="仿宋" panose="02010609060101010101" pitchFamily="49" charset="-122"/>
                <a:ea typeface="仿宋" panose="02010609060101010101" pitchFamily="49" charset="-122"/>
                <a:cs typeface="Times New Roman" panose="02020603050405020304" pitchFamily="18" charset="0"/>
              </a:rPr>
              <a:t>5G</a:t>
            </a:r>
            <a:r>
              <a:rPr lang="zh-CN" altLang="zh-CN" sz="1100" kern="100" dirty="0">
                <a:effectLst/>
                <a:latin typeface="仿宋" panose="02010609060101010101" pitchFamily="49" charset="-122"/>
                <a:ea typeface="仿宋" panose="02010609060101010101" pitchFamily="49" charset="-122"/>
                <a:cs typeface="Times New Roman" panose="02020603050405020304" pitchFamily="18" charset="0"/>
              </a:rPr>
              <a:t>手机出货量在</a:t>
            </a:r>
            <a:r>
              <a:rPr lang="en-US" altLang="zh-CN" sz="1100" kern="100" dirty="0">
                <a:effectLst/>
                <a:latin typeface="仿宋" panose="02010609060101010101" pitchFamily="49" charset="-122"/>
                <a:ea typeface="仿宋" panose="02010609060101010101" pitchFamily="49" charset="-122"/>
              </a:rPr>
              <a:t> </a:t>
            </a:r>
            <a:r>
              <a:rPr lang="en-US" altLang="zh-CN" sz="1100" kern="100" dirty="0">
                <a:effectLst/>
                <a:latin typeface="仿宋" panose="02010609060101010101" pitchFamily="49" charset="-122"/>
                <a:ea typeface="仿宋" panose="02010609060101010101" pitchFamily="49" charset="-122"/>
                <a:cs typeface="Times New Roman" panose="02020603050405020304" pitchFamily="18" charset="0"/>
              </a:rPr>
              <a:t>2.8</a:t>
            </a:r>
            <a:r>
              <a:rPr lang="zh-CN" altLang="zh-CN" sz="1100" kern="100" dirty="0">
                <a:effectLst/>
                <a:latin typeface="仿宋" panose="02010609060101010101" pitchFamily="49" charset="-122"/>
                <a:ea typeface="仿宋" panose="02010609060101010101" pitchFamily="49" charset="-122"/>
                <a:cs typeface="Times New Roman" panose="02020603050405020304" pitchFamily="18" charset="0"/>
              </a:rPr>
              <a:t>亿台左右，预计</a:t>
            </a:r>
            <a:r>
              <a:rPr lang="en-US" altLang="zh-CN" sz="1100" b="1" kern="100" dirty="0">
                <a:effectLst/>
                <a:latin typeface="仿宋" panose="02010609060101010101" pitchFamily="49" charset="-122"/>
                <a:ea typeface="仿宋" panose="02010609060101010101" pitchFamily="49" charset="-122"/>
                <a:cs typeface="Times New Roman" panose="02020603050405020304" pitchFamily="18" charset="0"/>
              </a:rPr>
              <a:t>2021</a:t>
            </a:r>
            <a:r>
              <a:rPr lang="zh-CN" altLang="zh-CN" sz="1100" b="1" kern="100" dirty="0">
                <a:effectLst/>
                <a:latin typeface="仿宋" panose="02010609060101010101" pitchFamily="49" charset="-122"/>
                <a:ea typeface="仿宋" panose="02010609060101010101" pitchFamily="49" charset="-122"/>
                <a:cs typeface="Times New Roman" panose="02020603050405020304" pitchFamily="18" charset="0"/>
              </a:rPr>
              <a:t>年全球</a:t>
            </a:r>
            <a:r>
              <a:rPr lang="en-US" altLang="zh-CN" sz="1100" b="1" kern="100" dirty="0">
                <a:effectLst/>
                <a:latin typeface="仿宋" panose="02010609060101010101" pitchFamily="49" charset="-122"/>
                <a:ea typeface="仿宋" panose="02010609060101010101" pitchFamily="49" charset="-122"/>
                <a:cs typeface="Times New Roman" panose="02020603050405020304" pitchFamily="18" charset="0"/>
              </a:rPr>
              <a:t>5G</a:t>
            </a:r>
            <a:r>
              <a:rPr lang="zh-CN" altLang="zh-CN" sz="1100" b="1" kern="100" dirty="0">
                <a:effectLst/>
                <a:latin typeface="仿宋" panose="02010609060101010101" pitchFamily="49" charset="-122"/>
                <a:ea typeface="仿宋" panose="02010609060101010101" pitchFamily="49" charset="-122"/>
                <a:cs typeface="Times New Roman" panose="02020603050405020304" pitchFamily="18" charset="0"/>
              </a:rPr>
              <a:t>手机出货量在</a:t>
            </a:r>
            <a:r>
              <a:rPr lang="en-US" altLang="zh-CN" sz="1100" b="1" kern="100" dirty="0">
                <a:effectLst/>
                <a:latin typeface="仿宋" panose="02010609060101010101" pitchFamily="49" charset="-122"/>
                <a:ea typeface="仿宋" panose="02010609060101010101" pitchFamily="49" charset="-122"/>
              </a:rPr>
              <a:t> </a:t>
            </a:r>
            <a:r>
              <a:rPr lang="en-US" altLang="zh-CN" sz="1100" b="1" kern="100" dirty="0">
                <a:effectLst/>
                <a:latin typeface="仿宋" panose="02010609060101010101" pitchFamily="49" charset="-122"/>
                <a:ea typeface="仿宋" panose="02010609060101010101" pitchFamily="49" charset="-122"/>
                <a:cs typeface="Times New Roman" panose="02020603050405020304" pitchFamily="18" charset="0"/>
              </a:rPr>
              <a:t>5</a:t>
            </a:r>
            <a:r>
              <a:rPr lang="zh-CN" altLang="zh-CN" sz="1100" b="1" kern="100" dirty="0">
                <a:effectLst/>
                <a:latin typeface="仿宋" panose="02010609060101010101" pitchFamily="49" charset="-122"/>
                <a:ea typeface="仿宋" panose="02010609060101010101" pitchFamily="49" charset="-122"/>
                <a:cs typeface="Times New Roman" panose="02020603050405020304" pitchFamily="18" charset="0"/>
              </a:rPr>
              <a:t>亿台</a:t>
            </a:r>
            <a:r>
              <a:rPr lang="zh-CN" altLang="zh-CN" sz="1100" kern="100" dirty="0">
                <a:effectLst/>
                <a:latin typeface="仿宋" panose="02010609060101010101" pitchFamily="49" charset="-122"/>
                <a:ea typeface="仿宋" panose="02010609060101010101" pitchFamily="49" charset="-122"/>
                <a:cs typeface="Times New Roman" panose="02020603050405020304" pitchFamily="18" charset="0"/>
              </a:rPr>
              <a:t>左右</a:t>
            </a:r>
            <a:r>
              <a:rPr lang="zh-CN" altLang="zh-CN" sz="1100" kern="100" dirty="0">
                <a:latin typeface="仿宋" panose="02010609060101010101" pitchFamily="49" charset="-122"/>
                <a:ea typeface="仿宋" panose="02010609060101010101" pitchFamily="49" charset="-122"/>
                <a:cs typeface="Times New Roman" panose="02020603050405020304" pitchFamily="18" charset="0"/>
              </a:rPr>
              <a:t>。</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5G</a:t>
            </a:r>
            <a:r>
              <a:rPr lang="zh-CN" altLang="zh-CN" sz="1100" kern="100" dirty="0">
                <a:latin typeface="仿宋" panose="02010609060101010101" pitchFamily="49" charset="-122"/>
                <a:ea typeface="仿宋" panose="02010609060101010101" pitchFamily="49" charset="-122"/>
                <a:cs typeface="Times New Roman" panose="02020603050405020304" pitchFamily="18" charset="0"/>
              </a:rPr>
              <a:t>手机主流快充（</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30W</a:t>
            </a:r>
            <a:r>
              <a:rPr lang="zh-CN" altLang="zh-CN" sz="1100" kern="100" dirty="0">
                <a:latin typeface="仿宋" panose="02010609060101010101" pitchFamily="49" charset="-122"/>
                <a:ea typeface="仿宋" panose="02010609060101010101" pitchFamily="49" charset="-122"/>
                <a:cs typeface="Times New Roman" panose="02020603050405020304" pitchFamily="18" charset="0"/>
              </a:rPr>
              <a:t>、</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40W</a:t>
            </a:r>
            <a:r>
              <a:rPr lang="zh-CN" altLang="zh-CN" sz="1100" kern="100" dirty="0">
                <a:latin typeface="仿宋" panose="02010609060101010101" pitchFamily="49" charset="-122"/>
                <a:ea typeface="仿宋" panose="02010609060101010101" pitchFamily="49" charset="-122"/>
                <a:cs typeface="Times New Roman" panose="02020603050405020304" pitchFamily="18" charset="0"/>
              </a:rPr>
              <a:t>为主）渗透率在</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rPr>
              <a:t>70%</a:t>
            </a:r>
            <a:r>
              <a:rPr lang="zh-CN" altLang="zh-CN" sz="1100" kern="100" dirty="0">
                <a:latin typeface="仿宋" panose="02010609060101010101" pitchFamily="49" charset="-122"/>
                <a:ea typeface="仿宋" panose="02010609060101010101" pitchFamily="49" charset="-122"/>
                <a:cs typeface="Times New Roman" panose="02020603050405020304" pitchFamily="18" charset="0"/>
              </a:rPr>
              <a:t>左右。</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sym typeface="Wingdings" panose="05000000000000000000" pitchFamily="2" charset="2"/>
              </a:rPr>
              <a:t></a:t>
            </a:r>
            <a:r>
              <a:rPr lang="en-US" altLang="zh-CN" sz="1100" b="1" kern="100" dirty="0">
                <a:effectLst/>
                <a:latin typeface="仿宋" panose="02010609060101010101" pitchFamily="49" charset="-122"/>
                <a:ea typeface="仿宋" panose="02010609060101010101" pitchFamily="49" charset="-122"/>
                <a:cs typeface="Times New Roman" panose="02020603050405020304" pitchFamily="18" charset="0"/>
              </a:rPr>
              <a:t>Charge Pump</a:t>
            </a:r>
            <a:r>
              <a:rPr lang="zh-CN" altLang="zh-CN" sz="1100" b="1" kern="100" dirty="0">
                <a:effectLst/>
                <a:latin typeface="仿宋" panose="02010609060101010101" pitchFamily="49" charset="-122"/>
                <a:ea typeface="仿宋" panose="02010609060101010101" pitchFamily="49" charset="-122"/>
                <a:cs typeface="Times New Roman" panose="02020603050405020304" pitchFamily="18" charset="0"/>
              </a:rPr>
              <a:t>芯片市场规模为</a:t>
            </a:r>
            <a:r>
              <a:rPr lang="en-US" altLang="zh-CN" sz="1100" b="1" kern="100" dirty="0">
                <a:effectLst/>
                <a:latin typeface="仿宋" panose="02010609060101010101" pitchFamily="49" charset="-122"/>
                <a:ea typeface="仿宋" panose="02010609060101010101" pitchFamily="49" charset="-122"/>
                <a:cs typeface="Times New Roman" panose="02020603050405020304" pitchFamily="18" charset="0"/>
              </a:rPr>
              <a:t>44.3</a:t>
            </a:r>
            <a:r>
              <a:rPr lang="zh-CN" altLang="zh-CN" sz="1100" b="1" kern="100" dirty="0">
                <a:effectLst/>
                <a:latin typeface="仿宋" panose="02010609060101010101" pitchFamily="49" charset="-122"/>
                <a:ea typeface="仿宋" panose="02010609060101010101" pitchFamily="49" charset="-122"/>
                <a:cs typeface="Times New Roman" panose="02020603050405020304" pitchFamily="18" charset="0"/>
              </a:rPr>
              <a:t>亿元</a:t>
            </a:r>
            <a:r>
              <a:rPr lang="zh-CN" altLang="zh-CN" sz="1100" kern="100" dirty="0">
                <a:effectLst/>
                <a:latin typeface="仿宋" panose="02010609060101010101" pitchFamily="49" charset="-122"/>
                <a:ea typeface="仿宋" panose="02010609060101010101" pitchFamily="49" charset="-122"/>
                <a:cs typeface="Times New Roman" panose="02020603050405020304" pitchFamily="18" charset="0"/>
              </a:rPr>
              <a:t>。</a:t>
            </a:r>
            <a:endParaRPr lang="en-US" altLang="zh-CN" sz="1100" kern="100" dirty="0">
              <a:latin typeface="仿宋" panose="02010609060101010101" pitchFamily="49" charset="-122"/>
              <a:ea typeface="仿宋" panose="02010609060101010101" pitchFamily="49" charset="-122"/>
              <a:cs typeface="Times New Roman" panose="02020603050405020304" pitchFamily="18" charset="0"/>
            </a:endParaRPr>
          </a:p>
          <a:p>
            <a:pPr marL="288000" lvl="1">
              <a:lnSpc>
                <a:spcPct val="125000"/>
              </a:lnSpc>
              <a:buSzPct val="70000"/>
            </a:pPr>
            <a:r>
              <a:rPr lang="zh-CN" altLang="zh-CN" sz="1100" kern="100" dirty="0">
                <a:effectLst/>
                <a:latin typeface="仿宋" panose="02010609060101010101" pitchFamily="49" charset="-122"/>
                <a:ea typeface="仿宋" panose="02010609060101010101" pitchFamily="49" charset="-122"/>
              </a:rPr>
              <a:t>拓墣产业研究院数据，</a:t>
            </a:r>
            <a:r>
              <a:rPr lang="en-US" altLang="zh-CN" sz="1100" kern="100" dirty="0">
                <a:effectLst/>
                <a:latin typeface="仿宋" panose="02010609060101010101" pitchFamily="49" charset="-122"/>
                <a:ea typeface="仿宋" panose="02010609060101010101" pitchFamily="49" charset="-122"/>
              </a:rPr>
              <a:t>2020</a:t>
            </a:r>
            <a:r>
              <a:rPr lang="zh-CN" altLang="zh-CN" sz="1100" kern="100" dirty="0">
                <a:effectLst/>
                <a:latin typeface="仿宋" panose="02010609060101010101" pitchFamily="49" charset="-122"/>
                <a:ea typeface="仿宋" panose="02010609060101010101" pitchFamily="49" charset="-122"/>
              </a:rPr>
              <a:t>年全球</a:t>
            </a:r>
            <a:r>
              <a:rPr lang="en-US" altLang="zh-CN" sz="1100" kern="100" dirty="0">
                <a:effectLst/>
                <a:latin typeface="仿宋" panose="02010609060101010101" pitchFamily="49" charset="-122"/>
                <a:ea typeface="仿宋" panose="02010609060101010101" pitchFamily="49" charset="-122"/>
              </a:rPr>
              <a:t>4G</a:t>
            </a:r>
            <a:r>
              <a:rPr lang="zh-CN" altLang="zh-CN" sz="1100" kern="100" dirty="0">
                <a:effectLst/>
                <a:latin typeface="仿宋" panose="02010609060101010101" pitchFamily="49" charset="-122"/>
                <a:ea typeface="仿宋" panose="02010609060101010101" pitchFamily="49" charset="-122"/>
              </a:rPr>
              <a:t>智能型手机出货约有超过</a:t>
            </a:r>
            <a:r>
              <a:rPr lang="en-US" altLang="zh-CN" sz="1100" kern="100" dirty="0">
                <a:effectLst/>
                <a:latin typeface="仿宋" panose="02010609060101010101" pitchFamily="49" charset="-122"/>
                <a:ea typeface="仿宋" panose="02010609060101010101" pitchFamily="49" charset="-122"/>
              </a:rPr>
              <a:t>80%</a:t>
            </a:r>
            <a:r>
              <a:rPr lang="zh-CN" altLang="zh-CN" sz="1100" kern="100" dirty="0">
                <a:effectLst/>
                <a:latin typeface="仿宋" panose="02010609060101010101" pitchFamily="49" charset="-122"/>
                <a:ea typeface="仿宋" panose="02010609060101010101" pitchFamily="49" charset="-122"/>
              </a:rPr>
              <a:t>搭载有线快充功能，预计</a:t>
            </a:r>
            <a:r>
              <a:rPr lang="en-US" altLang="zh-CN" sz="1100" kern="100" dirty="0">
                <a:effectLst/>
                <a:latin typeface="仿宋" panose="02010609060101010101" pitchFamily="49" charset="-122"/>
                <a:ea typeface="仿宋" panose="02010609060101010101" pitchFamily="49" charset="-122"/>
              </a:rPr>
              <a:t>2021</a:t>
            </a:r>
            <a:r>
              <a:rPr lang="zh-CN" altLang="zh-CN" sz="1100" kern="100" dirty="0">
                <a:effectLst/>
                <a:latin typeface="仿宋" panose="02010609060101010101" pitchFamily="49" charset="-122"/>
                <a:ea typeface="仿宋" panose="02010609060101010101" pitchFamily="49" charset="-122"/>
              </a:rPr>
              <a:t>年渗透率还将提升；其中</a:t>
            </a:r>
            <a:r>
              <a:rPr lang="en-US" altLang="zh-CN" sz="1100" kern="100" dirty="0">
                <a:effectLst/>
                <a:latin typeface="仿宋" panose="02010609060101010101" pitchFamily="49" charset="-122"/>
                <a:ea typeface="仿宋" panose="02010609060101010101" pitchFamily="49" charset="-122"/>
              </a:rPr>
              <a:t>15-30W</a:t>
            </a:r>
            <a:r>
              <a:rPr lang="zh-CN" altLang="zh-CN" sz="1100" kern="100" dirty="0">
                <a:effectLst/>
                <a:latin typeface="仿宋" panose="02010609060101010101" pitchFamily="49" charset="-122"/>
                <a:ea typeface="仿宋" panose="02010609060101010101" pitchFamily="49" charset="-122"/>
              </a:rPr>
              <a:t>功率超过</a:t>
            </a:r>
            <a:r>
              <a:rPr lang="en-US" altLang="zh-CN" sz="1100" kern="100" dirty="0">
                <a:effectLst/>
                <a:latin typeface="仿宋" panose="02010609060101010101" pitchFamily="49" charset="-122"/>
                <a:ea typeface="仿宋" panose="02010609060101010101" pitchFamily="49" charset="-122"/>
              </a:rPr>
              <a:t>60%</a:t>
            </a:r>
            <a:r>
              <a:rPr lang="zh-CN" altLang="zh-CN" sz="1100" kern="100" dirty="0">
                <a:effectLst/>
                <a:latin typeface="仿宋" panose="02010609060101010101" pitchFamily="49" charset="-122"/>
                <a:ea typeface="仿宋" panose="02010609060101010101" pitchFamily="49" charset="-122"/>
              </a:rPr>
              <a:t>，为最主流的搭载功率。</a:t>
            </a:r>
            <a:r>
              <a:rPr lang="en-US" altLang="zh-CN" sz="1100" kern="100" dirty="0">
                <a:latin typeface="仿宋" panose="02010609060101010101" pitchFamily="49" charset="-122"/>
                <a:ea typeface="仿宋" panose="02010609060101010101" pitchFamily="49" charset="-122"/>
                <a:cs typeface="Times New Roman" panose="02020603050405020304" pitchFamily="18" charset="0"/>
                <a:sym typeface="Wingdings" panose="05000000000000000000" pitchFamily="2" charset="2"/>
              </a:rPr>
              <a:t></a:t>
            </a:r>
            <a:r>
              <a:rPr lang="en-US" altLang="zh-CN" sz="1100" b="1" kern="100" dirty="0">
                <a:effectLst/>
                <a:latin typeface="仿宋" panose="02010609060101010101" pitchFamily="49" charset="-122"/>
                <a:ea typeface="仿宋" panose="02010609060101010101" pitchFamily="49" charset="-122"/>
                <a:cs typeface="Times New Roman" panose="02020603050405020304" pitchFamily="18" charset="0"/>
              </a:rPr>
              <a:t>Charge Pump</a:t>
            </a:r>
            <a:r>
              <a:rPr lang="zh-CN" altLang="zh-CN" sz="1100" b="1" kern="100" dirty="0">
                <a:effectLst/>
                <a:latin typeface="仿宋" panose="02010609060101010101" pitchFamily="49" charset="-122"/>
                <a:ea typeface="仿宋" panose="02010609060101010101" pitchFamily="49" charset="-122"/>
                <a:cs typeface="Times New Roman" panose="02020603050405020304" pitchFamily="18" charset="0"/>
              </a:rPr>
              <a:t>芯片市场规模为</a:t>
            </a:r>
            <a:r>
              <a:rPr lang="en-US" altLang="zh-CN" sz="1100" b="1" kern="100" dirty="0">
                <a:effectLst/>
                <a:latin typeface="仿宋" panose="02010609060101010101" pitchFamily="49" charset="-122"/>
                <a:ea typeface="仿宋" panose="02010609060101010101" pitchFamily="49" charset="-122"/>
                <a:cs typeface="Times New Roman" panose="02020603050405020304" pitchFamily="18" charset="0"/>
              </a:rPr>
              <a:t>24</a:t>
            </a:r>
            <a:r>
              <a:rPr lang="zh-CN" altLang="zh-CN" sz="1100" b="1" kern="100" dirty="0">
                <a:effectLst/>
                <a:latin typeface="仿宋" panose="02010609060101010101" pitchFamily="49" charset="-122"/>
                <a:ea typeface="仿宋" panose="02010609060101010101" pitchFamily="49" charset="-122"/>
                <a:cs typeface="Times New Roman" panose="02020603050405020304" pitchFamily="18" charset="0"/>
              </a:rPr>
              <a:t>亿元</a:t>
            </a:r>
            <a:r>
              <a:rPr lang="zh-CN" altLang="zh-CN" sz="1100" kern="100" dirty="0">
                <a:effectLst/>
                <a:latin typeface="仿宋" panose="02010609060101010101" pitchFamily="49" charset="-122"/>
                <a:ea typeface="仿宋" panose="02010609060101010101" pitchFamily="49" charset="-122"/>
                <a:cs typeface="Times New Roman" panose="02020603050405020304" pitchFamily="18" charset="0"/>
              </a:rPr>
              <a:t>。</a:t>
            </a:r>
            <a:endParaRPr lang="en-US" altLang="zh-CN" sz="1100" kern="100" dirty="0">
              <a:latin typeface="仿宋" panose="02010609060101010101" pitchFamily="49" charset="-122"/>
              <a:ea typeface="仿宋" panose="02010609060101010101" pitchFamily="49" charset="-122"/>
              <a:cs typeface="Times New Roman" panose="02020603050405020304" pitchFamily="18" charset="0"/>
            </a:endParaRPr>
          </a:p>
          <a:p>
            <a:pPr marL="288000" lvl="1">
              <a:lnSpc>
                <a:spcPct val="125000"/>
              </a:lnSpc>
              <a:buSzPct val="70000"/>
            </a:pPr>
            <a:r>
              <a:rPr lang="zh-CN" altLang="en-US" sz="1100" kern="100" dirty="0">
                <a:latin typeface="仿宋" panose="02010609060101010101" pitchFamily="49" charset="-122"/>
                <a:ea typeface="仿宋" panose="02010609060101010101" pitchFamily="49" charset="-122"/>
                <a:cs typeface="Times New Roman" panose="02020603050405020304" pitchFamily="18" charset="0"/>
              </a:rPr>
              <a:t>仅仅</a:t>
            </a:r>
            <a:r>
              <a:rPr lang="zh-CN" altLang="zh-CN" sz="1100" b="1" kern="100" dirty="0">
                <a:effectLst/>
                <a:latin typeface="仿宋" panose="02010609060101010101" pitchFamily="49" charset="-122"/>
                <a:ea typeface="仿宋" panose="02010609060101010101" pitchFamily="49" charset="-122"/>
                <a:cs typeface="Times New Roman" panose="02020603050405020304" pitchFamily="18" charset="0"/>
              </a:rPr>
              <a:t>智能手机</a:t>
            </a:r>
            <a:r>
              <a:rPr lang="en-US" altLang="zh-CN" sz="1100" b="1" kern="100" dirty="0">
                <a:effectLst/>
                <a:latin typeface="仿宋" panose="02010609060101010101" pitchFamily="49" charset="-122"/>
                <a:ea typeface="仿宋" panose="02010609060101010101" pitchFamily="49" charset="-122"/>
                <a:cs typeface="Times New Roman" panose="02020603050405020304" pitchFamily="18" charset="0"/>
              </a:rPr>
              <a:t>Charge Pump</a:t>
            </a:r>
            <a:r>
              <a:rPr lang="zh-CN" altLang="zh-CN" sz="1100" b="1" kern="100" dirty="0">
                <a:effectLst/>
                <a:latin typeface="仿宋" panose="02010609060101010101" pitchFamily="49" charset="-122"/>
                <a:ea typeface="仿宋" panose="02010609060101010101" pitchFamily="49" charset="-122"/>
                <a:cs typeface="Times New Roman" panose="02020603050405020304" pitchFamily="18" charset="0"/>
              </a:rPr>
              <a:t>芯片市场</a:t>
            </a:r>
            <a:r>
              <a:rPr lang="zh-CN" altLang="en-US" sz="1100" b="1" kern="100" dirty="0">
                <a:effectLst/>
                <a:latin typeface="仿宋" panose="02010609060101010101" pitchFamily="49" charset="-122"/>
                <a:ea typeface="仿宋" panose="02010609060101010101" pitchFamily="49" charset="-122"/>
                <a:cs typeface="Times New Roman" panose="02020603050405020304" pitchFamily="18" charset="0"/>
              </a:rPr>
              <a:t>，</a:t>
            </a:r>
            <a:r>
              <a:rPr lang="zh-CN" altLang="zh-CN" sz="1100" b="1" kern="100" dirty="0">
                <a:effectLst/>
                <a:latin typeface="仿宋" panose="02010609060101010101" pitchFamily="49" charset="-122"/>
                <a:ea typeface="仿宋" panose="02010609060101010101" pitchFamily="49" charset="-122"/>
                <a:cs typeface="Times New Roman" panose="02020603050405020304" pitchFamily="18" charset="0"/>
              </a:rPr>
              <a:t>规模</a:t>
            </a:r>
            <a:r>
              <a:rPr lang="en-US" altLang="zh-CN" sz="1200" b="1" u="sng" dirty="0">
                <a:solidFill>
                  <a:srgbClr val="C00000"/>
                </a:solidFill>
                <a:latin typeface="仿宋" panose="02010609060101010101" pitchFamily="49" charset="-122"/>
                <a:ea typeface="仿宋" panose="02010609060101010101" pitchFamily="49" charset="-122"/>
              </a:rPr>
              <a:t>68.3</a:t>
            </a:r>
            <a:r>
              <a:rPr lang="zh-CN" altLang="zh-CN" sz="1200" b="1" u="sng" dirty="0">
                <a:solidFill>
                  <a:srgbClr val="C00000"/>
                </a:solidFill>
                <a:latin typeface="仿宋" panose="02010609060101010101" pitchFamily="49" charset="-122"/>
                <a:ea typeface="仿宋" panose="02010609060101010101" pitchFamily="49" charset="-122"/>
              </a:rPr>
              <a:t>亿元</a:t>
            </a:r>
            <a:r>
              <a:rPr lang="zh-CN" altLang="zh-CN" sz="1100" b="1" kern="100" dirty="0">
                <a:effectLst/>
                <a:latin typeface="仿宋" panose="02010609060101010101" pitchFamily="49" charset="-122"/>
                <a:ea typeface="仿宋" panose="02010609060101010101" pitchFamily="49" charset="-122"/>
                <a:cs typeface="Times New Roman" panose="02020603050405020304" pitchFamily="18" charset="0"/>
              </a:rPr>
              <a:t>。</a:t>
            </a:r>
            <a:endParaRPr lang="en-US" altLang="zh-CN" sz="1100" kern="100" dirty="0">
              <a:latin typeface="仿宋" panose="02010609060101010101" pitchFamily="49" charset="-122"/>
              <a:ea typeface="仿宋" panose="02010609060101010101" pitchFamily="49" charset="-122"/>
              <a:cs typeface="Times New Roman" panose="02020603050405020304" pitchFamily="18" charset="0"/>
            </a:endParaRPr>
          </a:p>
          <a:p>
            <a:pPr marL="0" lvl="1" indent="180000" algn="just">
              <a:lnSpc>
                <a:spcPct val="150000"/>
              </a:lnSpc>
              <a:buSzPct val="70000"/>
              <a:buBlip>
                <a:blip r:embed="rId3"/>
              </a:buBlip>
            </a:pPr>
            <a:r>
              <a:rPr lang="en-US" altLang="zh-CN" sz="1200" b="1" dirty="0">
                <a:solidFill>
                  <a:srgbClr val="C00000"/>
                </a:solidFill>
                <a:latin typeface="仿宋" panose="02010609060101010101" pitchFamily="49" charset="-122"/>
                <a:ea typeface="仿宋" panose="02010609060101010101" pitchFamily="49" charset="-122"/>
              </a:rPr>
              <a:t>PC</a:t>
            </a:r>
            <a:r>
              <a:rPr lang="zh-CN" altLang="en-US" sz="1200" b="1" dirty="0">
                <a:solidFill>
                  <a:srgbClr val="C00000"/>
                </a:solidFill>
                <a:latin typeface="仿宋" panose="02010609060101010101" pitchFamily="49" charset="-122"/>
                <a:ea typeface="仿宋" panose="02010609060101010101" pitchFamily="49" charset="-122"/>
              </a:rPr>
              <a:t>市场</a:t>
            </a:r>
            <a:endParaRPr lang="en-US" altLang="zh-CN" sz="1200" b="1" dirty="0">
              <a:solidFill>
                <a:srgbClr val="C00000"/>
              </a:solidFill>
              <a:latin typeface="仿宋" panose="02010609060101010101" pitchFamily="49" charset="-122"/>
              <a:ea typeface="仿宋" panose="02010609060101010101" pitchFamily="49" charset="-122"/>
            </a:endParaRPr>
          </a:p>
          <a:p>
            <a:pPr marL="288000" lvl="1">
              <a:lnSpc>
                <a:spcPct val="125000"/>
              </a:lnSpc>
              <a:buSzPct val="70000"/>
            </a:pPr>
            <a:r>
              <a:rPr lang="zh-CN" altLang="zh-CN" sz="1100" dirty="0">
                <a:latin typeface="仿宋" panose="02010609060101010101" pitchFamily="49" charset="-122"/>
                <a:ea typeface="仿宋" panose="02010609060101010101" pitchFamily="49" charset="-122"/>
              </a:rPr>
              <a:t>市场研究机构</a:t>
            </a:r>
            <a:r>
              <a:rPr lang="en-US" altLang="zh-CN" sz="1100" dirty="0" err="1">
                <a:latin typeface="仿宋" panose="02010609060101010101" pitchFamily="49" charset="-122"/>
                <a:ea typeface="仿宋" panose="02010609060101010101" pitchFamily="49" charset="-122"/>
              </a:rPr>
              <a:t>Canalys</a:t>
            </a:r>
            <a:r>
              <a:rPr lang="zh-CN" altLang="zh-CN" sz="1100" dirty="0">
                <a:latin typeface="仿宋" panose="02010609060101010101" pitchFamily="49" charset="-122"/>
                <a:ea typeface="仿宋" panose="02010609060101010101" pitchFamily="49" charset="-122"/>
              </a:rPr>
              <a:t>数据</a:t>
            </a:r>
            <a:r>
              <a:rPr lang="zh-CN" altLang="en-US" sz="1100" dirty="0">
                <a:latin typeface="仿宋" panose="02010609060101010101" pitchFamily="49" charset="-122"/>
                <a:ea typeface="仿宋" panose="02010609060101010101" pitchFamily="49" charset="-122"/>
              </a:rPr>
              <a:t>，</a:t>
            </a:r>
            <a:r>
              <a:rPr lang="en-US" altLang="zh-CN" sz="1100" dirty="0">
                <a:latin typeface="仿宋" panose="02010609060101010101" pitchFamily="49" charset="-122"/>
                <a:ea typeface="仿宋" panose="02010609060101010101" pitchFamily="49" charset="-122"/>
              </a:rPr>
              <a:t>2020</a:t>
            </a:r>
            <a:r>
              <a:rPr lang="zh-CN" altLang="en-US" sz="1100" dirty="0">
                <a:latin typeface="仿宋" panose="02010609060101010101" pitchFamily="49" charset="-122"/>
                <a:ea typeface="仿宋" panose="02010609060101010101" pitchFamily="49" charset="-122"/>
              </a:rPr>
              <a:t>年全球</a:t>
            </a:r>
            <a:r>
              <a:rPr lang="en-US" altLang="zh-CN" sz="1100" dirty="0">
                <a:latin typeface="仿宋" panose="02010609060101010101" pitchFamily="49" charset="-122"/>
                <a:ea typeface="仿宋" panose="02010609060101010101" pitchFamily="49" charset="-122"/>
              </a:rPr>
              <a:t>PC</a:t>
            </a:r>
            <a:r>
              <a:rPr lang="zh-CN" altLang="en-US" sz="1100" dirty="0">
                <a:latin typeface="仿宋" panose="02010609060101010101" pitchFamily="49" charset="-122"/>
                <a:ea typeface="仿宋" panose="02010609060101010101" pitchFamily="49" charset="-122"/>
              </a:rPr>
              <a:t>出货</a:t>
            </a:r>
            <a:r>
              <a:rPr lang="en-US" altLang="zh-CN" sz="1100" dirty="0">
                <a:latin typeface="仿宋" panose="02010609060101010101" pitchFamily="49" charset="-122"/>
                <a:ea typeface="仿宋" panose="02010609060101010101" pitchFamily="49" charset="-122"/>
              </a:rPr>
              <a:t>4.5</a:t>
            </a:r>
            <a:r>
              <a:rPr lang="zh-CN" altLang="en-US" sz="1100" dirty="0">
                <a:latin typeface="仿宋" panose="02010609060101010101" pitchFamily="49" charset="-122"/>
                <a:ea typeface="仿宋" panose="02010609060101010101" pitchFamily="49" charset="-122"/>
              </a:rPr>
              <a:t>亿台，预计</a:t>
            </a:r>
            <a:r>
              <a:rPr lang="en-US" altLang="zh-CN" sz="1100" dirty="0">
                <a:latin typeface="仿宋" panose="02010609060101010101" pitchFamily="49" charset="-122"/>
                <a:ea typeface="仿宋" panose="02010609060101010101" pitchFamily="49" charset="-122"/>
              </a:rPr>
              <a:t>2021</a:t>
            </a:r>
            <a:r>
              <a:rPr lang="zh-CN" altLang="zh-CN" sz="1100" dirty="0">
                <a:latin typeface="仿宋" panose="02010609060101010101" pitchFamily="49" charset="-122"/>
                <a:ea typeface="仿宋" panose="02010609060101010101" pitchFamily="49" charset="-122"/>
              </a:rPr>
              <a:t>年全球</a:t>
            </a:r>
            <a:r>
              <a:rPr lang="en-US" altLang="zh-CN" sz="1100" dirty="0">
                <a:latin typeface="仿宋" panose="02010609060101010101" pitchFamily="49" charset="-122"/>
                <a:ea typeface="仿宋" panose="02010609060101010101" pitchFamily="49" charset="-122"/>
              </a:rPr>
              <a:t>PC</a:t>
            </a:r>
            <a:r>
              <a:rPr lang="zh-CN" altLang="zh-CN" sz="1100" dirty="0">
                <a:latin typeface="仿宋" panose="02010609060101010101" pitchFamily="49" charset="-122"/>
                <a:ea typeface="仿宋" panose="02010609060101010101" pitchFamily="49" charset="-122"/>
              </a:rPr>
              <a:t>出货量增长</a:t>
            </a:r>
            <a:r>
              <a:rPr lang="en-US" altLang="zh-CN" sz="1100" dirty="0">
                <a:latin typeface="仿宋" panose="02010609060101010101" pitchFamily="49" charset="-122"/>
                <a:ea typeface="仿宋" panose="02010609060101010101" pitchFamily="49" charset="-122"/>
              </a:rPr>
              <a:t>8.4%</a:t>
            </a:r>
            <a:r>
              <a:rPr lang="zh-CN" altLang="zh-CN" sz="1100" dirty="0">
                <a:latin typeface="仿宋" panose="02010609060101010101" pitchFamily="49" charset="-122"/>
                <a:ea typeface="仿宋" panose="02010609060101010101" pitchFamily="49" charset="-122"/>
              </a:rPr>
              <a:t>，达到</a:t>
            </a:r>
            <a:r>
              <a:rPr lang="en-US" altLang="zh-CN" sz="1100" dirty="0">
                <a:latin typeface="仿宋" panose="02010609060101010101" pitchFamily="49" charset="-122"/>
                <a:ea typeface="仿宋" panose="02010609060101010101" pitchFamily="49" charset="-122"/>
              </a:rPr>
              <a:t>5</a:t>
            </a:r>
            <a:r>
              <a:rPr lang="zh-CN" altLang="zh-CN" sz="1100" dirty="0">
                <a:latin typeface="仿宋" panose="02010609060101010101" pitchFamily="49" charset="-122"/>
                <a:ea typeface="仿宋" panose="02010609060101010101" pitchFamily="49" charset="-122"/>
              </a:rPr>
              <a:t>亿台</a:t>
            </a:r>
            <a:r>
              <a:rPr lang="zh-CN" altLang="en-US" sz="1100" dirty="0">
                <a:latin typeface="仿宋" panose="02010609060101010101" pitchFamily="49" charset="-122"/>
                <a:ea typeface="仿宋" panose="02010609060101010101" pitchFamily="49" charset="-122"/>
              </a:rPr>
              <a:t>；市场规模在</a:t>
            </a:r>
            <a:r>
              <a:rPr lang="en-US" altLang="zh-CN" sz="1200" b="1" u="sng" dirty="0">
                <a:solidFill>
                  <a:srgbClr val="C00000"/>
                </a:solidFill>
                <a:latin typeface="仿宋" panose="02010609060101010101" pitchFamily="49" charset="-122"/>
                <a:ea typeface="仿宋" panose="02010609060101010101" pitchFamily="49" charset="-122"/>
              </a:rPr>
              <a:t>20</a:t>
            </a:r>
            <a:r>
              <a:rPr lang="zh-CN" altLang="en-US" sz="1200" b="1" u="sng" dirty="0">
                <a:solidFill>
                  <a:srgbClr val="C00000"/>
                </a:solidFill>
                <a:latin typeface="仿宋" panose="02010609060101010101" pitchFamily="49" charset="-122"/>
                <a:ea typeface="仿宋" panose="02010609060101010101" pitchFamily="49" charset="-122"/>
              </a:rPr>
              <a:t>亿元</a:t>
            </a:r>
            <a:r>
              <a:rPr lang="zh-CN" altLang="en-US" sz="1100" dirty="0">
                <a:latin typeface="仿宋" panose="02010609060101010101" pitchFamily="49" charset="-122"/>
                <a:ea typeface="仿宋" panose="02010609060101010101" pitchFamily="49" charset="-122"/>
              </a:rPr>
              <a:t>。</a:t>
            </a:r>
            <a:endParaRPr lang="en-US" altLang="zh-CN" sz="1100" dirty="0">
              <a:latin typeface="仿宋" panose="02010609060101010101" pitchFamily="49" charset="-122"/>
              <a:ea typeface="仿宋" panose="02010609060101010101" pitchFamily="49" charset="-122"/>
            </a:endParaRPr>
          </a:p>
          <a:p>
            <a:pPr marL="0" lvl="1" indent="180000" algn="just">
              <a:lnSpc>
                <a:spcPct val="150000"/>
              </a:lnSpc>
              <a:buSzPct val="70000"/>
              <a:buBlip>
                <a:blip r:embed="rId3"/>
              </a:buBlip>
            </a:pPr>
            <a:r>
              <a:rPr lang="en-US" altLang="zh-CN" sz="1200" b="1" dirty="0">
                <a:solidFill>
                  <a:srgbClr val="C00000"/>
                </a:solidFill>
                <a:latin typeface="仿宋" panose="02010609060101010101" pitchFamily="49" charset="-122"/>
                <a:ea typeface="仿宋" panose="02010609060101010101" pitchFamily="49" charset="-122"/>
              </a:rPr>
              <a:t>TWS</a:t>
            </a:r>
            <a:r>
              <a:rPr lang="zh-CN" altLang="en-US" sz="1200" b="1" dirty="0">
                <a:solidFill>
                  <a:srgbClr val="C00000"/>
                </a:solidFill>
                <a:latin typeface="仿宋" panose="02010609060101010101" pitchFamily="49" charset="-122"/>
                <a:ea typeface="仿宋" panose="02010609060101010101" pitchFamily="49" charset="-122"/>
              </a:rPr>
              <a:t>市场</a:t>
            </a:r>
            <a:endParaRPr lang="en-US" altLang="zh-CN" sz="1200" b="1" dirty="0">
              <a:solidFill>
                <a:srgbClr val="C00000"/>
              </a:solidFill>
              <a:latin typeface="仿宋" panose="02010609060101010101" pitchFamily="49" charset="-122"/>
              <a:ea typeface="仿宋" panose="02010609060101010101" pitchFamily="49" charset="-122"/>
            </a:endParaRPr>
          </a:p>
          <a:p>
            <a:pPr marL="288000" lvl="1">
              <a:lnSpc>
                <a:spcPct val="125000"/>
              </a:lnSpc>
              <a:buSzPct val="70000"/>
            </a:pPr>
            <a:r>
              <a:rPr lang="zh-CN" altLang="en-US" sz="1100" dirty="0">
                <a:latin typeface="仿宋" panose="02010609060101010101" pitchFamily="49" charset="-122"/>
                <a:ea typeface="仿宋" panose="02010609060101010101" pitchFamily="49" charset="-122"/>
              </a:rPr>
              <a:t>行业数据，</a:t>
            </a:r>
            <a:r>
              <a:rPr lang="en-US" altLang="zh-CN" sz="1100" dirty="0">
                <a:latin typeface="仿宋" panose="02010609060101010101" pitchFamily="49" charset="-122"/>
                <a:ea typeface="仿宋" panose="02010609060101010101" pitchFamily="49" charset="-122"/>
              </a:rPr>
              <a:t>2020</a:t>
            </a:r>
            <a:r>
              <a:rPr lang="zh-CN" altLang="zh-CN" sz="1100" dirty="0">
                <a:latin typeface="仿宋" panose="02010609060101010101" pitchFamily="49" charset="-122"/>
                <a:ea typeface="仿宋" panose="02010609060101010101" pitchFamily="49" charset="-122"/>
              </a:rPr>
              <a:t>年品牌</a:t>
            </a:r>
            <a:r>
              <a:rPr lang="en-US" altLang="zh-CN" sz="1100" dirty="0">
                <a:latin typeface="仿宋" panose="02010609060101010101" pitchFamily="49" charset="-122"/>
                <a:ea typeface="仿宋" panose="02010609060101010101" pitchFamily="49" charset="-122"/>
              </a:rPr>
              <a:t>TWS</a:t>
            </a:r>
            <a:r>
              <a:rPr lang="zh-CN" altLang="zh-CN" sz="1100" dirty="0">
                <a:latin typeface="仿宋" panose="02010609060101010101" pitchFamily="49" charset="-122"/>
                <a:ea typeface="仿宋" panose="02010609060101010101" pitchFamily="49" charset="-122"/>
              </a:rPr>
              <a:t>耳机销量增长趋势不减，达到了</a:t>
            </a:r>
            <a:r>
              <a:rPr lang="en-US" altLang="zh-CN" sz="1100" dirty="0">
                <a:latin typeface="仿宋" panose="02010609060101010101" pitchFamily="49" charset="-122"/>
                <a:ea typeface="仿宋" panose="02010609060101010101" pitchFamily="49" charset="-122"/>
              </a:rPr>
              <a:t>3</a:t>
            </a:r>
            <a:r>
              <a:rPr lang="zh-CN" altLang="zh-CN" sz="1100" dirty="0">
                <a:latin typeface="仿宋" panose="02010609060101010101" pitchFamily="49" charset="-122"/>
                <a:ea typeface="仿宋" panose="02010609060101010101" pitchFamily="49" charset="-122"/>
              </a:rPr>
              <a:t>亿台，同比增长</a:t>
            </a:r>
            <a:r>
              <a:rPr lang="en-US" altLang="zh-CN" sz="1100" dirty="0">
                <a:latin typeface="仿宋" panose="02010609060101010101" pitchFamily="49" charset="-122"/>
                <a:ea typeface="仿宋" panose="02010609060101010101" pitchFamily="49" charset="-122"/>
              </a:rPr>
              <a:t>230%</a:t>
            </a:r>
            <a:r>
              <a:rPr lang="zh-CN" altLang="zh-CN" sz="1100" dirty="0">
                <a:latin typeface="仿宋" panose="02010609060101010101" pitchFamily="49" charset="-122"/>
                <a:ea typeface="仿宋" panose="02010609060101010101" pitchFamily="49" charset="-122"/>
              </a:rPr>
              <a:t>。预计</a:t>
            </a:r>
            <a:r>
              <a:rPr lang="en-US" altLang="zh-CN" sz="1100" dirty="0">
                <a:latin typeface="仿宋" panose="02010609060101010101" pitchFamily="49" charset="-122"/>
                <a:ea typeface="仿宋" panose="02010609060101010101" pitchFamily="49" charset="-122"/>
              </a:rPr>
              <a:t>2021</a:t>
            </a:r>
            <a:r>
              <a:rPr lang="zh-CN" altLang="zh-CN" sz="1100" dirty="0">
                <a:latin typeface="仿宋" panose="02010609060101010101" pitchFamily="49" charset="-122"/>
                <a:ea typeface="仿宋" panose="02010609060101010101" pitchFamily="49" charset="-122"/>
              </a:rPr>
              <a:t>年全球</a:t>
            </a:r>
            <a:r>
              <a:rPr lang="en-US" altLang="zh-CN" sz="1100" dirty="0">
                <a:latin typeface="仿宋" panose="02010609060101010101" pitchFamily="49" charset="-122"/>
                <a:ea typeface="仿宋" panose="02010609060101010101" pitchFamily="49" charset="-122"/>
              </a:rPr>
              <a:t>TWS</a:t>
            </a:r>
            <a:r>
              <a:rPr lang="zh-CN" altLang="zh-CN" sz="1100" dirty="0">
                <a:latin typeface="仿宋" panose="02010609060101010101" pitchFamily="49" charset="-122"/>
                <a:ea typeface="仿宋" panose="02010609060101010101" pitchFamily="49" charset="-122"/>
              </a:rPr>
              <a:t>耳机将出货</a:t>
            </a:r>
            <a:r>
              <a:rPr lang="en-US" altLang="zh-CN" sz="1100" dirty="0">
                <a:latin typeface="仿宋" panose="02010609060101010101" pitchFamily="49" charset="-122"/>
                <a:ea typeface="仿宋" panose="02010609060101010101" pitchFamily="49" charset="-122"/>
              </a:rPr>
              <a:t>5-6</a:t>
            </a:r>
            <a:r>
              <a:rPr lang="zh-CN" altLang="zh-CN" sz="1100" dirty="0">
                <a:latin typeface="仿宋" panose="02010609060101010101" pitchFamily="49" charset="-122"/>
                <a:ea typeface="仿宋" panose="02010609060101010101" pitchFamily="49" charset="-122"/>
              </a:rPr>
              <a:t>亿台。</a:t>
            </a:r>
            <a:r>
              <a:rPr lang="zh-CN" altLang="en-US" sz="1100" dirty="0">
                <a:latin typeface="仿宋" panose="02010609060101010101" pitchFamily="49" charset="-122"/>
                <a:ea typeface="仿宋" panose="02010609060101010101" pitchFamily="49" charset="-122"/>
              </a:rPr>
              <a:t>市场空间</a:t>
            </a:r>
            <a:r>
              <a:rPr lang="zh-CN" altLang="en-US" sz="1200" b="1" u="sng" dirty="0">
                <a:solidFill>
                  <a:srgbClr val="C00000"/>
                </a:solidFill>
                <a:latin typeface="仿宋" panose="02010609060101010101" pitchFamily="49" charset="-122"/>
                <a:ea typeface="仿宋" panose="02010609060101010101" pitchFamily="49" charset="-122"/>
              </a:rPr>
              <a:t>约</a:t>
            </a:r>
            <a:r>
              <a:rPr lang="en-US" altLang="zh-CN" sz="1200" b="1" u="sng" dirty="0">
                <a:solidFill>
                  <a:srgbClr val="C00000"/>
                </a:solidFill>
                <a:latin typeface="仿宋" panose="02010609060101010101" pitchFamily="49" charset="-122"/>
                <a:ea typeface="仿宋" panose="02010609060101010101" pitchFamily="49" charset="-122"/>
              </a:rPr>
              <a:t>60</a:t>
            </a:r>
            <a:r>
              <a:rPr lang="zh-CN" altLang="en-US" sz="1200" b="1" u="sng" dirty="0">
                <a:solidFill>
                  <a:srgbClr val="C00000"/>
                </a:solidFill>
                <a:latin typeface="仿宋" panose="02010609060101010101" pitchFamily="49" charset="-122"/>
                <a:ea typeface="仿宋" panose="02010609060101010101" pitchFamily="49" charset="-122"/>
              </a:rPr>
              <a:t>亿元。</a:t>
            </a:r>
            <a:endParaRPr lang="en-US" altLang="zh-CN" sz="1200" b="1" u="sng" dirty="0">
              <a:solidFill>
                <a:srgbClr val="C00000"/>
              </a:solidFill>
              <a:latin typeface="仿宋" panose="02010609060101010101" pitchFamily="49" charset="-122"/>
              <a:ea typeface="仿宋" panose="02010609060101010101" pitchFamily="49" charset="-122"/>
            </a:endParaRPr>
          </a:p>
          <a:p>
            <a:pPr marL="0" lvl="1" indent="180000" algn="just">
              <a:lnSpc>
                <a:spcPct val="150000"/>
              </a:lnSpc>
              <a:buSzPct val="70000"/>
              <a:buBlip>
                <a:blip r:embed="rId3"/>
              </a:buBlip>
            </a:pPr>
            <a:r>
              <a:rPr lang="zh-CN" altLang="en-US" sz="1200" b="1" dirty="0">
                <a:solidFill>
                  <a:srgbClr val="C00000"/>
                </a:solidFill>
                <a:latin typeface="仿宋" panose="02010609060101010101" pitchFamily="49" charset="-122"/>
                <a:ea typeface="仿宋" panose="02010609060101010101" pitchFamily="49" charset="-122"/>
              </a:rPr>
              <a:t>充电宝市场</a:t>
            </a:r>
            <a:endParaRPr lang="en-US" altLang="zh-CN" sz="1200" b="1" dirty="0">
              <a:solidFill>
                <a:srgbClr val="C00000"/>
              </a:solidFill>
              <a:latin typeface="仿宋" panose="02010609060101010101" pitchFamily="49" charset="-122"/>
              <a:ea typeface="仿宋" panose="02010609060101010101" pitchFamily="49" charset="-122"/>
            </a:endParaRPr>
          </a:p>
          <a:p>
            <a:pPr marL="288000" lvl="1">
              <a:lnSpc>
                <a:spcPct val="125000"/>
              </a:lnSpc>
              <a:buSzPct val="70000"/>
            </a:pPr>
            <a:r>
              <a:rPr lang="zh-CN" altLang="en-US" sz="1100" dirty="0">
                <a:latin typeface="仿宋" panose="02010609060101010101" pitchFamily="49" charset="-122"/>
                <a:ea typeface="仿宋" panose="02010609060101010101" pitchFamily="49" charset="-122"/>
              </a:rPr>
              <a:t>行业数据，高端充电宝</a:t>
            </a:r>
            <a:r>
              <a:rPr lang="en-US" altLang="zh-CN" sz="1100" dirty="0">
                <a:latin typeface="仿宋" panose="02010609060101010101" pitchFamily="49" charset="-122"/>
                <a:ea typeface="仿宋" panose="02010609060101010101" pitchFamily="49" charset="-122"/>
              </a:rPr>
              <a:t>5000</a:t>
            </a:r>
            <a:r>
              <a:rPr lang="zh-CN" altLang="en-US" sz="1100" dirty="0">
                <a:latin typeface="仿宋" panose="02010609060101010101" pitchFamily="49" charset="-122"/>
                <a:ea typeface="仿宋" panose="02010609060101010101" pitchFamily="49" charset="-122"/>
              </a:rPr>
              <a:t>万台</a:t>
            </a:r>
            <a:r>
              <a:rPr lang="en-US" altLang="zh-CN" sz="1100" dirty="0">
                <a:latin typeface="仿宋" panose="02010609060101010101" pitchFamily="49" charset="-122"/>
                <a:ea typeface="仿宋" panose="02010609060101010101" pitchFamily="49" charset="-122"/>
              </a:rPr>
              <a:t>/</a:t>
            </a:r>
            <a:r>
              <a:rPr lang="zh-CN" altLang="en-US" sz="1100" dirty="0">
                <a:latin typeface="仿宋" panose="02010609060101010101" pitchFamily="49" charset="-122"/>
                <a:ea typeface="仿宋" panose="02010609060101010101" pitchFamily="49" charset="-122"/>
              </a:rPr>
              <a:t>年需求量，总市场空间</a:t>
            </a:r>
            <a:r>
              <a:rPr lang="en-US" altLang="zh-CN" sz="1200" b="1" u="sng" dirty="0">
                <a:solidFill>
                  <a:srgbClr val="C00000"/>
                </a:solidFill>
                <a:latin typeface="仿宋" panose="02010609060101010101" pitchFamily="49" charset="-122"/>
                <a:ea typeface="仿宋" panose="02010609060101010101" pitchFamily="49" charset="-122"/>
              </a:rPr>
              <a:t>5</a:t>
            </a:r>
            <a:r>
              <a:rPr lang="zh-CN" altLang="en-US" sz="1200" b="1" u="sng" dirty="0">
                <a:solidFill>
                  <a:srgbClr val="C00000"/>
                </a:solidFill>
                <a:latin typeface="仿宋" panose="02010609060101010101" pitchFamily="49" charset="-122"/>
                <a:ea typeface="仿宋" panose="02010609060101010101" pitchFamily="49" charset="-122"/>
              </a:rPr>
              <a:t>亿元</a:t>
            </a:r>
            <a:r>
              <a:rPr lang="zh-CN" altLang="en-US" sz="1100" dirty="0">
                <a:latin typeface="仿宋" panose="02010609060101010101" pitchFamily="49" charset="-122"/>
                <a:ea typeface="仿宋" panose="02010609060101010101" pitchFamily="49" charset="-122"/>
              </a:rPr>
              <a:t>。</a:t>
            </a:r>
            <a:endParaRPr lang="en-US" altLang="zh-CN" sz="1100" dirty="0">
              <a:latin typeface="仿宋" panose="02010609060101010101" pitchFamily="49" charset="-122"/>
              <a:ea typeface="仿宋" panose="02010609060101010101" pitchFamily="49" charset="-122"/>
            </a:endParaRPr>
          </a:p>
          <a:p>
            <a:pPr marL="0" lvl="1" indent="180000" algn="just">
              <a:lnSpc>
                <a:spcPct val="150000"/>
              </a:lnSpc>
              <a:buSzPct val="70000"/>
              <a:buBlip>
                <a:blip r:embed="rId3"/>
              </a:buBlip>
            </a:pPr>
            <a:r>
              <a:rPr lang="zh-CN" altLang="en-US" sz="1200" b="1" dirty="0">
                <a:solidFill>
                  <a:srgbClr val="C00000"/>
                </a:solidFill>
                <a:latin typeface="仿宋" panose="02010609060101010101" pitchFamily="49" charset="-122"/>
                <a:ea typeface="仿宋" panose="02010609060101010101" pitchFamily="49" charset="-122"/>
              </a:rPr>
              <a:t>共享单车市场</a:t>
            </a:r>
            <a:endParaRPr lang="en-US" altLang="zh-CN" sz="1200" b="1" dirty="0">
              <a:solidFill>
                <a:srgbClr val="C00000"/>
              </a:solidFill>
              <a:latin typeface="仿宋" panose="02010609060101010101" pitchFamily="49" charset="-122"/>
              <a:ea typeface="仿宋" panose="02010609060101010101" pitchFamily="49" charset="-122"/>
            </a:endParaRPr>
          </a:p>
          <a:p>
            <a:pPr marL="288000" lvl="1">
              <a:lnSpc>
                <a:spcPct val="125000"/>
              </a:lnSpc>
              <a:buSzPct val="70000"/>
            </a:pPr>
            <a:r>
              <a:rPr lang="zh-CN" altLang="en-US" sz="1100" dirty="0">
                <a:latin typeface="仿宋" panose="02010609060101010101" pitchFamily="49" charset="-122"/>
                <a:ea typeface="仿宋" panose="02010609060101010101" pitchFamily="49" charset="-122"/>
              </a:rPr>
              <a:t>国内市场较为稳定，每年</a:t>
            </a:r>
            <a:r>
              <a:rPr lang="en-US" altLang="zh-CN" sz="1100" dirty="0">
                <a:latin typeface="仿宋" panose="02010609060101010101" pitchFamily="49" charset="-122"/>
                <a:ea typeface="仿宋" panose="02010609060101010101" pitchFamily="49" charset="-122"/>
              </a:rPr>
              <a:t>6000</a:t>
            </a:r>
            <a:r>
              <a:rPr lang="zh-CN" altLang="en-US" sz="1100" dirty="0">
                <a:latin typeface="仿宋" panose="02010609060101010101" pitchFamily="49" charset="-122"/>
                <a:ea typeface="仿宋" panose="02010609060101010101" pitchFamily="49" charset="-122"/>
              </a:rPr>
              <a:t>万颗芯片需求量，总市场空间</a:t>
            </a:r>
            <a:r>
              <a:rPr lang="en-US" altLang="zh-CN" sz="1200" b="1" u="sng" dirty="0">
                <a:solidFill>
                  <a:srgbClr val="C00000"/>
                </a:solidFill>
                <a:latin typeface="仿宋" panose="02010609060101010101" pitchFamily="49" charset="-122"/>
                <a:ea typeface="仿宋" panose="02010609060101010101" pitchFamily="49" charset="-122"/>
              </a:rPr>
              <a:t>5</a:t>
            </a:r>
            <a:r>
              <a:rPr lang="zh-CN" altLang="en-US" sz="1200" b="1" u="sng" dirty="0">
                <a:solidFill>
                  <a:srgbClr val="C00000"/>
                </a:solidFill>
                <a:latin typeface="仿宋" panose="02010609060101010101" pitchFamily="49" charset="-122"/>
                <a:ea typeface="仿宋" panose="02010609060101010101" pitchFamily="49" charset="-122"/>
              </a:rPr>
              <a:t>亿元</a:t>
            </a:r>
            <a:r>
              <a:rPr lang="zh-CN" altLang="en-US" sz="1100" dirty="0">
                <a:latin typeface="仿宋" panose="02010609060101010101" pitchFamily="49" charset="-122"/>
                <a:ea typeface="仿宋" panose="02010609060101010101" pitchFamily="49" charset="-122"/>
              </a:rPr>
              <a:t>。</a:t>
            </a:r>
            <a:endParaRPr lang="en-US" altLang="zh-CN" sz="1100" dirty="0">
              <a:latin typeface="仿宋" panose="02010609060101010101" pitchFamily="49" charset="-122"/>
              <a:ea typeface="仿宋" panose="02010609060101010101" pitchFamily="49" charset="-122"/>
            </a:endParaRPr>
          </a:p>
          <a:p>
            <a:pPr marL="0" lvl="1" indent="0" algn="just">
              <a:lnSpc>
                <a:spcPct val="150000"/>
              </a:lnSpc>
              <a:buSzPct val="70000"/>
              <a:buNone/>
            </a:pPr>
            <a:r>
              <a:rPr lang="en-US" altLang="zh-CN" sz="1600" b="1" u="sng" kern="100" dirty="0">
                <a:solidFill>
                  <a:srgbClr val="C00000"/>
                </a:solidFill>
                <a:latin typeface="仿宋" panose="02010609060101010101" pitchFamily="49" charset="-122"/>
                <a:ea typeface="仿宋" panose="02010609060101010101" pitchFamily="49" charset="-122"/>
                <a:cs typeface="Times New Roman" panose="02020603050405020304" pitchFamily="18" charset="0"/>
                <a:sym typeface="Wingdings" panose="05000000000000000000" pitchFamily="2" charset="2"/>
              </a:rPr>
              <a:t></a:t>
            </a:r>
            <a:r>
              <a:rPr lang="zh-CN" altLang="zh-CN" sz="1600" b="1" u="sng" kern="100" dirty="0">
                <a:solidFill>
                  <a:srgbClr val="C00000"/>
                </a:solidFill>
                <a:effectLst/>
                <a:latin typeface="仿宋" panose="02010609060101010101" pitchFamily="49" charset="-122"/>
                <a:ea typeface="仿宋" panose="02010609060101010101" pitchFamily="49" charset="-122"/>
                <a:cs typeface="Times New Roman" panose="02020603050405020304" pitchFamily="18" charset="0"/>
              </a:rPr>
              <a:t>需求总量大约每年</a:t>
            </a:r>
            <a:r>
              <a:rPr lang="en-US" altLang="zh-CN" sz="1600" b="1" u="sng" kern="100" dirty="0">
                <a:solidFill>
                  <a:srgbClr val="C00000"/>
                </a:solidFill>
                <a:effectLst/>
                <a:latin typeface="仿宋" panose="02010609060101010101" pitchFamily="49" charset="-122"/>
                <a:ea typeface="仿宋" panose="02010609060101010101" pitchFamily="49" charset="-122"/>
                <a:cs typeface="Times New Roman" panose="02020603050405020304" pitchFamily="18" charset="0"/>
              </a:rPr>
              <a:t>90</a:t>
            </a:r>
            <a:r>
              <a:rPr lang="zh-CN" altLang="zh-CN" sz="1600" b="1" u="sng" kern="100" dirty="0">
                <a:solidFill>
                  <a:srgbClr val="C00000"/>
                </a:solidFill>
                <a:effectLst/>
                <a:latin typeface="仿宋" panose="02010609060101010101" pitchFamily="49" charset="-122"/>
                <a:ea typeface="仿宋" panose="02010609060101010101" pitchFamily="49" charset="-122"/>
                <a:cs typeface="Times New Roman" panose="02020603050405020304" pitchFamily="18" charset="0"/>
              </a:rPr>
              <a:t>亿颗，市场规模约</a:t>
            </a:r>
            <a:r>
              <a:rPr lang="en-US" altLang="zh-CN" sz="1600" b="1" u="sng" kern="100" dirty="0">
                <a:solidFill>
                  <a:srgbClr val="C00000"/>
                </a:solidFill>
                <a:effectLst/>
                <a:latin typeface="仿宋" panose="02010609060101010101" pitchFamily="49" charset="-122"/>
                <a:ea typeface="仿宋" panose="02010609060101010101" pitchFamily="49" charset="-122"/>
                <a:cs typeface="Times New Roman" panose="02020603050405020304" pitchFamily="18" charset="0"/>
              </a:rPr>
              <a:t>160</a:t>
            </a:r>
            <a:r>
              <a:rPr lang="zh-CN" altLang="zh-CN" sz="1600" b="1" u="sng" kern="100" dirty="0">
                <a:solidFill>
                  <a:srgbClr val="C00000"/>
                </a:solidFill>
                <a:effectLst/>
                <a:latin typeface="仿宋" panose="02010609060101010101" pitchFamily="49" charset="-122"/>
                <a:ea typeface="仿宋" panose="02010609060101010101" pitchFamily="49" charset="-122"/>
                <a:cs typeface="Times New Roman" panose="02020603050405020304" pitchFamily="18" charset="0"/>
              </a:rPr>
              <a:t>亿元。</a:t>
            </a:r>
            <a:endParaRPr lang="en-US" altLang="zh-CN" sz="1100" b="1" u="sng" dirty="0">
              <a:solidFill>
                <a:srgbClr val="C00000"/>
              </a:solidFill>
              <a:latin typeface="仿宋" panose="02010609060101010101" pitchFamily="49" charset="-122"/>
              <a:ea typeface="仿宋" panose="02010609060101010101" pitchFamily="49" charset="-122"/>
            </a:endParaRPr>
          </a:p>
          <a:p>
            <a:pPr marL="76545" lvl="1" indent="0">
              <a:lnSpc>
                <a:spcPct val="150000"/>
              </a:lnSpc>
              <a:buSzPct val="70000"/>
              <a:buNone/>
            </a:pPr>
            <a:endParaRPr lang="en-US" altLang="zh-CN" sz="1200" b="1" kern="100" dirty="0">
              <a:latin typeface="仿宋" panose="02010609060101010101" pitchFamily="49" charset="-122"/>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8538132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2">
            <a:extLst>
              <a:ext uri="{FF2B5EF4-FFF2-40B4-BE49-F238E27FC236}">
                <a16:creationId xmlns:a16="http://schemas.microsoft.com/office/drawing/2014/main" id="{FB44D3E7-7F29-4DE5-8E16-D60CF0F0A8ED}"/>
              </a:ext>
            </a:extLst>
          </p:cNvPr>
          <p:cNvSpPr txBox="1">
            <a:spLocks noChangeArrowheads="1"/>
          </p:cNvSpPr>
          <p:nvPr/>
        </p:nvSpPr>
        <p:spPr>
          <a:xfrm>
            <a:off x="457200" y="1"/>
            <a:ext cx="8229600" cy="411600"/>
          </a:xfrm>
          <a:prstGeom prst="rect">
            <a:avLst/>
          </a:prstGeom>
          <a:noFill/>
          <a:ln w="9525">
            <a:noFill/>
          </a:ln>
        </p:spPr>
        <p:txBody>
          <a:bodyPr lIns="99798" tIns="49899" rIns="99798" bIns="49899" anchor="ctr"/>
          <a:lstStyle>
            <a:lvl1pPr marL="678180" indent="-678180" algn="ctr" rtl="0" eaLnBrk="0" fontAlgn="base" hangingPunct="0">
              <a:spcBef>
                <a:spcPct val="0"/>
              </a:spcBef>
              <a:spcAft>
                <a:spcPct val="0"/>
              </a:spcAft>
              <a:defRPr sz="3265">
                <a:solidFill>
                  <a:schemeClr val="tx1"/>
                </a:solidFill>
                <a:latin typeface="微软雅黑" panose="020B0503020204020204" pitchFamily="34" charset="-122"/>
                <a:ea typeface="微软雅黑" panose="020B0503020204020204" pitchFamily="34" charset="-122"/>
                <a:cs typeface="+mj-cs"/>
                <a:sym typeface="Calibri" panose="020F0502020204030204" pitchFamily="34" charset="0"/>
              </a:defRPr>
            </a:lvl1pPr>
            <a:lvl2pPr marL="996950" indent="-996950" algn="ctr" rtl="0" eaLnBrk="0" fontAlgn="base" hangingPunct="0">
              <a:spcBef>
                <a:spcPct val="0"/>
              </a:spcBef>
              <a:spcAft>
                <a:spcPct val="0"/>
              </a:spcAft>
              <a:defRPr sz="4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996950" indent="-996950" algn="ctr" rtl="0" eaLnBrk="0" fontAlgn="base" hangingPunct="0">
              <a:spcBef>
                <a:spcPct val="0"/>
              </a:spcBef>
              <a:spcAft>
                <a:spcPct val="0"/>
              </a:spcAft>
              <a:defRPr sz="48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996950" indent="-996950" algn="ctr" rtl="0" eaLnBrk="0" fontAlgn="base" hangingPunct="0">
              <a:spcBef>
                <a:spcPct val="0"/>
              </a:spcBef>
              <a:spcAft>
                <a:spcPct val="0"/>
              </a:spcAft>
              <a:defRPr sz="48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996950" indent="-996950" algn="ctr" rtl="0" eaLnBrk="0" fontAlgn="base" hangingPunct="0">
              <a:spcBef>
                <a:spcPct val="0"/>
              </a:spcBef>
              <a:spcAft>
                <a:spcPct val="0"/>
              </a:spcAft>
              <a:defRPr sz="48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1496695" indent="-998220" algn="ctr" rtl="0" fontAlgn="base">
              <a:spcBef>
                <a:spcPct val="0"/>
              </a:spcBef>
              <a:spcAft>
                <a:spcPct val="0"/>
              </a:spcAft>
              <a:defRPr sz="48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1995805" indent="-998220" algn="ctr" rtl="0" fontAlgn="base">
              <a:spcBef>
                <a:spcPct val="0"/>
              </a:spcBef>
              <a:spcAft>
                <a:spcPct val="0"/>
              </a:spcAft>
              <a:defRPr sz="48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2494915" indent="-998220" algn="ctr" rtl="0" fontAlgn="base">
              <a:spcBef>
                <a:spcPct val="0"/>
              </a:spcBef>
              <a:spcAft>
                <a:spcPct val="0"/>
              </a:spcAft>
              <a:defRPr sz="48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2994025" indent="-998220" algn="ctr" rtl="0" fontAlgn="base">
              <a:spcBef>
                <a:spcPct val="0"/>
              </a:spcBef>
              <a:spcAft>
                <a:spcPct val="0"/>
              </a:spcAft>
              <a:defRPr sz="48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l">
              <a:buFontTx/>
            </a:pPr>
            <a:r>
              <a:rPr lang="zh-CN" altLang="en-US" sz="2400" kern="0" dirty="0">
                <a:solidFill>
                  <a:schemeClr val="bg1">
                    <a:lumMod val="50000"/>
                  </a:schemeClr>
                </a:solidFill>
              </a:rPr>
              <a:t>三、行业分析</a:t>
            </a:r>
            <a:r>
              <a:rPr lang="en-US" altLang="zh-CN" sz="2400" kern="0" dirty="0">
                <a:solidFill>
                  <a:schemeClr val="bg1">
                    <a:lumMod val="50000"/>
                  </a:schemeClr>
                </a:solidFill>
              </a:rPr>
              <a:t>|</a:t>
            </a:r>
            <a:r>
              <a:rPr lang="zh-CN" altLang="en-US" sz="2000" kern="0" dirty="0"/>
              <a:t>竞争对手分析</a:t>
            </a:r>
            <a:endParaRPr lang="en-US" altLang="zh-CN" sz="2400" kern="0" dirty="0"/>
          </a:p>
        </p:txBody>
      </p:sp>
      <p:sp>
        <p:nvSpPr>
          <p:cNvPr id="6" name="AutoShape 2" descr="Dialog推出效率高达98%的DA9313电源管理芯片-充电头网">
            <a:extLst>
              <a:ext uri="{FF2B5EF4-FFF2-40B4-BE49-F238E27FC236}">
                <a16:creationId xmlns:a16="http://schemas.microsoft.com/office/drawing/2014/main" id="{F7F2DFCF-FDC2-4F28-AC87-85F89F907D2E}"/>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文本框 18">
            <a:extLst>
              <a:ext uri="{FF2B5EF4-FFF2-40B4-BE49-F238E27FC236}">
                <a16:creationId xmlns:a16="http://schemas.microsoft.com/office/drawing/2014/main" id="{32A85A83-4DF7-413E-9235-D71088823C9D}"/>
              </a:ext>
            </a:extLst>
          </p:cNvPr>
          <p:cNvSpPr txBox="1"/>
          <p:nvPr/>
        </p:nvSpPr>
        <p:spPr>
          <a:xfrm>
            <a:off x="457200" y="2670274"/>
            <a:ext cx="8147080" cy="2338397"/>
          </a:xfrm>
          <a:prstGeom prst="rect">
            <a:avLst/>
          </a:prstGeom>
          <a:noFill/>
        </p:spPr>
        <p:txBody>
          <a:bodyPr wrap="square">
            <a:spAutoFit/>
          </a:bodyPr>
          <a:lstStyle/>
          <a:p>
            <a:pPr indent="180000" algn="just" eaLnBrk="0" hangingPunct="0">
              <a:lnSpc>
                <a:spcPct val="150000"/>
              </a:lnSpc>
              <a:spcBef>
                <a:spcPts val="65"/>
              </a:spcBef>
              <a:buSzPct val="70000"/>
              <a:tabLst>
                <a:tab pos="457200" algn="l"/>
                <a:tab pos="914400" algn="l"/>
              </a:tabLst>
            </a:pPr>
            <a:r>
              <a:rPr lang="zh-CN" altLang="en-US" sz="1050" b="1" dirty="0">
                <a:latin typeface="仿宋" panose="02010609060101010101" pitchFamily="49" charset="-122"/>
                <a:ea typeface="仿宋" panose="02010609060101010101" pitchFamily="49" charset="-122"/>
                <a:sym typeface="Calibri" panose="020F0502020204030204" pitchFamily="34" charset="0"/>
              </a:rPr>
              <a:t>根据</a:t>
            </a:r>
            <a:r>
              <a:rPr lang="en-US" altLang="zh-CN" sz="1050" b="1" dirty="0">
                <a:latin typeface="仿宋" panose="02010609060101010101" pitchFamily="49" charset="-122"/>
                <a:ea typeface="仿宋" panose="02010609060101010101" pitchFamily="49" charset="-122"/>
                <a:sym typeface="Calibri" panose="020F0502020204030204" pitchFamily="34" charset="0"/>
              </a:rPr>
              <a:t>OPPO</a:t>
            </a:r>
            <a:r>
              <a:rPr lang="zh-CN" altLang="en-US" sz="1050" b="1" dirty="0">
                <a:latin typeface="仿宋" panose="02010609060101010101" pitchFamily="49" charset="-122"/>
                <a:ea typeface="仿宋" panose="02010609060101010101" pitchFamily="49" charset="-122"/>
                <a:sym typeface="Calibri" panose="020F0502020204030204" pitchFamily="34" charset="0"/>
              </a:rPr>
              <a:t>的方案需求，解决了</a:t>
            </a:r>
            <a:r>
              <a:rPr lang="en-US" altLang="zh-CN" sz="1050" b="1" dirty="0">
                <a:latin typeface="仿宋" panose="02010609060101010101" pitchFamily="49" charset="-122"/>
                <a:ea typeface="仿宋" panose="02010609060101010101" pitchFamily="49" charset="-122"/>
              </a:rPr>
              <a:t>DA9313</a:t>
            </a:r>
            <a:r>
              <a:rPr lang="zh-CN" altLang="en-US" sz="1050" b="1" dirty="0">
                <a:latin typeface="仿宋" panose="02010609060101010101" pitchFamily="49" charset="-122"/>
                <a:ea typeface="仿宋" panose="02010609060101010101" pitchFamily="49" charset="-122"/>
              </a:rPr>
              <a:t>的插拔可靠性上较差、音频噪声较大等问题，并增加了</a:t>
            </a:r>
            <a:r>
              <a:rPr lang="en-US" altLang="zh-CN" sz="1050" b="1" dirty="0">
                <a:latin typeface="仿宋" panose="02010609060101010101" pitchFamily="49" charset="-122"/>
                <a:ea typeface="仿宋" panose="02010609060101010101" pitchFamily="49" charset="-122"/>
              </a:rPr>
              <a:t>8</a:t>
            </a:r>
            <a:r>
              <a:rPr lang="zh-CN" altLang="en-US" sz="1050" b="1" dirty="0">
                <a:latin typeface="仿宋" panose="02010609060101010101" pitchFamily="49" charset="-122"/>
                <a:ea typeface="仿宋" panose="02010609060101010101" pitchFamily="49" charset="-122"/>
              </a:rPr>
              <a:t>个特有的功能：</a:t>
            </a:r>
            <a:endParaRPr lang="en-US" altLang="zh-CN" sz="1050" b="1" dirty="0">
              <a:latin typeface="仿宋" panose="02010609060101010101" pitchFamily="49" charset="-122"/>
              <a:ea typeface="仿宋" panose="02010609060101010101" pitchFamily="49" charset="-122"/>
              <a:sym typeface="Calibri" panose="020F0502020204030204" pitchFamily="34" charset="0"/>
            </a:endParaRPr>
          </a:p>
          <a:p>
            <a:pPr indent="180000" algn="just" eaLnBrk="0" hangingPunct="0">
              <a:lnSpc>
                <a:spcPct val="150000"/>
              </a:lnSpc>
              <a:spcBef>
                <a:spcPts val="65"/>
              </a:spcBef>
              <a:buSzPct val="70000"/>
              <a:tabLst>
                <a:tab pos="457200" algn="l"/>
                <a:tab pos="914400" algn="l"/>
              </a:tabLst>
            </a:pPr>
            <a:r>
              <a:rPr lang="zh-CN" altLang="en-US" sz="1050" dirty="0">
                <a:latin typeface="仿宋" panose="02010609060101010101" pitchFamily="49" charset="-122"/>
                <a:ea typeface="仿宋" panose="02010609060101010101" pitchFamily="49" charset="-122"/>
                <a:sym typeface="Calibri" panose="020F0502020204030204" pitchFamily="34" charset="0"/>
              </a:rPr>
              <a:t>1、增加VBAT OVP功能--防止输入过压损坏芯片内部器件。</a:t>
            </a:r>
            <a:endParaRPr lang="en-US" altLang="zh-CN" sz="1050" dirty="0">
              <a:latin typeface="仿宋" panose="02010609060101010101" pitchFamily="49" charset="-122"/>
              <a:ea typeface="仿宋" panose="02010609060101010101" pitchFamily="49" charset="-122"/>
              <a:sym typeface="Calibri" panose="020F0502020204030204" pitchFamily="34" charset="0"/>
            </a:endParaRPr>
          </a:p>
          <a:p>
            <a:pPr indent="180000" algn="just" eaLnBrk="0" hangingPunct="0">
              <a:lnSpc>
                <a:spcPct val="150000"/>
              </a:lnSpc>
              <a:spcBef>
                <a:spcPts val="65"/>
              </a:spcBef>
              <a:buSzPct val="70000"/>
              <a:tabLst>
                <a:tab pos="457200" algn="l"/>
                <a:tab pos="914400" algn="l"/>
              </a:tabLst>
            </a:pPr>
            <a:r>
              <a:rPr lang="zh-CN" altLang="en-US" sz="1050" dirty="0">
                <a:latin typeface="仿宋" panose="02010609060101010101" pitchFamily="49" charset="-122"/>
                <a:ea typeface="仿宋" panose="02010609060101010101" pitchFamily="49" charset="-122"/>
                <a:sym typeface="Calibri" panose="020F0502020204030204" pitchFamily="34" charset="0"/>
              </a:rPr>
              <a:t>2、增加VOUT OVP功能--防止输出端过压损坏芯片内部器件。</a:t>
            </a:r>
            <a:endParaRPr lang="en-US" altLang="zh-CN" sz="1050" dirty="0">
              <a:latin typeface="仿宋" panose="02010609060101010101" pitchFamily="49" charset="-122"/>
              <a:ea typeface="仿宋" panose="02010609060101010101" pitchFamily="49" charset="-122"/>
              <a:sym typeface="Calibri" panose="020F0502020204030204" pitchFamily="34" charset="0"/>
            </a:endParaRPr>
          </a:p>
          <a:p>
            <a:pPr indent="180000" algn="just" eaLnBrk="0" hangingPunct="0">
              <a:lnSpc>
                <a:spcPct val="150000"/>
              </a:lnSpc>
              <a:spcBef>
                <a:spcPts val="65"/>
              </a:spcBef>
              <a:buSzPct val="70000"/>
              <a:tabLst>
                <a:tab pos="457200" algn="l"/>
                <a:tab pos="914400" algn="l"/>
              </a:tabLst>
            </a:pPr>
            <a:r>
              <a:rPr lang="zh-CN" altLang="en-US" sz="1050" dirty="0">
                <a:latin typeface="仿宋" panose="02010609060101010101" pitchFamily="49" charset="-122"/>
                <a:ea typeface="仿宋" panose="02010609060101010101" pitchFamily="49" charset="-122"/>
                <a:sym typeface="Calibri" panose="020F0502020204030204" pitchFamily="34" charset="0"/>
              </a:rPr>
              <a:t>3、增加NAS功能--音频模式，轻载时无音频噪声。</a:t>
            </a:r>
            <a:endParaRPr lang="en-US" altLang="zh-CN" sz="1050" dirty="0">
              <a:latin typeface="仿宋" panose="02010609060101010101" pitchFamily="49" charset="-122"/>
              <a:ea typeface="仿宋" panose="02010609060101010101" pitchFamily="49" charset="-122"/>
              <a:sym typeface="Calibri" panose="020F0502020204030204" pitchFamily="34" charset="0"/>
            </a:endParaRPr>
          </a:p>
          <a:p>
            <a:pPr indent="180000" algn="just" eaLnBrk="0" hangingPunct="0">
              <a:lnSpc>
                <a:spcPct val="150000"/>
              </a:lnSpc>
              <a:spcBef>
                <a:spcPts val="65"/>
              </a:spcBef>
              <a:buSzPct val="70000"/>
              <a:tabLst>
                <a:tab pos="457200" algn="l"/>
                <a:tab pos="914400" algn="l"/>
              </a:tabLst>
            </a:pPr>
            <a:r>
              <a:rPr lang="zh-CN" altLang="en-US" sz="1050" dirty="0">
                <a:latin typeface="仿宋" panose="02010609060101010101" pitchFamily="49" charset="-122"/>
                <a:ea typeface="仿宋" panose="02010609060101010101" pitchFamily="49" charset="-122"/>
                <a:sym typeface="Calibri" panose="020F0502020204030204" pitchFamily="34" charset="0"/>
              </a:rPr>
              <a:t>4、增加VOUT快速放电功能--解决输出端有残留电压，产线后端芯片损坏的问题。</a:t>
            </a:r>
            <a:endParaRPr lang="en-US" altLang="zh-CN" sz="1050" dirty="0">
              <a:latin typeface="仿宋" panose="02010609060101010101" pitchFamily="49" charset="-122"/>
              <a:ea typeface="仿宋" panose="02010609060101010101" pitchFamily="49" charset="-122"/>
              <a:sym typeface="Calibri" panose="020F0502020204030204" pitchFamily="34" charset="0"/>
            </a:endParaRPr>
          </a:p>
          <a:p>
            <a:pPr indent="180000" algn="just" eaLnBrk="0" hangingPunct="0">
              <a:lnSpc>
                <a:spcPct val="150000"/>
              </a:lnSpc>
              <a:spcBef>
                <a:spcPts val="65"/>
              </a:spcBef>
              <a:buSzPct val="70000"/>
              <a:tabLst>
                <a:tab pos="457200" algn="l"/>
                <a:tab pos="914400" algn="l"/>
              </a:tabLst>
            </a:pPr>
            <a:r>
              <a:rPr lang="zh-CN" altLang="en-US" sz="1050" dirty="0">
                <a:latin typeface="仿宋" panose="02010609060101010101" pitchFamily="49" charset="-122"/>
                <a:ea typeface="仿宋" panose="02010609060101010101" pitchFamily="49" charset="-122"/>
                <a:sym typeface="Calibri" panose="020F0502020204030204" pitchFamily="34" charset="0"/>
              </a:rPr>
              <a:t>5、增加工作频率250KHZ 500KHZ 1MHZ可选--提供低于500KHZ工作频率选项，减少输出纹波。</a:t>
            </a:r>
            <a:endParaRPr lang="en-US" altLang="zh-CN" sz="1050" dirty="0">
              <a:latin typeface="仿宋" panose="02010609060101010101" pitchFamily="49" charset="-122"/>
              <a:ea typeface="仿宋" panose="02010609060101010101" pitchFamily="49" charset="-122"/>
              <a:sym typeface="Calibri" panose="020F0502020204030204" pitchFamily="34" charset="0"/>
            </a:endParaRPr>
          </a:p>
          <a:p>
            <a:pPr indent="180000" algn="just" eaLnBrk="0" hangingPunct="0">
              <a:lnSpc>
                <a:spcPct val="150000"/>
              </a:lnSpc>
              <a:spcBef>
                <a:spcPts val="65"/>
              </a:spcBef>
              <a:buSzPct val="70000"/>
              <a:tabLst>
                <a:tab pos="457200" algn="l"/>
                <a:tab pos="914400" algn="l"/>
              </a:tabLst>
            </a:pPr>
            <a:r>
              <a:rPr lang="zh-CN" altLang="en-US" sz="1050" dirty="0">
                <a:latin typeface="仿宋" panose="02010609060101010101" pitchFamily="49" charset="-122"/>
                <a:ea typeface="仿宋" panose="02010609060101010101" pitchFamily="49" charset="-122"/>
                <a:sym typeface="Calibri" panose="020F0502020204030204" pitchFamily="34" charset="0"/>
              </a:rPr>
              <a:t>6、增加展频功能--减少射频干扰。</a:t>
            </a:r>
            <a:endParaRPr lang="en-US" altLang="zh-CN" sz="1050" dirty="0">
              <a:latin typeface="仿宋" panose="02010609060101010101" pitchFamily="49" charset="-122"/>
              <a:ea typeface="仿宋" panose="02010609060101010101" pitchFamily="49" charset="-122"/>
              <a:sym typeface="Calibri" panose="020F0502020204030204" pitchFamily="34" charset="0"/>
            </a:endParaRPr>
          </a:p>
          <a:p>
            <a:pPr indent="180000" algn="just" eaLnBrk="0" hangingPunct="0">
              <a:lnSpc>
                <a:spcPct val="150000"/>
              </a:lnSpc>
              <a:spcBef>
                <a:spcPts val="65"/>
              </a:spcBef>
              <a:buSzPct val="70000"/>
              <a:tabLst>
                <a:tab pos="457200" algn="l"/>
                <a:tab pos="914400" algn="l"/>
              </a:tabLst>
            </a:pPr>
            <a:r>
              <a:rPr lang="zh-CN" altLang="en-US" sz="1050" dirty="0">
                <a:latin typeface="仿宋" panose="02010609060101010101" pitchFamily="49" charset="-122"/>
                <a:ea typeface="仿宋" panose="02010609060101010101" pitchFamily="49" charset="-122"/>
                <a:sym typeface="Calibri" panose="020F0502020204030204" pitchFamily="34" charset="0"/>
              </a:rPr>
              <a:t>7、优化快速上电功能，支持2V/us上电速度不损坏芯片。</a:t>
            </a:r>
            <a:endParaRPr lang="en-US" altLang="zh-CN" sz="1050" dirty="0">
              <a:latin typeface="仿宋" panose="02010609060101010101" pitchFamily="49" charset="-122"/>
              <a:ea typeface="仿宋" panose="02010609060101010101" pitchFamily="49" charset="-122"/>
              <a:sym typeface="Calibri" panose="020F0502020204030204" pitchFamily="34" charset="0"/>
            </a:endParaRPr>
          </a:p>
          <a:p>
            <a:pPr indent="180000" algn="just" eaLnBrk="0" hangingPunct="0">
              <a:lnSpc>
                <a:spcPct val="150000"/>
              </a:lnSpc>
              <a:spcBef>
                <a:spcPts val="65"/>
              </a:spcBef>
              <a:buSzPct val="70000"/>
              <a:tabLst>
                <a:tab pos="457200" algn="l"/>
                <a:tab pos="914400" algn="l"/>
              </a:tabLst>
            </a:pPr>
            <a:r>
              <a:rPr lang="zh-CN" altLang="en-US" sz="1050" dirty="0">
                <a:latin typeface="仿宋" panose="02010609060101010101" pitchFamily="49" charset="-122"/>
                <a:ea typeface="仿宋" panose="02010609060101010101" pitchFamily="49" charset="-122"/>
                <a:sym typeface="Calibri" panose="020F0502020204030204" pitchFamily="34" charset="0"/>
              </a:rPr>
              <a:t>8、优化GPIO引脚上拉电平域支持，I2C支持1.8V</a:t>
            </a:r>
            <a:r>
              <a:rPr lang="en-US" altLang="zh-CN" sz="1050" dirty="0">
                <a:latin typeface="仿宋" panose="02010609060101010101" pitchFamily="49" charset="-122"/>
                <a:ea typeface="仿宋" panose="02010609060101010101" pitchFamily="49" charset="-122"/>
                <a:sym typeface="Calibri" panose="020F0502020204030204" pitchFamily="34" charset="0"/>
              </a:rPr>
              <a:t>-</a:t>
            </a:r>
            <a:r>
              <a:rPr lang="zh-CN" altLang="en-US" sz="1050" dirty="0">
                <a:latin typeface="仿宋" panose="02010609060101010101" pitchFamily="49" charset="-122"/>
                <a:ea typeface="仿宋" panose="02010609060101010101" pitchFamily="49" charset="-122"/>
                <a:sym typeface="Calibri" panose="020F0502020204030204" pitchFamily="34" charset="0"/>
              </a:rPr>
              <a:t>5V上拉电压。</a:t>
            </a:r>
          </a:p>
        </p:txBody>
      </p:sp>
      <p:pic>
        <p:nvPicPr>
          <p:cNvPr id="23" name="图片 22">
            <a:extLst>
              <a:ext uri="{FF2B5EF4-FFF2-40B4-BE49-F238E27FC236}">
                <a16:creationId xmlns:a16="http://schemas.microsoft.com/office/drawing/2014/main" id="{3D59E153-030F-474B-822B-18E11574470F}"/>
              </a:ext>
            </a:extLst>
          </p:cNvPr>
          <p:cNvPicPr>
            <a:picLocks noChangeAspect="1"/>
          </p:cNvPicPr>
          <p:nvPr/>
        </p:nvPicPr>
        <p:blipFill>
          <a:blip r:embed="rId3"/>
          <a:stretch>
            <a:fillRect/>
          </a:stretch>
        </p:blipFill>
        <p:spPr>
          <a:xfrm>
            <a:off x="691328" y="688466"/>
            <a:ext cx="3802998" cy="1780459"/>
          </a:xfrm>
          <a:prstGeom prst="rect">
            <a:avLst/>
          </a:prstGeom>
        </p:spPr>
      </p:pic>
      <p:pic>
        <p:nvPicPr>
          <p:cNvPr id="25" name="图片 24">
            <a:extLst>
              <a:ext uri="{FF2B5EF4-FFF2-40B4-BE49-F238E27FC236}">
                <a16:creationId xmlns:a16="http://schemas.microsoft.com/office/drawing/2014/main" id="{1D297803-34D4-4E1F-9351-2C3B1BC2B8EE}"/>
              </a:ext>
            </a:extLst>
          </p:cNvPr>
          <p:cNvPicPr>
            <a:picLocks noChangeAspect="1"/>
          </p:cNvPicPr>
          <p:nvPr/>
        </p:nvPicPr>
        <p:blipFill>
          <a:blip r:embed="rId4"/>
          <a:stretch>
            <a:fillRect/>
          </a:stretch>
        </p:blipFill>
        <p:spPr>
          <a:xfrm>
            <a:off x="5311032" y="791430"/>
            <a:ext cx="3125550" cy="1574529"/>
          </a:xfrm>
          <a:prstGeom prst="rect">
            <a:avLst/>
          </a:prstGeom>
        </p:spPr>
      </p:pic>
      <p:sp>
        <p:nvSpPr>
          <p:cNvPr id="2" name="文本框 1">
            <a:extLst>
              <a:ext uri="{FF2B5EF4-FFF2-40B4-BE49-F238E27FC236}">
                <a16:creationId xmlns:a16="http://schemas.microsoft.com/office/drawing/2014/main" id="{884F0BF3-B316-472E-AFE2-326E4A5720AF}"/>
              </a:ext>
            </a:extLst>
          </p:cNvPr>
          <p:cNvSpPr txBox="1"/>
          <p:nvPr/>
        </p:nvSpPr>
        <p:spPr>
          <a:xfrm>
            <a:off x="4494326" y="1162392"/>
            <a:ext cx="648045" cy="369332"/>
          </a:xfrm>
          <a:prstGeom prst="rect">
            <a:avLst/>
          </a:prstGeom>
          <a:noFill/>
        </p:spPr>
        <p:txBody>
          <a:bodyPr wrap="square" rtlCol="0">
            <a:spAutoFit/>
          </a:bodyPr>
          <a:lstStyle/>
          <a:p>
            <a:r>
              <a:rPr lang="en-US" altLang="zh-CN" dirty="0">
                <a:solidFill>
                  <a:srgbClr val="C00000"/>
                </a:solidFill>
              </a:rPr>
              <a:t>vs.</a:t>
            </a:r>
            <a:endParaRPr lang="zh-CN" altLang="en-US" dirty="0">
              <a:solidFill>
                <a:srgbClr val="C00000"/>
              </a:solidFill>
            </a:endParaRPr>
          </a:p>
        </p:txBody>
      </p:sp>
      <p:sp>
        <p:nvSpPr>
          <p:cNvPr id="8" name="文本框 7">
            <a:extLst>
              <a:ext uri="{FF2B5EF4-FFF2-40B4-BE49-F238E27FC236}">
                <a16:creationId xmlns:a16="http://schemas.microsoft.com/office/drawing/2014/main" id="{F016F383-16E9-4238-966E-F06E04753B18}"/>
              </a:ext>
            </a:extLst>
          </p:cNvPr>
          <p:cNvSpPr txBox="1"/>
          <p:nvPr/>
        </p:nvSpPr>
        <p:spPr>
          <a:xfrm>
            <a:off x="827740" y="420764"/>
            <a:ext cx="2270430" cy="307777"/>
          </a:xfrm>
          <a:prstGeom prst="rect">
            <a:avLst/>
          </a:prstGeom>
          <a:noFill/>
        </p:spPr>
        <p:txBody>
          <a:bodyPr wrap="square" rtlCol="0">
            <a:spAutoFit/>
          </a:bodyPr>
          <a:lstStyle/>
          <a:p>
            <a:r>
              <a:rPr lang="en-US" altLang="zh-CN" sz="1400" b="1" dirty="0">
                <a:latin typeface="仿宋" panose="02010609060101010101" pitchFamily="49" charset="-122"/>
                <a:ea typeface="仿宋" panose="02010609060101010101" pitchFamily="49" charset="-122"/>
              </a:rPr>
              <a:t>DA9313-Dailog</a:t>
            </a:r>
            <a:endParaRPr lang="zh-CN" altLang="en-US" sz="1400" b="1" dirty="0">
              <a:latin typeface="仿宋" panose="02010609060101010101" pitchFamily="49" charset="-122"/>
              <a:ea typeface="仿宋" panose="02010609060101010101" pitchFamily="49" charset="-122"/>
            </a:endParaRPr>
          </a:p>
        </p:txBody>
      </p:sp>
      <p:sp>
        <p:nvSpPr>
          <p:cNvPr id="9" name="文本框 8">
            <a:extLst>
              <a:ext uri="{FF2B5EF4-FFF2-40B4-BE49-F238E27FC236}">
                <a16:creationId xmlns:a16="http://schemas.microsoft.com/office/drawing/2014/main" id="{5F8518D7-2D46-4DCD-AF65-DBB939732109}"/>
              </a:ext>
            </a:extLst>
          </p:cNvPr>
          <p:cNvSpPr txBox="1"/>
          <p:nvPr/>
        </p:nvSpPr>
        <p:spPr>
          <a:xfrm>
            <a:off x="5311032" y="419550"/>
            <a:ext cx="2270430" cy="307777"/>
          </a:xfrm>
          <a:prstGeom prst="rect">
            <a:avLst/>
          </a:prstGeom>
          <a:noFill/>
        </p:spPr>
        <p:txBody>
          <a:bodyPr wrap="square" rtlCol="0">
            <a:spAutoFit/>
          </a:bodyPr>
          <a:lstStyle/>
          <a:p>
            <a:r>
              <a:rPr lang="en-US" altLang="zh-CN" sz="1400" b="1" dirty="0">
                <a:latin typeface="仿宋" panose="02010609060101010101" pitchFamily="49" charset="-122"/>
                <a:ea typeface="仿宋" panose="02010609060101010101" pitchFamily="49" charset="-122"/>
              </a:rPr>
              <a:t>SD77313-BMT</a:t>
            </a:r>
            <a:r>
              <a:rPr lang="zh-CN" altLang="en-US" sz="1400" b="1" dirty="0">
                <a:latin typeface="仿宋" panose="02010609060101010101" pitchFamily="49" charset="-122"/>
                <a:ea typeface="仿宋" panose="02010609060101010101" pitchFamily="49" charset="-122"/>
              </a:rPr>
              <a:t>大瞬科技</a:t>
            </a:r>
          </a:p>
        </p:txBody>
      </p:sp>
    </p:spTree>
    <p:extLst>
      <p:ext uri="{BB962C8B-B14F-4D97-AF65-F5344CB8AC3E}">
        <p14:creationId xmlns:p14="http://schemas.microsoft.com/office/powerpoint/2010/main" val="4067196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a:extLst>
              <a:ext uri="{FF2B5EF4-FFF2-40B4-BE49-F238E27FC236}">
                <a16:creationId xmlns:a16="http://schemas.microsoft.com/office/drawing/2014/main" id="{EE955971-5319-4908-BB55-1046B7F2FD92}"/>
              </a:ext>
            </a:extLst>
          </p:cNvPr>
          <p:cNvSpPr>
            <a:spLocks noGrp="1" noChangeArrowheads="1"/>
          </p:cNvSpPr>
          <p:nvPr>
            <p:ph type="body" sz="half" idx="1"/>
          </p:nvPr>
        </p:nvSpPr>
        <p:spPr>
          <a:xfrm>
            <a:off x="457200" y="422009"/>
            <a:ext cx="8229600" cy="4165882"/>
          </a:xfrm>
        </p:spPr>
        <p:txBody>
          <a:bodyPr/>
          <a:lstStyle/>
          <a:p>
            <a:pPr marL="0" indent="180000" algn="just">
              <a:lnSpc>
                <a:spcPct val="150000"/>
              </a:lnSpc>
              <a:buSzPct val="70000"/>
              <a:buBlip>
                <a:blip r:embed="rId3"/>
              </a:buBlip>
            </a:pPr>
            <a:r>
              <a:rPr lang="en-US" altLang="zh-CN" sz="1100" b="1" kern="1200" dirty="0">
                <a:solidFill>
                  <a:srgbClr val="C00000"/>
                </a:solidFill>
              </a:rPr>
              <a:t>Dialog</a:t>
            </a:r>
          </a:p>
          <a:p>
            <a:pPr marL="0" indent="180000" algn="just">
              <a:lnSpc>
                <a:spcPct val="150000"/>
              </a:lnSpc>
              <a:buSzPct val="70000"/>
              <a:buNone/>
              <a:tabLst>
                <a:tab pos="457200" algn="l"/>
                <a:tab pos="914400" algn="l"/>
              </a:tabLst>
            </a:pPr>
            <a:r>
              <a:rPr lang="zh-CN" altLang="zh-CN" sz="1100" dirty="0"/>
              <a:t>在</a:t>
            </a:r>
            <a:r>
              <a:rPr lang="en-US" altLang="zh-CN" sz="1100" dirty="0"/>
              <a:t>Charge Pump</a:t>
            </a:r>
            <a:r>
              <a:rPr lang="zh-CN" altLang="zh-CN" sz="1100" dirty="0"/>
              <a:t>快充产品方面，</a:t>
            </a:r>
            <a:r>
              <a:rPr lang="en-US" altLang="zh-CN" sz="1100" dirty="0"/>
              <a:t>Dialog</a:t>
            </a:r>
            <a:r>
              <a:rPr lang="zh-CN" altLang="zh-CN" sz="1100" dirty="0"/>
              <a:t>的</a:t>
            </a:r>
            <a:r>
              <a:rPr lang="en-US" altLang="zh-CN" sz="1100" dirty="0"/>
              <a:t>DA9313</a:t>
            </a:r>
            <a:r>
              <a:rPr lang="zh-CN" altLang="en-US" sz="1100" dirty="0"/>
              <a:t>是</a:t>
            </a:r>
            <a:r>
              <a:rPr lang="zh-CN" altLang="en-US" sz="1100" b="1" dirty="0"/>
              <a:t>后置</a:t>
            </a:r>
            <a:r>
              <a:rPr lang="zh-CN" altLang="zh-CN" sz="1100" dirty="0"/>
              <a:t>电荷泵充电方案，可以达到</a:t>
            </a:r>
            <a:r>
              <a:rPr lang="en-US" altLang="zh-CN" sz="1100" dirty="0"/>
              <a:t>98%</a:t>
            </a:r>
            <a:r>
              <a:rPr lang="zh-CN" altLang="zh-CN" sz="1100" dirty="0"/>
              <a:t>的充电效率，实现</a:t>
            </a:r>
            <a:r>
              <a:rPr lang="en-US" altLang="zh-CN" sz="1100" dirty="0"/>
              <a:t>8A</a:t>
            </a:r>
            <a:r>
              <a:rPr lang="zh-CN" altLang="zh-CN" sz="1100" dirty="0"/>
              <a:t>的充电电流。</a:t>
            </a:r>
            <a:r>
              <a:rPr lang="en-US" altLang="zh-CN" sz="1100" dirty="0"/>
              <a:t>SD77313</a:t>
            </a:r>
            <a:r>
              <a:rPr lang="zh-CN" altLang="en-US" sz="1100" dirty="0"/>
              <a:t>直接和</a:t>
            </a:r>
            <a:r>
              <a:rPr lang="en-US" altLang="zh-CN" sz="1100" dirty="0"/>
              <a:t>DA9313</a:t>
            </a:r>
            <a:r>
              <a:rPr lang="zh-CN" altLang="en-US" sz="1100" dirty="0"/>
              <a:t>进行</a:t>
            </a:r>
            <a:r>
              <a:rPr lang="en-US" altLang="zh-CN" sz="1100" dirty="0"/>
              <a:t>pin2pin</a:t>
            </a:r>
            <a:r>
              <a:rPr lang="zh-CN" altLang="en-US" sz="1100" dirty="0"/>
              <a:t>竞争。</a:t>
            </a:r>
            <a:r>
              <a:rPr lang="en-US" altLang="zh-CN" sz="1100" dirty="0">
                <a:sym typeface="Wingdings" panose="05000000000000000000" pitchFamily="2" charset="2"/>
              </a:rPr>
              <a:t></a:t>
            </a:r>
            <a:r>
              <a:rPr lang="zh-CN" altLang="en-US" sz="1100" dirty="0"/>
              <a:t>效率相当，但在插拔可靠性、音频噪声上，大瞬更优，具有更多的定制化功能。</a:t>
            </a:r>
            <a:endParaRPr lang="zh-CN" altLang="zh-CN" sz="1100" dirty="0"/>
          </a:p>
          <a:p>
            <a:pPr marL="0" indent="180000" algn="just">
              <a:lnSpc>
                <a:spcPct val="150000"/>
              </a:lnSpc>
              <a:buSzPct val="70000"/>
              <a:buBlip>
                <a:blip r:embed="rId3"/>
              </a:buBlip>
            </a:pPr>
            <a:r>
              <a:rPr lang="en-US" altLang="zh-CN" sz="1100" b="1" kern="1200" dirty="0">
                <a:solidFill>
                  <a:srgbClr val="C00000"/>
                </a:solidFill>
              </a:rPr>
              <a:t>TI</a:t>
            </a:r>
            <a:r>
              <a:rPr lang="zh-CN" altLang="zh-CN" sz="1100" b="1" kern="1200" dirty="0">
                <a:solidFill>
                  <a:srgbClr val="C00000"/>
                </a:solidFill>
              </a:rPr>
              <a:t>（</a:t>
            </a:r>
            <a:r>
              <a:rPr lang="en-US" altLang="zh-CN" sz="1100" b="1" kern="1200" dirty="0">
                <a:solidFill>
                  <a:srgbClr val="C00000"/>
                </a:solidFill>
              </a:rPr>
              <a:t>Texas Instruments</a:t>
            </a:r>
            <a:r>
              <a:rPr lang="zh-CN" altLang="zh-CN" sz="1100" b="1" kern="1200" dirty="0">
                <a:solidFill>
                  <a:srgbClr val="C00000"/>
                </a:solidFill>
              </a:rPr>
              <a:t>，德州仪器，</a:t>
            </a:r>
            <a:r>
              <a:rPr lang="en-US" altLang="zh-CN" sz="1100" b="1" kern="1200" dirty="0">
                <a:solidFill>
                  <a:srgbClr val="C00000"/>
                </a:solidFill>
              </a:rPr>
              <a:t>NASDAQ:TXN.O</a:t>
            </a:r>
            <a:r>
              <a:rPr lang="zh-CN" altLang="zh-CN" sz="1100" b="1" kern="1200" dirty="0">
                <a:solidFill>
                  <a:srgbClr val="C00000"/>
                </a:solidFill>
              </a:rPr>
              <a:t>）</a:t>
            </a:r>
            <a:endParaRPr lang="en-US" altLang="zh-CN" sz="1100" b="1" kern="1200" dirty="0">
              <a:solidFill>
                <a:srgbClr val="C00000"/>
              </a:solidFill>
            </a:endParaRPr>
          </a:p>
          <a:p>
            <a:pPr marL="0" indent="180000" algn="just">
              <a:lnSpc>
                <a:spcPct val="150000"/>
              </a:lnSpc>
              <a:buSzPct val="70000"/>
              <a:buNone/>
              <a:tabLst>
                <a:tab pos="457200" algn="l"/>
                <a:tab pos="914400" algn="l"/>
              </a:tabLst>
            </a:pPr>
            <a:r>
              <a:rPr lang="zh-CN" altLang="zh-CN" sz="1100" dirty="0"/>
              <a:t>在</a:t>
            </a:r>
            <a:r>
              <a:rPr lang="en-US" altLang="zh-CN" sz="1100" dirty="0"/>
              <a:t>Charge Pump</a:t>
            </a:r>
            <a:r>
              <a:rPr lang="zh-CN" altLang="zh-CN" sz="1100" dirty="0"/>
              <a:t>快充产品方面，</a:t>
            </a:r>
            <a:r>
              <a:rPr lang="en-US" altLang="zh-CN" sz="1100" dirty="0"/>
              <a:t>TI</a:t>
            </a:r>
            <a:r>
              <a:rPr lang="zh-CN" altLang="zh-CN" sz="1100" dirty="0"/>
              <a:t>的</a:t>
            </a:r>
            <a:r>
              <a:rPr lang="en-US" altLang="zh-CN" sz="1100" dirty="0"/>
              <a:t>BQ25970</a:t>
            </a:r>
            <a:r>
              <a:rPr lang="zh-CN" altLang="zh-CN" sz="1100" dirty="0"/>
              <a:t>是</a:t>
            </a:r>
            <a:r>
              <a:rPr lang="zh-CN" altLang="en-US" sz="1100" b="1" dirty="0"/>
              <a:t>前置</a:t>
            </a:r>
            <a:r>
              <a:rPr lang="zh-CN" altLang="zh-CN" sz="1100" dirty="0"/>
              <a:t>电荷泵充电方案，可以达到</a:t>
            </a:r>
            <a:r>
              <a:rPr lang="en-US" altLang="zh-CN" sz="1100" dirty="0"/>
              <a:t>97%</a:t>
            </a:r>
            <a:r>
              <a:rPr lang="zh-CN" altLang="zh-CN" sz="1100" dirty="0"/>
              <a:t>的充电效率，实现</a:t>
            </a:r>
            <a:r>
              <a:rPr lang="en-US" altLang="zh-CN" sz="1100" dirty="0"/>
              <a:t>8A</a:t>
            </a:r>
            <a:r>
              <a:rPr lang="zh-CN" altLang="zh-CN" sz="1100" dirty="0"/>
              <a:t>的充电电流。</a:t>
            </a:r>
            <a:r>
              <a:rPr lang="en-US" altLang="zh-CN" sz="1100" dirty="0"/>
              <a:t>SD77316</a:t>
            </a:r>
            <a:r>
              <a:rPr lang="zh-CN" altLang="en-US" sz="1100" dirty="0"/>
              <a:t>效率高达</a:t>
            </a:r>
            <a:r>
              <a:rPr lang="en-US" altLang="zh-CN" sz="1100" dirty="0"/>
              <a:t>98%</a:t>
            </a:r>
            <a:r>
              <a:rPr lang="zh-CN" altLang="en-US" sz="1100" dirty="0"/>
              <a:t>，直接与</a:t>
            </a:r>
            <a:r>
              <a:rPr lang="en-US" altLang="zh-CN" sz="1100" dirty="0"/>
              <a:t>BQ25970 pin2pin</a:t>
            </a:r>
            <a:r>
              <a:rPr lang="zh-CN" altLang="en-US" sz="1100" dirty="0"/>
              <a:t>竞争。</a:t>
            </a:r>
            <a:endParaRPr lang="zh-CN" altLang="zh-CN" sz="1100" dirty="0"/>
          </a:p>
          <a:p>
            <a:pPr marL="0" indent="180000" algn="just">
              <a:lnSpc>
                <a:spcPct val="150000"/>
              </a:lnSpc>
              <a:buSzPct val="70000"/>
              <a:buNone/>
              <a:tabLst>
                <a:tab pos="457200" algn="l"/>
                <a:tab pos="914400" algn="l"/>
              </a:tabLst>
            </a:pPr>
            <a:r>
              <a:rPr lang="zh-CN" altLang="zh-CN" sz="1100" dirty="0"/>
              <a:t>在精密计量计产品方面，大瞬科技与</a:t>
            </a:r>
            <a:r>
              <a:rPr lang="en-US" altLang="zh-CN" sz="1100" dirty="0"/>
              <a:t>TI</a:t>
            </a:r>
            <a:r>
              <a:rPr lang="zh-CN" altLang="zh-CN" sz="1100" dirty="0"/>
              <a:t>在手机、共享单车、充电宝等领域存在竞争。</a:t>
            </a:r>
          </a:p>
          <a:p>
            <a:pPr marL="0" indent="180000" algn="just">
              <a:lnSpc>
                <a:spcPct val="150000"/>
              </a:lnSpc>
              <a:buSzPct val="70000"/>
              <a:buBlip>
                <a:blip r:embed="rId3"/>
              </a:buBlip>
            </a:pPr>
            <a:r>
              <a:rPr lang="en-US" altLang="zh-CN" sz="1100" b="1" kern="1200" dirty="0" err="1">
                <a:solidFill>
                  <a:srgbClr val="C00000"/>
                </a:solidFill>
              </a:rPr>
              <a:t>Intersil</a:t>
            </a:r>
            <a:r>
              <a:rPr lang="zh-CN" altLang="zh-CN" sz="1100" b="1" kern="1200" dirty="0">
                <a:solidFill>
                  <a:srgbClr val="C00000"/>
                </a:solidFill>
              </a:rPr>
              <a:t>（</a:t>
            </a:r>
            <a:r>
              <a:rPr lang="en-US" altLang="zh-CN" sz="1100" b="1" kern="1200" dirty="0">
                <a:solidFill>
                  <a:srgbClr val="C00000"/>
                </a:solidFill>
              </a:rPr>
              <a:t>Renesas Electronics Corporation, </a:t>
            </a:r>
            <a:r>
              <a:rPr lang="zh-CN" altLang="zh-CN" sz="1100" b="1" kern="1200" dirty="0">
                <a:solidFill>
                  <a:srgbClr val="C00000"/>
                </a:solidFill>
              </a:rPr>
              <a:t>英特矽尔）</a:t>
            </a:r>
            <a:endParaRPr lang="en-US" altLang="zh-CN" sz="1100" b="1" kern="1200" dirty="0">
              <a:solidFill>
                <a:srgbClr val="C00000"/>
              </a:solidFill>
            </a:endParaRPr>
          </a:p>
          <a:p>
            <a:pPr marL="0" indent="180000" algn="just">
              <a:lnSpc>
                <a:spcPct val="150000"/>
              </a:lnSpc>
              <a:buSzPct val="70000"/>
              <a:buNone/>
              <a:tabLst>
                <a:tab pos="457200" algn="l"/>
                <a:tab pos="914400" algn="l"/>
              </a:tabLst>
            </a:pPr>
            <a:r>
              <a:rPr lang="en-US" altLang="zh-CN" sz="1100" dirty="0" err="1"/>
              <a:t>Intersil</a:t>
            </a:r>
            <a:r>
              <a:rPr lang="zh-CN" altLang="zh-CN" sz="1100" dirty="0"/>
              <a:t>老牌的设计和制造高性能模拟半导体的领导厂商</a:t>
            </a:r>
            <a:r>
              <a:rPr lang="zh-CN" altLang="en-US" sz="1100" dirty="0"/>
              <a:t>，</a:t>
            </a:r>
            <a:r>
              <a:rPr lang="zh-CN" altLang="zh-CN" sz="1100" dirty="0"/>
              <a:t>瑞萨电子于</a:t>
            </a:r>
            <a:r>
              <a:rPr lang="en-US" altLang="zh-CN" sz="1100" dirty="0"/>
              <a:t>2016</a:t>
            </a:r>
            <a:r>
              <a:rPr lang="zh-CN" altLang="zh-CN" sz="1100" dirty="0"/>
              <a:t>年发起了对</a:t>
            </a:r>
            <a:r>
              <a:rPr lang="en-US" altLang="zh-CN" sz="1100" dirty="0" err="1"/>
              <a:t>Intersil</a:t>
            </a:r>
            <a:r>
              <a:rPr lang="zh-CN" altLang="zh-CN" sz="1100" dirty="0"/>
              <a:t>的并购</a:t>
            </a:r>
            <a:r>
              <a:rPr lang="zh-CN" altLang="en-US" sz="1100" dirty="0"/>
              <a:t>。</a:t>
            </a:r>
            <a:r>
              <a:rPr lang="en-US" altLang="zh-CN" sz="1100" dirty="0"/>
              <a:t> </a:t>
            </a:r>
            <a:r>
              <a:rPr lang="en-US" altLang="zh-CN" sz="1100" dirty="0" err="1"/>
              <a:t>Intersil</a:t>
            </a:r>
            <a:r>
              <a:rPr lang="zh-CN" altLang="zh-CN" sz="1100" dirty="0"/>
              <a:t>同</a:t>
            </a:r>
            <a:r>
              <a:rPr lang="en-US" altLang="zh-CN" sz="1100" dirty="0"/>
              <a:t>Intel</a:t>
            </a:r>
            <a:r>
              <a:rPr lang="zh-CN" altLang="zh-CN" sz="1100" dirty="0"/>
              <a:t>、</a:t>
            </a:r>
            <a:r>
              <a:rPr lang="en-US" altLang="zh-CN" sz="1100" dirty="0"/>
              <a:t>AMD</a:t>
            </a:r>
            <a:r>
              <a:rPr lang="zh-CN" altLang="zh-CN" sz="1100" dirty="0"/>
              <a:t>、</a:t>
            </a:r>
            <a:r>
              <a:rPr lang="en-US" altLang="zh-CN" sz="1100" dirty="0"/>
              <a:t>Maxim</a:t>
            </a:r>
            <a:r>
              <a:rPr lang="zh-CN" altLang="zh-CN" sz="1100" dirty="0"/>
              <a:t>等均为</a:t>
            </a:r>
            <a:r>
              <a:rPr lang="en-US" altLang="zh-CN" sz="1100" dirty="0" err="1"/>
              <a:t>Fairchildren</a:t>
            </a:r>
            <a:r>
              <a:rPr lang="zh-CN" altLang="zh-CN" sz="1100" dirty="0"/>
              <a:t>。</a:t>
            </a:r>
          </a:p>
          <a:p>
            <a:pPr marL="0" indent="180000" algn="just">
              <a:lnSpc>
                <a:spcPct val="150000"/>
              </a:lnSpc>
              <a:buSzPct val="70000"/>
              <a:buNone/>
              <a:tabLst>
                <a:tab pos="457200" algn="l"/>
                <a:tab pos="914400" algn="l"/>
              </a:tabLst>
            </a:pPr>
            <a:r>
              <a:rPr lang="zh-CN" altLang="en-US" sz="1100" dirty="0"/>
              <a:t>大瞬主要和</a:t>
            </a:r>
            <a:r>
              <a:rPr lang="en-US" altLang="zh-CN" sz="1100" dirty="0" err="1"/>
              <a:t>Intersil</a:t>
            </a:r>
            <a:r>
              <a:rPr lang="zh-CN" altLang="en-US" sz="1100" dirty="0"/>
              <a:t>在笔电领域竞争，具体包括充电芯片和</a:t>
            </a:r>
            <a:r>
              <a:rPr lang="en-US" altLang="zh-CN" sz="1100" dirty="0"/>
              <a:t>CPU DC/DC</a:t>
            </a:r>
            <a:r>
              <a:rPr lang="zh-CN" altLang="en-US" sz="1100" dirty="0"/>
              <a:t>芯片。参与“几家瓜分市场”。</a:t>
            </a:r>
            <a:endParaRPr lang="en-US" altLang="zh-CN" sz="1100" dirty="0"/>
          </a:p>
          <a:p>
            <a:pPr marL="0" indent="180000" algn="just">
              <a:lnSpc>
                <a:spcPct val="150000"/>
              </a:lnSpc>
              <a:buSzPct val="70000"/>
              <a:buBlip>
                <a:blip r:embed="rId3"/>
              </a:buBlip>
            </a:pPr>
            <a:r>
              <a:rPr lang="zh-CN" altLang="en-US" sz="1100" b="1" kern="1200" dirty="0">
                <a:solidFill>
                  <a:srgbClr val="C00000"/>
                </a:solidFill>
              </a:rPr>
              <a:t>其他其潜在竞争对手</a:t>
            </a:r>
            <a:endParaRPr lang="en-US" altLang="zh-CN" sz="1100" b="1" kern="1200" dirty="0">
              <a:solidFill>
                <a:srgbClr val="C00000"/>
              </a:solidFill>
            </a:endParaRPr>
          </a:p>
          <a:p>
            <a:pPr algn="just">
              <a:lnSpc>
                <a:spcPct val="150000"/>
              </a:lnSpc>
              <a:buSzPct val="70000"/>
              <a:buFont typeface="Wingdings" panose="05000000000000000000" pitchFamily="2" charset="2"/>
              <a:buChar char="Ø"/>
            </a:pPr>
            <a:r>
              <a:rPr lang="zh-CN" altLang="zh-CN" sz="1100" b="1" kern="1200" dirty="0"/>
              <a:t>广东赛微微电子</a:t>
            </a:r>
            <a:r>
              <a:rPr lang="zh-CN" altLang="en-US" sz="1100" b="1" kern="1200" dirty="0"/>
              <a:t>：</a:t>
            </a:r>
            <a:r>
              <a:rPr lang="zh-CN" altLang="en-US" sz="1100" dirty="0"/>
              <a:t>在手机电量计芯片存在潜在竞争；</a:t>
            </a:r>
            <a:r>
              <a:rPr lang="zh-CN" altLang="zh-CN" sz="1100" b="1" kern="1200" dirty="0"/>
              <a:t>希荻微电子</a:t>
            </a:r>
            <a:r>
              <a:rPr lang="zh-CN" altLang="en-US" sz="1100" b="1" kern="1200" dirty="0"/>
              <a:t>：</a:t>
            </a:r>
            <a:r>
              <a:rPr lang="zh-CN" altLang="en-US" sz="1100" kern="1200" dirty="0"/>
              <a:t>在前置电荷泵</a:t>
            </a:r>
            <a:r>
              <a:rPr lang="zh-CN" altLang="en-US" sz="1100" dirty="0"/>
              <a:t>存在潜在竞争；</a:t>
            </a:r>
            <a:r>
              <a:rPr lang="zh-CN" altLang="en-US" sz="1100" b="1" kern="1200" dirty="0"/>
              <a:t>南芯：</a:t>
            </a:r>
            <a:r>
              <a:rPr lang="zh-CN" altLang="en-US" sz="1100" kern="1200" dirty="0"/>
              <a:t>在前置电荷泵</a:t>
            </a:r>
            <a:r>
              <a:rPr lang="zh-CN" altLang="en-US" sz="1100" dirty="0"/>
              <a:t>存在潜在竞争</a:t>
            </a:r>
            <a:r>
              <a:rPr lang="zh-CN" altLang="en-US" sz="1100" b="1" kern="1200" dirty="0"/>
              <a:t>；</a:t>
            </a:r>
            <a:r>
              <a:rPr lang="zh-CN" altLang="zh-CN" sz="1100" b="1" kern="1200" dirty="0"/>
              <a:t>高通</a:t>
            </a:r>
            <a:r>
              <a:rPr lang="zh-CN" altLang="en-US" sz="1100" b="1" kern="1200" dirty="0"/>
              <a:t>：</a:t>
            </a:r>
            <a:r>
              <a:rPr lang="zh-CN" altLang="en-US" sz="1100" kern="1200" dirty="0"/>
              <a:t>在前置电荷泵</a:t>
            </a:r>
            <a:r>
              <a:rPr lang="zh-CN" altLang="en-US" sz="1100" dirty="0"/>
              <a:t>存在潜在竞争。</a:t>
            </a:r>
            <a:endParaRPr lang="en-US" altLang="zh-CN" sz="1100" kern="1200" dirty="0"/>
          </a:p>
          <a:p>
            <a:pPr marL="0" indent="180000" algn="just">
              <a:lnSpc>
                <a:spcPct val="150000"/>
              </a:lnSpc>
              <a:buSzPct val="70000"/>
              <a:buNone/>
              <a:tabLst>
                <a:tab pos="457200" algn="l"/>
                <a:tab pos="914400" algn="l"/>
              </a:tabLst>
            </a:pPr>
            <a:r>
              <a:rPr lang="zh-CN" altLang="en-US" sz="1500" b="1" u="sng" dirty="0">
                <a:solidFill>
                  <a:srgbClr val="C00000"/>
                </a:solidFill>
              </a:rPr>
              <a:t>大瞬科技作为国产厂商，定位高端，产品单价整体较高，但相比</a:t>
            </a:r>
            <a:r>
              <a:rPr lang="en-US" altLang="zh-CN" sz="1500" b="1" u="sng" dirty="0">
                <a:solidFill>
                  <a:srgbClr val="C00000"/>
                </a:solidFill>
              </a:rPr>
              <a:t>Dialog</a:t>
            </a:r>
            <a:r>
              <a:rPr lang="zh-CN" altLang="en-US" sz="1500" b="1" u="sng" dirty="0">
                <a:solidFill>
                  <a:srgbClr val="C00000"/>
                </a:solidFill>
              </a:rPr>
              <a:t>、</a:t>
            </a:r>
            <a:r>
              <a:rPr lang="en-US" altLang="zh-CN" sz="1500" b="1" u="sng" dirty="0">
                <a:solidFill>
                  <a:srgbClr val="C00000"/>
                </a:solidFill>
              </a:rPr>
              <a:t>TI</a:t>
            </a:r>
            <a:r>
              <a:rPr lang="zh-CN" altLang="en-US" sz="1500" b="1" u="sng" dirty="0">
                <a:solidFill>
                  <a:srgbClr val="C00000"/>
                </a:solidFill>
              </a:rPr>
              <a:t>又具有很大的性能和价格优势。</a:t>
            </a:r>
            <a:endParaRPr lang="en-US" altLang="zh-CN" sz="1500" b="1" u="sng" dirty="0">
              <a:solidFill>
                <a:srgbClr val="C00000"/>
              </a:solidFill>
            </a:endParaRPr>
          </a:p>
        </p:txBody>
      </p:sp>
      <p:sp>
        <p:nvSpPr>
          <p:cNvPr id="17" name="Rectangle 2">
            <a:extLst>
              <a:ext uri="{FF2B5EF4-FFF2-40B4-BE49-F238E27FC236}">
                <a16:creationId xmlns:a16="http://schemas.microsoft.com/office/drawing/2014/main" id="{FB44D3E7-7F29-4DE5-8E16-D60CF0F0A8ED}"/>
              </a:ext>
            </a:extLst>
          </p:cNvPr>
          <p:cNvSpPr txBox="1">
            <a:spLocks noChangeArrowheads="1"/>
          </p:cNvSpPr>
          <p:nvPr/>
        </p:nvSpPr>
        <p:spPr>
          <a:xfrm>
            <a:off x="457200" y="1"/>
            <a:ext cx="8229600" cy="411600"/>
          </a:xfrm>
          <a:prstGeom prst="rect">
            <a:avLst/>
          </a:prstGeom>
          <a:noFill/>
          <a:ln w="9525">
            <a:noFill/>
          </a:ln>
        </p:spPr>
        <p:txBody>
          <a:bodyPr lIns="99798" tIns="49899" rIns="99798" bIns="49899" anchor="ctr"/>
          <a:lstStyle>
            <a:lvl1pPr marL="678180" indent="-678180" algn="ctr" rtl="0" eaLnBrk="0" fontAlgn="base" hangingPunct="0">
              <a:spcBef>
                <a:spcPct val="0"/>
              </a:spcBef>
              <a:spcAft>
                <a:spcPct val="0"/>
              </a:spcAft>
              <a:defRPr sz="3265">
                <a:solidFill>
                  <a:schemeClr val="tx1"/>
                </a:solidFill>
                <a:latin typeface="微软雅黑" panose="020B0503020204020204" pitchFamily="34" charset="-122"/>
                <a:ea typeface="微软雅黑" panose="020B0503020204020204" pitchFamily="34" charset="-122"/>
                <a:cs typeface="+mj-cs"/>
                <a:sym typeface="Calibri" panose="020F0502020204030204" pitchFamily="34" charset="0"/>
              </a:defRPr>
            </a:lvl1pPr>
            <a:lvl2pPr marL="996950" indent="-996950" algn="ctr" rtl="0" eaLnBrk="0" fontAlgn="base" hangingPunct="0">
              <a:spcBef>
                <a:spcPct val="0"/>
              </a:spcBef>
              <a:spcAft>
                <a:spcPct val="0"/>
              </a:spcAft>
              <a:defRPr sz="4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996950" indent="-996950" algn="ctr" rtl="0" eaLnBrk="0" fontAlgn="base" hangingPunct="0">
              <a:spcBef>
                <a:spcPct val="0"/>
              </a:spcBef>
              <a:spcAft>
                <a:spcPct val="0"/>
              </a:spcAft>
              <a:defRPr sz="48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996950" indent="-996950" algn="ctr" rtl="0" eaLnBrk="0" fontAlgn="base" hangingPunct="0">
              <a:spcBef>
                <a:spcPct val="0"/>
              </a:spcBef>
              <a:spcAft>
                <a:spcPct val="0"/>
              </a:spcAft>
              <a:defRPr sz="48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996950" indent="-996950" algn="ctr" rtl="0" eaLnBrk="0" fontAlgn="base" hangingPunct="0">
              <a:spcBef>
                <a:spcPct val="0"/>
              </a:spcBef>
              <a:spcAft>
                <a:spcPct val="0"/>
              </a:spcAft>
              <a:defRPr sz="48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1496695" indent="-998220" algn="ctr" rtl="0" fontAlgn="base">
              <a:spcBef>
                <a:spcPct val="0"/>
              </a:spcBef>
              <a:spcAft>
                <a:spcPct val="0"/>
              </a:spcAft>
              <a:defRPr sz="48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1995805" indent="-998220" algn="ctr" rtl="0" fontAlgn="base">
              <a:spcBef>
                <a:spcPct val="0"/>
              </a:spcBef>
              <a:spcAft>
                <a:spcPct val="0"/>
              </a:spcAft>
              <a:defRPr sz="48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2494915" indent="-998220" algn="ctr" rtl="0" fontAlgn="base">
              <a:spcBef>
                <a:spcPct val="0"/>
              </a:spcBef>
              <a:spcAft>
                <a:spcPct val="0"/>
              </a:spcAft>
              <a:defRPr sz="48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2994025" indent="-998220" algn="ctr" rtl="0" fontAlgn="base">
              <a:spcBef>
                <a:spcPct val="0"/>
              </a:spcBef>
              <a:spcAft>
                <a:spcPct val="0"/>
              </a:spcAft>
              <a:defRPr sz="48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l">
              <a:buFontTx/>
            </a:pPr>
            <a:r>
              <a:rPr lang="zh-CN" altLang="en-US" sz="2400" kern="0" dirty="0">
                <a:solidFill>
                  <a:schemeClr val="bg1">
                    <a:lumMod val="50000"/>
                  </a:schemeClr>
                </a:solidFill>
              </a:rPr>
              <a:t>三、行业分析</a:t>
            </a:r>
            <a:r>
              <a:rPr lang="en-US" altLang="zh-CN" sz="2400" kern="0" dirty="0">
                <a:solidFill>
                  <a:schemeClr val="bg1">
                    <a:lumMod val="50000"/>
                  </a:schemeClr>
                </a:solidFill>
              </a:rPr>
              <a:t>|</a:t>
            </a:r>
            <a:r>
              <a:rPr lang="zh-CN" altLang="en-US" sz="2000" kern="0" dirty="0"/>
              <a:t>竞争对手分析</a:t>
            </a:r>
            <a:endParaRPr lang="en-US" altLang="zh-CN" sz="2400" kern="0" dirty="0"/>
          </a:p>
        </p:txBody>
      </p:sp>
      <p:cxnSp>
        <p:nvCxnSpPr>
          <p:cNvPr id="8" name="直接连接符 7">
            <a:extLst>
              <a:ext uri="{FF2B5EF4-FFF2-40B4-BE49-F238E27FC236}">
                <a16:creationId xmlns:a16="http://schemas.microsoft.com/office/drawing/2014/main" id="{E6510B08-A971-4942-ACD8-63E907A19AB4}"/>
              </a:ext>
            </a:extLst>
          </p:cNvPr>
          <p:cNvCxnSpPr>
            <a:cxnSpLocks/>
          </p:cNvCxnSpPr>
          <p:nvPr/>
        </p:nvCxnSpPr>
        <p:spPr bwMode="auto">
          <a:xfrm>
            <a:off x="5436060" y="3291800"/>
            <a:ext cx="1368095" cy="0"/>
          </a:xfrm>
          <a:prstGeom prst="line">
            <a:avLst/>
          </a:prstGeom>
          <a:solidFill>
            <a:schemeClr val="accent1"/>
          </a:solidFill>
          <a:ln w="19050" cap="flat" cmpd="sng" algn="ctr">
            <a:solidFill>
              <a:srgbClr val="C00000"/>
            </a:solidFill>
            <a:prstDash val="solid"/>
            <a:round/>
            <a:headEnd type="none" w="med" len="med"/>
            <a:tailEnd type="none" w="med" len="med"/>
          </a:ln>
        </p:spPr>
      </p:cxnSp>
      <p:cxnSp>
        <p:nvCxnSpPr>
          <p:cNvPr id="5" name="直接连接符 4">
            <a:extLst>
              <a:ext uri="{FF2B5EF4-FFF2-40B4-BE49-F238E27FC236}">
                <a16:creationId xmlns:a16="http://schemas.microsoft.com/office/drawing/2014/main" id="{998AFA3B-C1E1-465C-A4BB-CEAF1070A48D}"/>
              </a:ext>
            </a:extLst>
          </p:cNvPr>
          <p:cNvCxnSpPr>
            <a:cxnSpLocks/>
          </p:cNvCxnSpPr>
          <p:nvPr/>
        </p:nvCxnSpPr>
        <p:spPr bwMode="auto">
          <a:xfrm>
            <a:off x="2699870" y="1203655"/>
            <a:ext cx="4968345" cy="0"/>
          </a:xfrm>
          <a:prstGeom prst="line">
            <a:avLst/>
          </a:prstGeom>
          <a:solidFill>
            <a:schemeClr val="accent1"/>
          </a:solidFill>
          <a:ln w="19050" cap="flat" cmpd="sng" algn="ctr">
            <a:solidFill>
              <a:srgbClr val="C00000"/>
            </a:solidFill>
            <a:prstDash val="solid"/>
            <a:round/>
            <a:headEnd type="none" w="med" len="med"/>
            <a:tailEnd type="none" w="med" len="med"/>
          </a:ln>
        </p:spPr>
      </p:cxnSp>
    </p:spTree>
    <p:extLst>
      <p:ext uri="{BB962C8B-B14F-4D97-AF65-F5344CB8AC3E}">
        <p14:creationId xmlns:p14="http://schemas.microsoft.com/office/powerpoint/2010/main" val="27754664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270E9BF9-C72B-4459-8B72-EB1BB295A675}"/>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四、交易结构</a:t>
            </a:r>
            <a:r>
              <a:rPr lang="en-US" altLang="zh-CN" sz="2400" dirty="0">
                <a:solidFill>
                  <a:schemeClr val="bg1">
                    <a:lumMod val="50000"/>
                  </a:schemeClr>
                </a:solidFill>
              </a:rPr>
              <a:t>|</a:t>
            </a:r>
            <a:r>
              <a:rPr lang="zh-CN" altLang="en-US" sz="2000" dirty="0"/>
              <a:t>核心条款</a:t>
            </a:r>
            <a:r>
              <a:rPr lang="en-US" altLang="zh-CN" sz="2000" dirty="0"/>
              <a:t>&amp;</a:t>
            </a:r>
            <a:r>
              <a:rPr lang="zh-CN" altLang="en-US" sz="2000" dirty="0"/>
              <a:t>交易安排</a:t>
            </a:r>
            <a:endParaRPr lang="en-US" altLang="zh-CN" sz="2400" dirty="0"/>
          </a:p>
        </p:txBody>
      </p:sp>
      <p:graphicFrame>
        <p:nvGraphicFramePr>
          <p:cNvPr id="8" name="表格 7">
            <a:extLst>
              <a:ext uri="{FF2B5EF4-FFF2-40B4-BE49-F238E27FC236}">
                <a16:creationId xmlns:a16="http://schemas.microsoft.com/office/drawing/2014/main" id="{B474639F-D0B9-4693-B047-9A4729325CBD}"/>
              </a:ext>
            </a:extLst>
          </p:cNvPr>
          <p:cNvGraphicFramePr>
            <a:graphicFrameLocks noGrp="1"/>
          </p:cNvGraphicFramePr>
          <p:nvPr>
            <p:extLst>
              <p:ext uri="{D42A27DB-BD31-4B8C-83A1-F6EECF244321}">
                <p14:modId xmlns:p14="http://schemas.microsoft.com/office/powerpoint/2010/main" val="1762893747"/>
              </p:ext>
            </p:extLst>
          </p:nvPr>
        </p:nvGraphicFramePr>
        <p:xfrm>
          <a:off x="435531" y="627615"/>
          <a:ext cx="4856521" cy="2809266"/>
        </p:xfrm>
        <a:graphic>
          <a:graphicData uri="http://schemas.openxmlformats.org/drawingml/2006/table">
            <a:tbl>
              <a:tblPr>
                <a:tableStyleId>{5C22544A-7EE6-4342-B048-85BDC9FD1C3A}</a:tableStyleId>
              </a:tblPr>
              <a:tblGrid>
                <a:gridCol w="400997">
                  <a:extLst>
                    <a:ext uri="{9D8B030D-6E8A-4147-A177-3AD203B41FA5}">
                      <a16:colId xmlns:a16="http://schemas.microsoft.com/office/drawing/2014/main" val="2027682418"/>
                    </a:ext>
                  </a:extLst>
                </a:gridCol>
                <a:gridCol w="1935347">
                  <a:extLst>
                    <a:ext uri="{9D8B030D-6E8A-4147-A177-3AD203B41FA5}">
                      <a16:colId xmlns:a16="http://schemas.microsoft.com/office/drawing/2014/main" val="3688064501"/>
                    </a:ext>
                  </a:extLst>
                </a:gridCol>
                <a:gridCol w="2520177">
                  <a:extLst>
                    <a:ext uri="{9D8B030D-6E8A-4147-A177-3AD203B41FA5}">
                      <a16:colId xmlns:a16="http://schemas.microsoft.com/office/drawing/2014/main" val="958581127"/>
                    </a:ext>
                  </a:extLst>
                </a:gridCol>
              </a:tblGrid>
              <a:tr h="188752">
                <a:tc>
                  <a:txBody>
                    <a:bodyPr/>
                    <a:lstStyle/>
                    <a:p>
                      <a:pPr algn="ctr" fontAlgn="ctr">
                        <a:lnSpc>
                          <a:spcPct val="150000"/>
                        </a:lnSpc>
                      </a:pPr>
                      <a:r>
                        <a:rPr lang="zh-CN" altLang="en-US" sz="1200" b="1" u="none" strike="noStrike" dirty="0">
                          <a:effectLst/>
                          <a:latin typeface="仿宋" panose="02010609060101010101" pitchFamily="49" charset="-122"/>
                          <a:ea typeface="仿宋" panose="02010609060101010101" pitchFamily="49" charset="-122"/>
                        </a:rPr>
                        <a:t>　</a:t>
                      </a:r>
                      <a:endParaRPr lang="zh-CN" altLang="en-US" sz="1200" b="1" i="0" u="none" strike="noStrike" dirty="0">
                        <a:solidFill>
                          <a:srgbClr val="000000"/>
                        </a:solidFill>
                        <a:effectLst/>
                        <a:latin typeface="仿宋" panose="02010609060101010101" pitchFamily="49" charset="-122"/>
                        <a:ea typeface="仿宋" panose="02010609060101010101" pitchFamily="49" charset="-122"/>
                      </a:endParaRPr>
                    </a:p>
                  </a:txBody>
                  <a:tcPr marL="9438" marR="9438" marT="9438" marB="0" anchor="ctr" anchorCtr="1"/>
                </a:tc>
                <a:tc>
                  <a:txBody>
                    <a:bodyPr/>
                    <a:lstStyle/>
                    <a:p>
                      <a:pPr algn="ctr" fontAlgn="ctr">
                        <a:lnSpc>
                          <a:spcPct val="150000"/>
                        </a:lnSpc>
                      </a:pPr>
                      <a:r>
                        <a:rPr lang="zh-CN" altLang="en-US" sz="1200" b="1" u="none" strike="noStrike" dirty="0">
                          <a:effectLst/>
                          <a:latin typeface="仿宋" panose="02010609060101010101" pitchFamily="49" charset="-122"/>
                          <a:ea typeface="仿宋" panose="02010609060101010101" pitchFamily="49" charset="-122"/>
                        </a:rPr>
                        <a:t>相关条款</a:t>
                      </a:r>
                      <a:endParaRPr lang="zh-CN" altLang="en-US" sz="1200" b="1" i="0" u="none" strike="noStrike" dirty="0">
                        <a:solidFill>
                          <a:srgbClr val="000000"/>
                        </a:solidFill>
                        <a:effectLst/>
                        <a:latin typeface="仿宋" panose="02010609060101010101" pitchFamily="49" charset="-122"/>
                        <a:ea typeface="仿宋" panose="02010609060101010101" pitchFamily="49" charset="-122"/>
                      </a:endParaRPr>
                    </a:p>
                  </a:txBody>
                  <a:tcPr marL="9438" marR="9438" marT="9438" marB="0" anchor="ctr" anchorCtr="1"/>
                </a:tc>
                <a:tc>
                  <a:txBody>
                    <a:bodyPr/>
                    <a:lstStyle/>
                    <a:p>
                      <a:pPr algn="ctr" fontAlgn="ctr">
                        <a:lnSpc>
                          <a:spcPct val="150000"/>
                        </a:lnSpc>
                      </a:pPr>
                      <a:r>
                        <a:rPr lang="zh-CN" altLang="en-US" sz="1200" b="1" u="none" strike="noStrike" dirty="0">
                          <a:effectLst/>
                          <a:latin typeface="仿宋" panose="02010609060101010101" pitchFamily="49" charset="-122"/>
                          <a:ea typeface="仿宋" panose="02010609060101010101" pitchFamily="49" charset="-122"/>
                        </a:rPr>
                        <a:t>具体内容</a:t>
                      </a:r>
                      <a:endParaRPr lang="zh-CN" altLang="en-US" sz="1200" b="1" i="0" u="none" strike="noStrike" dirty="0">
                        <a:solidFill>
                          <a:srgbClr val="000000"/>
                        </a:solidFill>
                        <a:effectLst/>
                        <a:latin typeface="仿宋" panose="02010609060101010101" pitchFamily="49" charset="-122"/>
                        <a:ea typeface="仿宋" panose="02010609060101010101" pitchFamily="49" charset="-122"/>
                      </a:endParaRPr>
                    </a:p>
                  </a:txBody>
                  <a:tcPr marL="9438" marR="9438" marT="9438" marB="0" anchor="ctr" anchorCtr="1"/>
                </a:tc>
                <a:extLst>
                  <a:ext uri="{0D108BD9-81ED-4DB2-BD59-A6C34878D82A}">
                    <a16:rowId xmlns:a16="http://schemas.microsoft.com/office/drawing/2014/main" val="717880581"/>
                  </a:ext>
                </a:extLst>
              </a:tr>
              <a:tr h="179315">
                <a:tc rowSpan="5">
                  <a:txBody>
                    <a:bodyPr/>
                    <a:lstStyle/>
                    <a:p>
                      <a:pPr algn="ctr" fontAlgn="ctr">
                        <a:lnSpc>
                          <a:spcPct val="150000"/>
                        </a:lnSpc>
                      </a:pPr>
                      <a:r>
                        <a:rPr lang="zh-CN" altLang="en-US" sz="1200" b="1" u="none" strike="noStrike" dirty="0">
                          <a:effectLst/>
                          <a:latin typeface="仿宋" panose="02010609060101010101" pitchFamily="49" charset="-122"/>
                          <a:ea typeface="仿宋" panose="02010609060101010101" pitchFamily="49" charset="-122"/>
                        </a:rPr>
                        <a:t>核心</a:t>
                      </a:r>
                      <a:br>
                        <a:rPr lang="zh-CN" altLang="en-US" sz="1200" b="1" u="none" strike="noStrike" dirty="0">
                          <a:effectLst/>
                          <a:latin typeface="仿宋" panose="02010609060101010101" pitchFamily="49" charset="-122"/>
                          <a:ea typeface="仿宋" panose="02010609060101010101" pitchFamily="49" charset="-122"/>
                        </a:rPr>
                      </a:br>
                      <a:r>
                        <a:rPr lang="zh-CN" altLang="en-US" sz="1200" b="1" u="none" strike="noStrike" dirty="0">
                          <a:effectLst/>
                          <a:latin typeface="仿宋" panose="02010609060101010101" pitchFamily="49" charset="-122"/>
                          <a:ea typeface="仿宋" panose="02010609060101010101" pitchFamily="49" charset="-122"/>
                        </a:rPr>
                        <a:t>交易条款</a:t>
                      </a:r>
                      <a:endParaRPr lang="zh-CN" altLang="en-US" sz="1200" b="1" i="0" u="none" strike="noStrike" dirty="0">
                        <a:solidFill>
                          <a:srgbClr val="000000"/>
                        </a:solidFill>
                        <a:effectLst/>
                        <a:latin typeface="仿宋" panose="02010609060101010101" pitchFamily="49" charset="-122"/>
                        <a:ea typeface="仿宋" panose="02010609060101010101" pitchFamily="49" charset="-122"/>
                      </a:endParaRPr>
                    </a:p>
                  </a:txBody>
                  <a:tcPr marL="9438" marR="9438" marT="9438" marB="0" anchor="ctr" anchorCtr="1"/>
                </a:tc>
                <a:tc>
                  <a:txBody>
                    <a:bodyPr/>
                    <a:lstStyle/>
                    <a:p>
                      <a:pPr algn="ctr" fontAlgn="ctr">
                        <a:lnSpc>
                          <a:spcPct val="150000"/>
                        </a:lnSpc>
                      </a:pPr>
                      <a:r>
                        <a:rPr lang="zh-CN" altLang="en-US" sz="1200" u="none" strike="noStrike" dirty="0">
                          <a:effectLst/>
                          <a:latin typeface="仿宋" panose="02010609060101010101" pitchFamily="49" charset="-122"/>
                          <a:ea typeface="仿宋" panose="02010609060101010101" pitchFamily="49" charset="-122"/>
                        </a:rPr>
                        <a:t>估值</a:t>
                      </a:r>
                      <a:endParaRPr lang="zh-CN" altLang="en-US" sz="1200" b="0" i="0" u="none" strike="noStrike" dirty="0">
                        <a:solidFill>
                          <a:srgbClr val="000000"/>
                        </a:solidFill>
                        <a:effectLst/>
                        <a:latin typeface="仿宋" panose="02010609060101010101" pitchFamily="49" charset="-122"/>
                        <a:ea typeface="仿宋" panose="02010609060101010101" pitchFamily="49" charset="-122"/>
                      </a:endParaRPr>
                    </a:p>
                  </a:txBody>
                  <a:tcPr marL="9438" marR="9438" marT="9438" marB="0" anchor="ctr" anchorCtr="1"/>
                </a:tc>
                <a:tc>
                  <a:txBody>
                    <a:bodyPr/>
                    <a:lstStyle/>
                    <a:p>
                      <a:pPr algn="ctr" fontAlgn="ctr">
                        <a:lnSpc>
                          <a:spcPct val="150000"/>
                        </a:lnSpc>
                      </a:pPr>
                      <a:r>
                        <a:rPr lang="en-US" altLang="zh-CN" sz="1200" u="none" strike="noStrike" dirty="0">
                          <a:effectLst/>
                          <a:latin typeface="仿宋" panose="02010609060101010101" pitchFamily="49" charset="-122"/>
                          <a:ea typeface="仿宋" panose="02010609060101010101" pitchFamily="49" charset="-122"/>
                        </a:rPr>
                        <a:t>9.2</a:t>
                      </a:r>
                      <a:r>
                        <a:rPr lang="zh-CN" altLang="en-US" sz="1200" u="none" strike="noStrike" dirty="0">
                          <a:effectLst/>
                          <a:latin typeface="仿宋" panose="02010609060101010101" pitchFamily="49" charset="-122"/>
                          <a:ea typeface="仿宋" panose="02010609060101010101" pitchFamily="49" charset="-122"/>
                        </a:rPr>
                        <a:t>亿元</a:t>
                      </a:r>
                      <a:r>
                        <a:rPr lang="en-US" altLang="zh-CN" sz="1200" u="none" strike="noStrike" dirty="0">
                          <a:effectLst/>
                          <a:latin typeface="仿宋" panose="02010609060101010101" pitchFamily="49" charset="-122"/>
                          <a:ea typeface="仿宋" panose="02010609060101010101" pitchFamily="49" charset="-122"/>
                        </a:rPr>
                        <a:t>(</a:t>
                      </a:r>
                      <a:r>
                        <a:rPr lang="zh-CN" altLang="en-US" sz="1200" u="none" strike="noStrike" dirty="0">
                          <a:effectLst/>
                          <a:latin typeface="仿宋" panose="02010609060101010101" pitchFamily="49" charset="-122"/>
                          <a:ea typeface="仿宋" panose="02010609060101010101" pitchFamily="49" charset="-122"/>
                        </a:rPr>
                        <a:t>投前估值</a:t>
                      </a:r>
                      <a:r>
                        <a:rPr lang="en-US" altLang="zh-CN" sz="1200" u="none" strike="noStrike" dirty="0">
                          <a:effectLst/>
                          <a:latin typeface="仿宋" panose="02010609060101010101" pitchFamily="49" charset="-122"/>
                          <a:ea typeface="仿宋" panose="02010609060101010101" pitchFamily="49" charset="-122"/>
                        </a:rPr>
                        <a:t>)</a:t>
                      </a:r>
                      <a:r>
                        <a:rPr lang="zh-CN" altLang="en-US" sz="1200" u="none" strike="noStrike" dirty="0">
                          <a:effectLst/>
                          <a:latin typeface="仿宋" panose="02010609060101010101" pitchFamily="49" charset="-122"/>
                          <a:ea typeface="仿宋" panose="02010609060101010101" pitchFamily="49" charset="-122"/>
                        </a:rPr>
                        <a:t>，投后</a:t>
                      </a:r>
                      <a:r>
                        <a:rPr lang="en-US" altLang="zh-CN" sz="1200" u="none" strike="noStrike" dirty="0">
                          <a:effectLst/>
                          <a:latin typeface="仿宋" panose="02010609060101010101" pitchFamily="49" charset="-122"/>
                          <a:ea typeface="仿宋" panose="02010609060101010101" pitchFamily="49" charset="-122"/>
                        </a:rPr>
                        <a:t>10.2</a:t>
                      </a:r>
                      <a:r>
                        <a:rPr lang="zh-CN" altLang="en-US" sz="1200" u="none" strike="noStrike" dirty="0">
                          <a:effectLst/>
                          <a:latin typeface="仿宋" panose="02010609060101010101" pitchFamily="49" charset="-122"/>
                          <a:ea typeface="仿宋" panose="02010609060101010101" pitchFamily="49" charset="-122"/>
                        </a:rPr>
                        <a:t>亿元</a:t>
                      </a:r>
                      <a:endParaRPr lang="zh-CN" altLang="en-US" sz="1200" b="0" i="0" u="none" strike="noStrike" dirty="0">
                        <a:solidFill>
                          <a:srgbClr val="000000"/>
                        </a:solidFill>
                        <a:effectLst/>
                        <a:latin typeface="仿宋" panose="02010609060101010101" pitchFamily="49" charset="-122"/>
                        <a:ea typeface="仿宋" panose="02010609060101010101" pitchFamily="49" charset="-122"/>
                      </a:endParaRPr>
                    </a:p>
                  </a:txBody>
                  <a:tcPr marL="9438" marR="9438" marT="9438" marB="0" anchor="ctr" anchorCtr="1"/>
                </a:tc>
                <a:extLst>
                  <a:ext uri="{0D108BD9-81ED-4DB2-BD59-A6C34878D82A}">
                    <a16:rowId xmlns:a16="http://schemas.microsoft.com/office/drawing/2014/main" val="2807584625"/>
                  </a:ext>
                </a:extLst>
              </a:tr>
              <a:tr h="179315">
                <a:tc vMerge="1">
                  <a:txBody>
                    <a:bodyPr/>
                    <a:lstStyle/>
                    <a:p>
                      <a:endParaRPr lang="zh-CN" altLang="en-US"/>
                    </a:p>
                  </a:txBody>
                  <a:tcPr/>
                </a:tc>
                <a:tc>
                  <a:txBody>
                    <a:bodyPr/>
                    <a:lstStyle/>
                    <a:p>
                      <a:pPr algn="ctr" fontAlgn="ctr">
                        <a:lnSpc>
                          <a:spcPct val="150000"/>
                        </a:lnSpc>
                      </a:pPr>
                      <a:r>
                        <a:rPr lang="zh-CN" altLang="en-US" sz="1200" u="none" strike="noStrike" dirty="0">
                          <a:effectLst/>
                          <a:latin typeface="仿宋" panose="02010609060101010101" pitchFamily="49" charset="-122"/>
                          <a:ea typeface="仿宋" panose="02010609060101010101" pitchFamily="49" charset="-122"/>
                        </a:rPr>
                        <a:t>业绩</a:t>
                      </a:r>
                      <a:r>
                        <a:rPr lang="en-US" altLang="zh-CN" sz="1200" u="none" strike="noStrike" dirty="0">
                          <a:effectLst/>
                          <a:latin typeface="仿宋" panose="02010609060101010101" pitchFamily="49" charset="-122"/>
                          <a:ea typeface="仿宋" panose="02010609060101010101" pitchFamily="49" charset="-122"/>
                        </a:rPr>
                        <a:t>/</a:t>
                      </a:r>
                      <a:r>
                        <a:rPr lang="zh-CN" altLang="en-US" sz="1200" u="none" strike="noStrike" dirty="0">
                          <a:effectLst/>
                          <a:latin typeface="仿宋" panose="02010609060101010101" pitchFamily="49" charset="-122"/>
                          <a:ea typeface="仿宋" panose="02010609060101010101" pitchFamily="49" charset="-122"/>
                        </a:rPr>
                        <a:t>业务承诺</a:t>
                      </a:r>
                      <a:endParaRPr lang="zh-CN" altLang="en-US" sz="1200" b="0" i="0" u="none" strike="noStrike" dirty="0">
                        <a:solidFill>
                          <a:srgbClr val="000000"/>
                        </a:solidFill>
                        <a:effectLst/>
                        <a:latin typeface="仿宋" panose="02010609060101010101" pitchFamily="49" charset="-122"/>
                        <a:ea typeface="仿宋" panose="02010609060101010101" pitchFamily="49" charset="-122"/>
                      </a:endParaRPr>
                    </a:p>
                  </a:txBody>
                  <a:tcPr marL="9438" marR="9438" marT="9438" marB="0" anchor="ctr" anchorCtr="1"/>
                </a:tc>
                <a:tc>
                  <a:txBody>
                    <a:bodyPr/>
                    <a:lstStyle/>
                    <a:p>
                      <a:pPr algn="ctr" fontAlgn="ctr">
                        <a:lnSpc>
                          <a:spcPct val="150000"/>
                        </a:lnSpc>
                      </a:pPr>
                      <a:r>
                        <a:rPr lang="zh-CN" altLang="en-US" sz="1200" u="none" strike="noStrike" dirty="0">
                          <a:effectLst/>
                          <a:latin typeface="仿宋" panose="02010609060101010101" pitchFamily="49" charset="-122"/>
                          <a:ea typeface="仿宋" panose="02010609060101010101" pitchFamily="49" charset="-122"/>
                        </a:rPr>
                        <a:t>暂无</a:t>
                      </a:r>
                      <a:endParaRPr lang="zh-CN" altLang="en-US" sz="1200" b="0" i="0" u="none" strike="noStrike" dirty="0">
                        <a:solidFill>
                          <a:srgbClr val="000000"/>
                        </a:solidFill>
                        <a:effectLst/>
                        <a:latin typeface="仿宋" panose="02010609060101010101" pitchFamily="49" charset="-122"/>
                        <a:ea typeface="仿宋" panose="02010609060101010101" pitchFamily="49" charset="-122"/>
                      </a:endParaRPr>
                    </a:p>
                  </a:txBody>
                  <a:tcPr marL="9438" marR="9438" marT="9438" marB="0" anchor="ctr" anchorCtr="1"/>
                </a:tc>
                <a:extLst>
                  <a:ext uri="{0D108BD9-81ED-4DB2-BD59-A6C34878D82A}">
                    <a16:rowId xmlns:a16="http://schemas.microsoft.com/office/drawing/2014/main" val="3615756569"/>
                  </a:ext>
                </a:extLst>
              </a:tr>
              <a:tr h="179315">
                <a:tc vMerge="1">
                  <a:txBody>
                    <a:bodyPr/>
                    <a:lstStyle/>
                    <a:p>
                      <a:endParaRPr lang="zh-CN" altLang="en-US"/>
                    </a:p>
                  </a:txBody>
                  <a:tcPr/>
                </a:tc>
                <a:tc>
                  <a:txBody>
                    <a:bodyPr/>
                    <a:lstStyle/>
                    <a:p>
                      <a:pPr algn="ctr" fontAlgn="ctr">
                        <a:lnSpc>
                          <a:spcPct val="150000"/>
                        </a:lnSpc>
                      </a:pPr>
                      <a:r>
                        <a:rPr lang="zh-CN" altLang="en-US" sz="1200" u="none" strike="noStrike" dirty="0">
                          <a:effectLst/>
                          <a:latin typeface="仿宋" panose="02010609060101010101" pitchFamily="49" charset="-122"/>
                          <a:ea typeface="仿宋" panose="02010609060101010101" pitchFamily="49" charset="-122"/>
                        </a:rPr>
                        <a:t>上市及回购安排</a:t>
                      </a:r>
                      <a:endParaRPr lang="zh-CN" altLang="en-US" sz="1200" b="0" i="0" u="none" strike="noStrike" dirty="0">
                        <a:solidFill>
                          <a:srgbClr val="000000"/>
                        </a:solidFill>
                        <a:effectLst/>
                        <a:latin typeface="仿宋" panose="02010609060101010101" pitchFamily="49" charset="-122"/>
                        <a:ea typeface="仿宋" panose="02010609060101010101" pitchFamily="49" charset="-122"/>
                      </a:endParaRPr>
                    </a:p>
                  </a:txBody>
                  <a:tcPr marL="9438" marR="9438" marT="9438" marB="0" anchor="ctr" anchorCtr="1"/>
                </a:tc>
                <a:tc>
                  <a:txBody>
                    <a:bodyPr/>
                    <a:lstStyle/>
                    <a:p>
                      <a:pPr algn="ctr" fontAlgn="ctr">
                        <a:lnSpc>
                          <a:spcPct val="150000"/>
                        </a:lnSpc>
                      </a:pPr>
                      <a:r>
                        <a:rPr lang="zh-CN" altLang="en-US" sz="1200" u="none" strike="noStrike" dirty="0">
                          <a:effectLst/>
                          <a:latin typeface="仿宋" panose="02010609060101010101" pitchFamily="49" charset="-122"/>
                          <a:ea typeface="仿宋" panose="02010609060101010101" pitchFamily="49" charset="-122"/>
                        </a:rPr>
                        <a:t>预计</a:t>
                      </a:r>
                      <a:r>
                        <a:rPr lang="en-US" altLang="zh-CN" sz="1200" u="none" strike="noStrike" dirty="0">
                          <a:effectLst/>
                          <a:latin typeface="仿宋" panose="02010609060101010101" pitchFamily="49" charset="-122"/>
                          <a:ea typeface="仿宋" panose="02010609060101010101" pitchFamily="49" charset="-122"/>
                        </a:rPr>
                        <a:t>2024</a:t>
                      </a:r>
                      <a:r>
                        <a:rPr lang="zh-CN" altLang="en-US" sz="1200" u="none" strike="noStrike" dirty="0">
                          <a:effectLst/>
                          <a:latin typeface="仿宋" panose="02010609060101010101" pitchFamily="49" charset="-122"/>
                          <a:ea typeface="仿宋" panose="02010609060101010101" pitchFamily="49" charset="-122"/>
                        </a:rPr>
                        <a:t>年</a:t>
                      </a:r>
                      <a:r>
                        <a:rPr lang="en-US" altLang="zh-CN" sz="1200" u="none" strike="noStrike" dirty="0">
                          <a:effectLst/>
                          <a:latin typeface="仿宋" panose="02010609060101010101" pitchFamily="49" charset="-122"/>
                          <a:ea typeface="仿宋" panose="02010609060101010101" pitchFamily="49" charset="-122"/>
                        </a:rPr>
                        <a:t>6</a:t>
                      </a:r>
                      <a:r>
                        <a:rPr lang="zh-CN" altLang="en-US" sz="1200" u="none" strike="noStrike" dirty="0">
                          <a:effectLst/>
                          <a:latin typeface="仿宋" panose="02010609060101010101" pitchFamily="49" charset="-122"/>
                          <a:ea typeface="仿宋" panose="02010609060101010101" pitchFamily="49" charset="-122"/>
                        </a:rPr>
                        <a:t>月</a:t>
                      </a:r>
                      <a:r>
                        <a:rPr lang="en-US" altLang="zh-CN" sz="1200" u="none" strike="noStrike" dirty="0">
                          <a:effectLst/>
                          <a:latin typeface="仿宋" panose="02010609060101010101" pitchFamily="49" charset="-122"/>
                          <a:ea typeface="仿宋" panose="02010609060101010101" pitchFamily="49" charset="-122"/>
                        </a:rPr>
                        <a:t>30</a:t>
                      </a:r>
                      <a:r>
                        <a:rPr lang="zh-CN" altLang="en-US" sz="1200" u="none" strike="noStrike" dirty="0">
                          <a:effectLst/>
                          <a:latin typeface="仿宋" panose="02010609060101010101" pitchFamily="49" charset="-122"/>
                          <a:ea typeface="仿宋" panose="02010609060101010101" pitchFamily="49" charset="-122"/>
                        </a:rPr>
                        <a:t>日前</a:t>
                      </a:r>
                      <a:r>
                        <a:rPr lang="en-US" altLang="zh-CN" sz="1200" u="none" strike="noStrike" dirty="0">
                          <a:effectLst/>
                          <a:latin typeface="仿宋" panose="02010609060101010101" pitchFamily="49" charset="-122"/>
                          <a:ea typeface="仿宋" panose="02010609060101010101" pitchFamily="49" charset="-122"/>
                        </a:rPr>
                        <a:t>IPO</a:t>
                      </a:r>
                      <a:r>
                        <a:rPr lang="zh-CN" altLang="en-US" sz="1200" u="none" strike="noStrike" dirty="0">
                          <a:effectLst/>
                          <a:latin typeface="仿宋" panose="02010609060101010101" pitchFamily="49" charset="-122"/>
                          <a:ea typeface="仿宋" panose="02010609060101010101" pitchFamily="49" charset="-122"/>
                        </a:rPr>
                        <a:t>，</a:t>
                      </a:r>
                      <a:endParaRPr lang="en-US" altLang="zh-CN" sz="1200" u="none" strike="noStrike" dirty="0">
                        <a:effectLst/>
                        <a:latin typeface="仿宋" panose="02010609060101010101" pitchFamily="49" charset="-122"/>
                        <a:ea typeface="仿宋" panose="02010609060101010101" pitchFamily="49" charset="-122"/>
                      </a:endParaRPr>
                    </a:p>
                    <a:p>
                      <a:pPr algn="ctr" fontAlgn="ctr">
                        <a:lnSpc>
                          <a:spcPct val="150000"/>
                        </a:lnSpc>
                      </a:pPr>
                      <a:r>
                        <a:rPr lang="zh-CN" altLang="en-US" sz="1200" u="none" strike="noStrike" dirty="0">
                          <a:effectLst/>
                          <a:latin typeface="仿宋" panose="02010609060101010101" pitchFamily="49" charset="-122"/>
                          <a:ea typeface="仿宋" panose="02010609060101010101" pitchFamily="49" charset="-122"/>
                        </a:rPr>
                        <a:t>回购条款</a:t>
                      </a:r>
                      <a:r>
                        <a:rPr lang="en-US" altLang="zh-CN" sz="1200" u="none" strike="noStrike" dirty="0">
                          <a:effectLst/>
                          <a:latin typeface="仿宋" panose="02010609060101010101" pitchFamily="49" charset="-122"/>
                          <a:ea typeface="仿宋" panose="02010609060101010101" pitchFamily="49" charset="-122"/>
                        </a:rPr>
                        <a:t>8%</a:t>
                      </a:r>
                      <a:r>
                        <a:rPr lang="zh-CN" altLang="en-US" sz="1200" u="none" strike="noStrike" dirty="0">
                          <a:effectLst/>
                          <a:latin typeface="仿宋" panose="02010609060101010101" pitchFamily="49" charset="-122"/>
                          <a:ea typeface="仿宋" panose="02010609060101010101" pitchFamily="49" charset="-122"/>
                        </a:rPr>
                        <a:t>单利</a:t>
                      </a:r>
                      <a:endParaRPr lang="zh-CN" altLang="en-US" sz="1200" b="0" i="0" u="none" strike="noStrike" dirty="0">
                        <a:solidFill>
                          <a:srgbClr val="000000"/>
                        </a:solidFill>
                        <a:effectLst/>
                        <a:latin typeface="仿宋" panose="02010609060101010101" pitchFamily="49" charset="-122"/>
                        <a:ea typeface="仿宋" panose="02010609060101010101" pitchFamily="49" charset="-122"/>
                      </a:endParaRPr>
                    </a:p>
                  </a:txBody>
                  <a:tcPr marL="9438" marR="9438" marT="9438" marB="0" anchor="ctr" anchorCtr="1"/>
                </a:tc>
                <a:extLst>
                  <a:ext uri="{0D108BD9-81ED-4DB2-BD59-A6C34878D82A}">
                    <a16:rowId xmlns:a16="http://schemas.microsoft.com/office/drawing/2014/main" val="2732805221"/>
                  </a:ext>
                </a:extLst>
              </a:tr>
              <a:tr h="0">
                <a:tc vMerge="1">
                  <a:txBody>
                    <a:bodyPr/>
                    <a:lstStyle/>
                    <a:p>
                      <a:endParaRPr lang="zh-CN" altLang="en-US"/>
                    </a:p>
                  </a:txBody>
                  <a:tcPr/>
                </a:tc>
                <a:tc>
                  <a:txBody>
                    <a:bodyPr/>
                    <a:lstStyle/>
                    <a:p>
                      <a:pPr algn="ctr" fontAlgn="ctr">
                        <a:lnSpc>
                          <a:spcPct val="150000"/>
                        </a:lnSpc>
                      </a:pPr>
                      <a:r>
                        <a:rPr lang="zh-CN" altLang="en-US" sz="1200" u="none" strike="noStrike" dirty="0">
                          <a:effectLst/>
                          <a:latin typeface="仿宋" panose="02010609060101010101" pitchFamily="49" charset="-122"/>
                          <a:ea typeface="仿宋" panose="02010609060101010101" pitchFamily="49" charset="-122"/>
                        </a:rPr>
                        <a:t>董事会权利</a:t>
                      </a:r>
                      <a:endParaRPr lang="zh-CN" altLang="en-US" sz="1200" b="0" i="0" u="none" strike="noStrike" dirty="0">
                        <a:solidFill>
                          <a:srgbClr val="000000"/>
                        </a:solidFill>
                        <a:effectLst/>
                        <a:latin typeface="仿宋" panose="02010609060101010101" pitchFamily="49" charset="-122"/>
                        <a:ea typeface="仿宋" panose="02010609060101010101" pitchFamily="49" charset="-122"/>
                      </a:endParaRPr>
                    </a:p>
                  </a:txBody>
                  <a:tcPr marL="9438" marR="9438" marT="9438" marB="0" anchor="ctr" anchorCtr="1"/>
                </a:tc>
                <a:tc>
                  <a:txBody>
                    <a:bodyPr/>
                    <a:lstStyle/>
                    <a:p>
                      <a:pPr algn="ctr" fontAlgn="ctr">
                        <a:lnSpc>
                          <a:spcPct val="150000"/>
                        </a:lnSpc>
                      </a:pPr>
                      <a:r>
                        <a:rPr lang="zh-CN" altLang="en-US" sz="1200" u="none" strike="noStrike" dirty="0">
                          <a:effectLst/>
                          <a:latin typeface="仿宋" panose="02010609060101010101" pitchFamily="49" charset="-122"/>
                          <a:ea typeface="仿宋" panose="02010609060101010101" pitchFamily="49" charset="-122"/>
                        </a:rPr>
                        <a:t>争取董事会</a:t>
                      </a:r>
                      <a:r>
                        <a:rPr lang="en-US" altLang="zh-CN" sz="1200" u="none" strike="noStrike" dirty="0">
                          <a:effectLst/>
                          <a:latin typeface="仿宋" panose="02010609060101010101" pitchFamily="49" charset="-122"/>
                          <a:ea typeface="仿宋" panose="02010609060101010101" pitchFamily="49" charset="-122"/>
                        </a:rPr>
                        <a:t>1</a:t>
                      </a:r>
                      <a:r>
                        <a:rPr lang="zh-CN" altLang="en-US" sz="1200" u="none" strike="noStrike" dirty="0">
                          <a:effectLst/>
                          <a:latin typeface="仿宋" panose="02010609060101010101" pitchFamily="49" charset="-122"/>
                          <a:ea typeface="仿宋" panose="02010609060101010101" pitchFamily="49" charset="-122"/>
                        </a:rPr>
                        <a:t>票</a:t>
                      </a:r>
                      <a:endParaRPr lang="zh-CN" altLang="en-US" sz="1200" b="0" i="0" u="none" strike="noStrike" dirty="0">
                        <a:solidFill>
                          <a:srgbClr val="000000"/>
                        </a:solidFill>
                        <a:effectLst/>
                        <a:latin typeface="仿宋" panose="02010609060101010101" pitchFamily="49" charset="-122"/>
                        <a:ea typeface="仿宋" panose="02010609060101010101" pitchFamily="49" charset="-122"/>
                      </a:endParaRPr>
                    </a:p>
                  </a:txBody>
                  <a:tcPr marL="9438" marR="9438" marT="9438" marB="0" anchor="ctr" anchorCtr="1"/>
                </a:tc>
                <a:extLst>
                  <a:ext uri="{0D108BD9-81ED-4DB2-BD59-A6C34878D82A}">
                    <a16:rowId xmlns:a16="http://schemas.microsoft.com/office/drawing/2014/main" val="285504446"/>
                  </a:ext>
                </a:extLst>
              </a:tr>
              <a:tr h="188752">
                <a:tc vMerge="1">
                  <a:txBody>
                    <a:bodyPr/>
                    <a:lstStyle/>
                    <a:p>
                      <a:endParaRPr lang="zh-CN" altLang="en-US"/>
                    </a:p>
                  </a:txBody>
                  <a:tcPr/>
                </a:tc>
                <a:tc>
                  <a:txBody>
                    <a:bodyPr/>
                    <a:lstStyle/>
                    <a:p>
                      <a:pPr algn="ctr" fontAlgn="ctr">
                        <a:lnSpc>
                          <a:spcPct val="150000"/>
                        </a:lnSpc>
                      </a:pPr>
                      <a:r>
                        <a:rPr lang="zh-CN" altLang="en-US" sz="1200" u="none" strike="noStrike" dirty="0">
                          <a:effectLst/>
                          <a:latin typeface="仿宋" panose="02010609060101010101" pitchFamily="49" charset="-122"/>
                          <a:ea typeface="仿宋" panose="02010609060101010101" pitchFamily="49" charset="-122"/>
                        </a:rPr>
                        <a:t>其他保护条款</a:t>
                      </a:r>
                      <a:endParaRPr lang="zh-CN" altLang="en-US" sz="1200" b="0" i="0" u="none" strike="noStrike" dirty="0">
                        <a:solidFill>
                          <a:srgbClr val="000000"/>
                        </a:solidFill>
                        <a:effectLst/>
                        <a:latin typeface="仿宋" panose="02010609060101010101" pitchFamily="49" charset="-122"/>
                        <a:ea typeface="仿宋" panose="02010609060101010101" pitchFamily="49" charset="-122"/>
                      </a:endParaRPr>
                    </a:p>
                  </a:txBody>
                  <a:tcPr marL="9438" marR="9438" marT="9438" marB="0" anchor="ctr" anchorCtr="1"/>
                </a:tc>
                <a:tc>
                  <a:txBody>
                    <a:bodyPr/>
                    <a:lstStyle/>
                    <a:p>
                      <a:pPr algn="ctr" fontAlgn="ctr">
                        <a:lnSpc>
                          <a:spcPct val="150000"/>
                        </a:lnSpc>
                      </a:pPr>
                      <a:endParaRPr lang="zh-CN" altLang="en-US" sz="1200" b="0" i="0" u="none" strike="noStrike" dirty="0">
                        <a:solidFill>
                          <a:srgbClr val="000000"/>
                        </a:solidFill>
                        <a:effectLst/>
                        <a:latin typeface="仿宋" panose="02010609060101010101" pitchFamily="49" charset="-122"/>
                        <a:ea typeface="仿宋" panose="02010609060101010101" pitchFamily="49" charset="-122"/>
                      </a:endParaRPr>
                    </a:p>
                  </a:txBody>
                  <a:tcPr marL="9438" marR="9438" marT="9438" marB="0" anchor="ctr" anchorCtr="1"/>
                </a:tc>
                <a:extLst>
                  <a:ext uri="{0D108BD9-81ED-4DB2-BD59-A6C34878D82A}">
                    <a16:rowId xmlns:a16="http://schemas.microsoft.com/office/drawing/2014/main" val="1196903920"/>
                  </a:ext>
                </a:extLst>
              </a:tr>
              <a:tr h="281154">
                <a:tc rowSpan="2">
                  <a:txBody>
                    <a:bodyPr/>
                    <a:lstStyle/>
                    <a:p>
                      <a:pPr algn="ctr" fontAlgn="ctr">
                        <a:lnSpc>
                          <a:spcPct val="150000"/>
                        </a:lnSpc>
                      </a:pPr>
                      <a:r>
                        <a:rPr lang="zh-CN" altLang="en-US" sz="1200" b="1" u="none" strike="noStrike" dirty="0">
                          <a:effectLst/>
                          <a:latin typeface="仿宋" panose="02010609060101010101" pitchFamily="49" charset="-122"/>
                          <a:ea typeface="仿宋" panose="02010609060101010101" pitchFamily="49" charset="-122"/>
                        </a:rPr>
                        <a:t>其他重要</a:t>
                      </a:r>
                      <a:br>
                        <a:rPr lang="zh-CN" altLang="en-US" sz="1200" b="1" u="none" strike="noStrike" dirty="0">
                          <a:effectLst/>
                          <a:latin typeface="仿宋" panose="02010609060101010101" pitchFamily="49" charset="-122"/>
                          <a:ea typeface="仿宋" panose="02010609060101010101" pitchFamily="49" charset="-122"/>
                        </a:rPr>
                      </a:br>
                      <a:r>
                        <a:rPr lang="zh-CN" altLang="en-US" sz="1200" b="1" u="none" strike="noStrike" dirty="0">
                          <a:effectLst/>
                          <a:latin typeface="仿宋" panose="02010609060101010101" pitchFamily="49" charset="-122"/>
                          <a:ea typeface="仿宋" panose="02010609060101010101" pitchFamily="49" charset="-122"/>
                        </a:rPr>
                        <a:t>条款</a:t>
                      </a:r>
                      <a:endParaRPr lang="zh-CN" altLang="en-US" sz="1200" b="1" i="0" u="none" strike="noStrike" dirty="0">
                        <a:solidFill>
                          <a:srgbClr val="000000"/>
                        </a:solidFill>
                        <a:effectLst/>
                        <a:latin typeface="仿宋" panose="02010609060101010101" pitchFamily="49" charset="-122"/>
                        <a:ea typeface="仿宋" panose="02010609060101010101" pitchFamily="49" charset="-122"/>
                      </a:endParaRPr>
                    </a:p>
                  </a:txBody>
                  <a:tcPr marL="9438" marR="9438" marT="9438" marB="0" anchor="ctr" anchorCtr="1"/>
                </a:tc>
                <a:tc>
                  <a:txBody>
                    <a:bodyPr/>
                    <a:lstStyle/>
                    <a:p>
                      <a:pPr algn="ctr" fontAlgn="ctr">
                        <a:lnSpc>
                          <a:spcPct val="150000"/>
                        </a:lnSpc>
                      </a:pPr>
                      <a:r>
                        <a:rPr lang="en-US" altLang="zh-CN" sz="1200" u="none" strike="noStrike" dirty="0">
                          <a:effectLst/>
                          <a:latin typeface="仿宋" panose="02010609060101010101" pitchFamily="49" charset="-122"/>
                          <a:ea typeface="仿宋" panose="02010609060101010101" pitchFamily="49" charset="-122"/>
                        </a:rPr>
                        <a:t>MTM</a:t>
                      </a:r>
                      <a:r>
                        <a:rPr lang="zh-CN" altLang="en-US" sz="1200" u="none" strike="noStrike" dirty="0">
                          <a:effectLst/>
                          <a:latin typeface="仿宋" panose="02010609060101010101" pitchFamily="49" charset="-122"/>
                          <a:ea typeface="仿宋" panose="02010609060101010101" pitchFamily="49" charset="-122"/>
                        </a:rPr>
                        <a:t>基金权利</a:t>
                      </a:r>
                      <a:endParaRPr lang="zh-CN" altLang="en-US" sz="1200" b="0" i="0" u="none" strike="noStrike" dirty="0">
                        <a:solidFill>
                          <a:srgbClr val="000000"/>
                        </a:solidFill>
                        <a:effectLst/>
                        <a:latin typeface="仿宋" panose="02010609060101010101" pitchFamily="49" charset="-122"/>
                        <a:ea typeface="仿宋" panose="02010609060101010101" pitchFamily="49" charset="-122"/>
                      </a:endParaRPr>
                    </a:p>
                  </a:txBody>
                  <a:tcPr marL="9438" marR="9438" marT="9438" marB="0" anchor="ctr" anchorCtr="1"/>
                </a:tc>
                <a:tc>
                  <a:txBody>
                    <a:bodyPr/>
                    <a:lstStyle/>
                    <a:p>
                      <a:pPr algn="ctr" fontAlgn="ctr">
                        <a:lnSpc>
                          <a:spcPct val="150000"/>
                        </a:lnSpc>
                      </a:pPr>
                      <a:r>
                        <a:rPr lang="zh-CN" altLang="en-US" sz="1200" u="none" strike="noStrike" dirty="0">
                          <a:effectLst/>
                          <a:latin typeface="仿宋" panose="02010609060101010101" pitchFamily="49" charset="-122"/>
                          <a:ea typeface="仿宋" panose="02010609060101010101" pitchFamily="49" charset="-122"/>
                        </a:rPr>
                        <a:t>采用独家的方式投资</a:t>
                      </a:r>
                      <a:r>
                        <a:rPr lang="en-US" altLang="zh-CN" sz="1200" u="none" strike="noStrike" dirty="0">
                          <a:effectLst/>
                          <a:latin typeface="仿宋" panose="02010609060101010101" pitchFamily="49" charset="-122"/>
                          <a:ea typeface="仿宋" panose="02010609060101010101" pitchFamily="49" charset="-122"/>
                        </a:rPr>
                        <a:t>10,000</a:t>
                      </a:r>
                      <a:r>
                        <a:rPr lang="zh-CN" altLang="en-US" sz="1200" u="none" strike="noStrike" dirty="0">
                          <a:effectLst/>
                          <a:latin typeface="仿宋" panose="02010609060101010101" pitchFamily="49" charset="-122"/>
                          <a:ea typeface="仿宋" panose="02010609060101010101" pitchFamily="49" charset="-122"/>
                        </a:rPr>
                        <a:t>万元；　</a:t>
                      </a:r>
                      <a:endParaRPr lang="zh-CN" altLang="en-US" sz="1200" b="0" i="0" u="none" strike="noStrike" dirty="0">
                        <a:solidFill>
                          <a:srgbClr val="000000"/>
                        </a:solidFill>
                        <a:effectLst/>
                        <a:latin typeface="仿宋" panose="02010609060101010101" pitchFamily="49" charset="-122"/>
                        <a:ea typeface="仿宋" panose="02010609060101010101" pitchFamily="49" charset="-122"/>
                      </a:endParaRPr>
                    </a:p>
                  </a:txBody>
                  <a:tcPr marL="9438" marR="9438" marT="9438" marB="0" anchor="ctr" anchorCtr="1"/>
                </a:tc>
                <a:extLst>
                  <a:ext uri="{0D108BD9-81ED-4DB2-BD59-A6C34878D82A}">
                    <a16:rowId xmlns:a16="http://schemas.microsoft.com/office/drawing/2014/main" val="1620143719"/>
                  </a:ext>
                </a:extLst>
              </a:tr>
              <a:tr h="188752">
                <a:tc vMerge="1">
                  <a:txBody>
                    <a:bodyPr/>
                    <a:lstStyle/>
                    <a:p>
                      <a:endParaRPr lang="zh-CN" altLang="en-US"/>
                    </a:p>
                  </a:txBody>
                  <a:tcPr/>
                </a:tc>
                <a:tc>
                  <a:txBody>
                    <a:bodyPr/>
                    <a:lstStyle/>
                    <a:p>
                      <a:pPr algn="ctr" fontAlgn="ctr">
                        <a:lnSpc>
                          <a:spcPct val="150000"/>
                        </a:lnSpc>
                      </a:pPr>
                      <a:r>
                        <a:rPr lang="en-US" altLang="zh-CN" sz="1200" u="none" strike="noStrike" dirty="0">
                          <a:effectLst/>
                          <a:latin typeface="仿宋" panose="02010609060101010101" pitchFamily="49" charset="-122"/>
                          <a:ea typeface="仿宋" panose="02010609060101010101" pitchFamily="49" charset="-122"/>
                        </a:rPr>
                        <a:t>MTM</a:t>
                      </a:r>
                      <a:r>
                        <a:rPr lang="zh-CN" altLang="en-US" sz="1200" u="none" strike="noStrike" dirty="0">
                          <a:effectLst/>
                          <a:latin typeface="仿宋" panose="02010609060101010101" pitchFamily="49" charset="-122"/>
                          <a:ea typeface="仿宋" panose="02010609060101010101" pitchFamily="49" charset="-122"/>
                        </a:rPr>
                        <a:t>基金义务</a:t>
                      </a:r>
                      <a:endParaRPr lang="zh-CN" altLang="en-US" sz="1200" b="0" i="0" u="none" strike="noStrike" dirty="0">
                        <a:solidFill>
                          <a:srgbClr val="000000"/>
                        </a:solidFill>
                        <a:effectLst/>
                        <a:latin typeface="仿宋" panose="02010609060101010101" pitchFamily="49" charset="-122"/>
                        <a:ea typeface="仿宋" panose="02010609060101010101" pitchFamily="49" charset="-122"/>
                      </a:endParaRPr>
                    </a:p>
                  </a:txBody>
                  <a:tcPr marL="9438" marR="9438" marT="9438" marB="0" anchor="ctr" anchorCtr="1"/>
                </a:tc>
                <a:tc>
                  <a:txBody>
                    <a:bodyPr/>
                    <a:lstStyle/>
                    <a:p>
                      <a:pPr algn="ctr" fontAlgn="ctr">
                        <a:lnSpc>
                          <a:spcPct val="150000"/>
                        </a:lnSpc>
                      </a:pPr>
                      <a:r>
                        <a:rPr lang="zh-CN" altLang="en-US" sz="1200" u="none" strike="noStrike" dirty="0">
                          <a:effectLst/>
                          <a:latin typeface="仿宋" panose="02010609060101010101" pitchFamily="49" charset="-122"/>
                          <a:ea typeface="仿宋" panose="02010609060101010101" pitchFamily="49" charset="-122"/>
                        </a:rPr>
                        <a:t>协助规范企业治理结构</a:t>
                      </a:r>
                      <a:endParaRPr lang="en-US" altLang="zh-CN" sz="1200" u="none" strike="noStrike" dirty="0">
                        <a:effectLst/>
                        <a:latin typeface="仿宋" panose="02010609060101010101" pitchFamily="49" charset="-122"/>
                        <a:ea typeface="仿宋" panose="02010609060101010101" pitchFamily="49" charset="-122"/>
                      </a:endParaRPr>
                    </a:p>
                  </a:txBody>
                  <a:tcPr marL="9438" marR="9438" marT="9438" marB="0" anchor="ctr" anchorCtr="1"/>
                </a:tc>
                <a:extLst>
                  <a:ext uri="{0D108BD9-81ED-4DB2-BD59-A6C34878D82A}">
                    <a16:rowId xmlns:a16="http://schemas.microsoft.com/office/drawing/2014/main" val="1473915570"/>
                  </a:ext>
                </a:extLst>
              </a:tr>
            </a:tbl>
          </a:graphicData>
        </a:graphic>
      </p:graphicFrame>
      <p:sp>
        <p:nvSpPr>
          <p:cNvPr id="4" name="Rectangle 3">
            <a:extLst>
              <a:ext uri="{FF2B5EF4-FFF2-40B4-BE49-F238E27FC236}">
                <a16:creationId xmlns:a16="http://schemas.microsoft.com/office/drawing/2014/main" id="{DB6B273A-B4D2-4218-A6D9-70565F8B90F0}"/>
              </a:ext>
            </a:extLst>
          </p:cNvPr>
          <p:cNvSpPr txBox="1">
            <a:spLocks noChangeArrowheads="1"/>
          </p:cNvSpPr>
          <p:nvPr/>
        </p:nvSpPr>
        <p:spPr>
          <a:xfrm>
            <a:off x="435531" y="3227718"/>
            <a:ext cx="8229600" cy="1440100"/>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indent="180000">
              <a:lnSpc>
                <a:spcPct val="150000"/>
              </a:lnSpc>
              <a:buSzPct val="70000"/>
              <a:buFont typeface="Arial" panose="020B0604020202020204" pitchFamily="34" charset="0"/>
              <a:buBlip>
                <a:blip r:embed="rId3"/>
              </a:buBlip>
            </a:pPr>
            <a:r>
              <a:rPr lang="zh-CN" altLang="en-US" sz="1400" kern="1200" dirty="0">
                <a:latin typeface="仿宋" panose="02010609060101010101" pitchFamily="49" charset="-122"/>
                <a:ea typeface="仿宋" panose="02010609060101010101" pitchFamily="49" charset="-122"/>
              </a:rPr>
              <a:t>进展</a:t>
            </a:r>
            <a:endParaRPr lang="zh-CN" altLang="en-US" sz="1000" dirty="0">
              <a:latin typeface="仿宋" panose="02010609060101010101" pitchFamily="49" charset="-122"/>
              <a:ea typeface="仿宋" panose="02010609060101010101" pitchFamily="49" charset="-122"/>
            </a:endParaRPr>
          </a:p>
          <a:p>
            <a:pPr marL="0" indent="360000">
              <a:lnSpc>
                <a:spcPct val="150000"/>
              </a:lnSpc>
              <a:buSzPct val="70000"/>
              <a:buNone/>
            </a:pPr>
            <a:r>
              <a:rPr lang="zh-CN" altLang="en-US" sz="1050" dirty="0">
                <a:latin typeface="仿宋" panose="02010609060101010101" pitchFamily="49" charset="-122"/>
                <a:ea typeface="仿宋" panose="02010609060101010101" pitchFamily="49" charset="-122"/>
              </a:rPr>
              <a:t>投决阶段。 </a:t>
            </a:r>
            <a:endParaRPr lang="en-US" altLang="zh-CN" sz="1050" dirty="0">
              <a:latin typeface="仿宋" panose="02010609060101010101" pitchFamily="49" charset="-122"/>
              <a:ea typeface="仿宋" panose="02010609060101010101" pitchFamily="49" charset="-122"/>
            </a:endParaRPr>
          </a:p>
          <a:p>
            <a:pPr marL="0" indent="180000">
              <a:lnSpc>
                <a:spcPct val="150000"/>
              </a:lnSpc>
              <a:buSzPct val="70000"/>
              <a:buFont typeface="Arial" panose="020B0604020202020204" pitchFamily="34" charset="0"/>
              <a:buBlip>
                <a:blip r:embed="rId3"/>
              </a:buBlip>
            </a:pPr>
            <a:r>
              <a:rPr lang="zh-CN" altLang="en-US" sz="1400" kern="1200" dirty="0">
                <a:latin typeface="仿宋" panose="02010609060101010101" pitchFamily="49" charset="-122"/>
                <a:ea typeface="仿宋" panose="02010609060101010101" pitchFamily="49" charset="-122"/>
              </a:rPr>
              <a:t>估值逻辑：</a:t>
            </a:r>
            <a:r>
              <a:rPr lang="en-US" altLang="zh-CN" sz="1400" kern="1200" dirty="0">
                <a:latin typeface="仿宋" panose="02010609060101010101" pitchFamily="49" charset="-122"/>
                <a:ea typeface="仿宋" panose="02010609060101010101" pitchFamily="49" charset="-122"/>
              </a:rPr>
              <a:t>C</a:t>
            </a:r>
            <a:r>
              <a:rPr lang="zh-CN" altLang="en-US" sz="1400" kern="1200" dirty="0">
                <a:latin typeface="仿宋" panose="02010609060101010101" pitchFamily="49" charset="-122"/>
                <a:ea typeface="仿宋" panose="02010609060101010101" pitchFamily="49" charset="-122"/>
              </a:rPr>
              <a:t>轮</a:t>
            </a:r>
            <a:endParaRPr lang="en-US" altLang="zh-CN" sz="1400" kern="1200" dirty="0">
              <a:latin typeface="仿宋" panose="02010609060101010101" pitchFamily="49" charset="-122"/>
              <a:ea typeface="仿宋" panose="02010609060101010101" pitchFamily="49" charset="-122"/>
            </a:endParaRPr>
          </a:p>
          <a:p>
            <a:pPr marL="0" indent="360000">
              <a:lnSpc>
                <a:spcPct val="150000"/>
              </a:lnSpc>
              <a:buSzPct val="70000"/>
              <a:buNone/>
            </a:pPr>
            <a:r>
              <a:rPr lang="zh-CN" altLang="en-US" sz="1300" dirty="0">
                <a:solidFill>
                  <a:srgbClr val="C00000"/>
                </a:solidFill>
                <a:latin typeface="仿宋" panose="02010609060101010101" pitchFamily="49" charset="-122"/>
                <a:ea typeface="仿宋" panose="02010609060101010101" pitchFamily="49" charset="-122"/>
              </a:rPr>
              <a:t>高端电源管理芯片稀缺标的，高成长性细分赛道，盈利能力得到快速释放，和</a:t>
            </a:r>
            <a:r>
              <a:rPr lang="en-US" altLang="zh-CN" sz="1300" dirty="0">
                <a:solidFill>
                  <a:srgbClr val="C00000"/>
                </a:solidFill>
                <a:latin typeface="仿宋" panose="02010609060101010101" pitchFamily="49" charset="-122"/>
                <a:ea typeface="仿宋" panose="02010609060101010101" pitchFamily="49" charset="-122"/>
              </a:rPr>
              <a:t>MTM</a:t>
            </a:r>
            <a:r>
              <a:rPr lang="zh-CN" altLang="en-US" sz="1300" dirty="0">
                <a:solidFill>
                  <a:srgbClr val="C00000"/>
                </a:solidFill>
                <a:latin typeface="仿宋" panose="02010609060101010101" pitchFamily="49" charset="-122"/>
                <a:ea typeface="仿宋" panose="02010609060101010101" pitchFamily="49" charset="-122"/>
              </a:rPr>
              <a:t>的产业协同效应大</a:t>
            </a:r>
            <a:r>
              <a:rPr lang="zh-CN" altLang="en-US" sz="1300" dirty="0">
                <a:latin typeface="仿宋" panose="02010609060101010101" pitchFamily="49" charset="-122"/>
                <a:ea typeface="仿宋" panose="02010609060101010101" pitchFamily="49" charset="-122"/>
              </a:rPr>
              <a:t>。</a:t>
            </a:r>
            <a:endParaRPr lang="zh-CN" altLang="zh-CN" sz="1300" dirty="0">
              <a:latin typeface="仿宋" panose="02010609060101010101" pitchFamily="49" charset="-122"/>
              <a:ea typeface="仿宋" panose="02010609060101010101" pitchFamily="49" charset="-122"/>
            </a:endParaRPr>
          </a:p>
        </p:txBody>
      </p:sp>
      <p:sp>
        <p:nvSpPr>
          <p:cNvPr id="5" name="Rectangle 3">
            <a:extLst>
              <a:ext uri="{FF2B5EF4-FFF2-40B4-BE49-F238E27FC236}">
                <a16:creationId xmlns:a16="http://schemas.microsoft.com/office/drawing/2014/main" id="{B2F68AC6-80A5-4EE2-831F-C8A20DABD8A3}"/>
              </a:ext>
            </a:extLst>
          </p:cNvPr>
          <p:cNvSpPr txBox="1">
            <a:spLocks noChangeArrowheads="1"/>
          </p:cNvSpPr>
          <p:nvPr/>
        </p:nvSpPr>
        <p:spPr>
          <a:xfrm>
            <a:off x="5452233" y="627615"/>
            <a:ext cx="3584077" cy="3320153"/>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indent="180000">
              <a:lnSpc>
                <a:spcPct val="150000"/>
              </a:lnSpc>
              <a:spcBef>
                <a:spcPts val="0"/>
              </a:spcBef>
              <a:buSzPct val="70000"/>
              <a:buBlip>
                <a:blip r:embed="rId3"/>
              </a:buBlip>
            </a:pPr>
            <a:r>
              <a:rPr lang="zh-CN" altLang="en-US" sz="1200" b="1" dirty="0">
                <a:latin typeface="仿宋" panose="02010609060101010101" pitchFamily="49" charset="-122"/>
                <a:ea typeface="仿宋" panose="02010609060101010101" pitchFamily="49" charset="-122"/>
              </a:rPr>
              <a:t>交易具体方式（交易方案的背景、资金支付方案等）：</a:t>
            </a:r>
            <a:endParaRPr lang="en-US" altLang="zh-CN" sz="1200" b="1" dirty="0">
              <a:latin typeface="仿宋" panose="02010609060101010101" pitchFamily="49" charset="-122"/>
              <a:ea typeface="仿宋" panose="02010609060101010101" pitchFamily="49" charset="-122"/>
            </a:endParaRPr>
          </a:p>
          <a:p>
            <a:pPr marL="0" indent="360000">
              <a:lnSpc>
                <a:spcPct val="150000"/>
              </a:lnSpc>
              <a:buSzPct val="70000"/>
              <a:buNone/>
            </a:pPr>
            <a:r>
              <a:rPr lang="zh-CN" altLang="zh-CN" sz="1050" dirty="0">
                <a:latin typeface="仿宋" panose="02010609060101010101" pitchFamily="49" charset="-122"/>
                <a:ea typeface="仿宋" panose="02010609060101010101" pitchFamily="49" charset="-122"/>
              </a:rPr>
              <a:t>本次融资为公司</a:t>
            </a:r>
            <a:r>
              <a:rPr lang="en-US" altLang="zh-CN" sz="1050" dirty="0">
                <a:latin typeface="仿宋" panose="02010609060101010101" pitchFamily="49" charset="-122"/>
                <a:ea typeface="仿宋" panose="02010609060101010101" pitchFamily="49" charset="-122"/>
              </a:rPr>
              <a:t>C</a:t>
            </a:r>
            <a:r>
              <a:rPr lang="zh-CN" altLang="en-US" sz="1050" dirty="0">
                <a:latin typeface="仿宋" panose="02010609060101010101" pitchFamily="49" charset="-122"/>
                <a:ea typeface="仿宋" panose="02010609060101010101" pitchFamily="49" charset="-122"/>
              </a:rPr>
              <a:t>轮</a:t>
            </a:r>
            <a:r>
              <a:rPr lang="zh-CN" altLang="zh-CN" sz="1050" dirty="0">
                <a:latin typeface="仿宋" panose="02010609060101010101" pitchFamily="49" charset="-122"/>
                <a:ea typeface="仿宋" panose="02010609060101010101" pitchFamily="49" charset="-122"/>
              </a:rPr>
              <a:t>融资，采用增发新股方式进行</a:t>
            </a:r>
            <a:r>
              <a:rPr lang="zh-CN" altLang="en-US" sz="1050" dirty="0">
                <a:latin typeface="仿宋" panose="02010609060101010101" pitchFamily="49" charset="-122"/>
                <a:ea typeface="仿宋" panose="02010609060101010101" pitchFamily="49" charset="-122"/>
              </a:rPr>
              <a:t>，</a:t>
            </a:r>
            <a:r>
              <a:rPr lang="zh-CN" altLang="zh-CN" sz="1050" dirty="0">
                <a:latin typeface="仿宋" panose="02010609060101010101" pitchFamily="49" charset="-122"/>
                <a:ea typeface="仿宋" panose="02010609060101010101" pitchFamily="49" charset="-122"/>
              </a:rPr>
              <a:t>本轮融资</a:t>
            </a:r>
            <a:r>
              <a:rPr lang="en-US" altLang="zh-CN" sz="1050" dirty="0">
                <a:latin typeface="仿宋" panose="02010609060101010101" pitchFamily="49" charset="-122"/>
                <a:ea typeface="仿宋" panose="02010609060101010101" pitchFamily="49" charset="-122"/>
              </a:rPr>
              <a:t>10,000</a:t>
            </a:r>
            <a:r>
              <a:rPr lang="zh-CN" altLang="en-US" sz="1050" dirty="0">
                <a:latin typeface="仿宋" panose="02010609060101010101" pitchFamily="49" charset="-122"/>
                <a:ea typeface="仿宋" panose="02010609060101010101" pitchFamily="49" charset="-122"/>
              </a:rPr>
              <a:t>万元</a:t>
            </a:r>
            <a:r>
              <a:rPr lang="zh-CN" altLang="zh-CN" sz="1050" dirty="0">
                <a:latin typeface="仿宋" panose="02010609060101010101" pitchFamily="49" charset="-122"/>
                <a:ea typeface="仿宋" panose="02010609060101010101" pitchFamily="49" charset="-122"/>
              </a:rPr>
              <a:t>人民币</a:t>
            </a:r>
            <a:r>
              <a:rPr lang="zh-CN" altLang="en-US" sz="1050" dirty="0">
                <a:latin typeface="仿宋" panose="02010609060101010101" pitchFamily="49" charset="-122"/>
                <a:ea typeface="仿宋" panose="02010609060101010101" pitchFamily="49" charset="-122"/>
              </a:rPr>
              <a:t>。</a:t>
            </a:r>
            <a:endParaRPr lang="en-US" altLang="zh-CN" sz="1050" dirty="0">
              <a:latin typeface="仿宋" panose="02010609060101010101" pitchFamily="49" charset="-122"/>
              <a:ea typeface="仿宋" panose="02010609060101010101" pitchFamily="49" charset="-122"/>
            </a:endParaRPr>
          </a:p>
          <a:p>
            <a:pPr marL="0" indent="360000">
              <a:lnSpc>
                <a:spcPct val="150000"/>
              </a:lnSpc>
              <a:buSzPct val="70000"/>
              <a:buNone/>
            </a:pPr>
            <a:r>
              <a:rPr lang="zh-CN" altLang="zh-CN" sz="1050" dirty="0">
                <a:latin typeface="仿宋" panose="02010609060101010101" pitchFamily="49" charset="-122"/>
                <a:ea typeface="仿宋" panose="02010609060101010101" pitchFamily="49" charset="-122"/>
              </a:rPr>
              <a:t>目前公司投前估值</a:t>
            </a:r>
            <a:r>
              <a:rPr lang="en-US" altLang="zh-CN" sz="1050" dirty="0">
                <a:latin typeface="仿宋" panose="02010609060101010101" pitchFamily="49" charset="-122"/>
                <a:ea typeface="仿宋" panose="02010609060101010101" pitchFamily="49" charset="-122"/>
              </a:rPr>
              <a:t>9.2</a:t>
            </a:r>
            <a:r>
              <a:rPr lang="zh-CN" altLang="en-US" sz="1050" dirty="0">
                <a:latin typeface="仿宋" panose="02010609060101010101" pitchFamily="49" charset="-122"/>
                <a:ea typeface="仿宋" panose="02010609060101010101" pitchFamily="49" charset="-122"/>
              </a:rPr>
              <a:t>亿元</a:t>
            </a:r>
            <a:r>
              <a:rPr lang="zh-CN" altLang="zh-CN" sz="1050" dirty="0">
                <a:latin typeface="仿宋" panose="02010609060101010101" pitchFamily="49" charset="-122"/>
                <a:ea typeface="仿宋" panose="02010609060101010101" pitchFamily="49" charset="-122"/>
              </a:rPr>
              <a:t>，超越摩尔基金投入</a:t>
            </a:r>
            <a:r>
              <a:rPr lang="en-US" altLang="zh-CN" sz="1050" dirty="0">
                <a:latin typeface="仿宋" panose="02010609060101010101" pitchFamily="49" charset="-122"/>
                <a:ea typeface="仿宋" panose="02010609060101010101" pitchFamily="49" charset="-122"/>
              </a:rPr>
              <a:t>10,000</a:t>
            </a:r>
            <a:r>
              <a:rPr lang="zh-CN" altLang="en-US" sz="1050" dirty="0">
                <a:latin typeface="仿宋" panose="02010609060101010101" pitchFamily="49" charset="-122"/>
                <a:ea typeface="仿宋" panose="02010609060101010101" pitchFamily="49" charset="-122"/>
              </a:rPr>
              <a:t>万元</a:t>
            </a:r>
            <a:r>
              <a:rPr lang="zh-CN" altLang="zh-CN" sz="1050" dirty="0">
                <a:latin typeface="仿宋" panose="02010609060101010101" pitchFamily="49" charset="-122"/>
                <a:ea typeface="仿宋" panose="02010609060101010101" pitchFamily="49" charset="-122"/>
              </a:rPr>
              <a:t>，投后股权占比</a:t>
            </a:r>
            <a:r>
              <a:rPr lang="en-US" altLang="zh-CN" sz="1050" dirty="0">
                <a:latin typeface="仿宋" panose="02010609060101010101" pitchFamily="49" charset="-122"/>
                <a:ea typeface="仿宋" panose="02010609060101010101" pitchFamily="49" charset="-122"/>
              </a:rPr>
              <a:t>9.8%</a:t>
            </a:r>
            <a:r>
              <a:rPr lang="zh-CN" altLang="en-US" sz="1050" dirty="0">
                <a:latin typeface="仿宋" panose="02010609060101010101" pitchFamily="49" charset="-122"/>
                <a:ea typeface="仿宋" panose="02010609060101010101" pitchFamily="49" charset="-122"/>
              </a:rPr>
              <a:t>。</a:t>
            </a:r>
          </a:p>
          <a:p>
            <a:pPr marL="0" indent="180000">
              <a:lnSpc>
                <a:spcPct val="150000"/>
              </a:lnSpc>
              <a:spcBef>
                <a:spcPts val="0"/>
              </a:spcBef>
              <a:buSzPct val="70000"/>
              <a:buBlip>
                <a:blip r:embed="rId3"/>
              </a:buBlip>
            </a:pPr>
            <a:r>
              <a:rPr lang="zh-CN" altLang="en-US" sz="1200" b="1" dirty="0">
                <a:latin typeface="仿宋" panose="02010609060101010101" pitchFamily="49" charset="-122"/>
                <a:ea typeface="仿宋" panose="02010609060101010101" pitchFamily="49" charset="-122"/>
              </a:rPr>
              <a:t>交易详细步骤、进度安排：</a:t>
            </a:r>
            <a:endParaRPr lang="en-US" altLang="zh-CN" sz="1200" b="1" dirty="0">
              <a:latin typeface="仿宋" panose="02010609060101010101" pitchFamily="49" charset="-122"/>
              <a:ea typeface="仿宋" panose="02010609060101010101" pitchFamily="49" charset="-122"/>
            </a:endParaRPr>
          </a:p>
          <a:p>
            <a:pPr marL="0" indent="360000">
              <a:lnSpc>
                <a:spcPct val="150000"/>
              </a:lnSpc>
              <a:buSzPct val="70000"/>
              <a:buNone/>
            </a:pPr>
            <a:r>
              <a:rPr lang="zh-CN" altLang="en-US" sz="1050" dirty="0">
                <a:latin typeface="仿宋" panose="02010609060101010101" pitchFamily="49" charset="-122"/>
                <a:ea typeface="仿宋" panose="02010609060101010101" pitchFamily="49" charset="-122"/>
              </a:rPr>
              <a:t>聘请中介机构预计在</a:t>
            </a:r>
            <a:r>
              <a:rPr lang="en-US" altLang="zh-CN" sz="1050" dirty="0">
                <a:latin typeface="仿宋" panose="02010609060101010101" pitchFamily="49" charset="-122"/>
                <a:ea typeface="仿宋" panose="02010609060101010101" pitchFamily="49" charset="-122"/>
              </a:rPr>
              <a:t>6</a:t>
            </a:r>
            <a:r>
              <a:rPr lang="zh-CN" altLang="en-US" sz="1050" dirty="0">
                <a:latin typeface="仿宋" panose="02010609060101010101" pitchFamily="49" charset="-122"/>
                <a:ea typeface="仿宋" panose="02010609060101010101" pitchFamily="49" charset="-122"/>
              </a:rPr>
              <a:t>月中之前完成投决。</a:t>
            </a:r>
            <a:endParaRPr lang="en-US" altLang="zh-CN" sz="1050" dirty="0">
              <a:latin typeface="仿宋" panose="02010609060101010101" pitchFamily="49" charset="-122"/>
              <a:ea typeface="仿宋" panose="02010609060101010101" pitchFamily="49" charset="-122"/>
            </a:endParaRPr>
          </a:p>
          <a:p>
            <a:pPr marL="0" indent="180000">
              <a:lnSpc>
                <a:spcPct val="150000"/>
              </a:lnSpc>
              <a:spcBef>
                <a:spcPts val="0"/>
              </a:spcBef>
              <a:buSzPct val="70000"/>
              <a:buBlip>
                <a:blip r:embed="rId3"/>
              </a:buBlip>
            </a:pPr>
            <a:r>
              <a:rPr lang="zh-CN" altLang="en-US" sz="1200" b="1" dirty="0">
                <a:latin typeface="仿宋" panose="02010609060101010101" pitchFamily="49" charset="-122"/>
                <a:ea typeface="仿宋" panose="02010609060101010101" pitchFamily="49" charset="-122"/>
              </a:rPr>
              <a:t>资金使用方案：</a:t>
            </a:r>
            <a:endParaRPr lang="en-US" altLang="zh-CN" sz="1200" b="1" dirty="0">
              <a:latin typeface="仿宋" panose="02010609060101010101" pitchFamily="49" charset="-122"/>
              <a:ea typeface="仿宋" panose="02010609060101010101" pitchFamily="49" charset="-122"/>
            </a:endParaRPr>
          </a:p>
          <a:p>
            <a:pPr marL="0" indent="360000">
              <a:lnSpc>
                <a:spcPct val="150000"/>
              </a:lnSpc>
              <a:buSzPct val="70000"/>
              <a:buNone/>
            </a:pPr>
            <a:r>
              <a:rPr lang="zh-CN" altLang="en-US" sz="1050" dirty="0">
                <a:latin typeface="仿宋" panose="02010609060101010101" pitchFamily="49" charset="-122"/>
                <a:ea typeface="仿宋" panose="02010609060101010101" pitchFamily="49" charset="-122"/>
              </a:rPr>
              <a:t>主要用途：晶圆、封测产能备货资金、研发投入</a:t>
            </a:r>
            <a:r>
              <a:rPr lang="zh-CN" altLang="zh-CN" sz="1050" dirty="0">
                <a:latin typeface="仿宋" panose="02010609060101010101" pitchFamily="49" charset="-122"/>
                <a:ea typeface="仿宋" panose="02010609060101010101" pitchFamily="49" charset="-122"/>
              </a:rPr>
              <a:t>。</a:t>
            </a:r>
            <a:endParaRPr lang="en-US" altLang="zh-CN" sz="1200" kern="1200" dirty="0"/>
          </a:p>
          <a:p>
            <a:pPr marL="0" indent="0">
              <a:lnSpc>
                <a:spcPct val="150000"/>
              </a:lnSpc>
              <a:buSzPct val="70000"/>
              <a:buNone/>
            </a:pPr>
            <a:endParaRPr lang="en-US" altLang="zh-CN" sz="1200" dirty="0"/>
          </a:p>
          <a:p>
            <a:pPr marL="0" indent="0">
              <a:lnSpc>
                <a:spcPct val="150000"/>
              </a:lnSpc>
              <a:buSzPct val="70000"/>
              <a:buNone/>
            </a:pPr>
            <a:endParaRPr lang="zh-CN" altLang="en-US" sz="1200" kern="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546181-3F3C-4279-8B65-4AF55AFC4C02}"/>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五、估值分析</a:t>
            </a:r>
            <a:r>
              <a:rPr lang="en-US" altLang="zh-CN" sz="2400" dirty="0">
                <a:solidFill>
                  <a:schemeClr val="bg1">
                    <a:lumMod val="50000"/>
                  </a:schemeClr>
                </a:solidFill>
              </a:rPr>
              <a:t>|</a:t>
            </a:r>
            <a:r>
              <a:rPr lang="zh-CN" altLang="en-US" sz="2000" dirty="0"/>
              <a:t>企业估值</a:t>
            </a:r>
            <a:endParaRPr lang="en-US" altLang="zh-CN" sz="2400" dirty="0"/>
          </a:p>
        </p:txBody>
      </p:sp>
      <p:sp>
        <p:nvSpPr>
          <p:cNvPr id="7" name="矩形 6">
            <a:extLst>
              <a:ext uri="{FF2B5EF4-FFF2-40B4-BE49-F238E27FC236}">
                <a16:creationId xmlns:a16="http://schemas.microsoft.com/office/drawing/2014/main" id="{25B8F65E-10E9-432B-820E-F06CC7E0E271}"/>
              </a:ext>
            </a:extLst>
          </p:cNvPr>
          <p:cNvSpPr/>
          <p:nvPr/>
        </p:nvSpPr>
        <p:spPr>
          <a:xfrm>
            <a:off x="539720" y="414376"/>
            <a:ext cx="8064560" cy="3640805"/>
          </a:xfrm>
          <a:prstGeom prst="rect">
            <a:avLst/>
          </a:prstGeom>
        </p:spPr>
        <p:txBody>
          <a:bodyPr wrap="square">
            <a:spAutoFit/>
          </a:bodyPr>
          <a:lstStyle/>
          <a:p>
            <a:pPr marL="0" lvl="1" indent="180000" eaLnBrk="0" hangingPunct="0">
              <a:lnSpc>
                <a:spcPct val="150000"/>
              </a:lnSpc>
              <a:spcBef>
                <a:spcPts val="0"/>
              </a:spcBef>
              <a:buSzPct val="70000"/>
              <a:buBlip>
                <a:blip r:embed="rId3"/>
              </a:buBlip>
            </a:pPr>
            <a:r>
              <a:rPr lang="zh-CN" altLang="zh-CN" sz="1400" b="1" dirty="0">
                <a:latin typeface="仿宋" panose="02010609060101010101" pitchFamily="49" charset="-122"/>
                <a:ea typeface="仿宋" panose="02010609060101010101" pitchFamily="49" charset="-122"/>
              </a:rPr>
              <a:t>历史成本法</a:t>
            </a:r>
            <a:endParaRPr lang="en-US" altLang="zh-CN" sz="1400" b="1" dirty="0">
              <a:latin typeface="仿宋" panose="02010609060101010101" pitchFamily="49" charset="-122"/>
              <a:ea typeface="仿宋" panose="02010609060101010101" pitchFamily="49" charset="-122"/>
            </a:endParaRPr>
          </a:p>
          <a:p>
            <a:pPr marL="288000" lvl="1" indent="-211455" eaLnBrk="0" hangingPunct="0">
              <a:lnSpc>
                <a:spcPct val="150000"/>
              </a:lnSpc>
              <a:spcBef>
                <a:spcPts val="65"/>
              </a:spcBef>
              <a:buSzPct val="70000"/>
              <a:buFont typeface="Arial" panose="020B0604020202020204" pitchFamily="34" charset="0"/>
              <a:buChar char="–"/>
            </a:pPr>
            <a:r>
              <a:rPr lang="en-US" altLang="zh-CN" sz="1100" dirty="0">
                <a:latin typeface="仿宋" panose="02010609060101010101" pitchFamily="49" charset="-122"/>
                <a:ea typeface="仿宋" panose="02010609060101010101" pitchFamily="49" charset="-122"/>
              </a:rPr>
              <a:t>2020</a:t>
            </a:r>
            <a:r>
              <a:rPr lang="zh-CN" altLang="zh-CN" sz="1100" dirty="0">
                <a:latin typeface="仿宋" panose="02010609060101010101" pitchFamily="49" charset="-122"/>
                <a:ea typeface="仿宋" panose="02010609060101010101" pitchFamily="49" charset="-122"/>
              </a:rPr>
              <a:t>年</a:t>
            </a:r>
            <a:r>
              <a:rPr lang="en-US" altLang="zh-CN" sz="1100" dirty="0">
                <a:latin typeface="仿宋" panose="02010609060101010101" pitchFamily="49" charset="-122"/>
                <a:ea typeface="仿宋" panose="02010609060101010101" pitchFamily="49" charset="-122"/>
              </a:rPr>
              <a:t>5</a:t>
            </a:r>
            <a:r>
              <a:rPr lang="zh-CN" altLang="zh-CN" sz="1100" dirty="0">
                <a:latin typeface="仿宋" panose="02010609060101010101" pitchFamily="49" charset="-122"/>
                <a:ea typeface="仿宋" panose="02010609060101010101" pitchFamily="49" charset="-122"/>
              </a:rPr>
              <a:t>月，公司</a:t>
            </a:r>
            <a:r>
              <a:rPr lang="en-US" altLang="zh-CN" sz="1100" dirty="0">
                <a:latin typeface="仿宋" panose="02010609060101010101" pitchFamily="49" charset="-122"/>
                <a:ea typeface="仿宋" panose="02010609060101010101" pitchFamily="49" charset="-122"/>
              </a:rPr>
              <a:t>B</a:t>
            </a:r>
            <a:r>
              <a:rPr lang="zh-CN" altLang="zh-CN" sz="1100" dirty="0">
                <a:latin typeface="仿宋" panose="02010609060101010101" pitchFamily="49" charset="-122"/>
                <a:ea typeface="仿宋" panose="02010609060101010101" pitchFamily="49" charset="-122"/>
              </a:rPr>
              <a:t>轮融资按照整体估值</a:t>
            </a:r>
            <a:r>
              <a:rPr lang="en-US" altLang="zh-CN" sz="1100" dirty="0">
                <a:latin typeface="仿宋" panose="02010609060101010101" pitchFamily="49" charset="-122"/>
                <a:ea typeface="仿宋" panose="02010609060101010101" pitchFamily="49" charset="-122"/>
              </a:rPr>
              <a:t>2.7</a:t>
            </a:r>
            <a:r>
              <a:rPr lang="zh-CN" altLang="zh-CN" sz="1100" dirty="0">
                <a:latin typeface="仿宋" panose="02010609060101010101" pitchFamily="49" charset="-122"/>
                <a:ea typeface="仿宋" panose="02010609060101010101" pitchFamily="49" charset="-122"/>
              </a:rPr>
              <a:t>亿元融资</a:t>
            </a:r>
            <a:r>
              <a:rPr lang="en-US" altLang="zh-CN" sz="1100" dirty="0">
                <a:latin typeface="仿宋" panose="02010609060101010101" pitchFamily="49" charset="-122"/>
                <a:ea typeface="仿宋" panose="02010609060101010101" pitchFamily="49" charset="-122"/>
              </a:rPr>
              <a:t>3,627.30</a:t>
            </a:r>
            <a:r>
              <a:rPr lang="zh-CN" altLang="zh-CN" sz="1100" dirty="0">
                <a:latin typeface="仿宋" panose="02010609060101010101" pitchFamily="49" charset="-122"/>
                <a:ea typeface="仿宋" panose="02010609060101010101" pitchFamily="49" charset="-122"/>
              </a:rPr>
              <a:t>万元。</a:t>
            </a:r>
            <a:endParaRPr lang="en-US" altLang="zh-CN" sz="1100" dirty="0">
              <a:latin typeface="仿宋" panose="02010609060101010101" pitchFamily="49" charset="-122"/>
              <a:ea typeface="仿宋" panose="02010609060101010101" pitchFamily="49" charset="-122"/>
            </a:endParaRPr>
          </a:p>
          <a:p>
            <a:pPr marL="288000" lvl="1" indent="-211455" eaLnBrk="0" hangingPunct="0">
              <a:lnSpc>
                <a:spcPct val="150000"/>
              </a:lnSpc>
              <a:spcBef>
                <a:spcPts val="65"/>
              </a:spcBef>
              <a:buSzPct val="70000"/>
              <a:buFont typeface="Arial" panose="020B0604020202020204" pitchFamily="34" charset="0"/>
              <a:buChar char="–"/>
            </a:pPr>
            <a:r>
              <a:rPr lang="en-US" altLang="zh-CN" sz="1100" dirty="0">
                <a:latin typeface="仿宋" panose="02010609060101010101" pitchFamily="49" charset="-122"/>
                <a:ea typeface="仿宋" panose="02010609060101010101" pitchFamily="49" charset="-122"/>
              </a:rPr>
              <a:t>2020</a:t>
            </a:r>
            <a:r>
              <a:rPr lang="zh-CN" altLang="zh-CN" sz="1100" dirty="0">
                <a:latin typeface="仿宋" panose="02010609060101010101" pitchFamily="49" charset="-122"/>
                <a:ea typeface="仿宋" panose="02010609060101010101" pitchFamily="49" charset="-122"/>
              </a:rPr>
              <a:t>年</a:t>
            </a:r>
            <a:r>
              <a:rPr lang="en-US" altLang="zh-CN" sz="1100" dirty="0">
                <a:latin typeface="仿宋" panose="02010609060101010101" pitchFamily="49" charset="-122"/>
                <a:ea typeface="仿宋" panose="02010609060101010101" pitchFamily="49" charset="-122"/>
              </a:rPr>
              <a:t>12</a:t>
            </a:r>
            <a:r>
              <a:rPr lang="zh-CN" altLang="zh-CN" sz="1100" dirty="0">
                <a:latin typeface="仿宋" panose="02010609060101010101" pitchFamily="49" charset="-122"/>
                <a:ea typeface="仿宋" panose="02010609060101010101" pitchFamily="49" charset="-122"/>
              </a:rPr>
              <a:t>月，公司</a:t>
            </a:r>
            <a:r>
              <a:rPr lang="en-US" altLang="zh-CN" sz="1100" dirty="0">
                <a:latin typeface="仿宋" panose="02010609060101010101" pitchFamily="49" charset="-122"/>
                <a:ea typeface="仿宋" panose="02010609060101010101" pitchFamily="49" charset="-122"/>
              </a:rPr>
              <a:t>B+</a:t>
            </a:r>
            <a:r>
              <a:rPr lang="zh-CN" altLang="zh-CN" sz="1100" dirty="0">
                <a:latin typeface="仿宋" panose="02010609060101010101" pitchFamily="49" charset="-122"/>
                <a:ea typeface="仿宋" panose="02010609060101010101" pitchFamily="49" charset="-122"/>
              </a:rPr>
              <a:t>轮融资按照整体估值</a:t>
            </a:r>
            <a:r>
              <a:rPr lang="en-US" altLang="zh-CN" sz="1100" dirty="0">
                <a:latin typeface="仿宋" panose="02010609060101010101" pitchFamily="49" charset="-122"/>
                <a:ea typeface="仿宋" panose="02010609060101010101" pitchFamily="49" charset="-122"/>
              </a:rPr>
              <a:t>3.3</a:t>
            </a:r>
            <a:r>
              <a:rPr lang="zh-CN" altLang="zh-CN" sz="1100" dirty="0">
                <a:latin typeface="仿宋" panose="02010609060101010101" pitchFamily="49" charset="-122"/>
                <a:ea typeface="仿宋" panose="02010609060101010101" pitchFamily="49" charset="-122"/>
              </a:rPr>
              <a:t>亿元融资</a:t>
            </a:r>
            <a:r>
              <a:rPr lang="en-US" altLang="zh-CN" sz="1100" dirty="0">
                <a:latin typeface="仿宋" panose="02010609060101010101" pitchFamily="49" charset="-122"/>
                <a:ea typeface="仿宋" panose="02010609060101010101" pitchFamily="49" charset="-122"/>
              </a:rPr>
              <a:t>350</a:t>
            </a:r>
            <a:r>
              <a:rPr lang="zh-CN" altLang="zh-CN" sz="1100" dirty="0">
                <a:latin typeface="仿宋" panose="02010609060101010101" pitchFamily="49" charset="-122"/>
                <a:ea typeface="仿宋" panose="02010609060101010101" pitchFamily="49" charset="-122"/>
              </a:rPr>
              <a:t>万元。上述融资均为公司高管及核心团队人员投资。</a:t>
            </a:r>
          </a:p>
          <a:p>
            <a:pPr marL="0" lvl="1" indent="180000" eaLnBrk="0" hangingPunct="0">
              <a:lnSpc>
                <a:spcPct val="150000"/>
              </a:lnSpc>
              <a:spcBef>
                <a:spcPts val="0"/>
              </a:spcBef>
              <a:buSzPct val="70000"/>
              <a:buBlip>
                <a:blip r:embed="rId3"/>
              </a:buBlip>
            </a:pPr>
            <a:r>
              <a:rPr lang="zh-CN" altLang="en-US" sz="1400" b="1" dirty="0">
                <a:latin typeface="仿宋" panose="02010609060101010101" pitchFamily="49" charset="-122"/>
                <a:ea typeface="仿宋" panose="02010609060101010101" pitchFamily="49" charset="-122"/>
              </a:rPr>
              <a:t>市场法</a:t>
            </a:r>
            <a:endParaRPr lang="en-US" altLang="zh-CN" sz="1400" b="1" dirty="0">
              <a:latin typeface="仿宋" panose="02010609060101010101" pitchFamily="49" charset="-122"/>
              <a:ea typeface="仿宋" panose="02010609060101010101" pitchFamily="49" charset="-122"/>
            </a:endParaRPr>
          </a:p>
          <a:p>
            <a:pPr marL="288000" lvl="1" indent="-211455" eaLnBrk="0" hangingPunct="0">
              <a:lnSpc>
                <a:spcPct val="150000"/>
              </a:lnSpc>
              <a:spcBef>
                <a:spcPts val="65"/>
              </a:spcBef>
              <a:buSzPct val="70000"/>
              <a:buFont typeface="Arial" panose="020B0604020202020204" pitchFamily="34" charset="0"/>
              <a:buChar char="–"/>
            </a:pPr>
            <a:r>
              <a:rPr lang="zh-CN" altLang="zh-CN" sz="1100" dirty="0">
                <a:latin typeface="仿宋" panose="02010609060101010101" pitchFamily="49" charset="-122"/>
                <a:ea typeface="仿宋" panose="02010609060101010101" pitchFamily="49" charset="-122"/>
              </a:rPr>
              <a:t>根据</a:t>
            </a:r>
            <a:r>
              <a:rPr lang="en-US" altLang="zh-CN" sz="1100" dirty="0">
                <a:latin typeface="仿宋" panose="02010609060101010101" pitchFamily="49" charset="-122"/>
                <a:ea typeface="仿宋" panose="02010609060101010101" pitchFamily="49" charset="-122"/>
              </a:rPr>
              <a:t>2021/5/31</a:t>
            </a:r>
            <a:r>
              <a:rPr lang="zh-CN" altLang="zh-CN" sz="1100" dirty="0">
                <a:latin typeface="仿宋" panose="02010609060101010101" pitchFamily="49" charset="-122"/>
                <a:ea typeface="仿宋" panose="02010609060101010101" pitchFamily="49" charset="-122"/>
              </a:rPr>
              <a:t>收盘价</a:t>
            </a:r>
            <a:r>
              <a:rPr lang="en-US" altLang="zh-CN" sz="1100" dirty="0">
                <a:latin typeface="仿宋" panose="02010609060101010101" pitchFamily="49" charset="-122"/>
                <a:ea typeface="仿宋" panose="02010609060101010101" pitchFamily="49" charset="-122"/>
              </a:rPr>
              <a:t>Wind</a:t>
            </a:r>
            <a:r>
              <a:rPr lang="zh-CN" altLang="zh-CN" sz="1100" dirty="0">
                <a:latin typeface="仿宋" panose="02010609060101010101" pitchFamily="49" charset="-122"/>
                <a:ea typeface="仿宋" panose="02010609060101010101" pitchFamily="49" charset="-122"/>
              </a:rPr>
              <a:t>数据，计算得到可比企业的</a:t>
            </a:r>
            <a:r>
              <a:rPr lang="en-US" altLang="zh-CN" sz="1100" dirty="0">
                <a:latin typeface="仿宋" panose="02010609060101010101" pitchFamily="49" charset="-122"/>
                <a:ea typeface="仿宋" panose="02010609060101010101" pitchFamily="49" charset="-122"/>
              </a:rPr>
              <a:t>PE</a:t>
            </a:r>
            <a:r>
              <a:rPr lang="zh-CN" altLang="zh-CN" sz="1100" dirty="0">
                <a:latin typeface="仿宋" panose="02010609060101010101" pitchFamily="49" charset="-122"/>
                <a:ea typeface="仿宋" panose="02010609060101010101" pitchFamily="49" charset="-122"/>
              </a:rPr>
              <a:t>平均值为</a:t>
            </a:r>
            <a:r>
              <a:rPr lang="en-US" altLang="zh-CN" sz="1200" b="1" kern="100" dirty="0">
                <a:effectLst/>
                <a:latin typeface="仿宋" panose="02010609060101010101" pitchFamily="49" charset="-122"/>
                <a:cs typeface="Times New Roman" panose="02020603050405020304" pitchFamily="18" charset="0"/>
              </a:rPr>
              <a:t>136.68</a:t>
            </a:r>
            <a:r>
              <a:rPr lang="zh-CN" altLang="zh-CN" sz="1100" b="1" dirty="0">
                <a:latin typeface="仿宋" panose="02010609060101010101" pitchFamily="49" charset="-122"/>
                <a:ea typeface="仿宋" panose="02010609060101010101" pitchFamily="49" charset="-122"/>
              </a:rPr>
              <a:t>倍</a:t>
            </a:r>
            <a:r>
              <a:rPr lang="zh-CN" altLang="zh-CN" sz="1100" dirty="0">
                <a:latin typeface="仿宋" panose="02010609060101010101" pitchFamily="49" charset="-122"/>
                <a:ea typeface="仿宋" panose="02010609060101010101" pitchFamily="49" charset="-122"/>
              </a:rPr>
              <a:t>，中值为</a:t>
            </a:r>
            <a:r>
              <a:rPr lang="en-US" altLang="zh-CN" sz="1200" b="1" kern="100" dirty="0">
                <a:effectLst/>
                <a:latin typeface="仿宋" panose="02010609060101010101" pitchFamily="49" charset="-122"/>
                <a:cs typeface="Times New Roman" panose="02020603050405020304" pitchFamily="18" charset="0"/>
              </a:rPr>
              <a:t>116.61</a:t>
            </a:r>
            <a:r>
              <a:rPr lang="zh-CN" altLang="zh-CN" sz="900" b="1" dirty="0">
                <a:latin typeface="仿宋" panose="02010609060101010101" pitchFamily="49" charset="-122"/>
                <a:ea typeface="仿宋" panose="02010609060101010101" pitchFamily="49" charset="-122"/>
              </a:rPr>
              <a:t>倍</a:t>
            </a:r>
            <a:r>
              <a:rPr lang="zh-CN" altLang="zh-CN" sz="1100" dirty="0">
                <a:latin typeface="仿宋" panose="02010609060101010101" pitchFamily="49" charset="-122"/>
                <a:ea typeface="仿宋" panose="02010609060101010101" pitchFamily="49" charset="-122"/>
              </a:rPr>
              <a:t>。</a:t>
            </a:r>
          </a:p>
          <a:p>
            <a:pPr marL="288000" lvl="1" indent="-211455" eaLnBrk="0" hangingPunct="0">
              <a:lnSpc>
                <a:spcPct val="150000"/>
              </a:lnSpc>
              <a:spcBef>
                <a:spcPts val="65"/>
              </a:spcBef>
              <a:buSzPct val="70000"/>
              <a:buFont typeface="Arial" panose="020B0604020202020204" pitchFamily="34" charset="0"/>
              <a:buChar char="–"/>
            </a:pPr>
            <a:r>
              <a:rPr lang="zh-CN" altLang="zh-CN" sz="1100" dirty="0">
                <a:latin typeface="仿宋" panose="02010609060101010101" pitchFamily="49" charset="-122"/>
                <a:ea typeface="仿宋" panose="02010609060101010101" pitchFamily="49" charset="-122"/>
              </a:rPr>
              <a:t>按照大瞬科技</a:t>
            </a:r>
            <a:r>
              <a:rPr lang="en-US" altLang="zh-CN" sz="1100" dirty="0">
                <a:latin typeface="仿宋" panose="02010609060101010101" pitchFamily="49" charset="-122"/>
                <a:ea typeface="仿宋" panose="02010609060101010101" pitchFamily="49" charset="-122"/>
              </a:rPr>
              <a:t>2021</a:t>
            </a:r>
            <a:r>
              <a:rPr lang="zh-CN" altLang="zh-CN" sz="1100" dirty="0">
                <a:latin typeface="仿宋" panose="02010609060101010101" pitchFamily="49" charset="-122"/>
                <a:ea typeface="仿宋" panose="02010609060101010101" pitchFamily="49" charset="-122"/>
              </a:rPr>
              <a:t>年净利</a:t>
            </a:r>
            <a:r>
              <a:rPr lang="en-US" altLang="zh-CN" sz="1200" b="1" kern="100" dirty="0">
                <a:effectLst/>
                <a:latin typeface="仿宋" panose="02010609060101010101" pitchFamily="49" charset="-122"/>
                <a:cs typeface="Times New Roman" panose="02020603050405020304" pitchFamily="18" charset="0"/>
              </a:rPr>
              <a:t>1,619.60</a:t>
            </a:r>
            <a:r>
              <a:rPr lang="zh-CN" altLang="zh-CN" sz="1100" dirty="0">
                <a:latin typeface="仿宋" panose="02010609060101010101" pitchFamily="49" charset="-122"/>
                <a:ea typeface="仿宋" panose="02010609060101010101" pitchFamily="49" charset="-122"/>
              </a:rPr>
              <a:t>万元，根据上述行业市盈率数据计算，并考虑上市公司</a:t>
            </a:r>
            <a:r>
              <a:rPr lang="en-US" altLang="zh-CN" sz="1100" dirty="0">
                <a:latin typeface="仿宋" panose="02010609060101010101" pitchFamily="49" charset="-122"/>
                <a:ea typeface="仿宋" panose="02010609060101010101" pitchFamily="49" charset="-122"/>
              </a:rPr>
              <a:t>20%</a:t>
            </a:r>
            <a:r>
              <a:rPr lang="zh-CN" altLang="zh-CN" sz="1100" dirty="0">
                <a:latin typeface="仿宋" panose="02010609060101010101" pitchFamily="49" charset="-122"/>
                <a:ea typeface="仿宋" panose="02010609060101010101" pitchFamily="49" charset="-122"/>
              </a:rPr>
              <a:t>的流动性溢价，大瞬科技整体估值在</a:t>
            </a:r>
            <a:r>
              <a:rPr lang="en-US" altLang="zh-CN" sz="1200" b="1" kern="100" dirty="0">
                <a:effectLst/>
                <a:latin typeface="仿宋" panose="02010609060101010101" pitchFamily="49" charset="-122"/>
                <a:ea typeface="仿宋" panose="02010609060101010101" pitchFamily="49" charset="-122"/>
              </a:rPr>
              <a:t>15.11</a:t>
            </a:r>
            <a:r>
              <a:rPr lang="zh-CN" altLang="zh-CN" sz="1200" b="1" kern="100" dirty="0">
                <a:effectLst/>
                <a:latin typeface="仿宋" panose="02010609060101010101" pitchFamily="49" charset="-122"/>
                <a:ea typeface="仿宋" panose="02010609060101010101" pitchFamily="49" charset="-122"/>
              </a:rPr>
              <a:t>亿元</a:t>
            </a:r>
            <a:r>
              <a:rPr lang="en-US" altLang="zh-CN" sz="1200" b="1" kern="100" dirty="0">
                <a:effectLst/>
                <a:latin typeface="仿宋" panose="02010609060101010101" pitchFamily="49" charset="-122"/>
                <a:ea typeface="仿宋" panose="02010609060101010101" pitchFamily="49" charset="-122"/>
              </a:rPr>
              <a:t>-17.71</a:t>
            </a:r>
            <a:r>
              <a:rPr lang="zh-CN" altLang="zh-CN" sz="1200" b="1" kern="100" dirty="0">
                <a:effectLst/>
                <a:latin typeface="仿宋" panose="02010609060101010101" pitchFamily="49" charset="-122"/>
                <a:ea typeface="仿宋" panose="02010609060101010101" pitchFamily="49" charset="-122"/>
              </a:rPr>
              <a:t>亿元</a:t>
            </a:r>
            <a:r>
              <a:rPr lang="zh-CN" altLang="en-US" sz="1100" dirty="0">
                <a:latin typeface="仿宋" panose="02010609060101010101" pitchFamily="49" charset="-122"/>
                <a:ea typeface="仿宋" panose="02010609060101010101" pitchFamily="49" charset="-122"/>
              </a:rPr>
              <a:t>。</a:t>
            </a:r>
            <a:endParaRPr lang="en-US" altLang="zh-CN" sz="1100" dirty="0">
              <a:latin typeface="仿宋" panose="02010609060101010101" pitchFamily="49" charset="-122"/>
              <a:ea typeface="仿宋" panose="02010609060101010101" pitchFamily="49" charset="-122"/>
            </a:endParaRPr>
          </a:p>
          <a:p>
            <a:pPr marL="288000" lvl="1" indent="-211455" eaLnBrk="0" hangingPunct="0">
              <a:lnSpc>
                <a:spcPct val="150000"/>
              </a:lnSpc>
              <a:spcBef>
                <a:spcPts val="65"/>
              </a:spcBef>
              <a:buSzPct val="70000"/>
              <a:buFont typeface="Arial" panose="020B0604020202020204" pitchFamily="34" charset="0"/>
              <a:buChar char="–"/>
            </a:pPr>
            <a:r>
              <a:rPr lang="zh-CN" altLang="en-US" sz="1100" dirty="0">
                <a:latin typeface="仿宋" panose="02010609060101010101" pitchFamily="49" charset="-122"/>
                <a:ea typeface="仿宋" panose="02010609060101010101" pitchFamily="49" charset="-122"/>
              </a:rPr>
              <a:t>公司处于高速发展阶段，</a:t>
            </a:r>
            <a:r>
              <a:rPr lang="en-US" altLang="zh-CN" sz="1100" dirty="0">
                <a:latin typeface="仿宋" panose="02010609060101010101" pitchFamily="49" charset="-122"/>
                <a:ea typeface="仿宋" panose="02010609060101010101" pitchFamily="49" charset="-122"/>
              </a:rPr>
              <a:t>21</a:t>
            </a:r>
            <a:r>
              <a:rPr lang="zh-CN" altLang="en-US" sz="1100" dirty="0">
                <a:latin typeface="仿宋" panose="02010609060101010101" pitchFamily="49" charset="-122"/>
                <a:ea typeface="仿宋" panose="02010609060101010101" pitchFamily="49" charset="-122"/>
              </a:rPr>
              <a:t>年对应</a:t>
            </a:r>
            <a:r>
              <a:rPr lang="en-US" altLang="zh-CN" sz="1100" dirty="0">
                <a:latin typeface="仿宋" panose="02010609060101010101" pitchFamily="49" charset="-122"/>
                <a:ea typeface="仿宋" panose="02010609060101010101" pitchFamily="49" charset="-122"/>
              </a:rPr>
              <a:t>PE</a:t>
            </a:r>
            <a:r>
              <a:rPr lang="zh-CN" altLang="en-US" sz="1100" dirty="0">
                <a:latin typeface="仿宋" panose="02010609060101010101" pitchFamily="49" charset="-122"/>
                <a:ea typeface="仿宋" panose="02010609060101010101" pitchFamily="49" charset="-122"/>
              </a:rPr>
              <a:t>在</a:t>
            </a:r>
            <a:r>
              <a:rPr lang="en-US" altLang="zh-CN" sz="1100" dirty="0">
                <a:latin typeface="仿宋" panose="02010609060101010101" pitchFamily="49" charset="-122"/>
                <a:ea typeface="仿宋" panose="02010609060101010101" pitchFamily="49" charset="-122"/>
              </a:rPr>
              <a:t>50+</a:t>
            </a:r>
            <a:r>
              <a:rPr lang="zh-CN" altLang="en-US" sz="1100" dirty="0">
                <a:latin typeface="仿宋" panose="02010609060101010101" pitchFamily="49" charset="-122"/>
                <a:ea typeface="仿宋" panose="02010609060101010101" pitchFamily="49" charset="-122"/>
              </a:rPr>
              <a:t>倍，</a:t>
            </a:r>
            <a:r>
              <a:rPr lang="en-US" altLang="zh-CN" sz="1100" dirty="0">
                <a:latin typeface="仿宋" panose="02010609060101010101" pitchFamily="49" charset="-122"/>
                <a:ea typeface="仿宋" panose="02010609060101010101" pitchFamily="49" charset="-122"/>
              </a:rPr>
              <a:t>22</a:t>
            </a:r>
            <a:r>
              <a:rPr lang="zh-CN" altLang="en-US" sz="1100" dirty="0">
                <a:latin typeface="仿宋" panose="02010609060101010101" pitchFamily="49" charset="-122"/>
                <a:ea typeface="仿宋" panose="02010609060101010101" pitchFamily="49" charset="-122"/>
              </a:rPr>
              <a:t>年对应</a:t>
            </a:r>
            <a:r>
              <a:rPr lang="en-US" altLang="zh-CN" sz="1100" b="1" dirty="0">
                <a:solidFill>
                  <a:srgbClr val="C00000"/>
                </a:solidFill>
                <a:latin typeface="仿宋" panose="02010609060101010101" pitchFamily="49" charset="-122"/>
                <a:ea typeface="仿宋" panose="02010609060101010101" pitchFamily="49" charset="-122"/>
              </a:rPr>
              <a:t>PE</a:t>
            </a:r>
            <a:r>
              <a:rPr lang="zh-CN" altLang="en-US" sz="1100" b="1" dirty="0">
                <a:solidFill>
                  <a:srgbClr val="C00000"/>
                </a:solidFill>
                <a:latin typeface="仿宋" panose="02010609060101010101" pitchFamily="49" charset="-122"/>
                <a:ea typeface="仿宋" panose="02010609060101010101" pitchFamily="49" charset="-122"/>
              </a:rPr>
              <a:t>快速下降到</a:t>
            </a:r>
            <a:r>
              <a:rPr lang="en-US" altLang="zh-CN" sz="1100" b="1" dirty="0">
                <a:solidFill>
                  <a:srgbClr val="C00000"/>
                </a:solidFill>
                <a:latin typeface="仿宋" panose="02010609060101010101" pitchFamily="49" charset="-122"/>
                <a:ea typeface="仿宋" panose="02010609060101010101" pitchFamily="49" charset="-122"/>
              </a:rPr>
              <a:t>10</a:t>
            </a:r>
            <a:r>
              <a:rPr lang="zh-CN" altLang="en-US" sz="1100" b="1" dirty="0">
                <a:solidFill>
                  <a:srgbClr val="C00000"/>
                </a:solidFill>
                <a:latin typeface="仿宋" panose="02010609060101010101" pitchFamily="49" charset="-122"/>
                <a:ea typeface="仿宋" panose="02010609060101010101" pitchFamily="49" charset="-122"/>
              </a:rPr>
              <a:t>倍左右</a:t>
            </a:r>
            <a:r>
              <a:rPr lang="zh-CN" altLang="en-US" sz="1100" b="1" dirty="0">
                <a:latin typeface="仿宋" panose="02010609060101010101" pitchFamily="49" charset="-122"/>
                <a:ea typeface="仿宋" panose="02010609060101010101" pitchFamily="49" charset="-122"/>
              </a:rPr>
              <a:t>。</a:t>
            </a:r>
            <a:endParaRPr lang="zh-CN" altLang="zh-CN" sz="1100" b="1" dirty="0">
              <a:latin typeface="仿宋" panose="02010609060101010101" pitchFamily="49" charset="-122"/>
              <a:ea typeface="仿宋" panose="02010609060101010101" pitchFamily="49" charset="-122"/>
            </a:endParaRPr>
          </a:p>
          <a:p>
            <a:pPr marL="0" lvl="1" indent="180000" eaLnBrk="0" hangingPunct="0">
              <a:lnSpc>
                <a:spcPct val="150000"/>
              </a:lnSpc>
              <a:spcBef>
                <a:spcPts val="0"/>
              </a:spcBef>
              <a:buSzPct val="70000"/>
              <a:buBlip>
                <a:blip r:embed="rId3"/>
              </a:buBlip>
            </a:pPr>
            <a:r>
              <a:rPr lang="en-US" altLang="zh-CN" sz="1400" b="1" dirty="0">
                <a:latin typeface="仿宋" panose="02010609060101010101" pitchFamily="49" charset="-122"/>
                <a:ea typeface="仿宋" panose="02010609060101010101" pitchFamily="49" charset="-122"/>
              </a:rPr>
              <a:t>DCF</a:t>
            </a:r>
            <a:r>
              <a:rPr lang="zh-CN" altLang="zh-CN" sz="1400" b="1" dirty="0">
                <a:latin typeface="仿宋" panose="02010609060101010101" pitchFamily="49" charset="-122"/>
                <a:ea typeface="仿宋" panose="02010609060101010101" pitchFamily="49" charset="-122"/>
              </a:rPr>
              <a:t>法</a:t>
            </a:r>
            <a:endParaRPr lang="en-US" altLang="zh-CN" sz="1100" dirty="0">
              <a:latin typeface="仿宋" panose="02010609060101010101" pitchFamily="49" charset="-122"/>
              <a:ea typeface="仿宋" panose="02010609060101010101" pitchFamily="49" charset="-122"/>
              <a:sym typeface="Calibri" panose="020F0502020204030204" pitchFamily="34" charset="0"/>
            </a:endParaRPr>
          </a:p>
          <a:p>
            <a:pPr marL="288000" lvl="1" indent="-211455" eaLnBrk="0" hangingPunct="0">
              <a:lnSpc>
                <a:spcPct val="150000"/>
              </a:lnSpc>
              <a:spcBef>
                <a:spcPts val="65"/>
              </a:spcBef>
              <a:buSzPct val="70000"/>
              <a:buFont typeface="Arial" panose="020B0604020202020204" pitchFamily="34" charset="0"/>
              <a:buChar char="–"/>
            </a:pPr>
            <a:r>
              <a:rPr lang="zh-CN" altLang="zh-CN" sz="1100" dirty="0">
                <a:latin typeface="仿宋" panose="02010609060101010101" pitchFamily="49" charset="-122"/>
                <a:ea typeface="仿宋" panose="02010609060101010101" pitchFamily="49" charset="-122"/>
              </a:rPr>
              <a:t>按照折现系数按照</a:t>
            </a:r>
            <a:r>
              <a:rPr lang="en-US" altLang="zh-CN" sz="1100" dirty="0">
                <a:latin typeface="仿宋" panose="02010609060101010101" pitchFamily="49" charset="-122"/>
                <a:ea typeface="仿宋" panose="02010609060101010101" pitchFamily="49" charset="-122"/>
              </a:rPr>
              <a:t>15%</a:t>
            </a:r>
            <a:r>
              <a:rPr lang="zh-CN" altLang="zh-CN" sz="1100" dirty="0">
                <a:latin typeface="仿宋" panose="02010609060101010101" pitchFamily="49" charset="-122"/>
                <a:ea typeface="仿宋" panose="02010609060101010101" pitchFamily="49" charset="-122"/>
              </a:rPr>
              <a:t>计算</a:t>
            </a:r>
            <a:r>
              <a:rPr lang="zh-CN" altLang="en-US" sz="1100" dirty="0">
                <a:latin typeface="仿宋" panose="02010609060101010101" pitchFamily="49" charset="-122"/>
                <a:ea typeface="仿宋" panose="02010609060101010101" pitchFamily="49" charset="-122"/>
              </a:rPr>
              <a:t>，</a:t>
            </a:r>
            <a:r>
              <a:rPr lang="zh-CN" altLang="zh-CN" sz="1100" dirty="0">
                <a:latin typeface="仿宋" panose="02010609060101010101" pitchFamily="49" charset="-122"/>
                <a:ea typeface="仿宋" panose="02010609060101010101" pitchFamily="49" charset="-122"/>
              </a:rPr>
              <a:t>永续增长率为</a:t>
            </a:r>
            <a:r>
              <a:rPr lang="en-US" altLang="zh-CN" sz="1100" dirty="0">
                <a:latin typeface="仿宋" panose="02010609060101010101" pitchFamily="49" charset="-122"/>
                <a:ea typeface="仿宋" panose="02010609060101010101" pitchFamily="49" charset="-122"/>
              </a:rPr>
              <a:t>3%</a:t>
            </a:r>
            <a:r>
              <a:rPr lang="zh-CN" altLang="zh-CN" sz="1100" dirty="0">
                <a:latin typeface="仿宋" panose="02010609060101010101" pitchFamily="49" charset="-122"/>
                <a:ea typeface="仿宋" panose="02010609060101010101" pitchFamily="49" charset="-122"/>
              </a:rPr>
              <a:t>； </a:t>
            </a:r>
          </a:p>
          <a:p>
            <a:pPr marL="288000" lvl="1" indent="-211455" eaLnBrk="0" hangingPunct="0">
              <a:lnSpc>
                <a:spcPct val="150000"/>
              </a:lnSpc>
              <a:spcBef>
                <a:spcPts val="65"/>
              </a:spcBef>
              <a:buSzPct val="70000"/>
              <a:buFont typeface="Arial" panose="020B0604020202020204" pitchFamily="34" charset="0"/>
              <a:buChar char="–"/>
            </a:pPr>
            <a:r>
              <a:rPr lang="zh-CN" altLang="zh-CN" sz="1100" dirty="0">
                <a:latin typeface="仿宋" panose="02010609060101010101" pitchFamily="49" charset="-122"/>
                <a:ea typeface="仿宋" panose="02010609060101010101" pitchFamily="49" charset="-122"/>
              </a:rPr>
              <a:t>采用</a:t>
            </a:r>
            <a:r>
              <a:rPr lang="en-US" altLang="zh-CN" sz="1100" dirty="0">
                <a:latin typeface="仿宋" panose="02010609060101010101" pitchFamily="49" charset="-122"/>
                <a:ea typeface="仿宋" panose="02010609060101010101" pitchFamily="49" charset="-122"/>
              </a:rPr>
              <a:t>DCF</a:t>
            </a:r>
            <a:r>
              <a:rPr lang="zh-CN" altLang="zh-CN" sz="1100" dirty="0">
                <a:latin typeface="仿宋" panose="02010609060101010101" pitchFamily="49" charset="-122"/>
                <a:ea typeface="仿宋" panose="02010609060101010101" pitchFamily="49" charset="-122"/>
              </a:rPr>
              <a:t>法，对</a:t>
            </a:r>
            <a:r>
              <a:rPr lang="zh-CN" altLang="en-US" sz="1100" dirty="0">
                <a:latin typeface="仿宋" panose="02010609060101010101" pitchFamily="49" charset="-122"/>
                <a:ea typeface="仿宋" panose="02010609060101010101" pitchFamily="49" charset="-122"/>
              </a:rPr>
              <a:t>大瞬</a:t>
            </a:r>
            <a:r>
              <a:rPr lang="zh-CN" altLang="zh-CN" sz="1100" dirty="0">
                <a:latin typeface="仿宋" panose="02010609060101010101" pitchFamily="49" charset="-122"/>
                <a:ea typeface="仿宋" panose="02010609060101010101" pitchFamily="49" charset="-122"/>
              </a:rPr>
              <a:t>进行企业价值分析，整体企业价值为</a:t>
            </a:r>
            <a:r>
              <a:rPr lang="en-US" altLang="zh-CN" sz="1400" b="1" kern="100" dirty="0">
                <a:effectLst/>
                <a:latin typeface="仿宋" panose="02010609060101010101" pitchFamily="49" charset="-122"/>
                <a:cs typeface="Times New Roman" panose="02020603050405020304" pitchFamily="18" charset="0"/>
              </a:rPr>
              <a:t>19.45</a:t>
            </a:r>
            <a:r>
              <a:rPr lang="zh-CN" altLang="zh-CN" sz="1100" dirty="0">
                <a:latin typeface="仿宋" panose="02010609060101010101" pitchFamily="49" charset="-122"/>
                <a:ea typeface="仿宋" panose="02010609060101010101" pitchFamily="49" charset="-122"/>
              </a:rPr>
              <a:t>亿元，相应的股权价值为</a:t>
            </a:r>
            <a:r>
              <a:rPr lang="en-US" altLang="zh-CN" sz="1400" b="1" kern="100" dirty="0">
                <a:effectLst/>
                <a:latin typeface="仿宋" panose="02010609060101010101" pitchFamily="49" charset="-122"/>
                <a:cs typeface="Times New Roman" panose="02020603050405020304" pitchFamily="18" charset="0"/>
              </a:rPr>
              <a:t>19.63</a:t>
            </a:r>
            <a:r>
              <a:rPr lang="zh-CN" altLang="zh-CN" sz="1100" dirty="0">
                <a:latin typeface="仿宋" panose="02010609060101010101" pitchFamily="49" charset="-122"/>
                <a:ea typeface="仿宋" panose="02010609060101010101" pitchFamily="49" charset="-122"/>
              </a:rPr>
              <a:t>亿元。</a:t>
            </a:r>
            <a:endParaRPr lang="en-US" altLang="zh-CN" sz="1100" dirty="0">
              <a:latin typeface="仿宋" panose="02010609060101010101" pitchFamily="49" charset="-122"/>
              <a:ea typeface="仿宋" panose="02010609060101010101" pitchFamily="49" charset="-122"/>
            </a:endParaRPr>
          </a:p>
          <a:p>
            <a:pPr marL="76545" lvl="1" indent="0" eaLnBrk="0" hangingPunct="0">
              <a:lnSpc>
                <a:spcPct val="150000"/>
              </a:lnSpc>
              <a:spcBef>
                <a:spcPts val="65"/>
              </a:spcBef>
              <a:buSzPct val="70000"/>
            </a:pPr>
            <a:r>
              <a:rPr lang="zh-CN" altLang="en-US" sz="1100" b="1" dirty="0">
                <a:latin typeface="仿宋" panose="02010609060101010101" pitchFamily="49" charset="-122"/>
                <a:ea typeface="仿宋" panose="02010609060101010101" pitchFamily="49" charset="-122"/>
                <a:sym typeface="Calibri" panose="020F0502020204030204" pitchFamily="34" charset="0"/>
              </a:rPr>
              <a:t>公司本轮融资</a:t>
            </a:r>
            <a:r>
              <a:rPr lang="en-US" altLang="zh-CN" sz="1100" b="1" dirty="0">
                <a:latin typeface="仿宋" panose="02010609060101010101" pitchFamily="49" charset="-122"/>
                <a:ea typeface="仿宋" panose="02010609060101010101" pitchFamily="49" charset="-122"/>
                <a:sym typeface="Calibri" panose="020F0502020204030204" pitchFamily="34" charset="0"/>
              </a:rPr>
              <a:t>9.2</a:t>
            </a:r>
            <a:r>
              <a:rPr lang="zh-CN" altLang="en-US" sz="1100" b="1" dirty="0">
                <a:latin typeface="仿宋" panose="02010609060101010101" pitchFamily="49" charset="-122"/>
                <a:ea typeface="仿宋" panose="02010609060101010101" pitchFamily="49" charset="-122"/>
                <a:sym typeface="Calibri" panose="020F0502020204030204" pitchFamily="34" charset="0"/>
              </a:rPr>
              <a:t>亿元估值较为合理。</a:t>
            </a:r>
            <a:endParaRPr lang="zh-CN" altLang="en-US" sz="1400" b="1" dirty="0">
              <a:latin typeface="仿宋" panose="02010609060101010101" pitchFamily="49" charset="-122"/>
              <a:ea typeface="仿宋" panose="02010609060101010101" pitchFamily="49" charset="-122"/>
              <a:sym typeface="Calibri" panose="020F0502020204030204" pitchFamily="34" charset="0"/>
            </a:endParaRPr>
          </a:p>
        </p:txBody>
      </p:sp>
    </p:spTree>
    <p:extLst>
      <p:ext uri="{BB962C8B-B14F-4D97-AF65-F5344CB8AC3E}">
        <p14:creationId xmlns:p14="http://schemas.microsoft.com/office/powerpoint/2010/main" val="8659051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546181-3F3C-4279-8B65-4AF55AFC4C02}"/>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六、财务预测及回报分析</a:t>
            </a:r>
            <a:r>
              <a:rPr lang="en-US" altLang="zh-CN" sz="2400" dirty="0">
                <a:solidFill>
                  <a:schemeClr val="bg1">
                    <a:lumMod val="50000"/>
                  </a:schemeClr>
                </a:solidFill>
              </a:rPr>
              <a:t>|</a:t>
            </a:r>
            <a:r>
              <a:rPr lang="zh-CN" altLang="en-US" sz="2000" dirty="0"/>
              <a:t>财务预测</a:t>
            </a:r>
            <a:endParaRPr lang="en-US" altLang="zh-CN" sz="2400" dirty="0"/>
          </a:p>
        </p:txBody>
      </p:sp>
      <p:sp>
        <p:nvSpPr>
          <p:cNvPr id="6" name="Rectangle 3">
            <a:extLst>
              <a:ext uri="{FF2B5EF4-FFF2-40B4-BE49-F238E27FC236}">
                <a16:creationId xmlns:a16="http://schemas.microsoft.com/office/drawing/2014/main" id="{51906868-8F7B-477F-AECD-189AC8423B24}"/>
              </a:ext>
            </a:extLst>
          </p:cNvPr>
          <p:cNvSpPr txBox="1">
            <a:spLocks noChangeArrowheads="1"/>
          </p:cNvSpPr>
          <p:nvPr/>
        </p:nvSpPr>
        <p:spPr>
          <a:xfrm>
            <a:off x="457200" y="411600"/>
            <a:ext cx="3970790" cy="1656116"/>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indent="180000">
              <a:lnSpc>
                <a:spcPct val="150000"/>
              </a:lnSpc>
              <a:buSzPct val="70000"/>
              <a:buBlip>
                <a:blip r:embed="rId3"/>
              </a:buBlip>
            </a:pPr>
            <a:r>
              <a:rPr lang="en-US" altLang="zh-CN" sz="1600" dirty="0">
                <a:latin typeface="仿宋" panose="02010609060101010101" pitchFamily="49" charset="-122"/>
                <a:ea typeface="仿宋" panose="02010609060101010101" pitchFamily="49" charset="-122"/>
              </a:rPr>
              <a:t>2021</a:t>
            </a:r>
            <a:r>
              <a:rPr lang="zh-CN" altLang="en-US" sz="1600" dirty="0">
                <a:latin typeface="仿宋" panose="02010609060101010101" pitchFamily="49" charset="-122"/>
                <a:ea typeface="仿宋" panose="02010609060101010101" pitchFamily="49" charset="-122"/>
              </a:rPr>
              <a:t>年</a:t>
            </a:r>
            <a:r>
              <a:rPr lang="zh-CN" altLang="zh-CN" sz="1600" dirty="0">
                <a:latin typeface="仿宋" panose="02010609060101010101" pitchFamily="49" charset="-122"/>
                <a:ea typeface="仿宋" panose="02010609060101010101" pitchFamily="49" charset="-122"/>
              </a:rPr>
              <a:t>产品线销售情况</a:t>
            </a:r>
            <a:endParaRPr lang="en-US" altLang="zh-CN" sz="1600" dirty="0">
              <a:latin typeface="仿宋" panose="02010609060101010101" pitchFamily="49" charset="-122"/>
              <a:ea typeface="仿宋" panose="02010609060101010101" pitchFamily="49" charset="-122"/>
            </a:endParaRPr>
          </a:p>
          <a:p>
            <a:pPr marL="288000" lvl="1">
              <a:lnSpc>
                <a:spcPct val="150000"/>
              </a:lnSpc>
              <a:buSzPct val="70000"/>
            </a:pPr>
            <a:r>
              <a:rPr lang="zh-CN" altLang="en-US" sz="1100" dirty="0">
                <a:latin typeface="仿宋" panose="02010609060101010101" pitchFamily="49" charset="-122"/>
                <a:ea typeface="仿宋" panose="02010609060101010101" pitchFamily="49" charset="-122"/>
              </a:rPr>
              <a:t>手机产品线：</a:t>
            </a:r>
            <a:r>
              <a:rPr lang="en-US" altLang="zh-CN" sz="1100" dirty="0">
                <a:latin typeface="仿宋" panose="02010609060101010101" pitchFamily="49" charset="-122"/>
                <a:ea typeface="仿宋" panose="02010609060101010101" pitchFamily="49" charset="-122"/>
              </a:rPr>
              <a:t>SD77313-5,000</a:t>
            </a:r>
            <a:r>
              <a:rPr lang="zh-CN" altLang="en-US" sz="1100" dirty="0">
                <a:latin typeface="仿宋" panose="02010609060101010101" pitchFamily="49" charset="-122"/>
                <a:ea typeface="仿宋" panose="02010609060101010101" pitchFamily="49" charset="-122"/>
              </a:rPr>
              <a:t>万元，</a:t>
            </a:r>
            <a:r>
              <a:rPr lang="en-US" altLang="zh-CN" sz="1100" dirty="0">
                <a:latin typeface="仿宋" panose="02010609060101010101" pitchFamily="49" charset="-122"/>
                <a:ea typeface="仿宋" panose="02010609060101010101" pitchFamily="49" charset="-122"/>
              </a:rPr>
              <a:t> SD77007-4,800</a:t>
            </a:r>
            <a:r>
              <a:rPr lang="zh-CN" altLang="en-US" sz="1100" dirty="0">
                <a:latin typeface="仿宋" panose="02010609060101010101" pitchFamily="49" charset="-122"/>
                <a:ea typeface="仿宋" panose="02010609060101010101" pitchFamily="49" charset="-122"/>
              </a:rPr>
              <a:t>万元</a:t>
            </a:r>
            <a:r>
              <a:rPr lang="en-US" altLang="zh-CN" sz="1100" dirty="0">
                <a:latin typeface="仿宋" panose="02010609060101010101" pitchFamily="49" charset="-122"/>
                <a:ea typeface="仿宋" panose="02010609060101010101" pitchFamily="49" charset="-122"/>
              </a:rPr>
              <a:t>,OPPO</a:t>
            </a:r>
            <a:r>
              <a:rPr lang="zh-CN" altLang="en-US" sz="1100" dirty="0">
                <a:latin typeface="仿宋" panose="02010609060101010101" pitchFamily="49" charset="-122"/>
                <a:ea typeface="仿宋" panose="02010609060101010101" pitchFamily="49" charset="-122"/>
              </a:rPr>
              <a:t>合计</a:t>
            </a:r>
            <a:r>
              <a:rPr lang="en-US" altLang="zh-CN" sz="1100" dirty="0">
                <a:latin typeface="仿宋" panose="02010609060101010101" pitchFamily="49" charset="-122"/>
                <a:ea typeface="仿宋" panose="02010609060101010101" pitchFamily="49" charset="-122"/>
              </a:rPr>
              <a:t>0.98</a:t>
            </a:r>
            <a:r>
              <a:rPr lang="zh-CN" altLang="en-US" sz="1100" dirty="0">
                <a:latin typeface="仿宋" panose="02010609060101010101" pitchFamily="49" charset="-122"/>
                <a:ea typeface="仿宋" panose="02010609060101010101" pitchFamily="49" charset="-122"/>
              </a:rPr>
              <a:t>亿元</a:t>
            </a:r>
            <a:r>
              <a:rPr lang="zh-CN" altLang="zh-CN" sz="1100" dirty="0">
                <a:latin typeface="仿宋" panose="02010609060101010101" pitchFamily="49" charset="-122"/>
                <a:ea typeface="仿宋" panose="02010609060101010101" pitchFamily="49" charset="-122"/>
              </a:rPr>
              <a:t>。</a:t>
            </a:r>
            <a:endParaRPr lang="en-US" altLang="zh-CN" sz="1100" dirty="0">
              <a:latin typeface="仿宋" panose="02010609060101010101" pitchFamily="49" charset="-122"/>
              <a:ea typeface="仿宋" panose="02010609060101010101" pitchFamily="49" charset="-122"/>
            </a:endParaRPr>
          </a:p>
          <a:p>
            <a:pPr marL="288000" lvl="1">
              <a:lnSpc>
                <a:spcPct val="150000"/>
              </a:lnSpc>
              <a:buSzPct val="70000"/>
            </a:pPr>
            <a:r>
              <a:rPr lang="zh-CN" altLang="en-US" sz="1100" dirty="0">
                <a:latin typeface="仿宋" panose="02010609060101010101" pitchFamily="49" charset="-122"/>
                <a:ea typeface="仿宋" panose="02010609060101010101" pitchFamily="49" charset="-122"/>
              </a:rPr>
              <a:t>充电宝产品线</a:t>
            </a:r>
            <a:r>
              <a:rPr lang="en-US" altLang="zh-CN" sz="1100" dirty="0">
                <a:latin typeface="仿宋" panose="02010609060101010101" pitchFamily="49" charset="-122"/>
                <a:ea typeface="仿宋" panose="02010609060101010101" pitchFamily="49" charset="-122"/>
              </a:rPr>
              <a:t>:1,500</a:t>
            </a:r>
            <a:r>
              <a:rPr lang="zh-CN" altLang="en-US" sz="1100" dirty="0">
                <a:latin typeface="仿宋" panose="02010609060101010101" pitchFamily="49" charset="-122"/>
                <a:ea typeface="仿宋" panose="02010609060101010101" pitchFamily="49" charset="-122"/>
              </a:rPr>
              <a:t>万元</a:t>
            </a:r>
            <a:r>
              <a:rPr lang="zh-CN" altLang="zh-CN" sz="1100" dirty="0">
                <a:latin typeface="仿宋" panose="02010609060101010101" pitchFamily="49" charset="-122"/>
                <a:ea typeface="仿宋" panose="02010609060101010101" pitchFamily="49" charset="-122"/>
              </a:rPr>
              <a:t>；</a:t>
            </a:r>
            <a:endParaRPr lang="en-US" altLang="zh-CN" sz="1100" dirty="0">
              <a:latin typeface="仿宋" panose="02010609060101010101" pitchFamily="49" charset="-122"/>
              <a:ea typeface="仿宋" panose="02010609060101010101" pitchFamily="49" charset="-122"/>
            </a:endParaRPr>
          </a:p>
          <a:p>
            <a:pPr marL="288000" lvl="1">
              <a:lnSpc>
                <a:spcPct val="150000"/>
              </a:lnSpc>
              <a:buSzPct val="70000"/>
            </a:pPr>
            <a:r>
              <a:rPr lang="zh-CN" altLang="zh-CN" sz="1100" dirty="0">
                <a:latin typeface="仿宋" panose="02010609060101010101" pitchFamily="49" charset="-122"/>
                <a:ea typeface="仿宋" panose="02010609060101010101" pitchFamily="49" charset="-122"/>
              </a:rPr>
              <a:t>共享单车产品线</a:t>
            </a:r>
            <a:r>
              <a:rPr lang="zh-CN" altLang="en-US" sz="1100" dirty="0">
                <a:latin typeface="仿宋" panose="02010609060101010101" pitchFamily="49" charset="-122"/>
                <a:ea typeface="仿宋" panose="02010609060101010101" pitchFamily="49" charset="-122"/>
              </a:rPr>
              <a:t>：</a:t>
            </a:r>
            <a:r>
              <a:rPr lang="en-US" altLang="zh-CN" sz="1100" dirty="0">
                <a:latin typeface="仿宋" panose="02010609060101010101" pitchFamily="49" charset="-122"/>
                <a:ea typeface="仿宋" panose="02010609060101010101" pitchFamily="49" charset="-122"/>
              </a:rPr>
              <a:t>GPS</a:t>
            </a:r>
            <a:r>
              <a:rPr lang="zh-CN" altLang="zh-CN" sz="1100" dirty="0">
                <a:latin typeface="仿宋" panose="02010609060101010101" pitchFamily="49" charset="-122"/>
                <a:ea typeface="仿宋" panose="02010609060101010101" pitchFamily="49" charset="-122"/>
              </a:rPr>
              <a:t>方案</a:t>
            </a:r>
            <a:r>
              <a:rPr lang="en-US" altLang="zh-CN" sz="1100" dirty="0">
                <a:latin typeface="仿宋" panose="02010609060101010101" pitchFamily="49" charset="-122"/>
                <a:ea typeface="仿宋" panose="02010609060101010101" pitchFamily="49" charset="-122"/>
              </a:rPr>
              <a:t>-3,000</a:t>
            </a:r>
            <a:r>
              <a:rPr lang="zh-CN" altLang="zh-CN" sz="1100" dirty="0">
                <a:latin typeface="仿宋" panose="02010609060101010101" pitchFamily="49" charset="-122"/>
                <a:ea typeface="仿宋" panose="02010609060101010101" pitchFamily="49" charset="-122"/>
              </a:rPr>
              <a:t>万元</a:t>
            </a:r>
            <a:r>
              <a:rPr lang="zh-CN" altLang="en-US" sz="1100" dirty="0">
                <a:latin typeface="仿宋" panose="02010609060101010101" pitchFamily="49" charset="-122"/>
                <a:ea typeface="仿宋" panose="02010609060101010101" pitchFamily="49" charset="-122"/>
              </a:rPr>
              <a:t>，</a:t>
            </a:r>
            <a:r>
              <a:rPr lang="zh-CN" altLang="zh-CN" sz="1100" dirty="0">
                <a:latin typeface="仿宋" panose="02010609060101010101" pitchFamily="49" charset="-122"/>
                <a:ea typeface="仿宋" panose="02010609060101010101" pitchFamily="49" charset="-122"/>
              </a:rPr>
              <a:t>太阳能充电芯片</a:t>
            </a:r>
            <a:r>
              <a:rPr lang="en-US" altLang="zh-CN" sz="1100" dirty="0">
                <a:latin typeface="仿宋" panose="02010609060101010101" pitchFamily="49" charset="-122"/>
                <a:ea typeface="仿宋" panose="02010609060101010101" pitchFamily="49" charset="-122"/>
              </a:rPr>
              <a:t>-1,400</a:t>
            </a:r>
            <a:r>
              <a:rPr lang="zh-CN" altLang="zh-CN" sz="1100" dirty="0">
                <a:latin typeface="仿宋" panose="02010609060101010101" pitchFamily="49" charset="-122"/>
                <a:ea typeface="仿宋" panose="02010609060101010101" pitchFamily="49" charset="-122"/>
              </a:rPr>
              <a:t>万元</a:t>
            </a:r>
            <a:r>
              <a:rPr lang="zh-CN" altLang="en-US" sz="1100" dirty="0">
                <a:latin typeface="仿宋" panose="02010609060101010101" pitchFamily="49" charset="-122"/>
                <a:ea typeface="仿宋" panose="02010609060101010101" pitchFamily="49" charset="-122"/>
              </a:rPr>
              <a:t>；</a:t>
            </a:r>
            <a:endParaRPr lang="en-US" altLang="zh-CN" sz="1100" dirty="0">
              <a:latin typeface="仿宋" panose="02010609060101010101" pitchFamily="49" charset="-122"/>
              <a:ea typeface="仿宋" panose="02010609060101010101" pitchFamily="49" charset="-122"/>
            </a:endParaRPr>
          </a:p>
          <a:p>
            <a:pPr marL="288000" lvl="1">
              <a:lnSpc>
                <a:spcPct val="150000"/>
              </a:lnSpc>
              <a:buSzPct val="70000"/>
            </a:pPr>
            <a:r>
              <a:rPr lang="zh-CN" altLang="zh-CN" sz="1100" dirty="0">
                <a:latin typeface="仿宋" panose="02010609060101010101" pitchFamily="49" charset="-122"/>
                <a:ea typeface="仿宋" panose="02010609060101010101" pitchFamily="49" charset="-122"/>
              </a:rPr>
              <a:t>笔记本电脑产品线</a:t>
            </a:r>
            <a:r>
              <a:rPr lang="zh-CN" altLang="en-US" sz="1100" dirty="0">
                <a:latin typeface="仿宋" panose="02010609060101010101" pitchFamily="49" charset="-122"/>
                <a:ea typeface="仿宋" panose="02010609060101010101" pitchFamily="49" charset="-122"/>
              </a:rPr>
              <a:t>：</a:t>
            </a:r>
            <a:r>
              <a:rPr lang="en-US" altLang="zh-CN" sz="1100" dirty="0">
                <a:latin typeface="仿宋" panose="02010609060101010101" pitchFamily="49" charset="-122"/>
                <a:ea typeface="仿宋" panose="02010609060101010101" pitchFamily="49" charset="-122"/>
              </a:rPr>
              <a:t>1000</a:t>
            </a:r>
            <a:r>
              <a:rPr lang="zh-CN" altLang="zh-CN" sz="1100" dirty="0">
                <a:latin typeface="仿宋" panose="02010609060101010101" pitchFamily="49" charset="-122"/>
                <a:ea typeface="仿宋" panose="02010609060101010101" pitchFamily="49" charset="-122"/>
              </a:rPr>
              <a:t>万元</a:t>
            </a:r>
            <a:r>
              <a:rPr lang="zh-CN" altLang="en-US" sz="1100" dirty="0">
                <a:latin typeface="仿宋" panose="02010609060101010101" pitchFamily="49" charset="-122"/>
                <a:ea typeface="仿宋" panose="02010609060101010101" pitchFamily="49" charset="-122"/>
              </a:rPr>
              <a:t>；</a:t>
            </a:r>
            <a:endParaRPr lang="zh-CN" altLang="zh-CN" sz="1100" dirty="0">
              <a:latin typeface="仿宋" panose="02010609060101010101" pitchFamily="49" charset="-122"/>
              <a:ea typeface="仿宋" panose="02010609060101010101" pitchFamily="49" charset="-122"/>
            </a:endParaRPr>
          </a:p>
        </p:txBody>
      </p:sp>
      <p:graphicFrame>
        <p:nvGraphicFramePr>
          <p:cNvPr id="4" name="表格 3">
            <a:extLst>
              <a:ext uri="{FF2B5EF4-FFF2-40B4-BE49-F238E27FC236}">
                <a16:creationId xmlns:a16="http://schemas.microsoft.com/office/drawing/2014/main" id="{B6B920F7-43AA-44B3-854F-FA651A05BB45}"/>
              </a:ext>
            </a:extLst>
          </p:cNvPr>
          <p:cNvGraphicFramePr>
            <a:graphicFrameLocks noGrp="1"/>
          </p:cNvGraphicFramePr>
          <p:nvPr>
            <p:extLst>
              <p:ext uri="{D42A27DB-BD31-4B8C-83A1-F6EECF244321}">
                <p14:modId xmlns:p14="http://schemas.microsoft.com/office/powerpoint/2010/main" val="3045311540"/>
              </p:ext>
            </p:extLst>
          </p:nvPr>
        </p:nvGraphicFramePr>
        <p:xfrm>
          <a:off x="1115760" y="3327251"/>
          <a:ext cx="6624459" cy="1475552"/>
        </p:xfrm>
        <a:graphic>
          <a:graphicData uri="http://schemas.openxmlformats.org/drawingml/2006/table">
            <a:tbl>
              <a:tblPr firstRow="1" firstCol="1" bandRow="1"/>
              <a:tblGrid>
                <a:gridCol w="568466">
                  <a:extLst>
                    <a:ext uri="{9D8B030D-6E8A-4147-A177-3AD203B41FA5}">
                      <a16:colId xmlns:a16="http://schemas.microsoft.com/office/drawing/2014/main" val="1949032907"/>
                    </a:ext>
                  </a:extLst>
                </a:gridCol>
                <a:gridCol w="1628924">
                  <a:extLst>
                    <a:ext uri="{9D8B030D-6E8A-4147-A177-3AD203B41FA5}">
                      <a16:colId xmlns:a16="http://schemas.microsoft.com/office/drawing/2014/main" val="2936358780"/>
                    </a:ext>
                  </a:extLst>
                </a:gridCol>
                <a:gridCol w="882865">
                  <a:extLst>
                    <a:ext uri="{9D8B030D-6E8A-4147-A177-3AD203B41FA5}">
                      <a16:colId xmlns:a16="http://schemas.microsoft.com/office/drawing/2014/main" val="1931621301"/>
                    </a:ext>
                  </a:extLst>
                </a:gridCol>
                <a:gridCol w="1060457">
                  <a:extLst>
                    <a:ext uri="{9D8B030D-6E8A-4147-A177-3AD203B41FA5}">
                      <a16:colId xmlns:a16="http://schemas.microsoft.com/office/drawing/2014/main" val="1089433643"/>
                    </a:ext>
                  </a:extLst>
                </a:gridCol>
                <a:gridCol w="1423290">
                  <a:extLst>
                    <a:ext uri="{9D8B030D-6E8A-4147-A177-3AD203B41FA5}">
                      <a16:colId xmlns:a16="http://schemas.microsoft.com/office/drawing/2014/main" val="1139853284"/>
                    </a:ext>
                  </a:extLst>
                </a:gridCol>
                <a:gridCol w="1060457">
                  <a:extLst>
                    <a:ext uri="{9D8B030D-6E8A-4147-A177-3AD203B41FA5}">
                      <a16:colId xmlns:a16="http://schemas.microsoft.com/office/drawing/2014/main" val="3711629069"/>
                    </a:ext>
                  </a:extLst>
                </a:gridCol>
              </a:tblGrid>
              <a:tr h="184444">
                <a:tc>
                  <a:txBody>
                    <a:bodyPr/>
                    <a:lstStyle/>
                    <a:p>
                      <a:pPr algn="ctr"/>
                      <a:r>
                        <a:rPr lang="zh-CN" sz="1100" b="1"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序号</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DDEBF7"/>
                    </a:solidFill>
                  </a:tcPr>
                </a:tc>
                <a:tc>
                  <a:txBody>
                    <a:bodyPr/>
                    <a:lstStyle/>
                    <a:p>
                      <a:pPr algn="ctr"/>
                      <a:r>
                        <a:rPr lang="zh-CN" sz="1100" b="1" kern="0" dirty="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最终客户</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DDEBF7"/>
                    </a:solidFill>
                  </a:tcPr>
                </a:tc>
                <a:tc>
                  <a:txBody>
                    <a:bodyPr/>
                    <a:lstStyle/>
                    <a:p>
                      <a:pPr algn="ctr"/>
                      <a:r>
                        <a:rPr lang="zh-CN" sz="1100" b="1"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万元</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DDEBF7"/>
                    </a:solidFill>
                  </a:tcPr>
                </a:tc>
                <a:tc>
                  <a:txBody>
                    <a:bodyPr/>
                    <a:lstStyle/>
                    <a:p>
                      <a:pPr algn="ctr"/>
                      <a:r>
                        <a:rPr lang="zh-CN" sz="1100" b="1"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序号</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DDEBF7"/>
                    </a:solidFill>
                  </a:tcPr>
                </a:tc>
                <a:tc>
                  <a:txBody>
                    <a:bodyPr/>
                    <a:lstStyle/>
                    <a:p>
                      <a:pPr algn="ctr"/>
                      <a:r>
                        <a:rPr lang="zh-CN" sz="1100" b="1"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最终客户</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DDEBF7"/>
                    </a:solidFill>
                  </a:tcPr>
                </a:tc>
                <a:tc>
                  <a:txBody>
                    <a:bodyPr/>
                    <a:lstStyle/>
                    <a:p>
                      <a:pPr algn="ctr"/>
                      <a:r>
                        <a:rPr lang="zh-CN" sz="1100" b="1"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万元</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DDEBF7"/>
                    </a:solidFill>
                  </a:tcPr>
                </a:tc>
                <a:extLst>
                  <a:ext uri="{0D108BD9-81ED-4DB2-BD59-A6C34878D82A}">
                    <a16:rowId xmlns:a16="http://schemas.microsoft.com/office/drawing/2014/main" val="1941409704"/>
                  </a:ext>
                </a:extLst>
              </a:tr>
              <a:tr h="184444">
                <a:tc>
                  <a:txBody>
                    <a:bodyPr/>
                    <a:lstStyle/>
                    <a:p>
                      <a:pPr algn="ct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OPPO</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   9,596 </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8</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ECS</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       436 </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565317992"/>
                  </a:ext>
                </a:extLst>
              </a:tr>
              <a:tr h="184444">
                <a:tc>
                  <a:txBody>
                    <a:bodyPr/>
                    <a:lstStyle/>
                    <a:p>
                      <a:pPr algn="ct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2</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zh-CN" sz="11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哈啰单车</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     791 </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9</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zh-CN" sz="11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品网</a:t>
                      </a:r>
                      <a:r>
                        <a:rPr lang="en-US" sz="11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a:t>
                      </a:r>
                      <a:r>
                        <a:rPr lang="zh-CN" sz="11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笔电方案商</a:t>
                      </a:r>
                      <a:r>
                        <a:rPr lang="en-US" sz="11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       346 </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69951731"/>
                  </a:ext>
                </a:extLst>
              </a:tr>
              <a:tr h="184444">
                <a:tc>
                  <a:txBody>
                    <a:bodyPr/>
                    <a:lstStyle/>
                    <a:p>
                      <a:pPr algn="ct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3</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zh-CN" sz="11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滴滴单车</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     673 </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1100" kern="0" dirty="0">
                          <a:solidFill>
                            <a:srgbClr val="000000"/>
                          </a:solidFill>
                          <a:effectLst/>
                          <a:latin typeface="仿宋" panose="02010609060101010101" pitchFamily="49" charset="-122"/>
                          <a:ea typeface="宋体" panose="02010600030101010101" pitchFamily="2" charset="-122"/>
                          <a:cs typeface="宋体" panose="02010600030101010101" pitchFamily="2" charset="-122"/>
                        </a:rPr>
                        <a:t>10</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COOLPAD</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       294 </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4231095364"/>
                  </a:ext>
                </a:extLst>
              </a:tr>
              <a:tr h="184444">
                <a:tc>
                  <a:txBody>
                    <a:bodyPr/>
                    <a:lstStyle/>
                    <a:p>
                      <a:pPr algn="ct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4</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zh-CN" sz="11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美团单车</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     430 </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11</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Clevo</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       241 </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605139272"/>
                  </a:ext>
                </a:extLst>
              </a:tr>
              <a:tr h="184444">
                <a:tc>
                  <a:txBody>
                    <a:bodyPr/>
                    <a:lstStyle/>
                    <a:p>
                      <a:pPr algn="ct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5</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zh-CN" sz="11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海能达</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     479 </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12</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ALIBABA</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       109 </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301635"/>
                  </a:ext>
                </a:extLst>
              </a:tr>
              <a:tr h="184444">
                <a:tc>
                  <a:txBody>
                    <a:bodyPr/>
                    <a:lstStyle/>
                    <a:p>
                      <a:pPr algn="ct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6</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zh-CN" sz="1100"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华勤</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     521 </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13</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Others</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     2,934 </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723139316"/>
                  </a:ext>
                </a:extLst>
              </a:tr>
              <a:tr h="184444">
                <a:tc>
                  <a:txBody>
                    <a:bodyPr/>
                    <a:lstStyle/>
                    <a:p>
                      <a:pPr algn="ct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7</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WEIZHIXIN</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a:r>
                        <a:rPr lang="en-US" sz="1100" kern="0">
                          <a:solidFill>
                            <a:srgbClr val="000000"/>
                          </a:solidFill>
                          <a:effectLst/>
                          <a:latin typeface="仿宋" panose="02010609060101010101" pitchFamily="49" charset="-122"/>
                          <a:ea typeface="宋体" panose="02010600030101010101" pitchFamily="2" charset="-122"/>
                          <a:cs typeface="宋体" panose="02010600030101010101" pitchFamily="2" charset="-122"/>
                        </a:rPr>
                        <a:t>     444 </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zh-CN" sz="1100" b="1" kern="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合计</a:t>
                      </a:r>
                      <a:endParaRPr lang="zh-CN" sz="14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zh-CN" sz="1100" kern="0" dirty="0">
                          <a:solidFill>
                            <a:srgbClr val="000000"/>
                          </a:solidFill>
                          <a:effectLst/>
                          <a:latin typeface="Times New Roman" panose="02020603050405020304" pitchFamily="18" charset="0"/>
                          <a:ea typeface="仿宋" panose="02010609060101010101" pitchFamily="49" charset="-122"/>
                          <a:cs typeface="宋体" panose="02010600030101010101" pitchFamily="2" charset="-122"/>
                        </a:rPr>
                        <a:t>　</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a:r>
                        <a:rPr lang="en-US" sz="1100" kern="0" dirty="0">
                          <a:solidFill>
                            <a:srgbClr val="000000"/>
                          </a:solidFill>
                          <a:effectLst/>
                          <a:latin typeface="仿宋" panose="02010609060101010101" pitchFamily="49" charset="-122"/>
                          <a:ea typeface="宋体" panose="02010600030101010101" pitchFamily="2" charset="-122"/>
                          <a:cs typeface="宋体" panose="02010600030101010101" pitchFamily="2" charset="-122"/>
                        </a:rPr>
                        <a:t>    </a:t>
                      </a:r>
                      <a:r>
                        <a:rPr lang="en-US" sz="1100" b="1" kern="0" dirty="0">
                          <a:solidFill>
                            <a:srgbClr val="FF0000"/>
                          </a:solidFill>
                          <a:effectLst/>
                          <a:latin typeface="仿宋" panose="02010609060101010101" pitchFamily="49" charset="-122"/>
                          <a:ea typeface="宋体" panose="02010600030101010101" pitchFamily="2" charset="-122"/>
                          <a:cs typeface="宋体" panose="02010600030101010101" pitchFamily="2" charset="-122"/>
                        </a:rPr>
                        <a:t>17,294</a:t>
                      </a:r>
                      <a:r>
                        <a:rPr lang="en-US" sz="1100" kern="0" dirty="0">
                          <a:solidFill>
                            <a:srgbClr val="000000"/>
                          </a:solidFill>
                          <a:effectLst/>
                          <a:latin typeface="仿宋" panose="02010609060101010101" pitchFamily="49" charset="-122"/>
                          <a:ea typeface="宋体" panose="02010600030101010101" pitchFamily="2" charset="-122"/>
                          <a:cs typeface="宋体" panose="02010600030101010101" pitchFamily="2" charset="-122"/>
                        </a:rPr>
                        <a:t> </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16383346"/>
                  </a:ext>
                </a:extLst>
              </a:tr>
            </a:tbl>
          </a:graphicData>
        </a:graphic>
      </p:graphicFrame>
      <p:graphicFrame>
        <p:nvGraphicFramePr>
          <p:cNvPr id="7" name="图表 6">
            <a:extLst>
              <a:ext uri="{FF2B5EF4-FFF2-40B4-BE49-F238E27FC236}">
                <a16:creationId xmlns:a16="http://schemas.microsoft.com/office/drawing/2014/main" id="{4C4C315C-18F5-40C9-8E93-62BEF1BDC7FF}"/>
              </a:ext>
            </a:extLst>
          </p:cNvPr>
          <p:cNvGraphicFramePr>
            <a:graphicFrameLocks/>
          </p:cNvGraphicFramePr>
          <p:nvPr>
            <p:extLst>
              <p:ext uri="{D42A27DB-BD31-4B8C-83A1-F6EECF244321}">
                <p14:modId xmlns:p14="http://schemas.microsoft.com/office/powerpoint/2010/main" val="1560362986"/>
              </p:ext>
            </p:extLst>
          </p:nvPr>
        </p:nvGraphicFramePr>
        <p:xfrm>
          <a:off x="4572000" y="491873"/>
          <a:ext cx="4499995" cy="275510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1608115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546181-3F3C-4279-8B65-4AF55AFC4C02}"/>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六、财务预测及回报分析</a:t>
            </a:r>
            <a:r>
              <a:rPr lang="en-US" altLang="zh-CN" sz="2400" dirty="0">
                <a:solidFill>
                  <a:schemeClr val="bg1">
                    <a:lumMod val="50000"/>
                  </a:schemeClr>
                </a:solidFill>
              </a:rPr>
              <a:t>|</a:t>
            </a:r>
            <a:r>
              <a:rPr lang="zh-CN" altLang="en-US" sz="2000" dirty="0"/>
              <a:t>财务预测</a:t>
            </a:r>
            <a:r>
              <a:rPr lang="en-US" altLang="zh-CN" sz="2000" dirty="0"/>
              <a:t>|</a:t>
            </a:r>
            <a:r>
              <a:rPr lang="zh-CN" altLang="en-US" sz="2000" dirty="0"/>
              <a:t>产品线</a:t>
            </a:r>
            <a:endParaRPr lang="en-US" altLang="zh-CN" sz="2400" dirty="0"/>
          </a:p>
        </p:txBody>
      </p:sp>
      <p:sp>
        <p:nvSpPr>
          <p:cNvPr id="6" name="Rectangle 3">
            <a:extLst>
              <a:ext uri="{FF2B5EF4-FFF2-40B4-BE49-F238E27FC236}">
                <a16:creationId xmlns:a16="http://schemas.microsoft.com/office/drawing/2014/main" id="{51906868-8F7B-477F-AECD-189AC8423B24}"/>
              </a:ext>
            </a:extLst>
          </p:cNvPr>
          <p:cNvSpPr txBox="1">
            <a:spLocks noChangeArrowheads="1"/>
          </p:cNvSpPr>
          <p:nvPr/>
        </p:nvSpPr>
        <p:spPr>
          <a:xfrm>
            <a:off x="457200" y="411601"/>
            <a:ext cx="8229600" cy="1368095"/>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indent="180000">
              <a:lnSpc>
                <a:spcPct val="150000"/>
              </a:lnSpc>
              <a:buSzPct val="70000"/>
              <a:buBlip>
                <a:blip r:embed="rId3"/>
              </a:buBlip>
            </a:pPr>
            <a:r>
              <a:rPr lang="zh-CN" altLang="en-US" sz="1200" dirty="0">
                <a:latin typeface="仿宋" panose="02010609060101010101" pitchFamily="49" charset="-122"/>
                <a:ea typeface="仿宋" panose="02010609060101010101" pitchFamily="49" charset="-122"/>
              </a:rPr>
              <a:t>根据产业发展、客户导入进展等综合分析：</a:t>
            </a:r>
            <a:endParaRPr lang="en-US" altLang="zh-CN" sz="1200" dirty="0">
              <a:latin typeface="仿宋" panose="02010609060101010101" pitchFamily="49" charset="-122"/>
              <a:ea typeface="仿宋" panose="02010609060101010101" pitchFamily="49" charset="-122"/>
            </a:endParaRPr>
          </a:p>
          <a:p>
            <a:pPr marL="288000" lvl="1">
              <a:lnSpc>
                <a:spcPct val="150000"/>
              </a:lnSpc>
              <a:buSzPct val="70000"/>
            </a:pPr>
            <a:r>
              <a:rPr lang="zh-CN" altLang="en-US" sz="1050" dirty="0">
                <a:latin typeface="仿宋" panose="02010609060101010101" pitchFamily="49" charset="-122"/>
                <a:ea typeface="仿宋" panose="02010609060101010101" pitchFamily="49" charset="-122"/>
              </a:rPr>
              <a:t>手机产品线：小米等在</a:t>
            </a:r>
            <a:r>
              <a:rPr lang="en-US" altLang="zh-CN" sz="1050" dirty="0">
                <a:latin typeface="仿宋" panose="02010609060101010101" pitchFamily="49" charset="-122"/>
                <a:ea typeface="仿宋" panose="02010609060101010101" pitchFamily="49" charset="-122"/>
              </a:rPr>
              <a:t>2021</a:t>
            </a:r>
            <a:r>
              <a:rPr lang="zh-CN" altLang="en-US" sz="1050" dirty="0">
                <a:latin typeface="仿宋" panose="02010609060101010101" pitchFamily="49" charset="-122"/>
                <a:ea typeface="仿宋" panose="02010609060101010101" pitchFamily="49" charset="-122"/>
              </a:rPr>
              <a:t>年下半年实现小批量导入，</a:t>
            </a:r>
            <a:r>
              <a:rPr lang="en-US" altLang="zh-CN" sz="1050" dirty="0">
                <a:latin typeface="仿宋" panose="02010609060101010101" pitchFamily="49" charset="-122"/>
                <a:ea typeface="仿宋" panose="02010609060101010101" pitchFamily="49" charset="-122"/>
              </a:rPr>
              <a:t>2022</a:t>
            </a:r>
            <a:r>
              <a:rPr lang="zh-CN" altLang="en-US" sz="1050" dirty="0">
                <a:latin typeface="仿宋" panose="02010609060101010101" pitchFamily="49" charset="-122"/>
                <a:ea typeface="仿宋" panose="02010609060101010101" pitchFamily="49" charset="-122"/>
              </a:rPr>
              <a:t>年实现上量收入；</a:t>
            </a:r>
            <a:r>
              <a:rPr lang="en-US" altLang="zh-CN" sz="1050" dirty="0">
                <a:latin typeface="仿宋" panose="02010609060101010101" pitchFamily="49" charset="-122"/>
                <a:ea typeface="仿宋" panose="02010609060101010101" pitchFamily="49" charset="-122"/>
              </a:rPr>
              <a:t>2023</a:t>
            </a:r>
            <a:r>
              <a:rPr lang="zh-CN" altLang="en-US" sz="1050" dirty="0">
                <a:latin typeface="仿宋" panose="02010609060101010101" pitchFamily="49" charset="-122"/>
                <a:ea typeface="仿宋" panose="02010609060101010101" pitchFamily="49" charset="-122"/>
              </a:rPr>
              <a:t>年之后将实现高速增长；同时</a:t>
            </a:r>
            <a:r>
              <a:rPr lang="en-US" altLang="zh-CN" sz="1050" dirty="0">
                <a:latin typeface="仿宋" panose="02010609060101010101" pitchFamily="49" charset="-122"/>
                <a:ea typeface="仿宋" panose="02010609060101010101" pitchFamily="49" charset="-122"/>
              </a:rPr>
              <a:t>OPPO</a:t>
            </a:r>
            <a:r>
              <a:rPr lang="zh-CN" altLang="en-US" sz="1050" dirty="0">
                <a:latin typeface="仿宋" panose="02010609060101010101" pitchFamily="49" charset="-122"/>
                <a:ea typeface="仿宋" panose="02010609060101010101" pitchFamily="49" charset="-122"/>
              </a:rPr>
              <a:t>的占比将逐年下降；客户集中度降低。</a:t>
            </a:r>
            <a:endParaRPr lang="en-US" altLang="zh-CN" sz="1050" dirty="0">
              <a:latin typeface="仿宋" panose="02010609060101010101" pitchFamily="49" charset="-122"/>
              <a:ea typeface="仿宋" panose="02010609060101010101" pitchFamily="49" charset="-122"/>
            </a:endParaRPr>
          </a:p>
          <a:p>
            <a:pPr marL="288000" lvl="1">
              <a:lnSpc>
                <a:spcPct val="150000"/>
              </a:lnSpc>
              <a:buSzPct val="70000"/>
            </a:pPr>
            <a:r>
              <a:rPr lang="en-US" altLang="zh-CN" sz="1050" dirty="0">
                <a:latin typeface="仿宋" panose="02010609060101010101" pitchFamily="49" charset="-122"/>
                <a:ea typeface="仿宋" panose="02010609060101010101" pitchFamily="49" charset="-122"/>
              </a:rPr>
              <a:t>TWS</a:t>
            </a:r>
            <a:r>
              <a:rPr lang="zh-CN" altLang="en-US" sz="1050" dirty="0">
                <a:latin typeface="仿宋" panose="02010609060101010101" pitchFamily="49" charset="-122"/>
                <a:ea typeface="仿宋" panose="02010609060101010101" pitchFamily="49" charset="-122"/>
              </a:rPr>
              <a:t>产品线：</a:t>
            </a:r>
            <a:r>
              <a:rPr lang="en-US" altLang="zh-CN" sz="1050" dirty="0">
                <a:latin typeface="仿宋" panose="02010609060101010101" pitchFamily="49" charset="-122"/>
                <a:ea typeface="仿宋" panose="02010609060101010101" pitchFamily="49" charset="-122"/>
              </a:rPr>
              <a:t>2021</a:t>
            </a:r>
            <a:r>
              <a:rPr lang="zh-CN" altLang="en-US" sz="1050" dirty="0">
                <a:latin typeface="仿宋" panose="02010609060101010101" pitchFamily="49" charset="-122"/>
                <a:ea typeface="仿宋" panose="02010609060101010101" pitchFamily="49" charset="-122"/>
              </a:rPr>
              <a:t>年实现营收；后续</a:t>
            </a:r>
            <a:r>
              <a:rPr lang="en-US" altLang="zh-CN" sz="1050" dirty="0">
                <a:latin typeface="仿宋" panose="02010609060101010101" pitchFamily="49" charset="-122"/>
                <a:ea typeface="仿宋" panose="02010609060101010101" pitchFamily="49" charset="-122"/>
              </a:rPr>
              <a:t>3-5</a:t>
            </a:r>
            <a:r>
              <a:rPr lang="zh-CN" altLang="en-US" sz="1050" dirty="0">
                <a:latin typeface="仿宋" panose="02010609060101010101" pitchFamily="49" charset="-122"/>
                <a:ea typeface="仿宋" panose="02010609060101010101" pitchFamily="49" charset="-122"/>
              </a:rPr>
              <a:t>年依然高速成长；</a:t>
            </a:r>
            <a:endParaRPr lang="en-US" altLang="zh-CN" sz="1050" dirty="0">
              <a:latin typeface="仿宋" panose="02010609060101010101" pitchFamily="49" charset="-122"/>
              <a:ea typeface="仿宋" panose="02010609060101010101" pitchFamily="49" charset="-122"/>
            </a:endParaRPr>
          </a:p>
          <a:p>
            <a:pPr marL="288000" lvl="1">
              <a:lnSpc>
                <a:spcPct val="150000"/>
              </a:lnSpc>
              <a:buSzPct val="70000"/>
            </a:pPr>
            <a:r>
              <a:rPr lang="zh-CN" altLang="en-US" sz="1050" dirty="0">
                <a:latin typeface="仿宋" panose="02010609060101010101" pitchFamily="49" charset="-122"/>
                <a:ea typeface="仿宋" panose="02010609060101010101" pitchFamily="49" charset="-122"/>
              </a:rPr>
              <a:t>充电宝产品线：达到一定渗透率之后，逐年稳定；</a:t>
            </a:r>
            <a:endParaRPr lang="en-US" altLang="zh-CN" sz="1050" dirty="0">
              <a:latin typeface="仿宋" panose="02010609060101010101" pitchFamily="49" charset="-122"/>
              <a:ea typeface="仿宋" panose="02010609060101010101" pitchFamily="49" charset="-122"/>
            </a:endParaRPr>
          </a:p>
          <a:p>
            <a:pPr marL="288000" lvl="1">
              <a:lnSpc>
                <a:spcPct val="150000"/>
              </a:lnSpc>
              <a:buSzPct val="70000"/>
            </a:pPr>
            <a:r>
              <a:rPr lang="zh-CN" altLang="en-US" sz="1050" dirty="0">
                <a:latin typeface="仿宋" panose="02010609060101010101" pitchFamily="49" charset="-122"/>
                <a:ea typeface="仿宋" panose="02010609060101010101" pitchFamily="49" charset="-122"/>
              </a:rPr>
              <a:t>共享单车产品线：目前市场占有率较高，后续成长性中性；</a:t>
            </a:r>
            <a:endParaRPr lang="en-US" altLang="zh-CN" sz="1050" dirty="0">
              <a:latin typeface="仿宋" panose="02010609060101010101" pitchFamily="49" charset="-122"/>
              <a:ea typeface="仿宋" panose="02010609060101010101" pitchFamily="49" charset="-122"/>
            </a:endParaRPr>
          </a:p>
          <a:p>
            <a:pPr marL="288000" lvl="1">
              <a:lnSpc>
                <a:spcPct val="150000"/>
              </a:lnSpc>
              <a:buSzPct val="70000"/>
            </a:pPr>
            <a:r>
              <a:rPr lang="zh-CN" altLang="en-US" sz="1050" dirty="0">
                <a:latin typeface="仿宋" panose="02010609060101010101" pitchFamily="49" charset="-122"/>
                <a:ea typeface="仿宋" panose="02010609060101010101" pitchFamily="49" charset="-122"/>
              </a:rPr>
              <a:t>笔记本电脑产品线：</a:t>
            </a:r>
            <a:r>
              <a:rPr lang="en-US" altLang="zh-CN" sz="1050" dirty="0">
                <a:latin typeface="仿宋" panose="02010609060101010101" pitchFamily="49" charset="-122"/>
                <a:ea typeface="仿宋" panose="02010609060101010101" pitchFamily="49" charset="-122"/>
              </a:rPr>
              <a:t>2021</a:t>
            </a:r>
            <a:r>
              <a:rPr lang="zh-CN" altLang="en-US" sz="1050" dirty="0">
                <a:latin typeface="仿宋" panose="02010609060101010101" pitchFamily="49" charset="-122"/>
                <a:ea typeface="仿宋" panose="02010609060101010101" pitchFamily="49" charset="-122"/>
              </a:rPr>
              <a:t>年</a:t>
            </a:r>
            <a:r>
              <a:rPr lang="en-US" altLang="zh-CN" sz="1050" dirty="0">
                <a:latin typeface="仿宋" panose="02010609060101010101" pitchFamily="49" charset="-122"/>
                <a:ea typeface="仿宋" panose="02010609060101010101" pitchFamily="49" charset="-122"/>
              </a:rPr>
              <a:t>-2022</a:t>
            </a:r>
            <a:r>
              <a:rPr lang="zh-CN" altLang="en-US" sz="1050" dirty="0">
                <a:latin typeface="仿宋" panose="02010609060101010101" pitchFamily="49" charset="-122"/>
                <a:ea typeface="仿宋" panose="02010609060101010101" pitchFamily="49" charset="-122"/>
              </a:rPr>
              <a:t>年较为稳定；后续随着国产平台的量产，相关营收将呈现快速增长。</a:t>
            </a:r>
            <a:endParaRPr lang="en-US" altLang="zh-CN" sz="1050" dirty="0">
              <a:latin typeface="仿宋" panose="02010609060101010101" pitchFamily="49" charset="-122"/>
              <a:ea typeface="仿宋" panose="02010609060101010101" pitchFamily="49" charset="-122"/>
            </a:endParaRPr>
          </a:p>
          <a:p>
            <a:pPr marL="288000" lvl="1">
              <a:lnSpc>
                <a:spcPct val="150000"/>
              </a:lnSpc>
              <a:buSzPct val="70000"/>
            </a:pPr>
            <a:endParaRPr lang="zh-CN" altLang="zh-CN" sz="1050" dirty="0">
              <a:latin typeface="仿宋" panose="02010609060101010101" pitchFamily="49" charset="-122"/>
              <a:ea typeface="仿宋" panose="02010609060101010101" pitchFamily="49" charset="-122"/>
            </a:endParaRPr>
          </a:p>
        </p:txBody>
      </p:sp>
      <p:graphicFrame>
        <p:nvGraphicFramePr>
          <p:cNvPr id="7" name="表格 6">
            <a:extLst>
              <a:ext uri="{FF2B5EF4-FFF2-40B4-BE49-F238E27FC236}">
                <a16:creationId xmlns:a16="http://schemas.microsoft.com/office/drawing/2014/main" id="{5DCEE283-3D5D-4741-A11B-AD007832C277}"/>
              </a:ext>
            </a:extLst>
          </p:cNvPr>
          <p:cNvGraphicFramePr>
            <a:graphicFrameLocks noGrp="1"/>
          </p:cNvGraphicFramePr>
          <p:nvPr>
            <p:extLst>
              <p:ext uri="{D42A27DB-BD31-4B8C-83A1-F6EECF244321}">
                <p14:modId xmlns:p14="http://schemas.microsoft.com/office/powerpoint/2010/main" val="1921796692"/>
              </p:ext>
            </p:extLst>
          </p:nvPr>
        </p:nvGraphicFramePr>
        <p:xfrm>
          <a:off x="2123830" y="2499745"/>
          <a:ext cx="5572715" cy="2148243"/>
        </p:xfrm>
        <a:graphic>
          <a:graphicData uri="http://schemas.openxmlformats.org/drawingml/2006/table">
            <a:tbl>
              <a:tblPr/>
              <a:tblGrid>
                <a:gridCol w="1282722">
                  <a:extLst>
                    <a:ext uri="{9D8B030D-6E8A-4147-A177-3AD203B41FA5}">
                      <a16:colId xmlns:a16="http://schemas.microsoft.com/office/drawing/2014/main" val="87980873"/>
                    </a:ext>
                  </a:extLst>
                </a:gridCol>
                <a:gridCol w="844459">
                  <a:extLst>
                    <a:ext uri="{9D8B030D-6E8A-4147-A177-3AD203B41FA5}">
                      <a16:colId xmlns:a16="http://schemas.microsoft.com/office/drawing/2014/main" val="115009550"/>
                    </a:ext>
                  </a:extLst>
                </a:gridCol>
                <a:gridCol w="844459">
                  <a:extLst>
                    <a:ext uri="{9D8B030D-6E8A-4147-A177-3AD203B41FA5}">
                      <a16:colId xmlns:a16="http://schemas.microsoft.com/office/drawing/2014/main" val="4151979630"/>
                    </a:ext>
                  </a:extLst>
                </a:gridCol>
                <a:gridCol w="844459">
                  <a:extLst>
                    <a:ext uri="{9D8B030D-6E8A-4147-A177-3AD203B41FA5}">
                      <a16:colId xmlns:a16="http://schemas.microsoft.com/office/drawing/2014/main" val="1882907082"/>
                    </a:ext>
                  </a:extLst>
                </a:gridCol>
                <a:gridCol w="844459">
                  <a:extLst>
                    <a:ext uri="{9D8B030D-6E8A-4147-A177-3AD203B41FA5}">
                      <a16:colId xmlns:a16="http://schemas.microsoft.com/office/drawing/2014/main" val="2948637126"/>
                    </a:ext>
                  </a:extLst>
                </a:gridCol>
                <a:gridCol w="912157">
                  <a:extLst>
                    <a:ext uri="{9D8B030D-6E8A-4147-A177-3AD203B41FA5}">
                      <a16:colId xmlns:a16="http://schemas.microsoft.com/office/drawing/2014/main" val="93804266"/>
                    </a:ext>
                  </a:extLst>
                </a:gridCol>
              </a:tblGrid>
              <a:tr h="237306">
                <a:tc>
                  <a:txBody>
                    <a:bodyPr/>
                    <a:lstStyle/>
                    <a:p>
                      <a:pPr algn="ctr" fontAlgn="ctr"/>
                      <a:r>
                        <a:rPr lang="zh-CN" altLang="en-US" sz="1100" b="1" i="0" u="none" strike="noStrike" dirty="0">
                          <a:solidFill>
                            <a:srgbClr val="000000"/>
                          </a:solidFill>
                          <a:effectLst/>
                          <a:latin typeface="仿宋" panose="02010609060101010101" pitchFamily="49" charset="-122"/>
                          <a:ea typeface="仿宋" panose="02010609060101010101" pitchFamily="49" charset="-122"/>
                        </a:rPr>
                        <a:t>项 目</a:t>
                      </a:r>
                    </a:p>
                  </a:txBody>
                  <a:tcPr marL="0" marR="0" marT="0"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en-US" altLang="zh-CN" sz="1100" b="1" i="0" u="none" strike="noStrike">
                          <a:solidFill>
                            <a:srgbClr val="000000"/>
                          </a:solidFill>
                          <a:effectLst/>
                          <a:latin typeface="仿宋" panose="02010609060101010101" pitchFamily="49" charset="-122"/>
                          <a:ea typeface="仿宋" panose="02010609060101010101" pitchFamily="49" charset="-122"/>
                        </a:rPr>
                        <a:t>2021</a:t>
                      </a:r>
                      <a:r>
                        <a:rPr lang="zh-CN" altLang="en-US" sz="1100" b="1" i="0" u="none" strike="noStrike">
                          <a:solidFill>
                            <a:srgbClr val="000000"/>
                          </a:solidFill>
                          <a:effectLst/>
                          <a:latin typeface="仿宋" panose="02010609060101010101" pitchFamily="49" charset="-122"/>
                          <a:ea typeface="仿宋" panose="02010609060101010101" pitchFamily="49" charset="-122"/>
                        </a:rPr>
                        <a:t>年</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en-US" altLang="zh-CN" sz="1100" b="1" i="0" u="none" strike="noStrike">
                          <a:solidFill>
                            <a:srgbClr val="000000"/>
                          </a:solidFill>
                          <a:effectLst/>
                          <a:latin typeface="仿宋" panose="02010609060101010101" pitchFamily="49" charset="-122"/>
                          <a:ea typeface="仿宋" panose="02010609060101010101" pitchFamily="49" charset="-122"/>
                        </a:rPr>
                        <a:t>2022</a:t>
                      </a:r>
                      <a:r>
                        <a:rPr lang="zh-CN" altLang="en-US" sz="1100" b="1" i="0" u="none" strike="noStrike">
                          <a:solidFill>
                            <a:srgbClr val="000000"/>
                          </a:solidFill>
                          <a:effectLst/>
                          <a:latin typeface="仿宋" panose="02010609060101010101" pitchFamily="49" charset="-122"/>
                          <a:ea typeface="仿宋" panose="02010609060101010101" pitchFamily="49" charset="-122"/>
                        </a:rPr>
                        <a:t>年</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en-US" altLang="zh-CN" sz="1100" b="1" i="0" u="none" strike="noStrike" dirty="0">
                          <a:solidFill>
                            <a:srgbClr val="000000"/>
                          </a:solidFill>
                          <a:effectLst/>
                          <a:latin typeface="仿宋" panose="02010609060101010101" pitchFamily="49" charset="-122"/>
                          <a:ea typeface="仿宋" panose="02010609060101010101" pitchFamily="49" charset="-122"/>
                        </a:rPr>
                        <a:t>2023</a:t>
                      </a:r>
                      <a:r>
                        <a:rPr lang="zh-CN" altLang="en-US" sz="1100" b="1" i="0" u="none" strike="noStrike" dirty="0">
                          <a:solidFill>
                            <a:srgbClr val="000000"/>
                          </a:solidFill>
                          <a:effectLst/>
                          <a:latin typeface="仿宋" panose="02010609060101010101" pitchFamily="49" charset="-122"/>
                          <a:ea typeface="仿宋" panose="02010609060101010101" pitchFamily="49" charset="-122"/>
                        </a:rPr>
                        <a:t>年</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en-US" altLang="zh-CN" sz="1100" b="1" i="0" u="none" strike="noStrike">
                          <a:solidFill>
                            <a:srgbClr val="000000"/>
                          </a:solidFill>
                          <a:effectLst/>
                          <a:latin typeface="仿宋" panose="02010609060101010101" pitchFamily="49" charset="-122"/>
                          <a:ea typeface="仿宋" panose="02010609060101010101" pitchFamily="49" charset="-122"/>
                        </a:rPr>
                        <a:t>2024</a:t>
                      </a:r>
                      <a:r>
                        <a:rPr lang="zh-CN" altLang="en-US" sz="1100" b="1" i="0" u="none" strike="noStrike">
                          <a:solidFill>
                            <a:srgbClr val="000000"/>
                          </a:solidFill>
                          <a:effectLst/>
                          <a:latin typeface="仿宋" panose="02010609060101010101" pitchFamily="49" charset="-122"/>
                          <a:ea typeface="仿宋" panose="02010609060101010101" pitchFamily="49" charset="-122"/>
                        </a:rPr>
                        <a:t>年</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en-US" altLang="zh-CN" sz="1100" b="1" i="0" u="none" strike="noStrike">
                          <a:solidFill>
                            <a:srgbClr val="000000"/>
                          </a:solidFill>
                          <a:effectLst/>
                          <a:latin typeface="仿宋" panose="02010609060101010101" pitchFamily="49" charset="-122"/>
                          <a:ea typeface="仿宋" panose="02010609060101010101" pitchFamily="49" charset="-122"/>
                        </a:rPr>
                        <a:t>2025</a:t>
                      </a:r>
                      <a:r>
                        <a:rPr lang="zh-CN" altLang="en-US" sz="1100" b="1" i="0" u="none" strike="noStrike">
                          <a:solidFill>
                            <a:srgbClr val="000000"/>
                          </a:solidFill>
                          <a:effectLst/>
                          <a:latin typeface="仿宋" panose="02010609060101010101" pitchFamily="49" charset="-122"/>
                          <a:ea typeface="仿宋" panose="02010609060101010101" pitchFamily="49" charset="-122"/>
                        </a:rPr>
                        <a:t>年</a:t>
                      </a:r>
                    </a:p>
                  </a:txBody>
                  <a:tcPr marL="0" marR="0" marT="0"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extLst>
                  <a:ext uri="{0D108BD9-81ED-4DB2-BD59-A6C34878D82A}">
                    <a16:rowId xmlns:a16="http://schemas.microsoft.com/office/drawing/2014/main" val="1258722996"/>
                  </a:ext>
                </a:extLst>
              </a:tr>
              <a:tr h="237306">
                <a:tc>
                  <a:txBody>
                    <a:bodyPr/>
                    <a:lstStyle/>
                    <a:p>
                      <a:pPr algn="l" fontAlgn="ctr"/>
                      <a:r>
                        <a:rPr lang="zh-CN" altLang="en-US" sz="1100" b="1" i="0" u="none" strike="noStrike">
                          <a:solidFill>
                            <a:srgbClr val="000000"/>
                          </a:solidFill>
                          <a:effectLst/>
                          <a:latin typeface="仿宋" panose="02010609060101010101" pitchFamily="49" charset="-122"/>
                          <a:ea typeface="仿宋" panose="02010609060101010101" pitchFamily="49" charset="-122"/>
                        </a:rPr>
                        <a:t>手机产品线</a:t>
                      </a:r>
                    </a:p>
                  </a:txBody>
                  <a:tcPr marL="0" marR="0" marT="0"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9,800.00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25,000.00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37,500.00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50,000.00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63,000.00 </a:t>
                      </a:r>
                    </a:p>
                  </a:txBody>
                  <a:tcPr marL="0" marR="0" marT="0"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770094659"/>
                  </a:ext>
                </a:extLst>
              </a:tr>
              <a:tr h="237306">
                <a:tc>
                  <a:txBody>
                    <a:bodyPr/>
                    <a:lstStyle/>
                    <a:p>
                      <a:pPr algn="r" fontAlgn="ctr"/>
                      <a:r>
                        <a:rPr lang="en-US" sz="1100" b="0" i="0" u="none" strike="noStrike">
                          <a:solidFill>
                            <a:srgbClr val="000000"/>
                          </a:solidFill>
                          <a:effectLst/>
                          <a:latin typeface="仿宋" panose="02010609060101010101" pitchFamily="49" charset="-122"/>
                          <a:ea typeface="仿宋" panose="02010609060101010101" pitchFamily="49" charset="-122"/>
                        </a:rPr>
                        <a:t>OPPO</a:t>
                      </a:r>
                    </a:p>
                  </a:txBody>
                  <a:tcPr marL="0" marR="0" marT="0"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9,800.00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20,000.00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27,500.00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35,000.00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40,000.00 </a:t>
                      </a:r>
                    </a:p>
                  </a:txBody>
                  <a:tcPr marL="0" marR="0" marT="0"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445570466"/>
                  </a:ext>
                </a:extLst>
              </a:tr>
              <a:tr h="237306">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小米等</a:t>
                      </a:r>
                    </a:p>
                  </a:txBody>
                  <a:tcPr marL="0" marR="0" marT="0"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5,000.00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dirty="0">
                          <a:solidFill>
                            <a:srgbClr val="000000"/>
                          </a:solidFill>
                          <a:effectLst/>
                          <a:latin typeface="仿宋" panose="02010609060101010101" pitchFamily="49" charset="-122"/>
                          <a:ea typeface="仿宋" panose="02010609060101010101" pitchFamily="49" charset="-122"/>
                        </a:rPr>
                        <a:t>  </a:t>
                      </a:r>
                      <a:r>
                        <a:rPr lang="en-US" altLang="zh-CN" sz="1100" b="0" i="0" u="none" strike="noStrike" dirty="0">
                          <a:solidFill>
                            <a:srgbClr val="000000"/>
                          </a:solidFill>
                          <a:effectLst/>
                          <a:latin typeface="仿宋" panose="02010609060101010101" pitchFamily="49" charset="-122"/>
                          <a:ea typeface="仿宋" panose="02010609060101010101" pitchFamily="49" charset="-122"/>
                        </a:rPr>
                        <a:t>10,000.00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15,000.00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23,000.00 </a:t>
                      </a:r>
                    </a:p>
                  </a:txBody>
                  <a:tcPr marL="0" marR="0" marT="0"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501837651"/>
                  </a:ext>
                </a:extLst>
              </a:tr>
              <a:tr h="237306">
                <a:tc>
                  <a:txBody>
                    <a:bodyPr/>
                    <a:lstStyle/>
                    <a:p>
                      <a:pPr algn="l" fontAlgn="ctr"/>
                      <a:r>
                        <a:rPr lang="en-US" sz="1100" b="1" i="0" u="none" strike="noStrike">
                          <a:solidFill>
                            <a:srgbClr val="000000"/>
                          </a:solidFill>
                          <a:effectLst/>
                          <a:latin typeface="仿宋" panose="02010609060101010101" pitchFamily="49" charset="-122"/>
                          <a:ea typeface="仿宋" panose="02010609060101010101" pitchFamily="49" charset="-122"/>
                        </a:rPr>
                        <a:t>TWS</a:t>
                      </a:r>
                      <a:r>
                        <a:rPr lang="zh-CN" altLang="en-US" sz="1100" b="1" i="0" u="none" strike="noStrike">
                          <a:solidFill>
                            <a:srgbClr val="000000"/>
                          </a:solidFill>
                          <a:effectLst/>
                          <a:latin typeface="仿宋" panose="02010609060101010101" pitchFamily="49" charset="-122"/>
                          <a:ea typeface="仿宋" panose="02010609060101010101" pitchFamily="49" charset="-122"/>
                        </a:rPr>
                        <a:t>产品线</a:t>
                      </a:r>
                    </a:p>
                  </a:txBody>
                  <a:tcPr marL="0" marR="0" marT="0"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5,000.00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8,000.00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12,000.00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15,000.00 </a:t>
                      </a:r>
                    </a:p>
                  </a:txBody>
                  <a:tcPr marL="0" marR="0" marT="0"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585213781"/>
                  </a:ext>
                </a:extLst>
              </a:tr>
              <a:tr h="237306">
                <a:tc>
                  <a:txBody>
                    <a:bodyPr/>
                    <a:lstStyle/>
                    <a:p>
                      <a:pPr algn="l" fontAlgn="ctr"/>
                      <a:r>
                        <a:rPr lang="zh-CN" altLang="en-US" sz="1100" b="1" i="0" u="none" strike="noStrike">
                          <a:solidFill>
                            <a:srgbClr val="000000"/>
                          </a:solidFill>
                          <a:effectLst/>
                          <a:latin typeface="仿宋" panose="02010609060101010101" pitchFamily="49" charset="-122"/>
                          <a:ea typeface="仿宋" panose="02010609060101010101" pitchFamily="49" charset="-122"/>
                        </a:rPr>
                        <a:t>充电宝产品线</a:t>
                      </a:r>
                    </a:p>
                  </a:txBody>
                  <a:tcPr marL="0" marR="0" marT="0"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1,500.00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4,000.00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8,000.00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12,000.00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13,000.00 </a:t>
                      </a:r>
                    </a:p>
                  </a:txBody>
                  <a:tcPr marL="0" marR="0" marT="0"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964236944"/>
                  </a:ext>
                </a:extLst>
              </a:tr>
              <a:tr h="237306">
                <a:tc>
                  <a:txBody>
                    <a:bodyPr/>
                    <a:lstStyle/>
                    <a:p>
                      <a:pPr algn="l" fontAlgn="ctr"/>
                      <a:r>
                        <a:rPr lang="zh-CN" altLang="en-US" sz="1100" b="1" i="0" u="none" strike="noStrike">
                          <a:solidFill>
                            <a:srgbClr val="000000"/>
                          </a:solidFill>
                          <a:effectLst/>
                          <a:latin typeface="仿宋" panose="02010609060101010101" pitchFamily="49" charset="-122"/>
                          <a:ea typeface="仿宋" panose="02010609060101010101" pitchFamily="49" charset="-122"/>
                        </a:rPr>
                        <a:t>共享单车产品线</a:t>
                      </a:r>
                    </a:p>
                  </a:txBody>
                  <a:tcPr marL="0" marR="0" marT="0"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4,400.00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7,000.00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dirty="0">
                          <a:solidFill>
                            <a:srgbClr val="000000"/>
                          </a:solidFill>
                          <a:effectLst/>
                          <a:latin typeface="仿宋" panose="02010609060101010101" pitchFamily="49" charset="-122"/>
                          <a:ea typeface="仿宋" panose="02010609060101010101" pitchFamily="49" charset="-122"/>
                        </a:rPr>
                        <a:t>  </a:t>
                      </a:r>
                      <a:r>
                        <a:rPr lang="en-US" altLang="zh-CN" sz="1100" b="0" i="0" u="none" strike="noStrike" dirty="0">
                          <a:solidFill>
                            <a:srgbClr val="000000"/>
                          </a:solidFill>
                          <a:effectLst/>
                          <a:latin typeface="仿宋" panose="02010609060101010101" pitchFamily="49" charset="-122"/>
                          <a:ea typeface="仿宋" panose="02010609060101010101" pitchFamily="49" charset="-122"/>
                        </a:rPr>
                        <a:t>10,000.00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12,000.00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13,000.00 </a:t>
                      </a:r>
                    </a:p>
                  </a:txBody>
                  <a:tcPr marL="0" marR="0" marT="0"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701395685"/>
                  </a:ext>
                </a:extLst>
              </a:tr>
              <a:tr h="237306">
                <a:tc>
                  <a:txBody>
                    <a:bodyPr/>
                    <a:lstStyle/>
                    <a:p>
                      <a:pPr algn="l" fontAlgn="ctr"/>
                      <a:r>
                        <a:rPr lang="zh-CN" altLang="en-US" sz="1100" b="1" i="0" u="none" strike="noStrike">
                          <a:solidFill>
                            <a:srgbClr val="000000"/>
                          </a:solidFill>
                          <a:effectLst/>
                          <a:latin typeface="仿宋" panose="02010609060101010101" pitchFamily="49" charset="-122"/>
                          <a:ea typeface="仿宋" panose="02010609060101010101" pitchFamily="49" charset="-122"/>
                        </a:rPr>
                        <a:t>笔记本电脑产品线</a:t>
                      </a:r>
                    </a:p>
                  </a:txBody>
                  <a:tcPr marL="0" marR="0" marT="0"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1,000.00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1,200.00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2,000.00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5,000.00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6,000.00 </a:t>
                      </a:r>
                    </a:p>
                  </a:txBody>
                  <a:tcPr marL="0" marR="0" marT="0"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4099739497"/>
                  </a:ext>
                </a:extLst>
              </a:tr>
              <a:tr h="249795">
                <a:tc>
                  <a:txBody>
                    <a:bodyPr/>
                    <a:lstStyle/>
                    <a:p>
                      <a:pPr algn="ctr" fontAlgn="ctr"/>
                      <a:r>
                        <a:rPr lang="zh-CN" altLang="en-US" sz="1100" b="1" i="0" u="none" strike="noStrike">
                          <a:solidFill>
                            <a:srgbClr val="000000"/>
                          </a:solidFill>
                          <a:effectLst/>
                          <a:latin typeface="仿宋" panose="02010609060101010101" pitchFamily="49" charset="-122"/>
                          <a:ea typeface="仿宋" panose="02010609060101010101" pitchFamily="49" charset="-122"/>
                        </a:rPr>
                        <a:t>合计</a:t>
                      </a:r>
                    </a:p>
                  </a:txBody>
                  <a:tcPr marL="0" marR="0" marT="0"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16,700.00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42,200.00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65,500.00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a:solidFill>
                            <a:srgbClr val="000000"/>
                          </a:solidFill>
                          <a:effectLst/>
                          <a:latin typeface="仿宋" panose="02010609060101010101" pitchFamily="49" charset="-122"/>
                          <a:ea typeface="仿宋" panose="02010609060101010101" pitchFamily="49" charset="-122"/>
                        </a:rPr>
                        <a:t>  </a:t>
                      </a:r>
                      <a:r>
                        <a:rPr lang="en-US" altLang="zh-CN" sz="1100" b="0" i="0" u="none" strike="noStrike">
                          <a:solidFill>
                            <a:srgbClr val="000000"/>
                          </a:solidFill>
                          <a:effectLst/>
                          <a:latin typeface="仿宋" panose="02010609060101010101" pitchFamily="49" charset="-122"/>
                          <a:ea typeface="仿宋" panose="02010609060101010101" pitchFamily="49" charset="-122"/>
                        </a:rPr>
                        <a:t>91,000.00 </a:t>
                      </a:r>
                    </a:p>
                  </a:txBody>
                  <a:tcPr marL="0" marR="0" marT="0"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r" fontAlgn="ctr"/>
                      <a:r>
                        <a:rPr lang="zh-CN" altLang="en-US" sz="1100" b="0" i="0" u="none" strike="noStrike" dirty="0">
                          <a:solidFill>
                            <a:srgbClr val="000000"/>
                          </a:solidFill>
                          <a:effectLst/>
                          <a:latin typeface="仿宋" panose="02010609060101010101" pitchFamily="49" charset="-122"/>
                          <a:ea typeface="仿宋" panose="02010609060101010101" pitchFamily="49" charset="-122"/>
                        </a:rPr>
                        <a:t>  </a:t>
                      </a:r>
                      <a:r>
                        <a:rPr lang="en-US" altLang="zh-CN" sz="1100" b="0" i="0" u="none" strike="noStrike" dirty="0">
                          <a:solidFill>
                            <a:srgbClr val="000000"/>
                          </a:solidFill>
                          <a:effectLst/>
                          <a:latin typeface="仿宋" panose="02010609060101010101" pitchFamily="49" charset="-122"/>
                          <a:ea typeface="仿宋" panose="02010609060101010101" pitchFamily="49" charset="-122"/>
                        </a:rPr>
                        <a:t>110,000.00 </a:t>
                      </a:r>
                    </a:p>
                  </a:txBody>
                  <a:tcPr marL="0" marR="0" marT="0"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988045511"/>
                  </a:ext>
                </a:extLst>
              </a:tr>
            </a:tbl>
          </a:graphicData>
        </a:graphic>
      </p:graphicFrame>
    </p:spTree>
    <p:extLst>
      <p:ext uri="{BB962C8B-B14F-4D97-AF65-F5344CB8AC3E}">
        <p14:creationId xmlns:p14="http://schemas.microsoft.com/office/powerpoint/2010/main" val="27582547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546181-3F3C-4279-8B65-4AF55AFC4C02}"/>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六、财务预测及回报分析</a:t>
            </a:r>
            <a:r>
              <a:rPr lang="en-US" altLang="zh-CN" sz="2400" dirty="0">
                <a:solidFill>
                  <a:schemeClr val="bg1">
                    <a:lumMod val="50000"/>
                  </a:schemeClr>
                </a:solidFill>
              </a:rPr>
              <a:t>|</a:t>
            </a:r>
            <a:r>
              <a:rPr lang="zh-CN" altLang="en-US" sz="2000" dirty="0"/>
              <a:t>财务预测</a:t>
            </a:r>
            <a:endParaRPr lang="en-US" altLang="zh-CN" sz="2400" dirty="0"/>
          </a:p>
        </p:txBody>
      </p:sp>
      <p:sp>
        <p:nvSpPr>
          <p:cNvPr id="6" name="Rectangle 3">
            <a:extLst>
              <a:ext uri="{FF2B5EF4-FFF2-40B4-BE49-F238E27FC236}">
                <a16:creationId xmlns:a16="http://schemas.microsoft.com/office/drawing/2014/main" id="{51906868-8F7B-477F-AECD-189AC8423B24}"/>
              </a:ext>
            </a:extLst>
          </p:cNvPr>
          <p:cNvSpPr txBox="1">
            <a:spLocks noChangeArrowheads="1"/>
          </p:cNvSpPr>
          <p:nvPr/>
        </p:nvSpPr>
        <p:spPr>
          <a:xfrm>
            <a:off x="457201" y="411600"/>
            <a:ext cx="7499030" cy="1368095"/>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indent="180000">
              <a:lnSpc>
                <a:spcPct val="150000"/>
              </a:lnSpc>
              <a:buSzPct val="70000"/>
              <a:buBlip>
                <a:blip r:embed="rId3"/>
              </a:buBlip>
            </a:pPr>
            <a:r>
              <a:rPr lang="zh-CN" altLang="en-US" sz="1200" dirty="0">
                <a:latin typeface="仿宋" panose="02010609060101010101" pitchFamily="49" charset="-122"/>
                <a:ea typeface="仿宋" panose="02010609060101010101" pitchFamily="49" charset="-122"/>
              </a:rPr>
              <a:t>根据企业财务数据、客户访谈、行业环境等综合分析：</a:t>
            </a:r>
            <a:endParaRPr lang="en-US" altLang="zh-CN" sz="1200" dirty="0">
              <a:latin typeface="仿宋" panose="02010609060101010101" pitchFamily="49" charset="-122"/>
              <a:ea typeface="仿宋" panose="02010609060101010101" pitchFamily="49" charset="-122"/>
            </a:endParaRPr>
          </a:p>
          <a:p>
            <a:pPr marL="288000" lvl="1">
              <a:lnSpc>
                <a:spcPct val="150000"/>
              </a:lnSpc>
              <a:buSzPct val="70000"/>
            </a:pPr>
            <a:r>
              <a:rPr lang="en-US" altLang="zh-CN" sz="1050" dirty="0">
                <a:latin typeface="仿宋" panose="02010609060101010101" pitchFamily="49" charset="-122"/>
                <a:ea typeface="仿宋" panose="02010609060101010101" pitchFamily="49" charset="-122"/>
              </a:rPr>
              <a:t>2021</a:t>
            </a:r>
            <a:r>
              <a:rPr lang="zh-CN" altLang="en-US" sz="1050" dirty="0">
                <a:latin typeface="仿宋" panose="02010609060101010101" pitchFamily="49" charset="-122"/>
                <a:ea typeface="仿宋" panose="02010609060101010101" pitchFamily="49" charset="-122"/>
              </a:rPr>
              <a:t>年营业收入根据公司订单、产能情况预测：</a:t>
            </a:r>
            <a:r>
              <a:rPr lang="zh-CN" altLang="zh-CN" sz="1050" dirty="0">
                <a:latin typeface="仿宋" panose="02010609060101010101" pitchFamily="49" charset="-122"/>
                <a:ea typeface="仿宋" panose="02010609060101010101" pitchFamily="49" charset="-122"/>
              </a:rPr>
              <a:t>全年累计营收为</a:t>
            </a:r>
            <a:r>
              <a:rPr lang="en-US" altLang="zh-CN" sz="1050" dirty="0">
                <a:latin typeface="仿宋" panose="02010609060101010101" pitchFamily="49" charset="-122"/>
                <a:ea typeface="仿宋" panose="02010609060101010101" pitchFamily="49" charset="-122"/>
              </a:rPr>
              <a:t>1.65</a:t>
            </a:r>
            <a:r>
              <a:rPr lang="zh-CN" altLang="zh-CN" sz="1050" dirty="0">
                <a:latin typeface="仿宋" panose="02010609060101010101" pitchFamily="49" charset="-122"/>
                <a:ea typeface="仿宋" panose="02010609060101010101" pitchFamily="49" charset="-122"/>
              </a:rPr>
              <a:t>亿元，对应的营收增长率为</a:t>
            </a:r>
            <a:r>
              <a:rPr lang="en-US" altLang="zh-CN" sz="1050" dirty="0">
                <a:latin typeface="仿宋" panose="02010609060101010101" pitchFamily="49" charset="-122"/>
                <a:ea typeface="仿宋" panose="02010609060101010101" pitchFamily="49" charset="-122"/>
              </a:rPr>
              <a:t>544%</a:t>
            </a:r>
            <a:r>
              <a:rPr lang="zh-CN" altLang="zh-CN" sz="1050" dirty="0">
                <a:latin typeface="仿宋" panose="02010609060101010101" pitchFamily="49" charset="-122"/>
                <a:ea typeface="仿宋" panose="02010609060101010101" pitchFamily="49" charset="-122"/>
              </a:rPr>
              <a:t>。</a:t>
            </a:r>
            <a:endParaRPr lang="en-US" altLang="zh-CN" sz="1050" dirty="0">
              <a:latin typeface="仿宋" panose="02010609060101010101" pitchFamily="49" charset="-122"/>
              <a:ea typeface="仿宋" panose="02010609060101010101" pitchFamily="49" charset="-122"/>
            </a:endParaRPr>
          </a:p>
          <a:p>
            <a:pPr marL="288000" lvl="1">
              <a:lnSpc>
                <a:spcPct val="150000"/>
              </a:lnSpc>
              <a:buSzPct val="70000"/>
            </a:pPr>
            <a:r>
              <a:rPr lang="en-US" altLang="zh-CN" sz="1050" dirty="0">
                <a:latin typeface="仿宋" panose="02010609060101010101" pitchFamily="49" charset="-122"/>
                <a:ea typeface="仿宋" panose="02010609060101010101" pitchFamily="49" charset="-122"/>
              </a:rPr>
              <a:t>2022</a:t>
            </a:r>
            <a:r>
              <a:rPr lang="zh-CN" altLang="en-US" sz="1050" dirty="0">
                <a:latin typeface="仿宋" panose="02010609060101010101" pitchFamily="49" charset="-122"/>
                <a:ea typeface="仿宋" panose="02010609060101010101" pitchFamily="49" charset="-122"/>
              </a:rPr>
              <a:t>年</a:t>
            </a:r>
            <a:r>
              <a:rPr lang="en-US" altLang="zh-CN" sz="1050" dirty="0">
                <a:latin typeface="仿宋" panose="02010609060101010101" pitchFamily="49" charset="-122"/>
                <a:ea typeface="仿宋" panose="02010609060101010101" pitchFamily="49" charset="-122"/>
              </a:rPr>
              <a:t>-2025</a:t>
            </a:r>
            <a:r>
              <a:rPr lang="zh-CN" altLang="en-US" sz="1050" dirty="0">
                <a:latin typeface="仿宋" panose="02010609060101010101" pitchFamily="49" charset="-122"/>
                <a:ea typeface="仿宋" panose="02010609060101010101" pitchFamily="49" charset="-122"/>
              </a:rPr>
              <a:t>年营业收入增速为</a:t>
            </a:r>
            <a:r>
              <a:rPr lang="en-US" altLang="zh-CN" sz="1050" b="1" dirty="0">
                <a:latin typeface="仿宋" panose="02010609060101010101" pitchFamily="49" charset="-122"/>
                <a:ea typeface="仿宋" panose="02010609060101010101" pitchFamily="49" charset="-122"/>
              </a:rPr>
              <a:t>160%</a:t>
            </a:r>
            <a:r>
              <a:rPr lang="zh-CN" altLang="zh-CN" sz="1050" b="1" dirty="0">
                <a:latin typeface="仿宋" panose="02010609060101010101" pitchFamily="49" charset="-122"/>
                <a:ea typeface="仿宋" panose="02010609060101010101" pitchFamily="49" charset="-122"/>
              </a:rPr>
              <a:t>、</a:t>
            </a:r>
            <a:r>
              <a:rPr lang="en-US" altLang="zh-CN" sz="1050" b="1" dirty="0">
                <a:latin typeface="仿宋" panose="02010609060101010101" pitchFamily="49" charset="-122"/>
                <a:ea typeface="仿宋" panose="02010609060101010101" pitchFamily="49" charset="-122"/>
              </a:rPr>
              <a:t>65%</a:t>
            </a:r>
            <a:r>
              <a:rPr lang="zh-CN" altLang="zh-CN" sz="1050" b="1" dirty="0">
                <a:latin typeface="仿宋" panose="02010609060101010101" pitchFamily="49" charset="-122"/>
                <a:ea typeface="仿宋" panose="02010609060101010101" pitchFamily="49" charset="-122"/>
              </a:rPr>
              <a:t>、</a:t>
            </a:r>
            <a:r>
              <a:rPr lang="en-US" altLang="zh-CN" sz="1050" b="1" dirty="0">
                <a:latin typeface="仿宋" panose="02010609060101010101" pitchFamily="49" charset="-122"/>
                <a:ea typeface="仿宋" panose="02010609060101010101" pitchFamily="49" charset="-122"/>
              </a:rPr>
              <a:t>38%</a:t>
            </a:r>
            <a:r>
              <a:rPr lang="zh-CN" altLang="zh-CN" sz="1050" b="1" dirty="0">
                <a:latin typeface="仿宋" panose="02010609060101010101" pitchFamily="49" charset="-122"/>
                <a:ea typeface="仿宋" panose="02010609060101010101" pitchFamily="49" charset="-122"/>
              </a:rPr>
              <a:t>和</a:t>
            </a:r>
            <a:r>
              <a:rPr lang="en-US" altLang="zh-CN" sz="1050" b="1" dirty="0">
                <a:latin typeface="仿宋" panose="02010609060101010101" pitchFamily="49" charset="-122"/>
                <a:ea typeface="仿宋" panose="02010609060101010101" pitchFamily="49" charset="-122"/>
              </a:rPr>
              <a:t>25% </a:t>
            </a:r>
            <a:r>
              <a:rPr lang="zh-CN" altLang="en-US" sz="1050" dirty="0">
                <a:latin typeface="仿宋" panose="02010609060101010101" pitchFamily="49" charset="-122"/>
                <a:ea typeface="仿宋" panose="02010609060101010101" pitchFamily="49" charset="-122"/>
              </a:rPr>
              <a:t>；</a:t>
            </a:r>
            <a:endParaRPr lang="en-US" altLang="zh-CN" sz="1050" dirty="0">
              <a:latin typeface="仿宋" panose="02010609060101010101" pitchFamily="49" charset="-122"/>
              <a:ea typeface="仿宋" panose="02010609060101010101" pitchFamily="49" charset="-122"/>
            </a:endParaRPr>
          </a:p>
          <a:p>
            <a:pPr marL="288000" lvl="1">
              <a:lnSpc>
                <a:spcPct val="150000"/>
              </a:lnSpc>
              <a:buSzPct val="70000"/>
            </a:pPr>
            <a:r>
              <a:rPr lang="en-US" altLang="zh-CN" sz="1050" dirty="0">
                <a:latin typeface="仿宋" panose="02010609060101010101" pitchFamily="49" charset="-122"/>
                <a:ea typeface="仿宋" panose="02010609060101010101" pitchFamily="49" charset="-122"/>
              </a:rPr>
              <a:t>2021</a:t>
            </a:r>
            <a:r>
              <a:rPr lang="zh-CN" altLang="en-US" sz="1050" dirty="0">
                <a:latin typeface="仿宋" panose="02010609060101010101" pitchFamily="49" charset="-122"/>
                <a:ea typeface="仿宋" panose="02010609060101010101" pitchFamily="49" charset="-122"/>
              </a:rPr>
              <a:t>年至</a:t>
            </a:r>
            <a:r>
              <a:rPr lang="en-US" altLang="zh-CN" sz="1050" dirty="0">
                <a:latin typeface="仿宋" panose="02010609060101010101" pitchFamily="49" charset="-122"/>
                <a:ea typeface="仿宋" panose="02010609060101010101" pitchFamily="49" charset="-122"/>
              </a:rPr>
              <a:t>2025</a:t>
            </a:r>
            <a:r>
              <a:rPr lang="zh-CN" altLang="en-US" sz="1050" dirty="0">
                <a:latin typeface="仿宋" panose="02010609060101010101" pitchFamily="49" charset="-122"/>
                <a:ea typeface="仿宋" panose="02010609060101010101" pitchFamily="49" charset="-122"/>
              </a:rPr>
              <a:t>年主营业务毛利率为</a:t>
            </a:r>
            <a:r>
              <a:rPr lang="en-US" altLang="zh-CN" sz="1050" dirty="0">
                <a:latin typeface="仿宋" panose="02010609060101010101" pitchFamily="49" charset="-122"/>
                <a:ea typeface="仿宋" panose="02010609060101010101" pitchFamily="49" charset="-122"/>
              </a:rPr>
              <a:t>43.00%</a:t>
            </a:r>
            <a:r>
              <a:rPr lang="zh-CN" altLang="en-US" sz="1050" dirty="0">
                <a:latin typeface="仿宋" panose="02010609060101010101" pitchFamily="49" charset="-122"/>
                <a:ea typeface="仿宋" panose="02010609060101010101" pitchFamily="49" charset="-122"/>
              </a:rPr>
              <a:t>、</a:t>
            </a:r>
            <a:r>
              <a:rPr lang="en-US" altLang="zh-CN" sz="1050" dirty="0">
                <a:latin typeface="仿宋" panose="02010609060101010101" pitchFamily="49" charset="-122"/>
                <a:ea typeface="仿宋" panose="02010609060101010101" pitchFamily="49" charset="-122"/>
              </a:rPr>
              <a:t>45.00%</a:t>
            </a:r>
            <a:r>
              <a:rPr lang="zh-CN" altLang="en-US" sz="1050" dirty="0">
                <a:latin typeface="仿宋" panose="02010609060101010101" pitchFamily="49" charset="-122"/>
                <a:ea typeface="仿宋" panose="02010609060101010101" pitchFamily="49" charset="-122"/>
              </a:rPr>
              <a:t>、</a:t>
            </a:r>
            <a:r>
              <a:rPr lang="en-US" altLang="zh-CN" sz="1050" dirty="0">
                <a:latin typeface="仿宋" panose="02010609060101010101" pitchFamily="49" charset="-122"/>
                <a:ea typeface="仿宋" panose="02010609060101010101" pitchFamily="49" charset="-122"/>
              </a:rPr>
              <a:t>45.00%</a:t>
            </a:r>
            <a:r>
              <a:rPr lang="zh-CN" altLang="en-US" sz="1050" dirty="0">
                <a:latin typeface="仿宋" panose="02010609060101010101" pitchFamily="49" charset="-122"/>
                <a:ea typeface="仿宋" panose="02010609060101010101" pitchFamily="49" charset="-122"/>
              </a:rPr>
              <a:t>、</a:t>
            </a:r>
            <a:r>
              <a:rPr lang="en-US" altLang="zh-CN" sz="1050" dirty="0">
                <a:latin typeface="仿宋" panose="02010609060101010101" pitchFamily="49" charset="-122"/>
                <a:ea typeface="仿宋" panose="02010609060101010101" pitchFamily="49" charset="-122"/>
              </a:rPr>
              <a:t>46.00</a:t>
            </a:r>
            <a:r>
              <a:rPr lang="zh-CN" altLang="en-US" sz="1050" dirty="0">
                <a:latin typeface="仿宋" panose="02010609060101010101" pitchFamily="49" charset="-122"/>
                <a:ea typeface="仿宋" panose="02010609060101010101" pitchFamily="49" charset="-122"/>
              </a:rPr>
              <a:t>和</a:t>
            </a:r>
            <a:r>
              <a:rPr lang="en-US" altLang="zh-CN" sz="1050" dirty="0">
                <a:latin typeface="仿宋" panose="02010609060101010101" pitchFamily="49" charset="-122"/>
                <a:ea typeface="仿宋" panose="02010609060101010101" pitchFamily="49" charset="-122"/>
              </a:rPr>
              <a:t>48.00%</a:t>
            </a:r>
            <a:r>
              <a:rPr lang="zh-CN" altLang="en-US" sz="1050" dirty="0">
                <a:latin typeface="仿宋" panose="02010609060101010101" pitchFamily="49" charset="-122"/>
                <a:ea typeface="仿宋" panose="02010609060101010101" pitchFamily="49" charset="-122"/>
              </a:rPr>
              <a:t>。</a:t>
            </a:r>
            <a:endParaRPr lang="en-US" altLang="zh-CN" sz="1050" dirty="0">
              <a:latin typeface="仿宋" panose="02010609060101010101" pitchFamily="49" charset="-122"/>
              <a:ea typeface="仿宋" panose="02010609060101010101" pitchFamily="49" charset="-122"/>
            </a:endParaRPr>
          </a:p>
          <a:p>
            <a:pPr marL="288000" lvl="1">
              <a:lnSpc>
                <a:spcPct val="150000"/>
              </a:lnSpc>
              <a:buSzPct val="70000"/>
            </a:pPr>
            <a:endParaRPr lang="zh-CN" altLang="zh-CN" sz="1050" dirty="0">
              <a:latin typeface="仿宋" panose="02010609060101010101" pitchFamily="49" charset="-122"/>
              <a:ea typeface="仿宋" panose="02010609060101010101" pitchFamily="49" charset="-122"/>
            </a:endParaRPr>
          </a:p>
        </p:txBody>
      </p:sp>
      <p:graphicFrame>
        <p:nvGraphicFramePr>
          <p:cNvPr id="4" name="表格 3">
            <a:extLst>
              <a:ext uri="{FF2B5EF4-FFF2-40B4-BE49-F238E27FC236}">
                <a16:creationId xmlns:a16="http://schemas.microsoft.com/office/drawing/2014/main" id="{95615779-3C27-4ADD-965C-5FAC8617DC3D}"/>
              </a:ext>
            </a:extLst>
          </p:cNvPr>
          <p:cNvGraphicFramePr>
            <a:graphicFrameLocks noGrp="1"/>
          </p:cNvGraphicFramePr>
          <p:nvPr>
            <p:extLst>
              <p:ext uri="{D42A27DB-BD31-4B8C-83A1-F6EECF244321}">
                <p14:modId xmlns:p14="http://schemas.microsoft.com/office/powerpoint/2010/main" val="467229091"/>
              </p:ext>
            </p:extLst>
          </p:nvPr>
        </p:nvGraphicFramePr>
        <p:xfrm>
          <a:off x="1331775" y="1851700"/>
          <a:ext cx="6408446" cy="2567967"/>
        </p:xfrm>
        <a:graphic>
          <a:graphicData uri="http://schemas.openxmlformats.org/drawingml/2006/table">
            <a:tbl>
              <a:tblPr/>
              <a:tblGrid>
                <a:gridCol w="1159900">
                  <a:extLst>
                    <a:ext uri="{9D8B030D-6E8A-4147-A177-3AD203B41FA5}">
                      <a16:colId xmlns:a16="http://schemas.microsoft.com/office/drawing/2014/main" val="3571106356"/>
                    </a:ext>
                  </a:extLst>
                </a:gridCol>
                <a:gridCol w="855426">
                  <a:extLst>
                    <a:ext uri="{9D8B030D-6E8A-4147-A177-3AD203B41FA5}">
                      <a16:colId xmlns:a16="http://schemas.microsoft.com/office/drawing/2014/main" val="520055871"/>
                    </a:ext>
                  </a:extLst>
                </a:gridCol>
                <a:gridCol w="855426">
                  <a:extLst>
                    <a:ext uri="{9D8B030D-6E8A-4147-A177-3AD203B41FA5}">
                      <a16:colId xmlns:a16="http://schemas.microsoft.com/office/drawing/2014/main" val="2176271210"/>
                    </a:ext>
                  </a:extLst>
                </a:gridCol>
                <a:gridCol w="855426">
                  <a:extLst>
                    <a:ext uri="{9D8B030D-6E8A-4147-A177-3AD203B41FA5}">
                      <a16:colId xmlns:a16="http://schemas.microsoft.com/office/drawing/2014/main" val="438254314"/>
                    </a:ext>
                  </a:extLst>
                </a:gridCol>
                <a:gridCol w="855426">
                  <a:extLst>
                    <a:ext uri="{9D8B030D-6E8A-4147-A177-3AD203B41FA5}">
                      <a16:colId xmlns:a16="http://schemas.microsoft.com/office/drawing/2014/main" val="32612405"/>
                    </a:ext>
                  </a:extLst>
                </a:gridCol>
                <a:gridCol w="913421">
                  <a:extLst>
                    <a:ext uri="{9D8B030D-6E8A-4147-A177-3AD203B41FA5}">
                      <a16:colId xmlns:a16="http://schemas.microsoft.com/office/drawing/2014/main" val="650937059"/>
                    </a:ext>
                  </a:extLst>
                </a:gridCol>
                <a:gridCol w="913421">
                  <a:extLst>
                    <a:ext uri="{9D8B030D-6E8A-4147-A177-3AD203B41FA5}">
                      <a16:colId xmlns:a16="http://schemas.microsoft.com/office/drawing/2014/main" val="3705434681"/>
                    </a:ext>
                  </a:extLst>
                </a:gridCol>
              </a:tblGrid>
              <a:tr h="176949">
                <a:tc>
                  <a:txBody>
                    <a:bodyPr/>
                    <a:lstStyle/>
                    <a:p>
                      <a:pPr algn="ctr" fontAlgn="ctr"/>
                      <a:r>
                        <a:rPr lang="zh-CN" altLang="en-US" sz="1050" b="1" i="0" u="none" strike="noStrike" dirty="0">
                          <a:solidFill>
                            <a:srgbClr val="000000"/>
                          </a:solidFill>
                          <a:effectLst/>
                          <a:latin typeface="仿宋" panose="02010609060101010101" pitchFamily="49" charset="-122"/>
                          <a:ea typeface="仿宋" panose="02010609060101010101" pitchFamily="49" charset="-122"/>
                        </a:rPr>
                        <a:t>项 目</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en-US" altLang="zh-CN" sz="1050" b="1" i="0" u="none" strike="noStrike">
                          <a:solidFill>
                            <a:srgbClr val="000000"/>
                          </a:solidFill>
                          <a:effectLst/>
                          <a:latin typeface="仿宋" panose="02010609060101010101" pitchFamily="49" charset="-122"/>
                          <a:ea typeface="仿宋" panose="02010609060101010101" pitchFamily="49" charset="-122"/>
                        </a:rPr>
                        <a:t>2020</a:t>
                      </a:r>
                      <a:r>
                        <a:rPr lang="zh-CN" altLang="en-US" sz="1050" b="1" i="0" u="none" strike="noStrike">
                          <a:solidFill>
                            <a:srgbClr val="000000"/>
                          </a:solidFill>
                          <a:effectLst/>
                          <a:latin typeface="仿宋" panose="02010609060101010101" pitchFamily="49" charset="-122"/>
                          <a:ea typeface="仿宋" panose="02010609060101010101" pitchFamily="49" charset="-122"/>
                        </a:rPr>
                        <a:t>年</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en-US" altLang="zh-CN" sz="1050" b="1" i="0" u="none" strike="noStrike">
                          <a:solidFill>
                            <a:srgbClr val="000000"/>
                          </a:solidFill>
                          <a:effectLst/>
                          <a:latin typeface="仿宋" panose="02010609060101010101" pitchFamily="49" charset="-122"/>
                          <a:ea typeface="仿宋" panose="02010609060101010101" pitchFamily="49" charset="-122"/>
                        </a:rPr>
                        <a:t>2021</a:t>
                      </a:r>
                      <a:r>
                        <a:rPr lang="zh-CN" altLang="en-US" sz="1050" b="1" i="0" u="none" strike="noStrike">
                          <a:solidFill>
                            <a:srgbClr val="000000"/>
                          </a:solidFill>
                          <a:effectLst/>
                          <a:latin typeface="仿宋" panose="02010609060101010101" pitchFamily="49" charset="-122"/>
                          <a:ea typeface="仿宋" panose="02010609060101010101" pitchFamily="49" charset="-122"/>
                        </a:rPr>
                        <a:t>年</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en-US" altLang="zh-CN" sz="1050" b="1" i="0" u="none" strike="noStrike">
                          <a:solidFill>
                            <a:srgbClr val="000000"/>
                          </a:solidFill>
                          <a:effectLst/>
                          <a:latin typeface="仿宋" panose="02010609060101010101" pitchFamily="49" charset="-122"/>
                          <a:ea typeface="仿宋" panose="02010609060101010101" pitchFamily="49" charset="-122"/>
                        </a:rPr>
                        <a:t>2022</a:t>
                      </a:r>
                      <a:r>
                        <a:rPr lang="zh-CN" altLang="en-US" sz="1050" b="1" i="0" u="none" strike="noStrike">
                          <a:solidFill>
                            <a:srgbClr val="000000"/>
                          </a:solidFill>
                          <a:effectLst/>
                          <a:latin typeface="仿宋" panose="02010609060101010101" pitchFamily="49" charset="-122"/>
                          <a:ea typeface="仿宋" panose="02010609060101010101" pitchFamily="49" charset="-122"/>
                        </a:rPr>
                        <a:t>年</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en-US" altLang="zh-CN" sz="1050" b="1" i="0" u="none" strike="noStrike" dirty="0">
                          <a:solidFill>
                            <a:srgbClr val="000000"/>
                          </a:solidFill>
                          <a:effectLst/>
                          <a:latin typeface="仿宋" panose="02010609060101010101" pitchFamily="49" charset="-122"/>
                          <a:ea typeface="仿宋" panose="02010609060101010101" pitchFamily="49" charset="-122"/>
                        </a:rPr>
                        <a:t>2023</a:t>
                      </a:r>
                      <a:r>
                        <a:rPr lang="zh-CN" altLang="en-US" sz="1050" b="1" i="0" u="none" strike="noStrike" dirty="0">
                          <a:solidFill>
                            <a:srgbClr val="000000"/>
                          </a:solidFill>
                          <a:effectLst/>
                          <a:latin typeface="仿宋" panose="02010609060101010101" pitchFamily="49" charset="-122"/>
                          <a:ea typeface="仿宋" panose="02010609060101010101" pitchFamily="49" charset="-122"/>
                        </a:rPr>
                        <a:t>年</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en-US" altLang="zh-CN" sz="1050" b="1" i="0" u="none" strike="noStrike">
                          <a:solidFill>
                            <a:srgbClr val="000000"/>
                          </a:solidFill>
                          <a:effectLst/>
                          <a:latin typeface="仿宋" panose="02010609060101010101" pitchFamily="49" charset="-122"/>
                          <a:ea typeface="仿宋" panose="02010609060101010101" pitchFamily="49" charset="-122"/>
                        </a:rPr>
                        <a:t>2024</a:t>
                      </a:r>
                      <a:r>
                        <a:rPr lang="zh-CN" altLang="en-US" sz="1050" b="1" i="0" u="none" strike="noStrike">
                          <a:solidFill>
                            <a:srgbClr val="000000"/>
                          </a:solidFill>
                          <a:effectLst/>
                          <a:latin typeface="仿宋" panose="02010609060101010101" pitchFamily="49" charset="-122"/>
                          <a:ea typeface="仿宋" panose="02010609060101010101" pitchFamily="49" charset="-122"/>
                        </a:rPr>
                        <a:t>年</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tc>
                  <a:txBody>
                    <a:bodyPr/>
                    <a:lstStyle/>
                    <a:p>
                      <a:pPr algn="ctr" fontAlgn="ctr"/>
                      <a:r>
                        <a:rPr lang="en-US" altLang="zh-CN" sz="1050" b="1" i="0" u="none" strike="noStrike">
                          <a:solidFill>
                            <a:srgbClr val="000000"/>
                          </a:solidFill>
                          <a:effectLst/>
                          <a:latin typeface="仿宋" panose="02010609060101010101" pitchFamily="49" charset="-122"/>
                          <a:ea typeface="仿宋" panose="02010609060101010101" pitchFamily="49" charset="-122"/>
                        </a:rPr>
                        <a:t>2025</a:t>
                      </a:r>
                      <a:r>
                        <a:rPr lang="zh-CN" altLang="en-US" sz="1050" b="1" i="0" u="none" strike="noStrike">
                          <a:solidFill>
                            <a:srgbClr val="000000"/>
                          </a:solidFill>
                          <a:effectLst/>
                          <a:latin typeface="仿宋" panose="02010609060101010101" pitchFamily="49" charset="-122"/>
                          <a:ea typeface="仿宋" panose="02010609060101010101" pitchFamily="49" charset="-122"/>
                        </a:rPr>
                        <a:t>年</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solidFill>
                      <a:srgbClr val="DDEBF7"/>
                    </a:solidFill>
                  </a:tcPr>
                </a:tc>
                <a:extLst>
                  <a:ext uri="{0D108BD9-81ED-4DB2-BD59-A6C34878D82A}">
                    <a16:rowId xmlns:a16="http://schemas.microsoft.com/office/drawing/2014/main" val="701654242"/>
                  </a:ext>
                </a:extLst>
              </a:tr>
              <a:tr h="170313">
                <a:tc>
                  <a:txBody>
                    <a:bodyPr/>
                    <a:lstStyle/>
                    <a:p>
                      <a:pPr algn="l"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一、营业收入</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2,561.82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dirty="0">
                          <a:solidFill>
                            <a:srgbClr val="000000"/>
                          </a:solidFill>
                          <a:effectLst/>
                          <a:latin typeface="仿宋" panose="02010609060101010101" pitchFamily="49" charset="-122"/>
                          <a:ea typeface="仿宋" panose="02010609060101010101" pitchFamily="49" charset="-122"/>
                        </a:rPr>
                        <a:t>  </a:t>
                      </a:r>
                      <a:r>
                        <a:rPr lang="en-US" altLang="zh-CN" sz="1050" b="1" i="0" u="none" strike="noStrike" kern="1200" dirty="0">
                          <a:solidFill>
                            <a:srgbClr val="FF0000"/>
                          </a:solidFill>
                          <a:effectLst/>
                          <a:latin typeface="仿宋" panose="02010609060101010101" pitchFamily="49" charset="-122"/>
                          <a:ea typeface="仿宋" panose="02010609060101010101" pitchFamily="49" charset="-122"/>
                          <a:cs typeface="+mn-cs"/>
                        </a:rPr>
                        <a:t>16,500.00</a:t>
                      </a:r>
                      <a:r>
                        <a:rPr lang="en-US" altLang="zh-CN" sz="1050" b="0" i="0" u="none" strike="noStrike" dirty="0">
                          <a:solidFill>
                            <a:srgbClr val="000000"/>
                          </a:solidFill>
                          <a:effectLst/>
                          <a:latin typeface="仿宋" panose="02010609060101010101" pitchFamily="49" charset="-122"/>
                          <a:ea typeface="仿宋" panose="02010609060101010101" pitchFamily="49" charset="-122"/>
                        </a:rPr>
                        <a:t>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dirty="0">
                          <a:solidFill>
                            <a:srgbClr val="000000"/>
                          </a:solidFill>
                          <a:effectLst/>
                          <a:latin typeface="仿宋" panose="02010609060101010101" pitchFamily="49" charset="-122"/>
                          <a:ea typeface="仿宋" panose="02010609060101010101" pitchFamily="49" charset="-122"/>
                        </a:rPr>
                        <a:t>  </a:t>
                      </a:r>
                      <a:r>
                        <a:rPr lang="en-US" altLang="zh-CN" sz="1050" b="0" i="0" u="none" strike="noStrike" dirty="0">
                          <a:solidFill>
                            <a:srgbClr val="000000"/>
                          </a:solidFill>
                          <a:effectLst/>
                          <a:latin typeface="仿宋" panose="02010609060101010101" pitchFamily="49" charset="-122"/>
                          <a:ea typeface="仿宋" panose="02010609060101010101" pitchFamily="49" charset="-122"/>
                        </a:rPr>
                        <a:t>42,140.00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65,000.00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90,000.00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112,500.00 </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603566478"/>
                  </a:ext>
                </a:extLst>
              </a:tr>
              <a:tr h="170313">
                <a:tc>
                  <a:txBody>
                    <a:bodyPr/>
                    <a:lstStyle/>
                    <a:p>
                      <a:pPr algn="l"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 减</a:t>
                      </a:r>
                      <a:r>
                        <a:rPr lang="en-US" altLang="zh-CN" sz="1050" b="1" i="0" u="none" strike="noStrike">
                          <a:solidFill>
                            <a:srgbClr val="000000"/>
                          </a:solidFill>
                          <a:effectLst/>
                          <a:latin typeface="仿宋" panose="02010609060101010101" pitchFamily="49" charset="-122"/>
                          <a:ea typeface="仿宋" panose="02010609060101010101" pitchFamily="49" charset="-122"/>
                        </a:rPr>
                        <a:t>:</a:t>
                      </a:r>
                      <a:r>
                        <a:rPr lang="zh-CN" altLang="en-US" sz="1050" b="1" i="0" u="none" strike="noStrike">
                          <a:solidFill>
                            <a:srgbClr val="000000"/>
                          </a:solidFill>
                          <a:effectLst/>
                          <a:latin typeface="仿宋" panose="02010609060101010101" pitchFamily="49" charset="-122"/>
                          <a:ea typeface="仿宋" panose="02010609060101010101" pitchFamily="49" charset="-122"/>
                        </a:rPr>
                        <a:t>营业成本</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1,548.22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9,405.00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23,177.00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35,750.00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48,600.00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58,500.00 </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007133784"/>
                  </a:ext>
                </a:extLst>
              </a:tr>
              <a:tr h="170313">
                <a:tc>
                  <a:txBody>
                    <a:bodyPr/>
                    <a:lstStyle/>
                    <a:p>
                      <a:pPr algn="l"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  毛利率</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39.57%</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43.00%</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45.00%</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45.00%</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46.00%</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r" fontAlgn="ctr"/>
                      <a:r>
                        <a:rPr lang="en-US" altLang="zh-CN" sz="1050" b="0" i="0" u="none" strike="noStrike">
                          <a:solidFill>
                            <a:srgbClr val="000000"/>
                          </a:solidFill>
                          <a:effectLst/>
                          <a:latin typeface="仿宋" panose="02010609060101010101" pitchFamily="49" charset="-122"/>
                          <a:ea typeface="仿宋" panose="02010609060101010101" pitchFamily="49" charset="-122"/>
                        </a:rPr>
                        <a:t>48.00%</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242522951"/>
                  </a:ext>
                </a:extLst>
              </a:tr>
              <a:tr h="170313">
                <a:tc>
                  <a:txBody>
                    <a:bodyPr/>
                    <a:lstStyle/>
                    <a:p>
                      <a:pPr algn="l"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  销售费用</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920.86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936.00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567.90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700.00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798.00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900.00 </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316618521"/>
                  </a:ext>
                </a:extLst>
              </a:tr>
              <a:tr h="170313">
                <a:tc>
                  <a:txBody>
                    <a:bodyPr/>
                    <a:lstStyle/>
                    <a:p>
                      <a:pPr algn="l"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  管理费用</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353.13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520.20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772.20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1,120.30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1,049.60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1,200.00 </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4177829101"/>
                  </a:ext>
                </a:extLst>
              </a:tr>
              <a:tr h="170313">
                <a:tc>
                  <a:txBody>
                    <a:bodyPr/>
                    <a:lstStyle/>
                    <a:p>
                      <a:pPr algn="l"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  研发费用</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   </a:t>
                      </a:r>
                      <a:r>
                        <a:rPr lang="en-US" altLang="zh-CN" sz="1050" b="1" i="0" u="none" strike="noStrike">
                          <a:solidFill>
                            <a:srgbClr val="000000"/>
                          </a:solidFill>
                          <a:effectLst/>
                          <a:latin typeface="仿宋" panose="02010609060101010101" pitchFamily="49" charset="-122"/>
                          <a:ea typeface="仿宋" panose="02010609060101010101" pitchFamily="49" charset="-122"/>
                        </a:rPr>
                        <a:t>958.81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 </a:t>
                      </a:r>
                      <a:r>
                        <a:rPr lang="en-US" altLang="zh-CN" sz="1050" b="1" i="0" u="none" strike="noStrike">
                          <a:solidFill>
                            <a:srgbClr val="000000"/>
                          </a:solidFill>
                          <a:effectLst/>
                          <a:latin typeface="仿宋" panose="02010609060101010101" pitchFamily="49" charset="-122"/>
                          <a:ea typeface="仿宋" panose="02010609060101010101" pitchFamily="49" charset="-122"/>
                        </a:rPr>
                        <a:t>3,931.00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 </a:t>
                      </a:r>
                      <a:r>
                        <a:rPr lang="en-US" altLang="zh-CN" sz="1050" b="1" i="0" u="none" strike="noStrike">
                          <a:solidFill>
                            <a:srgbClr val="000000"/>
                          </a:solidFill>
                          <a:effectLst/>
                          <a:latin typeface="仿宋" panose="02010609060101010101" pitchFamily="49" charset="-122"/>
                          <a:ea typeface="仿宋" panose="02010609060101010101" pitchFamily="49" charset="-122"/>
                        </a:rPr>
                        <a:t>4,485.00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4,930.00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5,907.00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6,500.00 </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012397651"/>
                  </a:ext>
                </a:extLst>
              </a:tr>
              <a:tr h="170313">
                <a:tc>
                  <a:txBody>
                    <a:bodyPr/>
                    <a:lstStyle/>
                    <a:p>
                      <a:pPr algn="l"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  财务费用</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2.12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10.00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70.00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120.00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150.00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200.00 </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050517443"/>
                  </a:ext>
                </a:extLst>
              </a:tr>
              <a:tr h="170313">
                <a:tc>
                  <a:txBody>
                    <a:bodyPr/>
                    <a:lstStyle/>
                    <a:p>
                      <a:pPr algn="l"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  其他收益</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dirty="0">
                          <a:solidFill>
                            <a:srgbClr val="000000"/>
                          </a:solidFill>
                          <a:effectLst/>
                          <a:latin typeface="仿宋" panose="02010609060101010101" pitchFamily="49" charset="-122"/>
                          <a:ea typeface="仿宋" panose="02010609060101010101" pitchFamily="49" charset="-122"/>
                        </a:rPr>
                        <a:t>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715237190"/>
                  </a:ext>
                </a:extLst>
              </a:tr>
              <a:tr h="170313">
                <a:tc>
                  <a:txBody>
                    <a:bodyPr/>
                    <a:lstStyle/>
                    <a:p>
                      <a:pPr algn="l"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二、营业利润</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-1,221.31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1,697.80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13,067.90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22,379.70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33,495.40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45,200.00 </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736900903"/>
                  </a:ext>
                </a:extLst>
              </a:tr>
              <a:tr h="170313">
                <a:tc>
                  <a:txBody>
                    <a:bodyPr/>
                    <a:lstStyle/>
                    <a:p>
                      <a:pPr algn="l"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 加：营业外收入</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0.07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585787241"/>
                  </a:ext>
                </a:extLst>
              </a:tr>
              <a:tr h="170313">
                <a:tc>
                  <a:txBody>
                    <a:bodyPr/>
                    <a:lstStyle/>
                    <a:p>
                      <a:pPr algn="l"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 减：营业外支出</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2.60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3774848902"/>
                  </a:ext>
                </a:extLst>
              </a:tr>
              <a:tr h="170313">
                <a:tc>
                  <a:txBody>
                    <a:bodyPr/>
                    <a:lstStyle/>
                    <a:p>
                      <a:pPr algn="l"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三、利润总额</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-1,223.84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1,697.80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13,067.90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22,379.70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33,495.40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45,200.00 </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903351726"/>
                  </a:ext>
                </a:extLst>
              </a:tr>
              <a:tr h="170313">
                <a:tc>
                  <a:txBody>
                    <a:bodyPr/>
                    <a:lstStyle/>
                    <a:p>
                      <a:pPr algn="l" fontAlgn="ctr"/>
                      <a:r>
                        <a:rPr lang="zh-CN" altLang="en-US" sz="1050" b="1" i="0" u="none" strike="noStrike">
                          <a:solidFill>
                            <a:srgbClr val="000000"/>
                          </a:solidFill>
                          <a:effectLst/>
                          <a:latin typeface="仿宋" panose="02010609060101010101" pitchFamily="49" charset="-122"/>
                          <a:ea typeface="仿宋" panose="02010609060101010101" pitchFamily="49" charset="-122"/>
                        </a:rPr>
                        <a:t> 减：所得税费用</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26.72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78.20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2,156.20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3,692.65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5,526.74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7,458.00 </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635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466943572"/>
                  </a:ext>
                </a:extLst>
              </a:tr>
              <a:tr h="176949">
                <a:tc>
                  <a:txBody>
                    <a:bodyPr/>
                    <a:lstStyle/>
                    <a:p>
                      <a:pPr algn="l" fontAlgn="ctr"/>
                      <a:r>
                        <a:rPr lang="zh-CN" altLang="en-US" sz="1050" b="1" i="0" u="none" strike="noStrike" dirty="0">
                          <a:solidFill>
                            <a:srgbClr val="000000"/>
                          </a:solidFill>
                          <a:effectLst/>
                          <a:latin typeface="仿宋" panose="02010609060101010101" pitchFamily="49" charset="-122"/>
                          <a:ea typeface="仿宋" panose="02010609060101010101" pitchFamily="49" charset="-122"/>
                        </a:rPr>
                        <a:t>四、净利润</a:t>
                      </a:r>
                    </a:p>
                  </a:txBody>
                  <a:tcPr marL="9525" marR="9525" marT="9525" marB="0" anchor="ctr">
                    <a:lnL w="1270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-1,250.57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fontAlgn="ctr"/>
                      <a:r>
                        <a:rPr lang="zh-CN" altLang="en-US" sz="1050" b="1" i="0" u="none" strike="noStrike" dirty="0">
                          <a:solidFill>
                            <a:srgbClr val="FF0000"/>
                          </a:solidFill>
                          <a:effectLst/>
                          <a:latin typeface="仿宋" panose="02010609060101010101" pitchFamily="49" charset="-122"/>
                          <a:ea typeface="仿宋" panose="02010609060101010101" pitchFamily="49" charset="-122"/>
                        </a:rPr>
                        <a:t>   </a:t>
                      </a:r>
                      <a:r>
                        <a:rPr lang="en-US" altLang="zh-CN" sz="1050" b="1" i="0" u="none" strike="noStrike" dirty="0">
                          <a:solidFill>
                            <a:srgbClr val="FF0000"/>
                          </a:solidFill>
                          <a:effectLst/>
                          <a:latin typeface="仿宋" panose="02010609060101010101" pitchFamily="49" charset="-122"/>
                          <a:ea typeface="仿宋" panose="02010609060101010101" pitchFamily="49" charset="-122"/>
                        </a:rPr>
                        <a:t>1,619.60</a:t>
                      </a:r>
                      <a:r>
                        <a:rPr lang="en-US" altLang="zh-CN" sz="1050" b="0" i="0" u="none" strike="noStrike" dirty="0">
                          <a:solidFill>
                            <a:srgbClr val="000000"/>
                          </a:solidFill>
                          <a:effectLst/>
                          <a:latin typeface="仿宋" panose="02010609060101010101" pitchFamily="49" charset="-122"/>
                          <a:ea typeface="仿宋" panose="02010609060101010101" pitchFamily="49" charset="-122"/>
                        </a:rPr>
                        <a:t>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dirty="0">
                          <a:solidFill>
                            <a:srgbClr val="000000"/>
                          </a:solidFill>
                          <a:effectLst/>
                          <a:latin typeface="仿宋" panose="02010609060101010101" pitchFamily="49" charset="-122"/>
                          <a:ea typeface="仿宋" panose="02010609060101010101" pitchFamily="49" charset="-122"/>
                        </a:rPr>
                        <a:t>  </a:t>
                      </a:r>
                      <a:r>
                        <a:rPr lang="en-US" altLang="zh-CN" sz="1050" b="0" i="0" u="none" strike="noStrike" dirty="0">
                          <a:solidFill>
                            <a:srgbClr val="FF0000"/>
                          </a:solidFill>
                          <a:effectLst/>
                          <a:latin typeface="仿宋" panose="02010609060101010101" pitchFamily="49" charset="-122"/>
                          <a:ea typeface="仿宋" panose="02010609060101010101" pitchFamily="49" charset="-122"/>
                        </a:rPr>
                        <a:t>10,911.70</a:t>
                      </a:r>
                      <a:r>
                        <a:rPr lang="en-US" altLang="zh-CN" sz="1050" b="0" i="0" u="none" strike="noStrike" dirty="0">
                          <a:solidFill>
                            <a:srgbClr val="000000"/>
                          </a:solidFill>
                          <a:effectLst/>
                          <a:latin typeface="仿宋" panose="02010609060101010101" pitchFamily="49" charset="-122"/>
                          <a:ea typeface="仿宋" panose="02010609060101010101" pitchFamily="49" charset="-122"/>
                        </a:rPr>
                        <a:t>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dirty="0">
                          <a:solidFill>
                            <a:srgbClr val="000000"/>
                          </a:solidFill>
                          <a:effectLst/>
                          <a:latin typeface="仿宋" panose="02010609060101010101" pitchFamily="49" charset="-122"/>
                          <a:ea typeface="仿宋" panose="02010609060101010101" pitchFamily="49" charset="-122"/>
                        </a:rPr>
                        <a:t>  </a:t>
                      </a:r>
                      <a:r>
                        <a:rPr lang="en-US" altLang="zh-CN" sz="1050" b="0" i="0" u="none" strike="noStrike" dirty="0">
                          <a:solidFill>
                            <a:srgbClr val="000000"/>
                          </a:solidFill>
                          <a:effectLst/>
                          <a:latin typeface="仿宋" panose="02010609060101010101" pitchFamily="49" charset="-122"/>
                          <a:ea typeface="仿宋" panose="02010609060101010101" pitchFamily="49" charset="-122"/>
                        </a:rPr>
                        <a:t>18,687.05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a:solidFill>
                            <a:srgbClr val="000000"/>
                          </a:solidFill>
                          <a:effectLst/>
                          <a:latin typeface="仿宋" panose="02010609060101010101" pitchFamily="49" charset="-122"/>
                          <a:ea typeface="仿宋" panose="02010609060101010101" pitchFamily="49" charset="-122"/>
                        </a:rPr>
                        <a:t>   </a:t>
                      </a:r>
                      <a:r>
                        <a:rPr lang="en-US" altLang="zh-CN" sz="1050" b="0" i="0" u="none" strike="noStrike">
                          <a:solidFill>
                            <a:srgbClr val="000000"/>
                          </a:solidFill>
                          <a:effectLst/>
                          <a:latin typeface="仿宋" panose="02010609060101010101" pitchFamily="49" charset="-122"/>
                          <a:ea typeface="仿宋" panose="02010609060101010101" pitchFamily="49" charset="-122"/>
                        </a:rPr>
                        <a:t>27,968.66 </a:t>
                      </a:r>
                    </a:p>
                  </a:txBody>
                  <a:tcPr marL="9525" marR="9525" marT="9525" marB="0" anchor="ctr">
                    <a:lnL w="6350" cap="flat" cmpd="sng" algn="ctr">
                      <a:solidFill>
                        <a:srgbClr val="00B0F0"/>
                      </a:solidFill>
                      <a:prstDash val="solid"/>
                      <a:round/>
                      <a:headEnd type="none" w="med" len="med"/>
                      <a:tailEnd type="none" w="med" len="med"/>
                    </a:lnL>
                    <a:lnR w="635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l" fontAlgn="ctr"/>
                      <a:r>
                        <a:rPr lang="zh-CN" altLang="en-US" sz="1050" b="0" i="0" u="none" strike="noStrike" dirty="0">
                          <a:solidFill>
                            <a:srgbClr val="000000"/>
                          </a:solidFill>
                          <a:effectLst/>
                          <a:latin typeface="仿宋" panose="02010609060101010101" pitchFamily="49" charset="-122"/>
                          <a:ea typeface="仿宋" panose="02010609060101010101" pitchFamily="49" charset="-122"/>
                        </a:rPr>
                        <a:t>   </a:t>
                      </a:r>
                      <a:r>
                        <a:rPr lang="en-US" altLang="zh-CN" sz="1050" b="0" i="0" u="none" strike="noStrike" dirty="0">
                          <a:solidFill>
                            <a:srgbClr val="000000"/>
                          </a:solidFill>
                          <a:effectLst/>
                          <a:latin typeface="仿宋" panose="02010609060101010101" pitchFamily="49" charset="-122"/>
                          <a:ea typeface="仿宋" panose="02010609060101010101" pitchFamily="49" charset="-122"/>
                        </a:rPr>
                        <a:t>37,742.00 </a:t>
                      </a:r>
                    </a:p>
                  </a:txBody>
                  <a:tcPr marL="9525" marR="9525" marT="9525" marB="0" anchor="ctr">
                    <a:lnL w="635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635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4248856656"/>
                  </a:ext>
                </a:extLst>
              </a:tr>
            </a:tbl>
          </a:graphicData>
        </a:graphic>
      </p:graphicFrame>
    </p:spTree>
    <p:extLst>
      <p:ext uri="{BB962C8B-B14F-4D97-AF65-F5344CB8AC3E}">
        <p14:creationId xmlns:p14="http://schemas.microsoft.com/office/powerpoint/2010/main" val="16111104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546181-3F3C-4279-8B65-4AF55AFC4C02}"/>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六、财务预测及回报分析</a:t>
            </a:r>
            <a:r>
              <a:rPr lang="en-US" altLang="zh-CN" sz="2400" dirty="0">
                <a:solidFill>
                  <a:schemeClr val="bg1">
                    <a:lumMod val="50000"/>
                  </a:schemeClr>
                </a:solidFill>
              </a:rPr>
              <a:t>|</a:t>
            </a:r>
            <a:r>
              <a:rPr lang="zh-CN" altLang="en-US" sz="2000" dirty="0"/>
              <a:t>退出方案</a:t>
            </a:r>
            <a:endParaRPr lang="en-US" altLang="zh-CN" sz="2400" dirty="0"/>
          </a:p>
        </p:txBody>
      </p:sp>
      <p:sp>
        <p:nvSpPr>
          <p:cNvPr id="6" name="Rectangle 3">
            <a:extLst>
              <a:ext uri="{FF2B5EF4-FFF2-40B4-BE49-F238E27FC236}">
                <a16:creationId xmlns:a16="http://schemas.microsoft.com/office/drawing/2014/main" id="{51906868-8F7B-477F-AECD-189AC8423B24}"/>
              </a:ext>
            </a:extLst>
          </p:cNvPr>
          <p:cNvSpPr txBox="1">
            <a:spLocks noChangeArrowheads="1"/>
          </p:cNvSpPr>
          <p:nvPr/>
        </p:nvSpPr>
        <p:spPr>
          <a:xfrm>
            <a:off x="457200" y="411599"/>
            <a:ext cx="8229600" cy="2952205"/>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indent="180000">
              <a:lnSpc>
                <a:spcPct val="150000"/>
              </a:lnSpc>
              <a:buSzPct val="70000"/>
              <a:buBlip>
                <a:blip r:embed="rId3"/>
              </a:buBlip>
            </a:pPr>
            <a:r>
              <a:rPr lang="zh-CN" altLang="en-US" sz="1200" b="1" dirty="0">
                <a:latin typeface="仿宋" panose="02010609060101010101" pitchFamily="49" charset="-122"/>
                <a:ea typeface="仿宋" panose="02010609060101010101" pitchFamily="49" charset="-122"/>
              </a:rPr>
              <a:t>基本假设</a:t>
            </a:r>
            <a:endParaRPr lang="en-US" altLang="zh-CN" sz="1200" b="1" dirty="0">
              <a:latin typeface="仿宋" panose="02010609060101010101" pitchFamily="49" charset="-122"/>
              <a:ea typeface="仿宋" panose="02010609060101010101" pitchFamily="49" charset="-122"/>
            </a:endParaRPr>
          </a:p>
          <a:p>
            <a:pPr marL="288000" lvl="1">
              <a:lnSpc>
                <a:spcPct val="150000"/>
              </a:lnSpc>
              <a:buSzPct val="70000"/>
            </a:pPr>
            <a:r>
              <a:rPr lang="zh-CN" altLang="zh-CN" sz="1050" dirty="0">
                <a:latin typeface="仿宋" panose="02010609060101010101" pitchFamily="49" charset="-122"/>
                <a:ea typeface="仿宋" panose="02010609060101010101" pitchFamily="49" charset="-122"/>
              </a:rPr>
              <a:t>中美贸易战，高端国产芯片替代问题紧张，市场需求大规模放量，</a:t>
            </a:r>
            <a:r>
              <a:rPr lang="en-US" altLang="zh-CN" sz="1050" dirty="0">
                <a:latin typeface="仿宋" panose="02010609060101010101" pitchFamily="49" charset="-122"/>
                <a:ea typeface="仿宋" panose="02010609060101010101" pitchFamily="49" charset="-122"/>
              </a:rPr>
              <a:t>2021</a:t>
            </a:r>
            <a:r>
              <a:rPr lang="zh-CN" altLang="zh-CN" sz="1050" dirty="0">
                <a:latin typeface="仿宋" panose="02010609060101010101" pitchFamily="49" charset="-122"/>
                <a:ea typeface="仿宋" panose="02010609060101010101" pitchFamily="49" charset="-122"/>
              </a:rPr>
              <a:t>年公司产能处于爬坡阶段。</a:t>
            </a:r>
          </a:p>
          <a:p>
            <a:pPr marL="288000" lvl="1">
              <a:lnSpc>
                <a:spcPct val="150000"/>
              </a:lnSpc>
              <a:buSzPct val="70000"/>
            </a:pPr>
            <a:r>
              <a:rPr lang="zh-CN" altLang="zh-CN" sz="1050" dirty="0">
                <a:latin typeface="仿宋" panose="02010609060101010101" pitchFamily="49" charset="-122"/>
                <a:ea typeface="仿宋" panose="02010609060101010101" pitchFamily="49" charset="-122"/>
              </a:rPr>
              <a:t>公司大客户</a:t>
            </a:r>
            <a:r>
              <a:rPr lang="en-US" altLang="zh-CN" sz="1050" dirty="0">
                <a:latin typeface="仿宋" panose="02010609060101010101" pitchFamily="49" charset="-122"/>
                <a:ea typeface="仿宋" panose="02010609060101010101" pitchFamily="49" charset="-122"/>
              </a:rPr>
              <a:t>OPPO</a:t>
            </a:r>
            <a:r>
              <a:rPr lang="zh-CN" altLang="zh-CN" sz="1050" dirty="0">
                <a:latin typeface="仿宋" panose="02010609060101010101" pitchFamily="49" charset="-122"/>
                <a:ea typeface="仿宋" panose="02010609060101010101" pitchFamily="49" charset="-122"/>
              </a:rPr>
              <a:t>继续保持国内智能手机市场的老大的地位，并在</a:t>
            </a:r>
            <a:r>
              <a:rPr lang="en-US" altLang="zh-CN" sz="1050" dirty="0">
                <a:latin typeface="仿宋" panose="02010609060101010101" pitchFamily="49" charset="-122"/>
                <a:ea typeface="仿宋" panose="02010609060101010101" pitchFamily="49" charset="-122"/>
              </a:rPr>
              <a:t>600</a:t>
            </a:r>
            <a:r>
              <a:rPr lang="zh-CN" altLang="zh-CN" sz="1050" dirty="0">
                <a:latin typeface="仿宋" panose="02010609060101010101" pitchFamily="49" charset="-122"/>
                <a:ea typeface="仿宋" panose="02010609060101010101" pitchFamily="49" charset="-122"/>
              </a:rPr>
              <a:t>美元以上的高端市场占有率快速提升。</a:t>
            </a:r>
            <a:r>
              <a:rPr lang="en-US" altLang="zh-CN" sz="1050" dirty="0">
                <a:latin typeface="仿宋" panose="02010609060101010101" pitchFamily="49" charset="-122"/>
                <a:ea typeface="仿宋" panose="02010609060101010101" pitchFamily="49" charset="-122"/>
              </a:rPr>
              <a:t>MTM</a:t>
            </a:r>
            <a:r>
              <a:rPr lang="zh-CN" altLang="en-US" sz="1050" dirty="0">
                <a:latin typeface="仿宋" panose="02010609060101010101" pitchFamily="49" charset="-122"/>
                <a:ea typeface="仿宋" panose="02010609060101010101" pitchFamily="49" charset="-122"/>
              </a:rPr>
              <a:t>预测：</a:t>
            </a:r>
            <a:r>
              <a:rPr lang="en-US" altLang="zh-CN" sz="1050" dirty="0">
                <a:latin typeface="仿宋" panose="02010609060101010101" pitchFamily="49" charset="-122"/>
                <a:ea typeface="仿宋" panose="02010609060101010101" pitchFamily="49" charset="-122"/>
              </a:rPr>
              <a:t>2021</a:t>
            </a:r>
            <a:r>
              <a:rPr lang="zh-CN" altLang="zh-CN" sz="1050" dirty="0">
                <a:latin typeface="仿宋" panose="02010609060101010101" pitchFamily="49" charset="-122"/>
                <a:ea typeface="仿宋" panose="02010609060101010101" pitchFamily="49" charset="-122"/>
              </a:rPr>
              <a:t>年</a:t>
            </a:r>
            <a:r>
              <a:rPr lang="en-US" altLang="zh-CN" sz="1050" dirty="0">
                <a:latin typeface="仿宋" panose="02010609060101010101" pitchFamily="49" charset="-122"/>
                <a:ea typeface="仿宋" panose="02010609060101010101" pitchFamily="49" charset="-122"/>
              </a:rPr>
              <a:t>OPPO</a:t>
            </a:r>
            <a:r>
              <a:rPr lang="zh-CN" altLang="zh-CN" sz="1050" dirty="0">
                <a:latin typeface="仿宋" panose="02010609060101010101" pitchFamily="49" charset="-122"/>
                <a:ea typeface="仿宋" panose="02010609060101010101" pitchFamily="49" charset="-122"/>
              </a:rPr>
              <a:t>全球出货量预计从</a:t>
            </a:r>
            <a:r>
              <a:rPr lang="en-US" altLang="zh-CN" sz="1050" dirty="0">
                <a:latin typeface="仿宋" panose="02010609060101010101" pitchFamily="49" charset="-122"/>
                <a:ea typeface="仿宋" panose="02010609060101010101" pitchFamily="49" charset="-122"/>
              </a:rPr>
              <a:t>1.5</a:t>
            </a:r>
            <a:r>
              <a:rPr lang="zh-CN" altLang="zh-CN" sz="1050" dirty="0">
                <a:latin typeface="仿宋" panose="02010609060101010101" pitchFamily="49" charset="-122"/>
                <a:ea typeface="仿宋" panose="02010609060101010101" pitchFamily="49" charset="-122"/>
              </a:rPr>
              <a:t>亿台增长至</a:t>
            </a:r>
            <a:r>
              <a:rPr lang="en-US" altLang="zh-CN" sz="1050" dirty="0">
                <a:latin typeface="仿宋" panose="02010609060101010101" pitchFamily="49" charset="-122"/>
                <a:ea typeface="仿宋" panose="02010609060101010101" pitchFamily="49" charset="-122"/>
              </a:rPr>
              <a:t>1.9</a:t>
            </a:r>
            <a:r>
              <a:rPr lang="zh-CN" altLang="zh-CN" sz="1050" dirty="0">
                <a:latin typeface="仿宋" panose="02010609060101010101" pitchFamily="49" charset="-122"/>
                <a:ea typeface="仿宋" panose="02010609060101010101" pitchFamily="49" charset="-122"/>
              </a:rPr>
              <a:t>亿台。公司另外</a:t>
            </a:r>
            <a:r>
              <a:rPr lang="en-US" altLang="zh-CN" sz="1050" dirty="0">
                <a:latin typeface="仿宋" panose="02010609060101010101" pitchFamily="49" charset="-122"/>
                <a:ea typeface="仿宋" panose="02010609060101010101" pitchFamily="49" charset="-122"/>
              </a:rPr>
              <a:t>3</a:t>
            </a:r>
            <a:r>
              <a:rPr lang="zh-CN" altLang="zh-CN" sz="1050" dirty="0">
                <a:latin typeface="仿宋" panose="02010609060101010101" pitchFamily="49" charset="-122"/>
                <a:ea typeface="仿宋" panose="02010609060101010101" pitchFamily="49" charset="-122"/>
              </a:rPr>
              <a:t>颗芯片在</a:t>
            </a:r>
            <a:r>
              <a:rPr lang="en-US" altLang="zh-CN" sz="1050" dirty="0">
                <a:latin typeface="仿宋" panose="02010609060101010101" pitchFamily="49" charset="-122"/>
                <a:ea typeface="仿宋" panose="02010609060101010101" pitchFamily="49" charset="-122"/>
              </a:rPr>
              <a:t>2021</a:t>
            </a:r>
            <a:r>
              <a:rPr lang="zh-CN" altLang="zh-CN" sz="1050" dirty="0">
                <a:latin typeface="仿宋" panose="02010609060101010101" pitchFamily="49" charset="-122"/>
                <a:ea typeface="仿宋" panose="02010609060101010101" pitchFamily="49" charset="-122"/>
              </a:rPr>
              <a:t>年完成</a:t>
            </a:r>
            <a:r>
              <a:rPr lang="en-US" altLang="zh-CN" sz="1050" dirty="0">
                <a:latin typeface="仿宋" panose="02010609060101010101" pitchFamily="49" charset="-122"/>
                <a:ea typeface="仿宋" panose="02010609060101010101" pitchFamily="49" charset="-122"/>
              </a:rPr>
              <a:t>OPPO</a:t>
            </a:r>
            <a:r>
              <a:rPr lang="zh-CN" altLang="zh-CN" sz="1050" dirty="0">
                <a:latin typeface="仿宋" panose="02010609060101010101" pitchFamily="49" charset="-122"/>
                <a:ea typeface="仿宋" panose="02010609060101010101" pitchFamily="49" charset="-122"/>
              </a:rPr>
              <a:t>的导入验证工作。</a:t>
            </a:r>
          </a:p>
          <a:p>
            <a:pPr marL="288000" lvl="1">
              <a:lnSpc>
                <a:spcPct val="150000"/>
              </a:lnSpc>
              <a:buSzPct val="70000"/>
            </a:pPr>
            <a:r>
              <a:rPr lang="zh-CN" altLang="zh-CN" sz="1050" dirty="0">
                <a:latin typeface="仿宋" panose="02010609060101010101" pitchFamily="49" charset="-122"/>
                <a:ea typeface="仿宋" panose="02010609060101010101" pitchFamily="49" charset="-122"/>
              </a:rPr>
              <a:t>公司将笔记本电脑业务单元重心转向国内</a:t>
            </a:r>
            <a:r>
              <a:rPr lang="en-US" altLang="zh-CN" sz="1050" dirty="0">
                <a:latin typeface="仿宋" panose="02010609060101010101" pitchFamily="49" charset="-122"/>
                <a:ea typeface="仿宋" panose="02010609060101010101" pitchFamily="49" charset="-122"/>
              </a:rPr>
              <a:t>CPU</a:t>
            </a:r>
            <a:r>
              <a:rPr lang="zh-CN" altLang="zh-CN" sz="1050" dirty="0">
                <a:latin typeface="仿宋" panose="02010609060101010101" pitchFamily="49" charset="-122"/>
                <a:ea typeface="仿宋" panose="02010609060101010101" pitchFamily="49" charset="-122"/>
              </a:rPr>
              <a:t>平台厂商。</a:t>
            </a:r>
          </a:p>
          <a:p>
            <a:pPr marL="288000" lvl="1">
              <a:lnSpc>
                <a:spcPct val="150000"/>
              </a:lnSpc>
              <a:buSzPct val="70000"/>
            </a:pPr>
            <a:r>
              <a:rPr lang="zh-CN" altLang="zh-CN" sz="1050" dirty="0">
                <a:latin typeface="仿宋" panose="02010609060101010101" pitchFamily="49" charset="-122"/>
                <a:ea typeface="仿宋" panose="02010609060101010101" pitchFamily="49" charset="-122"/>
              </a:rPr>
              <a:t>公司</a:t>
            </a:r>
            <a:r>
              <a:rPr lang="en-US" altLang="zh-CN" sz="1050" dirty="0">
                <a:latin typeface="仿宋" panose="02010609060101010101" pitchFamily="49" charset="-122"/>
                <a:ea typeface="仿宋" panose="02010609060101010101" pitchFamily="49" charset="-122"/>
              </a:rPr>
              <a:t>2021</a:t>
            </a:r>
            <a:r>
              <a:rPr lang="zh-CN" altLang="zh-CN" sz="1050" dirty="0">
                <a:latin typeface="仿宋" panose="02010609060101010101" pitchFamily="49" charset="-122"/>
                <a:ea typeface="仿宋" panose="02010609060101010101" pitchFamily="49" charset="-122"/>
              </a:rPr>
              <a:t>年财务费用为</a:t>
            </a:r>
            <a:r>
              <a:rPr lang="en-US" altLang="zh-CN" sz="1050" dirty="0">
                <a:latin typeface="仿宋" panose="02010609060101010101" pitchFamily="49" charset="-122"/>
                <a:ea typeface="仿宋" panose="02010609060101010101" pitchFamily="49" charset="-122"/>
              </a:rPr>
              <a:t>0</a:t>
            </a:r>
            <a:r>
              <a:rPr lang="zh-CN" altLang="zh-CN" sz="1050" dirty="0">
                <a:latin typeface="仿宋" panose="02010609060101010101" pitchFamily="49" charset="-122"/>
                <a:ea typeface="仿宋" panose="02010609060101010101" pitchFamily="49" charset="-122"/>
              </a:rPr>
              <a:t>，</a:t>
            </a:r>
            <a:r>
              <a:rPr lang="en-US" altLang="zh-CN" sz="1050" dirty="0">
                <a:latin typeface="仿宋" panose="02010609060101010101" pitchFamily="49" charset="-122"/>
                <a:ea typeface="仿宋" panose="02010609060101010101" pitchFamily="49" charset="-122"/>
              </a:rPr>
              <a:t>2022</a:t>
            </a:r>
            <a:r>
              <a:rPr lang="zh-CN" altLang="zh-CN" sz="1050" dirty="0">
                <a:latin typeface="仿宋" panose="02010609060101010101" pitchFamily="49" charset="-122"/>
                <a:ea typeface="仿宋" panose="02010609060101010101" pitchFamily="49" charset="-122"/>
              </a:rPr>
              <a:t>年至</a:t>
            </a:r>
            <a:r>
              <a:rPr lang="en-US" altLang="zh-CN" sz="1050" dirty="0">
                <a:latin typeface="仿宋" panose="02010609060101010101" pitchFamily="49" charset="-122"/>
                <a:ea typeface="仿宋" panose="02010609060101010101" pitchFamily="49" charset="-122"/>
              </a:rPr>
              <a:t>2024</a:t>
            </a:r>
            <a:r>
              <a:rPr lang="zh-CN" altLang="zh-CN" sz="1050" dirty="0">
                <a:latin typeface="仿宋" panose="02010609060101010101" pitchFamily="49" charset="-122"/>
                <a:ea typeface="仿宋" panose="02010609060101010101" pitchFamily="49" charset="-122"/>
              </a:rPr>
              <a:t>年财务费用分别为</a:t>
            </a:r>
            <a:r>
              <a:rPr lang="en-US" altLang="zh-CN" sz="1050" dirty="0">
                <a:latin typeface="仿宋" panose="02010609060101010101" pitchFamily="49" charset="-122"/>
                <a:ea typeface="仿宋" panose="02010609060101010101" pitchFamily="49" charset="-122"/>
              </a:rPr>
              <a:t>70</a:t>
            </a:r>
            <a:r>
              <a:rPr lang="zh-CN" altLang="zh-CN" sz="1050" dirty="0">
                <a:latin typeface="仿宋" panose="02010609060101010101" pitchFamily="49" charset="-122"/>
                <a:ea typeface="仿宋" panose="02010609060101010101" pitchFamily="49" charset="-122"/>
              </a:rPr>
              <a:t>万元、</a:t>
            </a:r>
            <a:r>
              <a:rPr lang="en-US" altLang="zh-CN" sz="1050" dirty="0">
                <a:latin typeface="仿宋" panose="02010609060101010101" pitchFamily="49" charset="-122"/>
                <a:ea typeface="仿宋" panose="02010609060101010101" pitchFamily="49" charset="-122"/>
              </a:rPr>
              <a:t>120</a:t>
            </a:r>
            <a:r>
              <a:rPr lang="zh-CN" altLang="zh-CN" sz="1050" dirty="0">
                <a:latin typeface="仿宋" panose="02010609060101010101" pitchFamily="49" charset="-122"/>
                <a:ea typeface="仿宋" panose="02010609060101010101" pitchFamily="49" charset="-122"/>
              </a:rPr>
              <a:t>万元和</a:t>
            </a:r>
            <a:r>
              <a:rPr lang="en-US" altLang="zh-CN" sz="1050" dirty="0">
                <a:latin typeface="仿宋" panose="02010609060101010101" pitchFamily="49" charset="-122"/>
                <a:ea typeface="仿宋" panose="02010609060101010101" pitchFamily="49" charset="-122"/>
              </a:rPr>
              <a:t>150</a:t>
            </a:r>
            <a:r>
              <a:rPr lang="zh-CN" altLang="zh-CN" sz="1050" dirty="0">
                <a:latin typeface="仿宋" panose="02010609060101010101" pitchFamily="49" charset="-122"/>
                <a:ea typeface="仿宋" panose="02010609060101010101" pitchFamily="49" charset="-122"/>
              </a:rPr>
              <a:t>万元。</a:t>
            </a:r>
          </a:p>
          <a:p>
            <a:pPr marL="0" indent="180000">
              <a:lnSpc>
                <a:spcPct val="150000"/>
              </a:lnSpc>
              <a:buSzPct val="70000"/>
              <a:buBlip>
                <a:blip r:embed="rId3"/>
              </a:buBlip>
            </a:pPr>
            <a:r>
              <a:rPr lang="zh-CN" altLang="en-US" sz="1200" b="1" dirty="0">
                <a:latin typeface="仿宋" panose="02010609060101010101" pitchFamily="49" charset="-122"/>
                <a:ea typeface="仿宋" panose="02010609060101010101" pitchFamily="49" charset="-122"/>
              </a:rPr>
              <a:t>回报率测算</a:t>
            </a:r>
            <a:endParaRPr lang="en-US" altLang="zh-CN" sz="1200" b="1" dirty="0">
              <a:latin typeface="仿宋" panose="02010609060101010101" pitchFamily="49" charset="-122"/>
              <a:ea typeface="仿宋" panose="02010609060101010101" pitchFamily="49" charset="-122"/>
            </a:endParaRPr>
          </a:p>
          <a:p>
            <a:pPr marL="288000" lvl="1">
              <a:lnSpc>
                <a:spcPct val="150000"/>
              </a:lnSpc>
              <a:buSzPct val="70000"/>
            </a:pPr>
            <a:r>
              <a:rPr lang="zh-CN" altLang="zh-CN" sz="1050" dirty="0">
                <a:latin typeface="仿宋" panose="02010609060101010101" pitchFamily="49" charset="-122"/>
                <a:ea typeface="仿宋" panose="02010609060101010101" pitchFamily="49" charset="-122"/>
              </a:rPr>
              <a:t>根据</a:t>
            </a:r>
            <a:r>
              <a:rPr lang="en-US" altLang="zh-CN" sz="1050" dirty="0">
                <a:latin typeface="仿宋" panose="02010609060101010101" pitchFamily="49" charset="-122"/>
                <a:ea typeface="仿宋" panose="02010609060101010101" pitchFamily="49" charset="-122"/>
              </a:rPr>
              <a:t>MTM</a:t>
            </a:r>
            <a:r>
              <a:rPr lang="zh-CN" altLang="zh-CN" sz="1050" dirty="0">
                <a:latin typeface="仿宋" panose="02010609060101010101" pitchFamily="49" charset="-122"/>
                <a:ea typeface="仿宋" panose="02010609060101010101" pitchFamily="49" charset="-122"/>
              </a:rPr>
              <a:t>团队</a:t>
            </a:r>
            <a:r>
              <a:rPr lang="zh-CN" altLang="en-US" sz="1050" dirty="0">
                <a:latin typeface="仿宋" panose="02010609060101010101" pitchFamily="49" charset="-122"/>
                <a:ea typeface="仿宋" panose="02010609060101010101" pitchFamily="49" charset="-122"/>
              </a:rPr>
              <a:t>保守</a:t>
            </a:r>
            <a:r>
              <a:rPr lang="zh-CN" altLang="zh-CN" sz="1050" dirty="0">
                <a:latin typeface="仿宋" panose="02010609060101010101" pitchFamily="49" charset="-122"/>
                <a:ea typeface="仿宋" panose="02010609060101010101" pitchFamily="49" charset="-122"/>
              </a:rPr>
              <a:t>盈利预测，</a:t>
            </a:r>
            <a:r>
              <a:rPr lang="en-US" altLang="zh-CN" sz="1050" u="sng" dirty="0">
                <a:solidFill>
                  <a:srgbClr val="C00000"/>
                </a:solidFill>
                <a:latin typeface="仿宋" panose="02010609060101010101" pitchFamily="49" charset="-122"/>
                <a:ea typeface="仿宋" panose="02010609060101010101" pitchFamily="49" charset="-122"/>
              </a:rPr>
              <a:t>2023</a:t>
            </a:r>
            <a:r>
              <a:rPr lang="zh-CN" altLang="zh-CN" sz="1050" u="sng" dirty="0">
                <a:solidFill>
                  <a:srgbClr val="C00000"/>
                </a:solidFill>
                <a:latin typeface="仿宋" panose="02010609060101010101" pitchFamily="49" charset="-122"/>
                <a:ea typeface="仿宋" panose="02010609060101010101" pitchFamily="49" charset="-122"/>
              </a:rPr>
              <a:t>年公司营业收入预计达到</a:t>
            </a:r>
            <a:r>
              <a:rPr lang="en-US" altLang="zh-CN" sz="1050" b="1" u="sng" dirty="0">
                <a:solidFill>
                  <a:srgbClr val="C00000"/>
                </a:solidFill>
                <a:latin typeface="仿宋" panose="02010609060101010101" pitchFamily="49" charset="-122"/>
                <a:ea typeface="仿宋" panose="02010609060101010101" pitchFamily="49" charset="-122"/>
              </a:rPr>
              <a:t>6.5</a:t>
            </a:r>
            <a:r>
              <a:rPr lang="zh-CN" altLang="zh-CN" sz="1050" u="sng" dirty="0">
                <a:solidFill>
                  <a:srgbClr val="C00000"/>
                </a:solidFill>
                <a:latin typeface="仿宋" panose="02010609060101010101" pitchFamily="49" charset="-122"/>
                <a:ea typeface="仿宋" panose="02010609060101010101" pitchFamily="49" charset="-122"/>
              </a:rPr>
              <a:t>亿元，净利润</a:t>
            </a:r>
            <a:r>
              <a:rPr lang="en-US" altLang="zh-CN" sz="1050" b="1" u="sng" dirty="0">
                <a:solidFill>
                  <a:srgbClr val="C00000"/>
                </a:solidFill>
                <a:latin typeface="仿宋" panose="02010609060101010101" pitchFamily="49" charset="-122"/>
                <a:ea typeface="仿宋" panose="02010609060101010101" pitchFamily="49" charset="-122"/>
              </a:rPr>
              <a:t>1.87</a:t>
            </a:r>
            <a:r>
              <a:rPr lang="zh-CN" altLang="en-US" sz="1050" u="sng" dirty="0">
                <a:solidFill>
                  <a:srgbClr val="C00000"/>
                </a:solidFill>
                <a:latin typeface="仿宋" panose="02010609060101010101" pitchFamily="49" charset="-122"/>
                <a:ea typeface="仿宋" panose="02010609060101010101" pitchFamily="49" charset="-122"/>
              </a:rPr>
              <a:t>亿</a:t>
            </a:r>
            <a:r>
              <a:rPr lang="zh-CN" altLang="zh-CN" sz="1050" u="sng" dirty="0">
                <a:solidFill>
                  <a:srgbClr val="C00000"/>
                </a:solidFill>
                <a:latin typeface="仿宋" panose="02010609060101010101" pitchFamily="49" charset="-122"/>
                <a:ea typeface="仿宋" panose="02010609060101010101" pitchFamily="49" charset="-122"/>
              </a:rPr>
              <a:t>元</a:t>
            </a:r>
            <a:r>
              <a:rPr lang="zh-CN" altLang="zh-CN" sz="1050" dirty="0">
                <a:latin typeface="仿宋" panose="02010609060101010101" pitchFamily="49" charset="-122"/>
                <a:ea typeface="仿宋" panose="02010609060101010101" pitchFamily="49" charset="-122"/>
              </a:rPr>
              <a:t>。</a:t>
            </a:r>
            <a:endParaRPr lang="en-US" altLang="zh-CN" sz="1050" dirty="0">
              <a:latin typeface="仿宋" panose="02010609060101010101" pitchFamily="49" charset="-122"/>
              <a:ea typeface="仿宋" panose="02010609060101010101" pitchFamily="49" charset="-122"/>
            </a:endParaRPr>
          </a:p>
          <a:p>
            <a:pPr marL="288000" lvl="1">
              <a:lnSpc>
                <a:spcPct val="150000"/>
              </a:lnSpc>
              <a:buSzPct val="70000"/>
            </a:pPr>
            <a:r>
              <a:rPr lang="en-US" altLang="zh-CN" sz="1050" dirty="0">
                <a:latin typeface="仿宋" panose="02010609060101010101" pitchFamily="49" charset="-122"/>
                <a:ea typeface="仿宋" panose="02010609060101010101" pitchFamily="49" charset="-122"/>
              </a:rPr>
              <a:t>2023</a:t>
            </a:r>
            <a:r>
              <a:rPr lang="zh-CN" altLang="zh-CN" sz="1050" dirty="0">
                <a:latin typeface="仿宋" panose="02010609060101010101" pitchFamily="49" charset="-122"/>
                <a:ea typeface="仿宋" panose="02010609060101010101" pitchFamily="49" charset="-122"/>
              </a:rPr>
              <a:t>年</a:t>
            </a:r>
            <a:r>
              <a:rPr lang="en-US" altLang="zh-CN" sz="1050" dirty="0">
                <a:latin typeface="仿宋" panose="02010609060101010101" pitchFamily="49" charset="-122"/>
                <a:ea typeface="仿宋" panose="02010609060101010101" pitchFamily="49" charset="-122"/>
              </a:rPr>
              <a:t>3</a:t>
            </a:r>
            <a:r>
              <a:rPr lang="zh-CN" altLang="zh-CN" sz="1050" dirty="0">
                <a:latin typeface="仿宋" panose="02010609060101010101" pitchFamily="49" charset="-122"/>
                <a:ea typeface="仿宋" panose="02010609060101010101" pitchFamily="49" charset="-122"/>
              </a:rPr>
              <a:t>月份申报，</a:t>
            </a:r>
            <a:r>
              <a:rPr lang="en-US" altLang="zh-CN" sz="1050" dirty="0">
                <a:latin typeface="仿宋" panose="02010609060101010101" pitchFamily="49" charset="-122"/>
                <a:ea typeface="仿宋" panose="02010609060101010101" pitchFamily="49" charset="-122"/>
              </a:rPr>
              <a:t>2023</a:t>
            </a:r>
            <a:r>
              <a:rPr lang="zh-CN" altLang="zh-CN" sz="1050" dirty="0">
                <a:latin typeface="仿宋" panose="02010609060101010101" pitchFamily="49" charset="-122"/>
                <a:ea typeface="仿宋" panose="02010609060101010101" pitchFamily="49" charset="-122"/>
              </a:rPr>
              <a:t>年下半年公司实现科创板上市公开发行，</a:t>
            </a:r>
            <a:r>
              <a:rPr lang="en-US" altLang="zh-CN" sz="1050" dirty="0">
                <a:latin typeface="仿宋" panose="02010609060101010101" pitchFamily="49" charset="-122"/>
                <a:ea typeface="仿宋" panose="02010609060101010101" pitchFamily="49" charset="-122"/>
              </a:rPr>
              <a:t>MTM</a:t>
            </a:r>
            <a:r>
              <a:rPr lang="zh-CN" altLang="zh-CN" sz="1050" dirty="0">
                <a:latin typeface="仿宋" panose="02010609060101010101" pitchFamily="49" charset="-122"/>
                <a:ea typeface="仿宋" panose="02010609060101010101" pitchFamily="49" charset="-122"/>
              </a:rPr>
              <a:t>基金锁定期为</a:t>
            </a:r>
            <a:r>
              <a:rPr lang="en-US" altLang="zh-CN" sz="1050" dirty="0">
                <a:latin typeface="仿宋" panose="02010609060101010101" pitchFamily="49" charset="-122"/>
                <a:ea typeface="仿宋" panose="02010609060101010101" pitchFamily="49" charset="-122"/>
              </a:rPr>
              <a:t>1</a:t>
            </a:r>
            <a:r>
              <a:rPr lang="zh-CN" altLang="zh-CN" sz="1050" dirty="0">
                <a:latin typeface="仿宋" panose="02010609060101010101" pitchFamily="49" charset="-122"/>
                <a:ea typeface="仿宋" panose="02010609060101010101" pitchFamily="49" charset="-122"/>
              </a:rPr>
              <a:t>年，</a:t>
            </a:r>
            <a:r>
              <a:rPr lang="en-US" altLang="zh-CN" sz="1050" dirty="0">
                <a:latin typeface="仿宋" panose="02010609060101010101" pitchFamily="49" charset="-122"/>
                <a:ea typeface="仿宋" panose="02010609060101010101" pitchFamily="49" charset="-122"/>
              </a:rPr>
              <a:t>MTM</a:t>
            </a:r>
            <a:r>
              <a:rPr lang="zh-CN" altLang="zh-CN" sz="1050" dirty="0">
                <a:latin typeface="仿宋" panose="02010609060101010101" pitchFamily="49" charset="-122"/>
                <a:ea typeface="仿宋" panose="02010609060101010101" pitchFamily="49" charset="-122"/>
              </a:rPr>
              <a:t>基金可以在</a:t>
            </a:r>
            <a:r>
              <a:rPr lang="en-US" altLang="zh-CN" sz="1050" dirty="0">
                <a:latin typeface="仿宋" panose="02010609060101010101" pitchFamily="49" charset="-122"/>
                <a:ea typeface="仿宋" panose="02010609060101010101" pitchFamily="49" charset="-122"/>
              </a:rPr>
              <a:t>2024</a:t>
            </a:r>
            <a:r>
              <a:rPr lang="zh-CN" altLang="en-US" sz="1050" dirty="0">
                <a:latin typeface="仿宋" panose="02010609060101010101" pitchFamily="49" charset="-122"/>
                <a:ea typeface="仿宋" panose="02010609060101010101" pitchFamily="49" charset="-122"/>
              </a:rPr>
              <a:t>年下半年</a:t>
            </a:r>
            <a:r>
              <a:rPr lang="zh-CN" altLang="zh-CN" sz="1050" dirty="0">
                <a:latin typeface="仿宋" panose="02010609060101010101" pitchFamily="49" charset="-122"/>
                <a:ea typeface="仿宋" panose="02010609060101010101" pitchFamily="49" charset="-122"/>
              </a:rPr>
              <a:t>择机退出。</a:t>
            </a:r>
          </a:p>
          <a:p>
            <a:pPr marL="288000" lvl="1">
              <a:lnSpc>
                <a:spcPct val="150000"/>
              </a:lnSpc>
              <a:buSzPct val="70000"/>
            </a:pPr>
            <a:r>
              <a:rPr lang="zh-CN" altLang="zh-CN" sz="1050" dirty="0">
                <a:latin typeface="仿宋" panose="02010609060101010101" pitchFamily="49" charset="-122"/>
                <a:ea typeface="仿宋" panose="02010609060101010101" pitchFamily="49" charset="-122"/>
              </a:rPr>
              <a:t>本轮融资</a:t>
            </a:r>
            <a:r>
              <a:rPr lang="en-US" altLang="zh-CN" sz="1050" dirty="0">
                <a:latin typeface="仿宋" panose="02010609060101010101" pitchFamily="49" charset="-122"/>
                <a:ea typeface="仿宋" panose="02010609060101010101" pitchFamily="49" charset="-122"/>
              </a:rPr>
              <a:t>MTM</a:t>
            </a:r>
            <a:r>
              <a:rPr lang="zh-CN" altLang="zh-CN" sz="1050" dirty="0">
                <a:latin typeface="仿宋" panose="02010609060101010101" pitchFamily="49" charset="-122"/>
                <a:ea typeface="仿宋" panose="02010609060101010101" pitchFamily="49" charset="-122"/>
              </a:rPr>
              <a:t>投资</a:t>
            </a:r>
            <a:r>
              <a:rPr lang="en-US" altLang="zh-CN" sz="1050" dirty="0">
                <a:latin typeface="仿宋" panose="02010609060101010101" pitchFamily="49" charset="-122"/>
                <a:ea typeface="仿宋" panose="02010609060101010101" pitchFamily="49" charset="-122"/>
              </a:rPr>
              <a:t>10,000</a:t>
            </a:r>
            <a:r>
              <a:rPr lang="zh-CN" altLang="en-US" sz="1050" dirty="0">
                <a:latin typeface="仿宋" panose="02010609060101010101" pitchFamily="49" charset="-122"/>
                <a:ea typeface="仿宋" panose="02010609060101010101" pitchFamily="49" charset="-122"/>
              </a:rPr>
              <a:t>万元</a:t>
            </a:r>
            <a:r>
              <a:rPr lang="zh-CN" altLang="zh-CN" sz="1050" dirty="0">
                <a:latin typeface="仿宋" panose="02010609060101010101" pitchFamily="49" charset="-122"/>
                <a:ea typeface="仿宋" panose="02010609060101010101" pitchFamily="49" charset="-122"/>
              </a:rPr>
              <a:t>持股约</a:t>
            </a:r>
            <a:r>
              <a:rPr lang="en-US" altLang="zh-CN" sz="1050" dirty="0">
                <a:latin typeface="仿宋" panose="02010609060101010101" pitchFamily="49" charset="-122"/>
                <a:ea typeface="仿宋" panose="02010609060101010101" pitchFamily="49" charset="-122"/>
              </a:rPr>
              <a:t>9.8%</a:t>
            </a:r>
            <a:r>
              <a:rPr lang="zh-CN" altLang="zh-CN" sz="1050" dirty="0">
                <a:latin typeface="仿宋" panose="02010609060101010101" pitchFamily="49" charset="-122"/>
                <a:ea typeface="仿宋" panose="02010609060101010101" pitchFamily="49" charset="-122"/>
              </a:rPr>
              <a:t>（本轮投前估值</a:t>
            </a:r>
            <a:r>
              <a:rPr lang="en-US" altLang="zh-CN" sz="1050" dirty="0">
                <a:latin typeface="仿宋" panose="02010609060101010101" pitchFamily="49" charset="-122"/>
                <a:ea typeface="仿宋" panose="02010609060101010101" pitchFamily="49" charset="-122"/>
              </a:rPr>
              <a:t>9.2</a:t>
            </a:r>
            <a:r>
              <a:rPr lang="zh-CN" altLang="en-US" sz="1050" dirty="0">
                <a:latin typeface="仿宋" panose="02010609060101010101" pitchFamily="49" charset="-122"/>
                <a:ea typeface="仿宋" panose="02010609060101010101" pitchFamily="49" charset="-122"/>
              </a:rPr>
              <a:t>亿元</a:t>
            </a:r>
            <a:r>
              <a:rPr lang="zh-CN" altLang="zh-CN" sz="1050" dirty="0">
                <a:latin typeface="仿宋" panose="02010609060101010101" pitchFamily="49" charset="-122"/>
                <a:ea typeface="仿宋" panose="02010609060101010101" pitchFamily="49" charset="-122"/>
              </a:rPr>
              <a:t>，投后估值</a:t>
            </a:r>
            <a:r>
              <a:rPr lang="en-US" altLang="zh-CN" sz="1050" dirty="0">
                <a:latin typeface="仿宋" panose="02010609060101010101" pitchFamily="49" charset="-122"/>
                <a:ea typeface="仿宋" panose="02010609060101010101" pitchFamily="49" charset="-122"/>
              </a:rPr>
              <a:t>10.2</a:t>
            </a:r>
            <a:r>
              <a:rPr lang="zh-CN" altLang="en-US" sz="1050" dirty="0">
                <a:latin typeface="仿宋" panose="02010609060101010101" pitchFamily="49" charset="-122"/>
                <a:ea typeface="仿宋" panose="02010609060101010101" pitchFamily="49" charset="-122"/>
              </a:rPr>
              <a:t>亿元</a:t>
            </a:r>
            <a:r>
              <a:rPr lang="zh-CN" altLang="zh-CN" sz="1050" dirty="0">
                <a:latin typeface="仿宋" panose="02010609060101010101" pitchFamily="49" charset="-122"/>
                <a:ea typeface="仿宋" panose="02010609060101010101" pitchFamily="49" charset="-122"/>
              </a:rPr>
              <a:t>），</a:t>
            </a:r>
            <a:r>
              <a:rPr lang="en-US" altLang="zh-CN" sz="1050" dirty="0">
                <a:latin typeface="仿宋" panose="02010609060101010101" pitchFamily="49" charset="-122"/>
                <a:ea typeface="仿宋" panose="02010609060101010101" pitchFamily="49" charset="-122"/>
              </a:rPr>
              <a:t>Pre-IPO</a:t>
            </a:r>
            <a:r>
              <a:rPr lang="zh-CN" altLang="zh-CN" sz="1050" dirty="0">
                <a:latin typeface="仿宋" panose="02010609060101010101" pitchFamily="49" charset="-122"/>
                <a:ea typeface="仿宋" panose="02010609060101010101" pitchFamily="49" charset="-122"/>
              </a:rPr>
              <a:t>融资</a:t>
            </a:r>
            <a:r>
              <a:rPr lang="zh-CN" altLang="en-US" sz="1050" dirty="0">
                <a:latin typeface="仿宋" panose="02010609060101010101" pitchFamily="49" charset="-122"/>
                <a:ea typeface="仿宋" panose="02010609060101010101" pitchFamily="49" charset="-122"/>
              </a:rPr>
              <a:t>稀释</a:t>
            </a:r>
            <a:r>
              <a:rPr lang="en-US" altLang="zh-CN" sz="1050" dirty="0">
                <a:latin typeface="仿宋" panose="02010609060101010101" pitchFamily="49" charset="-122"/>
                <a:ea typeface="仿宋" panose="02010609060101010101" pitchFamily="49" charset="-122"/>
              </a:rPr>
              <a:t>15%</a:t>
            </a:r>
            <a:r>
              <a:rPr lang="zh-CN" altLang="en-US" sz="1050" dirty="0">
                <a:latin typeface="仿宋" panose="02010609060101010101" pitchFamily="49" charset="-122"/>
                <a:ea typeface="仿宋" panose="02010609060101010101" pitchFamily="49" charset="-122"/>
              </a:rPr>
              <a:t>，</a:t>
            </a:r>
            <a:r>
              <a:rPr lang="en-US" altLang="zh-CN" sz="1050" dirty="0">
                <a:latin typeface="仿宋" panose="02010609060101010101" pitchFamily="49" charset="-122"/>
                <a:ea typeface="仿宋" panose="02010609060101010101" pitchFamily="49" charset="-122"/>
              </a:rPr>
              <a:t>IPO</a:t>
            </a:r>
            <a:r>
              <a:rPr lang="zh-CN" altLang="zh-CN" sz="1050" dirty="0">
                <a:latin typeface="仿宋" panose="02010609060101010101" pitchFamily="49" charset="-122"/>
                <a:ea typeface="仿宋" panose="02010609060101010101" pitchFamily="49" charset="-122"/>
              </a:rPr>
              <a:t>融资按照股份稀释</a:t>
            </a:r>
            <a:r>
              <a:rPr lang="en-US" altLang="zh-CN" sz="1050" dirty="0">
                <a:latin typeface="仿宋" panose="02010609060101010101" pitchFamily="49" charset="-122"/>
                <a:ea typeface="仿宋" panose="02010609060101010101" pitchFamily="49" charset="-122"/>
              </a:rPr>
              <a:t>25%</a:t>
            </a:r>
            <a:r>
              <a:rPr lang="zh-CN" altLang="zh-CN" sz="1050" dirty="0">
                <a:latin typeface="仿宋" panose="02010609060101010101" pitchFamily="49" charset="-122"/>
                <a:ea typeface="仿宋" panose="02010609060101010101" pitchFamily="49" charset="-122"/>
              </a:rPr>
              <a:t>的比例计算，</a:t>
            </a:r>
            <a:r>
              <a:rPr lang="en-US" altLang="zh-CN" sz="1050" dirty="0">
                <a:latin typeface="仿宋" panose="02010609060101010101" pitchFamily="49" charset="-122"/>
                <a:ea typeface="仿宋" panose="02010609060101010101" pitchFamily="49" charset="-122"/>
              </a:rPr>
              <a:t>IPO</a:t>
            </a:r>
            <a:r>
              <a:rPr lang="zh-CN" altLang="zh-CN" sz="1050" dirty="0">
                <a:latin typeface="仿宋" panose="02010609060101010101" pitchFamily="49" charset="-122"/>
                <a:ea typeface="仿宋" panose="02010609060101010101" pitchFamily="49" charset="-122"/>
              </a:rPr>
              <a:t>之后</a:t>
            </a:r>
            <a:r>
              <a:rPr lang="en-US" altLang="zh-CN" sz="1050" dirty="0">
                <a:latin typeface="仿宋" panose="02010609060101010101" pitchFamily="49" charset="-122"/>
                <a:ea typeface="仿宋" panose="02010609060101010101" pitchFamily="49" charset="-122"/>
              </a:rPr>
              <a:t>MTM</a:t>
            </a:r>
            <a:r>
              <a:rPr lang="zh-CN" altLang="zh-CN" sz="1050" dirty="0">
                <a:latin typeface="仿宋" panose="02010609060101010101" pitchFamily="49" charset="-122"/>
                <a:ea typeface="仿宋" panose="02010609060101010101" pitchFamily="49" charset="-122"/>
              </a:rPr>
              <a:t>持有</a:t>
            </a:r>
            <a:r>
              <a:rPr lang="en-US" altLang="zh-CN" sz="1050" dirty="0">
                <a:latin typeface="仿宋" panose="02010609060101010101" pitchFamily="49" charset="-122"/>
                <a:ea typeface="仿宋" panose="02010609060101010101" pitchFamily="49" charset="-122"/>
              </a:rPr>
              <a:t>6.25%</a:t>
            </a:r>
            <a:r>
              <a:rPr lang="zh-CN" altLang="zh-CN" sz="1050" dirty="0">
                <a:latin typeface="仿宋" panose="02010609060101010101" pitchFamily="49" charset="-122"/>
                <a:ea typeface="仿宋" panose="02010609060101010101" pitchFamily="49" charset="-122"/>
              </a:rPr>
              <a:t>的股份。按照退出</a:t>
            </a:r>
            <a:r>
              <a:rPr lang="en-US" altLang="zh-CN" sz="1050" dirty="0">
                <a:latin typeface="仿宋" panose="02010609060101010101" pitchFamily="49" charset="-122"/>
                <a:ea typeface="仿宋" panose="02010609060101010101" pitchFamily="49" charset="-122"/>
              </a:rPr>
              <a:t>PE</a:t>
            </a:r>
            <a:r>
              <a:rPr lang="zh-CN" altLang="zh-CN" sz="1050" dirty="0">
                <a:latin typeface="仿宋" panose="02010609060101010101" pitchFamily="49" charset="-122"/>
                <a:ea typeface="仿宋" panose="02010609060101010101" pitchFamily="49" charset="-122"/>
              </a:rPr>
              <a:t>为</a:t>
            </a:r>
            <a:r>
              <a:rPr lang="en-US" altLang="zh-CN" sz="1050" dirty="0">
                <a:latin typeface="仿宋" panose="02010609060101010101" pitchFamily="49" charset="-122"/>
                <a:ea typeface="仿宋" panose="02010609060101010101" pitchFamily="49" charset="-122"/>
              </a:rPr>
              <a:t>45</a:t>
            </a:r>
            <a:r>
              <a:rPr lang="zh-CN" altLang="zh-CN" sz="1050" dirty="0">
                <a:latin typeface="仿宋" panose="02010609060101010101" pitchFamily="49" charset="-122"/>
                <a:ea typeface="仿宋" panose="02010609060101010101" pitchFamily="49" charset="-122"/>
              </a:rPr>
              <a:t>倍计算，</a:t>
            </a:r>
            <a:r>
              <a:rPr lang="en-US" altLang="zh-CN" sz="1050" dirty="0">
                <a:latin typeface="仿宋" panose="02010609060101010101" pitchFamily="49" charset="-122"/>
                <a:ea typeface="仿宋" panose="02010609060101010101" pitchFamily="49" charset="-122"/>
              </a:rPr>
              <a:t>MTM</a:t>
            </a:r>
            <a:r>
              <a:rPr lang="zh-CN" altLang="zh-CN" sz="1050" dirty="0">
                <a:latin typeface="仿宋" panose="02010609060101010101" pitchFamily="49" charset="-122"/>
                <a:ea typeface="仿宋" panose="02010609060101010101" pitchFamily="49" charset="-122"/>
              </a:rPr>
              <a:t>投资收益测算如下：</a:t>
            </a:r>
          </a:p>
        </p:txBody>
      </p:sp>
      <p:graphicFrame>
        <p:nvGraphicFramePr>
          <p:cNvPr id="4" name="表格 3">
            <a:extLst>
              <a:ext uri="{FF2B5EF4-FFF2-40B4-BE49-F238E27FC236}">
                <a16:creationId xmlns:a16="http://schemas.microsoft.com/office/drawing/2014/main" id="{25DB755C-DCE1-4DFB-B500-86189863B829}"/>
              </a:ext>
            </a:extLst>
          </p:cNvPr>
          <p:cNvGraphicFramePr>
            <a:graphicFrameLocks noGrp="1"/>
          </p:cNvGraphicFramePr>
          <p:nvPr>
            <p:extLst>
              <p:ext uri="{D42A27DB-BD31-4B8C-83A1-F6EECF244321}">
                <p14:modId xmlns:p14="http://schemas.microsoft.com/office/powerpoint/2010/main" val="2493490492"/>
              </p:ext>
            </p:extLst>
          </p:nvPr>
        </p:nvGraphicFramePr>
        <p:xfrm>
          <a:off x="2311399" y="3651825"/>
          <a:ext cx="4780775" cy="1008071"/>
        </p:xfrm>
        <a:graphic>
          <a:graphicData uri="http://schemas.openxmlformats.org/drawingml/2006/table">
            <a:tbl>
              <a:tblPr firstRow="1" firstCol="1" bandRow="1"/>
              <a:tblGrid>
                <a:gridCol w="429733">
                  <a:extLst>
                    <a:ext uri="{9D8B030D-6E8A-4147-A177-3AD203B41FA5}">
                      <a16:colId xmlns:a16="http://schemas.microsoft.com/office/drawing/2014/main" val="3453935422"/>
                    </a:ext>
                  </a:extLst>
                </a:gridCol>
                <a:gridCol w="577453">
                  <a:extLst>
                    <a:ext uri="{9D8B030D-6E8A-4147-A177-3AD203B41FA5}">
                      <a16:colId xmlns:a16="http://schemas.microsoft.com/office/drawing/2014/main" val="1112436894"/>
                    </a:ext>
                  </a:extLst>
                </a:gridCol>
                <a:gridCol w="1141477">
                  <a:extLst>
                    <a:ext uri="{9D8B030D-6E8A-4147-A177-3AD203B41FA5}">
                      <a16:colId xmlns:a16="http://schemas.microsoft.com/office/drawing/2014/main" val="2190503831"/>
                    </a:ext>
                  </a:extLst>
                </a:gridCol>
                <a:gridCol w="1745789">
                  <a:extLst>
                    <a:ext uri="{9D8B030D-6E8A-4147-A177-3AD203B41FA5}">
                      <a16:colId xmlns:a16="http://schemas.microsoft.com/office/drawing/2014/main" val="2861274927"/>
                    </a:ext>
                  </a:extLst>
                </a:gridCol>
                <a:gridCol w="886323">
                  <a:extLst>
                    <a:ext uri="{9D8B030D-6E8A-4147-A177-3AD203B41FA5}">
                      <a16:colId xmlns:a16="http://schemas.microsoft.com/office/drawing/2014/main" val="1422757584"/>
                    </a:ext>
                  </a:extLst>
                </a:gridCol>
              </a:tblGrid>
              <a:tr h="248745">
                <a:tc>
                  <a:txBody>
                    <a:bodyPr/>
                    <a:lstStyle/>
                    <a:p>
                      <a:pPr algn="ctr"/>
                      <a:r>
                        <a:rPr lang="zh-CN" sz="1000" b="1" kern="100" dirty="0">
                          <a:solidFill>
                            <a:srgbClr val="000000"/>
                          </a:solidFill>
                          <a:effectLst/>
                          <a:latin typeface="Times New Roman" panose="02020603050405020304" pitchFamily="18" charset="0"/>
                          <a:ea typeface="FangSong" panose="02010609060101010101" pitchFamily="49" charset="-122"/>
                        </a:rPr>
                        <a:t>情形</a:t>
                      </a:r>
                      <a:endParaRPr lang="zh-CN" sz="1050" kern="100" dirty="0">
                        <a:effectLst/>
                        <a:latin typeface="Times New Roman" panose="02020603050405020304" pitchFamily="18" charset="0"/>
                        <a:ea typeface="宋体" panose="02010600030101010101" pitchFamily="2" charset="-122"/>
                      </a:endParaRPr>
                    </a:p>
                  </a:txBody>
                  <a:tcPr marL="9525" marR="9525" marT="9525"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DDEBF7"/>
                    </a:solidFill>
                  </a:tcPr>
                </a:tc>
                <a:tc>
                  <a:txBody>
                    <a:bodyPr/>
                    <a:lstStyle/>
                    <a:p>
                      <a:pPr algn="ctr"/>
                      <a:r>
                        <a:rPr lang="zh-CN" sz="1000" b="1" kern="100">
                          <a:solidFill>
                            <a:srgbClr val="000000"/>
                          </a:solidFill>
                          <a:effectLst/>
                          <a:latin typeface="Times New Roman" panose="02020603050405020304" pitchFamily="18" charset="0"/>
                          <a:ea typeface="FangSong" panose="02010609060101010101" pitchFamily="49" charset="-122"/>
                        </a:rPr>
                        <a:t>市盈率</a:t>
                      </a:r>
                      <a:endParaRPr lang="zh-CN" sz="1050" kern="100">
                        <a:effectLst/>
                        <a:latin typeface="Times New Roman" panose="02020603050405020304" pitchFamily="18" charset="0"/>
                        <a:ea typeface="宋体" panose="02010600030101010101" pitchFamily="2" charset="-122"/>
                      </a:endParaRPr>
                    </a:p>
                  </a:txBody>
                  <a:tcPr marL="9525" marR="9525" marT="9525"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DDEBF7"/>
                    </a:solidFill>
                  </a:tcPr>
                </a:tc>
                <a:tc>
                  <a:txBody>
                    <a:bodyPr/>
                    <a:lstStyle/>
                    <a:p>
                      <a:pPr algn="ctr"/>
                      <a:r>
                        <a:rPr lang="zh-CN" sz="1000" b="1" kern="100">
                          <a:solidFill>
                            <a:srgbClr val="000000"/>
                          </a:solidFill>
                          <a:effectLst/>
                          <a:latin typeface="Times New Roman" panose="02020603050405020304" pitchFamily="18" charset="0"/>
                          <a:ea typeface="FangSong" panose="02010609060101010101" pitchFamily="49" charset="-122"/>
                        </a:rPr>
                        <a:t>公司市值</a:t>
                      </a:r>
                      <a:r>
                        <a:rPr lang="en-US" sz="1000" b="1" kern="100">
                          <a:solidFill>
                            <a:srgbClr val="000000"/>
                          </a:solidFill>
                          <a:effectLst/>
                          <a:latin typeface="Times New Roman" panose="02020603050405020304" pitchFamily="18" charset="0"/>
                          <a:ea typeface="FangSong" panose="02010609060101010101" pitchFamily="49" charset="-122"/>
                        </a:rPr>
                        <a:t>/</a:t>
                      </a:r>
                      <a:r>
                        <a:rPr lang="zh-CN" sz="1000" b="1" kern="100">
                          <a:solidFill>
                            <a:srgbClr val="000000"/>
                          </a:solidFill>
                          <a:effectLst/>
                          <a:latin typeface="Times New Roman" panose="02020603050405020304" pitchFamily="18" charset="0"/>
                          <a:ea typeface="FangSong" panose="02010609060101010101" pitchFamily="49" charset="-122"/>
                        </a:rPr>
                        <a:t>亿元</a:t>
                      </a:r>
                      <a:endParaRPr lang="zh-CN" sz="1050" kern="100">
                        <a:effectLst/>
                        <a:latin typeface="Times New Roman" panose="02020603050405020304" pitchFamily="18" charset="0"/>
                        <a:ea typeface="宋体" panose="02010600030101010101" pitchFamily="2" charset="-122"/>
                      </a:endParaRPr>
                    </a:p>
                  </a:txBody>
                  <a:tcPr marL="9525" marR="9525" marT="9525"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DDEBF7"/>
                    </a:solidFill>
                  </a:tcPr>
                </a:tc>
                <a:tc>
                  <a:txBody>
                    <a:bodyPr/>
                    <a:lstStyle/>
                    <a:p>
                      <a:pPr algn="ctr"/>
                      <a:r>
                        <a:rPr lang="en-US" sz="1000" b="1" kern="100">
                          <a:solidFill>
                            <a:srgbClr val="000000"/>
                          </a:solidFill>
                          <a:effectLst/>
                          <a:latin typeface="FangSong" panose="02010609060101010101" pitchFamily="49" charset="-122"/>
                          <a:ea typeface="宋体" panose="02010600030101010101" pitchFamily="2" charset="-122"/>
                        </a:rPr>
                        <a:t>MTM</a:t>
                      </a:r>
                      <a:r>
                        <a:rPr lang="zh-CN" sz="1000" b="1" kern="100">
                          <a:solidFill>
                            <a:srgbClr val="000000"/>
                          </a:solidFill>
                          <a:effectLst/>
                          <a:latin typeface="Times New Roman" panose="02020603050405020304" pitchFamily="18" charset="0"/>
                          <a:ea typeface="FangSong" panose="02010609060101010101" pitchFamily="49" charset="-122"/>
                        </a:rPr>
                        <a:t>持有股权市值</a:t>
                      </a:r>
                      <a:r>
                        <a:rPr lang="en-US" sz="1000" b="1" kern="100">
                          <a:solidFill>
                            <a:srgbClr val="000000"/>
                          </a:solidFill>
                          <a:effectLst/>
                          <a:latin typeface="Times New Roman" panose="02020603050405020304" pitchFamily="18" charset="0"/>
                          <a:ea typeface="FangSong" panose="02010609060101010101" pitchFamily="49" charset="-122"/>
                        </a:rPr>
                        <a:t>/</a:t>
                      </a:r>
                      <a:r>
                        <a:rPr lang="zh-CN" sz="1000" b="1" kern="100">
                          <a:solidFill>
                            <a:srgbClr val="000000"/>
                          </a:solidFill>
                          <a:effectLst/>
                          <a:latin typeface="Times New Roman" panose="02020603050405020304" pitchFamily="18" charset="0"/>
                          <a:ea typeface="FangSong" panose="02010609060101010101" pitchFamily="49" charset="-122"/>
                        </a:rPr>
                        <a:t>万元</a:t>
                      </a:r>
                      <a:endParaRPr lang="zh-CN" sz="1050" kern="100">
                        <a:effectLst/>
                        <a:latin typeface="Times New Roman" panose="02020603050405020304" pitchFamily="18" charset="0"/>
                        <a:ea typeface="宋体" panose="02010600030101010101" pitchFamily="2" charset="-122"/>
                      </a:endParaRPr>
                    </a:p>
                  </a:txBody>
                  <a:tcPr marL="9525" marR="9525" marT="9525"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DDEBF7"/>
                    </a:solidFill>
                  </a:tcPr>
                </a:tc>
                <a:tc>
                  <a:txBody>
                    <a:bodyPr/>
                    <a:lstStyle/>
                    <a:p>
                      <a:pPr algn="ctr"/>
                      <a:r>
                        <a:rPr lang="zh-CN" sz="1000" b="1" kern="100">
                          <a:solidFill>
                            <a:srgbClr val="000000"/>
                          </a:solidFill>
                          <a:effectLst/>
                          <a:latin typeface="Times New Roman" panose="02020603050405020304" pitchFamily="18" charset="0"/>
                          <a:ea typeface="FangSong" panose="02010609060101010101" pitchFamily="49" charset="-122"/>
                        </a:rPr>
                        <a:t>年化收益率</a:t>
                      </a:r>
                      <a:endParaRPr lang="zh-CN" sz="1050" kern="100">
                        <a:effectLst/>
                        <a:latin typeface="Times New Roman" panose="02020603050405020304" pitchFamily="18" charset="0"/>
                        <a:ea typeface="宋体" panose="02010600030101010101" pitchFamily="2" charset="-122"/>
                      </a:endParaRPr>
                    </a:p>
                  </a:txBody>
                  <a:tcPr marL="9525" marR="9525" marT="9525"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DDEBF7"/>
                    </a:solidFill>
                  </a:tcPr>
                </a:tc>
                <a:extLst>
                  <a:ext uri="{0D108BD9-81ED-4DB2-BD59-A6C34878D82A}">
                    <a16:rowId xmlns:a16="http://schemas.microsoft.com/office/drawing/2014/main" val="1318495336"/>
                  </a:ext>
                </a:extLst>
              </a:tr>
              <a:tr h="248745">
                <a:tc>
                  <a:txBody>
                    <a:bodyPr/>
                    <a:lstStyle/>
                    <a:p>
                      <a:pPr algn="ctr"/>
                      <a:r>
                        <a:rPr lang="zh-CN" sz="900" kern="100">
                          <a:solidFill>
                            <a:srgbClr val="000000"/>
                          </a:solidFill>
                          <a:effectLst/>
                          <a:latin typeface="Times New Roman" panose="02020603050405020304" pitchFamily="18" charset="0"/>
                          <a:ea typeface="FangSong" panose="02010609060101010101" pitchFamily="49" charset="-122"/>
                        </a:rPr>
                        <a:t>乐观</a:t>
                      </a:r>
                      <a:endParaRPr lang="zh-CN" sz="1050" kern="100">
                        <a:effectLst/>
                        <a:latin typeface="Times New Roman" panose="02020603050405020304" pitchFamily="18" charset="0"/>
                        <a:ea typeface="宋体" panose="02010600030101010101" pitchFamily="2" charset="-122"/>
                      </a:endParaRPr>
                    </a:p>
                  </a:txBody>
                  <a:tcPr marL="9525" marR="9525" marT="9525"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900" kern="100">
                          <a:solidFill>
                            <a:srgbClr val="000000"/>
                          </a:solidFill>
                          <a:effectLst/>
                          <a:latin typeface="FangSong" panose="02010609060101010101" pitchFamily="49" charset="-122"/>
                          <a:ea typeface="宋体" panose="02010600030101010101" pitchFamily="2" charset="-122"/>
                        </a:rPr>
                        <a:t>50</a:t>
                      </a:r>
                      <a:r>
                        <a:rPr lang="zh-CN" sz="900" kern="100">
                          <a:solidFill>
                            <a:srgbClr val="000000"/>
                          </a:solidFill>
                          <a:effectLst/>
                          <a:latin typeface="Times New Roman" panose="02020603050405020304" pitchFamily="18" charset="0"/>
                          <a:ea typeface="FangSong" panose="02010609060101010101" pitchFamily="49" charset="-122"/>
                        </a:rPr>
                        <a:t>倍</a:t>
                      </a:r>
                      <a:endParaRPr lang="zh-CN" sz="1050" kern="100">
                        <a:effectLst/>
                        <a:latin typeface="Times New Roman" panose="02020603050405020304" pitchFamily="18" charset="0"/>
                        <a:ea typeface="宋体" panose="02010600030101010101" pitchFamily="2" charset="-122"/>
                      </a:endParaRPr>
                    </a:p>
                  </a:txBody>
                  <a:tcPr marL="9525" marR="9525" marT="9525"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FangSong" panose="02010609060101010101" pitchFamily="49" charset="-122"/>
                          <a:ea typeface="FangSong" panose="02010609060101010101" pitchFamily="49" charset="-122"/>
                        </a:rPr>
                        <a:t>55.26%</a:t>
                      </a:r>
                    </a:p>
                  </a:txBody>
                  <a:tcPr marL="0" marR="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FangSong" panose="02010609060101010101" pitchFamily="49" charset="-122"/>
                          <a:ea typeface="FangSong" panose="02010609060101010101" pitchFamily="49" charset="-122"/>
                        </a:rPr>
                        <a:t>60.57%</a:t>
                      </a:r>
                    </a:p>
                  </a:txBody>
                  <a:tcPr marL="0" marR="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FangSong" panose="02010609060101010101" pitchFamily="49" charset="-122"/>
                          <a:ea typeface="FangSong" panose="02010609060101010101" pitchFamily="49" charset="-122"/>
                        </a:rPr>
                        <a:t>65.47%</a:t>
                      </a:r>
                    </a:p>
                  </a:txBody>
                  <a:tcPr marL="0" marR="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390017436"/>
                  </a:ext>
                </a:extLst>
              </a:tr>
              <a:tr h="248745">
                <a:tc>
                  <a:txBody>
                    <a:bodyPr/>
                    <a:lstStyle/>
                    <a:p>
                      <a:pPr algn="ctr"/>
                      <a:r>
                        <a:rPr lang="zh-CN" sz="900" kern="100">
                          <a:solidFill>
                            <a:srgbClr val="000000"/>
                          </a:solidFill>
                          <a:effectLst/>
                          <a:latin typeface="Times New Roman" panose="02020603050405020304" pitchFamily="18" charset="0"/>
                          <a:ea typeface="FangSong" panose="02010609060101010101" pitchFamily="49" charset="-122"/>
                        </a:rPr>
                        <a:t>中性</a:t>
                      </a:r>
                      <a:endParaRPr lang="zh-CN" sz="1050" kern="100">
                        <a:effectLst/>
                        <a:latin typeface="Times New Roman" panose="02020603050405020304" pitchFamily="18" charset="0"/>
                        <a:ea typeface="宋体" panose="02010600030101010101" pitchFamily="2" charset="-122"/>
                      </a:endParaRPr>
                    </a:p>
                  </a:txBody>
                  <a:tcPr marL="9525" marR="9525" marT="9525"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900" kern="100">
                          <a:solidFill>
                            <a:srgbClr val="000000"/>
                          </a:solidFill>
                          <a:effectLst/>
                          <a:latin typeface="FangSong" panose="02010609060101010101" pitchFamily="49" charset="-122"/>
                          <a:ea typeface="宋体" panose="02010600030101010101" pitchFamily="2" charset="-122"/>
                        </a:rPr>
                        <a:t>45</a:t>
                      </a:r>
                      <a:r>
                        <a:rPr lang="zh-CN" sz="900" kern="100">
                          <a:solidFill>
                            <a:srgbClr val="000000"/>
                          </a:solidFill>
                          <a:effectLst/>
                          <a:latin typeface="Times New Roman" panose="02020603050405020304" pitchFamily="18" charset="0"/>
                          <a:ea typeface="FangSong" panose="02010609060101010101" pitchFamily="49" charset="-122"/>
                        </a:rPr>
                        <a:t>倍</a:t>
                      </a:r>
                      <a:endParaRPr lang="zh-CN" sz="1050" kern="100">
                        <a:effectLst/>
                        <a:latin typeface="Times New Roman" panose="02020603050405020304" pitchFamily="18" charset="0"/>
                        <a:ea typeface="宋体" panose="02010600030101010101" pitchFamily="2" charset="-122"/>
                      </a:endParaRPr>
                    </a:p>
                  </a:txBody>
                  <a:tcPr marL="9525" marR="9525" marT="9525"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FangSong" panose="02010609060101010101" pitchFamily="49" charset="-122"/>
                          <a:ea typeface="FangSong" panose="02010609060101010101" pitchFamily="49" charset="-122"/>
                        </a:rPr>
                        <a:t>50.66%</a:t>
                      </a:r>
                    </a:p>
                  </a:txBody>
                  <a:tcPr marL="0" marR="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FangSong" panose="02010609060101010101" pitchFamily="49" charset="-122"/>
                          <a:ea typeface="FangSong" panose="02010609060101010101" pitchFamily="49" charset="-122"/>
                        </a:rPr>
                        <a:t>55.81%</a:t>
                      </a:r>
                    </a:p>
                  </a:txBody>
                  <a:tcPr marL="0" marR="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fontAlgn="ctr"/>
                      <a:r>
                        <a:rPr lang="en-US" altLang="zh-CN" sz="900" b="1" i="0" u="none" strike="noStrike" dirty="0">
                          <a:solidFill>
                            <a:srgbClr val="000000"/>
                          </a:solidFill>
                          <a:effectLst/>
                          <a:latin typeface="FangSong" panose="02010609060101010101" pitchFamily="49" charset="-122"/>
                          <a:ea typeface="FangSong" panose="02010609060101010101" pitchFamily="49" charset="-122"/>
                        </a:rPr>
                        <a:t>60.57%</a:t>
                      </a:r>
                    </a:p>
                  </a:txBody>
                  <a:tcPr marL="0" marR="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2490531565"/>
                  </a:ext>
                </a:extLst>
              </a:tr>
              <a:tr h="261836">
                <a:tc>
                  <a:txBody>
                    <a:bodyPr/>
                    <a:lstStyle/>
                    <a:p>
                      <a:pPr algn="ctr"/>
                      <a:r>
                        <a:rPr lang="zh-CN" sz="900" kern="100">
                          <a:solidFill>
                            <a:srgbClr val="000000"/>
                          </a:solidFill>
                          <a:effectLst/>
                          <a:latin typeface="Times New Roman" panose="02020603050405020304" pitchFamily="18" charset="0"/>
                          <a:ea typeface="FangSong" panose="02010609060101010101" pitchFamily="49" charset="-122"/>
                        </a:rPr>
                        <a:t>保守</a:t>
                      </a:r>
                      <a:endParaRPr lang="zh-CN" sz="1050" kern="100">
                        <a:effectLst/>
                        <a:latin typeface="Times New Roman" panose="02020603050405020304" pitchFamily="18" charset="0"/>
                        <a:ea typeface="宋体" panose="02010600030101010101" pitchFamily="2" charset="-122"/>
                      </a:endParaRPr>
                    </a:p>
                  </a:txBody>
                  <a:tcPr marL="9525" marR="9525" marT="9525"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900" kern="100">
                          <a:solidFill>
                            <a:srgbClr val="000000"/>
                          </a:solidFill>
                          <a:effectLst/>
                          <a:latin typeface="FangSong" panose="02010609060101010101" pitchFamily="49" charset="-122"/>
                          <a:ea typeface="宋体" panose="02010600030101010101" pitchFamily="2" charset="-122"/>
                        </a:rPr>
                        <a:t>40</a:t>
                      </a:r>
                      <a:r>
                        <a:rPr lang="zh-CN" sz="900" kern="100">
                          <a:solidFill>
                            <a:srgbClr val="000000"/>
                          </a:solidFill>
                          <a:effectLst/>
                          <a:latin typeface="Times New Roman" panose="02020603050405020304" pitchFamily="18" charset="0"/>
                          <a:ea typeface="FangSong" panose="02010609060101010101" pitchFamily="49" charset="-122"/>
                        </a:rPr>
                        <a:t>倍</a:t>
                      </a:r>
                      <a:endParaRPr lang="zh-CN" sz="1050" kern="100">
                        <a:effectLst/>
                        <a:latin typeface="Times New Roman" panose="02020603050405020304" pitchFamily="18" charset="0"/>
                        <a:ea typeface="宋体" panose="02010600030101010101" pitchFamily="2" charset="-122"/>
                      </a:endParaRPr>
                    </a:p>
                  </a:txBody>
                  <a:tcPr marL="9525" marR="9525" marT="9525"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fontAlgn="ctr"/>
                      <a:r>
                        <a:rPr lang="en-US" altLang="zh-CN" sz="900" b="0" i="0" u="none" strike="noStrike" dirty="0">
                          <a:solidFill>
                            <a:srgbClr val="000000"/>
                          </a:solidFill>
                          <a:effectLst/>
                          <a:latin typeface="FangSong" panose="02010609060101010101" pitchFamily="49" charset="-122"/>
                          <a:ea typeface="FangSong" panose="02010609060101010101" pitchFamily="49" charset="-122"/>
                        </a:rPr>
                        <a:t>45.68%</a:t>
                      </a:r>
                    </a:p>
                  </a:txBody>
                  <a:tcPr marL="0" marR="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FangSong" panose="02010609060101010101" pitchFamily="49" charset="-122"/>
                          <a:ea typeface="FangSong" panose="02010609060101010101" pitchFamily="49" charset="-122"/>
                        </a:rPr>
                        <a:t>50.66%</a:t>
                      </a:r>
                    </a:p>
                  </a:txBody>
                  <a:tcPr marL="0" marR="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fontAlgn="ctr"/>
                      <a:r>
                        <a:rPr lang="en-US" altLang="zh-CN" sz="900" b="0" i="0" u="none" strike="noStrike" dirty="0">
                          <a:solidFill>
                            <a:srgbClr val="000000"/>
                          </a:solidFill>
                          <a:effectLst/>
                          <a:latin typeface="FangSong" panose="02010609060101010101" pitchFamily="49" charset="-122"/>
                          <a:ea typeface="FangSong" panose="02010609060101010101" pitchFamily="49" charset="-122"/>
                        </a:rPr>
                        <a:t>55.26%</a:t>
                      </a:r>
                    </a:p>
                  </a:txBody>
                  <a:tcPr marL="0" marR="0"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483144727"/>
                  </a:ext>
                </a:extLst>
              </a:tr>
            </a:tbl>
          </a:graphicData>
        </a:graphic>
      </p:graphicFrame>
    </p:spTree>
    <p:extLst>
      <p:ext uri="{BB962C8B-B14F-4D97-AF65-F5344CB8AC3E}">
        <p14:creationId xmlns:p14="http://schemas.microsoft.com/office/powerpoint/2010/main" val="3845136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39DBCD6-23C0-477B-B058-4646A0E3A5C3}"/>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七、投资因素</a:t>
            </a:r>
            <a:r>
              <a:rPr lang="en-US" altLang="zh-CN" sz="2400" dirty="0">
                <a:solidFill>
                  <a:schemeClr val="bg1">
                    <a:lumMod val="50000"/>
                  </a:schemeClr>
                </a:solidFill>
              </a:rPr>
              <a:t>|</a:t>
            </a:r>
            <a:r>
              <a:rPr lang="zh-CN" altLang="en-US" sz="2000" dirty="0"/>
              <a:t>项目亮点</a:t>
            </a:r>
            <a:endParaRPr lang="en-US" altLang="zh-CN" sz="2400" dirty="0"/>
          </a:p>
        </p:txBody>
      </p:sp>
      <p:sp>
        <p:nvSpPr>
          <p:cNvPr id="9" name="Rectangle 3">
            <a:extLst>
              <a:ext uri="{FF2B5EF4-FFF2-40B4-BE49-F238E27FC236}">
                <a16:creationId xmlns:a16="http://schemas.microsoft.com/office/drawing/2014/main" id="{275760E6-5B60-4C40-8508-B5357E1C9D62}"/>
              </a:ext>
            </a:extLst>
          </p:cNvPr>
          <p:cNvSpPr txBox="1">
            <a:spLocks noChangeArrowheads="1"/>
          </p:cNvSpPr>
          <p:nvPr/>
        </p:nvSpPr>
        <p:spPr>
          <a:xfrm>
            <a:off x="457200" y="411600"/>
            <a:ext cx="8229600" cy="4392305"/>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indent="180000">
              <a:lnSpc>
                <a:spcPct val="150000"/>
              </a:lnSpc>
              <a:spcBef>
                <a:spcPts val="0"/>
              </a:spcBef>
              <a:buSzPct val="70000"/>
              <a:buBlip>
                <a:blip r:embed="rId3"/>
              </a:buBlip>
            </a:pPr>
            <a:r>
              <a:rPr lang="zh-CN" altLang="zh-CN" sz="1400" b="1" dirty="0">
                <a:solidFill>
                  <a:srgbClr val="C00000"/>
                </a:solidFill>
                <a:latin typeface="仿宋" panose="02010609060101010101" pitchFamily="49" charset="-122"/>
                <a:ea typeface="仿宋" panose="02010609060101010101" pitchFamily="49" charset="-122"/>
              </a:rPr>
              <a:t>千亿国产化赛道市场巨大，百亿细分领域多点开花</a:t>
            </a:r>
            <a:endParaRPr lang="en-US" altLang="zh-CN" sz="1400" b="1" dirty="0">
              <a:solidFill>
                <a:srgbClr val="C00000"/>
              </a:solidFill>
              <a:latin typeface="仿宋" panose="02010609060101010101" pitchFamily="49" charset="-122"/>
              <a:ea typeface="仿宋" panose="02010609060101010101" pitchFamily="49" charset="-122"/>
            </a:endParaRPr>
          </a:p>
          <a:p>
            <a:pPr marL="288000" lvl="1">
              <a:lnSpc>
                <a:spcPct val="150000"/>
              </a:lnSpc>
              <a:spcBef>
                <a:spcPts val="0"/>
              </a:spcBef>
              <a:buSzPct val="70000"/>
              <a:defRPr/>
            </a:pPr>
            <a:r>
              <a:rPr lang="en-US" altLang="zh-CN" sz="1100" dirty="0">
                <a:latin typeface="仿宋" panose="02010609060101010101" pitchFamily="49" charset="-122"/>
                <a:ea typeface="仿宋" panose="02010609060101010101" pitchFamily="49" charset="-122"/>
              </a:rPr>
              <a:t>TMR</a:t>
            </a:r>
            <a:r>
              <a:rPr lang="zh-CN" altLang="en-US" sz="1100" dirty="0">
                <a:latin typeface="仿宋" panose="02010609060101010101" pitchFamily="49" charset="-122"/>
                <a:ea typeface="仿宋" panose="02010609060101010101" pitchFamily="49" charset="-122"/>
              </a:rPr>
              <a:t>数据，</a:t>
            </a:r>
            <a:r>
              <a:rPr lang="en-US" altLang="zh-CN" sz="1100" dirty="0">
                <a:latin typeface="仿宋" panose="02010609060101010101" pitchFamily="49" charset="-122"/>
                <a:ea typeface="仿宋" panose="02010609060101010101" pitchFamily="49" charset="-122"/>
              </a:rPr>
              <a:t>2019</a:t>
            </a:r>
            <a:r>
              <a:rPr lang="zh-CN" altLang="en-US" sz="1100" dirty="0">
                <a:latin typeface="仿宋" panose="02010609060101010101" pitchFamily="49" charset="-122"/>
                <a:ea typeface="仿宋" panose="02010609060101010101" pitchFamily="49" charset="-122"/>
              </a:rPr>
              <a:t>年</a:t>
            </a:r>
            <a:r>
              <a:rPr lang="en-US" altLang="zh-CN" sz="1100" dirty="0">
                <a:latin typeface="仿宋" panose="02010609060101010101" pitchFamily="49" charset="-122"/>
                <a:ea typeface="仿宋" panose="02010609060101010101" pitchFamily="49" charset="-122"/>
              </a:rPr>
              <a:t>PMIC</a:t>
            </a:r>
            <a:r>
              <a:rPr lang="zh-CN" altLang="en-US" sz="1100" dirty="0">
                <a:latin typeface="仿宋" panose="02010609060101010101" pitchFamily="49" charset="-122"/>
                <a:ea typeface="仿宋" panose="02010609060101010101" pitchFamily="49" charset="-122"/>
              </a:rPr>
              <a:t>全球市场</a:t>
            </a:r>
            <a:r>
              <a:rPr lang="en-US" altLang="zh-CN" sz="1100" dirty="0">
                <a:latin typeface="仿宋" panose="02010609060101010101" pitchFamily="49" charset="-122"/>
                <a:ea typeface="仿宋" panose="02010609060101010101" pitchFamily="49" charset="-122"/>
              </a:rPr>
              <a:t>470</a:t>
            </a:r>
            <a:r>
              <a:rPr lang="zh-CN" altLang="en-US" sz="1100" dirty="0">
                <a:latin typeface="仿宋" panose="02010609060101010101" pitchFamily="49" charset="-122"/>
                <a:ea typeface="仿宋" panose="02010609060101010101" pitchFamily="49" charset="-122"/>
              </a:rPr>
              <a:t>亿美元</a:t>
            </a:r>
            <a:r>
              <a:rPr lang="en-US" altLang="zh-CN" sz="1100" dirty="0">
                <a:latin typeface="仿宋" panose="02010609060101010101" pitchFamily="49" charset="-122"/>
                <a:ea typeface="仿宋" panose="02010609060101010101" pitchFamily="49" charset="-122"/>
              </a:rPr>
              <a:t>(</a:t>
            </a:r>
            <a:r>
              <a:rPr lang="zh-CN" altLang="en-US" sz="1100" dirty="0">
                <a:latin typeface="仿宋" panose="02010609060101010101" pitchFamily="49" charset="-122"/>
                <a:ea typeface="仿宋" panose="02010609060101010101" pitchFamily="49" charset="-122"/>
              </a:rPr>
              <a:t>至</a:t>
            </a:r>
            <a:r>
              <a:rPr lang="en-US" altLang="zh-CN" sz="1100" dirty="0">
                <a:latin typeface="仿宋" panose="02010609060101010101" pitchFamily="49" charset="-122"/>
                <a:ea typeface="仿宋" panose="02010609060101010101" pitchFamily="49" charset="-122"/>
              </a:rPr>
              <a:t>2018</a:t>
            </a:r>
            <a:r>
              <a:rPr lang="zh-CN" altLang="en-US" sz="1100" dirty="0">
                <a:latin typeface="仿宋" panose="02010609060101010101" pitchFamily="49" charset="-122"/>
                <a:ea typeface="仿宋" panose="02010609060101010101" pitchFamily="49" charset="-122"/>
              </a:rPr>
              <a:t>年</a:t>
            </a:r>
            <a:r>
              <a:rPr lang="en-US" altLang="zh-CN" sz="1100" dirty="0">
                <a:latin typeface="仿宋" panose="02010609060101010101" pitchFamily="49" charset="-122"/>
                <a:ea typeface="仿宋" panose="02010609060101010101" pitchFamily="49" charset="-122"/>
              </a:rPr>
              <a:t>CAGR</a:t>
            </a:r>
            <a:r>
              <a:rPr lang="zh-CN" altLang="en-US" sz="1100" dirty="0">
                <a:latin typeface="仿宋" panose="02010609060101010101" pitchFamily="49" charset="-122"/>
                <a:ea typeface="仿宋" panose="02010609060101010101" pitchFamily="49" charset="-122"/>
              </a:rPr>
              <a:t>近</a:t>
            </a:r>
            <a:r>
              <a:rPr lang="en-US" altLang="zh-CN" sz="1100" dirty="0">
                <a:latin typeface="仿宋" panose="02010609060101010101" pitchFamily="49" charset="-122"/>
                <a:ea typeface="仿宋" panose="02010609060101010101" pitchFamily="49" charset="-122"/>
              </a:rPr>
              <a:t>11%)</a:t>
            </a:r>
            <a:r>
              <a:rPr lang="zh-CN" altLang="en-US" sz="1100" dirty="0">
                <a:latin typeface="仿宋" panose="02010609060101010101" pitchFamily="49" charset="-122"/>
                <a:ea typeface="仿宋" panose="02010609060101010101" pitchFamily="49" charset="-122"/>
              </a:rPr>
              <a:t>，中国市场</a:t>
            </a:r>
            <a:r>
              <a:rPr lang="en-US" altLang="zh-CN" sz="1100" dirty="0">
                <a:latin typeface="仿宋" panose="02010609060101010101" pitchFamily="49" charset="-122"/>
                <a:ea typeface="仿宋" panose="02010609060101010101" pitchFamily="49" charset="-122"/>
              </a:rPr>
              <a:t>700</a:t>
            </a:r>
            <a:r>
              <a:rPr lang="zh-CN" altLang="en-US" sz="1100" dirty="0">
                <a:latin typeface="仿宋" panose="02010609060101010101" pitchFamily="49" charset="-122"/>
                <a:ea typeface="仿宋" panose="02010609060101010101" pitchFamily="49" charset="-122"/>
              </a:rPr>
              <a:t>亿元</a:t>
            </a:r>
            <a:r>
              <a:rPr lang="en-US" altLang="zh-CN" sz="1100" dirty="0">
                <a:latin typeface="仿宋" panose="02010609060101010101" pitchFamily="49" charset="-122"/>
                <a:ea typeface="仿宋" panose="02010609060101010101" pitchFamily="49" charset="-122"/>
              </a:rPr>
              <a:t>(80%</a:t>
            </a:r>
            <a:r>
              <a:rPr lang="zh-CN" altLang="en-US" sz="1100" dirty="0">
                <a:latin typeface="仿宋" panose="02010609060101010101" pitchFamily="49" charset="-122"/>
                <a:ea typeface="仿宋" panose="02010609060101010101" pitchFamily="49" charset="-122"/>
              </a:rPr>
              <a:t>为欧美企业</a:t>
            </a:r>
            <a:r>
              <a:rPr lang="en-US" altLang="zh-CN" sz="1100" dirty="0">
                <a:latin typeface="仿宋" panose="02010609060101010101" pitchFamily="49" charset="-122"/>
                <a:ea typeface="仿宋" panose="02010609060101010101" pitchFamily="49" charset="-122"/>
              </a:rPr>
              <a:t>)</a:t>
            </a:r>
            <a:r>
              <a:rPr lang="zh-CN" altLang="en-US" sz="1100" dirty="0">
                <a:latin typeface="仿宋" panose="02010609060101010101" pitchFamily="49" charset="-122"/>
                <a:ea typeface="仿宋" panose="02010609060101010101" pitchFamily="49" charset="-122"/>
              </a:rPr>
              <a:t>，去</a:t>
            </a:r>
            <a:r>
              <a:rPr lang="en-US" altLang="zh-CN" sz="1100" dirty="0">
                <a:latin typeface="仿宋" panose="02010609060101010101" pitchFamily="49" charset="-122"/>
                <a:ea typeface="仿宋" panose="02010609060101010101" pitchFamily="49" charset="-122"/>
              </a:rPr>
              <a:t>A</a:t>
            </a:r>
            <a:r>
              <a:rPr lang="zh-CN" altLang="en-US" sz="1100" dirty="0">
                <a:latin typeface="仿宋" panose="02010609060101010101" pitchFamily="49" charset="-122"/>
                <a:ea typeface="仿宋" panose="02010609060101010101" pitchFamily="49" charset="-122"/>
              </a:rPr>
              <a:t>国产替代“戴维斯双击”空间巨大；</a:t>
            </a:r>
            <a:endParaRPr lang="en-US" altLang="zh-CN" sz="1100" dirty="0">
              <a:latin typeface="仿宋" panose="02010609060101010101" pitchFamily="49" charset="-122"/>
              <a:ea typeface="仿宋" panose="02010609060101010101" pitchFamily="49" charset="-122"/>
            </a:endParaRPr>
          </a:p>
          <a:p>
            <a:pPr marL="288000" lvl="1">
              <a:lnSpc>
                <a:spcPct val="150000"/>
              </a:lnSpc>
              <a:spcBef>
                <a:spcPts val="0"/>
              </a:spcBef>
              <a:buSzPct val="70000"/>
              <a:defRPr/>
            </a:pPr>
            <a:r>
              <a:rPr lang="en-US" altLang="zh-CN" sz="1100" dirty="0">
                <a:latin typeface="仿宋" panose="02010609060101010101" pitchFamily="49" charset="-122"/>
                <a:ea typeface="仿宋" panose="02010609060101010101" pitchFamily="49" charset="-122"/>
              </a:rPr>
              <a:t>BBC</a:t>
            </a:r>
            <a:r>
              <a:rPr lang="zh-CN" altLang="en-US" sz="1100" dirty="0">
                <a:latin typeface="仿宋" panose="02010609060101010101" pitchFamily="49" charset="-122"/>
                <a:ea typeface="仿宋" panose="02010609060101010101" pitchFamily="49" charset="-122"/>
              </a:rPr>
              <a:t>数据，</a:t>
            </a:r>
            <a:r>
              <a:rPr lang="zh-CN" altLang="zh-CN" sz="1100" dirty="0">
                <a:latin typeface="仿宋" panose="02010609060101010101" pitchFamily="49" charset="-122"/>
                <a:ea typeface="仿宋" panose="02010609060101010101" pitchFamily="49" charset="-122"/>
              </a:rPr>
              <a:t>近年来在智能手机、</a:t>
            </a:r>
            <a:r>
              <a:rPr lang="en-US" altLang="zh-CN" sz="1100" dirty="0">
                <a:latin typeface="仿宋" panose="02010609060101010101" pitchFamily="49" charset="-122"/>
                <a:ea typeface="仿宋" panose="02010609060101010101" pitchFamily="49" charset="-122"/>
              </a:rPr>
              <a:t>TWS</a:t>
            </a:r>
            <a:r>
              <a:rPr lang="zh-CN" altLang="zh-CN" sz="1100" dirty="0">
                <a:latin typeface="仿宋" panose="02010609060101010101" pitchFamily="49" charset="-122"/>
                <a:ea typeface="仿宋" panose="02010609060101010101" pitchFamily="49" charset="-122"/>
              </a:rPr>
              <a:t>等下游高端消费电子产品产量高速增长，手机（充电</a:t>
            </a:r>
            <a:r>
              <a:rPr lang="zh-CN" altLang="en-US" sz="1100" dirty="0">
                <a:latin typeface="仿宋" panose="02010609060101010101" pitchFamily="49" charset="-122"/>
                <a:ea typeface="仿宋" panose="02010609060101010101" pitchFamily="49" charset="-122"/>
              </a:rPr>
              <a:t>、</a:t>
            </a:r>
            <a:r>
              <a:rPr lang="zh-CN" altLang="zh-CN" sz="1100" dirty="0">
                <a:latin typeface="仿宋" panose="02010609060101010101" pitchFamily="49" charset="-122"/>
                <a:ea typeface="仿宋" panose="02010609060101010101" pitchFamily="49" charset="-122"/>
              </a:rPr>
              <a:t>电量</a:t>
            </a:r>
            <a:r>
              <a:rPr lang="zh-CN" altLang="en-US" sz="1100" dirty="0">
                <a:latin typeface="仿宋" panose="02010609060101010101" pitchFamily="49" charset="-122"/>
                <a:ea typeface="仿宋" panose="02010609060101010101" pitchFamily="49" charset="-122"/>
              </a:rPr>
              <a:t>、</a:t>
            </a:r>
            <a:r>
              <a:rPr lang="zh-CN" altLang="zh-CN" sz="1100" dirty="0">
                <a:latin typeface="仿宋" panose="02010609060101010101" pitchFamily="49" charset="-122"/>
                <a:ea typeface="仿宋" panose="02010609060101010101" pitchFamily="49" charset="-122"/>
              </a:rPr>
              <a:t>电池管理）、笔记本电脑（</a:t>
            </a:r>
            <a:r>
              <a:rPr lang="en-US" altLang="zh-CN" sz="1100" dirty="0">
                <a:latin typeface="仿宋" panose="02010609060101010101" pitchFamily="49" charset="-122"/>
                <a:ea typeface="仿宋" panose="02010609060101010101" pitchFamily="49" charset="-122"/>
              </a:rPr>
              <a:t>DC/DC</a:t>
            </a:r>
            <a:r>
              <a:rPr lang="zh-CN" altLang="zh-CN" sz="1100" dirty="0">
                <a:latin typeface="仿宋" panose="02010609060101010101" pitchFamily="49" charset="-122"/>
                <a:ea typeface="仿宋" panose="02010609060101010101" pitchFamily="49" charset="-122"/>
              </a:rPr>
              <a:t>、充电）、</a:t>
            </a:r>
            <a:r>
              <a:rPr lang="en-US" altLang="zh-CN" sz="1100" dirty="0">
                <a:latin typeface="仿宋" panose="02010609060101010101" pitchFamily="49" charset="-122"/>
                <a:ea typeface="仿宋" panose="02010609060101010101" pitchFamily="49" charset="-122"/>
              </a:rPr>
              <a:t> TWS(</a:t>
            </a:r>
            <a:r>
              <a:rPr lang="zh-CN" altLang="zh-CN" sz="1100" dirty="0">
                <a:latin typeface="仿宋" panose="02010609060101010101" pitchFamily="49" charset="-122"/>
                <a:ea typeface="仿宋" panose="02010609060101010101" pitchFamily="49" charset="-122"/>
              </a:rPr>
              <a:t>充电</a:t>
            </a:r>
            <a:r>
              <a:rPr lang="en-US" altLang="zh-CN" sz="1100" dirty="0">
                <a:latin typeface="仿宋" panose="02010609060101010101" pitchFamily="49" charset="-122"/>
                <a:ea typeface="仿宋" panose="02010609060101010101" pitchFamily="49" charset="-122"/>
              </a:rPr>
              <a:t>+</a:t>
            </a:r>
            <a:r>
              <a:rPr lang="zh-CN" altLang="zh-CN" sz="1100" dirty="0">
                <a:latin typeface="仿宋" panose="02010609060101010101" pitchFamily="49" charset="-122"/>
                <a:ea typeface="仿宋" panose="02010609060101010101" pitchFamily="49" charset="-122"/>
              </a:rPr>
              <a:t>蓝牙</a:t>
            </a:r>
            <a:r>
              <a:rPr lang="en-US" altLang="zh-CN" sz="1100" dirty="0">
                <a:latin typeface="仿宋" panose="02010609060101010101" pitchFamily="49" charset="-122"/>
                <a:ea typeface="仿宋" panose="02010609060101010101" pitchFamily="49" charset="-122"/>
              </a:rPr>
              <a:t>)</a:t>
            </a:r>
            <a:r>
              <a:rPr lang="zh-CN" altLang="zh-CN" sz="1100" dirty="0">
                <a:latin typeface="仿宋" panose="02010609060101010101" pitchFamily="49" charset="-122"/>
                <a:ea typeface="仿宋" panose="02010609060101010101" pitchFamily="49" charset="-122"/>
              </a:rPr>
              <a:t>、共享单车</a:t>
            </a:r>
            <a:r>
              <a:rPr lang="en-US" altLang="zh-CN" sz="1100" dirty="0">
                <a:latin typeface="仿宋" panose="02010609060101010101" pitchFamily="49" charset="-122"/>
                <a:ea typeface="仿宋" panose="02010609060101010101" pitchFamily="49" charset="-122"/>
              </a:rPr>
              <a:t>(</a:t>
            </a:r>
            <a:r>
              <a:rPr lang="zh-CN" altLang="zh-CN" sz="1100" dirty="0">
                <a:latin typeface="仿宋" panose="02010609060101010101" pitchFamily="49" charset="-122"/>
                <a:ea typeface="仿宋" panose="02010609060101010101" pitchFamily="49" charset="-122"/>
              </a:rPr>
              <a:t>太阳能充电芯片</a:t>
            </a:r>
            <a:r>
              <a:rPr lang="en-US" altLang="zh-CN" sz="1100" dirty="0">
                <a:latin typeface="仿宋" panose="02010609060101010101" pitchFamily="49" charset="-122"/>
                <a:ea typeface="仿宋" panose="02010609060101010101" pitchFamily="49" charset="-122"/>
              </a:rPr>
              <a:t>+GPS/BD3</a:t>
            </a:r>
            <a:r>
              <a:rPr lang="zh-CN" altLang="zh-CN" sz="1100" dirty="0">
                <a:latin typeface="仿宋" panose="02010609060101010101" pitchFamily="49" charset="-122"/>
                <a:ea typeface="仿宋" panose="02010609060101010101" pitchFamily="49" charset="-122"/>
              </a:rPr>
              <a:t>定位芯片</a:t>
            </a:r>
            <a:r>
              <a:rPr lang="en-US" altLang="zh-CN" sz="1100" dirty="0">
                <a:latin typeface="仿宋" panose="02010609060101010101" pitchFamily="49" charset="-122"/>
                <a:ea typeface="仿宋" panose="02010609060101010101" pitchFamily="49" charset="-122"/>
              </a:rPr>
              <a:t>+BLE</a:t>
            </a:r>
            <a:r>
              <a:rPr lang="zh-CN" altLang="zh-CN" sz="1100" dirty="0">
                <a:latin typeface="仿宋" panose="02010609060101010101" pitchFamily="49" charset="-122"/>
                <a:ea typeface="仿宋" panose="02010609060101010101" pitchFamily="49" charset="-122"/>
              </a:rPr>
              <a:t>）、</a:t>
            </a:r>
            <a:r>
              <a:rPr lang="en-US" altLang="zh-CN" sz="1100" dirty="0">
                <a:latin typeface="仿宋" panose="02010609060101010101" pitchFamily="49" charset="-122"/>
                <a:ea typeface="仿宋" panose="02010609060101010101" pitchFamily="49" charset="-122"/>
              </a:rPr>
              <a:t> BLE</a:t>
            </a:r>
            <a:r>
              <a:rPr lang="zh-CN" altLang="zh-CN" sz="1100" dirty="0">
                <a:latin typeface="仿宋" panose="02010609060101010101" pitchFamily="49" charset="-122"/>
                <a:ea typeface="仿宋" panose="02010609060101010101" pitchFamily="49" charset="-122"/>
              </a:rPr>
              <a:t>市场、高端充电宝（充电</a:t>
            </a:r>
            <a:r>
              <a:rPr lang="zh-CN" altLang="en-US" sz="1100" dirty="0">
                <a:latin typeface="仿宋" panose="02010609060101010101" pitchFamily="49" charset="-122"/>
                <a:ea typeface="仿宋" panose="02010609060101010101" pitchFamily="49" charset="-122"/>
              </a:rPr>
              <a:t>、</a:t>
            </a:r>
            <a:r>
              <a:rPr lang="zh-CN" altLang="zh-CN" sz="1100" dirty="0">
                <a:latin typeface="仿宋" panose="02010609060101010101" pitchFamily="49" charset="-122"/>
                <a:ea typeface="仿宋" panose="02010609060101010101" pitchFamily="49" charset="-122"/>
              </a:rPr>
              <a:t>电量），上述</a:t>
            </a:r>
            <a:r>
              <a:rPr lang="zh-CN" altLang="en-US" sz="1100" dirty="0">
                <a:latin typeface="仿宋" panose="02010609060101010101" pitchFamily="49" charset="-122"/>
                <a:ea typeface="仿宋" panose="02010609060101010101" pitchFamily="49" charset="-122"/>
              </a:rPr>
              <a:t>高端</a:t>
            </a:r>
            <a:r>
              <a:rPr lang="zh-CN" altLang="zh-CN" sz="1100" dirty="0">
                <a:latin typeface="仿宋" panose="02010609060101010101" pitchFamily="49" charset="-122"/>
                <a:ea typeface="仿宋" panose="02010609060101010101" pitchFamily="49" charset="-122"/>
              </a:rPr>
              <a:t>市场芯片总市场规模约</a:t>
            </a:r>
            <a:r>
              <a:rPr lang="en-US" altLang="zh-CN" sz="1200" b="1" u="sng" dirty="0">
                <a:solidFill>
                  <a:srgbClr val="C00000"/>
                </a:solidFill>
                <a:latin typeface="仿宋" panose="02010609060101010101" pitchFamily="49" charset="-122"/>
                <a:ea typeface="仿宋" panose="02010609060101010101" pitchFamily="49" charset="-122"/>
              </a:rPr>
              <a:t>160</a:t>
            </a:r>
            <a:r>
              <a:rPr lang="zh-CN" altLang="zh-CN" sz="1200" b="1" u="sng" dirty="0">
                <a:solidFill>
                  <a:srgbClr val="C00000"/>
                </a:solidFill>
                <a:latin typeface="仿宋" panose="02010609060101010101" pitchFamily="49" charset="-122"/>
                <a:ea typeface="仿宋" panose="02010609060101010101" pitchFamily="49" charset="-122"/>
              </a:rPr>
              <a:t>亿元</a:t>
            </a:r>
            <a:r>
              <a:rPr lang="zh-CN" altLang="zh-CN" sz="1100" dirty="0">
                <a:latin typeface="仿宋" panose="02010609060101010101" pitchFamily="49" charset="-122"/>
                <a:ea typeface="仿宋" panose="02010609060101010101" pitchFamily="49" charset="-122"/>
              </a:rPr>
              <a:t>。</a:t>
            </a:r>
            <a:endParaRPr lang="en-US" altLang="zh-CN" sz="1100" dirty="0">
              <a:latin typeface="仿宋" panose="02010609060101010101" pitchFamily="49" charset="-122"/>
              <a:ea typeface="仿宋" panose="02010609060101010101" pitchFamily="49" charset="-122"/>
            </a:endParaRPr>
          </a:p>
          <a:p>
            <a:pPr marL="0" indent="180000">
              <a:lnSpc>
                <a:spcPct val="150000"/>
              </a:lnSpc>
              <a:spcBef>
                <a:spcPts val="0"/>
              </a:spcBef>
              <a:buSzPct val="70000"/>
              <a:buBlip>
                <a:blip r:embed="rId3"/>
              </a:buBlip>
            </a:pPr>
            <a:r>
              <a:rPr lang="zh-CN" altLang="en-US" sz="1400" b="1" dirty="0">
                <a:solidFill>
                  <a:srgbClr val="C00000"/>
                </a:solidFill>
                <a:latin typeface="仿宋" panose="02010609060101010101" pitchFamily="49" charset="-122"/>
                <a:ea typeface="仿宋" panose="02010609060101010101" pitchFamily="49" charset="-122"/>
              </a:rPr>
              <a:t>符合</a:t>
            </a:r>
            <a:r>
              <a:rPr lang="zh-CN" altLang="zh-CN" sz="1400" b="1" dirty="0">
                <a:solidFill>
                  <a:srgbClr val="C00000"/>
                </a:solidFill>
                <a:latin typeface="仿宋" panose="02010609060101010101" pitchFamily="49" charset="-122"/>
                <a:ea typeface="仿宋" panose="02010609060101010101" pitchFamily="49" charset="-122"/>
              </a:rPr>
              <a:t>超越摩尔模拟领域投资逻辑，国际化立体布局，竞争优势愈发明显</a:t>
            </a:r>
          </a:p>
          <a:p>
            <a:pPr marL="288000" lvl="1">
              <a:lnSpc>
                <a:spcPct val="150000"/>
              </a:lnSpc>
              <a:spcBef>
                <a:spcPts val="0"/>
              </a:spcBef>
              <a:buSzPct val="70000"/>
              <a:defRPr/>
            </a:pPr>
            <a:r>
              <a:rPr lang="zh-CN" altLang="zh-CN" sz="1100" dirty="0">
                <a:latin typeface="仿宋" panose="02010609060101010101" pitchFamily="49" charset="-122"/>
                <a:ea typeface="仿宋" panose="02010609060101010101" pitchFamily="49" charset="-122"/>
              </a:rPr>
              <a:t>中美贸易战、“国产替代”思潮，公司作为国际顶级电源管理技术背景的团队，首当其冲的高端国产品牌被广泛认可。</a:t>
            </a:r>
          </a:p>
          <a:p>
            <a:pPr marL="288000" lvl="1">
              <a:lnSpc>
                <a:spcPct val="150000"/>
              </a:lnSpc>
              <a:spcBef>
                <a:spcPts val="0"/>
              </a:spcBef>
              <a:buSzPct val="70000"/>
              <a:defRPr/>
            </a:pPr>
            <a:r>
              <a:rPr lang="zh-CN" altLang="zh-CN" sz="1100" dirty="0">
                <a:solidFill>
                  <a:srgbClr val="C00000"/>
                </a:solidFill>
                <a:latin typeface="仿宋" panose="02010609060101010101" pitchFamily="49" charset="-122"/>
                <a:ea typeface="仿宋" panose="02010609060101010101" pitchFamily="49" charset="-122"/>
              </a:rPr>
              <a:t>较强的供应链安全性</a:t>
            </a:r>
            <a:r>
              <a:rPr lang="zh-CN" altLang="zh-CN" sz="1100" dirty="0">
                <a:latin typeface="仿宋" panose="02010609060101010101" pitchFamily="49" charset="-122"/>
                <a:ea typeface="仿宋" panose="02010609060101010101" pitchFamily="49" charset="-122"/>
              </a:rPr>
              <a:t>：上游打通韩国东部、世界先进等晶圆厂资源</a:t>
            </a:r>
            <a:r>
              <a:rPr lang="en-US" altLang="zh-CN" sz="1100" dirty="0">
                <a:latin typeface="仿宋" panose="02010609060101010101" pitchFamily="49" charset="-122"/>
                <a:ea typeface="仿宋" panose="02010609060101010101" pitchFamily="49" charset="-122"/>
              </a:rPr>
              <a:t>+</a:t>
            </a:r>
            <a:r>
              <a:rPr lang="zh-CN" altLang="zh-CN" sz="1100" dirty="0">
                <a:latin typeface="仿宋" panose="02010609060101010101" pitchFamily="49" charset="-122"/>
                <a:ea typeface="仿宋" panose="02010609060101010101" pitchFamily="49" charset="-122"/>
              </a:rPr>
              <a:t>中游</a:t>
            </a:r>
            <a:r>
              <a:rPr lang="zh-CN" altLang="en-US" sz="1100" dirty="0">
                <a:latin typeface="仿宋" panose="02010609060101010101" pitchFamily="49" charset="-122"/>
                <a:ea typeface="仿宋" panose="02010609060101010101" pitchFamily="49" charset="-122"/>
              </a:rPr>
              <a:t>境外</a:t>
            </a:r>
            <a:r>
              <a:rPr lang="zh-CN" altLang="zh-CN" sz="1100" dirty="0">
                <a:latin typeface="仿宋" panose="02010609060101010101" pitchFamily="49" charset="-122"/>
                <a:ea typeface="仿宋" panose="02010609060101010101" pitchFamily="49" charset="-122"/>
              </a:rPr>
              <a:t>品质运营</a:t>
            </a:r>
            <a:r>
              <a:rPr lang="en-US" altLang="zh-CN" sz="1100" dirty="0">
                <a:latin typeface="仿宋" panose="02010609060101010101" pitchFamily="49" charset="-122"/>
                <a:ea typeface="仿宋" panose="02010609060101010101" pitchFamily="49" charset="-122"/>
              </a:rPr>
              <a:t>+</a:t>
            </a:r>
            <a:r>
              <a:rPr lang="zh-CN" altLang="zh-CN" sz="1100" dirty="0">
                <a:latin typeface="仿宋" panose="02010609060101010101" pitchFamily="49" charset="-122"/>
                <a:ea typeface="仿宋" panose="02010609060101010101" pitchFamily="49" charset="-122"/>
              </a:rPr>
              <a:t>下游大陆应用市场；</a:t>
            </a:r>
            <a:r>
              <a:rPr lang="en-US" altLang="zh-CN" sz="1100" dirty="0">
                <a:latin typeface="仿宋" panose="02010609060101010101" pitchFamily="49" charset="-122"/>
                <a:ea typeface="仿宋" panose="02010609060101010101" pitchFamily="49" charset="-122"/>
              </a:rPr>
              <a:t>OPPO</a:t>
            </a:r>
            <a:r>
              <a:rPr lang="zh-CN" altLang="zh-CN" sz="1100" dirty="0">
                <a:latin typeface="仿宋" panose="02010609060101010101" pitchFamily="49" charset="-122"/>
                <a:ea typeface="仿宋" panose="02010609060101010101" pitchFamily="49" charset="-122"/>
              </a:rPr>
              <a:t>、华勤等大客户业绩处于上量爬坡阶段，手握明确订单</a:t>
            </a:r>
            <a:r>
              <a:rPr lang="en-US" altLang="zh-CN" sz="1100" dirty="0">
                <a:latin typeface="仿宋" panose="02010609060101010101" pitchFamily="49" charset="-122"/>
                <a:ea typeface="仿宋" panose="02010609060101010101" pitchFamily="49" charset="-122"/>
              </a:rPr>
              <a:t>(</a:t>
            </a:r>
            <a:r>
              <a:rPr lang="zh-CN" altLang="zh-CN" sz="1100" dirty="0">
                <a:latin typeface="仿宋" panose="02010609060101010101" pitchFamily="49" charset="-122"/>
                <a:ea typeface="仿宋" panose="02010609060101010101" pitchFamily="49" charset="-122"/>
              </a:rPr>
              <a:t>给到代理商的发货均得到终端客户的确认</a:t>
            </a:r>
            <a:r>
              <a:rPr lang="en-US" altLang="zh-CN" sz="1100" dirty="0">
                <a:latin typeface="仿宋" panose="02010609060101010101" pitchFamily="49" charset="-122"/>
                <a:ea typeface="仿宋" panose="02010609060101010101" pitchFamily="49" charset="-122"/>
              </a:rPr>
              <a:t>)</a:t>
            </a:r>
            <a:r>
              <a:rPr lang="zh-CN" altLang="zh-CN" sz="1100" dirty="0">
                <a:latin typeface="仿宋" panose="02010609060101010101" pitchFamily="49" charset="-122"/>
                <a:ea typeface="仿宋" panose="02010609060101010101" pitchFamily="49" charset="-122"/>
              </a:rPr>
              <a:t>和项目，未来业绩增长确定。</a:t>
            </a:r>
          </a:p>
          <a:p>
            <a:pPr marL="288000" lvl="1">
              <a:lnSpc>
                <a:spcPct val="150000"/>
              </a:lnSpc>
              <a:spcBef>
                <a:spcPts val="0"/>
              </a:spcBef>
              <a:buSzPct val="70000"/>
              <a:defRPr/>
            </a:pPr>
            <a:r>
              <a:rPr lang="zh-CN" altLang="zh-CN" sz="1100" dirty="0">
                <a:latin typeface="仿宋" panose="02010609060101010101" pitchFamily="49" charset="-122"/>
                <a:ea typeface="仿宋" panose="02010609060101010101" pitchFamily="49" charset="-122"/>
              </a:rPr>
              <a:t>公司具备自己的供应链采购体系，</a:t>
            </a:r>
            <a:r>
              <a:rPr lang="zh-CN" altLang="en-US" sz="1100" dirty="0">
                <a:latin typeface="仿宋" panose="02010609060101010101" pitchFamily="49" charset="-122"/>
                <a:ea typeface="仿宋" panose="02010609060101010101" pitchFamily="49" charset="-122"/>
              </a:rPr>
              <a:t>作为</a:t>
            </a:r>
            <a:r>
              <a:rPr lang="en-US" altLang="zh-CN" sz="1100" dirty="0">
                <a:latin typeface="仿宋" panose="02010609060101010101" pitchFamily="49" charset="-122"/>
                <a:ea typeface="仿宋" panose="02010609060101010101" pitchFamily="49" charset="-122"/>
              </a:rPr>
              <a:t>VIP</a:t>
            </a:r>
            <a:r>
              <a:rPr lang="zh-CN" altLang="en-US" sz="1100" dirty="0">
                <a:latin typeface="仿宋" panose="02010609060101010101" pitchFamily="49" charset="-122"/>
                <a:ea typeface="仿宋" panose="02010609060101010101" pitchFamily="49" charset="-122"/>
              </a:rPr>
              <a:t>客户</a:t>
            </a:r>
            <a:r>
              <a:rPr lang="zh-CN" altLang="zh-CN" sz="1100" dirty="0">
                <a:latin typeface="仿宋" panose="02010609060101010101" pitchFamily="49" charset="-122"/>
                <a:ea typeface="仿宋" panose="02010609060101010101" pitchFamily="49" charset="-122"/>
              </a:rPr>
              <a:t>并享有</a:t>
            </a:r>
            <a:r>
              <a:rPr lang="zh-CN" altLang="zh-CN" sz="1100" u="sng" dirty="0">
                <a:solidFill>
                  <a:srgbClr val="C00000"/>
                </a:solidFill>
                <a:latin typeface="仿宋" panose="02010609060101010101" pitchFamily="49" charset="-122"/>
                <a:ea typeface="仿宋" panose="02010609060101010101" pitchFamily="49" charset="-122"/>
              </a:rPr>
              <a:t>与</a:t>
            </a:r>
            <a:r>
              <a:rPr lang="en-US" altLang="zh-CN" sz="1100" u="sng" dirty="0">
                <a:solidFill>
                  <a:srgbClr val="C00000"/>
                </a:solidFill>
                <a:latin typeface="仿宋" panose="02010609060101010101" pitchFamily="49" charset="-122"/>
                <a:ea typeface="仿宋" panose="02010609060101010101" pitchFamily="49" charset="-122"/>
              </a:rPr>
              <a:t>O2Micro</a:t>
            </a:r>
            <a:r>
              <a:rPr lang="zh-CN" altLang="zh-CN" sz="1100" u="sng" dirty="0">
                <a:solidFill>
                  <a:srgbClr val="C00000"/>
                </a:solidFill>
                <a:latin typeface="仿宋" panose="02010609060101010101" pitchFamily="49" charset="-122"/>
                <a:ea typeface="仿宋" panose="02010609060101010101" pitchFamily="49" charset="-122"/>
              </a:rPr>
              <a:t>同等的服务条件</a:t>
            </a:r>
            <a:r>
              <a:rPr lang="zh-CN" altLang="zh-CN" sz="1100" dirty="0">
                <a:latin typeface="仿宋" panose="02010609060101010101" pitchFamily="49" charset="-122"/>
                <a:ea typeface="仿宋" panose="02010609060101010101" pitchFamily="49" charset="-122"/>
              </a:rPr>
              <a:t>，包括但不仅限于账期、交期、价格等内容，相对于诸多竞争对手均有优势。</a:t>
            </a:r>
          </a:p>
          <a:p>
            <a:pPr marL="0" lvl="1" indent="180000">
              <a:lnSpc>
                <a:spcPct val="150000"/>
              </a:lnSpc>
              <a:spcBef>
                <a:spcPts val="0"/>
              </a:spcBef>
              <a:buSzPct val="70000"/>
              <a:buBlip>
                <a:blip r:embed="rId3"/>
              </a:buBlip>
              <a:defRPr/>
            </a:pPr>
            <a:r>
              <a:rPr lang="zh-CN" altLang="zh-CN" sz="1400" b="1" dirty="0">
                <a:solidFill>
                  <a:srgbClr val="C00000"/>
                </a:solidFill>
                <a:latin typeface="仿宋" panose="02010609060101010101" pitchFamily="49" charset="-122"/>
                <a:ea typeface="仿宋" panose="02010609060101010101" pitchFamily="49" charset="-122"/>
              </a:rPr>
              <a:t>业绩增长确定性高，未来有爆发潜力</a:t>
            </a:r>
            <a:endParaRPr lang="en-US" altLang="zh-CN" sz="1400" b="1" dirty="0">
              <a:solidFill>
                <a:srgbClr val="C00000"/>
              </a:solidFill>
              <a:latin typeface="仿宋" panose="02010609060101010101" pitchFamily="49" charset="-122"/>
              <a:ea typeface="仿宋" panose="02010609060101010101" pitchFamily="49" charset="-122"/>
            </a:endParaRPr>
          </a:p>
          <a:p>
            <a:pPr marL="288000" lvl="1">
              <a:lnSpc>
                <a:spcPct val="150000"/>
              </a:lnSpc>
              <a:spcBef>
                <a:spcPts val="0"/>
              </a:spcBef>
              <a:buSzPct val="70000"/>
              <a:defRPr/>
            </a:pPr>
            <a:r>
              <a:rPr lang="zh-CN" altLang="zh-CN" sz="1100" dirty="0">
                <a:latin typeface="仿宋" panose="02010609060101010101" pitchFamily="49" charset="-122"/>
                <a:ea typeface="仿宋" panose="02010609060101010101" pitchFamily="49" charset="-122"/>
              </a:rPr>
              <a:t>近年来公司产品</a:t>
            </a:r>
            <a:r>
              <a:rPr lang="zh-CN" altLang="zh-CN" sz="1100" u="sng" dirty="0">
                <a:solidFill>
                  <a:srgbClr val="C00000"/>
                </a:solidFill>
                <a:latin typeface="仿宋" panose="02010609060101010101" pitchFamily="49" charset="-122"/>
                <a:ea typeface="仿宋" panose="02010609060101010101" pitchFamily="49" charset="-122"/>
              </a:rPr>
              <a:t>在</a:t>
            </a:r>
            <a:r>
              <a:rPr lang="en-US" altLang="zh-CN" sz="1100" u="sng" dirty="0">
                <a:solidFill>
                  <a:srgbClr val="C00000"/>
                </a:solidFill>
                <a:latin typeface="仿宋" panose="02010609060101010101" pitchFamily="49" charset="-122"/>
                <a:ea typeface="仿宋" panose="02010609060101010101" pitchFamily="49" charset="-122"/>
              </a:rPr>
              <a:t>OPPO</a:t>
            </a:r>
            <a:r>
              <a:rPr lang="zh-CN" altLang="zh-CN" sz="1100" u="sng" dirty="0">
                <a:solidFill>
                  <a:srgbClr val="C00000"/>
                </a:solidFill>
                <a:latin typeface="仿宋" panose="02010609060101010101" pitchFamily="49" charset="-122"/>
                <a:ea typeface="仿宋" panose="02010609060101010101" pitchFamily="49" charset="-122"/>
              </a:rPr>
              <a:t>、华勤、滴滴、美团、</a:t>
            </a:r>
            <a:r>
              <a:rPr lang="en-US" altLang="zh-CN" sz="1100" u="sng" dirty="0">
                <a:solidFill>
                  <a:srgbClr val="C00000"/>
                </a:solidFill>
                <a:latin typeface="仿宋" panose="02010609060101010101" pitchFamily="49" charset="-122"/>
                <a:ea typeface="仿宋" panose="02010609060101010101" pitchFamily="49" charset="-122"/>
              </a:rPr>
              <a:t>Acer</a:t>
            </a:r>
            <a:r>
              <a:rPr lang="zh-CN" altLang="zh-CN" sz="1100" u="sng" dirty="0">
                <a:solidFill>
                  <a:srgbClr val="C00000"/>
                </a:solidFill>
                <a:latin typeface="仿宋" panose="02010609060101010101" pitchFamily="49" charset="-122"/>
                <a:ea typeface="仿宋" panose="02010609060101010101" pitchFamily="49" charset="-122"/>
              </a:rPr>
              <a:t>、酷派等大厂实现量产</a:t>
            </a:r>
            <a:r>
              <a:rPr lang="zh-CN" altLang="zh-CN" sz="1100" dirty="0">
                <a:latin typeface="仿宋" panose="02010609060101010101" pitchFamily="49" charset="-122"/>
                <a:ea typeface="仿宋" panose="02010609060101010101" pitchFamily="49" charset="-122"/>
              </a:rPr>
              <a:t>；储备了小米、</a:t>
            </a:r>
            <a:r>
              <a:rPr lang="en-US" altLang="zh-CN" sz="1100" dirty="0">
                <a:latin typeface="仿宋" panose="02010609060101010101" pitchFamily="49" charset="-122"/>
                <a:ea typeface="仿宋" panose="02010609060101010101" pitchFamily="49" charset="-122"/>
              </a:rPr>
              <a:t>vivo</a:t>
            </a:r>
            <a:r>
              <a:rPr lang="zh-CN" altLang="zh-CN" sz="1100" dirty="0">
                <a:latin typeface="仿宋" panose="02010609060101010101" pitchFamily="49" charset="-122"/>
                <a:ea typeface="仿宋" panose="02010609060101010101" pitchFamily="49" charset="-122"/>
              </a:rPr>
              <a:t>、联想、广达电脑、松下等下游大客户；</a:t>
            </a:r>
          </a:p>
          <a:p>
            <a:pPr marL="288000" lvl="1">
              <a:lnSpc>
                <a:spcPct val="150000"/>
              </a:lnSpc>
              <a:spcBef>
                <a:spcPts val="0"/>
              </a:spcBef>
              <a:buSzPct val="70000"/>
              <a:defRPr/>
            </a:pPr>
            <a:r>
              <a:rPr lang="zh-CN" altLang="zh-CN" sz="1100" dirty="0">
                <a:latin typeface="仿宋" panose="02010609060101010101" pitchFamily="49" charset="-122"/>
                <a:ea typeface="仿宋" panose="02010609060101010101" pitchFamily="49" charset="-122"/>
              </a:rPr>
              <a:t>公司目前订单充足，产品均在高端客户和特殊应用上有明确需求，业绩确定性很高。</a:t>
            </a:r>
          </a:p>
        </p:txBody>
      </p:sp>
    </p:spTree>
    <p:extLst>
      <p:ext uri="{BB962C8B-B14F-4D97-AF65-F5344CB8AC3E}">
        <p14:creationId xmlns:p14="http://schemas.microsoft.com/office/powerpoint/2010/main" val="10054776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39DBCD6-23C0-477B-B058-4646A0E3A5C3}"/>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七、投资因素</a:t>
            </a:r>
            <a:r>
              <a:rPr lang="en-US" altLang="zh-CN" sz="2400" dirty="0">
                <a:solidFill>
                  <a:schemeClr val="bg1">
                    <a:lumMod val="50000"/>
                  </a:schemeClr>
                </a:solidFill>
              </a:rPr>
              <a:t>|</a:t>
            </a:r>
            <a:r>
              <a:rPr lang="zh-CN" altLang="en-US" sz="2000" dirty="0"/>
              <a:t>项目亮点</a:t>
            </a:r>
            <a:endParaRPr lang="en-US" altLang="zh-CN" sz="2400" dirty="0"/>
          </a:p>
        </p:txBody>
      </p:sp>
      <p:sp>
        <p:nvSpPr>
          <p:cNvPr id="9" name="Rectangle 3">
            <a:extLst>
              <a:ext uri="{FF2B5EF4-FFF2-40B4-BE49-F238E27FC236}">
                <a16:creationId xmlns:a16="http://schemas.microsoft.com/office/drawing/2014/main" id="{275760E6-5B60-4C40-8508-B5357E1C9D62}"/>
              </a:ext>
            </a:extLst>
          </p:cNvPr>
          <p:cNvSpPr txBox="1">
            <a:spLocks noChangeArrowheads="1"/>
          </p:cNvSpPr>
          <p:nvPr/>
        </p:nvSpPr>
        <p:spPr>
          <a:xfrm>
            <a:off x="457200" y="411600"/>
            <a:ext cx="8229600" cy="4176290"/>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indent="180000">
              <a:lnSpc>
                <a:spcPct val="150000"/>
              </a:lnSpc>
              <a:spcBef>
                <a:spcPts val="0"/>
              </a:spcBef>
              <a:buSzPct val="70000"/>
              <a:buBlip>
                <a:blip r:embed="rId3"/>
              </a:buBlip>
            </a:pPr>
            <a:r>
              <a:rPr lang="zh-CN" altLang="zh-CN" sz="1200" b="1" dirty="0">
                <a:solidFill>
                  <a:srgbClr val="C00000"/>
                </a:solidFill>
                <a:latin typeface="仿宋" panose="02010609060101010101" pitchFamily="49" charset="-122"/>
                <a:ea typeface="仿宋" panose="02010609060101010101" pitchFamily="49" charset="-122"/>
              </a:rPr>
              <a:t>国际化团队成熟稳定，大厂精益规范管理，掌握核心顶级技术</a:t>
            </a:r>
            <a:endParaRPr lang="en-US" altLang="zh-CN" sz="1200" b="1" dirty="0">
              <a:solidFill>
                <a:srgbClr val="C00000"/>
              </a:solidFill>
              <a:latin typeface="仿宋" panose="02010609060101010101" pitchFamily="49" charset="-122"/>
              <a:ea typeface="仿宋" panose="02010609060101010101" pitchFamily="49" charset="-122"/>
            </a:endParaRPr>
          </a:p>
          <a:p>
            <a:pPr marL="288000" lvl="1">
              <a:lnSpc>
                <a:spcPct val="150000"/>
              </a:lnSpc>
              <a:spcBef>
                <a:spcPts val="0"/>
              </a:spcBef>
              <a:buSzPct val="70000"/>
              <a:defRPr/>
            </a:pPr>
            <a:r>
              <a:rPr lang="zh-CN" altLang="zh-CN" sz="1200" dirty="0">
                <a:latin typeface="仿宋" panose="02010609060101010101" pitchFamily="49" charset="-122"/>
                <a:ea typeface="仿宋" panose="02010609060101010101" pitchFamily="49" charset="-122"/>
              </a:rPr>
              <a:t>团队成员主要来自于</a:t>
            </a:r>
            <a:r>
              <a:rPr lang="en-US" altLang="zh-CN" sz="1200" dirty="0">
                <a:latin typeface="仿宋" panose="02010609060101010101" pitchFamily="49" charset="-122"/>
                <a:ea typeface="仿宋" panose="02010609060101010101" pitchFamily="49" charset="-122"/>
              </a:rPr>
              <a:t>O2Micro</a:t>
            </a:r>
            <a:r>
              <a:rPr lang="zh-CN" altLang="zh-CN" sz="1200" dirty="0">
                <a:latin typeface="仿宋" panose="02010609060101010101" pitchFamily="49" charset="-122"/>
                <a:ea typeface="仿宋" panose="02010609060101010101" pitchFamily="49" charset="-122"/>
              </a:rPr>
              <a:t>等，在核心技术和产业链资源方面有较强积累；核心管理团队十分稳定；超过半数员工持股；</a:t>
            </a:r>
          </a:p>
          <a:p>
            <a:pPr marL="288000" lvl="1">
              <a:lnSpc>
                <a:spcPct val="150000"/>
              </a:lnSpc>
              <a:spcBef>
                <a:spcPts val="0"/>
              </a:spcBef>
              <a:buSzPct val="70000"/>
              <a:defRPr/>
            </a:pPr>
            <a:r>
              <a:rPr lang="zh-CN" altLang="zh-CN" sz="1200" dirty="0">
                <a:latin typeface="仿宋" panose="02010609060101010101" pitchFamily="49" charset="-122"/>
                <a:ea typeface="仿宋" panose="02010609060101010101" pitchFamily="49" charset="-122"/>
              </a:rPr>
              <a:t>公司是</a:t>
            </a:r>
            <a:r>
              <a:rPr lang="zh-CN" altLang="zh-CN" sz="1200" b="1" u="sng" dirty="0">
                <a:solidFill>
                  <a:srgbClr val="C00000"/>
                </a:solidFill>
                <a:latin typeface="仿宋" panose="02010609060101010101" pitchFamily="49" charset="-122"/>
                <a:ea typeface="仿宋" panose="02010609060101010101" pitchFamily="49" charset="-122"/>
              </a:rPr>
              <a:t>国内很少能掌握完整高端</a:t>
            </a:r>
            <a:r>
              <a:rPr lang="en-US" altLang="zh-CN" sz="1200" b="1" u="sng" dirty="0">
                <a:solidFill>
                  <a:srgbClr val="C00000"/>
                </a:solidFill>
                <a:latin typeface="仿宋" panose="02010609060101010101" pitchFamily="49" charset="-122"/>
                <a:ea typeface="仿宋" panose="02010609060101010101" pitchFamily="49" charset="-122"/>
              </a:rPr>
              <a:t>PMIC</a:t>
            </a:r>
            <a:r>
              <a:rPr lang="zh-CN" altLang="zh-CN" sz="1200" b="1" u="sng" dirty="0">
                <a:solidFill>
                  <a:srgbClr val="C00000"/>
                </a:solidFill>
                <a:latin typeface="仿宋" panose="02010609060101010101" pitchFamily="49" charset="-122"/>
                <a:ea typeface="仿宋" panose="02010609060101010101" pitchFamily="49" charset="-122"/>
              </a:rPr>
              <a:t>技术的企业</a:t>
            </a:r>
            <a:r>
              <a:rPr lang="zh-CN" altLang="zh-CN" sz="1200" dirty="0">
                <a:latin typeface="仿宋" panose="02010609060101010101" pitchFamily="49" charset="-122"/>
                <a:ea typeface="仿宋" panose="02010609060101010101" pitchFamily="49" charset="-122"/>
              </a:rPr>
              <a:t>，核心技术团队拥有多项电源管理</a:t>
            </a:r>
            <a:r>
              <a:rPr lang="en-US" altLang="zh-CN" sz="1200" dirty="0">
                <a:latin typeface="仿宋" panose="02010609060101010101" pitchFamily="49" charset="-122"/>
                <a:ea typeface="仿宋" panose="02010609060101010101" pitchFamily="49" charset="-122"/>
              </a:rPr>
              <a:t>IC</a:t>
            </a:r>
            <a:r>
              <a:rPr lang="zh-CN" altLang="zh-CN" sz="1200" dirty="0">
                <a:latin typeface="仿宋" panose="02010609060101010101" pitchFamily="49" charset="-122"/>
                <a:ea typeface="仿宋" panose="02010609060101010101" pitchFamily="49" charset="-122"/>
              </a:rPr>
              <a:t>国内外专利，近</a:t>
            </a:r>
            <a:r>
              <a:rPr lang="en-US" altLang="zh-CN" sz="1200" dirty="0">
                <a:latin typeface="仿宋" panose="02010609060101010101" pitchFamily="49" charset="-122"/>
                <a:ea typeface="仿宋" panose="02010609060101010101" pitchFamily="49" charset="-122"/>
              </a:rPr>
              <a:t>20</a:t>
            </a:r>
            <a:r>
              <a:rPr lang="zh-CN" altLang="zh-CN" sz="1200" dirty="0">
                <a:latin typeface="仿宋" panose="02010609060101010101" pitchFamily="49" charset="-122"/>
                <a:ea typeface="仿宋" panose="02010609060101010101" pitchFamily="49" charset="-122"/>
              </a:rPr>
              <a:t>年电源管理芯片的定义、研发、测试及量产经验；在研发团队管理、新产品规划及量产、品控运营等各环节的管控上有着独到的见解及数十颗芯片成功热销案例。</a:t>
            </a:r>
          </a:p>
          <a:p>
            <a:pPr marL="288000" lvl="1">
              <a:lnSpc>
                <a:spcPct val="150000"/>
              </a:lnSpc>
              <a:spcBef>
                <a:spcPts val="0"/>
              </a:spcBef>
              <a:buSzPct val="70000"/>
              <a:defRPr/>
            </a:pPr>
            <a:r>
              <a:rPr lang="zh-CN" altLang="zh-CN" sz="1200" dirty="0">
                <a:latin typeface="仿宋" panose="02010609060101010101" pitchFamily="49" charset="-122"/>
                <a:ea typeface="仿宋" panose="02010609060101010101" pitchFamily="49" charset="-122"/>
              </a:rPr>
              <a:t>产品技术壁垒极高：公司的</a:t>
            </a:r>
            <a:r>
              <a:rPr lang="en-US" altLang="zh-CN" sz="1200" dirty="0">
                <a:latin typeface="仿宋" panose="02010609060101010101" pitchFamily="49" charset="-122"/>
                <a:ea typeface="仿宋" panose="02010609060101010101" pitchFamily="49" charset="-122"/>
              </a:rPr>
              <a:t>Charge Pump</a:t>
            </a:r>
            <a:r>
              <a:rPr lang="zh-CN" altLang="zh-CN" sz="1200" dirty="0">
                <a:latin typeface="仿宋" panose="02010609060101010101" pitchFamily="49" charset="-122"/>
                <a:ea typeface="仿宋" panose="02010609060101010101" pitchFamily="49" charset="-122"/>
              </a:rPr>
              <a:t>高端芯片</a:t>
            </a:r>
            <a:r>
              <a:rPr lang="en-US" altLang="zh-CN" sz="1200" dirty="0">
                <a:latin typeface="仿宋" panose="02010609060101010101" pitchFamily="49" charset="-122"/>
                <a:ea typeface="仿宋" panose="02010609060101010101" pitchFamily="49" charset="-122"/>
              </a:rPr>
              <a:t>SD77313</a:t>
            </a:r>
            <a:r>
              <a:rPr lang="zh-CN" altLang="zh-CN" sz="1200" dirty="0">
                <a:latin typeface="仿宋" panose="02010609060101010101" pitchFamily="49" charset="-122"/>
                <a:ea typeface="仿宋" panose="02010609060101010101" pitchFamily="49" charset="-122"/>
              </a:rPr>
              <a:t>是</a:t>
            </a:r>
            <a:r>
              <a:rPr lang="zh-CN" altLang="zh-CN" sz="1200" b="1" dirty="0">
                <a:solidFill>
                  <a:srgbClr val="C00000"/>
                </a:solidFill>
                <a:latin typeface="仿宋" panose="02010609060101010101" pitchFamily="49" charset="-122"/>
                <a:ea typeface="仿宋" panose="02010609060101010101" pitchFamily="49" charset="-122"/>
              </a:rPr>
              <a:t>全球唯一可大规模量产替代</a:t>
            </a:r>
            <a:r>
              <a:rPr lang="en-US" altLang="zh-CN" sz="1200" b="1" dirty="0">
                <a:solidFill>
                  <a:srgbClr val="C00000"/>
                </a:solidFill>
                <a:latin typeface="仿宋" panose="02010609060101010101" pitchFamily="49" charset="-122"/>
                <a:ea typeface="仿宋" panose="02010609060101010101" pitchFamily="49" charset="-122"/>
              </a:rPr>
              <a:t>Dialog</a:t>
            </a:r>
            <a:r>
              <a:rPr lang="zh-CN" altLang="zh-CN" sz="1200" b="1" dirty="0">
                <a:solidFill>
                  <a:srgbClr val="C00000"/>
                </a:solidFill>
                <a:latin typeface="仿宋" panose="02010609060101010101" pitchFamily="49" charset="-122"/>
                <a:ea typeface="仿宋" panose="02010609060101010101" pitchFamily="49" charset="-122"/>
              </a:rPr>
              <a:t>的产品</a:t>
            </a:r>
            <a:r>
              <a:rPr lang="zh-CN" altLang="zh-CN" sz="1200" dirty="0">
                <a:latin typeface="仿宋" panose="02010609060101010101" pitchFamily="49" charset="-122"/>
                <a:ea typeface="仿宋" panose="02010609060101010101" pitchFamily="49" charset="-122"/>
              </a:rPr>
              <a:t>。公司获得“年度中国潜力</a:t>
            </a:r>
            <a:r>
              <a:rPr lang="en-US" altLang="zh-CN" sz="1200" dirty="0">
                <a:latin typeface="仿宋" panose="02010609060101010101" pitchFamily="49" charset="-122"/>
                <a:ea typeface="仿宋" panose="02010609060101010101" pitchFamily="49" charset="-122"/>
              </a:rPr>
              <a:t>IC</a:t>
            </a:r>
            <a:r>
              <a:rPr lang="zh-CN" altLang="zh-CN" sz="1200" dirty="0">
                <a:latin typeface="仿宋" panose="02010609060101010101" pitchFamily="49" charset="-122"/>
                <a:ea typeface="仿宋" panose="02010609060101010101" pitchFamily="49" charset="-122"/>
              </a:rPr>
              <a:t>设计公司”中国</a:t>
            </a:r>
            <a:r>
              <a:rPr lang="en-US" altLang="zh-CN" sz="1200" dirty="0">
                <a:latin typeface="仿宋" panose="02010609060101010101" pitchFamily="49" charset="-122"/>
                <a:ea typeface="仿宋" panose="02010609060101010101" pitchFamily="49" charset="-122"/>
              </a:rPr>
              <a:t>IC</a:t>
            </a:r>
            <a:r>
              <a:rPr lang="zh-CN" altLang="zh-CN" sz="1200" dirty="0">
                <a:latin typeface="仿宋" panose="02010609060101010101" pitchFamily="49" charset="-122"/>
                <a:ea typeface="仿宋" panose="02010609060101010101" pitchFamily="49" charset="-122"/>
              </a:rPr>
              <a:t>设计成就奖；在新兴的快充</a:t>
            </a:r>
            <a:r>
              <a:rPr lang="en-US" altLang="zh-CN" sz="1200" b="1" dirty="0">
                <a:solidFill>
                  <a:srgbClr val="C00000"/>
                </a:solidFill>
                <a:latin typeface="仿宋" panose="02010609060101010101" pitchFamily="49" charset="-122"/>
                <a:ea typeface="仿宋" panose="02010609060101010101" pitchFamily="49" charset="-122"/>
              </a:rPr>
              <a:t>E-marker</a:t>
            </a:r>
            <a:r>
              <a:rPr lang="zh-CN" altLang="zh-CN" sz="1200" b="1" dirty="0">
                <a:solidFill>
                  <a:srgbClr val="C00000"/>
                </a:solidFill>
                <a:latin typeface="仿宋" panose="02010609060101010101" pitchFamily="49" charset="-122"/>
                <a:ea typeface="仿宋" panose="02010609060101010101" pitchFamily="49" charset="-122"/>
              </a:rPr>
              <a:t>市场，成为</a:t>
            </a:r>
            <a:r>
              <a:rPr lang="en-US" altLang="zh-CN" sz="1200" b="1" dirty="0">
                <a:solidFill>
                  <a:srgbClr val="C00000"/>
                </a:solidFill>
                <a:latin typeface="仿宋" panose="02010609060101010101" pitchFamily="49" charset="-122"/>
                <a:ea typeface="仿宋" panose="02010609060101010101" pitchFamily="49" charset="-122"/>
              </a:rPr>
              <a:t>OPPO</a:t>
            </a:r>
            <a:r>
              <a:rPr lang="zh-CN" altLang="zh-CN" sz="1200" b="1" dirty="0">
                <a:solidFill>
                  <a:srgbClr val="C00000"/>
                </a:solidFill>
                <a:latin typeface="仿宋" panose="02010609060101010101" pitchFamily="49" charset="-122"/>
                <a:ea typeface="仿宋" panose="02010609060101010101" pitchFamily="49" charset="-122"/>
              </a:rPr>
              <a:t>的独家</a:t>
            </a:r>
            <a:r>
              <a:rPr lang="zh-CN" altLang="zh-CN" sz="1200" dirty="0">
                <a:latin typeface="仿宋" panose="02010609060101010101" pitchFamily="49" charset="-122"/>
                <a:ea typeface="仿宋" panose="02010609060101010101" pitchFamily="49" charset="-122"/>
              </a:rPr>
              <a:t>芯片供应商；在国内共享单车太阳能充电芯片的市场占有率为</a:t>
            </a:r>
            <a:r>
              <a:rPr lang="en-US" altLang="zh-CN" sz="1200" dirty="0">
                <a:latin typeface="仿宋" panose="02010609060101010101" pitchFamily="49" charset="-122"/>
                <a:ea typeface="仿宋" panose="02010609060101010101" pitchFamily="49" charset="-122"/>
              </a:rPr>
              <a:t>70%</a:t>
            </a:r>
            <a:r>
              <a:rPr lang="zh-CN" altLang="zh-CN" sz="1200" dirty="0">
                <a:latin typeface="仿宋" panose="02010609060101010101" pitchFamily="49" charset="-122"/>
                <a:ea typeface="仿宋" panose="02010609060101010101" pitchFamily="49" charset="-122"/>
              </a:rPr>
              <a:t>。</a:t>
            </a:r>
          </a:p>
          <a:p>
            <a:pPr marL="288000" lvl="1">
              <a:lnSpc>
                <a:spcPct val="150000"/>
              </a:lnSpc>
              <a:spcBef>
                <a:spcPts val="0"/>
              </a:spcBef>
              <a:buSzPct val="70000"/>
              <a:defRPr/>
            </a:pPr>
            <a:r>
              <a:rPr lang="zh-CN" altLang="zh-CN" sz="1200" dirty="0">
                <a:latin typeface="仿宋" panose="02010609060101010101" pitchFamily="49" charset="-122"/>
                <a:ea typeface="仿宋" panose="02010609060101010101" pitchFamily="49" charset="-122"/>
              </a:rPr>
              <a:t>拥有多年量产准时交货的优良纪录，</a:t>
            </a:r>
            <a:r>
              <a:rPr lang="zh-CN" altLang="en-US" sz="1200" b="1" dirty="0">
                <a:solidFill>
                  <a:srgbClr val="C00000"/>
                </a:solidFill>
                <a:latin typeface="仿宋" panose="02010609060101010101" pitchFamily="49" charset="-122"/>
                <a:ea typeface="仿宋" panose="02010609060101010101" pitchFamily="49" charset="-122"/>
              </a:rPr>
              <a:t>不良率</a:t>
            </a:r>
            <a:r>
              <a:rPr lang="en-US" altLang="zh-CN" sz="1200" b="1" dirty="0">
                <a:solidFill>
                  <a:srgbClr val="C00000"/>
                </a:solidFill>
                <a:latin typeface="仿宋" panose="02010609060101010101" pitchFamily="49" charset="-122"/>
                <a:ea typeface="仿宋" panose="02010609060101010101" pitchFamily="49" charset="-122"/>
              </a:rPr>
              <a:t>DPPM&lt;5</a:t>
            </a:r>
            <a:r>
              <a:rPr lang="zh-CN" altLang="en-US" sz="1200" dirty="0">
                <a:latin typeface="仿宋" panose="02010609060101010101" pitchFamily="49" charset="-122"/>
                <a:ea typeface="仿宋" panose="02010609060101010101" pitchFamily="49" charset="-122"/>
              </a:rPr>
              <a:t>。</a:t>
            </a:r>
            <a:r>
              <a:rPr lang="zh-CN" altLang="zh-CN" sz="1200" dirty="0">
                <a:latin typeface="仿宋" panose="02010609060101010101" pitchFamily="49" charset="-122"/>
                <a:ea typeface="仿宋" panose="02010609060101010101" pitchFamily="49" charset="-122"/>
              </a:rPr>
              <a:t>现有超过</a:t>
            </a:r>
            <a:r>
              <a:rPr lang="en-US" altLang="zh-CN" sz="1200" dirty="0">
                <a:latin typeface="仿宋" panose="02010609060101010101" pitchFamily="49" charset="-122"/>
                <a:ea typeface="仿宋" panose="02010609060101010101" pitchFamily="49" charset="-122"/>
              </a:rPr>
              <a:t>20</a:t>
            </a:r>
            <a:r>
              <a:rPr lang="zh-CN" altLang="zh-CN" sz="1200" dirty="0">
                <a:latin typeface="仿宋" panose="02010609060101010101" pitchFamily="49" charset="-122"/>
                <a:ea typeface="仿宋" panose="02010609060101010101" pitchFamily="49" charset="-122"/>
              </a:rPr>
              <a:t>家已量产世界顶级客户，近两年下游客户零账期。</a:t>
            </a:r>
            <a:endParaRPr lang="en-US" altLang="zh-CN" sz="1200" dirty="0">
              <a:latin typeface="仿宋" panose="02010609060101010101" pitchFamily="49" charset="-122"/>
              <a:ea typeface="仿宋" panose="02010609060101010101" pitchFamily="49" charset="-122"/>
            </a:endParaRPr>
          </a:p>
          <a:p>
            <a:pPr marL="0" indent="180000">
              <a:lnSpc>
                <a:spcPct val="150000"/>
              </a:lnSpc>
              <a:spcBef>
                <a:spcPts val="0"/>
              </a:spcBef>
              <a:buSzPct val="70000"/>
              <a:buBlip>
                <a:blip r:embed="rId3"/>
              </a:buBlip>
            </a:pPr>
            <a:r>
              <a:rPr lang="zh-CN" altLang="zh-CN" sz="1200" b="1" dirty="0">
                <a:solidFill>
                  <a:srgbClr val="C00000"/>
                </a:solidFill>
                <a:latin typeface="仿宋" panose="02010609060101010101" pitchFamily="49" charset="-122"/>
                <a:ea typeface="仿宋" panose="02010609060101010101" pitchFamily="49" charset="-122"/>
              </a:rPr>
              <a:t>价格合理的</a:t>
            </a:r>
            <a:r>
              <a:rPr lang="zh-CN" altLang="en-US" sz="1200" b="1" dirty="0">
                <a:solidFill>
                  <a:srgbClr val="C00000"/>
                </a:solidFill>
                <a:latin typeface="仿宋" panose="02010609060101010101" pitchFamily="49" charset="-122"/>
                <a:ea typeface="仿宋" panose="02010609060101010101" pitchFamily="49" charset="-122"/>
              </a:rPr>
              <a:t>极其</a:t>
            </a:r>
            <a:r>
              <a:rPr lang="zh-CN" altLang="zh-CN" sz="1200" b="1" dirty="0">
                <a:solidFill>
                  <a:srgbClr val="C00000"/>
                </a:solidFill>
                <a:latin typeface="仿宋" panose="02010609060101010101" pitchFamily="49" charset="-122"/>
                <a:ea typeface="仿宋" panose="02010609060101010101" pitchFamily="49" charset="-122"/>
              </a:rPr>
              <a:t>稀缺标的，</a:t>
            </a:r>
            <a:r>
              <a:rPr lang="en-US" altLang="zh-CN" sz="1200" b="1" dirty="0">
                <a:solidFill>
                  <a:srgbClr val="C00000"/>
                </a:solidFill>
                <a:latin typeface="仿宋" panose="02010609060101010101" pitchFamily="49" charset="-122"/>
                <a:ea typeface="仿宋" panose="02010609060101010101" pitchFamily="49" charset="-122"/>
              </a:rPr>
              <a:t>IPO</a:t>
            </a:r>
            <a:r>
              <a:rPr lang="zh-CN" altLang="zh-CN" sz="1200" b="1" dirty="0">
                <a:solidFill>
                  <a:srgbClr val="C00000"/>
                </a:solidFill>
                <a:latin typeface="仿宋" panose="02010609060101010101" pitchFamily="49" charset="-122"/>
                <a:ea typeface="仿宋" panose="02010609060101010101" pitchFamily="49" charset="-122"/>
              </a:rPr>
              <a:t>确定性高、退出渠道多样</a:t>
            </a:r>
            <a:endParaRPr lang="en-US" altLang="zh-CN" sz="1200" b="1" dirty="0">
              <a:solidFill>
                <a:srgbClr val="C00000"/>
              </a:solidFill>
              <a:latin typeface="仿宋" panose="02010609060101010101" pitchFamily="49" charset="-122"/>
              <a:ea typeface="仿宋" panose="02010609060101010101" pitchFamily="49" charset="-122"/>
            </a:endParaRPr>
          </a:p>
          <a:p>
            <a:pPr marL="288000" lvl="1">
              <a:lnSpc>
                <a:spcPct val="150000"/>
              </a:lnSpc>
              <a:spcBef>
                <a:spcPts val="0"/>
              </a:spcBef>
              <a:buSzPct val="70000"/>
              <a:defRPr/>
            </a:pPr>
            <a:r>
              <a:rPr lang="zh-CN" altLang="zh-CN" sz="1200" dirty="0">
                <a:latin typeface="仿宋" panose="02010609060101010101" pitchFamily="49" charset="-122"/>
                <a:ea typeface="仿宋" panose="02010609060101010101" pitchFamily="49" charset="-122"/>
              </a:rPr>
              <a:t>远低于国内</a:t>
            </a:r>
            <a:r>
              <a:rPr lang="en-US" altLang="zh-CN" sz="1200" dirty="0">
                <a:latin typeface="仿宋" panose="02010609060101010101" pitchFamily="49" charset="-122"/>
                <a:ea typeface="仿宋" panose="02010609060101010101" pitchFamily="49" charset="-122"/>
              </a:rPr>
              <a:t>IC</a:t>
            </a:r>
            <a:r>
              <a:rPr lang="zh-CN" altLang="zh-CN" sz="1200" dirty="0">
                <a:latin typeface="仿宋" panose="02010609060101010101" pitchFamily="49" charset="-122"/>
                <a:ea typeface="仿宋" panose="02010609060101010101" pitchFamily="49" charset="-122"/>
              </a:rPr>
              <a:t>设计行业上市企业</a:t>
            </a:r>
            <a:r>
              <a:rPr lang="en-US" altLang="zh-CN" sz="1200" dirty="0">
                <a:latin typeface="仿宋" panose="02010609060101010101" pitchFamily="49" charset="-122"/>
                <a:ea typeface="仿宋" panose="02010609060101010101" pitchFamily="49" charset="-122"/>
              </a:rPr>
              <a:t>PE</a:t>
            </a:r>
            <a:r>
              <a:rPr lang="zh-CN" altLang="zh-CN" sz="1200" dirty="0">
                <a:latin typeface="仿宋" panose="02010609060101010101" pitchFamily="49" charset="-122"/>
                <a:ea typeface="仿宋" panose="02010609060101010101" pitchFamily="49" charset="-122"/>
              </a:rPr>
              <a:t>的</a:t>
            </a:r>
            <a:r>
              <a:rPr lang="en-US" altLang="zh-CN" sz="1200" dirty="0">
                <a:latin typeface="仿宋" panose="02010609060101010101" pitchFamily="49" charset="-122"/>
                <a:ea typeface="仿宋" panose="02010609060101010101" pitchFamily="49" charset="-122"/>
              </a:rPr>
              <a:t>120</a:t>
            </a:r>
            <a:r>
              <a:rPr lang="zh-CN" altLang="zh-CN" sz="1200" dirty="0">
                <a:latin typeface="仿宋" panose="02010609060101010101" pitchFamily="49" charset="-122"/>
                <a:ea typeface="仿宋" panose="02010609060101010101" pitchFamily="49" charset="-122"/>
              </a:rPr>
              <a:t>倍，预计</a:t>
            </a:r>
            <a:r>
              <a:rPr lang="en-US" altLang="zh-CN" sz="1200" dirty="0">
                <a:latin typeface="仿宋" panose="02010609060101010101" pitchFamily="49" charset="-122"/>
                <a:ea typeface="仿宋" panose="02010609060101010101" pitchFamily="49" charset="-122"/>
              </a:rPr>
              <a:t>2021</a:t>
            </a:r>
            <a:r>
              <a:rPr lang="zh-CN" altLang="zh-CN" sz="1200" dirty="0">
                <a:latin typeface="仿宋" panose="02010609060101010101" pitchFamily="49" charset="-122"/>
                <a:ea typeface="仿宋" panose="02010609060101010101" pitchFamily="49" charset="-122"/>
              </a:rPr>
              <a:t>年营收</a:t>
            </a:r>
            <a:r>
              <a:rPr lang="en-US" altLang="zh-CN" sz="1200" dirty="0">
                <a:latin typeface="仿宋" panose="02010609060101010101" pitchFamily="49" charset="-122"/>
                <a:ea typeface="仿宋" panose="02010609060101010101" pitchFamily="49" charset="-122"/>
              </a:rPr>
              <a:t>1.65</a:t>
            </a:r>
            <a:r>
              <a:rPr lang="zh-CN" altLang="zh-CN" sz="1200" dirty="0">
                <a:latin typeface="仿宋" panose="02010609060101010101" pitchFamily="49" charset="-122"/>
                <a:ea typeface="仿宋" panose="02010609060101010101" pitchFamily="49" charset="-122"/>
              </a:rPr>
              <a:t>亿元</a:t>
            </a:r>
            <a:r>
              <a:rPr lang="en-US" altLang="zh-CN" sz="1200" dirty="0">
                <a:latin typeface="仿宋" panose="02010609060101010101" pitchFamily="49" charset="-122"/>
                <a:ea typeface="仿宋" panose="02010609060101010101" pitchFamily="49" charset="-122"/>
              </a:rPr>
              <a:t>+</a:t>
            </a:r>
            <a:r>
              <a:rPr lang="zh-CN" altLang="zh-CN" sz="1200" dirty="0">
                <a:latin typeface="仿宋" panose="02010609060101010101" pitchFamily="49" charset="-122"/>
                <a:ea typeface="仿宋" panose="02010609060101010101" pitchFamily="49" charset="-122"/>
              </a:rPr>
              <a:t>净利</a:t>
            </a:r>
            <a:r>
              <a:rPr lang="en-US" altLang="zh-CN" sz="1200" dirty="0">
                <a:latin typeface="仿宋" panose="02010609060101010101" pitchFamily="49" charset="-122"/>
                <a:ea typeface="仿宋" panose="02010609060101010101" pitchFamily="49" charset="-122"/>
              </a:rPr>
              <a:t>1,600</a:t>
            </a:r>
            <a:r>
              <a:rPr lang="zh-CN" altLang="zh-CN" sz="1200" dirty="0">
                <a:latin typeface="仿宋" panose="02010609060101010101" pitchFamily="49" charset="-122"/>
                <a:ea typeface="仿宋" panose="02010609060101010101" pitchFamily="49" charset="-122"/>
              </a:rPr>
              <a:t>万元（对应</a:t>
            </a:r>
            <a:r>
              <a:rPr lang="en-US" altLang="zh-CN" sz="1200" dirty="0">
                <a:latin typeface="仿宋" panose="02010609060101010101" pitchFamily="49" charset="-122"/>
                <a:ea typeface="仿宋" panose="02010609060101010101" pitchFamily="49" charset="-122"/>
              </a:rPr>
              <a:t>PE</a:t>
            </a:r>
            <a:r>
              <a:rPr lang="zh-CN" altLang="zh-CN" sz="1200" dirty="0">
                <a:latin typeface="仿宋" panose="02010609060101010101" pitchFamily="49" charset="-122"/>
                <a:ea typeface="仿宋" panose="02010609060101010101" pitchFamily="49" charset="-122"/>
              </a:rPr>
              <a:t>为</a:t>
            </a:r>
            <a:r>
              <a:rPr lang="en-US" altLang="zh-CN" sz="1200" dirty="0">
                <a:latin typeface="仿宋" panose="02010609060101010101" pitchFamily="49" charset="-122"/>
                <a:ea typeface="仿宋" panose="02010609060101010101" pitchFamily="49" charset="-122"/>
              </a:rPr>
              <a:t>58</a:t>
            </a:r>
            <a:r>
              <a:rPr lang="zh-CN" altLang="zh-CN" sz="1200" dirty="0">
                <a:latin typeface="仿宋" panose="02010609060101010101" pitchFamily="49" charset="-122"/>
                <a:ea typeface="仿宋" panose="02010609060101010101" pitchFamily="49" charset="-122"/>
              </a:rPr>
              <a:t>倍），</a:t>
            </a:r>
            <a:r>
              <a:rPr lang="en-US" altLang="zh-CN" sz="1200" dirty="0">
                <a:latin typeface="仿宋" panose="02010609060101010101" pitchFamily="49" charset="-122"/>
                <a:ea typeface="仿宋" panose="02010609060101010101" pitchFamily="49" charset="-122"/>
              </a:rPr>
              <a:t>2022</a:t>
            </a:r>
            <a:r>
              <a:rPr lang="zh-CN" altLang="zh-CN" sz="1200" dirty="0">
                <a:latin typeface="仿宋" panose="02010609060101010101" pitchFamily="49" charset="-122"/>
                <a:ea typeface="仿宋" panose="02010609060101010101" pitchFamily="49" charset="-122"/>
              </a:rPr>
              <a:t>年营收</a:t>
            </a:r>
            <a:r>
              <a:rPr lang="en-US" altLang="zh-CN" sz="1200" dirty="0">
                <a:latin typeface="仿宋" panose="02010609060101010101" pitchFamily="49" charset="-122"/>
                <a:ea typeface="仿宋" panose="02010609060101010101" pitchFamily="49" charset="-122"/>
              </a:rPr>
              <a:t>4.2</a:t>
            </a:r>
            <a:r>
              <a:rPr lang="zh-CN" altLang="zh-CN" sz="1200" dirty="0">
                <a:latin typeface="仿宋" panose="02010609060101010101" pitchFamily="49" charset="-122"/>
                <a:ea typeface="仿宋" panose="02010609060101010101" pitchFamily="49" charset="-122"/>
              </a:rPr>
              <a:t>亿元</a:t>
            </a:r>
            <a:r>
              <a:rPr lang="en-US" altLang="zh-CN" sz="1200" dirty="0">
                <a:latin typeface="仿宋" panose="02010609060101010101" pitchFamily="49" charset="-122"/>
                <a:ea typeface="仿宋" panose="02010609060101010101" pitchFamily="49" charset="-122"/>
              </a:rPr>
              <a:t>+</a:t>
            </a:r>
            <a:r>
              <a:rPr lang="zh-CN" altLang="zh-CN" sz="1200" dirty="0">
                <a:latin typeface="仿宋" panose="02010609060101010101" pitchFamily="49" charset="-122"/>
                <a:ea typeface="仿宋" panose="02010609060101010101" pitchFamily="49" charset="-122"/>
              </a:rPr>
              <a:t>净利</a:t>
            </a:r>
            <a:r>
              <a:rPr lang="en-US" altLang="zh-CN" sz="1200" dirty="0">
                <a:latin typeface="仿宋" panose="02010609060101010101" pitchFamily="49" charset="-122"/>
                <a:ea typeface="仿宋" panose="02010609060101010101" pitchFamily="49" charset="-122"/>
              </a:rPr>
              <a:t>1.1</a:t>
            </a:r>
            <a:r>
              <a:rPr lang="zh-CN" altLang="en-US" sz="1200" dirty="0">
                <a:latin typeface="仿宋" panose="02010609060101010101" pitchFamily="49" charset="-122"/>
                <a:ea typeface="仿宋" panose="02010609060101010101" pitchFamily="49" charset="-122"/>
              </a:rPr>
              <a:t>亿元</a:t>
            </a:r>
            <a:r>
              <a:rPr lang="zh-CN" altLang="zh-CN" sz="1200" dirty="0">
                <a:latin typeface="仿宋" panose="02010609060101010101" pitchFamily="49" charset="-122"/>
                <a:ea typeface="仿宋" panose="02010609060101010101" pitchFamily="49" charset="-122"/>
              </a:rPr>
              <a:t>，</a:t>
            </a:r>
            <a:r>
              <a:rPr lang="en-US" altLang="zh-CN" sz="1200" dirty="0">
                <a:latin typeface="仿宋" panose="02010609060101010101" pitchFamily="49" charset="-122"/>
                <a:ea typeface="仿宋" panose="02010609060101010101" pitchFamily="49" charset="-122"/>
              </a:rPr>
              <a:t>PE</a:t>
            </a:r>
            <a:r>
              <a:rPr lang="zh-CN" altLang="zh-CN" sz="1200" dirty="0">
                <a:latin typeface="仿宋" panose="02010609060101010101" pitchFamily="49" charset="-122"/>
                <a:ea typeface="仿宋" panose="02010609060101010101" pitchFamily="49" charset="-122"/>
              </a:rPr>
              <a:t>下降为</a:t>
            </a:r>
            <a:r>
              <a:rPr lang="en-US" altLang="zh-CN" sz="1200" dirty="0">
                <a:latin typeface="仿宋" panose="02010609060101010101" pitchFamily="49" charset="-122"/>
                <a:ea typeface="仿宋" panose="02010609060101010101" pitchFamily="49" charset="-122"/>
              </a:rPr>
              <a:t>10</a:t>
            </a:r>
            <a:r>
              <a:rPr lang="zh-CN" altLang="zh-CN" sz="1200" dirty="0">
                <a:latin typeface="仿宋" panose="02010609060101010101" pitchFamily="49" charset="-122"/>
                <a:ea typeface="仿宋" panose="02010609060101010101" pitchFamily="49" charset="-122"/>
              </a:rPr>
              <a:t>倍。</a:t>
            </a:r>
          </a:p>
          <a:p>
            <a:pPr marL="288000" lvl="1">
              <a:lnSpc>
                <a:spcPct val="150000"/>
              </a:lnSpc>
              <a:spcBef>
                <a:spcPts val="0"/>
              </a:spcBef>
              <a:buSzPct val="70000"/>
              <a:defRPr/>
            </a:pPr>
            <a:r>
              <a:rPr lang="zh-CN" altLang="zh-CN" sz="1200" dirty="0">
                <a:latin typeface="仿宋" panose="02010609060101010101" pitchFamily="49" charset="-122"/>
                <a:ea typeface="仿宋" panose="02010609060101010101" pitchFamily="49" charset="-122"/>
              </a:rPr>
              <a:t>高端电源管理芯片细分领域稀有标的，</a:t>
            </a:r>
            <a:r>
              <a:rPr lang="zh-CN" altLang="zh-CN" sz="1200" b="1" dirty="0">
                <a:solidFill>
                  <a:srgbClr val="C00000"/>
                </a:solidFill>
                <a:latin typeface="仿宋" panose="02010609060101010101" pitchFamily="49" charset="-122"/>
                <a:ea typeface="仿宋" panose="02010609060101010101" pitchFamily="49" charset="-122"/>
              </a:rPr>
              <a:t>国产替代高端唯一可选</a:t>
            </a:r>
            <a:r>
              <a:rPr lang="zh-CN" altLang="zh-CN" sz="1200" dirty="0">
                <a:latin typeface="仿宋" panose="02010609060101010101" pitchFamily="49" charset="-122"/>
                <a:ea typeface="仿宋" panose="02010609060101010101" pitchFamily="49" charset="-122"/>
              </a:rPr>
              <a:t>，具有绝对产品核心竞争力和技术原创性。</a:t>
            </a:r>
          </a:p>
          <a:p>
            <a:pPr marL="288000" lvl="1">
              <a:lnSpc>
                <a:spcPct val="150000"/>
              </a:lnSpc>
              <a:spcBef>
                <a:spcPts val="0"/>
              </a:spcBef>
              <a:buSzPct val="70000"/>
              <a:defRPr/>
            </a:pPr>
            <a:r>
              <a:rPr lang="zh-CN" altLang="zh-CN" sz="1200" dirty="0">
                <a:latin typeface="仿宋" panose="02010609060101010101" pitchFamily="49" charset="-122"/>
                <a:ea typeface="仿宋" panose="02010609060101010101" pitchFamily="49" charset="-122"/>
              </a:rPr>
              <a:t>符合证监会科创板最新三项常规指标苛刻标准；科创板、创业板多种退出路径明晰。</a:t>
            </a:r>
          </a:p>
        </p:txBody>
      </p:sp>
    </p:spTree>
    <p:extLst>
      <p:ext uri="{BB962C8B-B14F-4D97-AF65-F5344CB8AC3E}">
        <p14:creationId xmlns:p14="http://schemas.microsoft.com/office/powerpoint/2010/main" val="38973582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39DBCD6-23C0-477B-B058-4646A0E3A5C3}"/>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七、投资因素</a:t>
            </a:r>
            <a:r>
              <a:rPr lang="en-US" altLang="zh-CN" sz="2400" dirty="0">
                <a:solidFill>
                  <a:schemeClr val="bg1">
                    <a:lumMod val="50000"/>
                  </a:schemeClr>
                </a:solidFill>
              </a:rPr>
              <a:t>|</a:t>
            </a:r>
            <a:r>
              <a:rPr lang="zh-CN" altLang="en-US" sz="2000" dirty="0"/>
              <a:t>投资逻辑</a:t>
            </a:r>
            <a:endParaRPr lang="en-US" altLang="zh-CN" sz="2400" dirty="0"/>
          </a:p>
        </p:txBody>
      </p:sp>
      <p:sp>
        <p:nvSpPr>
          <p:cNvPr id="4" name="Rectangle 3">
            <a:extLst>
              <a:ext uri="{FF2B5EF4-FFF2-40B4-BE49-F238E27FC236}">
                <a16:creationId xmlns:a16="http://schemas.microsoft.com/office/drawing/2014/main" id="{9469A29D-51EB-4ED2-ACA9-44A62E10A712}"/>
              </a:ext>
            </a:extLst>
          </p:cNvPr>
          <p:cNvSpPr txBox="1">
            <a:spLocks noChangeArrowheads="1"/>
          </p:cNvSpPr>
          <p:nvPr/>
        </p:nvSpPr>
        <p:spPr>
          <a:xfrm>
            <a:off x="457200" y="411600"/>
            <a:ext cx="8229600" cy="4176289"/>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lvl="1" indent="0">
              <a:lnSpc>
                <a:spcPct val="150000"/>
              </a:lnSpc>
              <a:spcBef>
                <a:spcPts val="0"/>
              </a:spcBef>
              <a:buSzPct val="70000"/>
              <a:buNone/>
            </a:pPr>
            <a:r>
              <a:rPr lang="zh-CN" altLang="en-US" sz="1800" b="1" dirty="0">
                <a:latin typeface="仿宋" panose="02010609060101010101" pitchFamily="49" charset="-122"/>
                <a:ea typeface="仿宋" panose="02010609060101010101" pitchFamily="49" charset="-122"/>
              </a:rPr>
              <a:t>布局赛道</a:t>
            </a:r>
            <a:r>
              <a:rPr lang="en-US" altLang="zh-CN" sz="1800" b="1" dirty="0">
                <a:latin typeface="仿宋" panose="02010609060101010101" pitchFamily="49" charset="-122"/>
                <a:ea typeface="仿宋" panose="02010609060101010101" pitchFamily="49" charset="-122"/>
              </a:rPr>
              <a:t>+</a:t>
            </a:r>
            <a:r>
              <a:rPr lang="zh-CN" altLang="en-US" sz="1800" b="1" dirty="0">
                <a:latin typeface="仿宋" panose="02010609060101010101" pitchFamily="49" charset="-122"/>
                <a:ea typeface="仿宋" panose="02010609060101010101" pitchFamily="49" charset="-122"/>
              </a:rPr>
              <a:t>稀缺标的</a:t>
            </a:r>
            <a:r>
              <a:rPr lang="en-US" altLang="zh-CN" sz="1800" b="1" dirty="0">
                <a:latin typeface="仿宋" panose="02010609060101010101" pitchFamily="49" charset="-122"/>
                <a:ea typeface="仿宋" panose="02010609060101010101" pitchFamily="49" charset="-122"/>
              </a:rPr>
              <a:t>--</a:t>
            </a:r>
            <a:r>
              <a:rPr lang="zh-CN" altLang="en-US" sz="1800" b="1" dirty="0">
                <a:latin typeface="仿宋" panose="02010609060101010101" pitchFamily="49" charset="-122"/>
                <a:ea typeface="仿宋" panose="02010609060101010101" pitchFamily="49" charset="-122"/>
              </a:rPr>
              <a:t>主要驱动因素</a:t>
            </a:r>
            <a:endParaRPr lang="en-US" altLang="zh-CN" sz="1800" b="1" dirty="0">
              <a:latin typeface="仿宋" panose="02010609060101010101" pitchFamily="49" charset="-122"/>
              <a:ea typeface="仿宋" panose="02010609060101010101" pitchFamily="49" charset="-122"/>
            </a:endParaRPr>
          </a:p>
          <a:p>
            <a:pPr marL="0" lvl="1" indent="180000">
              <a:lnSpc>
                <a:spcPct val="150000"/>
              </a:lnSpc>
              <a:buSzPct val="70000"/>
              <a:buBlip>
                <a:blip r:embed="rId3"/>
              </a:buBlip>
            </a:pPr>
            <a:r>
              <a:rPr lang="zh-CN" altLang="en-US" sz="1600" b="1" dirty="0">
                <a:solidFill>
                  <a:srgbClr val="C00000"/>
                </a:solidFill>
                <a:latin typeface="仿宋" panose="02010609060101010101" pitchFamily="49" charset="-122"/>
                <a:ea typeface="仿宋" panose="02010609060101010101" pitchFamily="49" charset="-122"/>
              </a:rPr>
              <a:t>电源管理芯片是“戴维斯双击”优良赛道</a:t>
            </a:r>
            <a:endParaRPr lang="en-US" altLang="zh-CN" sz="1600" b="1" dirty="0">
              <a:solidFill>
                <a:srgbClr val="C00000"/>
              </a:solidFill>
              <a:latin typeface="仿宋" panose="02010609060101010101" pitchFamily="49" charset="-122"/>
              <a:ea typeface="仿宋" panose="02010609060101010101" pitchFamily="49" charset="-122"/>
            </a:endParaRPr>
          </a:p>
          <a:p>
            <a:pPr marL="288000" lvl="1">
              <a:lnSpc>
                <a:spcPct val="150000"/>
              </a:lnSpc>
              <a:buSzPct val="70000"/>
            </a:pPr>
            <a:r>
              <a:rPr lang="zh-CN" altLang="en-US" sz="1200" dirty="0">
                <a:latin typeface="仿宋" panose="02010609060101010101" pitchFamily="49" charset="-122"/>
                <a:ea typeface="仿宋" panose="02010609060101010101" pitchFamily="49" charset="-122"/>
              </a:rPr>
              <a:t>模拟大赛道中的细分优良大赛道：细分市场大，成长性极好；</a:t>
            </a:r>
            <a:endParaRPr lang="en-US" altLang="zh-CN" sz="1200" dirty="0">
              <a:latin typeface="仿宋" panose="02010609060101010101" pitchFamily="49" charset="-122"/>
              <a:ea typeface="仿宋" panose="02010609060101010101" pitchFamily="49" charset="-122"/>
            </a:endParaRPr>
          </a:p>
          <a:p>
            <a:pPr marL="288000" lvl="1">
              <a:lnSpc>
                <a:spcPct val="150000"/>
              </a:lnSpc>
              <a:buSzPct val="70000"/>
            </a:pPr>
            <a:r>
              <a:rPr lang="zh-CN" altLang="en-US" sz="1200" dirty="0">
                <a:latin typeface="仿宋" panose="02010609060101010101" pitchFamily="49" charset="-122"/>
                <a:ea typeface="仿宋" panose="02010609060101010101" pitchFamily="49" charset="-122"/>
              </a:rPr>
              <a:t>高端芯片市场国产空白，替换空间极大；</a:t>
            </a:r>
            <a:endParaRPr lang="en-US" altLang="zh-CN" sz="1200" dirty="0">
              <a:latin typeface="仿宋" panose="02010609060101010101" pitchFamily="49" charset="-122"/>
              <a:ea typeface="仿宋" panose="02010609060101010101" pitchFamily="49" charset="-122"/>
            </a:endParaRPr>
          </a:p>
          <a:p>
            <a:pPr marL="288000" lvl="1">
              <a:lnSpc>
                <a:spcPct val="150000"/>
              </a:lnSpc>
              <a:buSzPct val="70000"/>
            </a:pPr>
            <a:r>
              <a:rPr lang="en-US" altLang="zh-CN" sz="1200" dirty="0">
                <a:latin typeface="仿宋" panose="02010609060101010101" pitchFamily="49" charset="-122"/>
                <a:ea typeface="仿宋" panose="02010609060101010101" pitchFamily="49" charset="-122"/>
              </a:rPr>
              <a:t>PMIC</a:t>
            </a:r>
            <a:r>
              <a:rPr lang="zh-CN" altLang="en-US" sz="1200" dirty="0">
                <a:latin typeface="仿宋" panose="02010609060101010101" pitchFamily="49" charset="-122"/>
                <a:ea typeface="仿宋" panose="02010609060101010101" pitchFamily="49" charset="-122"/>
              </a:rPr>
              <a:t>领域的“恒玄”。</a:t>
            </a:r>
            <a:endParaRPr lang="en-US" altLang="zh-CN" sz="1200" dirty="0">
              <a:latin typeface="仿宋" panose="02010609060101010101" pitchFamily="49" charset="-122"/>
              <a:ea typeface="仿宋" panose="02010609060101010101" pitchFamily="49" charset="-122"/>
            </a:endParaRPr>
          </a:p>
          <a:p>
            <a:pPr marL="0" lvl="1" indent="180000">
              <a:lnSpc>
                <a:spcPct val="150000"/>
              </a:lnSpc>
              <a:buSzPct val="70000"/>
              <a:buBlip>
                <a:blip r:embed="rId3"/>
              </a:buBlip>
            </a:pPr>
            <a:r>
              <a:rPr lang="zh-CN" altLang="en-US" sz="1600" b="1" dirty="0">
                <a:solidFill>
                  <a:srgbClr val="C00000"/>
                </a:solidFill>
                <a:latin typeface="仿宋" panose="02010609060101010101" pitchFamily="49" charset="-122"/>
                <a:ea typeface="仿宋" panose="02010609060101010101" pitchFamily="49" charset="-122"/>
              </a:rPr>
              <a:t>技术积淀深厚、产品竞争力强大</a:t>
            </a:r>
            <a:endParaRPr lang="en-US" altLang="zh-CN" sz="1600" b="1" dirty="0">
              <a:solidFill>
                <a:srgbClr val="C00000"/>
              </a:solidFill>
              <a:latin typeface="仿宋" panose="02010609060101010101" pitchFamily="49" charset="-122"/>
              <a:ea typeface="仿宋" panose="02010609060101010101" pitchFamily="49" charset="-122"/>
            </a:endParaRPr>
          </a:p>
          <a:p>
            <a:pPr marL="288000" lvl="1">
              <a:lnSpc>
                <a:spcPct val="150000"/>
              </a:lnSpc>
              <a:buSzPct val="70000"/>
            </a:pPr>
            <a:r>
              <a:rPr lang="zh-CN" altLang="en-US" sz="1200" dirty="0">
                <a:latin typeface="仿宋" panose="02010609060101010101" pitchFamily="49" charset="-122"/>
                <a:ea typeface="仿宋" panose="02010609060101010101" pitchFamily="49" charset="-122"/>
              </a:rPr>
              <a:t>美国老牌纳斯达克上市公司</a:t>
            </a:r>
            <a:r>
              <a:rPr lang="zh-CN" altLang="en-US" sz="1200" b="1" dirty="0">
                <a:latin typeface="仿宋" panose="02010609060101010101" pitchFamily="49" charset="-122"/>
                <a:ea typeface="仿宋" panose="02010609060101010101" pitchFamily="49" charset="-122"/>
              </a:rPr>
              <a:t>智能手机</a:t>
            </a:r>
            <a:r>
              <a:rPr lang="en-US" altLang="zh-CN" sz="1200" b="1" dirty="0">
                <a:latin typeface="仿宋" panose="02010609060101010101" pitchFamily="49" charset="-122"/>
                <a:ea typeface="仿宋" panose="02010609060101010101" pitchFamily="49" charset="-122"/>
              </a:rPr>
              <a:t>+</a:t>
            </a:r>
            <a:r>
              <a:rPr lang="zh-CN" altLang="en-US" sz="1200" b="1" dirty="0">
                <a:latin typeface="仿宋" panose="02010609060101010101" pitchFamily="49" charset="-122"/>
                <a:ea typeface="仿宋" panose="02010609060101010101" pitchFamily="49" charset="-122"/>
              </a:rPr>
              <a:t>笔电产品业务线剥离</a:t>
            </a:r>
            <a:r>
              <a:rPr lang="zh-CN" altLang="en-US" sz="1200" dirty="0">
                <a:latin typeface="仿宋" panose="02010609060101010101" pitchFamily="49" charset="-122"/>
                <a:ea typeface="仿宋" panose="02010609060101010101" pitchFamily="49" charset="-122"/>
              </a:rPr>
              <a:t>。</a:t>
            </a:r>
            <a:endParaRPr lang="en-US" altLang="zh-CN" sz="1200" dirty="0">
              <a:latin typeface="仿宋" panose="02010609060101010101" pitchFamily="49" charset="-122"/>
              <a:ea typeface="仿宋" panose="02010609060101010101" pitchFamily="49" charset="-122"/>
            </a:endParaRPr>
          </a:p>
          <a:p>
            <a:pPr marL="288000" lvl="1">
              <a:lnSpc>
                <a:spcPct val="150000"/>
              </a:lnSpc>
              <a:buSzPct val="70000"/>
            </a:pPr>
            <a:r>
              <a:rPr lang="zh-CN" altLang="en-US" sz="1200" dirty="0">
                <a:latin typeface="仿宋" panose="02010609060101010101" pitchFamily="49" charset="-122"/>
                <a:ea typeface="仿宋" panose="02010609060101010101" pitchFamily="49" charset="-122"/>
              </a:rPr>
              <a:t>团队、技术、产品线等完整齐备，国际化运营团队和战略定位。</a:t>
            </a:r>
            <a:r>
              <a:rPr lang="zh-CN" altLang="en-US" sz="1200" b="1" dirty="0">
                <a:solidFill>
                  <a:srgbClr val="FF0000"/>
                </a:solidFill>
                <a:latin typeface="仿宋" panose="02010609060101010101" pitchFamily="49" charset="-122"/>
                <a:ea typeface="仿宋" panose="02010609060101010101" pitchFamily="49" charset="-122"/>
              </a:rPr>
              <a:t>效率很高</a:t>
            </a:r>
            <a:r>
              <a:rPr lang="en-US" altLang="zh-CN" sz="1200" b="1" dirty="0">
                <a:latin typeface="仿宋" panose="02010609060101010101" pitchFamily="49" charset="-122"/>
                <a:ea typeface="仿宋" panose="02010609060101010101" pitchFamily="49" charset="-122"/>
              </a:rPr>
              <a:t>+</a:t>
            </a:r>
            <a:r>
              <a:rPr lang="zh-CN" altLang="en-US" sz="1200" b="1" dirty="0">
                <a:solidFill>
                  <a:srgbClr val="FF0000"/>
                </a:solidFill>
                <a:latin typeface="仿宋" panose="02010609060101010101" pitchFamily="49" charset="-122"/>
                <a:ea typeface="仿宋" panose="02010609060101010101" pitchFamily="49" charset="-122"/>
              </a:rPr>
              <a:t>品质可靠</a:t>
            </a:r>
            <a:r>
              <a:rPr lang="zh-CN" altLang="en-US" sz="1200" dirty="0">
                <a:latin typeface="仿宋" panose="02010609060101010101" pitchFamily="49" charset="-122"/>
                <a:ea typeface="仿宋" panose="02010609060101010101" pitchFamily="49" charset="-122"/>
              </a:rPr>
              <a:t>。</a:t>
            </a:r>
            <a:endParaRPr lang="en-US" altLang="zh-CN" sz="1200" dirty="0">
              <a:latin typeface="仿宋" panose="02010609060101010101" pitchFamily="49" charset="-122"/>
              <a:ea typeface="仿宋" panose="02010609060101010101" pitchFamily="49" charset="-122"/>
            </a:endParaRPr>
          </a:p>
          <a:p>
            <a:pPr marL="288000" lvl="1">
              <a:lnSpc>
                <a:spcPct val="150000"/>
              </a:lnSpc>
              <a:buSzPct val="70000"/>
            </a:pPr>
            <a:r>
              <a:rPr lang="zh-CN" altLang="en-US" sz="1200" b="1" u="sng" dirty="0">
                <a:latin typeface="仿宋" panose="02010609060101010101" pitchFamily="49" charset="-122"/>
                <a:ea typeface="仿宋" panose="02010609060101010101" pitchFamily="49" charset="-122"/>
              </a:rPr>
              <a:t>高端产品国产替代唯一，独享去</a:t>
            </a:r>
            <a:r>
              <a:rPr lang="en-US" altLang="zh-CN" sz="1200" b="1" u="sng" dirty="0">
                <a:latin typeface="仿宋" panose="02010609060101010101" pitchFamily="49" charset="-122"/>
                <a:ea typeface="仿宋" panose="02010609060101010101" pitchFamily="49" charset="-122"/>
              </a:rPr>
              <a:t>A</a:t>
            </a:r>
            <a:r>
              <a:rPr lang="zh-CN" altLang="en-US" sz="1200" b="1" u="sng" dirty="0">
                <a:latin typeface="仿宋" panose="02010609060101010101" pitchFamily="49" charset="-122"/>
                <a:ea typeface="仿宋" panose="02010609060101010101" pitchFamily="49" charset="-122"/>
              </a:rPr>
              <a:t>的市场蛋糕</a:t>
            </a:r>
            <a:r>
              <a:rPr lang="zh-CN" altLang="en-US" sz="1200" dirty="0">
                <a:latin typeface="仿宋" panose="02010609060101010101" pitchFamily="49" charset="-122"/>
                <a:ea typeface="仿宋" panose="02010609060101010101" pitchFamily="49" charset="-122"/>
              </a:rPr>
              <a:t>。</a:t>
            </a:r>
            <a:endParaRPr lang="en-US" altLang="zh-CN" sz="1200" dirty="0">
              <a:latin typeface="仿宋" panose="02010609060101010101" pitchFamily="49" charset="-122"/>
              <a:ea typeface="仿宋" panose="02010609060101010101" pitchFamily="49" charset="-122"/>
            </a:endParaRPr>
          </a:p>
          <a:p>
            <a:pPr marL="288000" lvl="1">
              <a:lnSpc>
                <a:spcPct val="150000"/>
              </a:lnSpc>
              <a:buSzPct val="70000"/>
            </a:pPr>
            <a:r>
              <a:rPr lang="zh-CN" altLang="en-US" sz="1200" dirty="0">
                <a:latin typeface="仿宋" panose="02010609060101010101" pitchFamily="49" charset="-122"/>
                <a:ea typeface="仿宋" panose="02010609060101010101" pitchFamily="49" charset="-122"/>
              </a:rPr>
              <a:t>产业协同效应大：董事长具有深厚的台湾半导体采用链资源，对未来</a:t>
            </a:r>
            <a:r>
              <a:rPr lang="en-US" altLang="zh-CN" sz="1200" dirty="0">
                <a:latin typeface="仿宋" panose="02010609060101010101" pitchFamily="49" charset="-122"/>
                <a:ea typeface="仿宋" panose="02010609060101010101" pitchFamily="49" charset="-122"/>
              </a:rPr>
              <a:t>MTM</a:t>
            </a:r>
            <a:r>
              <a:rPr lang="zh-CN" altLang="en-US" sz="1200" dirty="0">
                <a:latin typeface="仿宋" panose="02010609060101010101" pitchFamily="49" charset="-122"/>
                <a:ea typeface="仿宋" panose="02010609060101010101" pitchFamily="49" charset="-122"/>
              </a:rPr>
              <a:t>布局台湾标的资产具有很大优势。</a:t>
            </a:r>
            <a:endParaRPr lang="en-US" altLang="zh-CN" sz="1200" dirty="0">
              <a:highlight>
                <a:srgbClr val="FFFF00"/>
              </a:highlight>
              <a:latin typeface="仿宋" panose="02010609060101010101" pitchFamily="49" charset="-122"/>
              <a:ea typeface="仿宋" panose="02010609060101010101" pitchFamily="49" charset="-122"/>
            </a:endParaRPr>
          </a:p>
          <a:p>
            <a:pPr marL="0" lvl="1" indent="180000">
              <a:lnSpc>
                <a:spcPct val="150000"/>
              </a:lnSpc>
              <a:buSzPct val="70000"/>
              <a:buBlip>
                <a:blip r:embed="rId3"/>
              </a:buBlip>
            </a:pPr>
            <a:r>
              <a:rPr lang="zh-CN" altLang="en-US" sz="1600" b="1" dirty="0">
                <a:solidFill>
                  <a:srgbClr val="C00000"/>
                </a:solidFill>
                <a:latin typeface="仿宋" panose="02010609060101010101" pitchFamily="49" charset="-122"/>
                <a:ea typeface="仿宋" panose="02010609060101010101" pitchFamily="49" charset="-122"/>
              </a:rPr>
              <a:t>标的稀缺性极高、未来持续发展空间大</a:t>
            </a:r>
          </a:p>
          <a:p>
            <a:pPr marL="288000" lvl="1">
              <a:lnSpc>
                <a:spcPct val="150000"/>
              </a:lnSpc>
              <a:buSzPct val="70000"/>
            </a:pPr>
            <a:r>
              <a:rPr lang="en-US" altLang="zh-CN" sz="1200" dirty="0">
                <a:latin typeface="仿宋" panose="02010609060101010101" pitchFamily="49" charset="-122"/>
                <a:ea typeface="仿宋" panose="02010609060101010101" pitchFamily="49" charset="-122"/>
              </a:rPr>
              <a:t>2</a:t>
            </a:r>
            <a:r>
              <a:rPr lang="zh-CN" altLang="en-US" sz="1200" dirty="0">
                <a:latin typeface="仿宋" panose="02010609060101010101" pitchFamily="49" charset="-122"/>
                <a:ea typeface="仿宋" panose="02010609060101010101" pitchFamily="49" charset="-122"/>
              </a:rPr>
              <a:t>年之内公司达到</a:t>
            </a:r>
            <a:r>
              <a:rPr lang="en-US" altLang="zh-CN" sz="1200" dirty="0">
                <a:latin typeface="仿宋" panose="02010609060101010101" pitchFamily="49" charset="-122"/>
                <a:ea typeface="仿宋" panose="02010609060101010101" pitchFamily="49" charset="-122"/>
              </a:rPr>
              <a:t>5</a:t>
            </a:r>
            <a:r>
              <a:rPr lang="zh-CN" altLang="en-US" sz="1200" dirty="0">
                <a:latin typeface="仿宋" panose="02010609060101010101" pitchFamily="49" charset="-122"/>
                <a:ea typeface="仿宋" panose="02010609060101010101" pitchFamily="49" charset="-122"/>
              </a:rPr>
              <a:t>亿元营收规模企业，公司处于业绩高速爆发增长期，</a:t>
            </a:r>
            <a:r>
              <a:rPr lang="en-US" altLang="zh-CN" sz="1200" dirty="0">
                <a:latin typeface="仿宋" panose="02010609060101010101" pitchFamily="49" charset="-122"/>
                <a:ea typeface="仿宋" panose="02010609060101010101" pitchFamily="49" charset="-122"/>
              </a:rPr>
              <a:t>PE</a:t>
            </a:r>
            <a:r>
              <a:rPr lang="zh-CN" altLang="en-US" sz="1200" dirty="0">
                <a:latin typeface="仿宋" panose="02010609060101010101" pitchFamily="49" charset="-122"/>
                <a:ea typeface="仿宋" panose="02010609060101010101" pitchFamily="49" charset="-122"/>
              </a:rPr>
              <a:t>快速下降至</a:t>
            </a:r>
            <a:r>
              <a:rPr lang="en-US" altLang="zh-CN" sz="1200" dirty="0">
                <a:latin typeface="仿宋" panose="02010609060101010101" pitchFamily="49" charset="-122"/>
                <a:ea typeface="仿宋" panose="02010609060101010101" pitchFamily="49" charset="-122"/>
              </a:rPr>
              <a:t>10</a:t>
            </a:r>
            <a:r>
              <a:rPr lang="zh-CN" altLang="en-US" sz="1200" dirty="0">
                <a:latin typeface="仿宋" panose="02010609060101010101" pitchFamily="49" charset="-122"/>
                <a:ea typeface="仿宋" panose="02010609060101010101" pitchFamily="49" charset="-122"/>
              </a:rPr>
              <a:t>倍左右。</a:t>
            </a:r>
            <a:endParaRPr lang="en-US" altLang="zh-CN" sz="1200" dirty="0">
              <a:latin typeface="仿宋" panose="02010609060101010101" pitchFamily="49" charset="-122"/>
              <a:ea typeface="仿宋" panose="02010609060101010101" pitchFamily="49" charset="-122"/>
            </a:endParaRPr>
          </a:p>
          <a:p>
            <a:pPr marL="288000" lvl="1">
              <a:lnSpc>
                <a:spcPct val="150000"/>
              </a:lnSpc>
              <a:buSzPct val="70000"/>
            </a:pPr>
            <a:r>
              <a:rPr lang="zh-CN" altLang="en-US" sz="1200" dirty="0">
                <a:latin typeface="仿宋" panose="02010609060101010101" pitchFamily="49" charset="-122"/>
                <a:ea typeface="仿宋" panose="02010609060101010101" pitchFamily="49" charset="-122"/>
              </a:rPr>
              <a:t>公司卡位高端赛道，技术领先优势明显，有望</a:t>
            </a:r>
            <a:r>
              <a:rPr lang="en-US" altLang="zh-CN" sz="1200" dirty="0">
                <a:latin typeface="仿宋" panose="02010609060101010101" pitchFamily="49" charset="-122"/>
                <a:ea typeface="仿宋" panose="02010609060101010101" pitchFamily="49" charset="-122"/>
              </a:rPr>
              <a:t>3-5</a:t>
            </a:r>
            <a:r>
              <a:rPr lang="zh-CN" altLang="en-US" sz="1200" dirty="0">
                <a:latin typeface="仿宋" panose="02010609060101010101" pitchFamily="49" charset="-122"/>
                <a:ea typeface="仿宋" panose="02010609060101010101" pitchFamily="49" charset="-122"/>
              </a:rPr>
              <a:t>年脱颖而出，成为</a:t>
            </a:r>
            <a:r>
              <a:rPr lang="en-US" altLang="zh-CN" sz="1200" dirty="0">
                <a:latin typeface="仿宋" panose="02010609060101010101" pitchFamily="49" charset="-122"/>
                <a:ea typeface="仿宋" panose="02010609060101010101" pitchFamily="49" charset="-122"/>
              </a:rPr>
              <a:t>PMIC</a:t>
            </a:r>
            <a:r>
              <a:rPr lang="zh-CN" altLang="en-US" sz="1200" dirty="0">
                <a:latin typeface="仿宋" panose="02010609060101010101" pitchFamily="49" charset="-122"/>
                <a:ea typeface="仿宋" panose="02010609060101010101" pitchFamily="49" charset="-122"/>
              </a:rPr>
              <a:t>领域国内龙头；</a:t>
            </a:r>
            <a:endParaRPr lang="en-US" altLang="zh-CN" sz="12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3292344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39DBCD6-23C0-477B-B058-4646A0E3A5C3}"/>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七、投资因素</a:t>
            </a:r>
            <a:r>
              <a:rPr lang="en-US" altLang="zh-CN" sz="2400" dirty="0">
                <a:solidFill>
                  <a:schemeClr val="bg1">
                    <a:lumMod val="50000"/>
                  </a:schemeClr>
                </a:solidFill>
              </a:rPr>
              <a:t>|</a:t>
            </a:r>
            <a:r>
              <a:rPr lang="zh-CN" altLang="en-US" sz="2000" dirty="0"/>
              <a:t>项目风险</a:t>
            </a:r>
            <a:endParaRPr lang="en-US" altLang="zh-CN" sz="2400" dirty="0"/>
          </a:p>
        </p:txBody>
      </p:sp>
      <p:sp>
        <p:nvSpPr>
          <p:cNvPr id="4" name="Rectangle 3">
            <a:extLst>
              <a:ext uri="{FF2B5EF4-FFF2-40B4-BE49-F238E27FC236}">
                <a16:creationId xmlns:a16="http://schemas.microsoft.com/office/drawing/2014/main" id="{93D8ED6A-C374-48D2-9C44-C1FBF9EB2A69}"/>
              </a:ext>
            </a:extLst>
          </p:cNvPr>
          <p:cNvSpPr txBox="1">
            <a:spLocks noChangeArrowheads="1"/>
          </p:cNvSpPr>
          <p:nvPr/>
        </p:nvSpPr>
        <p:spPr>
          <a:xfrm>
            <a:off x="457200" y="411599"/>
            <a:ext cx="8229600" cy="4968345"/>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lvl="1" indent="180000">
              <a:lnSpc>
                <a:spcPct val="135000"/>
              </a:lnSpc>
              <a:spcBef>
                <a:spcPts val="0"/>
              </a:spcBef>
              <a:buSzPct val="70000"/>
              <a:buBlip>
                <a:blip r:embed="rId2"/>
              </a:buBlip>
            </a:pPr>
            <a:r>
              <a:rPr lang="en-US" altLang="zh-CN" sz="1200" b="1" dirty="0">
                <a:latin typeface="仿宋" panose="02010609060101010101" pitchFamily="49" charset="-122"/>
                <a:ea typeface="仿宋" panose="02010609060101010101" pitchFamily="49" charset="-122"/>
              </a:rPr>
              <a:t>1</a:t>
            </a:r>
            <a:r>
              <a:rPr lang="zh-CN" altLang="zh-CN" sz="1200" b="1" dirty="0">
                <a:latin typeface="仿宋" panose="02010609060101010101" pitchFamily="49" charset="-122"/>
                <a:ea typeface="仿宋" panose="02010609060101010101" pitchFamily="49" charset="-122"/>
              </a:rPr>
              <a:t>、产能不足风险</a:t>
            </a:r>
          </a:p>
          <a:p>
            <a:pPr marL="288000" lvl="1">
              <a:lnSpc>
                <a:spcPct val="135000"/>
              </a:lnSpc>
              <a:spcBef>
                <a:spcPts val="0"/>
              </a:spcBef>
              <a:buSzPct val="70000"/>
            </a:pPr>
            <a:r>
              <a:rPr lang="zh-CN" altLang="zh-CN" sz="1200" dirty="0">
                <a:latin typeface="仿宋" panose="02010609060101010101" pitchFamily="49" charset="-122"/>
                <a:ea typeface="仿宋" panose="02010609060101010101" pitchFamily="49" charset="-122"/>
              </a:rPr>
              <a:t>公司属于典型的</a:t>
            </a:r>
            <a:r>
              <a:rPr lang="en-US" altLang="zh-CN" sz="1200" dirty="0">
                <a:latin typeface="仿宋" panose="02010609060101010101" pitchFamily="49" charset="-122"/>
                <a:ea typeface="仿宋" panose="02010609060101010101" pitchFamily="49" charset="-122"/>
              </a:rPr>
              <a:t>Fabless</a:t>
            </a:r>
            <a:r>
              <a:rPr lang="zh-CN" altLang="zh-CN" sz="1200" dirty="0">
                <a:latin typeface="仿宋" panose="02010609060101010101" pitchFamily="49" charset="-122"/>
                <a:ea typeface="仿宋" panose="02010609060101010101" pitchFamily="49" charset="-122"/>
              </a:rPr>
              <a:t>集成电路设计企业，可以自行完成芯片设计等流程。由于近年来快充市场处在爆发式增长期，电源市场的大客户也处在</a:t>
            </a:r>
            <a:r>
              <a:rPr lang="zh-CN" altLang="zh-CN" sz="1200" b="1" dirty="0">
                <a:latin typeface="仿宋" panose="02010609060101010101" pitchFamily="49" charset="-122"/>
                <a:ea typeface="仿宋" panose="02010609060101010101" pitchFamily="49" charset="-122"/>
              </a:rPr>
              <a:t>上量阶段</a:t>
            </a:r>
            <a:r>
              <a:rPr lang="zh-CN" altLang="zh-CN" sz="1200" dirty="0">
                <a:latin typeface="仿宋" panose="02010609060101010101" pitchFamily="49" charset="-122"/>
                <a:ea typeface="仿宋" panose="02010609060101010101" pitchFamily="49" charset="-122"/>
              </a:rPr>
              <a:t>，而公司目前的产能无法适应终端厂家大规模量产的需求。虽然公司正积极扩张产能，未来也存在产能不足的风险。</a:t>
            </a:r>
          </a:p>
          <a:p>
            <a:pPr indent="306070" algn="just">
              <a:lnSpc>
                <a:spcPct val="135000"/>
              </a:lnSpc>
              <a:spcBef>
                <a:spcPts val="0"/>
              </a:spcBef>
            </a:pPr>
            <a:r>
              <a:rPr lang="zh-CN" altLang="zh-CN" sz="1200" b="1" kern="100" dirty="0">
                <a:effectLst/>
                <a:latin typeface="Times New Roman" panose="02020603050405020304" pitchFamily="18" charset="0"/>
                <a:ea typeface="仿宋" panose="02010609060101010101" pitchFamily="49" charset="-122"/>
                <a:cs typeface="宋体" panose="02010600030101010101" pitchFamily="2" charset="-122"/>
              </a:rPr>
              <a:t>缓释措施：</a:t>
            </a:r>
            <a:endParaRPr lang="zh-CN" altLang="zh-CN" sz="1200" kern="100" dirty="0">
              <a:effectLst/>
              <a:latin typeface="Times New Roman" panose="02020603050405020304" pitchFamily="18" charset="0"/>
              <a:ea typeface="宋体" panose="02010600030101010101" pitchFamily="2" charset="-122"/>
              <a:cs typeface="宋体" panose="02010600030101010101" pitchFamily="2" charset="-122"/>
            </a:endParaRPr>
          </a:p>
          <a:p>
            <a:pPr marL="288000" lvl="1">
              <a:lnSpc>
                <a:spcPct val="135000"/>
              </a:lnSpc>
              <a:spcBef>
                <a:spcPts val="0"/>
              </a:spcBef>
              <a:buSzPct val="70000"/>
            </a:pPr>
            <a:r>
              <a:rPr lang="zh-CN" altLang="zh-CN" sz="1200" dirty="0">
                <a:latin typeface="仿宋" panose="02010609060101010101" pitchFamily="49" charset="-122"/>
                <a:ea typeface="仿宋" panose="02010609060101010101" pitchFamily="49" charset="-122"/>
              </a:rPr>
              <a:t>公司目前在进行</a:t>
            </a:r>
            <a:r>
              <a:rPr lang="en-US" altLang="zh-CN" sz="1200" dirty="0">
                <a:latin typeface="仿宋" panose="02010609060101010101" pitchFamily="49" charset="-122"/>
                <a:ea typeface="仿宋" panose="02010609060101010101" pitchFamily="49" charset="-122"/>
              </a:rPr>
              <a:t>C</a:t>
            </a:r>
            <a:r>
              <a:rPr lang="zh-CN" altLang="zh-CN" sz="1200" dirty="0">
                <a:latin typeface="仿宋" panose="02010609060101010101" pitchFamily="49" charset="-122"/>
                <a:ea typeface="仿宋" panose="02010609060101010101" pitchFamily="49" charset="-122"/>
              </a:rPr>
              <a:t>轮融资，旨在加强</a:t>
            </a:r>
            <a:r>
              <a:rPr lang="zh-CN" altLang="zh-CN" sz="1200" b="1" dirty="0">
                <a:latin typeface="仿宋" panose="02010609060101010101" pitchFamily="49" charset="-122"/>
                <a:ea typeface="仿宋" panose="02010609060101010101" pitchFamily="49" charset="-122"/>
              </a:rPr>
              <a:t>流动资金的储备</a:t>
            </a:r>
            <a:r>
              <a:rPr lang="zh-CN" altLang="zh-CN" sz="1200" dirty="0">
                <a:latin typeface="仿宋" panose="02010609060101010101" pitchFamily="49" charset="-122"/>
                <a:ea typeface="仿宋" panose="02010609060101010101" pitchFamily="49" charset="-122"/>
              </a:rPr>
              <a:t>及产能的备货规划。</a:t>
            </a:r>
          </a:p>
          <a:p>
            <a:pPr marL="0" lvl="1" indent="180000">
              <a:lnSpc>
                <a:spcPct val="135000"/>
              </a:lnSpc>
              <a:spcBef>
                <a:spcPts val="0"/>
              </a:spcBef>
              <a:buSzPct val="70000"/>
              <a:buBlip>
                <a:blip r:embed="rId2"/>
              </a:buBlip>
            </a:pPr>
            <a:r>
              <a:rPr lang="en-US" altLang="zh-CN" sz="1200" b="1" dirty="0">
                <a:latin typeface="仿宋" panose="02010609060101010101" pitchFamily="49" charset="-122"/>
                <a:ea typeface="仿宋" panose="02010609060101010101" pitchFamily="49" charset="-122"/>
              </a:rPr>
              <a:t>2</a:t>
            </a:r>
            <a:r>
              <a:rPr lang="zh-CN" altLang="zh-CN" sz="1200" b="1" dirty="0">
                <a:latin typeface="仿宋" panose="02010609060101010101" pitchFamily="49" charset="-122"/>
                <a:ea typeface="仿宋" panose="02010609060101010101" pitchFamily="49" charset="-122"/>
              </a:rPr>
              <a:t>、</a:t>
            </a:r>
            <a:r>
              <a:rPr lang="zh-CN" altLang="en-US" sz="1200" b="1" dirty="0">
                <a:latin typeface="仿宋" panose="02010609060101010101" pitchFamily="49" charset="-122"/>
                <a:ea typeface="仿宋" panose="02010609060101010101" pitchFamily="49" charset="-122"/>
              </a:rPr>
              <a:t>上游产品供货</a:t>
            </a:r>
            <a:r>
              <a:rPr lang="zh-CN" altLang="zh-CN" sz="1200" b="1" dirty="0">
                <a:latin typeface="仿宋" panose="02010609060101010101" pitchFamily="49" charset="-122"/>
                <a:ea typeface="仿宋" panose="02010609060101010101" pitchFamily="49" charset="-122"/>
              </a:rPr>
              <a:t>风险</a:t>
            </a:r>
          </a:p>
          <a:p>
            <a:pPr marL="288000" lvl="1">
              <a:lnSpc>
                <a:spcPct val="135000"/>
              </a:lnSpc>
              <a:spcBef>
                <a:spcPts val="0"/>
              </a:spcBef>
              <a:buSzPct val="70000"/>
            </a:pPr>
            <a:r>
              <a:rPr lang="zh-CN" altLang="zh-CN" sz="1200" dirty="0">
                <a:latin typeface="仿宋" panose="02010609060101010101" pitchFamily="49" charset="-122"/>
                <a:ea typeface="仿宋" panose="02010609060101010101" pitchFamily="49" charset="-122"/>
              </a:rPr>
              <a:t>国内知识产权保护力度不够，一旦公司产品推向市场，将面临被抄袭的风险。</a:t>
            </a:r>
          </a:p>
          <a:p>
            <a:pPr indent="306070" algn="just">
              <a:lnSpc>
                <a:spcPct val="135000"/>
              </a:lnSpc>
              <a:spcBef>
                <a:spcPts val="0"/>
              </a:spcBef>
            </a:pPr>
            <a:r>
              <a:rPr lang="zh-CN" altLang="zh-CN" sz="1200" b="1" kern="100" dirty="0">
                <a:effectLst/>
                <a:latin typeface="Times New Roman" panose="02020603050405020304" pitchFamily="18" charset="0"/>
                <a:ea typeface="仿宋" panose="02010609060101010101" pitchFamily="49" charset="-122"/>
                <a:cs typeface="宋体" panose="02010600030101010101" pitchFamily="2" charset="-122"/>
              </a:rPr>
              <a:t>缓释措施：</a:t>
            </a:r>
            <a:endParaRPr lang="zh-CN" altLang="zh-CN" sz="1200" kern="100" dirty="0">
              <a:effectLst/>
              <a:latin typeface="Times New Roman" panose="02020603050405020304" pitchFamily="18" charset="0"/>
              <a:ea typeface="宋体" panose="02010600030101010101" pitchFamily="2" charset="-122"/>
              <a:cs typeface="宋体" panose="02010600030101010101" pitchFamily="2" charset="-122"/>
            </a:endParaRPr>
          </a:p>
          <a:p>
            <a:pPr marL="288000" lvl="1">
              <a:lnSpc>
                <a:spcPct val="135000"/>
              </a:lnSpc>
              <a:spcBef>
                <a:spcPts val="0"/>
              </a:spcBef>
              <a:buSzPct val="70000"/>
            </a:pPr>
            <a:r>
              <a:rPr lang="zh-CN" altLang="zh-CN" sz="1200" dirty="0">
                <a:latin typeface="仿宋" panose="02010609060101010101" pitchFamily="49" charset="-122"/>
                <a:ea typeface="仿宋" panose="02010609060101010101" pitchFamily="49" charset="-122"/>
              </a:rPr>
              <a:t>公司沿用美国纳斯达克上市公司的</a:t>
            </a:r>
            <a:r>
              <a:rPr lang="en-US" altLang="zh-CN" sz="1200" dirty="0">
                <a:latin typeface="仿宋" panose="02010609060101010101" pitchFamily="49" charset="-122"/>
                <a:ea typeface="仿宋" panose="02010609060101010101" pitchFamily="49" charset="-122"/>
              </a:rPr>
              <a:t>IP</a:t>
            </a:r>
            <a:r>
              <a:rPr lang="zh-CN" altLang="zh-CN" sz="1200" dirty="0">
                <a:latin typeface="仿宋" panose="02010609060101010101" pitchFamily="49" charset="-122"/>
                <a:ea typeface="仿宋" panose="02010609060101010101" pitchFamily="49" charset="-122"/>
              </a:rPr>
              <a:t>保护策略，在专利技术方面做充分的布局，在既保护专有技术的同时又能保证市场份额。</a:t>
            </a:r>
            <a:endParaRPr lang="en-US" altLang="zh-CN" sz="1200" dirty="0">
              <a:latin typeface="仿宋" panose="02010609060101010101" pitchFamily="49" charset="-122"/>
              <a:ea typeface="仿宋" panose="02010609060101010101" pitchFamily="49" charset="-122"/>
            </a:endParaRPr>
          </a:p>
          <a:p>
            <a:pPr marL="288000" lvl="1">
              <a:lnSpc>
                <a:spcPct val="135000"/>
              </a:lnSpc>
              <a:spcBef>
                <a:spcPts val="0"/>
              </a:spcBef>
              <a:buSzPct val="70000"/>
            </a:pPr>
            <a:r>
              <a:rPr lang="zh-CN" altLang="en-US" sz="1200" dirty="0">
                <a:latin typeface="仿宋" panose="02010609060101010101" pitchFamily="49" charset="-122"/>
                <a:ea typeface="仿宋" panose="02010609060101010101" pitchFamily="49" charset="-122"/>
              </a:rPr>
              <a:t>公司产品算法模块逐步采用</a:t>
            </a:r>
            <a:r>
              <a:rPr lang="zh-CN" altLang="en-US" sz="1200" b="1" dirty="0">
                <a:latin typeface="仿宋" panose="02010609060101010101" pitchFamily="49" charset="-122"/>
                <a:ea typeface="仿宋" panose="02010609060101010101" pitchFamily="49" charset="-122"/>
              </a:rPr>
              <a:t>“固件烧写”</a:t>
            </a:r>
            <a:r>
              <a:rPr lang="zh-CN" altLang="en-US" sz="1200" dirty="0">
                <a:latin typeface="仿宋" panose="02010609060101010101" pitchFamily="49" charset="-122"/>
                <a:ea typeface="仿宋" panose="02010609060101010101" pitchFamily="49" charset="-122"/>
              </a:rPr>
              <a:t>的方式进行反抄袭。</a:t>
            </a:r>
            <a:endParaRPr lang="zh-CN" altLang="zh-CN" sz="1200" dirty="0">
              <a:latin typeface="仿宋" panose="02010609060101010101" pitchFamily="49" charset="-122"/>
              <a:ea typeface="仿宋" panose="02010609060101010101" pitchFamily="49" charset="-122"/>
            </a:endParaRPr>
          </a:p>
          <a:p>
            <a:pPr marL="288000" lvl="1">
              <a:lnSpc>
                <a:spcPct val="135000"/>
              </a:lnSpc>
              <a:spcBef>
                <a:spcPts val="0"/>
              </a:spcBef>
              <a:buSzPct val="70000"/>
            </a:pPr>
            <a:r>
              <a:rPr lang="zh-CN" altLang="zh-CN" sz="1200" dirty="0">
                <a:latin typeface="仿宋" panose="02010609060101010101" pitchFamily="49" charset="-122"/>
                <a:ea typeface="仿宋" panose="02010609060101010101" pitchFamily="49" charset="-122"/>
              </a:rPr>
              <a:t>另外公司依托完整成熟的质量管理体系，和境外</a:t>
            </a:r>
            <a:r>
              <a:rPr lang="zh-CN" altLang="en-US" sz="1200" dirty="0">
                <a:latin typeface="仿宋" panose="02010609060101010101" pitchFamily="49" charset="-122"/>
                <a:ea typeface="仿宋" panose="02010609060101010101" pitchFamily="49" charset="-122"/>
              </a:rPr>
              <a:t>专业</a:t>
            </a:r>
            <a:r>
              <a:rPr lang="zh-CN" altLang="zh-CN" sz="1200" dirty="0">
                <a:latin typeface="仿宋" panose="02010609060101010101" pitchFamily="49" charset="-122"/>
                <a:ea typeface="仿宋" panose="02010609060101010101" pitchFamily="49" charset="-122"/>
              </a:rPr>
              <a:t>的运营团队，保证公司产品</a:t>
            </a:r>
            <a:r>
              <a:rPr lang="zh-CN" altLang="en-US" sz="1200" dirty="0">
                <a:latin typeface="仿宋" panose="02010609060101010101" pitchFamily="49" charset="-122"/>
                <a:ea typeface="仿宋" panose="02010609060101010101" pitchFamily="49" charset="-122"/>
              </a:rPr>
              <a:t>品质</a:t>
            </a:r>
            <a:r>
              <a:rPr lang="zh-CN" altLang="zh-CN" sz="1200" dirty="0">
                <a:latin typeface="仿宋" panose="02010609060101010101" pitchFamily="49" charset="-122"/>
                <a:ea typeface="仿宋" panose="02010609060101010101" pitchFamily="49" charset="-122"/>
              </a:rPr>
              <a:t>的高壁垒性。</a:t>
            </a:r>
            <a:endParaRPr lang="en-US" altLang="zh-CN" sz="1200" dirty="0">
              <a:latin typeface="仿宋" panose="02010609060101010101" pitchFamily="49" charset="-122"/>
              <a:ea typeface="仿宋" panose="02010609060101010101" pitchFamily="49" charset="-122"/>
            </a:endParaRPr>
          </a:p>
          <a:p>
            <a:pPr marL="0" lvl="1" indent="180000">
              <a:lnSpc>
                <a:spcPct val="135000"/>
              </a:lnSpc>
              <a:spcBef>
                <a:spcPts val="0"/>
              </a:spcBef>
              <a:buSzPct val="70000"/>
              <a:buBlip>
                <a:blip r:embed="rId2"/>
              </a:buBlip>
            </a:pPr>
            <a:r>
              <a:rPr lang="en-US" altLang="zh-CN" sz="1200" b="1" dirty="0">
                <a:latin typeface="仿宋" panose="02010609060101010101" pitchFamily="49" charset="-122"/>
                <a:ea typeface="仿宋" panose="02010609060101010101" pitchFamily="49" charset="-122"/>
              </a:rPr>
              <a:t>3</a:t>
            </a:r>
            <a:r>
              <a:rPr lang="zh-CN" altLang="en-US" sz="1200" b="1" dirty="0">
                <a:latin typeface="仿宋" panose="02010609060101010101" pitchFamily="49" charset="-122"/>
                <a:ea typeface="仿宋" panose="02010609060101010101" pitchFamily="49" charset="-122"/>
              </a:rPr>
              <a:t>、对原上市公司供应链的依赖</a:t>
            </a:r>
            <a:endParaRPr lang="en-US" altLang="zh-CN" sz="1200" b="1" dirty="0">
              <a:latin typeface="仿宋" panose="02010609060101010101" pitchFamily="49" charset="-122"/>
              <a:ea typeface="仿宋" panose="02010609060101010101" pitchFamily="49" charset="-122"/>
            </a:endParaRPr>
          </a:p>
          <a:p>
            <a:pPr marL="288000" lvl="1">
              <a:lnSpc>
                <a:spcPct val="135000"/>
              </a:lnSpc>
              <a:spcBef>
                <a:spcPts val="0"/>
              </a:spcBef>
              <a:buSzPct val="70000"/>
            </a:pPr>
            <a:r>
              <a:rPr lang="zh-CN" altLang="zh-CN" sz="1200" dirty="0">
                <a:latin typeface="仿宋" panose="02010609060101010101" pitchFamily="49" charset="-122"/>
                <a:ea typeface="仿宋" panose="02010609060101010101" pitchFamily="49" charset="-122"/>
              </a:rPr>
              <a:t>公司</a:t>
            </a:r>
            <a:r>
              <a:rPr lang="en-US" altLang="zh-CN" sz="1200" dirty="0">
                <a:latin typeface="仿宋" panose="02010609060101010101" pitchFamily="49" charset="-122"/>
                <a:ea typeface="仿宋" panose="02010609060101010101" pitchFamily="49" charset="-122"/>
              </a:rPr>
              <a:t>2021</a:t>
            </a:r>
            <a:r>
              <a:rPr lang="zh-CN" altLang="zh-CN" sz="1200" dirty="0">
                <a:latin typeface="仿宋" panose="02010609060101010101" pitchFamily="49" charset="-122"/>
                <a:ea typeface="仿宋" panose="02010609060101010101" pitchFamily="49" charset="-122"/>
              </a:rPr>
              <a:t>年</a:t>
            </a:r>
            <a:r>
              <a:rPr lang="en-US" altLang="zh-CN" sz="1200" dirty="0">
                <a:latin typeface="仿宋" panose="02010609060101010101" pitchFamily="49" charset="-122"/>
                <a:ea typeface="仿宋" panose="02010609060101010101" pitchFamily="49" charset="-122"/>
              </a:rPr>
              <a:t>1-4</a:t>
            </a:r>
            <a:r>
              <a:rPr lang="zh-CN" altLang="zh-CN" sz="1200" dirty="0">
                <a:latin typeface="仿宋" panose="02010609060101010101" pitchFamily="49" charset="-122"/>
                <a:ea typeface="仿宋" panose="02010609060101010101" pitchFamily="49" charset="-122"/>
              </a:rPr>
              <a:t>月向原上市公司采购金额以及技术服务金额已经超过总采购额的</a:t>
            </a:r>
            <a:r>
              <a:rPr lang="en-US" altLang="zh-CN" sz="1200" dirty="0">
                <a:latin typeface="仿宋" panose="02010609060101010101" pitchFamily="49" charset="-122"/>
                <a:ea typeface="仿宋" panose="02010609060101010101" pitchFamily="49" charset="-122"/>
              </a:rPr>
              <a:t>70%</a:t>
            </a:r>
            <a:r>
              <a:rPr lang="zh-CN" altLang="zh-CN" sz="1200" dirty="0">
                <a:latin typeface="仿宋" panose="02010609060101010101" pitchFamily="49" charset="-122"/>
                <a:ea typeface="仿宋" panose="02010609060101010101" pitchFamily="49" charset="-122"/>
              </a:rPr>
              <a:t>。</a:t>
            </a:r>
            <a:endParaRPr lang="en-US" altLang="zh-CN" sz="1200" dirty="0">
              <a:latin typeface="仿宋" panose="02010609060101010101" pitchFamily="49" charset="-122"/>
              <a:ea typeface="仿宋" panose="02010609060101010101" pitchFamily="49" charset="-122"/>
            </a:endParaRPr>
          </a:p>
          <a:p>
            <a:pPr marL="254000" lvl="1" indent="306070" algn="just">
              <a:lnSpc>
                <a:spcPct val="135000"/>
              </a:lnSpc>
              <a:spcBef>
                <a:spcPts val="0"/>
              </a:spcBef>
              <a:buSzPct val="70000"/>
              <a:buFont typeface="Arial" panose="020B0604020202020204" pitchFamily="34" charset="0"/>
              <a:buChar char="•"/>
            </a:pPr>
            <a:r>
              <a:rPr lang="zh-CN" altLang="zh-CN" sz="1200" b="1" kern="100" dirty="0">
                <a:latin typeface="Times New Roman" panose="02020603050405020304" pitchFamily="18" charset="0"/>
                <a:ea typeface="仿宋" panose="02010609060101010101" pitchFamily="49" charset="-122"/>
              </a:rPr>
              <a:t>缓释措施：</a:t>
            </a:r>
          </a:p>
          <a:p>
            <a:pPr marL="288000" lvl="1">
              <a:lnSpc>
                <a:spcPct val="135000"/>
              </a:lnSpc>
              <a:spcBef>
                <a:spcPts val="0"/>
              </a:spcBef>
              <a:buSzPct val="70000"/>
            </a:pPr>
            <a:r>
              <a:rPr lang="zh-CN" altLang="zh-CN" sz="1200" dirty="0">
                <a:latin typeface="仿宋" panose="02010609060101010101" pitchFamily="49" charset="-122"/>
                <a:ea typeface="仿宋" panose="02010609060101010101" pitchFamily="49" charset="-122"/>
              </a:rPr>
              <a:t>公司目前已经将从上市公司转移的产品进行了料号更换并在下游客户量产出货。</a:t>
            </a:r>
            <a:endParaRPr lang="en-US" altLang="zh-CN" sz="1200" dirty="0">
              <a:latin typeface="仿宋" panose="02010609060101010101" pitchFamily="49" charset="-122"/>
              <a:ea typeface="仿宋" panose="02010609060101010101" pitchFamily="49" charset="-122"/>
            </a:endParaRPr>
          </a:p>
          <a:p>
            <a:pPr marL="288000" lvl="1">
              <a:lnSpc>
                <a:spcPct val="135000"/>
              </a:lnSpc>
              <a:spcBef>
                <a:spcPts val="0"/>
              </a:spcBef>
              <a:buSzPct val="70000"/>
            </a:pPr>
            <a:r>
              <a:rPr lang="zh-CN" altLang="zh-CN" sz="1200" dirty="0">
                <a:latin typeface="仿宋" panose="02010609060101010101" pitchFamily="49" charset="-122"/>
                <a:ea typeface="仿宋" panose="02010609060101010101" pitchFamily="49" charset="-122"/>
              </a:rPr>
              <a:t>后续督促公司拓展客户渠道并不断扩充供应商体系，减少对原上市公司的依存。</a:t>
            </a:r>
          </a:p>
        </p:txBody>
      </p:sp>
    </p:spTree>
    <p:extLst>
      <p:ext uri="{BB962C8B-B14F-4D97-AF65-F5344CB8AC3E}">
        <p14:creationId xmlns:p14="http://schemas.microsoft.com/office/powerpoint/2010/main" val="10958487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39DBCD6-23C0-477B-B058-4646A0E3A5C3}"/>
              </a:ext>
            </a:extLst>
          </p:cNvPr>
          <p:cNvSpPr>
            <a:spLocks noGrp="1" noChangeArrowheads="1"/>
          </p:cNvSpPr>
          <p:nvPr>
            <p:ph type="title"/>
          </p:nvPr>
        </p:nvSpPr>
        <p:spPr>
          <a:xfrm>
            <a:off x="457200" y="1"/>
            <a:ext cx="8229600" cy="411600"/>
          </a:xfrm>
        </p:spPr>
        <p:txBody>
          <a:bodyPr/>
          <a:lstStyle/>
          <a:p>
            <a:pPr algn="l"/>
            <a:r>
              <a:rPr lang="zh-CN" altLang="en-US" sz="2400" dirty="0">
                <a:solidFill>
                  <a:schemeClr val="bg1">
                    <a:lumMod val="50000"/>
                  </a:schemeClr>
                </a:solidFill>
              </a:rPr>
              <a:t>八、商业尽调</a:t>
            </a:r>
            <a:r>
              <a:rPr lang="en-US" altLang="zh-CN" sz="2400" dirty="0">
                <a:solidFill>
                  <a:schemeClr val="bg1">
                    <a:lumMod val="50000"/>
                  </a:schemeClr>
                </a:solidFill>
              </a:rPr>
              <a:t>|</a:t>
            </a:r>
            <a:r>
              <a:rPr lang="zh-CN" altLang="en-US" sz="2000" dirty="0"/>
              <a:t>客户</a:t>
            </a:r>
            <a:r>
              <a:rPr lang="en-US" altLang="zh-CN" sz="2000" dirty="0"/>
              <a:t>&amp;</a:t>
            </a:r>
            <a:r>
              <a:rPr lang="zh-CN" altLang="en-US" sz="2000" dirty="0"/>
              <a:t>专家访谈</a:t>
            </a:r>
            <a:endParaRPr lang="en-US" altLang="zh-CN" sz="2400" dirty="0"/>
          </a:p>
        </p:txBody>
      </p:sp>
      <p:sp>
        <p:nvSpPr>
          <p:cNvPr id="4" name="Rectangle 3">
            <a:extLst>
              <a:ext uri="{FF2B5EF4-FFF2-40B4-BE49-F238E27FC236}">
                <a16:creationId xmlns:a16="http://schemas.microsoft.com/office/drawing/2014/main" id="{9469A29D-51EB-4ED2-ACA9-44A62E10A712}"/>
              </a:ext>
            </a:extLst>
          </p:cNvPr>
          <p:cNvSpPr txBox="1">
            <a:spLocks noChangeArrowheads="1"/>
          </p:cNvSpPr>
          <p:nvPr/>
        </p:nvSpPr>
        <p:spPr>
          <a:xfrm>
            <a:off x="457200" y="411600"/>
            <a:ext cx="8229600" cy="4392305"/>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lvl="1" indent="180000">
              <a:lnSpc>
                <a:spcPct val="125000"/>
              </a:lnSpc>
              <a:spcBef>
                <a:spcPts val="0"/>
              </a:spcBef>
              <a:buSzPct val="70000"/>
              <a:buBlip>
                <a:blip r:embed="rId3"/>
              </a:buBlip>
            </a:pPr>
            <a:r>
              <a:rPr lang="en-US" altLang="zh-CN" sz="1100" b="1" dirty="0">
                <a:solidFill>
                  <a:srgbClr val="C00000"/>
                </a:solidFill>
                <a:latin typeface="仿宋" panose="02010609060101010101" pitchFamily="49" charset="-122"/>
                <a:ea typeface="仿宋" panose="02010609060101010101" pitchFamily="49" charset="-122"/>
              </a:rPr>
              <a:t>OPPO(</a:t>
            </a:r>
            <a:r>
              <a:rPr lang="zh-CN" altLang="en-US" sz="1100" b="1" dirty="0">
                <a:solidFill>
                  <a:srgbClr val="C00000"/>
                </a:solidFill>
                <a:latin typeface="仿宋" panose="02010609060101010101" pitchFamily="49" charset="-122"/>
                <a:ea typeface="仿宋" panose="02010609060101010101" pitchFamily="49" charset="-122"/>
              </a:rPr>
              <a:t>终端大客户</a:t>
            </a:r>
            <a:r>
              <a:rPr lang="en-US" altLang="zh-CN" sz="1100" b="1" dirty="0">
                <a:solidFill>
                  <a:srgbClr val="C00000"/>
                </a:solidFill>
                <a:latin typeface="仿宋" panose="02010609060101010101" pitchFamily="49" charset="-122"/>
                <a:ea typeface="仿宋" panose="02010609060101010101" pitchFamily="49" charset="-122"/>
              </a:rPr>
              <a:t>)</a:t>
            </a:r>
          </a:p>
          <a:p>
            <a:pPr marL="288000" lvl="1">
              <a:lnSpc>
                <a:spcPct val="125000"/>
              </a:lnSpc>
              <a:spcBef>
                <a:spcPts val="0"/>
              </a:spcBef>
              <a:buSzPct val="70000"/>
            </a:pPr>
            <a:r>
              <a:rPr lang="zh-CN" altLang="zh-CN" sz="1100" dirty="0">
                <a:latin typeface="仿宋" panose="02010609060101010101" pitchFamily="49" charset="-122"/>
                <a:ea typeface="仿宋" panose="02010609060101010101" pitchFamily="49" charset="-122"/>
              </a:rPr>
              <a:t>导入</a:t>
            </a:r>
            <a:r>
              <a:rPr lang="en-US" altLang="zh-CN" sz="1100" dirty="0">
                <a:latin typeface="仿宋" panose="02010609060101010101" pitchFamily="49" charset="-122"/>
                <a:ea typeface="仿宋" panose="02010609060101010101" pitchFamily="49" charset="-122"/>
              </a:rPr>
              <a:t>OPPO</a:t>
            </a:r>
            <a:r>
              <a:rPr lang="zh-CN" altLang="zh-CN" sz="1100" dirty="0">
                <a:latin typeface="仿宋" panose="02010609060101010101" pitchFamily="49" charset="-122"/>
                <a:ea typeface="仿宋" panose="02010609060101010101" pitchFamily="49" charset="-122"/>
              </a:rPr>
              <a:t>的时间很漫长，从</a:t>
            </a:r>
            <a:r>
              <a:rPr lang="en-US" altLang="zh-CN" sz="1100" dirty="0">
                <a:latin typeface="仿宋" panose="02010609060101010101" pitchFamily="49" charset="-122"/>
                <a:ea typeface="仿宋" panose="02010609060101010101" pitchFamily="49" charset="-122"/>
              </a:rPr>
              <a:t>2016</a:t>
            </a:r>
            <a:r>
              <a:rPr lang="zh-CN" altLang="zh-CN" sz="1100" dirty="0">
                <a:latin typeface="仿宋" panose="02010609060101010101" pitchFamily="49" charset="-122"/>
                <a:ea typeface="仿宋" panose="02010609060101010101" pitchFamily="49" charset="-122"/>
              </a:rPr>
              <a:t>年</a:t>
            </a:r>
            <a:r>
              <a:rPr lang="en-US" altLang="zh-CN" sz="1100" dirty="0">
                <a:latin typeface="仿宋" panose="02010609060101010101" pitchFamily="49" charset="-122"/>
                <a:ea typeface="仿宋" panose="02010609060101010101" pitchFamily="49" charset="-122"/>
              </a:rPr>
              <a:t>-2020</a:t>
            </a:r>
            <a:r>
              <a:rPr lang="zh-CN" altLang="zh-CN" sz="1100" dirty="0">
                <a:latin typeface="仿宋" panose="02010609060101010101" pitchFamily="49" charset="-122"/>
                <a:ea typeface="仿宋" panose="02010609060101010101" pitchFamily="49" charset="-122"/>
              </a:rPr>
              <a:t>年，目前有千万级别的量；</a:t>
            </a:r>
            <a:r>
              <a:rPr lang="zh-CN" altLang="zh-CN" sz="1100" b="1" dirty="0">
                <a:latin typeface="仿宋" panose="02010609060101010101" pitchFamily="49" charset="-122"/>
                <a:ea typeface="仿宋" panose="02010609060101010101" pitchFamily="49" charset="-122"/>
              </a:rPr>
              <a:t>算是不小的奇迹吧</a:t>
            </a:r>
            <a:r>
              <a:rPr lang="zh-CN" altLang="zh-CN" sz="1100" dirty="0">
                <a:latin typeface="仿宋" panose="02010609060101010101" pitchFamily="49" charset="-122"/>
                <a:ea typeface="仿宋" panose="02010609060101010101" pitchFamily="49" charset="-122"/>
              </a:rPr>
              <a:t>。</a:t>
            </a:r>
            <a:endParaRPr lang="en-US" altLang="zh-CN" sz="1100" dirty="0">
              <a:latin typeface="仿宋" panose="02010609060101010101" pitchFamily="49" charset="-122"/>
              <a:ea typeface="仿宋" panose="02010609060101010101" pitchFamily="49" charset="-122"/>
            </a:endParaRPr>
          </a:p>
          <a:p>
            <a:pPr marL="288000" lvl="1">
              <a:lnSpc>
                <a:spcPct val="125000"/>
              </a:lnSpc>
              <a:spcBef>
                <a:spcPts val="0"/>
              </a:spcBef>
              <a:buSzPct val="70000"/>
            </a:pPr>
            <a:r>
              <a:rPr lang="zh-CN" altLang="zh-CN" sz="1100"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大功率</a:t>
            </a:r>
            <a:r>
              <a:rPr lang="en-US" altLang="zh-CN" sz="1100"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65W</a:t>
            </a:r>
            <a:r>
              <a:rPr lang="zh-CN" altLang="zh-CN" sz="1100"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充电器</a:t>
            </a:r>
            <a:r>
              <a:rPr lang="zh-CN" altLang="en-US" sz="1100"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a:t>
            </a:r>
            <a:r>
              <a:rPr lang="zh-CN" altLang="zh-CN" sz="1100"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需要</a:t>
            </a:r>
            <a:r>
              <a:rPr lang="en-US" altLang="zh-CN" sz="1100"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1</a:t>
            </a:r>
            <a:r>
              <a:rPr lang="zh-CN" altLang="zh-CN" sz="1100"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颗降压</a:t>
            </a:r>
            <a:r>
              <a:rPr lang="en-US" altLang="zh-CN" sz="1100"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Charge Pump</a:t>
            </a:r>
            <a:r>
              <a:rPr lang="zh-CN" altLang="zh-CN" sz="1100"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，也</a:t>
            </a:r>
            <a:r>
              <a:rPr lang="zh-CN" altLang="zh-CN" sz="1100" b="1"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找过很多厂商做开发，</a:t>
            </a:r>
            <a:r>
              <a:rPr lang="en-US" altLang="zh-CN" sz="1100" b="1" dirty="0">
                <a:effectLst/>
                <a:latin typeface="仿宋" panose="02010609060101010101" pitchFamily="49" charset="-122"/>
                <a:ea typeface="仿宋" panose="02010609060101010101" pitchFamily="49" charset="-122"/>
                <a:cs typeface="Times New Roman" panose="02020603050405020304" pitchFamily="18" charset="0"/>
              </a:rPr>
              <a:t> OPPO</a:t>
            </a:r>
            <a:r>
              <a:rPr lang="zh-CN" altLang="zh-CN" sz="1100" b="1" dirty="0">
                <a:effectLst/>
                <a:latin typeface="仿宋" panose="02010609060101010101" pitchFamily="49" charset="-122"/>
                <a:ea typeface="仿宋" panose="02010609060101010101" pitchFamily="49" charset="-122"/>
                <a:cs typeface="Times New Roman" panose="02020603050405020304" pitchFamily="18" charset="0"/>
              </a:rPr>
              <a:t>对效率要求很高</a:t>
            </a:r>
            <a:r>
              <a:rPr lang="zh-CN" altLang="zh-CN" sz="1100" dirty="0">
                <a:effectLst/>
                <a:latin typeface="仿宋" panose="02010609060101010101" pitchFamily="49" charset="-122"/>
                <a:ea typeface="仿宋" panose="02010609060101010101" pitchFamily="49" charset="-122"/>
                <a:cs typeface="Times New Roman" panose="02020603050405020304" pitchFamily="18" charset="0"/>
              </a:rPr>
              <a:t>，</a:t>
            </a:r>
            <a:r>
              <a:rPr lang="zh-CN" altLang="zh-CN" sz="1100" b="1"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只有大瞬能实现</a:t>
            </a:r>
            <a:r>
              <a:rPr lang="en-US" altLang="zh-CN" sz="1100" b="1"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97%+</a:t>
            </a:r>
            <a:r>
              <a:rPr lang="zh-CN" altLang="zh-CN" sz="1100" b="1"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的效率；</a:t>
            </a:r>
            <a:endParaRPr lang="zh-CN" altLang="zh-CN" sz="1100" dirty="0">
              <a:solidFill>
                <a:srgbClr val="000000"/>
              </a:solidFill>
              <a:effectLst/>
              <a:latin typeface="仿宋" panose="02010609060101010101" pitchFamily="49" charset="-122"/>
              <a:ea typeface="仿宋" panose="02010609060101010101" pitchFamily="49" charset="-122"/>
              <a:cs typeface="FangSong" panose="02010609060101010101" pitchFamily="49" charset="-122"/>
            </a:endParaRPr>
          </a:p>
          <a:p>
            <a:pPr marL="288000" lvl="1">
              <a:lnSpc>
                <a:spcPct val="125000"/>
              </a:lnSpc>
              <a:spcBef>
                <a:spcPts val="0"/>
              </a:spcBef>
              <a:buSzPct val="70000"/>
            </a:pPr>
            <a:r>
              <a:rPr lang="zh-CN" altLang="zh-CN" sz="1100"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后续定制化要求很多：</a:t>
            </a:r>
            <a:r>
              <a:rPr lang="zh-CN" altLang="zh-CN" sz="1100" b="1"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电池并起来、电量计等和大瞬开始合作</a:t>
            </a:r>
            <a:r>
              <a:rPr lang="zh-CN" altLang="zh-CN" sz="1100"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a:t>
            </a:r>
          </a:p>
          <a:p>
            <a:pPr marL="288000" lvl="1">
              <a:lnSpc>
                <a:spcPct val="125000"/>
              </a:lnSpc>
              <a:spcBef>
                <a:spcPts val="0"/>
              </a:spcBef>
              <a:buSzPct val="70000"/>
            </a:pPr>
            <a:r>
              <a:rPr lang="zh-CN" altLang="zh-CN" sz="1100" b="1"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大瞬量产产能没有问题</a:t>
            </a:r>
            <a:r>
              <a:rPr lang="zh-CN" altLang="zh-CN" sz="1100"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。有项目，满足要求的情况，</a:t>
            </a:r>
            <a:r>
              <a:rPr lang="zh-CN" altLang="zh-CN" sz="1100" b="1"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每几个月会开新项目</a:t>
            </a:r>
            <a:r>
              <a:rPr lang="zh-CN" altLang="zh-CN" sz="1100"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a:t>
            </a:r>
          </a:p>
          <a:p>
            <a:pPr marL="288000" lvl="1">
              <a:lnSpc>
                <a:spcPct val="125000"/>
              </a:lnSpc>
              <a:spcBef>
                <a:spcPts val="0"/>
              </a:spcBef>
              <a:buSzPct val="70000"/>
            </a:pPr>
            <a:r>
              <a:rPr lang="zh-CN" altLang="zh-CN" sz="1100"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选择大瞬来做，</a:t>
            </a:r>
            <a:r>
              <a:rPr lang="zh-CN" altLang="zh-CN" sz="1100" b="1"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主要是在串并、并串上有经验；在效率、纹波稳定性有相关的要求；做了相应的评估，产品指标都能满足要求</a:t>
            </a:r>
            <a:r>
              <a:rPr lang="zh-CN" altLang="en-US" sz="1100" b="1"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a:t>
            </a:r>
            <a:r>
              <a:rPr lang="zh-CN" altLang="zh-CN" sz="1100"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可以</a:t>
            </a:r>
            <a:r>
              <a:rPr lang="zh-CN" altLang="en-US" sz="1100"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实现</a:t>
            </a:r>
            <a:r>
              <a:rPr lang="en-US" altLang="zh-CN" sz="1100"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Pin2pin</a:t>
            </a:r>
            <a:r>
              <a:rPr lang="zh-CN" altLang="zh-CN" sz="1100"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a:t>
            </a:r>
          </a:p>
          <a:p>
            <a:pPr marL="288000" lvl="1">
              <a:lnSpc>
                <a:spcPct val="125000"/>
              </a:lnSpc>
              <a:spcBef>
                <a:spcPts val="0"/>
              </a:spcBef>
              <a:buSzPct val="70000"/>
            </a:pPr>
            <a:r>
              <a:rPr lang="zh-CN" altLang="zh-CN" sz="1100" b="1" dirty="0">
                <a:effectLst/>
                <a:latin typeface="仿宋" panose="02010609060101010101" pitchFamily="49" charset="-122"/>
                <a:ea typeface="仿宋" panose="02010609060101010101" pitchFamily="49" charset="-122"/>
                <a:cs typeface="Times New Roman" panose="02020603050405020304" pitchFamily="18" charset="0"/>
              </a:rPr>
              <a:t>经过</a:t>
            </a:r>
            <a:r>
              <a:rPr lang="en-US" altLang="zh-CN" sz="1100" b="1" dirty="0">
                <a:effectLst/>
                <a:latin typeface="仿宋" panose="02010609060101010101" pitchFamily="49" charset="-122"/>
                <a:ea typeface="仿宋" panose="02010609060101010101" pitchFamily="49" charset="-122"/>
                <a:cs typeface="Times New Roman" panose="02020603050405020304" pitchFamily="18" charset="0"/>
              </a:rPr>
              <a:t>2016</a:t>
            </a:r>
            <a:r>
              <a:rPr lang="zh-CN" altLang="zh-CN" sz="1100" b="1" dirty="0">
                <a:effectLst/>
                <a:latin typeface="仿宋" panose="02010609060101010101" pitchFamily="49" charset="-122"/>
                <a:ea typeface="仿宋" panose="02010609060101010101" pitchFamily="49" charset="-122"/>
                <a:cs typeface="Times New Roman" panose="02020603050405020304" pitchFamily="18" charset="0"/>
              </a:rPr>
              <a:t>年开始的不断磨合</a:t>
            </a:r>
            <a:r>
              <a:rPr lang="zh-CN" altLang="zh-CN" sz="1100" dirty="0">
                <a:effectLst/>
                <a:latin typeface="仿宋" panose="02010609060101010101" pitchFamily="49" charset="-122"/>
                <a:ea typeface="仿宋" panose="02010609060101010101" pitchFamily="49" charset="-122"/>
                <a:cs typeface="Times New Roman" panose="02020603050405020304" pitchFamily="18" charset="0"/>
              </a:rPr>
              <a:t>，</a:t>
            </a:r>
            <a:r>
              <a:rPr lang="zh-CN" altLang="en-US" sz="1100" dirty="0">
                <a:effectLst/>
                <a:latin typeface="仿宋" panose="02010609060101010101" pitchFamily="49" charset="-122"/>
                <a:ea typeface="仿宋" panose="02010609060101010101" pitchFamily="49" charset="-122"/>
                <a:cs typeface="Times New Roman" panose="02020603050405020304" pitchFamily="18" charset="0"/>
              </a:rPr>
              <a:t>团队在</a:t>
            </a:r>
            <a:r>
              <a:rPr lang="zh-CN" altLang="zh-CN" sz="1100" b="1"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电源领域需要时间沉淀</a:t>
            </a:r>
            <a:r>
              <a:rPr lang="zh-CN" altLang="zh-CN" sz="1100"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a:t>
            </a:r>
            <a:r>
              <a:rPr lang="zh-CN" altLang="zh-CN" sz="1100" b="1"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对大瞬的技术能力还是很认可的</a:t>
            </a:r>
            <a:r>
              <a:rPr lang="zh-CN" altLang="zh-CN" sz="1100"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；要求他们做的东西，</a:t>
            </a:r>
            <a:r>
              <a:rPr lang="zh-CN" altLang="zh-CN" sz="1100" b="1"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像响应方面都比较积极</a:t>
            </a:r>
            <a:r>
              <a:rPr lang="zh-CN" altLang="zh-CN" sz="1100"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a:t>
            </a:r>
            <a:r>
              <a:rPr lang="zh-CN" altLang="zh-CN" sz="1100" b="1"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变成大瞬之后更国产化一些，本地化更好一些</a:t>
            </a:r>
            <a:r>
              <a:rPr lang="zh-CN" altLang="en-US" sz="1100" b="1" dirty="0">
                <a:solidFill>
                  <a:srgbClr val="000000"/>
                </a:solidFill>
                <a:effectLst/>
                <a:latin typeface="仿宋" panose="02010609060101010101" pitchFamily="49" charset="-122"/>
                <a:ea typeface="仿宋" panose="02010609060101010101" pitchFamily="49" charset="-122"/>
                <a:cs typeface="FangSong" panose="02010609060101010101" pitchFamily="49" charset="-122"/>
              </a:rPr>
              <a:t>。</a:t>
            </a:r>
            <a:endParaRPr lang="en-US" altLang="zh-CN" sz="1100" b="1" dirty="0">
              <a:solidFill>
                <a:srgbClr val="C00000"/>
              </a:solidFill>
              <a:latin typeface="仿宋" panose="02010609060101010101" pitchFamily="49" charset="-122"/>
              <a:ea typeface="仿宋" panose="02010609060101010101" pitchFamily="49" charset="-122"/>
            </a:endParaRPr>
          </a:p>
          <a:p>
            <a:pPr marL="0" lvl="1" indent="180000">
              <a:lnSpc>
                <a:spcPct val="125000"/>
              </a:lnSpc>
              <a:spcBef>
                <a:spcPts val="0"/>
              </a:spcBef>
              <a:buSzPct val="70000"/>
              <a:buBlip>
                <a:blip r:embed="rId3"/>
              </a:buBlip>
            </a:pPr>
            <a:r>
              <a:rPr lang="zh-CN" altLang="en-US" sz="1100" b="1" dirty="0">
                <a:solidFill>
                  <a:srgbClr val="C00000"/>
                </a:solidFill>
                <a:latin typeface="仿宋" panose="02010609060101010101" pitchFamily="49" charset="-122"/>
                <a:ea typeface="仿宋" panose="02010609060101010101" pitchFamily="49" charset="-122"/>
              </a:rPr>
              <a:t>台湾</a:t>
            </a:r>
            <a:r>
              <a:rPr lang="zh-CN" altLang="zh-CN" sz="1100" b="1" dirty="0">
                <a:solidFill>
                  <a:srgbClr val="C00000"/>
                </a:solidFill>
                <a:latin typeface="仿宋" panose="02010609060101010101" pitchFamily="49" charset="-122"/>
                <a:ea typeface="仿宋" panose="02010609060101010101" pitchFamily="49" charset="-122"/>
              </a:rPr>
              <a:t>丰艺</a:t>
            </a:r>
            <a:r>
              <a:rPr lang="en-US" altLang="zh-CN" sz="1100" b="1" dirty="0">
                <a:solidFill>
                  <a:srgbClr val="C00000"/>
                </a:solidFill>
                <a:latin typeface="仿宋" panose="02010609060101010101" pitchFamily="49" charset="-122"/>
                <a:ea typeface="仿宋" panose="02010609060101010101" pitchFamily="49" charset="-122"/>
              </a:rPr>
              <a:t>(</a:t>
            </a:r>
            <a:r>
              <a:rPr lang="zh-CN" altLang="en-US" sz="1100" b="1" dirty="0">
                <a:solidFill>
                  <a:srgbClr val="C00000"/>
                </a:solidFill>
                <a:latin typeface="仿宋" panose="02010609060101010101" pitchFamily="49" charset="-122"/>
                <a:ea typeface="仿宋" panose="02010609060101010101" pitchFamily="49" charset="-122"/>
              </a:rPr>
              <a:t>代理商</a:t>
            </a:r>
            <a:r>
              <a:rPr lang="en-US" altLang="zh-CN" sz="1100" b="1" dirty="0">
                <a:solidFill>
                  <a:srgbClr val="C00000"/>
                </a:solidFill>
                <a:latin typeface="仿宋" panose="02010609060101010101" pitchFamily="49" charset="-122"/>
                <a:ea typeface="仿宋" panose="02010609060101010101" pitchFamily="49" charset="-122"/>
              </a:rPr>
              <a:t>)</a:t>
            </a:r>
          </a:p>
          <a:p>
            <a:pPr marL="288000" lvl="1">
              <a:lnSpc>
                <a:spcPct val="125000"/>
              </a:lnSpc>
              <a:spcBef>
                <a:spcPts val="0"/>
              </a:spcBef>
              <a:buSzPct val="70000"/>
            </a:pPr>
            <a:r>
              <a:rPr lang="zh-CN" altLang="zh-CN" sz="1100" dirty="0">
                <a:latin typeface="仿宋" panose="02010609060101010101" pitchFamily="49" charset="-122"/>
                <a:ea typeface="仿宋" panose="02010609060101010101" pitchFamily="49" charset="-122"/>
              </a:rPr>
              <a:t>公司代理的产品线符合凹凸科技的应用。上海</a:t>
            </a:r>
            <a:r>
              <a:rPr lang="zh-CN" altLang="en-US" sz="1100" dirty="0">
                <a:latin typeface="仿宋" panose="02010609060101010101" pitchFamily="49" charset="-122"/>
                <a:ea typeface="仿宋" panose="02010609060101010101" pitchFamily="49" charset="-122"/>
              </a:rPr>
              <a:t>（子公司）</a:t>
            </a:r>
            <a:r>
              <a:rPr lang="zh-CN" altLang="zh-CN" sz="1100" dirty="0">
                <a:latin typeface="仿宋" panose="02010609060101010101" pitchFamily="49" charset="-122"/>
                <a:ea typeface="仿宋" panose="02010609060101010101" pitchFamily="49" charset="-122"/>
              </a:rPr>
              <a:t>这边</a:t>
            </a:r>
            <a:r>
              <a:rPr lang="zh-CN" altLang="zh-CN" sz="1100" b="1" dirty="0">
                <a:latin typeface="仿宋" panose="02010609060101010101" pitchFamily="49" charset="-122"/>
                <a:ea typeface="仿宋" panose="02010609060101010101" pitchFamily="49" charset="-122"/>
              </a:rPr>
              <a:t>去年合作具体</a:t>
            </a:r>
            <a:r>
              <a:rPr lang="en-US" altLang="zh-CN" sz="1100" b="1" dirty="0">
                <a:latin typeface="仿宋" panose="02010609060101010101" pitchFamily="49" charset="-122"/>
                <a:ea typeface="仿宋" panose="02010609060101010101" pitchFamily="49" charset="-122"/>
              </a:rPr>
              <a:t>500k</a:t>
            </a:r>
            <a:r>
              <a:rPr lang="zh-CN" altLang="zh-CN" sz="1100" b="1" dirty="0">
                <a:latin typeface="仿宋" panose="02010609060101010101" pitchFamily="49" charset="-122"/>
                <a:ea typeface="仿宋" panose="02010609060101010101" pitchFamily="49" charset="-122"/>
              </a:rPr>
              <a:t>美金左右；预计今年差不多</a:t>
            </a:r>
            <a:r>
              <a:rPr lang="en-US" altLang="zh-CN" sz="1100" b="1" dirty="0">
                <a:latin typeface="仿宋" panose="02010609060101010101" pitchFamily="49" charset="-122"/>
                <a:ea typeface="仿宋" panose="02010609060101010101" pitchFamily="49" charset="-122"/>
              </a:rPr>
              <a:t>2kk</a:t>
            </a:r>
            <a:r>
              <a:rPr lang="zh-CN" altLang="zh-CN" sz="1100" b="1" dirty="0">
                <a:latin typeface="仿宋" panose="02010609060101010101" pitchFamily="49" charset="-122"/>
                <a:ea typeface="仿宋" panose="02010609060101010101" pitchFamily="49" charset="-122"/>
              </a:rPr>
              <a:t>美金</a:t>
            </a:r>
            <a:r>
              <a:rPr lang="zh-CN" altLang="zh-CN" sz="1100" dirty="0">
                <a:latin typeface="仿宋" panose="02010609060101010101" pitchFamily="49" charset="-122"/>
                <a:ea typeface="仿宋" panose="02010609060101010101" pitchFamily="49" charset="-122"/>
              </a:rPr>
              <a:t>。</a:t>
            </a:r>
            <a:endParaRPr lang="en-US" altLang="zh-CN" sz="1100" dirty="0">
              <a:latin typeface="仿宋" panose="02010609060101010101" pitchFamily="49" charset="-122"/>
              <a:ea typeface="仿宋" panose="02010609060101010101" pitchFamily="49" charset="-122"/>
            </a:endParaRPr>
          </a:p>
          <a:p>
            <a:pPr marL="288000" lvl="1">
              <a:lnSpc>
                <a:spcPct val="125000"/>
              </a:lnSpc>
              <a:spcBef>
                <a:spcPts val="0"/>
              </a:spcBef>
              <a:buSzPct val="70000"/>
            </a:pPr>
            <a:r>
              <a:rPr lang="zh-CN" altLang="en-US" sz="1100" dirty="0">
                <a:latin typeface="仿宋" panose="02010609060101010101" pitchFamily="49" charset="-122"/>
                <a:ea typeface="仿宋" panose="02010609060101010101" pitchFamily="49" charset="-122"/>
              </a:rPr>
              <a:t>代理商只是发货渠道，</a:t>
            </a:r>
            <a:r>
              <a:rPr lang="zh-CN" altLang="zh-CN" sz="1100" dirty="0">
                <a:latin typeface="仿宋" panose="02010609060101010101" pitchFamily="49" charset="-122"/>
                <a:ea typeface="仿宋" panose="02010609060101010101" pitchFamily="49" charset="-122"/>
              </a:rPr>
              <a:t>方案商指定原厂品牌</a:t>
            </a:r>
            <a:r>
              <a:rPr lang="zh-CN" altLang="en-US" sz="1100" dirty="0">
                <a:latin typeface="仿宋" panose="02010609060101010101" pitchFamily="49" charset="-122"/>
                <a:ea typeface="仿宋" panose="02010609060101010101" pitchFamily="49" charset="-122"/>
              </a:rPr>
              <a:t>，</a:t>
            </a:r>
            <a:r>
              <a:rPr lang="zh-CN" altLang="zh-CN" sz="1100" dirty="0">
                <a:latin typeface="仿宋" panose="02010609060101010101" pitchFamily="49" charset="-122"/>
                <a:ea typeface="仿宋" panose="02010609060101010101" pitchFamily="49" charset="-122"/>
              </a:rPr>
              <a:t>原厂管控</a:t>
            </a:r>
            <a:r>
              <a:rPr lang="zh-CN" altLang="en-US" sz="1100" dirty="0">
                <a:latin typeface="仿宋" panose="02010609060101010101" pitchFamily="49" charset="-122"/>
                <a:ea typeface="仿宋" panose="02010609060101010101" pitchFamily="49" charset="-122"/>
              </a:rPr>
              <a:t>交货渠道的需求。</a:t>
            </a:r>
            <a:endParaRPr lang="en-US" altLang="zh-CN" sz="1100" dirty="0">
              <a:latin typeface="仿宋" panose="02010609060101010101" pitchFamily="49" charset="-122"/>
              <a:ea typeface="仿宋" panose="02010609060101010101" pitchFamily="49" charset="-122"/>
            </a:endParaRPr>
          </a:p>
          <a:p>
            <a:pPr marL="288000" lvl="1">
              <a:lnSpc>
                <a:spcPct val="125000"/>
              </a:lnSpc>
              <a:spcBef>
                <a:spcPts val="0"/>
              </a:spcBef>
              <a:buSzPct val="70000"/>
            </a:pPr>
            <a:r>
              <a:rPr lang="zh-CN" altLang="zh-CN" sz="1100" b="1" dirty="0">
                <a:latin typeface="仿宋" panose="02010609060101010101" pitchFamily="49" charset="-122"/>
                <a:ea typeface="仿宋" panose="02010609060101010101" pitchFamily="49" charset="-122"/>
              </a:rPr>
              <a:t>大瞬科技的产品技术仅次于</a:t>
            </a:r>
            <a:r>
              <a:rPr lang="en-US" altLang="zh-CN" sz="1100" b="1" dirty="0">
                <a:latin typeface="仿宋" panose="02010609060101010101" pitchFamily="49" charset="-122"/>
                <a:ea typeface="仿宋" panose="02010609060101010101" pitchFamily="49" charset="-122"/>
              </a:rPr>
              <a:t>TI</a:t>
            </a:r>
            <a:r>
              <a:rPr lang="zh-CN" altLang="zh-CN" sz="1100" dirty="0">
                <a:latin typeface="仿宋" panose="02010609060101010101" pitchFamily="49" charset="-122"/>
                <a:ea typeface="仿宋" panose="02010609060101010101" pitchFamily="49" charset="-122"/>
              </a:rPr>
              <a:t>，</a:t>
            </a:r>
            <a:r>
              <a:rPr lang="zh-CN" altLang="zh-CN" sz="1100" b="1" dirty="0">
                <a:latin typeface="仿宋" panose="02010609060101010101" pitchFamily="49" charset="-122"/>
                <a:ea typeface="仿宋" panose="02010609060101010101" pitchFamily="49" charset="-122"/>
              </a:rPr>
              <a:t>基于凹凸的背景公司有技术沉淀；其产品不会出现不良，技术方面的问题不用考虑</a:t>
            </a:r>
            <a:r>
              <a:rPr lang="zh-CN" altLang="zh-CN" sz="1100" dirty="0">
                <a:latin typeface="仿宋" panose="02010609060101010101" pitchFamily="49" charset="-122"/>
                <a:ea typeface="仿宋" panose="02010609060101010101" pitchFamily="49" charset="-122"/>
              </a:rPr>
              <a:t>。</a:t>
            </a:r>
            <a:endParaRPr lang="en-US" altLang="zh-CN" sz="1100" dirty="0">
              <a:latin typeface="仿宋" panose="02010609060101010101" pitchFamily="49" charset="-122"/>
              <a:ea typeface="仿宋" panose="02010609060101010101" pitchFamily="49" charset="-122"/>
            </a:endParaRPr>
          </a:p>
          <a:p>
            <a:pPr marL="288000" lvl="1">
              <a:lnSpc>
                <a:spcPct val="125000"/>
              </a:lnSpc>
              <a:spcBef>
                <a:spcPts val="0"/>
              </a:spcBef>
              <a:buSzPct val="70000"/>
            </a:pPr>
            <a:r>
              <a:rPr lang="zh-CN" altLang="zh-CN" sz="1100" dirty="0">
                <a:latin typeface="仿宋" panose="02010609060101010101" pitchFamily="49" charset="-122"/>
                <a:ea typeface="仿宋" panose="02010609060101010101" pitchFamily="49" charset="-122"/>
              </a:rPr>
              <a:t>滴滴</a:t>
            </a:r>
            <a:r>
              <a:rPr lang="zh-CN" altLang="en-US" sz="1100" dirty="0">
                <a:latin typeface="仿宋" panose="02010609060101010101" pitchFamily="49" charset="-122"/>
                <a:ea typeface="仿宋" panose="02010609060101010101" pitchFamily="49" charset="-122"/>
              </a:rPr>
              <a:t>单车，</a:t>
            </a:r>
            <a:r>
              <a:rPr lang="zh-CN" altLang="zh-CN" sz="1100" b="1" dirty="0">
                <a:latin typeface="仿宋" panose="02010609060101010101" pitchFamily="49" charset="-122"/>
                <a:ea typeface="仿宋" panose="02010609060101010101" pitchFamily="49" charset="-122"/>
              </a:rPr>
              <a:t>公司涉及的案子基本都是大瞬，独占鳌头</a:t>
            </a:r>
            <a:r>
              <a:rPr lang="zh-CN" altLang="zh-CN" sz="1100" dirty="0">
                <a:latin typeface="仿宋" panose="02010609060101010101" pitchFamily="49" charset="-122"/>
                <a:ea typeface="仿宋" panose="02010609060101010101" pitchFamily="49" charset="-122"/>
              </a:rPr>
              <a:t>。</a:t>
            </a:r>
          </a:p>
          <a:p>
            <a:pPr marL="288000" lvl="1">
              <a:lnSpc>
                <a:spcPct val="125000"/>
              </a:lnSpc>
              <a:spcBef>
                <a:spcPts val="0"/>
              </a:spcBef>
              <a:buSzPct val="70000"/>
            </a:pPr>
            <a:r>
              <a:rPr lang="zh-CN" altLang="zh-CN" sz="1100" dirty="0">
                <a:latin typeface="仿宋" panose="02010609060101010101" pitchFamily="49" charset="-122"/>
                <a:ea typeface="仿宋" panose="02010609060101010101" pitchFamily="49" charset="-122"/>
              </a:rPr>
              <a:t>在</a:t>
            </a:r>
            <a:r>
              <a:rPr lang="zh-CN" altLang="zh-CN" sz="1100" b="1" dirty="0">
                <a:latin typeface="仿宋" panose="02010609060101010101" pitchFamily="49" charset="-122"/>
                <a:ea typeface="仿宋" panose="02010609060101010101" pitchFamily="49" charset="-122"/>
              </a:rPr>
              <a:t>客户服务方面，商务、销售等工作都很细致</a:t>
            </a:r>
            <a:r>
              <a:rPr lang="zh-CN" altLang="zh-CN" sz="1100" dirty="0">
                <a:latin typeface="仿宋" panose="02010609060101010101" pitchFamily="49" charset="-122"/>
                <a:ea typeface="仿宋" panose="02010609060101010101" pitchFamily="49" charset="-122"/>
              </a:rPr>
              <a:t>，每个月都会和方案商核实需求。</a:t>
            </a:r>
            <a:endParaRPr lang="en-US" altLang="zh-CN" sz="1100" dirty="0">
              <a:latin typeface="仿宋" panose="02010609060101010101" pitchFamily="49" charset="-122"/>
              <a:ea typeface="仿宋" panose="02010609060101010101" pitchFamily="49" charset="-122"/>
            </a:endParaRPr>
          </a:p>
          <a:p>
            <a:pPr marL="0" lvl="1" indent="180000">
              <a:lnSpc>
                <a:spcPct val="125000"/>
              </a:lnSpc>
              <a:spcBef>
                <a:spcPts val="0"/>
              </a:spcBef>
              <a:buSzPct val="70000"/>
              <a:buBlip>
                <a:blip r:embed="rId3"/>
              </a:buBlip>
            </a:pPr>
            <a:r>
              <a:rPr lang="zh-CN" altLang="zh-CN" sz="1100" b="1" dirty="0">
                <a:solidFill>
                  <a:srgbClr val="C00000"/>
                </a:solidFill>
                <a:latin typeface="仿宋" panose="02010609060101010101" pitchFamily="49" charset="-122"/>
                <a:ea typeface="仿宋" panose="02010609060101010101" pitchFamily="49" charset="-122"/>
              </a:rPr>
              <a:t>上海和弘</a:t>
            </a:r>
            <a:r>
              <a:rPr lang="en-US" altLang="zh-CN" sz="1100" b="1" dirty="0">
                <a:solidFill>
                  <a:srgbClr val="C00000"/>
                </a:solidFill>
                <a:latin typeface="仿宋" panose="02010609060101010101" pitchFamily="49" charset="-122"/>
                <a:ea typeface="仿宋" panose="02010609060101010101" pitchFamily="49" charset="-122"/>
              </a:rPr>
              <a:t>(</a:t>
            </a:r>
            <a:r>
              <a:rPr lang="zh-CN" altLang="en-US" sz="1100" b="1" dirty="0">
                <a:solidFill>
                  <a:srgbClr val="C00000"/>
                </a:solidFill>
                <a:latin typeface="仿宋" panose="02010609060101010101" pitchFamily="49" charset="-122"/>
                <a:ea typeface="仿宋" panose="02010609060101010101" pitchFamily="49" charset="-122"/>
              </a:rPr>
              <a:t>代理商</a:t>
            </a:r>
            <a:r>
              <a:rPr lang="en-US" altLang="zh-CN" sz="1100" b="1" dirty="0">
                <a:solidFill>
                  <a:srgbClr val="C00000"/>
                </a:solidFill>
                <a:latin typeface="仿宋" panose="02010609060101010101" pitchFamily="49" charset="-122"/>
                <a:ea typeface="仿宋" panose="02010609060101010101" pitchFamily="49" charset="-122"/>
              </a:rPr>
              <a:t>)</a:t>
            </a:r>
          </a:p>
          <a:p>
            <a:pPr marL="288000" lvl="1">
              <a:lnSpc>
                <a:spcPct val="125000"/>
              </a:lnSpc>
              <a:spcBef>
                <a:spcPts val="0"/>
              </a:spcBef>
              <a:buSzPct val="70000"/>
            </a:pPr>
            <a:r>
              <a:rPr lang="en-US" altLang="zh-CN" sz="1100" b="1" dirty="0">
                <a:latin typeface="仿宋" panose="02010609060101010101" pitchFamily="49" charset="-122"/>
                <a:ea typeface="仿宋" panose="02010609060101010101" pitchFamily="49" charset="-122"/>
              </a:rPr>
              <a:t>TI</a:t>
            </a:r>
            <a:r>
              <a:rPr lang="zh-CN" altLang="zh-CN" sz="1100" b="1" dirty="0">
                <a:latin typeface="仿宋" panose="02010609060101010101" pitchFamily="49" charset="-122"/>
                <a:ea typeface="仿宋" panose="02010609060101010101" pitchFamily="49" charset="-122"/>
              </a:rPr>
              <a:t>的产品大而全，凹凸（大瞬）在电源管理领域更精；国内其他厂商的产品品质没大瞬做得好，只是市场推广比较猛。</a:t>
            </a:r>
            <a:endParaRPr lang="en-US" altLang="zh-CN" sz="1100" b="1" dirty="0">
              <a:latin typeface="仿宋" panose="02010609060101010101" pitchFamily="49" charset="-122"/>
              <a:ea typeface="仿宋" panose="02010609060101010101" pitchFamily="49" charset="-122"/>
            </a:endParaRPr>
          </a:p>
          <a:p>
            <a:pPr marL="288000" lvl="1">
              <a:lnSpc>
                <a:spcPct val="125000"/>
              </a:lnSpc>
              <a:spcBef>
                <a:spcPts val="0"/>
              </a:spcBef>
              <a:buSzPct val="70000"/>
            </a:pPr>
            <a:r>
              <a:rPr lang="zh-CN" altLang="zh-CN" sz="1100" b="1" dirty="0">
                <a:latin typeface="仿宋" panose="02010609060101010101" pitchFamily="49" charset="-122"/>
                <a:ea typeface="仿宋" panose="02010609060101010101" pitchFamily="49" charset="-122"/>
              </a:rPr>
              <a:t>大瞬的太阳能充电芯片具有独特特性，在桥底下也可以充电，具有不可替代性。</a:t>
            </a:r>
            <a:r>
              <a:rPr lang="zh-CN" altLang="zh-CN" sz="1100" dirty="0">
                <a:latin typeface="仿宋" panose="02010609060101010101" pitchFamily="49" charset="-122"/>
                <a:ea typeface="仿宋" panose="02010609060101010101" pitchFamily="49" charset="-122"/>
              </a:rPr>
              <a:t>充电芯片</a:t>
            </a:r>
            <a:r>
              <a:rPr lang="en-US" altLang="zh-CN" sz="1100" dirty="0">
                <a:latin typeface="仿宋" panose="02010609060101010101" pitchFamily="49" charset="-122"/>
                <a:ea typeface="仿宋" panose="02010609060101010101" pitchFamily="49" charset="-122"/>
              </a:rPr>
              <a:t>,</a:t>
            </a:r>
            <a:r>
              <a:rPr lang="zh-CN" altLang="zh-CN" sz="1100" dirty="0">
                <a:latin typeface="仿宋" panose="02010609060101010101" pitchFamily="49" charset="-122"/>
                <a:ea typeface="仿宋" panose="02010609060101010101" pitchFamily="49" charset="-122"/>
              </a:rPr>
              <a:t>摩拜独供</a:t>
            </a:r>
            <a:r>
              <a:rPr lang="zh-CN" altLang="en-US" sz="1100" dirty="0">
                <a:latin typeface="仿宋" panose="02010609060101010101" pitchFamily="49" charset="-122"/>
                <a:ea typeface="仿宋" panose="02010609060101010101" pitchFamily="49" charset="-122"/>
              </a:rPr>
              <a:t>；</a:t>
            </a:r>
            <a:r>
              <a:rPr lang="zh-CN" altLang="zh-CN" sz="1100" dirty="0">
                <a:latin typeface="仿宋" panose="02010609060101010101" pitchFamily="49" charset="-122"/>
                <a:ea typeface="仿宋" panose="02010609060101010101" pitchFamily="49" charset="-122"/>
              </a:rPr>
              <a:t>今年计划</a:t>
            </a:r>
            <a:r>
              <a:rPr lang="en-US" altLang="zh-CN" sz="1100" dirty="0">
                <a:latin typeface="仿宋" panose="02010609060101010101" pitchFamily="49" charset="-122"/>
                <a:ea typeface="仿宋" panose="02010609060101010101" pitchFamily="49" charset="-122"/>
              </a:rPr>
              <a:t>2kk</a:t>
            </a:r>
            <a:r>
              <a:rPr lang="zh-CN" altLang="zh-CN" sz="1100" dirty="0">
                <a:latin typeface="仿宋" panose="02010609060101010101" pitchFamily="49" charset="-122"/>
                <a:ea typeface="仿宋" panose="02010609060101010101" pitchFamily="49" charset="-122"/>
              </a:rPr>
              <a:t>左右；</a:t>
            </a:r>
            <a:endParaRPr lang="en-US" altLang="zh-CN" sz="1100" dirty="0">
              <a:latin typeface="仿宋" panose="02010609060101010101" pitchFamily="49" charset="-122"/>
              <a:ea typeface="仿宋" panose="02010609060101010101" pitchFamily="49" charset="-122"/>
            </a:endParaRPr>
          </a:p>
          <a:p>
            <a:pPr marL="288000" lvl="1">
              <a:lnSpc>
                <a:spcPct val="125000"/>
              </a:lnSpc>
              <a:spcBef>
                <a:spcPts val="0"/>
              </a:spcBef>
              <a:buSzPct val="70000"/>
            </a:pPr>
            <a:r>
              <a:rPr lang="zh-CN" altLang="zh-CN" sz="1100" dirty="0">
                <a:latin typeface="仿宋" panose="02010609060101010101" pitchFamily="49" charset="-122"/>
                <a:ea typeface="仿宋" panose="02010609060101010101" pitchFamily="49" charset="-122"/>
              </a:rPr>
              <a:t>去年全年</a:t>
            </a:r>
            <a:r>
              <a:rPr lang="en-US" altLang="zh-CN" sz="1100" dirty="0">
                <a:latin typeface="仿宋" panose="02010609060101010101" pitchFamily="49" charset="-122"/>
                <a:ea typeface="仿宋" panose="02010609060101010101" pitchFamily="49" charset="-122"/>
              </a:rPr>
              <a:t>200</a:t>
            </a:r>
            <a:r>
              <a:rPr lang="zh-CN" altLang="zh-CN" sz="1100" dirty="0">
                <a:latin typeface="仿宋" panose="02010609060101010101" pitchFamily="49" charset="-122"/>
                <a:ea typeface="仿宋" panose="02010609060101010101" pitchFamily="49" charset="-122"/>
              </a:rPr>
              <a:t>万美金；今年</a:t>
            </a:r>
            <a:r>
              <a:rPr lang="en-US" altLang="zh-CN" sz="1100" b="1" dirty="0">
                <a:latin typeface="仿宋" panose="02010609060101010101" pitchFamily="49" charset="-122"/>
                <a:ea typeface="仿宋" panose="02010609060101010101" pitchFamily="49" charset="-122"/>
              </a:rPr>
              <a:t>2000</a:t>
            </a:r>
            <a:r>
              <a:rPr lang="zh-CN" altLang="en-US" sz="1100" b="1" dirty="0">
                <a:latin typeface="仿宋" panose="02010609060101010101" pitchFamily="49" charset="-122"/>
                <a:ea typeface="仿宋" panose="02010609060101010101" pitchFamily="49" charset="-122"/>
              </a:rPr>
              <a:t>万</a:t>
            </a:r>
            <a:r>
              <a:rPr lang="zh-CN" altLang="zh-CN" sz="1100" dirty="0">
                <a:latin typeface="仿宋" panose="02010609060101010101" pitchFamily="49" charset="-122"/>
                <a:ea typeface="仿宋" panose="02010609060101010101" pitchFamily="49" charset="-122"/>
              </a:rPr>
              <a:t>人民币左右；公司本身</a:t>
            </a:r>
            <a:r>
              <a:rPr lang="en-US" altLang="zh-CN" sz="1100" dirty="0">
                <a:latin typeface="仿宋" panose="02010609060101010101" pitchFamily="49" charset="-122"/>
                <a:ea typeface="仿宋" panose="02010609060101010101" pitchFamily="49" charset="-122"/>
              </a:rPr>
              <a:t>40%-50%</a:t>
            </a:r>
            <a:r>
              <a:rPr lang="zh-CN" altLang="zh-CN" sz="1100" dirty="0">
                <a:latin typeface="仿宋" panose="02010609060101010101" pitchFamily="49" charset="-122"/>
                <a:ea typeface="仿宋" panose="02010609060101010101" pitchFamily="49" charset="-122"/>
              </a:rPr>
              <a:t>增长</a:t>
            </a:r>
            <a:r>
              <a:rPr lang="zh-CN" altLang="en-US" sz="1100" dirty="0">
                <a:latin typeface="仿宋" panose="02010609060101010101" pitchFamily="49" charset="-122"/>
                <a:ea typeface="仿宋" panose="02010609060101010101" pitchFamily="49" charset="-122"/>
              </a:rPr>
              <a:t>，（大瞬业务）</a:t>
            </a:r>
            <a:r>
              <a:rPr lang="zh-CN" altLang="zh-CN" sz="1100" dirty="0">
                <a:latin typeface="仿宋" panose="02010609060101010101" pitchFamily="49" charset="-122"/>
                <a:ea typeface="仿宋" panose="02010609060101010101" pitchFamily="49" charset="-122"/>
              </a:rPr>
              <a:t>明年</a:t>
            </a:r>
            <a:r>
              <a:rPr lang="en-US" altLang="zh-CN" sz="1100" b="1" dirty="0">
                <a:latin typeface="仿宋" panose="02010609060101010101" pitchFamily="49" charset="-122"/>
                <a:ea typeface="仿宋" panose="02010609060101010101" pitchFamily="49" charset="-122"/>
              </a:rPr>
              <a:t>30%-50%</a:t>
            </a:r>
            <a:r>
              <a:rPr lang="zh-CN" altLang="zh-CN" sz="1100" b="1" dirty="0">
                <a:latin typeface="仿宋" panose="02010609060101010101" pitchFamily="49" charset="-122"/>
                <a:ea typeface="仿宋" panose="02010609060101010101" pitchFamily="49" charset="-122"/>
              </a:rPr>
              <a:t>的增长甚至有</a:t>
            </a:r>
            <a:r>
              <a:rPr lang="en-US" altLang="zh-CN" sz="1100" b="1" dirty="0">
                <a:latin typeface="仿宋" panose="02010609060101010101" pitchFamily="49" charset="-122"/>
                <a:ea typeface="仿宋" panose="02010609060101010101" pitchFamily="49" charset="-122"/>
              </a:rPr>
              <a:t>100%</a:t>
            </a:r>
            <a:r>
              <a:rPr lang="zh-CN" altLang="zh-CN" sz="1100" b="1" dirty="0">
                <a:latin typeface="仿宋" panose="02010609060101010101" pitchFamily="49" charset="-122"/>
                <a:ea typeface="仿宋" panose="02010609060101010101" pitchFamily="49" charset="-122"/>
              </a:rPr>
              <a:t>增长</a:t>
            </a:r>
            <a:r>
              <a:rPr lang="zh-CN" altLang="zh-CN" sz="1100" dirty="0">
                <a:latin typeface="仿宋" panose="02010609060101010101" pitchFamily="49" charset="-122"/>
                <a:ea typeface="仿宋" panose="02010609060101010101" pitchFamily="49" charset="-122"/>
              </a:rPr>
              <a:t>；</a:t>
            </a:r>
            <a:endParaRPr lang="en-US" altLang="zh-CN" sz="1100" dirty="0">
              <a:latin typeface="仿宋" panose="02010609060101010101" pitchFamily="49" charset="-122"/>
              <a:ea typeface="仿宋" panose="02010609060101010101" pitchFamily="49" charset="-122"/>
            </a:endParaRPr>
          </a:p>
          <a:p>
            <a:pPr marL="0" lvl="1" indent="180000">
              <a:lnSpc>
                <a:spcPct val="125000"/>
              </a:lnSpc>
              <a:spcBef>
                <a:spcPts val="0"/>
              </a:spcBef>
              <a:buSzPct val="70000"/>
              <a:buBlip>
                <a:blip r:embed="rId3"/>
              </a:buBlip>
            </a:pPr>
            <a:r>
              <a:rPr lang="en-US" altLang="zh-CN" sz="1100" b="1" dirty="0">
                <a:solidFill>
                  <a:srgbClr val="C00000"/>
                </a:solidFill>
                <a:latin typeface="仿宋" panose="02010609060101010101" pitchFamily="49" charset="-122"/>
                <a:ea typeface="仿宋" panose="02010609060101010101" pitchFamily="49" charset="-122"/>
              </a:rPr>
              <a:t>T</a:t>
            </a:r>
            <a:r>
              <a:rPr lang="zh-CN" altLang="en-US" sz="1100" b="1" dirty="0">
                <a:solidFill>
                  <a:srgbClr val="C00000"/>
                </a:solidFill>
                <a:latin typeface="仿宋" panose="02010609060101010101" pitchFamily="49" charset="-122"/>
                <a:ea typeface="仿宋" panose="02010609060101010101" pitchFamily="49" charset="-122"/>
              </a:rPr>
              <a:t>专家（前凹凸科技员工）</a:t>
            </a:r>
            <a:endParaRPr lang="en-US" altLang="zh-CN" sz="1100" b="1" dirty="0">
              <a:solidFill>
                <a:srgbClr val="C00000"/>
              </a:solidFill>
              <a:latin typeface="仿宋" panose="02010609060101010101" pitchFamily="49" charset="-122"/>
              <a:ea typeface="仿宋" panose="02010609060101010101" pitchFamily="49" charset="-122"/>
            </a:endParaRPr>
          </a:p>
          <a:p>
            <a:pPr marL="288000" lvl="1">
              <a:lnSpc>
                <a:spcPct val="125000"/>
              </a:lnSpc>
              <a:spcBef>
                <a:spcPts val="0"/>
              </a:spcBef>
              <a:buSzPct val="70000"/>
            </a:pPr>
            <a:r>
              <a:rPr lang="zh-CN" altLang="en-US" sz="1100" dirty="0">
                <a:latin typeface="仿宋" panose="02010609060101010101" pitchFamily="49" charset="-122"/>
                <a:ea typeface="仿宋" panose="02010609060101010101" pitchFamily="49" charset="-122"/>
              </a:rPr>
              <a:t>大瞬科技的人都是凹凸科技原来的人，他们在电源技术领域的积累很深厚，早期有用专利卡</a:t>
            </a:r>
            <a:r>
              <a:rPr lang="en-US" altLang="zh-CN" sz="1100" dirty="0">
                <a:latin typeface="仿宋" panose="02010609060101010101" pitchFamily="49" charset="-122"/>
                <a:ea typeface="仿宋" panose="02010609060101010101" pitchFamily="49" charset="-122"/>
              </a:rPr>
              <a:t>TI</a:t>
            </a:r>
            <a:r>
              <a:rPr lang="zh-CN" altLang="en-US" sz="1100" dirty="0">
                <a:latin typeface="仿宋" panose="02010609060101010101" pitchFamily="49" charset="-122"/>
                <a:ea typeface="仿宋" panose="02010609060101010101" pitchFamily="49" charset="-122"/>
              </a:rPr>
              <a:t>的事，后来把</a:t>
            </a:r>
            <a:r>
              <a:rPr lang="en-US" altLang="zh-CN" sz="1100" dirty="0">
                <a:latin typeface="仿宋" panose="02010609060101010101" pitchFamily="49" charset="-122"/>
                <a:ea typeface="仿宋" panose="02010609060101010101" pitchFamily="49" charset="-122"/>
              </a:rPr>
              <a:t>TI</a:t>
            </a:r>
            <a:r>
              <a:rPr lang="zh-CN" altLang="en-US" sz="1100" dirty="0">
                <a:latin typeface="仿宋" panose="02010609060101010101" pitchFamily="49" charset="-122"/>
                <a:ea typeface="仿宋" panose="02010609060101010101" pitchFamily="49" charset="-122"/>
              </a:rPr>
              <a:t>逼得没办法只好使劲研发；</a:t>
            </a:r>
            <a:r>
              <a:rPr lang="zh-CN" altLang="en-US" sz="1100" b="1" dirty="0">
                <a:latin typeface="仿宋" panose="02010609060101010101" pitchFamily="49" charset="-122"/>
                <a:ea typeface="仿宋" panose="02010609060101010101" pitchFamily="49" charset="-122"/>
              </a:rPr>
              <a:t>技术完全没有问题</a:t>
            </a:r>
            <a:r>
              <a:rPr lang="zh-CN" altLang="en-US" sz="1100" dirty="0">
                <a:latin typeface="仿宋" panose="02010609060101010101" pitchFamily="49" charset="-122"/>
                <a:ea typeface="仿宋" panose="02010609060101010101" pitchFamily="49" charset="-122"/>
              </a:rPr>
              <a:t>。</a:t>
            </a:r>
            <a:endParaRPr lang="en-US" altLang="zh-CN" sz="1100" dirty="0">
              <a:latin typeface="仿宋" panose="02010609060101010101" pitchFamily="49" charset="-122"/>
              <a:ea typeface="仿宋" panose="02010609060101010101" pitchFamily="49" charset="-122"/>
            </a:endParaRPr>
          </a:p>
        </p:txBody>
      </p:sp>
      <p:pic>
        <p:nvPicPr>
          <p:cNvPr id="5" name="图片 4">
            <a:extLst>
              <a:ext uri="{FF2B5EF4-FFF2-40B4-BE49-F238E27FC236}">
                <a16:creationId xmlns:a16="http://schemas.microsoft.com/office/drawing/2014/main" id="{518A747A-EB55-42DA-8642-018170941B79}"/>
              </a:ext>
            </a:extLst>
          </p:cNvPr>
          <p:cNvPicPr>
            <a:picLocks noChangeAspect="1"/>
          </p:cNvPicPr>
          <p:nvPr/>
        </p:nvPicPr>
        <p:blipFill>
          <a:blip r:embed="rId4"/>
          <a:stretch>
            <a:fillRect/>
          </a:stretch>
        </p:blipFill>
        <p:spPr>
          <a:xfrm>
            <a:off x="7206508" y="2108450"/>
            <a:ext cx="1378610" cy="380759"/>
          </a:xfrm>
          <a:prstGeom prst="rect">
            <a:avLst/>
          </a:prstGeom>
        </p:spPr>
      </p:pic>
      <p:pic>
        <p:nvPicPr>
          <p:cNvPr id="7" name="图片 6">
            <a:extLst>
              <a:ext uri="{FF2B5EF4-FFF2-40B4-BE49-F238E27FC236}">
                <a16:creationId xmlns:a16="http://schemas.microsoft.com/office/drawing/2014/main" id="{B9216835-F535-4F34-A4C4-0D4E6780F036}"/>
              </a:ext>
            </a:extLst>
          </p:cNvPr>
          <p:cNvPicPr>
            <a:picLocks noChangeAspect="1"/>
          </p:cNvPicPr>
          <p:nvPr/>
        </p:nvPicPr>
        <p:blipFill>
          <a:blip r:embed="rId5"/>
          <a:stretch>
            <a:fillRect/>
          </a:stretch>
        </p:blipFill>
        <p:spPr>
          <a:xfrm>
            <a:off x="7161396" y="3239570"/>
            <a:ext cx="1644407" cy="425960"/>
          </a:xfrm>
          <a:prstGeom prst="rect">
            <a:avLst/>
          </a:prstGeom>
        </p:spPr>
      </p:pic>
      <p:pic>
        <p:nvPicPr>
          <p:cNvPr id="6" name="图片 5">
            <a:extLst>
              <a:ext uri="{FF2B5EF4-FFF2-40B4-BE49-F238E27FC236}">
                <a16:creationId xmlns:a16="http://schemas.microsoft.com/office/drawing/2014/main" id="{6C576FCE-38E8-496E-AB59-653330D35B05}"/>
              </a:ext>
            </a:extLst>
          </p:cNvPr>
          <p:cNvPicPr>
            <a:picLocks noChangeAspect="1"/>
          </p:cNvPicPr>
          <p:nvPr/>
        </p:nvPicPr>
        <p:blipFill>
          <a:blip r:embed="rId6"/>
          <a:stretch>
            <a:fillRect/>
          </a:stretch>
        </p:blipFill>
        <p:spPr>
          <a:xfrm>
            <a:off x="7189062" y="479062"/>
            <a:ext cx="1413502" cy="380759"/>
          </a:xfrm>
          <a:prstGeom prst="rect">
            <a:avLst/>
          </a:prstGeom>
        </p:spPr>
      </p:pic>
    </p:spTree>
    <p:extLst>
      <p:ext uri="{BB962C8B-B14F-4D97-AF65-F5344CB8AC3E}">
        <p14:creationId xmlns:p14="http://schemas.microsoft.com/office/powerpoint/2010/main" val="7585035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546181-3F3C-4279-8B65-4AF55AFC4C02}"/>
              </a:ext>
            </a:extLst>
          </p:cNvPr>
          <p:cNvSpPr>
            <a:spLocks noGrp="1" noChangeArrowheads="1"/>
          </p:cNvSpPr>
          <p:nvPr>
            <p:ph type="title"/>
          </p:nvPr>
        </p:nvSpPr>
        <p:spPr>
          <a:xfrm>
            <a:off x="457200" y="1"/>
            <a:ext cx="8229600" cy="411600"/>
          </a:xfrm>
        </p:spPr>
        <p:txBody>
          <a:bodyPr/>
          <a:lstStyle/>
          <a:p>
            <a:pPr algn="l"/>
            <a:r>
              <a:rPr lang="zh-CN" altLang="en-US" sz="2400" dirty="0"/>
              <a:t>九、意见和建议</a:t>
            </a:r>
            <a:endParaRPr lang="en-US" altLang="zh-CN" dirty="0"/>
          </a:p>
        </p:txBody>
      </p:sp>
      <p:sp>
        <p:nvSpPr>
          <p:cNvPr id="6" name="Rectangle 3">
            <a:extLst>
              <a:ext uri="{FF2B5EF4-FFF2-40B4-BE49-F238E27FC236}">
                <a16:creationId xmlns:a16="http://schemas.microsoft.com/office/drawing/2014/main" id="{51906868-8F7B-477F-AECD-189AC8423B24}"/>
              </a:ext>
            </a:extLst>
          </p:cNvPr>
          <p:cNvSpPr txBox="1">
            <a:spLocks noChangeArrowheads="1"/>
          </p:cNvSpPr>
          <p:nvPr/>
        </p:nvSpPr>
        <p:spPr>
          <a:xfrm>
            <a:off x="457200" y="411601"/>
            <a:ext cx="8229600" cy="2664184"/>
          </a:xfrm>
          <a:prstGeom prst="rect">
            <a:avLst/>
          </a:prstGeom>
          <a:noFill/>
          <a:ln w="9525">
            <a:noFill/>
          </a:ln>
        </p:spPr>
        <p:txBody>
          <a:bodyPr lIns="99798" tIns="49899" rIns="99798" bIns="49899" anchor="t"/>
          <a:lstStyle>
            <a:lvl1pPr marL="254000" indent="-254000" algn="l" rtl="0" eaLnBrk="0" fontAlgn="base" hangingPunct="0">
              <a:spcBef>
                <a:spcPts val="65"/>
              </a:spcBef>
              <a:spcAft>
                <a:spcPct val="0"/>
              </a:spcAft>
              <a:buFont typeface="Arial" panose="020B0604020202020204" pitchFamily="34" charset="0"/>
              <a:buChar char="•"/>
              <a:defRPr sz="238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551180" indent="-211455" algn="l" rtl="0" eaLnBrk="0" fontAlgn="base" hangingPunct="0">
              <a:spcBef>
                <a:spcPts val="65"/>
              </a:spcBef>
              <a:spcAft>
                <a:spcPct val="0"/>
              </a:spcAft>
              <a:buFont typeface="Arial" panose="020B0604020202020204" pitchFamily="34" charset="0"/>
              <a:buChar char="–"/>
              <a:defRPr sz="211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848360" indent="-169545" algn="l" rtl="0" eaLnBrk="0" fontAlgn="base" hangingPunct="0">
              <a:spcBef>
                <a:spcPts val="65"/>
              </a:spcBef>
              <a:spcAft>
                <a:spcPct val="0"/>
              </a:spcAft>
              <a:buFont typeface="Arial" panose="020B0604020202020204" pitchFamily="34" charset="0"/>
              <a:buChar char="•"/>
              <a:defRPr sz="177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18808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1527175" indent="-169545" algn="l" rtl="0" eaLnBrk="0" fontAlgn="base" hangingPunct="0">
              <a:spcBef>
                <a:spcPts val="65"/>
              </a:spcBef>
              <a:spcAft>
                <a:spcPct val="0"/>
              </a:spcAft>
              <a:buFont typeface="Arial" panose="020B0604020202020204" pitchFamily="34" charset="0"/>
              <a:buChar char="»"/>
              <a:defRPr sz="149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186753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6pPr>
            <a:lvl7pPr marL="220726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7pPr>
            <a:lvl8pPr marL="2546350"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8pPr>
            <a:lvl9pPr marL="2886075" indent="-169545" algn="l" rtl="0" fontAlgn="base">
              <a:spcBef>
                <a:spcPts val="65"/>
              </a:spcBef>
              <a:spcAft>
                <a:spcPct val="0"/>
              </a:spcAft>
              <a:buFont typeface="Arial" panose="020B0604020202020204" pitchFamily="34" charset="0"/>
              <a:buChar char="»"/>
              <a:defRPr sz="1495">
                <a:solidFill>
                  <a:schemeClr val="tx1"/>
                </a:solidFill>
                <a:latin typeface="+mn-lt"/>
                <a:ea typeface="+mn-ea"/>
                <a:sym typeface="Calibri" panose="020F0502020204030204" pitchFamily="34" charset="0"/>
              </a:defRPr>
            </a:lvl9pPr>
          </a:lstStyle>
          <a:p>
            <a:pPr marL="0" indent="180000">
              <a:lnSpc>
                <a:spcPct val="150000"/>
              </a:lnSpc>
              <a:buSzPct val="70000"/>
              <a:buBlip>
                <a:blip r:embed="rId2"/>
              </a:buBlip>
            </a:pPr>
            <a:r>
              <a:rPr lang="zh-CN" altLang="en-US" sz="1400" b="1" dirty="0">
                <a:latin typeface="仿宋" panose="02010609060101010101" pitchFamily="49" charset="-122"/>
                <a:ea typeface="仿宋" panose="02010609060101010101" pitchFamily="49" charset="-122"/>
              </a:rPr>
              <a:t>投资方案总结</a:t>
            </a:r>
            <a:endParaRPr lang="en-US" altLang="zh-CN" sz="1400" b="1" dirty="0">
              <a:latin typeface="仿宋" panose="02010609060101010101" pitchFamily="49" charset="-122"/>
              <a:ea typeface="仿宋" panose="02010609060101010101" pitchFamily="49" charset="-122"/>
            </a:endParaRPr>
          </a:p>
          <a:p>
            <a:pPr marL="0" indent="360000">
              <a:lnSpc>
                <a:spcPct val="150000"/>
              </a:lnSpc>
              <a:buSzPct val="70000"/>
              <a:buNone/>
            </a:pPr>
            <a:r>
              <a:rPr lang="zh-CN" altLang="en-US" sz="1200" dirty="0">
                <a:latin typeface="仿宋" panose="02010609060101010101" pitchFamily="49" charset="-122"/>
                <a:ea typeface="仿宋" panose="02010609060101010101" pitchFamily="49" charset="-122"/>
              </a:rPr>
              <a:t>本轮大瞬科技</a:t>
            </a:r>
            <a:r>
              <a:rPr lang="en-US" altLang="zh-CN" sz="1200" dirty="0">
                <a:latin typeface="仿宋" panose="02010609060101010101" pitchFamily="49" charset="-122"/>
                <a:ea typeface="仿宋" panose="02010609060101010101" pitchFamily="49" charset="-122"/>
              </a:rPr>
              <a:t>C</a:t>
            </a:r>
            <a:r>
              <a:rPr lang="zh-CN" altLang="en-US" sz="1200" dirty="0">
                <a:latin typeface="仿宋" panose="02010609060101010101" pitchFamily="49" charset="-122"/>
                <a:ea typeface="仿宋" panose="02010609060101010101" pitchFamily="49" charset="-122"/>
              </a:rPr>
              <a:t>轮融资，</a:t>
            </a:r>
            <a:r>
              <a:rPr lang="en-US" altLang="zh-CN" sz="1200" dirty="0">
                <a:latin typeface="仿宋" panose="02010609060101010101" pitchFamily="49" charset="-122"/>
                <a:ea typeface="仿宋" panose="02010609060101010101" pitchFamily="49" charset="-122"/>
              </a:rPr>
              <a:t>MTM</a:t>
            </a:r>
            <a:r>
              <a:rPr lang="zh-CN" altLang="en-US" sz="1200" dirty="0">
                <a:latin typeface="仿宋" panose="02010609060101010101" pitchFamily="49" charset="-122"/>
                <a:ea typeface="仿宋" panose="02010609060101010101" pitchFamily="49" charset="-122"/>
              </a:rPr>
              <a:t>投资预计</a:t>
            </a:r>
            <a:r>
              <a:rPr lang="en-US" altLang="zh-CN" sz="1200" dirty="0">
                <a:latin typeface="仿宋" panose="02010609060101010101" pitchFamily="49" charset="-122"/>
                <a:ea typeface="仿宋" panose="02010609060101010101" pitchFamily="49" charset="-122"/>
              </a:rPr>
              <a:t>10,000</a:t>
            </a:r>
            <a:r>
              <a:rPr lang="zh-CN" altLang="en-US" sz="1200" dirty="0">
                <a:latin typeface="仿宋" panose="02010609060101010101" pitchFamily="49" charset="-122"/>
                <a:ea typeface="仿宋" panose="02010609060101010101" pitchFamily="49" charset="-122"/>
              </a:rPr>
              <a:t>万元额度。</a:t>
            </a:r>
            <a:endParaRPr lang="en-US" altLang="zh-CN" sz="1200" dirty="0">
              <a:latin typeface="仿宋" panose="02010609060101010101" pitchFamily="49" charset="-122"/>
              <a:ea typeface="仿宋" panose="02010609060101010101" pitchFamily="49" charset="-122"/>
            </a:endParaRPr>
          </a:p>
          <a:p>
            <a:pPr marL="0" indent="180000">
              <a:lnSpc>
                <a:spcPct val="150000"/>
              </a:lnSpc>
              <a:buSzPct val="70000"/>
              <a:buBlip>
                <a:blip r:embed="rId2"/>
              </a:buBlip>
            </a:pPr>
            <a:r>
              <a:rPr lang="zh-CN" altLang="en-US" sz="1400" b="1" dirty="0">
                <a:latin typeface="仿宋" panose="02010609060101010101" pitchFamily="49" charset="-122"/>
                <a:ea typeface="仿宋" panose="02010609060101010101" pitchFamily="49" charset="-122"/>
              </a:rPr>
              <a:t>建议</a:t>
            </a:r>
            <a:endParaRPr lang="en-US" altLang="zh-CN" sz="1400" b="1" dirty="0">
              <a:latin typeface="仿宋" panose="02010609060101010101" pitchFamily="49" charset="-122"/>
              <a:ea typeface="仿宋" panose="02010609060101010101" pitchFamily="49" charset="-122"/>
            </a:endParaRPr>
          </a:p>
          <a:p>
            <a:pPr marL="0" indent="360000">
              <a:lnSpc>
                <a:spcPct val="150000"/>
              </a:lnSpc>
              <a:buSzPct val="70000"/>
              <a:buNone/>
            </a:pPr>
            <a:r>
              <a:rPr lang="zh-CN" altLang="zh-CN" sz="1200" b="1" dirty="0">
                <a:solidFill>
                  <a:srgbClr val="C00000"/>
                </a:solidFill>
                <a:latin typeface="仿宋" panose="02010609060101010101" pitchFamily="49" charset="-122"/>
                <a:ea typeface="仿宋" panose="02010609060101010101" pitchFamily="49" charset="-122"/>
              </a:rPr>
              <a:t>建议对本项目予以正式</a:t>
            </a:r>
            <a:r>
              <a:rPr lang="zh-CN" altLang="en-US" sz="1200" b="1" dirty="0">
                <a:solidFill>
                  <a:srgbClr val="C00000"/>
                </a:solidFill>
                <a:latin typeface="仿宋" panose="02010609060101010101" pitchFamily="49" charset="-122"/>
                <a:ea typeface="仿宋" panose="02010609060101010101" pitchFamily="49" charset="-122"/>
              </a:rPr>
              <a:t>投决</a:t>
            </a:r>
            <a:r>
              <a:rPr lang="zh-CN" altLang="en-US" sz="1200" dirty="0">
                <a:latin typeface="仿宋" panose="02010609060101010101" pitchFamily="49" charset="-122"/>
                <a:ea typeface="仿宋" panose="02010609060101010101" pitchFamily="49" charset="-122"/>
              </a:rPr>
              <a:t>。</a:t>
            </a:r>
            <a:endParaRPr lang="en-US" altLang="zh-CN" sz="1200" dirty="0">
              <a:latin typeface="仿宋" panose="02010609060101010101" pitchFamily="49" charset="-122"/>
              <a:ea typeface="仿宋" panose="02010609060101010101" pitchFamily="49" charset="-122"/>
            </a:endParaRPr>
          </a:p>
          <a:p>
            <a:pPr marL="0" indent="180000">
              <a:lnSpc>
                <a:spcPct val="150000"/>
              </a:lnSpc>
              <a:buSzPct val="70000"/>
              <a:buBlip>
                <a:blip r:embed="rId2"/>
              </a:buBlip>
            </a:pPr>
            <a:r>
              <a:rPr lang="zh-CN" altLang="en-US" sz="1400" b="1" dirty="0">
                <a:latin typeface="仿宋" panose="02010609060101010101" pitchFamily="49" charset="-122"/>
                <a:ea typeface="仿宋" panose="02010609060101010101" pitchFamily="49" charset="-122"/>
              </a:rPr>
              <a:t>下一步工作计划</a:t>
            </a:r>
            <a:endParaRPr lang="en-US" altLang="zh-CN" sz="1400" b="1" dirty="0">
              <a:latin typeface="仿宋" panose="02010609060101010101" pitchFamily="49" charset="-122"/>
              <a:ea typeface="仿宋" panose="02010609060101010101" pitchFamily="49" charset="-122"/>
            </a:endParaRPr>
          </a:p>
          <a:p>
            <a:pPr marL="228600" indent="-228600">
              <a:lnSpc>
                <a:spcPct val="150000"/>
              </a:lnSpc>
              <a:buSzPct val="70000"/>
              <a:buFont typeface="+mj-lt"/>
              <a:buAutoNum type="arabicPeriod"/>
            </a:pPr>
            <a:r>
              <a:rPr lang="zh-CN" altLang="en-US" sz="1200" dirty="0">
                <a:latin typeface="仿宋" panose="02010609060101010101" pitchFamily="49" charset="-122"/>
                <a:ea typeface="仿宋" panose="02010609060101010101" pitchFamily="49" charset="-122"/>
              </a:rPr>
              <a:t>对公司的交割前提条件文件等快速落实</a:t>
            </a:r>
            <a:r>
              <a:rPr lang="zh-CN" altLang="zh-CN" sz="1200" dirty="0">
                <a:latin typeface="仿宋" panose="02010609060101010101" pitchFamily="49" charset="-122"/>
                <a:ea typeface="仿宋" panose="02010609060101010101" pitchFamily="49" charset="-122"/>
              </a:rPr>
              <a:t>；</a:t>
            </a:r>
            <a:endParaRPr lang="en-US" altLang="zh-CN" sz="1200" dirty="0">
              <a:latin typeface="仿宋" panose="02010609060101010101" pitchFamily="49" charset="-122"/>
              <a:ea typeface="仿宋" panose="02010609060101010101" pitchFamily="49" charset="-122"/>
            </a:endParaRPr>
          </a:p>
          <a:p>
            <a:pPr marL="228600" indent="-228600">
              <a:lnSpc>
                <a:spcPct val="150000"/>
              </a:lnSpc>
              <a:buSzPct val="70000"/>
              <a:buFont typeface="+mj-lt"/>
              <a:buAutoNum type="arabicPeriod"/>
            </a:pPr>
            <a:r>
              <a:rPr lang="zh-CN" altLang="en-US" sz="1200" dirty="0">
                <a:latin typeface="仿宋" panose="02010609060101010101" pitchFamily="49" charset="-122"/>
                <a:ea typeface="仿宋" panose="02010609060101010101" pitchFamily="49" charset="-122"/>
              </a:rPr>
              <a:t>进行增资打款。</a:t>
            </a:r>
            <a:endParaRPr lang="zh-CN" altLang="zh-CN" sz="1200" dirty="0">
              <a:latin typeface="仿宋" panose="02010609060101010101" pitchFamily="49" charset="-122"/>
              <a:ea typeface="仿宋" panose="02010609060101010101" pitchFamily="49" charset="-122"/>
            </a:endParaRPr>
          </a:p>
          <a:p>
            <a:pPr marL="228600" indent="-228600">
              <a:lnSpc>
                <a:spcPct val="150000"/>
              </a:lnSpc>
              <a:buSzPct val="70000"/>
              <a:buFont typeface="+mj-lt"/>
              <a:buAutoNum type="arabicPeriod"/>
            </a:pPr>
            <a:endParaRPr lang="en-US" altLang="zh-CN" sz="11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2899662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r="-1000"/>
          </a:stretch>
        </a:blipFill>
        <a:effectLst/>
      </p:bgPr>
    </p:bg>
    <p:spTree>
      <p:nvGrpSpPr>
        <p:cNvPr id="1" name=""/>
        <p:cNvGrpSpPr/>
        <p:nvPr/>
      </p:nvGrpSpPr>
      <p:grpSpPr>
        <a:xfrm>
          <a:off x="0" y="0"/>
          <a:ext cx="0" cy="0"/>
          <a:chOff x="0" y="0"/>
          <a:chExt cx="0" cy="0"/>
        </a:xfrm>
      </p:grpSpPr>
      <p:sp>
        <p:nvSpPr>
          <p:cNvPr id="13314" name="TextBox 6"/>
          <p:cNvSpPr txBox="1"/>
          <p:nvPr/>
        </p:nvSpPr>
        <p:spPr>
          <a:xfrm>
            <a:off x="839470" y="2257425"/>
            <a:ext cx="4410075" cy="667385"/>
          </a:xfrm>
          <a:prstGeom prst="rect">
            <a:avLst/>
          </a:prstGeom>
          <a:noFill/>
          <a:ln w="9525">
            <a:noFill/>
          </a:ln>
        </p:spPr>
        <p:txBody>
          <a:bodyPr wrap="square" lIns="67895" tIns="33947" rIns="67895" bIns="33947" anchor="t">
            <a:spAutoFit/>
          </a:bodyPr>
          <a:lstStyle/>
          <a:p>
            <a:r>
              <a:rPr lang="zh-CN" altLang="en-US" sz="3900" b="1" noProof="1">
                <a:solidFill>
                  <a:srgbClr val="C12B37"/>
                </a:solidFill>
                <a:latin typeface="微软雅黑" panose="020B0503020204020204" charset="-122"/>
                <a:ea typeface="微软雅黑" panose="020B0503020204020204" charset="-122"/>
                <a:cs typeface="+mn-cs"/>
              </a:rPr>
              <a:t>Thanks</a:t>
            </a:r>
          </a:p>
        </p:txBody>
      </p:sp>
      <p:sp>
        <p:nvSpPr>
          <p:cNvPr id="13319" name="TextBox 6"/>
          <p:cNvSpPr txBox="1"/>
          <p:nvPr/>
        </p:nvSpPr>
        <p:spPr>
          <a:xfrm>
            <a:off x="839470" y="3056890"/>
            <a:ext cx="5563870" cy="682625"/>
          </a:xfrm>
          <a:prstGeom prst="rect">
            <a:avLst/>
          </a:prstGeom>
          <a:noFill/>
          <a:ln w="9525">
            <a:noFill/>
          </a:ln>
        </p:spPr>
        <p:txBody>
          <a:bodyPr wrap="square" lIns="67895" tIns="33947" rIns="67895" bIns="33947" anchor="t">
            <a:spAutoFit/>
          </a:bodyPr>
          <a:lstStyle/>
          <a:p>
            <a:r>
              <a:rPr lang="zh-CN" altLang="en-US" sz="1000" noProof="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Add:</a:t>
            </a:r>
            <a:r>
              <a:rPr lang="en-US" altLang="zh-CN" sz="1000" noProof="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3303-3306,S2,BFC</a:t>
            </a:r>
            <a:r>
              <a:rPr lang="zh-CN" altLang="en-US" sz="1000" noProof="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,No.</a:t>
            </a:r>
            <a:r>
              <a:rPr lang="en-US" altLang="zh-CN" sz="1000" noProof="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600Zhongshan</a:t>
            </a:r>
            <a:r>
              <a:rPr lang="zh-CN" altLang="en-US" sz="1000" noProof="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Road</a:t>
            </a:r>
            <a:r>
              <a:rPr lang="en-US" altLang="zh-CN" sz="1000" noProof="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(E-2)</a:t>
            </a:r>
            <a:r>
              <a:rPr lang="zh-CN" altLang="en-US" sz="1000" noProof="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a:t>
            </a:r>
            <a:r>
              <a:rPr lang="en-US" altLang="zh-CN" sz="1000" noProof="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Hungpu</a:t>
            </a:r>
            <a:r>
              <a:rPr lang="zh-CN" altLang="en-US" sz="1000" noProof="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District,Shanghai</a:t>
            </a:r>
          </a:p>
          <a:p>
            <a:r>
              <a:rPr lang="zh-CN" altLang="en-US" sz="1000" noProof="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Tel： +86 21 62126856        </a:t>
            </a:r>
            <a:endParaRPr lang="en-US" altLang="zh-CN" sz="1000" noProof="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a:p>
            <a:r>
              <a:rPr lang="zh-CN" altLang="en-US" sz="1000" noProof="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Fax： +86 21 62128309         </a:t>
            </a:r>
          </a:p>
          <a:p>
            <a:endParaRPr lang="en-US" altLang="zh-CN" sz="1000" noProof="1">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nvSpPr>
        <p:spPr>
          <a:xfrm>
            <a:off x="897890" y="3608705"/>
            <a:ext cx="1007745" cy="75565"/>
          </a:xfrm>
          <a:prstGeom prst="rect">
            <a:avLst/>
          </a:prstGeom>
          <a:gradFill>
            <a:gsLst>
              <a:gs pos="0">
                <a:srgbClr val="FFC000"/>
              </a:gs>
              <a:gs pos="100000">
                <a:srgbClr val="C00000"/>
              </a:gs>
            </a:gsLst>
            <a:lin ang="10320000" scaled="0"/>
          </a:gra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 name="TextBox 6"/>
          <p:cNvSpPr txBox="1"/>
          <p:nvPr/>
        </p:nvSpPr>
        <p:spPr>
          <a:xfrm>
            <a:off x="739140" y="4368165"/>
            <a:ext cx="3960495" cy="313055"/>
          </a:xfrm>
          <a:prstGeom prst="rect">
            <a:avLst/>
          </a:prstGeom>
          <a:noFill/>
          <a:ln w="9525">
            <a:noFill/>
          </a:ln>
        </p:spPr>
        <p:txBody>
          <a:bodyPr wrap="square" lIns="67895" tIns="33947" rIns="67895" bIns="33947" anchor="t">
            <a:spAutoFit/>
          </a:bodyPr>
          <a:lstStyle/>
          <a:p>
            <a:r>
              <a:rPr lang="en-US" altLang="zh-CN" sz="1600" noProof="1">
                <a:solidFill>
                  <a:schemeClr val="tx1">
                    <a:lumMod val="50000"/>
                    <a:lumOff val="50000"/>
                  </a:schemeClr>
                </a:solidFill>
                <a:latin typeface="微软雅黑" panose="020B0503020204020204" charset="-122"/>
                <a:ea typeface="微软雅黑" panose="020B0503020204020204" charset="-122"/>
                <a:cs typeface="+mn-cs"/>
              </a:rPr>
              <a:t>XINSHUO CAPITAL CO.,LTD</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JPM_OBJECT_NAME" val="jpmPageNumber"/>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26684</TotalTime>
  <Words>19811</Words>
  <Application>Microsoft Office PowerPoint</Application>
  <PresentationFormat>On-screen Show (16:9)</PresentationFormat>
  <Paragraphs>1113</Paragraphs>
  <Slides>35</Slides>
  <Notes>31</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35</vt:i4>
      </vt:variant>
    </vt:vector>
  </HeadingPairs>
  <TitlesOfParts>
    <vt:vector size="53" baseType="lpstr">
      <vt:lpstr>-apple-system</vt:lpstr>
      <vt:lpstr>CIDFont+F1</vt:lpstr>
      <vt:lpstr>FangSong</vt:lpstr>
      <vt:lpstr>Helvetica Neue</vt:lpstr>
      <vt:lpstr>Optima-Regular</vt:lpstr>
      <vt:lpstr>等线</vt:lpstr>
      <vt:lpstr>方正兰亭中黑_GBK</vt:lpstr>
      <vt:lpstr>仿宋</vt:lpstr>
      <vt:lpstr>黑体</vt:lpstr>
      <vt:lpstr>宋体</vt:lpstr>
      <vt:lpstr>微软雅黑</vt:lpstr>
      <vt:lpstr>Arial</vt:lpstr>
      <vt:lpstr>Calibri</vt:lpstr>
      <vt:lpstr>Tahoma</vt:lpstr>
      <vt:lpstr>Times New Roman</vt:lpstr>
      <vt:lpstr>Trebuchet MS</vt:lpstr>
      <vt:lpstr>Wingdings</vt:lpstr>
      <vt:lpstr>Office 主题</vt:lpstr>
      <vt:lpstr>PowerPoint Presentation</vt:lpstr>
      <vt:lpstr>目录</vt:lpstr>
      <vt:lpstr>一、项目摘要|项目基本情况</vt:lpstr>
      <vt:lpstr>二、公司分析|股权结构</vt:lpstr>
      <vt:lpstr>二、公司分析|组织结构</vt:lpstr>
      <vt:lpstr>二、公司分析|专利资质</vt:lpstr>
      <vt:lpstr>二、公司分析|组织结构|高管团队</vt:lpstr>
      <vt:lpstr>二、公司分析|公司基本情况|产品线</vt:lpstr>
      <vt:lpstr>二、公司分析|公司基本情况|产品线</vt:lpstr>
      <vt:lpstr>二、公司分析|公司基本情况|商业模式</vt:lpstr>
      <vt:lpstr>二、公司分析|公司基本情况|客户</vt:lpstr>
      <vt:lpstr>二、公司分析|公司基本情况|供应商</vt:lpstr>
      <vt:lpstr>二、公司分析|公司基本情况|供应商</vt:lpstr>
      <vt:lpstr>二、公司分析|历史财务数据分析|资产负债表</vt:lpstr>
      <vt:lpstr>二、公司分析|历史财务数据分析|利润表</vt:lpstr>
      <vt:lpstr>三、行业分析|行业简介</vt:lpstr>
      <vt:lpstr>三、行业分析|快充发展趋势</vt:lpstr>
      <vt:lpstr>三、行业分析|电荷泵方案</vt:lpstr>
      <vt:lpstr>三、行业分析|市场规模</vt:lpstr>
      <vt:lpstr>三、行业分析|细分市场规模</vt:lpstr>
      <vt:lpstr>PowerPoint Presentation</vt:lpstr>
      <vt:lpstr>PowerPoint Presentation</vt:lpstr>
      <vt:lpstr>四、交易结构|核心条款&amp;交易安排</vt:lpstr>
      <vt:lpstr>五、估值分析|企业估值</vt:lpstr>
      <vt:lpstr>六、财务预测及回报分析|财务预测</vt:lpstr>
      <vt:lpstr>六、财务预测及回报分析|财务预测|产品线</vt:lpstr>
      <vt:lpstr>六、财务预测及回报分析|财务预测</vt:lpstr>
      <vt:lpstr>六、财务预测及回报分析|退出方案</vt:lpstr>
      <vt:lpstr>七、投资因素|项目亮点</vt:lpstr>
      <vt:lpstr>七、投资因素|项目亮点</vt:lpstr>
      <vt:lpstr>七、投资因素|投资逻辑</vt:lpstr>
      <vt:lpstr>七、投资因素|项目风险</vt:lpstr>
      <vt:lpstr>八、商业尽调|客户&amp;专家访谈</vt:lpstr>
      <vt:lpstr>九、意见和建议</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张思梦</dc:creator>
  <cp:lastModifiedBy>Timon Mao(CD)</cp:lastModifiedBy>
  <cp:revision>3165</cp:revision>
  <dcterms:created xsi:type="dcterms:W3CDTF">2015-01-15T02:49:00Z</dcterms:created>
  <dcterms:modified xsi:type="dcterms:W3CDTF">2021-07-05T09:40:24Z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2052-11.1.0.8612</vt:lpwstr>
  </property>
</Properties>
</file>