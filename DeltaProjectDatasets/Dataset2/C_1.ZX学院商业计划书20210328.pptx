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7" r:id="rId2"/>
  </p:sldMasterIdLst>
  <p:notesMasterIdLst>
    <p:notesMasterId r:id="rId28"/>
  </p:notesMasterIdLst>
  <p:sldIdLst>
    <p:sldId id="1034" r:id="rId3"/>
    <p:sldId id="296" r:id="rId4"/>
    <p:sldId id="373" r:id="rId5"/>
    <p:sldId id="259" r:id="rId6"/>
    <p:sldId id="308" r:id="rId7"/>
    <p:sldId id="311" r:id="rId8"/>
    <p:sldId id="1043" r:id="rId9"/>
    <p:sldId id="1041" r:id="rId10"/>
    <p:sldId id="1032" r:id="rId11"/>
    <p:sldId id="1052" r:id="rId12"/>
    <p:sldId id="423" r:id="rId13"/>
    <p:sldId id="369" r:id="rId14"/>
    <p:sldId id="1048" r:id="rId15"/>
    <p:sldId id="926" r:id="rId16"/>
    <p:sldId id="1044" r:id="rId17"/>
    <p:sldId id="1036" r:id="rId18"/>
    <p:sldId id="1053" r:id="rId19"/>
    <p:sldId id="1055" r:id="rId20"/>
    <p:sldId id="1054" r:id="rId21"/>
    <p:sldId id="1058" r:id="rId22"/>
    <p:sldId id="4180" r:id="rId23"/>
    <p:sldId id="1046" r:id="rId24"/>
    <p:sldId id="903" r:id="rId25"/>
    <p:sldId id="1038" r:id="rId26"/>
    <p:sldId id="327" r:id="rId27"/>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p:defaultTextStyle>
  <p:extLst>
    <p:ext uri="{EFAFB233-063F-42B5-8137-9DF3F51BA10A}">
      <p15:sldGuideLst xmlns:p15="http://schemas.microsoft.com/office/powerpoint/2012/main">
        <p15:guide id="1" orient="horz" pos="2353">
          <p15:clr>
            <a:srgbClr val="A4A3A4"/>
          </p15:clr>
        </p15:guide>
        <p15:guide id="2" pos="3894">
          <p15:clr>
            <a:srgbClr val="A4A3A4"/>
          </p15:clr>
        </p15:guide>
        <p15:guide id="3" orient="horz" pos="-26">
          <p15:clr>
            <a:srgbClr val="A4A3A4"/>
          </p15:clr>
        </p15:guide>
        <p15:guide id="4" orient="horz" pos="4309">
          <p15:clr>
            <a:srgbClr val="A4A3A4"/>
          </p15:clr>
        </p15:guide>
        <p15:guide id="5" pos="-1">
          <p15:clr>
            <a:srgbClr val="A4A3A4"/>
          </p15:clr>
        </p15:guide>
        <p15:guide id="6" pos="7683">
          <p15:clr>
            <a:srgbClr val="A4A3A4"/>
          </p15:clr>
        </p15:guide>
        <p15:guide id="7" orient="horz" pos="525">
          <p15:clr>
            <a:srgbClr val="A4A3A4"/>
          </p15:clr>
        </p15:guide>
        <p15:guide id="8" pos="471">
          <p15:clr>
            <a:srgbClr val="A4A3A4"/>
          </p15:clr>
        </p15:guide>
        <p15:guide id="9" orient="horz" pos="3821">
          <p15:clr>
            <a:srgbClr val="A4A3A4"/>
          </p15:clr>
        </p15:guide>
        <p15:guide id="10" pos="725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6371"/>
    <a:srgbClr val="00A6B2"/>
    <a:srgbClr val="0077AE"/>
    <a:srgbClr val="004098"/>
    <a:srgbClr val="21798F"/>
    <a:srgbClr val="B0E1E4"/>
    <a:srgbClr val="BAECEF"/>
    <a:srgbClr val="0077AC"/>
    <a:srgbClr val="0477AD"/>
    <a:srgbClr val="DADA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80" autoAdjust="0"/>
    <p:restoredTop sz="85665" autoAdjust="0"/>
  </p:normalViewPr>
  <p:slideViewPr>
    <p:cSldViewPr snapToGrid="0">
      <p:cViewPr varScale="1">
        <p:scale>
          <a:sx n="97" d="100"/>
          <a:sy n="97" d="100"/>
        </p:scale>
        <p:origin x="1206" y="114"/>
      </p:cViewPr>
      <p:guideLst>
        <p:guide orient="horz" pos="2353"/>
        <p:guide pos="3894"/>
        <p:guide orient="horz" pos="-26"/>
        <p:guide orient="horz" pos="4309"/>
        <p:guide pos="-1"/>
        <p:guide pos="7683"/>
        <p:guide orient="horz" pos="525"/>
        <p:guide pos="471"/>
        <p:guide orient="horz" pos="3821"/>
        <p:guide pos="7257"/>
      </p:guideLst>
    </p:cSldViewPr>
  </p:slideViewPr>
  <p:outlineViewPr>
    <p:cViewPr>
      <p:scale>
        <a:sx n="33" d="100"/>
        <a:sy n="33" d="100"/>
      </p:scale>
      <p:origin x="0" y="0"/>
    </p:cViewPr>
  </p:outlineViewPr>
  <p:notesTextViewPr>
    <p:cViewPr>
      <p:scale>
        <a:sx n="1" d="1"/>
        <a:sy n="1" d="1"/>
      </p:scale>
      <p:origin x="0" y="0"/>
    </p:cViewPr>
  </p:notesText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defRPr sz="1200" noProof="1"/>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defRPr sz="1200" noProof="1">
                <a:latin typeface="+mn-lt"/>
                <a:ea typeface="+mn-ea"/>
              </a:defRPr>
            </a:lvl1pPr>
          </a:lstStyle>
          <a:p>
            <a:pPr>
              <a:defRPr/>
            </a:pPr>
            <a:fld id="{267AB237-4E03-924D-8ADA-9ECADC8E5A3C}" type="datetimeFigureOut">
              <a:rPr lang="zh-CN" altLang="en-US"/>
              <a:t>2021/3/31</a:t>
            </a:fld>
            <a:endParaRPr lang="zh-CN" altLang="en-US"/>
          </a:p>
        </p:txBody>
      </p:sp>
      <p:sp>
        <p:nvSpPr>
          <p:cNvPr id="15364" name="幻灯片图像占位符 3"/>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sp>
      <p:sp>
        <p:nvSpPr>
          <p:cNvPr id="4101" name="备注占位符 4"/>
          <p:cNvSpPr>
            <a:spLocks noGrp="1" noChangeArrowheads="1"/>
          </p:cNvSpPr>
          <p:nvPr>
            <p:ph type="body" sz="quarter" idx="9"/>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defRPr sz="1200" noProof="1"/>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defRPr sz="1200" noProof="1">
                <a:latin typeface="+mn-lt"/>
                <a:ea typeface="+mn-ea"/>
              </a:defRPr>
            </a:lvl1pPr>
          </a:lstStyle>
          <a:p>
            <a:pPr>
              <a:defRPr/>
            </a:pPr>
            <a:fld id="{32522ED7-1DE3-B141-ABF4-4C977D8D7F0D}"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2522ED7-1DE3-B141-ABF4-4C977D8D7F0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2522ED7-1DE3-B141-ABF4-4C977D8D7F0D}"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幻灯片图像占位符 1"/>
          <p:cNvSpPr>
            <a:spLocks noGrp="1" noRot="1" noChangeAspect="1" noChangeArrowheads="1" noTextEdit="1"/>
          </p:cNvSpPr>
          <p:nvPr>
            <p:ph type="sldImg" idx="4294967295"/>
          </p:nvPr>
        </p:nvSpPr>
        <p:spPr>
          <a:ln>
            <a:miter lim="800000"/>
          </a:ln>
        </p:spPr>
      </p:sp>
      <p:sp>
        <p:nvSpPr>
          <p:cNvPr id="33794" name="文本占位符 2"/>
          <p:cNvSpPr>
            <a:spLocks noGrp="1" noChangeArrowheads="1"/>
          </p:cNvSpPr>
          <p:nvPr>
            <p:ph type="body" idx="4294967295"/>
          </p:nvPr>
        </p:nvSpPr>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幻灯片图像占位符 1"/>
          <p:cNvSpPr>
            <a:spLocks noGrp="1" noRot="1" noChangeAspect="1" noChangeArrowheads="1" noTextEdit="1"/>
          </p:cNvSpPr>
          <p:nvPr>
            <p:ph type="sldImg" idx="4294967295"/>
          </p:nvPr>
        </p:nvSpPr>
        <p:spPr>
          <a:ln>
            <a:miter lim="800000"/>
          </a:ln>
        </p:spPr>
      </p:sp>
      <p:sp>
        <p:nvSpPr>
          <p:cNvPr id="37890" name="文本占位符 2"/>
          <p:cNvSpPr>
            <a:spLocks noGrp="1" noChangeArrowheads="1"/>
          </p:cNvSpPr>
          <p:nvPr>
            <p:ph type="body" idx="4294967295"/>
          </p:nvPr>
        </p:nvSpPr>
        <p:spPr/>
        <p:txBody>
          <a:bodyPr/>
          <a:lstStyle/>
          <a:p>
            <a:pPr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ChangeArrowheads="1" noTextEdit="1"/>
          </p:cNvSpPr>
          <p:nvPr>
            <p:ph type="sldImg" idx="4294967295"/>
          </p:nvPr>
        </p:nvSpPr>
        <p:spPr>
          <a:ln>
            <a:miter lim="800000"/>
          </a:ln>
        </p:spPr>
      </p:sp>
      <p:sp>
        <p:nvSpPr>
          <p:cNvPr id="31746" name="文本占位符 2"/>
          <p:cNvSpPr>
            <a:spLocks noGrp="1" noChangeArrowheads="1"/>
          </p:cNvSpPr>
          <p:nvPr>
            <p:ph type="body" idx="4294967295"/>
          </p:nvPr>
        </p:nvSpPr>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795A699-AB68-4A20-99FB-6F69DC266D45}"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41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Lao UI" panose="020B0502040204020203" pitchFamily="34" charset="0"/>
                <a:ea typeface="微软雅黑" panose="020B0503020204020204" charset="-122"/>
              </a:defRPr>
            </a:lvl1pPr>
            <a:lvl2pPr marL="742950" indent="-285750">
              <a:defRPr>
                <a:solidFill>
                  <a:schemeClr val="tx1"/>
                </a:solidFill>
                <a:latin typeface="Lao UI" panose="020B0502040204020203" pitchFamily="34" charset="0"/>
                <a:ea typeface="微软雅黑" panose="020B0503020204020204" charset="-122"/>
              </a:defRPr>
            </a:lvl2pPr>
            <a:lvl3pPr marL="1143000" indent="-228600">
              <a:defRPr>
                <a:solidFill>
                  <a:schemeClr val="tx1"/>
                </a:solidFill>
                <a:latin typeface="Lao UI" panose="020B0502040204020203" pitchFamily="34" charset="0"/>
                <a:ea typeface="微软雅黑" panose="020B0503020204020204" charset="-122"/>
              </a:defRPr>
            </a:lvl3pPr>
            <a:lvl4pPr marL="1600200" indent="-228600">
              <a:defRPr>
                <a:solidFill>
                  <a:schemeClr val="tx1"/>
                </a:solidFill>
                <a:latin typeface="Lao UI" panose="020B0502040204020203" pitchFamily="34" charset="0"/>
                <a:ea typeface="微软雅黑" panose="020B0503020204020204" charset="-122"/>
              </a:defRPr>
            </a:lvl4pPr>
            <a:lvl5pPr marL="2057400" indent="-228600">
              <a:defRPr>
                <a:solidFill>
                  <a:schemeClr val="tx1"/>
                </a:solidFill>
                <a:latin typeface="Lao UI" panose="020B0502040204020203" pitchFamily="34" charset="0"/>
                <a:ea typeface="微软雅黑" panose="020B0503020204020204" charset="-122"/>
              </a:defRPr>
            </a:lvl5pPr>
            <a:lvl6pPr marL="25146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6pPr>
            <a:lvl7pPr marL="29718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7pPr>
            <a:lvl8pPr marL="34290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8pPr>
            <a:lvl9pPr marL="38862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9pPr>
          </a:lstStyle>
          <a:p>
            <a:pPr fontAlgn="base">
              <a:spcBef>
                <a:spcPct val="0"/>
              </a:spcBef>
              <a:spcAft>
                <a:spcPct val="0"/>
              </a:spcAft>
            </a:pPr>
            <a:fld id="{CB4F666C-CA57-47FE-8D3B-CFDB412F0D60}" type="slidenum">
              <a:rPr lang="zh-CN" altLang="en-US">
                <a:latin typeface="Calibri" panose="020F0502020204030204" pitchFamily="34" charset="0"/>
                <a:ea typeface="宋体" pitchFamily="2" charset="-122"/>
              </a:rPr>
              <a:t>11</a:t>
            </a:fld>
            <a:endParaRPr lang="zh-CN" altLang="en-US">
              <a:latin typeface="Calibri" panose="020F0502020204030204" pitchFamily="34" charset="0"/>
              <a:ea typeface="宋体"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t>12</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83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zh-CN" altLang="en-US" dirty="0"/>
          </a:p>
        </p:txBody>
      </p:sp>
      <p:sp>
        <p:nvSpPr>
          <p:cNvPr id="583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Lao UI" panose="020B0502040204020203" pitchFamily="34" charset="0"/>
                <a:ea typeface="微软雅黑" panose="020B0503020204020204" charset="-122"/>
              </a:defRPr>
            </a:lvl1pPr>
            <a:lvl2pPr marL="742950" indent="-285750">
              <a:defRPr>
                <a:solidFill>
                  <a:schemeClr val="tx1"/>
                </a:solidFill>
                <a:latin typeface="Lao UI" panose="020B0502040204020203" pitchFamily="34" charset="0"/>
                <a:ea typeface="微软雅黑" panose="020B0503020204020204" charset="-122"/>
              </a:defRPr>
            </a:lvl2pPr>
            <a:lvl3pPr marL="1143000" indent="-228600">
              <a:defRPr>
                <a:solidFill>
                  <a:schemeClr val="tx1"/>
                </a:solidFill>
                <a:latin typeface="Lao UI" panose="020B0502040204020203" pitchFamily="34" charset="0"/>
                <a:ea typeface="微软雅黑" panose="020B0503020204020204" charset="-122"/>
              </a:defRPr>
            </a:lvl3pPr>
            <a:lvl4pPr marL="1600200" indent="-228600">
              <a:defRPr>
                <a:solidFill>
                  <a:schemeClr val="tx1"/>
                </a:solidFill>
                <a:latin typeface="Lao UI" panose="020B0502040204020203" pitchFamily="34" charset="0"/>
                <a:ea typeface="微软雅黑" panose="020B0503020204020204" charset="-122"/>
              </a:defRPr>
            </a:lvl4pPr>
            <a:lvl5pPr marL="2057400" indent="-228600">
              <a:defRPr>
                <a:solidFill>
                  <a:schemeClr val="tx1"/>
                </a:solidFill>
                <a:latin typeface="Lao UI" panose="020B0502040204020203" pitchFamily="34" charset="0"/>
                <a:ea typeface="微软雅黑" panose="020B0503020204020204" charset="-122"/>
              </a:defRPr>
            </a:lvl5pPr>
            <a:lvl6pPr marL="25146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6pPr>
            <a:lvl7pPr marL="29718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7pPr>
            <a:lvl8pPr marL="34290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8pPr>
            <a:lvl9pPr marL="3886200" indent="-228600" fontAlgn="base">
              <a:spcBef>
                <a:spcPct val="0"/>
              </a:spcBef>
              <a:spcAft>
                <a:spcPct val="0"/>
              </a:spcAft>
              <a:defRPr>
                <a:solidFill>
                  <a:schemeClr val="tx1"/>
                </a:solidFill>
                <a:latin typeface="Lao UI" panose="020B0502040204020203" pitchFamily="34" charset="0"/>
                <a:ea typeface="微软雅黑" panose="020B0503020204020204" charset="-122"/>
              </a:defRPr>
            </a:lvl9pPr>
          </a:lstStyle>
          <a:p>
            <a:pPr fontAlgn="base">
              <a:spcBef>
                <a:spcPct val="0"/>
              </a:spcBef>
              <a:spcAft>
                <a:spcPct val="0"/>
              </a:spcAft>
            </a:pPr>
            <a:fld id="{7F5FCBEE-7660-4483-B7A7-DD6D6C860868}" type="slidenum">
              <a:rPr lang="zh-CN" altLang="en-US">
                <a:latin typeface="Calibri" panose="020F0502020204030204" pitchFamily="34" charset="0"/>
                <a:ea typeface="宋体" pitchFamily="2" charset="-122"/>
              </a:rPr>
              <a:t>13</a:t>
            </a:fld>
            <a:endParaRPr lang="zh-CN" altLang="en-US">
              <a:latin typeface="Calibri" panose="020F0502020204030204" pitchFamily="34" charset="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r>
              <a:rPr lang="en-US" altLang="zh-CN" sz="1200"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 </a:t>
            </a:r>
            <a:r>
              <a:rPr lang="zh-CN" altLang="en-US" sz="1200" dirty="0">
                <a:solidFill>
                  <a:schemeClr val="tx1"/>
                </a:solidFill>
                <a:latin typeface="华文楷体" panose="02010600040101010101" pitchFamily="2" charset="-122"/>
                <a:ea typeface="华文楷体" panose="02010600040101010101" pitchFamily="2" charset="-122"/>
                <a:cs typeface="华文楷体" panose="02010600040101010101" pitchFamily="2" charset="-122"/>
              </a:rPr>
              <a:t>截止2020年，中共中央、国务院、教育部、人社部等部门批准了一系列职业教育重磅文件。从这些文件中，我们可以看到国家对于职业教育的高度重视和精心部署。无论是部署方向还是发布新规，抑或是建章立制，职业教育大规模改革与奋进的号角已经吹响！</a:t>
            </a:r>
            <a:endParaRPr kumimoji="1"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2522ED7-1DE3-B141-ABF4-4C977D8D7F0D}" type="slidenum">
              <a:rPr lang="zh-CN" altLang="en-US" smtClean="0"/>
              <a:t>15</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ChangeArrowheads="1" noTextEdit="1"/>
          </p:cNvSpPr>
          <p:nvPr>
            <p:ph type="sldImg" idx="4294967295"/>
          </p:nvPr>
        </p:nvSpPr>
        <p:spPr>
          <a:ln>
            <a:miter lim="800000"/>
          </a:ln>
        </p:spPr>
      </p:sp>
      <p:sp>
        <p:nvSpPr>
          <p:cNvPr id="56322" name="文本占位符 2"/>
          <p:cNvSpPr>
            <a:spLocks noGrp="1" noChangeArrowheads="1"/>
          </p:cNvSpPr>
          <p:nvPr>
            <p:ph type="body" idx="4294967295"/>
          </p:nvPr>
        </p:nvSpPr>
        <p:spPr/>
        <p:txBody>
          <a:bodyPr/>
          <a:lstStyle/>
          <a:p>
            <a:pPr eaLnBrk="1" hangingPunct="1"/>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ChangeArrowheads="1" noTextEdit="1"/>
          </p:cNvSpPr>
          <p:nvPr>
            <p:ph type="sldImg" idx="4294967295"/>
          </p:nvPr>
        </p:nvSpPr>
        <p:spPr>
          <a:ln>
            <a:miter lim="800000"/>
          </a:ln>
        </p:spPr>
      </p:sp>
      <p:sp>
        <p:nvSpPr>
          <p:cNvPr id="56322" name="文本占位符 2"/>
          <p:cNvSpPr>
            <a:spLocks noGrp="1" noChangeArrowheads="1"/>
          </p:cNvSpPr>
          <p:nvPr>
            <p:ph type="body" idx="4294967295"/>
          </p:nvPr>
        </p:nvSpPr>
        <p:spPr/>
        <p:txBody>
          <a:bodyPr/>
          <a:lstStyle/>
          <a:p>
            <a:pPr eaLnBrk="1" hangingPunct="1"/>
            <a:r>
              <a:rPr lang="zh-CN" altLang="en-US" dirty="0"/>
              <a:t>专科合作</a:t>
            </a:r>
            <a:r>
              <a:rPr lang="en-US" altLang="zh-CN" dirty="0"/>
              <a:t>3</a:t>
            </a:r>
            <a:r>
              <a:rPr lang="zh-CN" altLang="en-US" dirty="0"/>
              <a:t>届，本科</a:t>
            </a:r>
            <a:r>
              <a:rPr lang="en-US" altLang="zh-CN" dirty="0"/>
              <a:t>4</a:t>
            </a:r>
            <a:r>
              <a:rPr lang="zh-CN" altLang="en-US" dirty="0"/>
              <a:t>届，项目合作期满后续签</a:t>
            </a:r>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ChangeArrowheads="1" noTextEdit="1"/>
          </p:cNvSpPr>
          <p:nvPr>
            <p:ph type="sldImg" idx="4294967295"/>
          </p:nvPr>
        </p:nvSpPr>
        <p:spPr>
          <a:ln>
            <a:miter lim="800000"/>
          </a:ln>
        </p:spPr>
      </p:sp>
      <p:sp>
        <p:nvSpPr>
          <p:cNvPr id="56322" name="文本占位符 2"/>
          <p:cNvSpPr>
            <a:spLocks noGrp="1" noChangeArrowheads="1"/>
          </p:cNvSpPr>
          <p:nvPr>
            <p:ph type="body" idx="4294967295"/>
          </p:nvPr>
        </p:nvSpPr>
        <p:spPr/>
        <p:txBody>
          <a:bodyPr/>
          <a:lstStyle/>
          <a:p>
            <a:pPr>
              <a:lnSpc>
                <a:spcPct val="150000"/>
              </a:lnSpc>
            </a:pPr>
            <a:endParaRPr kumimoji="1" lang="zh-CN" altLang="en-US" dirty="0">
              <a:solidFill>
                <a:srgbClr val="586371"/>
              </a:solidFill>
              <a:latin typeface="华文楷体" panose="02010600040101010101" pitchFamily="2" charset="-122"/>
              <a:ea typeface="华文楷体" panose="02010600040101010101" pitchFamily="2" charset="-122"/>
              <a:cs typeface="华文楷体" panose="02010600040101010101" pitchFamily="2" charset="-122"/>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2522ED7-1DE3-B141-ABF4-4C977D8D7F0D}" type="slidenum">
              <a:rPr lang="zh-CN" altLang="en-US" smtClean="0"/>
              <a:t>19</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9661E805-8C82-1240-BBF9-B2F8AFABB4F7}" type="slidenum">
              <a:rPr kumimoji="1" lang="zh-CN" altLang="en-US" smtClean="0"/>
              <a:t>21</a:t>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2522ED7-1DE3-B141-ABF4-4C977D8D7F0D}" type="slidenum">
              <a:rPr lang="zh-CN" altLang="en-US" smtClean="0"/>
              <a:t>22</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2A0F9D-3357-4A94-85C8-3B842B870DC6}" type="slidenum">
              <a:rPr lang="zh-CN" altLang="en-US" smtClean="0">
                <a:solidFill>
                  <a:prstClr val="black"/>
                </a:solidFill>
              </a:rPr>
              <a:t>23</a:t>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ChangeArrowheads="1" noTextEdit="1"/>
          </p:cNvSpPr>
          <p:nvPr>
            <p:ph type="sldImg" idx="4294967295"/>
          </p:nvPr>
        </p:nvSpPr>
        <p:spPr>
          <a:ln>
            <a:miter lim="800000"/>
          </a:ln>
        </p:spPr>
      </p:sp>
      <p:sp>
        <p:nvSpPr>
          <p:cNvPr id="56322" name="文本占位符 2"/>
          <p:cNvSpPr>
            <a:spLocks noGrp="1" noChangeArrowheads="1"/>
          </p:cNvSpPr>
          <p:nvPr>
            <p:ph type="body" idx="4294967295"/>
          </p:nvPr>
        </p:nvSpPr>
        <p:spPr/>
        <p:txBody>
          <a:bodyPr/>
          <a:lstStyle/>
          <a:p>
            <a:pPr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2D7CF8C-6590-194E-B40F-2E34D6CEE40D}" type="datetimeFigureOut">
              <a:rPr lang="zh-CN" altLang="en-US"/>
              <a:t>2021/3/31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E9D52E5-1142-1A49-9D2D-D0C66736031C}"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lvl1pPr>
              <a:defRPr/>
            </a:lvl1pPr>
          </a:lstStyle>
          <a:p>
            <a:pPr>
              <a:defRPr/>
            </a:pPr>
            <a:fld id="{D2E66DD0-F6EB-344F-BF96-824D571608B8}" type="datetimeFigureOut">
              <a:rPr lang="zh-CN" altLang="en-US"/>
              <a:t>2021/3/31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BBFBFC8-1404-EF42-81A0-8F8878B9DDB5}"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lvl1pPr>
              <a:defRPr/>
            </a:lvl1pPr>
          </a:lstStyle>
          <a:p>
            <a:pPr>
              <a:defRPr/>
            </a:pPr>
            <a:fld id="{4DE74F8F-9AB1-1844-A7FA-FC33E150FA5E}" type="datetimeFigureOut">
              <a:rPr lang="zh-CN" altLang="en-US"/>
              <a:t>2021/3/31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AD56DEB-ABBA-5B49-99F1-2BA5E570D849}"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a:lvl1pPr>
          </a:lstStyle>
          <a:p>
            <a:pPr>
              <a:defRPr/>
            </a:pPr>
            <a:fld id="{DE582DE0-4950-B64C-B92A-EBFF272012E6}" type="datetimeFigureOut">
              <a:rPr lang="zh-CN" altLang="en-US"/>
              <a:t>2021/3/31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40235AA-5AAA-1543-B453-2CC6CA7C4E68}" type="slidenum">
              <a:rPr lang="zh-CN" altLang="en-US"/>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p:cNvSpPr>
            <a:spLocks noGrp="1"/>
          </p:cNvSpPr>
          <p:nvPr>
            <p:ph type="dt" sz="half" idx="10"/>
          </p:nvPr>
        </p:nvSpPr>
        <p:spPr/>
        <p:txBody>
          <a:bodyPr/>
          <a:lstStyle>
            <a:lvl1pPr>
              <a:defRPr/>
            </a:lvl1pPr>
          </a:lstStyle>
          <a:p>
            <a:pPr>
              <a:defRPr/>
            </a:pPr>
            <a:fld id="{73F7AF3D-778C-D043-8A14-3809F64FD091}" type="datetimeFigureOut">
              <a:rPr lang="zh-CN" altLang="en-US"/>
              <a:t>2021/3/31</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37012E3-24A5-8045-B12C-8A373BDF1DBA}" type="slidenum">
              <a:rPr lang="zh-CN" altLang="en-US"/>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EBFEC14-6988-554B-81E7-DC6534D2923B}" type="datetimeFigureOut">
              <a:rPr lang="zh-CN" altLang="en-US"/>
              <a:t>2021/3/31</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BEBCCB72-A8BD-D544-BCAD-9D2A52BD0F0A}" type="slidenum">
              <a:rPr lang="zh-CN" altLang="en-US"/>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A241818-F45E-E14E-8B7D-7BB95FAB5C68}" type="datetimeFigureOut">
              <a:rPr lang="zh-CN" altLang="en-US"/>
              <a:t>2021/3/31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F8EC42D7-B7A9-504D-8781-74DC28635DB6}" type="slidenum">
              <a:rPr lang="zh-CN" altLang="en-US"/>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8F21863-20EE-0545-ADA9-4BDC91FFA39C}" type="datetimeFigureOut">
              <a:rPr lang="zh-CN" altLang="en-US"/>
              <a:t>2021/3/31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8593846-0882-FB43-BF0C-4FE17E30E8BD}" type="slidenum">
              <a:rPr lang="zh-CN" altLang="en-US"/>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1"/>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3"/>
          <p:cNvSpPr>
            <a:spLocks noGrp="1"/>
          </p:cNvSpPr>
          <p:nvPr>
            <p:ph type="dt" sz="half" idx="10"/>
          </p:nvPr>
        </p:nvSpPr>
        <p:spPr/>
        <p:txBody>
          <a:bodyPr/>
          <a:lstStyle>
            <a:lvl1pPr>
              <a:defRPr/>
            </a:lvl1pPr>
          </a:lstStyle>
          <a:p>
            <a:pPr>
              <a:defRPr/>
            </a:pPr>
            <a:fld id="{39BEF469-6772-E34C-9512-570E4CBA3A88}" type="datetimeFigureOut">
              <a:rPr lang="zh-CN" altLang="en-US"/>
              <a:t>2021/3/31</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9A592E9-F79D-944C-A793-C2C2E1EDEE72}" type="slidenum">
              <a:rPr lang="zh-CN" altLang="en-US"/>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lvl1pPr>
              <a:defRPr/>
            </a:lvl1pPr>
          </a:lstStyle>
          <a:p>
            <a:pPr>
              <a:defRPr/>
            </a:pPr>
            <a:fld id="{DA0C0954-4612-694F-89EA-2FCBC36C6D8F}" type="datetimeFigureOut">
              <a:rPr lang="zh-CN" altLang="en-US"/>
              <a:t>2021/3/31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86ACFBF-F4C2-714F-BBD5-892BEC9790BB}" type="slidenum">
              <a:rPr lang="zh-CN" altLang="en-US"/>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lvl1pPr>
              <a:defRPr/>
            </a:lvl1pPr>
          </a:lstStyle>
          <a:p>
            <a:pPr>
              <a:defRPr/>
            </a:pPr>
            <a:fld id="{D6F1F875-218A-FD42-9DDE-99EEAF04F5AD}" type="datetimeFigureOut">
              <a:rPr lang="zh-CN" altLang="en-US"/>
              <a:t>2021/3/31</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04B58B7-E318-8348-9521-0785B6C33122}" type="slidenum">
              <a:rPr lang="zh-CN" altLang="en-US"/>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合理交通结构">
    <p:spTree>
      <p:nvGrpSpPr>
        <p:cNvPr id="1" name=""/>
        <p:cNvGrpSpPr/>
        <p:nvPr/>
      </p:nvGrpSpPr>
      <p:grpSpPr>
        <a:xfrm>
          <a:off x="0" y="0"/>
          <a:ext cx="0" cy="0"/>
          <a:chOff x="0" y="0"/>
          <a:chExt cx="0" cy="0"/>
        </a:xfrm>
      </p:grpSpPr>
      <p:pic>
        <p:nvPicPr>
          <p:cNvPr id="2" name="图片 4" descr="图片3.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763" y="0"/>
            <a:ext cx="121824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3" descr="logo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855200" y="344488"/>
            <a:ext cx="2074863"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6000">
    <p:pull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4" name="图片 2" descr="222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75" y="-3175"/>
            <a:ext cx="12326938" cy="693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3175" y="-3175"/>
            <a:ext cx="12323763" cy="5054600"/>
          </a:xfrm>
          <a:prstGeom prst="rect">
            <a:avLst/>
          </a:prstGeom>
          <a:solidFill>
            <a:schemeClr val="tx2">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ea typeface="微软雅黑" panose="020B0503020204020204" charset="-122"/>
            </a:endParaRPr>
          </a:p>
        </p:txBody>
      </p:sp>
      <p:sp>
        <p:nvSpPr>
          <p:cNvPr id="6" name="矩形 5"/>
          <p:cNvSpPr/>
          <p:nvPr userDrawn="1"/>
        </p:nvSpPr>
        <p:spPr>
          <a:xfrm>
            <a:off x="0" y="5053013"/>
            <a:ext cx="12322175" cy="1881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solidFill>
                <a:schemeClr val="tx2"/>
              </a:solidFill>
              <a:ea typeface="微软雅黑" panose="020B0503020204020204" charset="-122"/>
            </a:endParaRPr>
          </a:p>
        </p:txBody>
      </p:sp>
      <p:sp>
        <p:nvSpPr>
          <p:cNvPr id="2" name="标题 1"/>
          <p:cNvSpPr>
            <a:spLocks noGrp="1"/>
          </p:cNvSpPr>
          <p:nvPr>
            <p:ph type="ctrTitle"/>
          </p:nvPr>
        </p:nvSpPr>
        <p:spPr>
          <a:xfrm>
            <a:off x="5657215" y="3254375"/>
            <a:ext cx="6665595" cy="1093470"/>
          </a:xfrm>
          <a:solidFill>
            <a:schemeClr val="tx2">
              <a:lumMod val="90000"/>
              <a:lumOff val="10000"/>
            </a:schemeClr>
          </a:solidFill>
        </p:spPr>
        <p:txBody>
          <a:bodyPr>
            <a:normAutofit/>
          </a:bodyPr>
          <a:lstStyle>
            <a:lvl1pPr algn="l">
              <a:defRPr sz="4800" b="1" baseline="0">
                <a:solidFill>
                  <a:schemeClr val="bg1"/>
                </a:solidFill>
              </a:defRPr>
            </a:lvl1pPr>
          </a:lstStyle>
          <a:p>
            <a:r>
              <a:rPr lang="zh-CN" altLang="en-US" noProof="1"/>
              <a:t>单击此处编辑母版标题样式</a:t>
            </a:r>
          </a:p>
        </p:txBody>
      </p:sp>
      <p:sp>
        <p:nvSpPr>
          <p:cNvPr id="36" name="文本占位符 35"/>
          <p:cNvSpPr>
            <a:spLocks noGrp="1"/>
          </p:cNvSpPr>
          <p:nvPr>
            <p:ph type="body" sz="quarter" idx="14"/>
          </p:nvPr>
        </p:nvSpPr>
        <p:spPr>
          <a:xfrm>
            <a:off x="5657368" y="4498146"/>
            <a:ext cx="7029450" cy="332277"/>
          </a:xfrm>
        </p:spPr>
        <p:txBody>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sz="2400">
                <a:solidFill>
                  <a:schemeClr val="bg1"/>
                </a:solidFill>
                <a:latin typeface="微软雅黑" panose="020B0503020204020204" charset="-122"/>
                <a:ea typeface="微软雅黑" panose="020B0503020204020204" charset="-122"/>
              </a:defRPr>
            </a:lvl1pPr>
          </a:lstStyle>
          <a:p>
            <a:pPr lvl="0"/>
            <a:r>
              <a:rPr lang="zh-CN" altLang="en-US" noProof="1"/>
              <a:t>单击此处编辑母版文本样式</a:t>
            </a:r>
          </a:p>
        </p:txBody>
      </p:sp>
      <p:sp>
        <p:nvSpPr>
          <p:cNvPr id="7" name="日期占位符 3"/>
          <p:cNvSpPr>
            <a:spLocks noGrp="1"/>
          </p:cNvSpPr>
          <p:nvPr>
            <p:ph type="dt" sz="half" idx="15"/>
          </p:nvPr>
        </p:nvSpPr>
        <p:spPr/>
        <p:txBody>
          <a:bodyPr wrap="square" numCol="1" anchorCtr="0" compatLnSpc="1"/>
          <a:lstStyle>
            <a:lvl1pPr fontAlgn="base">
              <a:defRPr>
                <a:solidFill>
                  <a:srgbClr val="898989"/>
                </a:solidFill>
              </a:defRPr>
            </a:lvl1pPr>
          </a:lstStyle>
          <a:p>
            <a:pPr>
              <a:defRPr/>
            </a:pPr>
            <a:r>
              <a:rPr lang="zh-CN" altLang="en-US"/>
              <a:t>更多资源：</a:t>
            </a:r>
            <a:r>
              <a:rPr lang="en-US" altLang="zh-CN"/>
              <a:t>http://pptonna.yanj.cn/</a:t>
            </a:r>
            <a:endParaRPr lang="zh-CN" altLang="en-US"/>
          </a:p>
        </p:txBody>
      </p:sp>
      <p:sp>
        <p:nvSpPr>
          <p:cNvPr id="8" name="页脚占位符 4"/>
          <p:cNvSpPr>
            <a:spLocks noGrp="1"/>
          </p:cNvSpPr>
          <p:nvPr>
            <p:ph type="ftr" sz="quarter" idx="16"/>
          </p:nvPr>
        </p:nvSpPr>
        <p:spPr/>
        <p:txBody>
          <a:bodyPr/>
          <a:lstStyle>
            <a:lvl1pPr>
              <a:defRPr>
                <a:ea typeface="微软雅黑" panose="020B0503020204020204" charset="-122"/>
              </a:defRPr>
            </a:lvl1pPr>
          </a:lstStyle>
          <a:p>
            <a:pPr>
              <a:defRPr/>
            </a:pPr>
            <a:endParaRPr lang="zh-CN" altLang="en-US"/>
          </a:p>
        </p:txBody>
      </p:sp>
      <p:sp>
        <p:nvSpPr>
          <p:cNvPr id="9" name="灯片编号占位符 5"/>
          <p:cNvSpPr>
            <a:spLocks noGrp="1"/>
          </p:cNvSpPr>
          <p:nvPr>
            <p:ph type="sldNum" sz="quarter" idx="17"/>
          </p:nvPr>
        </p:nvSpPr>
        <p:spPr/>
        <p:txBody>
          <a:bodyPr/>
          <a:lstStyle>
            <a:lvl1pPr>
              <a:defRPr>
                <a:ea typeface="微软雅黑" panose="020B0503020204020204" charset="-122"/>
              </a:defRPr>
            </a:lvl1pPr>
          </a:lstStyle>
          <a:p>
            <a:pPr>
              <a:defRPr/>
            </a:pPr>
            <a:fld id="{95D209A4-89F7-BA4B-910F-90ADF134C000}" type="slidenum">
              <a:rPr lang="zh-CN" altLang="en-US"/>
              <a:t>‹#›</a:t>
            </a:fld>
            <a:endParaRPr lang="zh-CN" altLang="en-US"/>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2021/3/31</a:t>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noChangeArrowheads="1"/>
          </p:cNvSpPr>
          <p:nvPr>
            <p:ph type="body" idx="9"/>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a:defRPr/>
            </a:pPr>
            <a:fld id="{76C79B91-4871-4C4F-B230-731AB51618D8}" type="datetimeFigureOut">
              <a:rPr lang="zh-CN" altLang="en-US"/>
              <a:t>2021/3/31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defRPr sz="1200" noProof="1">
                <a:solidFill>
                  <a:schemeClr val="tx1">
                    <a:tint val="75000"/>
                  </a:schemeClr>
                </a:solidFill>
                <a:latin typeface="+mn-lt"/>
                <a:ea typeface="+mn-ea"/>
              </a:defRPr>
            </a:lvl1pPr>
          </a:lstStyle>
          <a:p>
            <a:pPr>
              <a:defRPr/>
            </a:pPr>
            <a:fld id="{9B8260ED-4CF6-6D45-9A9F-5FEFDF3B6B2D}"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5.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7.jpe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7.jpeg"/><Relationship Id="rId5" Type="http://schemas.openxmlformats.org/officeDocument/2006/relationships/slideLayout" Target="../slideLayouts/slideLayout15.xml"/><Relationship Id="rId4" Type="http://schemas.openxmlformats.org/officeDocument/2006/relationships/tags" Target="../tags/tag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7.jpeg"/><Relationship Id="rId5" Type="http://schemas.openxmlformats.org/officeDocument/2006/relationships/slideLayout" Target="../slideLayouts/slideLayout15.xml"/><Relationship Id="rId4" Type="http://schemas.openxmlformats.org/officeDocument/2006/relationships/tags" Target="../tags/tag2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26.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10.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7.jpeg"/><Relationship Id="rId5" Type="http://schemas.openxmlformats.org/officeDocument/2006/relationships/slideLayout" Target="../slideLayouts/slideLayout15.xml"/><Relationship Id="rId4" Type="http://schemas.openxmlformats.org/officeDocument/2006/relationships/tags" Target="../tags/tag3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2.xml"/><Relationship Id="rId1" Type="http://schemas.openxmlformats.org/officeDocument/2006/relationships/tags" Target="../tags/tag31.xml"/><Relationship Id="rId5" Type="http://schemas.microsoft.com/office/2007/relationships/hdphoto" Target="../media/hdphoto1.wdp"/><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7.jpe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notesSlide" Target="../notesSlides/notesSlide11.xml"/><Relationship Id="rId5" Type="http://schemas.openxmlformats.org/officeDocument/2006/relationships/slideLayout" Target="../slideLayouts/slideLayout15.xml"/><Relationship Id="rId4" Type="http://schemas.openxmlformats.org/officeDocument/2006/relationships/tags" Target="../tags/tag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7.jpe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15.xml"/><Relationship Id="rId5" Type="http://schemas.openxmlformats.org/officeDocument/2006/relationships/slideLayout" Target="../slideLayouts/slideLayout15.xml"/><Relationship Id="rId4" Type="http://schemas.openxmlformats.org/officeDocument/2006/relationships/tags" Target="../tags/tag39.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tags" Target="../tags/tag42.xml"/><Relationship Id="rId7" Type="http://schemas.openxmlformats.org/officeDocument/2006/relationships/image" Target="../media/image7.jpe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notesSlide" Target="../notesSlides/notesSlide17.xml"/><Relationship Id="rId5" Type="http://schemas.openxmlformats.org/officeDocument/2006/relationships/slideLayout" Target="../slideLayouts/slideLayout15.xml"/><Relationship Id="rId4" Type="http://schemas.openxmlformats.org/officeDocument/2006/relationships/tags" Target="../tags/tag4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图片 1" descr="logo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 y="285750"/>
            <a:ext cx="273367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任意多边形 2"/>
          <p:cNvSpPr/>
          <p:nvPr/>
        </p:nvSpPr>
        <p:spPr>
          <a:xfrm>
            <a:off x="0" y="4291013"/>
            <a:ext cx="12192000" cy="2566987"/>
          </a:xfrm>
          <a:custGeom>
            <a:avLst/>
            <a:gdLst>
              <a:gd name="connsiteX0" fmla="*/ 11384766 w 12180888"/>
              <a:gd name="connsiteY0" fmla="*/ 558 h 3855634"/>
              <a:gd name="connsiteX1" fmla="*/ 11883117 w 12180888"/>
              <a:gd name="connsiteY1" fmla="*/ 84640 h 3855634"/>
              <a:gd name="connsiteX2" fmla="*/ 12151747 w 12180888"/>
              <a:gd name="connsiteY2" fmla="*/ 228155 h 3855634"/>
              <a:gd name="connsiteX3" fmla="*/ 12180888 w 12180888"/>
              <a:gd name="connsiteY3" fmla="*/ 250330 h 3855634"/>
              <a:gd name="connsiteX4" fmla="*/ 12180888 w 12180888"/>
              <a:gd name="connsiteY4" fmla="*/ 3855634 h 3855634"/>
              <a:gd name="connsiteX5" fmla="*/ 0 w 12180888"/>
              <a:gd name="connsiteY5" fmla="*/ 3855634 h 3855634"/>
              <a:gd name="connsiteX6" fmla="*/ 0 w 12180888"/>
              <a:gd name="connsiteY6" fmla="*/ 30851 h 3855634"/>
              <a:gd name="connsiteX7" fmla="*/ 75683 w 12180888"/>
              <a:gd name="connsiteY7" fmla="*/ 113066 h 3855634"/>
              <a:gd name="connsiteX8" fmla="*/ 3566431 w 12180888"/>
              <a:gd name="connsiteY8" fmla="*/ 2000526 h 3855634"/>
              <a:gd name="connsiteX9" fmla="*/ 11384766 w 12180888"/>
              <a:gd name="connsiteY9" fmla="*/ 558 h 3855634"/>
              <a:gd name="connsiteX0-1" fmla="*/ 11384766 w 12180888"/>
              <a:gd name="connsiteY0-2" fmla="*/ 558 h 3855634"/>
              <a:gd name="connsiteX1-3" fmla="*/ 11883117 w 12180888"/>
              <a:gd name="connsiteY1-4" fmla="*/ 84640 h 3855634"/>
              <a:gd name="connsiteX2-5" fmla="*/ 12151747 w 12180888"/>
              <a:gd name="connsiteY2-6" fmla="*/ 228155 h 3855634"/>
              <a:gd name="connsiteX3-7" fmla="*/ 12180888 w 12180888"/>
              <a:gd name="connsiteY3-8" fmla="*/ 250330 h 3855634"/>
              <a:gd name="connsiteX4-9" fmla="*/ 12180888 w 12180888"/>
              <a:gd name="connsiteY4-10" fmla="*/ 3855634 h 3855634"/>
              <a:gd name="connsiteX5-11" fmla="*/ 0 w 12180888"/>
              <a:gd name="connsiteY5-12" fmla="*/ 3855634 h 3855634"/>
              <a:gd name="connsiteX6-13" fmla="*/ 0 w 12180888"/>
              <a:gd name="connsiteY6-14" fmla="*/ 30851 h 3855634"/>
              <a:gd name="connsiteX7-15" fmla="*/ 75683 w 12180888"/>
              <a:gd name="connsiteY7-16" fmla="*/ 113066 h 3855634"/>
              <a:gd name="connsiteX8-17" fmla="*/ 3623581 w 12180888"/>
              <a:gd name="connsiteY8-18" fmla="*/ 2000526 h 3855634"/>
              <a:gd name="connsiteX9-19" fmla="*/ 11384766 w 12180888"/>
              <a:gd name="connsiteY9-20" fmla="*/ 558 h 385563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180888" h="3855634">
                <a:moveTo>
                  <a:pt x="11384766" y="558"/>
                </a:moveTo>
                <a:cubicBezTo>
                  <a:pt x="11577172" y="4629"/>
                  <a:pt x="11745005" y="31119"/>
                  <a:pt x="11883117" y="84640"/>
                </a:cubicBezTo>
                <a:cubicBezTo>
                  <a:pt x="11975192" y="120321"/>
                  <a:pt x="12064905" y="168655"/>
                  <a:pt x="12151747" y="228155"/>
                </a:cubicBezTo>
                <a:lnTo>
                  <a:pt x="12180888" y="250330"/>
                </a:lnTo>
                <a:lnTo>
                  <a:pt x="12180888" y="3855634"/>
                </a:lnTo>
                <a:lnTo>
                  <a:pt x="0" y="3855634"/>
                </a:lnTo>
                <a:lnTo>
                  <a:pt x="0" y="30851"/>
                </a:lnTo>
                <a:lnTo>
                  <a:pt x="75683" y="113066"/>
                </a:lnTo>
                <a:cubicBezTo>
                  <a:pt x="722636" y="833767"/>
                  <a:pt x="1759120" y="2126605"/>
                  <a:pt x="3623581" y="2000526"/>
                </a:cubicBezTo>
                <a:cubicBezTo>
                  <a:pt x="5425894" y="2016763"/>
                  <a:pt x="9524845" y="-38796"/>
                  <a:pt x="11384766" y="558"/>
                </a:cubicBezTo>
                <a:close/>
              </a:path>
            </a:pathLst>
          </a:cu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 name="任意多边形 3"/>
          <p:cNvSpPr/>
          <p:nvPr/>
        </p:nvSpPr>
        <p:spPr>
          <a:xfrm>
            <a:off x="0" y="4695825"/>
            <a:ext cx="12192000" cy="2162175"/>
          </a:xfrm>
          <a:custGeom>
            <a:avLst/>
            <a:gdLst>
              <a:gd name="connsiteX0" fmla="*/ 10546202 w 12192000"/>
              <a:gd name="connsiteY0" fmla="*/ 1691 h 5489848"/>
              <a:gd name="connsiteX1" fmla="*/ 12192000 w 12192000"/>
              <a:gd name="connsiteY1" fmla="*/ 478400 h 5489848"/>
              <a:gd name="connsiteX2" fmla="*/ 12192000 w 12192000"/>
              <a:gd name="connsiteY2" fmla="*/ 4597219 h 5489848"/>
              <a:gd name="connsiteX3" fmla="*/ 12192000 w 12192000"/>
              <a:gd name="connsiteY3" fmla="*/ 5089610 h 5489848"/>
              <a:gd name="connsiteX4" fmla="*/ 12192000 w 12192000"/>
              <a:gd name="connsiteY4" fmla="*/ 5489848 h 5489848"/>
              <a:gd name="connsiteX5" fmla="*/ 0 w 12192000"/>
              <a:gd name="connsiteY5" fmla="*/ 5489848 h 5489848"/>
              <a:gd name="connsiteX6" fmla="*/ 0 w 12192000"/>
              <a:gd name="connsiteY6" fmla="*/ 5089610 h 5489848"/>
              <a:gd name="connsiteX7" fmla="*/ 0 w 12192000"/>
              <a:gd name="connsiteY7" fmla="*/ 4597219 h 5489848"/>
              <a:gd name="connsiteX8" fmla="*/ 0 w 12192000"/>
              <a:gd name="connsiteY8" fmla="*/ 2682188 h 5489848"/>
              <a:gd name="connsiteX9" fmla="*/ 8170 w 12192000"/>
              <a:gd name="connsiteY9" fmla="*/ 2685871 h 5489848"/>
              <a:gd name="connsiteX10" fmla="*/ 5281664 w 12192000"/>
              <a:gd name="connsiteY10" fmla="*/ 2575011 h 5489848"/>
              <a:gd name="connsiteX11" fmla="*/ 10277317 w 12192000"/>
              <a:gd name="connsiteY11" fmla="*/ 3261 h 5489848"/>
              <a:gd name="connsiteX12" fmla="*/ 10546202 w 12192000"/>
              <a:gd name="connsiteY12" fmla="*/ 1691 h 5489848"/>
              <a:gd name="connsiteX0-1" fmla="*/ 10546202 w 12192000"/>
              <a:gd name="connsiteY0-2" fmla="*/ 1691 h 5489848"/>
              <a:gd name="connsiteX1-3" fmla="*/ 12192000 w 12192000"/>
              <a:gd name="connsiteY1-4" fmla="*/ 478400 h 5489848"/>
              <a:gd name="connsiteX2-5" fmla="*/ 12192000 w 12192000"/>
              <a:gd name="connsiteY2-6" fmla="*/ 4597219 h 5489848"/>
              <a:gd name="connsiteX3-7" fmla="*/ 12192000 w 12192000"/>
              <a:gd name="connsiteY3-8" fmla="*/ 5089610 h 5489848"/>
              <a:gd name="connsiteX4-9" fmla="*/ 12192000 w 12192000"/>
              <a:gd name="connsiteY4-10" fmla="*/ 5489848 h 5489848"/>
              <a:gd name="connsiteX5-11" fmla="*/ 0 w 12192000"/>
              <a:gd name="connsiteY5-12" fmla="*/ 5489848 h 5489848"/>
              <a:gd name="connsiteX6-13" fmla="*/ 0 w 12192000"/>
              <a:gd name="connsiteY6-14" fmla="*/ 5089610 h 5489848"/>
              <a:gd name="connsiteX7-15" fmla="*/ 0 w 12192000"/>
              <a:gd name="connsiteY7-16" fmla="*/ 4597219 h 5489848"/>
              <a:gd name="connsiteX8-17" fmla="*/ 0 w 12192000"/>
              <a:gd name="connsiteY8-18" fmla="*/ 2682188 h 5489848"/>
              <a:gd name="connsiteX9-19" fmla="*/ 8170 w 12192000"/>
              <a:gd name="connsiteY9-20" fmla="*/ 2685871 h 5489848"/>
              <a:gd name="connsiteX10-21" fmla="*/ 5281664 w 12192000"/>
              <a:gd name="connsiteY10-22" fmla="*/ 2575011 h 5489848"/>
              <a:gd name="connsiteX11-23" fmla="*/ 10277317 w 12192000"/>
              <a:gd name="connsiteY11-24" fmla="*/ 3261 h 5489848"/>
              <a:gd name="connsiteX12-25" fmla="*/ 10546202 w 12192000"/>
              <a:gd name="connsiteY12-26" fmla="*/ 1691 h 5489848"/>
              <a:gd name="connsiteX0-27" fmla="*/ 10277317 w 12192000"/>
              <a:gd name="connsiteY0-28" fmla="*/ 205108 h 5691695"/>
              <a:gd name="connsiteX1-29" fmla="*/ 12192000 w 12192000"/>
              <a:gd name="connsiteY1-30" fmla="*/ 680247 h 5691695"/>
              <a:gd name="connsiteX2-31" fmla="*/ 12192000 w 12192000"/>
              <a:gd name="connsiteY2-32" fmla="*/ 4799066 h 5691695"/>
              <a:gd name="connsiteX3-33" fmla="*/ 12192000 w 12192000"/>
              <a:gd name="connsiteY3-34" fmla="*/ 5291457 h 5691695"/>
              <a:gd name="connsiteX4-35" fmla="*/ 12192000 w 12192000"/>
              <a:gd name="connsiteY4-36" fmla="*/ 5691695 h 5691695"/>
              <a:gd name="connsiteX5-37" fmla="*/ 0 w 12192000"/>
              <a:gd name="connsiteY5-38" fmla="*/ 5691695 h 5691695"/>
              <a:gd name="connsiteX6-39" fmla="*/ 0 w 12192000"/>
              <a:gd name="connsiteY6-40" fmla="*/ 5291457 h 5691695"/>
              <a:gd name="connsiteX7-41" fmla="*/ 0 w 12192000"/>
              <a:gd name="connsiteY7-42" fmla="*/ 4799066 h 5691695"/>
              <a:gd name="connsiteX8-43" fmla="*/ 0 w 12192000"/>
              <a:gd name="connsiteY8-44" fmla="*/ 2884035 h 5691695"/>
              <a:gd name="connsiteX9-45" fmla="*/ 8170 w 12192000"/>
              <a:gd name="connsiteY9-46" fmla="*/ 2887718 h 5691695"/>
              <a:gd name="connsiteX10-47" fmla="*/ 5281664 w 12192000"/>
              <a:gd name="connsiteY10-48" fmla="*/ 2776858 h 5691695"/>
              <a:gd name="connsiteX11-49" fmla="*/ 10277317 w 12192000"/>
              <a:gd name="connsiteY11-50" fmla="*/ 205108 h 5691695"/>
              <a:gd name="connsiteX0-51" fmla="*/ 10277317 w 12192000"/>
              <a:gd name="connsiteY0-52" fmla="*/ 72889 h 5559476"/>
              <a:gd name="connsiteX1-53" fmla="*/ 12192000 w 12192000"/>
              <a:gd name="connsiteY1-54" fmla="*/ 548028 h 5559476"/>
              <a:gd name="connsiteX2-55" fmla="*/ 12192000 w 12192000"/>
              <a:gd name="connsiteY2-56" fmla="*/ 4666847 h 5559476"/>
              <a:gd name="connsiteX3-57" fmla="*/ 12192000 w 12192000"/>
              <a:gd name="connsiteY3-58" fmla="*/ 5159238 h 5559476"/>
              <a:gd name="connsiteX4-59" fmla="*/ 12192000 w 12192000"/>
              <a:gd name="connsiteY4-60" fmla="*/ 5559476 h 5559476"/>
              <a:gd name="connsiteX5-61" fmla="*/ 0 w 12192000"/>
              <a:gd name="connsiteY5-62" fmla="*/ 5559476 h 5559476"/>
              <a:gd name="connsiteX6-63" fmla="*/ 0 w 12192000"/>
              <a:gd name="connsiteY6-64" fmla="*/ 5159238 h 5559476"/>
              <a:gd name="connsiteX7-65" fmla="*/ 0 w 12192000"/>
              <a:gd name="connsiteY7-66" fmla="*/ 4666847 h 5559476"/>
              <a:gd name="connsiteX8-67" fmla="*/ 0 w 12192000"/>
              <a:gd name="connsiteY8-68" fmla="*/ 2751816 h 5559476"/>
              <a:gd name="connsiteX9-69" fmla="*/ 8170 w 12192000"/>
              <a:gd name="connsiteY9-70" fmla="*/ 2755499 h 5559476"/>
              <a:gd name="connsiteX10-71" fmla="*/ 5281664 w 12192000"/>
              <a:gd name="connsiteY10-72" fmla="*/ 2644639 h 5559476"/>
              <a:gd name="connsiteX11-73" fmla="*/ 10277317 w 12192000"/>
              <a:gd name="connsiteY11-74" fmla="*/ 72889 h 5559476"/>
              <a:gd name="connsiteX0-75" fmla="*/ 10277317 w 12192000"/>
              <a:gd name="connsiteY0-76" fmla="*/ 6856 h 5493443"/>
              <a:gd name="connsiteX1-77" fmla="*/ 12192000 w 12192000"/>
              <a:gd name="connsiteY1-78" fmla="*/ 481995 h 5493443"/>
              <a:gd name="connsiteX2-79" fmla="*/ 12192000 w 12192000"/>
              <a:gd name="connsiteY2-80" fmla="*/ 4600814 h 5493443"/>
              <a:gd name="connsiteX3-81" fmla="*/ 12192000 w 12192000"/>
              <a:gd name="connsiteY3-82" fmla="*/ 5093205 h 5493443"/>
              <a:gd name="connsiteX4-83" fmla="*/ 12192000 w 12192000"/>
              <a:gd name="connsiteY4-84" fmla="*/ 5493443 h 5493443"/>
              <a:gd name="connsiteX5-85" fmla="*/ 0 w 12192000"/>
              <a:gd name="connsiteY5-86" fmla="*/ 5493443 h 5493443"/>
              <a:gd name="connsiteX6-87" fmla="*/ 0 w 12192000"/>
              <a:gd name="connsiteY6-88" fmla="*/ 5093205 h 5493443"/>
              <a:gd name="connsiteX7-89" fmla="*/ 0 w 12192000"/>
              <a:gd name="connsiteY7-90" fmla="*/ 4600814 h 5493443"/>
              <a:gd name="connsiteX8-91" fmla="*/ 0 w 12192000"/>
              <a:gd name="connsiteY8-92" fmla="*/ 2685783 h 5493443"/>
              <a:gd name="connsiteX9-93" fmla="*/ 8170 w 12192000"/>
              <a:gd name="connsiteY9-94" fmla="*/ 2689466 h 5493443"/>
              <a:gd name="connsiteX10-95" fmla="*/ 5281664 w 12192000"/>
              <a:gd name="connsiteY10-96" fmla="*/ 2578606 h 5493443"/>
              <a:gd name="connsiteX11-97" fmla="*/ 10277317 w 12192000"/>
              <a:gd name="connsiteY11-98" fmla="*/ 6856 h 54934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12192000" h="5493443">
                <a:moveTo>
                  <a:pt x="10277317" y="6856"/>
                </a:moveTo>
                <a:cubicBezTo>
                  <a:pt x="10804926" y="-37779"/>
                  <a:pt x="11713229" y="137250"/>
                  <a:pt x="12192000" y="481995"/>
                </a:cubicBezTo>
                <a:lnTo>
                  <a:pt x="12192000" y="4600814"/>
                </a:lnTo>
                <a:lnTo>
                  <a:pt x="12192000" y="5093205"/>
                </a:lnTo>
                <a:lnTo>
                  <a:pt x="12192000" y="5493443"/>
                </a:lnTo>
                <a:lnTo>
                  <a:pt x="0" y="5493443"/>
                </a:lnTo>
                <a:lnTo>
                  <a:pt x="0" y="5093205"/>
                </a:lnTo>
                <a:lnTo>
                  <a:pt x="0" y="4600814"/>
                </a:lnTo>
                <a:lnTo>
                  <a:pt x="0" y="2685783"/>
                </a:lnTo>
                <a:lnTo>
                  <a:pt x="8170" y="2689466"/>
                </a:lnTo>
                <a:cubicBezTo>
                  <a:pt x="521356" y="2935109"/>
                  <a:pt x="2391921" y="4180467"/>
                  <a:pt x="5281664" y="2578606"/>
                </a:cubicBezTo>
                <a:cubicBezTo>
                  <a:pt x="6711290" y="1659217"/>
                  <a:pt x="9060183" y="51306"/>
                  <a:pt x="10277317" y="6856"/>
                </a:cubicBezTo>
                <a:close/>
              </a:path>
            </a:pathLst>
          </a:cu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pic>
        <p:nvPicPr>
          <p:cNvPr id="16390" name="图片 4"/>
          <p:cNvPicPr>
            <a:picLocks noChangeAspect="1" noChangeArrowheads="1"/>
          </p:cNvPicPr>
          <p:nvPr/>
        </p:nvPicPr>
        <p:blipFill>
          <a:blip r:embed="rId4">
            <a:grayscl/>
            <a:lum bright="6000"/>
            <a:extLst>
              <a:ext uri="{28A0092B-C50C-407E-A947-70E740481C1C}">
                <a14:useLocalDpi xmlns:a14="http://schemas.microsoft.com/office/drawing/2010/main" val="0"/>
              </a:ext>
            </a:extLst>
          </a:blip>
          <a:srcRect l="22122" r="5852"/>
          <a:stretch>
            <a:fillRect/>
          </a:stretch>
        </p:blipFill>
        <p:spPr bwMode="auto">
          <a:xfrm flipH="1">
            <a:off x="-19050" y="149225"/>
            <a:ext cx="5640388" cy="670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图片 5"/>
          <p:cNvPicPr>
            <a:picLocks noChangeAspect="1" noChangeArrowheads="1"/>
          </p:cNvPicPr>
          <p:nvPr/>
        </p:nvPicPr>
        <p:blipFill>
          <a:blip r:embed="rId4">
            <a:grayscl/>
            <a:extLst>
              <a:ext uri="{28A0092B-C50C-407E-A947-70E740481C1C}">
                <a14:useLocalDpi xmlns:a14="http://schemas.microsoft.com/office/drawing/2010/main" val="0"/>
              </a:ext>
            </a:extLst>
          </a:blip>
          <a:srcRect l="3780" t="20253" r="72226" b="62067"/>
          <a:stretch>
            <a:fillRect/>
          </a:stretch>
        </p:blipFill>
        <p:spPr bwMode="auto">
          <a:xfrm flipH="1">
            <a:off x="3149600" y="666750"/>
            <a:ext cx="1878013"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2" name="图片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0597" y="5776912"/>
            <a:ext cx="2807003"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6"/>
          <p:cNvSpPr>
            <a:spLocks noGrp="1" noChangeArrowheads="1"/>
          </p:cNvSpPr>
          <p:nvPr>
            <p:ph type="ctrTitle"/>
          </p:nvPr>
        </p:nvSpPr>
        <p:spPr>
          <a:xfrm>
            <a:off x="5125635" y="1827213"/>
            <a:ext cx="6458755" cy="1244600"/>
          </a:xfrm>
        </p:spPr>
        <p:txBody>
          <a:bodyPr/>
          <a:lstStyle/>
          <a:p>
            <a:pPr algn="dist" eaLnBrk="1" hangingPunct="1"/>
            <a:r>
              <a:rPr lang="en-US" altLang="zh-CN" sz="4400" b="1" dirty="0">
                <a:solidFill>
                  <a:srgbClr val="00A6B2"/>
                </a:solidFill>
                <a:latin typeface="Microsoft YaHei" panose="020B0503020204020204" pitchFamily="34" charset="-122"/>
                <a:ea typeface="Microsoft YaHei" panose="020B0503020204020204" pitchFamily="34" charset="-122"/>
              </a:rPr>
              <a:t>ZX***</a:t>
            </a:r>
            <a:r>
              <a:rPr lang="zh-CN" altLang="en-US" sz="4400" b="1" dirty="0">
                <a:solidFill>
                  <a:srgbClr val="00A6B2"/>
                </a:solidFill>
                <a:latin typeface="Microsoft YaHei" panose="020B0503020204020204" pitchFamily="34" charset="-122"/>
                <a:ea typeface="Microsoft YaHei" panose="020B0503020204020204" pitchFamily="34" charset="-122"/>
              </a:rPr>
              <a:t>学院项目商业计划书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723899" y="851535"/>
            <a:ext cx="10748964" cy="2485070"/>
          </a:xfrm>
          <a:prstGeom prst="rect">
            <a:avLst/>
          </a:prstGeom>
          <a:blipFill>
            <a:blip r:embed="rId19"/>
            <a:srcRect/>
            <a:stretch>
              <a:fillRect l="8" t="-90138" r="-8" b="-89682"/>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rgbClr val="4276AA">
              <a:shade val="50000"/>
            </a:srgbClr>
          </a:lnRef>
          <a:fillRef idx="1">
            <a:srgbClr val="4276AA"/>
          </a:fillRef>
          <a:effectRef idx="0">
            <a:srgbClr val="4276AA"/>
          </a:effectRef>
          <a:fontRef idx="minor">
            <a:srgbClr val="FFFFFF"/>
          </a:fontRef>
        </p:style>
        <p:txBody>
          <a:bodyPr anchor="ctr"/>
          <a:lstStyle/>
          <a:p>
            <a:pPr algn="ctr" eaLnBrk="1" fontAlgn="auto" hangingPunct="1">
              <a:defRPr/>
            </a:pPr>
            <a:endParaRPr noProof="1"/>
          </a:p>
        </p:txBody>
      </p:sp>
      <p:sp>
        <p:nvSpPr>
          <p:cNvPr id="16" name="椭圆 15"/>
          <p:cNvSpPr>
            <a:spLocks noChangeAspect="1"/>
          </p:cNvSpPr>
          <p:nvPr>
            <p:custDataLst>
              <p:tags r:id="rId3"/>
            </p:custDataLst>
          </p:nvPr>
        </p:nvSpPr>
        <p:spPr>
          <a:xfrm>
            <a:off x="6483937" y="3910386"/>
            <a:ext cx="396000" cy="396000"/>
          </a:xfrm>
          <a:prstGeom prst="ellipse">
            <a:avLst/>
          </a:prstGeom>
          <a:solidFill>
            <a:srgbClr val="00A6B2"/>
          </a:solidFill>
          <a:ln>
            <a:noFill/>
          </a:ln>
        </p:spPr>
        <p:style>
          <a:lnRef idx="2">
            <a:srgbClr val="4276AA">
              <a:shade val="50000"/>
            </a:srgbClr>
          </a:lnRef>
          <a:fillRef idx="1">
            <a:srgbClr val="4276AA"/>
          </a:fillRef>
          <a:effectRef idx="0">
            <a:srgbClr val="4276AA"/>
          </a:effectRef>
          <a:fontRef idx="minor">
            <a:srgbClr val="FFFFFF"/>
          </a:fontRef>
        </p:style>
        <p:txBody>
          <a:bodyPr wrap="none" lIns="0" tIns="0" rIns="0" bIns="0" anchor="ctr">
            <a:normAutofit/>
          </a:bodyPr>
          <a:lstStyle/>
          <a:p>
            <a:pPr algn="ctr" eaLnBrk="1" fontAlgn="auto" hangingPunct="1">
              <a:defRPr/>
            </a:pPr>
            <a:r>
              <a:rPr lang="en-US" altLang="zh-CN" noProof="1"/>
              <a:t>02</a:t>
            </a:r>
          </a:p>
        </p:txBody>
      </p:sp>
      <p:sp>
        <p:nvSpPr>
          <p:cNvPr id="17415" name="文本框 16"/>
          <p:cNvSpPr txBox="1">
            <a:spLocks noChangeArrowheads="1"/>
          </p:cNvSpPr>
          <p:nvPr>
            <p:custDataLst>
              <p:tags r:id="rId4"/>
            </p:custDataLst>
          </p:nvPr>
        </p:nvSpPr>
        <p:spPr bwMode="auto">
          <a:xfrm>
            <a:off x="6815724" y="3992842"/>
            <a:ext cx="103187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4000" tIns="0" rIns="0" bIns="0"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dirty="0">
                <a:solidFill>
                  <a:srgbClr val="586371"/>
                </a:solidFill>
                <a:latin typeface="微软雅黑" panose="020B0503020204020204" charset="-122"/>
                <a:ea typeface="微软雅黑" panose="020B0503020204020204" charset="-122"/>
              </a:rPr>
              <a:t>商业模式</a:t>
            </a:r>
          </a:p>
        </p:txBody>
      </p:sp>
      <p:sp>
        <p:nvSpPr>
          <p:cNvPr id="12" name="椭圆 11"/>
          <p:cNvSpPr>
            <a:spLocks noChangeAspect="1"/>
          </p:cNvSpPr>
          <p:nvPr>
            <p:custDataLst>
              <p:tags r:id="rId5"/>
            </p:custDataLst>
          </p:nvPr>
        </p:nvSpPr>
        <p:spPr>
          <a:xfrm>
            <a:off x="4384674" y="3911972"/>
            <a:ext cx="396000" cy="396000"/>
          </a:xfrm>
          <a:prstGeom prst="ellipse">
            <a:avLst/>
          </a:prstGeom>
          <a:solidFill>
            <a:srgbClr val="00A6B2"/>
          </a:solidFill>
          <a:ln>
            <a:noFill/>
          </a:ln>
        </p:spPr>
        <p:style>
          <a:lnRef idx="2">
            <a:srgbClr val="4276AA">
              <a:shade val="50000"/>
            </a:srgbClr>
          </a:lnRef>
          <a:fillRef idx="1">
            <a:srgbClr val="4276AA"/>
          </a:fillRef>
          <a:effectRef idx="0">
            <a:srgbClr val="4276AA"/>
          </a:effectRef>
          <a:fontRef idx="minor">
            <a:srgbClr val="FFFFFF"/>
          </a:fontRef>
        </p:style>
        <p:txBody>
          <a:bodyPr wrap="none" lIns="0" tIns="0" rIns="0" bIns="0" anchor="ctr">
            <a:normAutofit/>
          </a:bodyPr>
          <a:lstStyle/>
          <a:p>
            <a:pPr algn="ctr" eaLnBrk="1" fontAlgn="auto" hangingPunct="1">
              <a:defRPr/>
            </a:pPr>
            <a:r>
              <a:rPr lang="en-US" altLang="zh-CN" noProof="1"/>
              <a:t>01</a:t>
            </a:r>
          </a:p>
        </p:txBody>
      </p:sp>
      <p:sp>
        <p:nvSpPr>
          <p:cNvPr id="17419" name="文本框 12"/>
          <p:cNvSpPr txBox="1">
            <a:spLocks noChangeArrowheads="1"/>
          </p:cNvSpPr>
          <p:nvPr>
            <p:custDataLst>
              <p:tags r:id="rId6"/>
            </p:custDataLst>
          </p:nvPr>
        </p:nvSpPr>
        <p:spPr bwMode="auto">
          <a:xfrm>
            <a:off x="4718050" y="3994430"/>
            <a:ext cx="107315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4000" tIns="0" rIns="0" bIns="0"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dirty="0">
                <a:solidFill>
                  <a:srgbClr val="586371"/>
                </a:solidFill>
                <a:latin typeface="微软雅黑" panose="020B0503020204020204" charset="-122"/>
                <a:ea typeface="微软雅黑" panose="020B0503020204020204" charset="-122"/>
              </a:rPr>
              <a:t>业务介绍</a:t>
            </a:r>
          </a:p>
        </p:txBody>
      </p:sp>
      <p:sp>
        <p:nvSpPr>
          <p:cNvPr id="17420" name="矩形 7"/>
          <p:cNvSpPr>
            <a:spLocks noChangeArrowheads="1"/>
          </p:cNvSpPr>
          <p:nvPr>
            <p:custDataLst>
              <p:tags r:id="rId7"/>
            </p:custDataLst>
          </p:nvPr>
        </p:nvSpPr>
        <p:spPr bwMode="auto">
          <a:xfrm>
            <a:off x="1882775" y="2487613"/>
            <a:ext cx="1873250" cy="1871662"/>
          </a:xfrm>
          <a:prstGeom prst="rect">
            <a:avLst/>
          </a:prstGeom>
          <a:solidFill>
            <a:srgbClr val="FFFFFF"/>
          </a:solidFill>
          <a:ln w="57150">
            <a:solidFill>
              <a:srgbClr val="778495">
                <a:alpha val="18823"/>
              </a:srgbClr>
            </a:solidFill>
            <a:miter lim="800000"/>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7421" name="文本框 9"/>
          <p:cNvSpPr txBox="1">
            <a:spLocks noChangeArrowheads="1"/>
          </p:cNvSpPr>
          <p:nvPr>
            <p:custDataLst>
              <p:tags r:id="rId8"/>
            </p:custDataLst>
          </p:nvPr>
        </p:nvSpPr>
        <p:spPr bwMode="auto">
          <a:xfrm>
            <a:off x="2255838" y="3116263"/>
            <a:ext cx="11271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dist" eaLnBrk="1" hangingPunct="1">
              <a:lnSpc>
                <a:spcPct val="100000"/>
              </a:lnSpc>
              <a:spcBef>
                <a:spcPct val="0"/>
              </a:spcBef>
              <a:buFontTx/>
              <a:buNone/>
            </a:pPr>
            <a:r>
              <a:rPr lang="zh-CN" altLang="en-US" sz="3600" b="1" dirty="0">
                <a:solidFill>
                  <a:srgbClr val="586371"/>
                </a:solidFill>
                <a:latin typeface="Arial" panose="020B0604020202020204" pitchFamily="34" charset="0"/>
                <a:ea typeface="微软雅黑" panose="020B0503020204020204" charset="-122"/>
              </a:rPr>
              <a:t>目录</a:t>
            </a:r>
          </a:p>
        </p:txBody>
      </p:sp>
      <p:sp>
        <p:nvSpPr>
          <p:cNvPr id="11" name="文本框 10"/>
          <p:cNvSpPr txBox="1"/>
          <p:nvPr>
            <p:custDataLst>
              <p:tags r:id="rId9"/>
            </p:custDataLst>
          </p:nvPr>
        </p:nvSpPr>
        <p:spPr>
          <a:xfrm>
            <a:off x="2306092" y="3800012"/>
            <a:ext cx="1071562" cy="101598"/>
          </a:xfrm>
          <a:prstGeom prst="rect">
            <a:avLst/>
          </a:prstGeom>
          <a:noFill/>
        </p:spPr>
        <p:txBody>
          <a:bodyPr lIns="0" tIns="0" rIns="0" bIns="0">
            <a:prstTxWarp prst="textPlain">
              <a:avLst/>
            </a:prstTxWarp>
            <a:normAutofit/>
          </a:bodyPr>
          <a:lstStyle/>
          <a:p>
            <a:pPr algn="ctr" eaLnBrk="1" fontAlgn="auto" hangingPunct="1">
              <a:defRPr/>
            </a:pPr>
            <a:r>
              <a:rPr lang="en-US" altLang="zh-CN" sz="500" spc="300" noProof="1">
                <a:solidFill>
                  <a:srgbClr val="778495">
                    <a:lumMod val="75000"/>
                  </a:srgbClr>
                </a:solidFill>
                <a:latin typeface="+mn-lt"/>
                <a:ea typeface="+mn-ea"/>
              </a:rPr>
              <a:t>CONTENTS</a:t>
            </a:r>
            <a:endParaRPr lang="en-US" altLang="zh-CN" sz="500" spc="300" noProof="1">
              <a:solidFill>
                <a:srgbClr val="778495">
                  <a:lumMod val="75000"/>
                </a:srgbClr>
              </a:solidFill>
            </a:endParaRPr>
          </a:p>
        </p:txBody>
      </p:sp>
      <p:sp>
        <p:nvSpPr>
          <p:cNvPr id="5" name="椭圆 4"/>
          <p:cNvSpPr>
            <a:spLocks noChangeAspect="1"/>
          </p:cNvSpPr>
          <p:nvPr>
            <p:custDataLst>
              <p:tags r:id="rId10"/>
            </p:custDataLst>
          </p:nvPr>
        </p:nvSpPr>
        <p:spPr>
          <a:xfrm>
            <a:off x="8633690" y="3910386"/>
            <a:ext cx="396000" cy="396000"/>
          </a:xfrm>
          <a:prstGeom prst="ellipse">
            <a:avLst/>
          </a:prstGeom>
          <a:solidFill>
            <a:srgbClr val="00A6B2"/>
          </a:solidFill>
          <a:ln>
            <a:noFill/>
          </a:ln>
        </p:spPr>
        <p:style>
          <a:lnRef idx="2">
            <a:srgbClr val="4276AA">
              <a:shade val="50000"/>
            </a:srgbClr>
          </a:lnRef>
          <a:fillRef idx="1">
            <a:srgbClr val="4276AA"/>
          </a:fillRef>
          <a:effectRef idx="0">
            <a:srgbClr val="4276AA"/>
          </a:effectRef>
          <a:fontRef idx="minor">
            <a:srgbClr val="FFFFFF"/>
          </a:fontRef>
        </p:style>
        <p:txBody>
          <a:bodyPr wrap="none" lIns="0" tIns="0" rIns="0" bIns="0" anchor="ctr">
            <a:normAutofit/>
          </a:bodyPr>
          <a:lstStyle/>
          <a:p>
            <a:pPr algn="ctr" eaLnBrk="1" fontAlgn="auto" hangingPunct="1">
              <a:defRPr/>
            </a:pPr>
            <a:r>
              <a:rPr lang="en-US" altLang="zh-CN" noProof="1"/>
              <a:t>03</a:t>
            </a:r>
          </a:p>
        </p:txBody>
      </p:sp>
      <p:sp>
        <p:nvSpPr>
          <p:cNvPr id="6" name="文本框 5"/>
          <p:cNvSpPr txBox="1"/>
          <p:nvPr>
            <p:custDataLst>
              <p:tags r:id="rId11"/>
            </p:custDataLst>
          </p:nvPr>
        </p:nvSpPr>
        <p:spPr>
          <a:xfrm>
            <a:off x="8967065" y="3992842"/>
            <a:ext cx="1030287" cy="242888"/>
          </a:xfrm>
          <a:prstGeom prst="rect">
            <a:avLst/>
          </a:prstGeom>
          <a:noFill/>
        </p:spPr>
        <p:txBody>
          <a:bodyPr wrap="none" lIns="144000" tIns="0" rIns="0" bIns="0" anchor="b">
            <a:noAutofit/>
          </a:bodyPr>
          <a:lstStyle/>
          <a:p>
            <a:pPr eaLnBrk="1" fontAlgn="auto" hangingPunct="1">
              <a:defRPr/>
            </a:pPr>
            <a:r>
              <a:rPr lang="zh-CN" altLang="en-US" b="1" noProof="1">
                <a:solidFill>
                  <a:srgbClr val="586371"/>
                </a:solidFill>
                <a:latin typeface="微软雅黑" panose="020B0503020204020204" charset="-122"/>
                <a:ea typeface="微软雅黑" panose="020B0503020204020204" charset="-122"/>
              </a:rPr>
              <a:t>市场分析</a:t>
            </a:r>
          </a:p>
        </p:txBody>
      </p:sp>
      <p:sp>
        <p:nvSpPr>
          <p:cNvPr id="15" name="椭圆 14"/>
          <p:cNvSpPr>
            <a:spLocks noChangeAspect="1"/>
          </p:cNvSpPr>
          <p:nvPr>
            <p:custDataLst>
              <p:tags r:id="rId12"/>
            </p:custDataLst>
          </p:nvPr>
        </p:nvSpPr>
        <p:spPr>
          <a:xfrm>
            <a:off x="4386263" y="4811827"/>
            <a:ext cx="396000" cy="396000"/>
          </a:xfrm>
          <a:prstGeom prst="ellipse">
            <a:avLst/>
          </a:prstGeom>
          <a:solidFill>
            <a:srgbClr val="00A6B2"/>
          </a:solidFill>
          <a:ln>
            <a:noFill/>
          </a:ln>
        </p:spPr>
        <p:style>
          <a:lnRef idx="2">
            <a:srgbClr val="4276AA">
              <a:shade val="50000"/>
            </a:srgbClr>
          </a:lnRef>
          <a:fillRef idx="1">
            <a:srgbClr val="4276AA"/>
          </a:fillRef>
          <a:effectRef idx="0">
            <a:srgbClr val="4276AA"/>
          </a:effectRef>
          <a:fontRef idx="minor">
            <a:srgbClr val="FFFFFF"/>
          </a:fontRef>
        </p:style>
        <p:txBody>
          <a:bodyPr wrap="none" lIns="0" tIns="0" rIns="0" bIns="0" anchor="ctr">
            <a:normAutofit/>
          </a:bodyPr>
          <a:lstStyle/>
          <a:p>
            <a:pPr algn="ctr" eaLnBrk="1" fontAlgn="auto" hangingPunct="1">
              <a:defRPr/>
            </a:pPr>
            <a:r>
              <a:rPr lang="en-US" altLang="zh-CN" noProof="1"/>
              <a:t>04</a:t>
            </a:r>
          </a:p>
        </p:txBody>
      </p:sp>
      <p:sp>
        <p:nvSpPr>
          <p:cNvPr id="17" name="文本框 16"/>
          <p:cNvSpPr txBox="1">
            <a:spLocks noChangeArrowheads="1"/>
          </p:cNvSpPr>
          <p:nvPr>
            <p:custDataLst>
              <p:tags r:id="rId13"/>
            </p:custDataLst>
          </p:nvPr>
        </p:nvSpPr>
        <p:spPr bwMode="auto">
          <a:xfrm>
            <a:off x="4718050" y="4894283"/>
            <a:ext cx="1031875"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4000" tIns="0" rIns="0" bIns="0" anchor="b"/>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dirty="0">
                <a:solidFill>
                  <a:srgbClr val="586371"/>
                </a:solidFill>
                <a:latin typeface="微软雅黑" panose="020B0503020204020204" charset="-122"/>
                <a:ea typeface="微软雅黑" panose="020B0503020204020204" charset="-122"/>
              </a:rPr>
              <a:t>发展计划</a:t>
            </a:r>
          </a:p>
        </p:txBody>
      </p:sp>
      <p:sp>
        <p:nvSpPr>
          <p:cNvPr id="18" name="椭圆 17"/>
          <p:cNvSpPr>
            <a:spLocks noChangeAspect="1"/>
          </p:cNvSpPr>
          <p:nvPr>
            <p:custDataLst>
              <p:tags r:id="rId14"/>
            </p:custDataLst>
          </p:nvPr>
        </p:nvSpPr>
        <p:spPr>
          <a:xfrm>
            <a:off x="6482349" y="4880167"/>
            <a:ext cx="396000" cy="396000"/>
          </a:xfrm>
          <a:prstGeom prst="ellipse">
            <a:avLst/>
          </a:prstGeom>
          <a:solidFill>
            <a:srgbClr val="00A6B2"/>
          </a:solidFill>
          <a:ln>
            <a:noFill/>
          </a:ln>
        </p:spPr>
        <p:style>
          <a:lnRef idx="2">
            <a:srgbClr val="4276AA">
              <a:shade val="50000"/>
            </a:srgbClr>
          </a:lnRef>
          <a:fillRef idx="1">
            <a:srgbClr val="4276AA"/>
          </a:fillRef>
          <a:effectRef idx="0">
            <a:srgbClr val="4276AA"/>
          </a:effectRef>
          <a:fontRef idx="minor">
            <a:srgbClr val="FFFFFF"/>
          </a:fontRef>
        </p:style>
        <p:txBody>
          <a:bodyPr wrap="none" lIns="0" tIns="0" rIns="0" bIns="0" anchor="ctr">
            <a:normAutofit/>
          </a:bodyPr>
          <a:lstStyle/>
          <a:p>
            <a:pPr algn="ctr" eaLnBrk="1" fontAlgn="auto" hangingPunct="1">
              <a:defRPr/>
            </a:pPr>
            <a:r>
              <a:rPr lang="en-US" altLang="zh-CN" noProof="1"/>
              <a:t>05</a:t>
            </a:r>
          </a:p>
        </p:txBody>
      </p:sp>
      <p:sp>
        <p:nvSpPr>
          <p:cNvPr id="19" name="文本框 18"/>
          <p:cNvSpPr txBox="1"/>
          <p:nvPr>
            <p:custDataLst>
              <p:tags r:id="rId15"/>
            </p:custDataLst>
          </p:nvPr>
        </p:nvSpPr>
        <p:spPr>
          <a:xfrm>
            <a:off x="6815724" y="4962623"/>
            <a:ext cx="1030287" cy="242888"/>
          </a:xfrm>
          <a:prstGeom prst="rect">
            <a:avLst/>
          </a:prstGeom>
          <a:noFill/>
        </p:spPr>
        <p:txBody>
          <a:bodyPr wrap="none" lIns="144000" tIns="0" rIns="0" bIns="0" anchor="b">
            <a:noAutofit/>
          </a:bodyPr>
          <a:lstStyle/>
          <a:p>
            <a:pPr eaLnBrk="1" fontAlgn="auto" hangingPunct="1">
              <a:defRPr/>
            </a:pPr>
            <a:r>
              <a:rPr lang="zh-CN" altLang="en-US" b="1" noProof="1">
                <a:solidFill>
                  <a:srgbClr val="586371"/>
                </a:solidFill>
                <a:latin typeface="微软雅黑" panose="020B0503020204020204" charset="-122"/>
                <a:ea typeface="微软雅黑" panose="020B0503020204020204" charset="-122"/>
              </a:rPr>
              <a:t>团队保障</a:t>
            </a:r>
          </a:p>
        </p:txBody>
      </p:sp>
      <p:sp>
        <p:nvSpPr>
          <p:cNvPr id="20" name="椭圆 19"/>
          <p:cNvSpPr>
            <a:spLocks noChangeAspect="1"/>
          </p:cNvSpPr>
          <p:nvPr>
            <p:custDataLst>
              <p:tags r:id="rId16"/>
            </p:custDataLst>
          </p:nvPr>
        </p:nvSpPr>
        <p:spPr>
          <a:xfrm>
            <a:off x="8696315" y="4880167"/>
            <a:ext cx="396000" cy="396000"/>
          </a:xfrm>
          <a:prstGeom prst="ellipse">
            <a:avLst/>
          </a:prstGeom>
          <a:solidFill>
            <a:srgbClr val="00A6B2"/>
          </a:solidFill>
          <a:ln>
            <a:noFill/>
          </a:ln>
        </p:spPr>
        <p:style>
          <a:lnRef idx="2">
            <a:srgbClr val="4276AA">
              <a:shade val="50000"/>
            </a:srgbClr>
          </a:lnRef>
          <a:fillRef idx="1">
            <a:srgbClr val="4276AA"/>
          </a:fillRef>
          <a:effectRef idx="0">
            <a:srgbClr val="4276AA"/>
          </a:effectRef>
          <a:fontRef idx="minor">
            <a:srgbClr val="FFFFFF"/>
          </a:fontRef>
        </p:style>
        <p:txBody>
          <a:bodyPr wrap="none" lIns="0" tIns="0" rIns="0" bIns="0" anchor="ctr">
            <a:normAutofit/>
          </a:bodyPr>
          <a:lstStyle/>
          <a:p>
            <a:pPr algn="ctr" eaLnBrk="1" fontAlgn="auto" hangingPunct="1">
              <a:defRPr/>
            </a:pPr>
            <a:r>
              <a:rPr lang="en-US" altLang="zh-CN" noProof="1"/>
              <a:t>06</a:t>
            </a:r>
          </a:p>
        </p:txBody>
      </p:sp>
      <p:sp>
        <p:nvSpPr>
          <p:cNvPr id="21" name="文本框 20"/>
          <p:cNvSpPr txBox="1"/>
          <p:nvPr>
            <p:custDataLst>
              <p:tags r:id="rId17"/>
            </p:custDataLst>
          </p:nvPr>
        </p:nvSpPr>
        <p:spPr>
          <a:xfrm>
            <a:off x="9029690" y="4962623"/>
            <a:ext cx="1030287" cy="242888"/>
          </a:xfrm>
          <a:prstGeom prst="rect">
            <a:avLst/>
          </a:prstGeom>
          <a:noFill/>
        </p:spPr>
        <p:txBody>
          <a:bodyPr wrap="none" lIns="144000" tIns="0" rIns="0" bIns="0" anchor="b">
            <a:noAutofit/>
          </a:bodyPr>
          <a:lstStyle/>
          <a:p>
            <a:pPr eaLnBrk="1" fontAlgn="auto" hangingPunct="1">
              <a:defRPr/>
            </a:pPr>
            <a:r>
              <a:rPr lang="zh-CN" altLang="en-US" b="1" noProof="1">
                <a:solidFill>
                  <a:srgbClr val="586371"/>
                </a:solidFill>
                <a:latin typeface="微软雅黑" panose="020B0503020204020204" charset="-122"/>
                <a:ea typeface="微软雅黑" panose="020B0503020204020204" charset="-122"/>
              </a:rPr>
              <a:t>风险控制</a:t>
            </a:r>
          </a:p>
        </p:txBody>
      </p:sp>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831215" y="740410"/>
            <a:ext cx="4705350" cy="5159375"/>
          </a:xfrm>
          <a:prstGeom prst="rect">
            <a:avLst/>
          </a:prstGeom>
          <a:blipFill>
            <a:blip r:embed="rId6"/>
            <a:srcRect/>
            <a:stretch>
              <a:fillRect l="8" t="-90138" r="-8" b="-89682"/>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rgbClr val="4276AA">
              <a:shade val="50000"/>
            </a:srgbClr>
          </a:lnRef>
          <a:fillRef idx="1">
            <a:srgbClr val="4276AA"/>
          </a:fillRef>
          <a:effectRef idx="0">
            <a:srgbClr val="4276AA"/>
          </a:effectRef>
          <a:fontRef idx="minor">
            <a:srgbClr val="FFFFFF"/>
          </a:fontRef>
        </p:style>
        <p:txBody>
          <a:bodyPr anchor="ctr"/>
          <a:lstStyle/>
          <a:p>
            <a:pPr algn="ctr" eaLnBrk="1" fontAlgn="auto" hangingPunct="1">
              <a:defRPr/>
            </a:pPr>
            <a:endParaRPr noProof="1"/>
          </a:p>
        </p:txBody>
      </p:sp>
      <p:sp>
        <p:nvSpPr>
          <p:cNvPr id="17420" name="矩形 7"/>
          <p:cNvSpPr>
            <a:spLocks noChangeArrowheads="1"/>
          </p:cNvSpPr>
          <p:nvPr>
            <p:custDataLst>
              <p:tags r:id="rId3"/>
            </p:custDataLst>
          </p:nvPr>
        </p:nvSpPr>
        <p:spPr bwMode="auto">
          <a:xfrm>
            <a:off x="4671695" y="2384425"/>
            <a:ext cx="5130800" cy="1871345"/>
          </a:xfrm>
          <a:prstGeom prst="rect">
            <a:avLst/>
          </a:prstGeom>
          <a:solidFill>
            <a:srgbClr val="FFFFFF"/>
          </a:solidFill>
          <a:ln w="57150">
            <a:solidFill>
              <a:srgbClr val="778495">
                <a:alpha val="18823"/>
              </a:srgbClr>
            </a:solidFill>
            <a:miter lim="800000"/>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7421" name="文本框 9"/>
          <p:cNvSpPr txBox="1">
            <a:spLocks noChangeArrowheads="1"/>
          </p:cNvSpPr>
          <p:nvPr>
            <p:custDataLst>
              <p:tags r:id="rId4"/>
            </p:custDataLst>
          </p:nvPr>
        </p:nvSpPr>
        <p:spPr bwMode="auto">
          <a:xfrm>
            <a:off x="4963160" y="3012440"/>
            <a:ext cx="454850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3600" b="1" dirty="0">
                <a:solidFill>
                  <a:srgbClr val="586371"/>
                </a:solidFill>
                <a:latin typeface="微软雅黑" panose="020B0503020204020204" charset="-122"/>
                <a:ea typeface="微软雅黑" panose="020B0503020204020204" charset="-122"/>
                <a:sym typeface="+mn-ea"/>
              </a:rPr>
              <a:t>业务介绍</a:t>
            </a:r>
            <a:endParaRPr lang="en-US" altLang="zh-CN" sz="3600" b="1" dirty="0">
              <a:solidFill>
                <a:srgbClr val="586371"/>
              </a:solidFill>
              <a:latin typeface="微软雅黑" panose="020B0503020204020204" charset="-122"/>
              <a:ea typeface="微软雅黑" panose="020B0503020204020204" charset="-122"/>
              <a:sym typeface="+mn-ea"/>
            </a:endParaRPr>
          </a:p>
        </p:txBody>
      </p:sp>
      <p:sp>
        <p:nvSpPr>
          <p:cNvPr id="2" name="文本框 1"/>
          <p:cNvSpPr txBox="1"/>
          <p:nvPr/>
        </p:nvSpPr>
        <p:spPr>
          <a:xfrm>
            <a:off x="6338170" y="3526789"/>
            <a:ext cx="2029216" cy="738664"/>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业务介绍</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核心能力</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办学成果</a:t>
            </a:r>
          </a:p>
        </p:txBody>
      </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288977" y="0"/>
            <a:ext cx="3903023" cy="68580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9459" name="Freeform 215"/>
          <p:cNvSpPr>
            <a:spLocks noEditPoints="1" noChangeArrowheads="1"/>
          </p:cNvSpPr>
          <p:nvPr/>
        </p:nvSpPr>
        <p:spPr bwMode="auto">
          <a:xfrm>
            <a:off x="1312451" y="1722203"/>
            <a:ext cx="358775" cy="369888"/>
          </a:xfrm>
          <a:custGeom>
            <a:avLst/>
            <a:gdLst>
              <a:gd name="T0" fmla="*/ 2147483646 w 700"/>
              <a:gd name="T1" fmla="*/ 0 h 721"/>
              <a:gd name="T2" fmla="*/ 2147483646 w 700"/>
              <a:gd name="T3" fmla="*/ 0 h 721"/>
              <a:gd name="T4" fmla="*/ 0 w 700"/>
              <a:gd name="T5" fmla="*/ 2147483646 h 721"/>
              <a:gd name="T6" fmla="*/ 0 w 700"/>
              <a:gd name="T7" fmla="*/ 2147483646 h 721"/>
              <a:gd name="T8" fmla="*/ 2147483646 w 700"/>
              <a:gd name="T9" fmla="*/ 2147483646 h 721"/>
              <a:gd name="T10" fmla="*/ 2147483646 w 700"/>
              <a:gd name="T11" fmla="*/ 2147483646 h 721"/>
              <a:gd name="T12" fmla="*/ 2147483646 w 700"/>
              <a:gd name="T13" fmla="*/ 2147483646 h 721"/>
              <a:gd name="T14" fmla="*/ 2147483646 w 700"/>
              <a:gd name="T15" fmla="*/ 2147483646 h 721"/>
              <a:gd name="T16" fmla="*/ 2147483646 w 700"/>
              <a:gd name="T17" fmla="*/ 2147483646 h 721"/>
              <a:gd name="T18" fmla="*/ 2147483646 w 700"/>
              <a:gd name="T19" fmla="*/ 2147483646 h 721"/>
              <a:gd name="T20" fmla="*/ 2147483646 w 700"/>
              <a:gd name="T21" fmla="*/ 2147483646 h 721"/>
              <a:gd name="T22" fmla="*/ 2147483646 w 700"/>
              <a:gd name="T23" fmla="*/ 0 h 721"/>
              <a:gd name="T24" fmla="*/ 2147483646 w 700"/>
              <a:gd name="T25" fmla="*/ 2147483646 h 721"/>
              <a:gd name="T26" fmla="*/ 2147483646 w 700"/>
              <a:gd name="T27" fmla="*/ 2147483646 h 721"/>
              <a:gd name="T28" fmla="*/ 2147483646 w 700"/>
              <a:gd name="T29" fmla="*/ 2147483646 h 721"/>
              <a:gd name="T30" fmla="*/ 2147483646 w 700"/>
              <a:gd name="T31" fmla="*/ 2147483646 h 721"/>
              <a:gd name="T32" fmla="*/ 2147483646 w 700"/>
              <a:gd name="T33" fmla="*/ 2147483646 h 721"/>
              <a:gd name="T34" fmla="*/ 2147483646 w 700"/>
              <a:gd name="T35" fmla="*/ 2147483646 h 721"/>
              <a:gd name="T36" fmla="*/ 2147483646 w 700"/>
              <a:gd name="T37" fmla="*/ 2147483646 h 721"/>
              <a:gd name="T38" fmla="*/ 2147483646 w 700"/>
              <a:gd name="T39" fmla="*/ 2147483646 h 721"/>
              <a:gd name="T40" fmla="*/ 2147483646 w 700"/>
              <a:gd name="T41" fmla="*/ 2147483646 h 721"/>
              <a:gd name="T42" fmla="*/ 2147483646 w 700"/>
              <a:gd name="T43" fmla="*/ 2147483646 h 721"/>
              <a:gd name="T44" fmla="*/ 2147483646 w 700"/>
              <a:gd name="T45" fmla="*/ 2147483646 h 721"/>
              <a:gd name="T46" fmla="*/ 2147483646 w 700"/>
              <a:gd name="T47" fmla="*/ 2147483646 h 721"/>
              <a:gd name="T48" fmla="*/ 2147483646 w 700"/>
              <a:gd name="T49" fmla="*/ 2147483646 h 721"/>
              <a:gd name="T50" fmla="*/ 2147483646 w 700"/>
              <a:gd name="T51" fmla="*/ 2147483646 h 721"/>
              <a:gd name="T52" fmla="*/ 2147483646 w 700"/>
              <a:gd name="T53" fmla="*/ 2147483646 h 721"/>
              <a:gd name="T54" fmla="*/ 2147483646 w 700"/>
              <a:gd name="T55" fmla="*/ 2147483646 h 721"/>
              <a:gd name="T56" fmla="*/ 2147483646 w 700"/>
              <a:gd name="T57" fmla="*/ 2147483646 h 721"/>
              <a:gd name="T58" fmla="*/ 2147483646 w 700"/>
              <a:gd name="T59" fmla="*/ 2147483646 h 721"/>
              <a:gd name="T60" fmla="*/ 2147483646 w 700"/>
              <a:gd name="T61" fmla="*/ 2147483646 h 721"/>
              <a:gd name="T62" fmla="*/ 2147483646 w 700"/>
              <a:gd name="T63" fmla="*/ 2147483646 h 721"/>
              <a:gd name="T64" fmla="*/ 2147483646 w 700"/>
              <a:gd name="T65" fmla="*/ 2147483646 h 721"/>
              <a:gd name="T66" fmla="*/ 2147483646 w 700"/>
              <a:gd name="T67" fmla="*/ 2147483646 h 721"/>
              <a:gd name="T68" fmla="*/ 2147483646 w 700"/>
              <a:gd name="T69" fmla="*/ 2147483646 h 721"/>
              <a:gd name="T70" fmla="*/ 2147483646 w 700"/>
              <a:gd name="T71" fmla="*/ 2147483646 h 721"/>
              <a:gd name="T72" fmla="*/ 2147483646 w 700"/>
              <a:gd name="T73" fmla="*/ 2147483646 h 721"/>
              <a:gd name="T74" fmla="*/ 2147483646 w 700"/>
              <a:gd name="T75" fmla="*/ 2147483646 h 721"/>
              <a:gd name="T76" fmla="*/ 2147483646 w 700"/>
              <a:gd name="T77" fmla="*/ 2147483646 h 721"/>
              <a:gd name="T78" fmla="*/ 2147483646 w 700"/>
              <a:gd name="T79" fmla="*/ 2147483646 h 7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700" h="721">
                <a:moveTo>
                  <a:pt x="625" y="0"/>
                </a:moveTo>
                <a:cubicBezTo>
                  <a:pt x="75" y="0"/>
                  <a:pt x="75" y="0"/>
                  <a:pt x="75" y="0"/>
                </a:cubicBezTo>
                <a:cubicBezTo>
                  <a:pt x="34" y="0"/>
                  <a:pt x="0" y="34"/>
                  <a:pt x="0" y="75"/>
                </a:cubicBezTo>
                <a:cubicBezTo>
                  <a:pt x="0" y="550"/>
                  <a:pt x="0" y="550"/>
                  <a:pt x="0" y="550"/>
                </a:cubicBezTo>
                <a:cubicBezTo>
                  <a:pt x="0" y="591"/>
                  <a:pt x="34" y="625"/>
                  <a:pt x="75" y="625"/>
                </a:cubicBezTo>
                <a:cubicBezTo>
                  <a:pt x="123" y="625"/>
                  <a:pt x="123" y="625"/>
                  <a:pt x="123" y="625"/>
                </a:cubicBezTo>
                <a:cubicBezTo>
                  <a:pt x="123" y="721"/>
                  <a:pt x="123" y="721"/>
                  <a:pt x="123" y="721"/>
                </a:cubicBezTo>
                <a:cubicBezTo>
                  <a:pt x="297" y="625"/>
                  <a:pt x="297" y="625"/>
                  <a:pt x="297" y="625"/>
                </a:cubicBezTo>
                <a:cubicBezTo>
                  <a:pt x="625" y="625"/>
                  <a:pt x="625" y="625"/>
                  <a:pt x="625" y="625"/>
                </a:cubicBezTo>
                <a:cubicBezTo>
                  <a:pt x="666" y="625"/>
                  <a:pt x="700" y="591"/>
                  <a:pt x="700" y="550"/>
                </a:cubicBezTo>
                <a:cubicBezTo>
                  <a:pt x="700" y="75"/>
                  <a:pt x="700" y="75"/>
                  <a:pt x="700" y="75"/>
                </a:cubicBezTo>
                <a:cubicBezTo>
                  <a:pt x="700" y="34"/>
                  <a:pt x="666" y="0"/>
                  <a:pt x="625" y="0"/>
                </a:cubicBezTo>
                <a:close/>
                <a:moveTo>
                  <a:pt x="650" y="550"/>
                </a:moveTo>
                <a:cubicBezTo>
                  <a:pt x="650" y="564"/>
                  <a:pt x="639" y="575"/>
                  <a:pt x="625" y="575"/>
                </a:cubicBezTo>
                <a:cubicBezTo>
                  <a:pt x="297" y="575"/>
                  <a:pt x="297" y="575"/>
                  <a:pt x="297" y="575"/>
                </a:cubicBezTo>
                <a:cubicBezTo>
                  <a:pt x="288" y="575"/>
                  <a:pt x="280" y="577"/>
                  <a:pt x="272" y="581"/>
                </a:cubicBezTo>
                <a:cubicBezTo>
                  <a:pt x="173" y="636"/>
                  <a:pt x="173" y="636"/>
                  <a:pt x="173" y="636"/>
                </a:cubicBezTo>
                <a:cubicBezTo>
                  <a:pt x="173" y="625"/>
                  <a:pt x="173" y="625"/>
                  <a:pt x="173" y="625"/>
                </a:cubicBezTo>
                <a:cubicBezTo>
                  <a:pt x="173" y="597"/>
                  <a:pt x="151" y="575"/>
                  <a:pt x="123" y="575"/>
                </a:cubicBezTo>
                <a:cubicBezTo>
                  <a:pt x="75" y="575"/>
                  <a:pt x="75" y="575"/>
                  <a:pt x="75" y="575"/>
                </a:cubicBezTo>
                <a:cubicBezTo>
                  <a:pt x="61" y="575"/>
                  <a:pt x="50" y="564"/>
                  <a:pt x="50" y="550"/>
                </a:cubicBezTo>
                <a:cubicBezTo>
                  <a:pt x="50" y="75"/>
                  <a:pt x="50" y="75"/>
                  <a:pt x="50" y="75"/>
                </a:cubicBezTo>
                <a:cubicBezTo>
                  <a:pt x="50" y="61"/>
                  <a:pt x="61" y="50"/>
                  <a:pt x="75" y="50"/>
                </a:cubicBezTo>
                <a:cubicBezTo>
                  <a:pt x="625" y="50"/>
                  <a:pt x="625" y="50"/>
                  <a:pt x="625" y="50"/>
                </a:cubicBezTo>
                <a:cubicBezTo>
                  <a:pt x="639" y="50"/>
                  <a:pt x="650" y="61"/>
                  <a:pt x="650" y="75"/>
                </a:cubicBezTo>
                <a:lnTo>
                  <a:pt x="650" y="550"/>
                </a:lnTo>
                <a:close/>
                <a:moveTo>
                  <a:pt x="450" y="356"/>
                </a:moveTo>
                <a:cubicBezTo>
                  <a:pt x="150" y="356"/>
                  <a:pt x="150" y="356"/>
                  <a:pt x="150" y="356"/>
                </a:cubicBezTo>
                <a:cubicBezTo>
                  <a:pt x="136" y="356"/>
                  <a:pt x="125" y="367"/>
                  <a:pt x="125" y="381"/>
                </a:cubicBezTo>
                <a:cubicBezTo>
                  <a:pt x="125" y="395"/>
                  <a:pt x="136" y="406"/>
                  <a:pt x="150" y="406"/>
                </a:cubicBezTo>
                <a:cubicBezTo>
                  <a:pt x="450" y="406"/>
                  <a:pt x="450" y="406"/>
                  <a:pt x="450" y="406"/>
                </a:cubicBezTo>
                <a:cubicBezTo>
                  <a:pt x="464" y="406"/>
                  <a:pt x="475" y="395"/>
                  <a:pt x="475" y="381"/>
                </a:cubicBezTo>
                <a:cubicBezTo>
                  <a:pt x="475" y="367"/>
                  <a:pt x="464" y="356"/>
                  <a:pt x="450" y="356"/>
                </a:cubicBezTo>
                <a:close/>
                <a:moveTo>
                  <a:pt x="550" y="181"/>
                </a:moveTo>
                <a:cubicBezTo>
                  <a:pt x="150" y="181"/>
                  <a:pt x="150" y="181"/>
                  <a:pt x="150" y="181"/>
                </a:cubicBezTo>
                <a:cubicBezTo>
                  <a:pt x="136" y="181"/>
                  <a:pt x="125" y="192"/>
                  <a:pt x="125" y="206"/>
                </a:cubicBezTo>
                <a:cubicBezTo>
                  <a:pt x="125" y="220"/>
                  <a:pt x="136" y="231"/>
                  <a:pt x="150" y="231"/>
                </a:cubicBezTo>
                <a:cubicBezTo>
                  <a:pt x="550" y="231"/>
                  <a:pt x="550" y="231"/>
                  <a:pt x="550" y="231"/>
                </a:cubicBezTo>
                <a:cubicBezTo>
                  <a:pt x="564" y="231"/>
                  <a:pt x="575" y="220"/>
                  <a:pt x="575" y="206"/>
                </a:cubicBezTo>
                <a:cubicBezTo>
                  <a:pt x="575" y="192"/>
                  <a:pt x="564" y="181"/>
                  <a:pt x="550" y="181"/>
                </a:cubicBezTo>
                <a:close/>
              </a:path>
            </a:pathLst>
          </a:custGeom>
          <a:solidFill>
            <a:srgbClr val="00A6B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2" name="矩形 11"/>
          <p:cNvSpPr/>
          <p:nvPr/>
        </p:nvSpPr>
        <p:spPr>
          <a:xfrm>
            <a:off x="-3175" y="288925"/>
            <a:ext cx="74613" cy="598488"/>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9466" name="矩形 17"/>
          <p:cNvSpPr>
            <a:spLocks noChangeArrowheads="1"/>
          </p:cNvSpPr>
          <p:nvPr/>
        </p:nvSpPr>
        <p:spPr bwMode="auto">
          <a:xfrm>
            <a:off x="239713" y="342900"/>
            <a:ext cx="22240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1.1</a:t>
            </a:r>
            <a:r>
              <a:rPr lang="zh-CN" altLang="en-US" sz="2600" b="1" dirty="0">
                <a:solidFill>
                  <a:srgbClr val="586371"/>
                </a:solidFill>
                <a:latin typeface="微软雅黑" panose="020B0503020204020204" charset="-122"/>
                <a:ea typeface="微软雅黑" panose="020B0503020204020204" charset="-122"/>
              </a:rPr>
              <a:t>业务介绍</a:t>
            </a:r>
          </a:p>
        </p:txBody>
      </p:sp>
      <p:sp>
        <p:nvSpPr>
          <p:cNvPr id="14" name="矩形 16"/>
          <p:cNvSpPr>
            <a:spLocks noChangeArrowheads="1"/>
          </p:cNvSpPr>
          <p:nvPr/>
        </p:nvSpPr>
        <p:spPr bwMode="auto">
          <a:xfrm>
            <a:off x="2138301" y="1600300"/>
            <a:ext cx="5216525"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FontTx/>
              <a:buNone/>
            </a:pPr>
            <a:r>
              <a:rPr lang="zh-CN" altLang="en-US" sz="1200" b="1" dirty="0">
                <a:solidFill>
                  <a:srgbClr val="586371"/>
                </a:solidFill>
                <a:latin typeface="微软雅黑" panose="020B0503020204020204" charset="-122"/>
                <a:ea typeface="微软雅黑" panose="020B0503020204020204" charset="-122"/>
              </a:rPr>
              <a:t>主要业务：为应用型本科及高职院校提供</a:t>
            </a:r>
            <a:r>
              <a:rPr lang="zh-CN" altLang="en-US" sz="1200" b="1" dirty="0">
                <a:solidFill>
                  <a:srgbClr val="00A6B2"/>
                </a:solidFill>
                <a:latin typeface="微软雅黑" panose="020B0503020204020204" charset="-122"/>
                <a:ea typeface="微软雅黑" panose="020B0503020204020204" charset="-122"/>
              </a:rPr>
              <a:t>学历教育运营服务</a:t>
            </a:r>
            <a:r>
              <a:rPr lang="zh-CN" altLang="en-US" sz="1200" b="1" dirty="0">
                <a:solidFill>
                  <a:srgbClr val="586371"/>
                </a:solidFill>
                <a:latin typeface="微软雅黑" panose="020B0503020204020204" charset="-122"/>
                <a:ea typeface="微软雅黑" panose="020B0503020204020204" charset="-122"/>
              </a:rPr>
              <a:t>及相关</a:t>
            </a:r>
            <a:r>
              <a:rPr lang="zh-CN" altLang="en-US" sz="1200" b="1" dirty="0">
                <a:solidFill>
                  <a:srgbClr val="00A6B2"/>
                </a:solidFill>
                <a:latin typeface="微软雅黑" panose="020B0503020204020204" charset="-122"/>
                <a:ea typeface="微软雅黑" panose="020B0503020204020204" charset="-122"/>
              </a:rPr>
              <a:t>教育装备产品</a:t>
            </a:r>
            <a:r>
              <a:rPr lang="zh-CN" altLang="en-US" sz="1200" b="1" dirty="0">
                <a:solidFill>
                  <a:srgbClr val="586371"/>
                </a:solidFill>
                <a:latin typeface="微软雅黑" panose="020B0503020204020204" charset="-122"/>
                <a:ea typeface="微软雅黑" panose="020B0503020204020204" charset="-122"/>
              </a:rPr>
              <a:t>的销售。</a:t>
            </a:r>
          </a:p>
        </p:txBody>
      </p:sp>
      <p:grpSp>
        <p:nvGrpSpPr>
          <p:cNvPr id="16" name="iṡlïḑè"/>
          <p:cNvGrpSpPr/>
          <p:nvPr/>
        </p:nvGrpSpPr>
        <p:grpSpPr>
          <a:xfrm flipH="1">
            <a:off x="8288976" y="1843668"/>
            <a:ext cx="3903024" cy="1585332"/>
            <a:chOff x="532978" y="738724"/>
            <a:chExt cx="4963742" cy="1555700"/>
          </a:xfrm>
        </p:grpSpPr>
        <p:sp>
          <p:nvSpPr>
            <p:cNvPr id="19" name="ïṧ1iḋe"/>
            <p:cNvSpPr txBox="1"/>
            <p:nvPr/>
          </p:nvSpPr>
          <p:spPr>
            <a:xfrm>
              <a:off x="532978" y="738724"/>
              <a:ext cx="4963742" cy="965711"/>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buSzPct val="25000"/>
              </a:pPr>
              <a:r>
                <a:rPr lang="zh-CN" altLang="en-US" sz="2000" b="1" dirty="0">
                  <a:solidFill>
                    <a:schemeClr val="bg1"/>
                  </a:solidFill>
                  <a:latin typeface="Microsoft YaHei" panose="020B0503020204020204" pitchFamily="34" charset="-122"/>
                  <a:ea typeface="Microsoft YaHei" panose="020B0503020204020204" pitchFamily="34" charset="-122"/>
                  <a:sym typeface="+mn-ea"/>
                </a:rPr>
                <a:t>使命与定位</a:t>
              </a:r>
              <a:endParaRPr lang="zh-CN" altLang="en-US" sz="2000" b="1" dirty="0">
                <a:solidFill>
                  <a:schemeClr val="bg1"/>
                </a:solidFill>
                <a:latin typeface="Microsoft YaHei" panose="020B0503020204020204" pitchFamily="34" charset="-122"/>
                <a:ea typeface="Microsoft YaHei" panose="020B0503020204020204" pitchFamily="34" charset="-122"/>
              </a:endParaRPr>
            </a:p>
            <a:p>
              <a:pPr algn="ctr">
                <a:buSzPct val="25000"/>
              </a:pPr>
              <a:endParaRPr lang="zh-CN" altLang="en-US" sz="2000" b="1" dirty="0">
                <a:solidFill>
                  <a:schemeClr val="bg1"/>
                </a:solidFill>
                <a:latin typeface="Microsoft YaHei" panose="020B0503020204020204" pitchFamily="34" charset="-122"/>
                <a:ea typeface="Microsoft YaHei" panose="020B0503020204020204" pitchFamily="34" charset="-122"/>
              </a:endParaRPr>
            </a:p>
          </p:txBody>
        </p:sp>
        <p:sp>
          <p:nvSpPr>
            <p:cNvPr id="20" name="iṧļïďè"/>
            <p:cNvSpPr txBox="1"/>
            <p:nvPr/>
          </p:nvSpPr>
          <p:spPr>
            <a:xfrm>
              <a:off x="722362" y="1431134"/>
              <a:ext cx="4582970" cy="863290"/>
            </a:xfrm>
            <a:prstGeom prst="rect">
              <a:avLst/>
            </a:prstGeom>
            <a:noFill/>
            <a:ln>
              <a:noFill/>
            </a:ln>
          </p:spPr>
          <p:txBody>
            <a:bodyPr wrap="square" lIns="91440" tIns="45720" rIns="91440" bIns="45720" anchor="t" anchorCtr="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buSzPct val="25000"/>
              </a:pPr>
              <a:r>
                <a:rPr lang="zh-CN" altLang="en-US" sz="1600" dirty="0">
                  <a:solidFill>
                    <a:schemeClr val="bg1"/>
                  </a:solidFill>
                  <a:latin typeface="Microsoft YaHei" panose="020B0503020204020204" pitchFamily="34" charset="-122"/>
                  <a:ea typeface="Microsoft YaHei" panose="020B0503020204020204" pitchFamily="34" charset="-122"/>
                  <a:sym typeface="+mn-ea"/>
                </a:rPr>
                <a:t>发展职业教育，满足产业人才需求作为企业使命；定位是成为契合产业人才需求的职业教育集团，成为中国职业教育改革与创新的领导者。</a:t>
              </a:r>
            </a:p>
          </p:txBody>
        </p:sp>
      </p:grpSp>
      <p:sp>
        <p:nvSpPr>
          <p:cNvPr id="24" name="矩形 20"/>
          <p:cNvSpPr>
            <a:spLocks noChangeArrowheads="1"/>
          </p:cNvSpPr>
          <p:nvPr/>
        </p:nvSpPr>
        <p:spPr bwMode="auto">
          <a:xfrm>
            <a:off x="2138299" y="2437613"/>
            <a:ext cx="5216525"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marL="171450" indent="-171450" algn="just" eaLnBrk="1" hangingPunct="1">
              <a:lnSpc>
                <a:spcPct val="150000"/>
              </a:lnSpc>
              <a:spcBef>
                <a:spcPct val="0"/>
              </a:spcBef>
              <a:buFont typeface="Wingdings" panose="05000000000000000000" pitchFamily="2" charset="2"/>
              <a:buChar char="Ø"/>
            </a:pPr>
            <a:r>
              <a:rPr lang="zh-CN" altLang="en-US" sz="1200" dirty="0">
                <a:solidFill>
                  <a:srgbClr val="586371"/>
                </a:solidFill>
                <a:latin typeface="微软雅黑" panose="020B0503020204020204" charset="-122"/>
                <a:ea typeface="微软雅黑" panose="020B0503020204020204" charset="-122"/>
              </a:rPr>
              <a:t>学历教育运营服务主要是以“产业学院”建设为核心。“产业学院”的模式是通过与国内高校合作，建立共建共管的二级学院，公司负责为合作设立的“产业学院”提供包括教学管理、专业建设、课程体系、师资建设、学生实习实训、就业等一揽子的教育运营服务。</a:t>
            </a:r>
            <a:endParaRPr lang="zh-CN" sz="1200" dirty="0">
              <a:solidFill>
                <a:srgbClr val="586371"/>
              </a:solidFill>
              <a:latin typeface="微软雅黑" panose="020B0503020204020204" charset="-122"/>
              <a:ea typeface="微软雅黑" panose="020B0503020204020204" charset="-122"/>
            </a:endParaRPr>
          </a:p>
        </p:txBody>
      </p:sp>
      <p:sp>
        <p:nvSpPr>
          <p:cNvPr id="25" name="矩形 23"/>
          <p:cNvSpPr>
            <a:spLocks noChangeArrowheads="1"/>
          </p:cNvSpPr>
          <p:nvPr/>
        </p:nvSpPr>
        <p:spPr bwMode="auto">
          <a:xfrm>
            <a:off x="2138299" y="3828924"/>
            <a:ext cx="5216525"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marL="171450" indent="-171450" algn="just" eaLnBrk="1" hangingPunct="1">
              <a:lnSpc>
                <a:spcPct val="150000"/>
              </a:lnSpc>
              <a:spcBef>
                <a:spcPct val="0"/>
              </a:spcBef>
              <a:buFont typeface="Wingdings" panose="05000000000000000000" pitchFamily="2" charset="2"/>
              <a:buChar char="Ø"/>
            </a:pPr>
            <a:r>
              <a:rPr lang="zh-CN" altLang="en-US" sz="1200" dirty="0">
                <a:solidFill>
                  <a:srgbClr val="586371"/>
                </a:solidFill>
                <a:latin typeface="微软雅黑" panose="020B0503020204020204" charset="-122"/>
                <a:ea typeface="微软雅黑" panose="020B0503020204020204" charset="-122"/>
              </a:rPr>
              <a:t>教育装备产品的销售主要是根据学院实训教学的需求提供相关的教育装备产品，产品形态包括基础硬件、仿真软件系统、平台系统、课程、教案等。同时可根据客户需求，按需提供组合产品方案，为客户的实训教学提供高水准的、符合行业发展现状的教学环境。</a:t>
            </a:r>
            <a:endParaRPr lang="zh-CN" altLang="zh-CN" sz="1200" dirty="0">
              <a:solidFill>
                <a:srgbClr val="586371"/>
              </a:solidFill>
              <a:latin typeface="微软雅黑" panose="020B0503020204020204" charset="-122"/>
              <a:ea typeface="微软雅黑" panose="020B0503020204020204" charset="-122"/>
            </a:endParaRPr>
          </a:p>
        </p:txBody>
      </p:sp>
      <p:sp>
        <p:nvSpPr>
          <p:cNvPr id="13" name="Freeform 17"/>
          <p:cNvSpPr>
            <a:spLocks noEditPoints="1"/>
          </p:cNvSpPr>
          <p:nvPr/>
        </p:nvSpPr>
        <p:spPr bwMode="auto">
          <a:xfrm>
            <a:off x="9185895" y="2180779"/>
            <a:ext cx="218439" cy="354633"/>
          </a:xfrm>
          <a:custGeom>
            <a:avLst/>
            <a:gdLst>
              <a:gd name="T0" fmla="*/ 96 w 96"/>
              <a:gd name="T1" fmla="*/ 48 h 156"/>
              <a:gd name="T2" fmla="*/ 48 w 96"/>
              <a:gd name="T3" fmla="*/ 0 h 156"/>
              <a:gd name="T4" fmla="*/ 0 w 96"/>
              <a:gd name="T5" fmla="*/ 48 h 156"/>
              <a:gd name="T6" fmla="*/ 6 w 96"/>
              <a:gd name="T7" fmla="*/ 72 h 156"/>
              <a:gd name="T8" fmla="*/ 6 w 96"/>
              <a:gd name="T9" fmla="*/ 72 h 156"/>
              <a:gd name="T10" fmla="*/ 48 w 96"/>
              <a:gd name="T11" fmla="*/ 156 h 156"/>
              <a:gd name="T12" fmla="*/ 90 w 96"/>
              <a:gd name="T13" fmla="*/ 72 h 156"/>
              <a:gd name="T14" fmla="*/ 90 w 96"/>
              <a:gd name="T15" fmla="*/ 72 h 156"/>
              <a:gd name="T16" fmla="*/ 96 w 96"/>
              <a:gd name="T17" fmla="*/ 48 h 156"/>
              <a:gd name="T18" fmla="*/ 48 w 96"/>
              <a:gd name="T19" fmla="*/ 72 h 156"/>
              <a:gd name="T20" fmla="*/ 24 w 96"/>
              <a:gd name="T21" fmla="*/ 48 h 156"/>
              <a:gd name="T22" fmla="*/ 48 w 96"/>
              <a:gd name="T23" fmla="*/ 24 h 156"/>
              <a:gd name="T24" fmla="*/ 72 w 96"/>
              <a:gd name="T25" fmla="*/ 48 h 156"/>
              <a:gd name="T26" fmla="*/ 48 w 96"/>
              <a:gd name="T27" fmla="*/ 7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156">
                <a:moveTo>
                  <a:pt x="96" y="48"/>
                </a:moveTo>
                <a:cubicBezTo>
                  <a:pt x="96" y="21"/>
                  <a:pt x="75" y="0"/>
                  <a:pt x="48" y="0"/>
                </a:cubicBezTo>
                <a:cubicBezTo>
                  <a:pt x="21" y="0"/>
                  <a:pt x="0" y="21"/>
                  <a:pt x="0" y="48"/>
                </a:cubicBezTo>
                <a:cubicBezTo>
                  <a:pt x="0" y="57"/>
                  <a:pt x="2" y="65"/>
                  <a:pt x="6" y="72"/>
                </a:cubicBezTo>
                <a:cubicBezTo>
                  <a:pt x="6" y="72"/>
                  <a:pt x="6" y="72"/>
                  <a:pt x="6" y="72"/>
                </a:cubicBezTo>
                <a:cubicBezTo>
                  <a:pt x="48" y="156"/>
                  <a:pt x="48" y="156"/>
                  <a:pt x="48" y="156"/>
                </a:cubicBezTo>
                <a:cubicBezTo>
                  <a:pt x="90" y="72"/>
                  <a:pt x="90" y="72"/>
                  <a:pt x="90" y="72"/>
                </a:cubicBezTo>
                <a:cubicBezTo>
                  <a:pt x="90" y="72"/>
                  <a:pt x="90" y="72"/>
                  <a:pt x="90" y="72"/>
                </a:cubicBezTo>
                <a:cubicBezTo>
                  <a:pt x="94" y="65"/>
                  <a:pt x="96" y="57"/>
                  <a:pt x="96" y="48"/>
                </a:cubicBezTo>
                <a:moveTo>
                  <a:pt x="48" y="72"/>
                </a:moveTo>
                <a:cubicBezTo>
                  <a:pt x="35" y="72"/>
                  <a:pt x="24" y="61"/>
                  <a:pt x="24" y="48"/>
                </a:cubicBezTo>
                <a:cubicBezTo>
                  <a:pt x="24" y="35"/>
                  <a:pt x="35" y="24"/>
                  <a:pt x="48" y="24"/>
                </a:cubicBezTo>
                <a:cubicBezTo>
                  <a:pt x="61" y="24"/>
                  <a:pt x="72" y="35"/>
                  <a:pt x="72" y="48"/>
                </a:cubicBezTo>
                <a:cubicBezTo>
                  <a:pt x="72" y="61"/>
                  <a:pt x="61" y="72"/>
                  <a:pt x="48" y="72"/>
                </a:cubicBezTo>
              </a:path>
            </a:pathLst>
          </a:custGeom>
          <a:solidFill>
            <a:schemeClr val="bg1"/>
          </a:solidFill>
          <a:ln>
            <a:noFill/>
          </a:ln>
        </p:spPr>
        <p:txBody>
          <a:bodyPr vert="horz" wrap="square" lIns="91440" tIns="45720" rIns="91440" bIns="45720" numCol="1" anchor="t" anchorCtr="0" compatLnSpc="1"/>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cxnSp>
        <p:nvCxnSpPr>
          <p:cNvPr id="3" name="Straight Connector 36"/>
          <p:cNvCxnSpPr/>
          <p:nvPr/>
        </p:nvCxnSpPr>
        <p:spPr>
          <a:xfrm>
            <a:off x="3295650" y="4686319"/>
            <a:ext cx="0" cy="1498600"/>
          </a:xfrm>
          <a:prstGeom prst="line">
            <a:avLst/>
          </a:prstGeom>
          <a:ln>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10" name="Straight Connector 37"/>
          <p:cNvCxnSpPr/>
          <p:nvPr/>
        </p:nvCxnSpPr>
        <p:spPr>
          <a:xfrm>
            <a:off x="6265863" y="4769448"/>
            <a:ext cx="0" cy="1498600"/>
          </a:xfrm>
          <a:prstGeom prst="line">
            <a:avLst/>
          </a:prstGeom>
          <a:ln>
            <a:solidFill>
              <a:srgbClr val="DADADA"/>
            </a:solidFill>
          </a:ln>
        </p:spPr>
        <p:style>
          <a:lnRef idx="1">
            <a:schemeClr val="accent1"/>
          </a:lnRef>
          <a:fillRef idx="0">
            <a:schemeClr val="accent1"/>
          </a:fillRef>
          <a:effectRef idx="0">
            <a:schemeClr val="accent1"/>
          </a:effectRef>
          <a:fontRef idx="minor">
            <a:schemeClr val="tx1"/>
          </a:fontRef>
        </p:style>
      </p:cxnSp>
      <p:cxnSp>
        <p:nvCxnSpPr>
          <p:cNvPr id="11" name="Straight Connector 38"/>
          <p:cNvCxnSpPr/>
          <p:nvPr/>
        </p:nvCxnSpPr>
        <p:spPr>
          <a:xfrm>
            <a:off x="8912225" y="4767858"/>
            <a:ext cx="0" cy="1498600"/>
          </a:xfrm>
          <a:prstGeom prst="line">
            <a:avLst/>
          </a:prstGeom>
          <a:ln>
            <a:solidFill>
              <a:srgbClr val="DADADA"/>
            </a:solidFill>
          </a:ln>
        </p:spPr>
        <p:style>
          <a:lnRef idx="1">
            <a:schemeClr val="accent1"/>
          </a:lnRef>
          <a:fillRef idx="0">
            <a:schemeClr val="accent1"/>
          </a:fillRef>
          <a:effectRef idx="0">
            <a:schemeClr val="accent1"/>
          </a:effectRef>
          <a:fontRef idx="minor">
            <a:schemeClr val="tx1"/>
          </a:fontRef>
        </p:style>
      </p:cxnSp>
      <p:sp>
        <p:nvSpPr>
          <p:cNvPr id="32775" name="文本框 12"/>
          <p:cNvSpPr txBox="1">
            <a:spLocks noChangeArrowheads="1"/>
          </p:cNvSpPr>
          <p:nvPr/>
        </p:nvSpPr>
        <p:spPr bwMode="auto">
          <a:xfrm>
            <a:off x="9683750" y="481173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dirty="0">
                <a:solidFill>
                  <a:srgbClr val="586371"/>
                </a:solidFill>
                <a:latin typeface="微软雅黑" panose="020B0503020204020204" charset="-122"/>
                <a:ea typeface="微软雅黑" panose="020B0503020204020204" charset="-122"/>
              </a:rPr>
              <a:t>基地建设</a:t>
            </a:r>
          </a:p>
        </p:txBody>
      </p:sp>
      <p:sp>
        <p:nvSpPr>
          <p:cNvPr id="32776" name="文本框 13"/>
          <p:cNvSpPr txBox="1">
            <a:spLocks noChangeArrowheads="1"/>
          </p:cNvSpPr>
          <p:nvPr/>
        </p:nvSpPr>
        <p:spPr bwMode="auto">
          <a:xfrm>
            <a:off x="9132888" y="5470544"/>
            <a:ext cx="2371725" cy="1078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FontTx/>
              <a:buNone/>
            </a:pPr>
            <a:r>
              <a:rPr lang="zh-CN" altLang="en-US" sz="1100" dirty="0">
                <a:solidFill>
                  <a:srgbClr val="586371"/>
                </a:solidFill>
                <a:latin typeface="微软雅黑" panose="020B0503020204020204" charset="-122"/>
                <a:ea typeface="微软雅黑" panose="020B0503020204020204" charset="-122"/>
                <a:sym typeface="宋体" pitchFamily="2" charset="-122"/>
              </a:rPr>
              <a:t>建设大型基地的能力，具备政府合作共建基地经验，建设集实习、实训、就业、师资集中调配功能的综合性基地。</a:t>
            </a:r>
            <a:endParaRPr lang="zh-CN" altLang="zh-CN" sz="1100" dirty="0">
              <a:solidFill>
                <a:srgbClr val="586371"/>
              </a:solidFill>
              <a:latin typeface="微软雅黑" panose="020B0503020204020204" charset="-122"/>
              <a:ea typeface="微软雅黑" panose="020B0503020204020204" charset="-122"/>
              <a:sym typeface="宋体" pitchFamily="2" charset="-122"/>
            </a:endParaRPr>
          </a:p>
        </p:txBody>
      </p:sp>
      <p:sp>
        <p:nvSpPr>
          <p:cNvPr id="32777" name="文本框 16"/>
          <p:cNvSpPr txBox="1">
            <a:spLocks noChangeArrowheads="1"/>
          </p:cNvSpPr>
          <p:nvPr/>
        </p:nvSpPr>
        <p:spPr bwMode="auto">
          <a:xfrm>
            <a:off x="4244975" y="4811731"/>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dirty="0">
                <a:solidFill>
                  <a:srgbClr val="586371"/>
                </a:solidFill>
                <a:latin typeface="微软雅黑" panose="020B0503020204020204" charset="-122"/>
                <a:ea typeface="微软雅黑" panose="020B0503020204020204" charset="-122"/>
              </a:rPr>
              <a:t>标准化管理</a:t>
            </a:r>
          </a:p>
        </p:txBody>
      </p:sp>
      <p:sp>
        <p:nvSpPr>
          <p:cNvPr id="32778" name="文本框 18"/>
          <p:cNvSpPr txBox="1">
            <a:spLocks noChangeArrowheads="1"/>
          </p:cNvSpPr>
          <p:nvPr/>
        </p:nvSpPr>
        <p:spPr bwMode="auto">
          <a:xfrm>
            <a:off x="6946900" y="481173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dirty="0">
                <a:solidFill>
                  <a:srgbClr val="586371"/>
                </a:solidFill>
                <a:latin typeface="微软雅黑" panose="020B0503020204020204" charset="-122"/>
                <a:ea typeface="微软雅黑" panose="020B0503020204020204" charset="-122"/>
              </a:rPr>
              <a:t>持续研发</a:t>
            </a:r>
          </a:p>
        </p:txBody>
      </p:sp>
      <p:sp>
        <p:nvSpPr>
          <p:cNvPr id="32779" name="文本框 19"/>
          <p:cNvSpPr txBox="1">
            <a:spLocks noChangeArrowheads="1"/>
          </p:cNvSpPr>
          <p:nvPr/>
        </p:nvSpPr>
        <p:spPr bwMode="auto">
          <a:xfrm>
            <a:off x="6492875" y="5470544"/>
            <a:ext cx="2173288" cy="316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50000"/>
              </a:lnSpc>
              <a:spcBef>
                <a:spcPct val="0"/>
              </a:spcBef>
              <a:buFontTx/>
              <a:buNone/>
            </a:pPr>
            <a:r>
              <a:rPr lang="zh-CN" altLang="en-US" sz="1100" dirty="0">
                <a:solidFill>
                  <a:srgbClr val="586371"/>
                </a:solidFill>
                <a:latin typeface="微软雅黑" panose="020B0503020204020204" charset="-122"/>
                <a:ea typeface="微软雅黑" panose="020B0503020204020204" charset="-122"/>
                <a:sym typeface="宋体" pitchFamily="2" charset="-122"/>
              </a:rPr>
              <a:t>持续研发的能力</a:t>
            </a:r>
          </a:p>
        </p:txBody>
      </p:sp>
      <p:sp>
        <p:nvSpPr>
          <p:cNvPr id="32780" name="文本框 21"/>
          <p:cNvSpPr txBox="1">
            <a:spLocks noChangeArrowheads="1"/>
          </p:cNvSpPr>
          <p:nvPr/>
        </p:nvSpPr>
        <p:spPr bwMode="auto">
          <a:xfrm>
            <a:off x="1338263" y="481173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dirty="0">
                <a:solidFill>
                  <a:srgbClr val="586371"/>
                </a:solidFill>
                <a:latin typeface="微软雅黑" panose="020B0503020204020204" charset="-122"/>
                <a:ea typeface="微软雅黑" panose="020B0503020204020204" charset="-122"/>
              </a:rPr>
              <a:t>产教融合</a:t>
            </a:r>
          </a:p>
        </p:txBody>
      </p:sp>
      <p:sp>
        <p:nvSpPr>
          <p:cNvPr id="32781" name="文本框 22"/>
          <p:cNvSpPr txBox="1">
            <a:spLocks noChangeArrowheads="1"/>
          </p:cNvSpPr>
          <p:nvPr/>
        </p:nvSpPr>
        <p:spPr bwMode="auto">
          <a:xfrm>
            <a:off x="598488" y="5440381"/>
            <a:ext cx="2466975" cy="57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FontTx/>
              <a:buNone/>
            </a:pPr>
            <a:r>
              <a:rPr lang="zh-CN" altLang="en-US" sz="1100" dirty="0">
                <a:solidFill>
                  <a:srgbClr val="586371"/>
                </a:solidFill>
                <a:latin typeface="微软雅黑" panose="020B0503020204020204" charset="-122"/>
                <a:ea typeface="微软雅黑" panose="020B0503020204020204" charset="-122"/>
                <a:sym typeface="宋体" pitchFamily="2" charset="-122"/>
              </a:rPr>
              <a:t>产教融合的能力，引进产业标准并转换成教学内容的能力。</a:t>
            </a:r>
          </a:p>
        </p:txBody>
      </p:sp>
      <p:sp>
        <p:nvSpPr>
          <p:cNvPr id="32782" name="文本框 23"/>
          <p:cNvSpPr txBox="1">
            <a:spLocks noChangeArrowheads="1"/>
          </p:cNvSpPr>
          <p:nvPr/>
        </p:nvSpPr>
        <p:spPr bwMode="auto">
          <a:xfrm>
            <a:off x="3525838" y="5483244"/>
            <a:ext cx="2465387" cy="57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FontTx/>
              <a:buNone/>
            </a:pPr>
            <a:r>
              <a:rPr lang="zh-CN" altLang="en-US" sz="1100" dirty="0">
                <a:solidFill>
                  <a:srgbClr val="586371"/>
                </a:solidFill>
                <a:latin typeface="微软雅黑" panose="020B0503020204020204" charset="-122"/>
                <a:ea typeface="微软雅黑" panose="020B0503020204020204" charset="-122"/>
                <a:sym typeface="宋体" pitchFamily="2" charset="-122"/>
              </a:rPr>
              <a:t>标准化管理的能力，统一标准化教学以及运营管理的能力。</a:t>
            </a:r>
          </a:p>
        </p:txBody>
      </p:sp>
      <p:sp>
        <p:nvSpPr>
          <p:cNvPr id="58" name="等腰三角形 57"/>
          <p:cNvSpPr/>
          <p:nvPr/>
        </p:nvSpPr>
        <p:spPr>
          <a:xfrm rot="16200000" flipV="1">
            <a:off x="1087438" y="4902219"/>
            <a:ext cx="192087" cy="185737"/>
          </a:xfrm>
          <a:prstGeom prst="triangle">
            <a:avLst/>
          </a:prstGeom>
          <a:solidFill>
            <a:srgbClr val="01CA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9" name="等腰三角形 58"/>
          <p:cNvSpPr/>
          <p:nvPr/>
        </p:nvSpPr>
        <p:spPr>
          <a:xfrm rot="16200000" flipV="1">
            <a:off x="3985419" y="4903013"/>
            <a:ext cx="193675" cy="185737"/>
          </a:xfrm>
          <a:prstGeom prst="triangle">
            <a:avLst/>
          </a:prstGeom>
          <a:solidFill>
            <a:srgbClr val="01CA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0" name="等腰三角形 59"/>
          <p:cNvSpPr/>
          <p:nvPr/>
        </p:nvSpPr>
        <p:spPr>
          <a:xfrm rot="16200000" flipV="1">
            <a:off x="6693694" y="4903013"/>
            <a:ext cx="193675" cy="185737"/>
          </a:xfrm>
          <a:prstGeom prst="triangle">
            <a:avLst/>
          </a:prstGeom>
          <a:solidFill>
            <a:srgbClr val="01CA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1" name="等腰三角形 60"/>
          <p:cNvSpPr/>
          <p:nvPr/>
        </p:nvSpPr>
        <p:spPr>
          <a:xfrm rot="16200000" flipV="1">
            <a:off x="9421813" y="4902219"/>
            <a:ext cx="192087" cy="185737"/>
          </a:xfrm>
          <a:prstGeom prst="triangle">
            <a:avLst/>
          </a:prstGeom>
          <a:solidFill>
            <a:srgbClr val="01CA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5" name="矩形 17"/>
          <p:cNvSpPr>
            <a:spLocks noChangeArrowheads="1"/>
          </p:cNvSpPr>
          <p:nvPr/>
        </p:nvSpPr>
        <p:spPr bwMode="auto">
          <a:xfrm>
            <a:off x="238125" y="342900"/>
            <a:ext cx="23558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1.2</a:t>
            </a:r>
            <a:r>
              <a:rPr lang="zh-CN" altLang="en-US" sz="2600" b="1" dirty="0">
                <a:solidFill>
                  <a:srgbClr val="586371"/>
                </a:solidFill>
                <a:latin typeface="微软雅黑" panose="020B0503020204020204" charset="-122"/>
                <a:ea typeface="微软雅黑" panose="020B0503020204020204" charset="-122"/>
              </a:rPr>
              <a:t>核心能力</a:t>
            </a:r>
          </a:p>
        </p:txBody>
      </p:sp>
      <p:sp>
        <p:nvSpPr>
          <p:cNvPr id="20" name="íṩlíḑe"/>
          <p:cNvSpPr txBox="1"/>
          <p:nvPr/>
        </p:nvSpPr>
        <p:spPr>
          <a:xfrm>
            <a:off x="733856" y="985655"/>
            <a:ext cx="10620000" cy="3230856"/>
          </a:xfrm>
          <a:prstGeom prst="rect">
            <a:avLst/>
          </a:prstGeom>
          <a:noFill/>
          <a:ln>
            <a:noFill/>
          </a:ln>
        </p:spPr>
        <p:txBody>
          <a:bodyPr wrap="square" lIns="91440" tIns="45720" rIns="91440" bIns="45720" anchor="ctr" anchorCtr="0"/>
          <a:lstStyle/>
          <a:p>
            <a:pPr marL="342900" indent="-342900">
              <a:lnSpc>
                <a:spcPct val="150000"/>
              </a:lnSpc>
              <a:buSzPct val="100000"/>
              <a:buFont typeface="Wingdings" panose="05000000000000000000" pitchFamily="2" charset="2"/>
              <a:buChar char="Ø"/>
            </a:pPr>
            <a:r>
              <a:rPr lang="zh-CN" altLang="en-US" sz="1400" b="1" dirty="0">
                <a:solidFill>
                  <a:srgbClr val="00A6B2"/>
                </a:solidFill>
                <a:latin typeface="微软雅黑" panose="020B0503020204020204" charset="-122"/>
                <a:ea typeface="微软雅黑" panose="020B0503020204020204" charset="-122"/>
              </a:rPr>
              <a:t>行业人才标准转换教学资源能力：</a:t>
            </a:r>
            <a:r>
              <a:rPr lang="zh-CN" altLang="en-US" sz="1400" dirty="0">
                <a:solidFill>
                  <a:srgbClr val="586371"/>
                </a:solidFill>
                <a:latin typeface="微软雅黑" panose="020B0503020204020204" charset="-122"/>
                <a:ea typeface="微软雅黑" panose="020B0503020204020204" charset="-122"/>
              </a:rPr>
              <a:t>依据行业技术标准、用人标准，组织教育专家与企业专家，携手教学名师，将产业项目经验转换为教学能力，研究指定符合国内外教育发展趋势的人才培养体系。针对应用型人才培养存在的关键问题，提供整体实施方案、研制了标准化教育产品、师资培训、培养方案、课程案例教学等规范化的管理，形成鲜明的办学特色。</a:t>
            </a:r>
            <a:endParaRPr lang="en-US" altLang="zh-CN" sz="1400" dirty="0">
              <a:solidFill>
                <a:srgbClr val="586371"/>
              </a:solidFill>
              <a:latin typeface="微软雅黑" panose="020B0503020204020204" charset="-122"/>
              <a:ea typeface="微软雅黑" panose="020B0503020204020204" charset="-122"/>
            </a:endParaRPr>
          </a:p>
          <a:p>
            <a:pPr>
              <a:lnSpc>
                <a:spcPct val="150000"/>
              </a:lnSpc>
              <a:buSzPct val="100000"/>
            </a:pPr>
            <a:endParaRPr lang="zh-CN" altLang="en-US" sz="1400" dirty="0">
              <a:solidFill>
                <a:srgbClr val="586371"/>
              </a:solidFill>
              <a:latin typeface="微软雅黑" panose="020B0503020204020204" charset="-122"/>
              <a:ea typeface="微软雅黑" panose="020B0503020204020204" charset="-122"/>
            </a:endParaRPr>
          </a:p>
          <a:p>
            <a:pPr marL="342900" indent="-342900">
              <a:lnSpc>
                <a:spcPct val="150000"/>
              </a:lnSpc>
              <a:buSzPct val="100000"/>
              <a:buFont typeface="Wingdings" panose="05000000000000000000" pitchFamily="2" charset="2"/>
              <a:buChar char="Ø"/>
            </a:pPr>
            <a:r>
              <a:rPr lang="zh-CN" altLang="en-US" sz="1400" b="1" dirty="0">
                <a:solidFill>
                  <a:srgbClr val="00A6B2"/>
                </a:solidFill>
                <a:latin typeface="微软雅黑" panose="020B0503020204020204" charset="-122"/>
                <a:ea typeface="微软雅黑" panose="020B0503020204020204" charset="-122"/>
              </a:rPr>
              <a:t>产品与研发能力：</a:t>
            </a:r>
            <a:r>
              <a:rPr lang="zh-CN" altLang="en-US" sz="1400" dirty="0">
                <a:solidFill>
                  <a:srgbClr val="586371"/>
                </a:solidFill>
                <a:latin typeface="微软雅黑" panose="020B0503020204020204" charset="-122"/>
                <a:ea typeface="微软雅黑" panose="020B0503020204020204" charset="-122"/>
              </a:rPr>
              <a:t>研发项目式教学系统作为产教融合教学工具、内容、教学运营管理方式，在保障教学质量的前提下提升教学效率，降低教学成本，打造成为核心竞争力。培养大量专业教师队伍，将传统教学模式调整为项目教学模式，提高学生学习兴趣与效果，降低教学难度，提高专业度与标准化，有效支撑整体招生、教学、就业保障并降低运营成本。具备大规模承接教学实施及教学管理能力。</a:t>
            </a:r>
            <a:endParaRPr lang="en-US" altLang="zh-CN" sz="1400" dirty="0">
              <a:solidFill>
                <a:srgbClr val="586371"/>
              </a:solidFill>
              <a:latin typeface="微软雅黑" panose="020B0503020204020204" charset="-122"/>
              <a:ea typeface="微软雅黑" panose="020B0503020204020204" charset="-122"/>
            </a:endParaRPr>
          </a:p>
          <a:p>
            <a:pPr>
              <a:lnSpc>
                <a:spcPct val="150000"/>
              </a:lnSpc>
              <a:buSzPct val="100000"/>
            </a:pPr>
            <a:endParaRPr lang="zh-CN" altLang="en-US" sz="1400" dirty="0">
              <a:solidFill>
                <a:srgbClr val="586371"/>
              </a:solidFill>
              <a:latin typeface="微软雅黑" panose="020B0503020204020204" charset="-122"/>
              <a:ea typeface="微软雅黑" panose="020B0503020204020204" charset="-122"/>
            </a:endParaRPr>
          </a:p>
          <a:p>
            <a:pPr marL="342900" indent="-342900">
              <a:lnSpc>
                <a:spcPct val="150000"/>
              </a:lnSpc>
              <a:buSzPct val="100000"/>
              <a:buFont typeface="Wingdings" panose="05000000000000000000" pitchFamily="2" charset="2"/>
              <a:buChar char="Ø"/>
            </a:pPr>
            <a:r>
              <a:rPr lang="zh-CN" altLang="en-US" sz="1400" b="1" dirty="0">
                <a:solidFill>
                  <a:srgbClr val="00A6B2"/>
                </a:solidFill>
                <a:latin typeface="微软雅黑" panose="020B0503020204020204" charset="-122"/>
                <a:ea typeface="微软雅黑" panose="020B0503020204020204" charset="-122"/>
              </a:rPr>
              <a:t>销售管理体系：</a:t>
            </a:r>
            <a:r>
              <a:rPr lang="zh-CN" altLang="en-US" sz="1400" dirty="0">
                <a:solidFill>
                  <a:srgbClr val="586371"/>
                </a:solidFill>
                <a:latin typeface="微软雅黑" panose="020B0503020204020204" charset="-122"/>
                <a:ea typeface="微软雅黑" panose="020B0503020204020204" charset="-122"/>
              </a:rPr>
              <a:t>多年积累并演进的产业学院谈判经验形成销售门槛。</a:t>
            </a:r>
          </a:p>
        </p:txBody>
      </p:sp>
      <p:cxnSp>
        <p:nvCxnSpPr>
          <p:cNvPr id="21" name="Straight Connector 36"/>
          <p:cNvCxnSpPr/>
          <p:nvPr/>
        </p:nvCxnSpPr>
        <p:spPr>
          <a:xfrm rot="5400000">
            <a:off x="6043856" y="-862012"/>
            <a:ext cx="0" cy="10620000"/>
          </a:xfrm>
          <a:prstGeom prst="line">
            <a:avLst/>
          </a:prstGeom>
          <a:ln w="12700">
            <a:solidFill>
              <a:srgbClr val="DADAD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71" name="组合 15"/>
          <p:cNvGrpSpPr/>
          <p:nvPr/>
        </p:nvGrpSpPr>
        <p:grpSpPr bwMode="auto">
          <a:xfrm>
            <a:off x="4579938" y="1014413"/>
            <a:ext cx="6345237" cy="4957762"/>
            <a:chOff x="7423" y="1588"/>
            <a:chExt cx="9676" cy="7561"/>
          </a:xfrm>
        </p:grpSpPr>
        <p:grpSp>
          <p:nvGrpSpPr>
            <p:cNvPr id="36875" name="组合 126"/>
            <p:cNvGrpSpPr/>
            <p:nvPr/>
          </p:nvGrpSpPr>
          <p:grpSpPr bwMode="auto">
            <a:xfrm>
              <a:off x="7423" y="1588"/>
              <a:ext cx="9676" cy="7561"/>
              <a:chOff x="5214" y="1060"/>
              <a:chExt cx="11511" cy="9172"/>
            </a:xfrm>
          </p:grpSpPr>
          <p:sp>
            <p:nvSpPr>
              <p:cNvPr id="36879" name="Freeform 3"/>
              <p:cNvSpPr>
                <a:spLocks noChangeArrowheads="1"/>
              </p:cNvSpPr>
              <p:nvPr/>
            </p:nvSpPr>
            <p:spPr bwMode="auto">
              <a:xfrm>
                <a:off x="11637" y="9703"/>
                <a:ext cx="606" cy="529"/>
              </a:xfrm>
              <a:custGeom>
                <a:avLst/>
                <a:gdLst>
                  <a:gd name="T0" fmla="*/ 6577 w 177"/>
                  <a:gd name="T1" fmla="*/ 1879 h 161"/>
                  <a:gd name="T2" fmla="*/ 8792 w 177"/>
                  <a:gd name="T3" fmla="*/ 1879 h 161"/>
                  <a:gd name="T4" fmla="*/ 10994 w 177"/>
                  <a:gd name="T5" fmla="*/ 917 h 161"/>
                  <a:gd name="T6" fmla="*/ 13198 w 177"/>
                  <a:gd name="T7" fmla="*/ 1879 h 161"/>
                  <a:gd name="T8" fmla="*/ 16492 w 177"/>
                  <a:gd name="T9" fmla="*/ 0 h 161"/>
                  <a:gd name="T10" fmla="*/ 20864 w 177"/>
                  <a:gd name="T11" fmla="*/ 917 h 161"/>
                  <a:gd name="T12" fmla="*/ 23079 w 177"/>
                  <a:gd name="T13" fmla="*/ 0 h 161"/>
                  <a:gd name="T14" fmla="*/ 24206 w 177"/>
                  <a:gd name="T15" fmla="*/ 3726 h 161"/>
                  <a:gd name="T16" fmla="*/ 20864 w 177"/>
                  <a:gd name="T17" fmla="*/ 5602 h 161"/>
                  <a:gd name="T18" fmla="*/ 19786 w 177"/>
                  <a:gd name="T19" fmla="*/ 12134 h 161"/>
                  <a:gd name="T20" fmla="*/ 17584 w 177"/>
                  <a:gd name="T21" fmla="*/ 13981 h 161"/>
                  <a:gd name="T22" fmla="*/ 17584 w 177"/>
                  <a:gd name="T23" fmla="*/ 16777 h 161"/>
                  <a:gd name="T24" fmla="*/ 14291 w 177"/>
                  <a:gd name="T25" fmla="*/ 15860 h 161"/>
                  <a:gd name="T26" fmla="*/ 13198 w 177"/>
                  <a:gd name="T27" fmla="*/ 16777 h 161"/>
                  <a:gd name="T28" fmla="*/ 13198 w 177"/>
                  <a:gd name="T29" fmla="*/ 18656 h 161"/>
                  <a:gd name="T30" fmla="*/ 10994 w 177"/>
                  <a:gd name="T31" fmla="*/ 18656 h 161"/>
                  <a:gd name="T32" fmla="*/ 6577 w 177"/>
                  <a:gd name="T33" fmla="*/ 16777 h 161"/>
                  <a:gd name="T34" fmla="*/ 1078 w 177"/>
                  <a:gd name="T35" fmla="*/ 15860 h 161"/>
                  <a:gd name="T36" fmla="*/ 0 w 177"/>
                  <a:gd name="T37" fmla="*/ 10255 h 161"/>
                  <a:gd name="T38" fmla="*/ 0 w 177"/>
                  <a:gd name="T39" fmla="*/ 7449 h 161"/>
                  <a:gd name="T40" fmla="*/ 5499 w 177"/>
                  <a:gd name="T41" fmla="*/ 3726 h 161"/>
                  <a:gd name="T42" fmla="*/ 6577 w 177"/>
                  <a:gd name="T43" fmla="*/ 1879 h 16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7" h="161">
                    <a:moveTo>
                      <a:pt x="48" y="16"/>
                    </a:moveTo>
                    <a:lnTo>
                      <a:pt x="64" y="16"/>
                    </a:lnTo>
                    <a:lnTo>
                      <a:pt x="80" y="8"/>
                    </a:lnTo>
                    <a:lnTo>
                      <a:pt x="96" y="16"/>
                    </a:lnTo>
                    <a:lnTo>
                      <a:pt x="120" y="0"/>
                    </a:lnTo>
                    <a:lnTo>
                      <a:pt x="152" y="8"/>
                    </a:lnTo>
                    <a:lnTo>
                      <a:pt x="168" y="0"/>
                    </a:lnTo>
                    <a:lnTo>
                      <a:pt x="176" y="32"/>
                    </a:lnTo>
                    <a:lnTo>
                      <a:pt x="152" y="48"/>
                    </a:lnTo>
                    <a:lnTo>
                      <a:pt x="144" y="104"/>
                    </a:lnTo>
                    <a:lnTo>
                      <a:pt x="128" y="120"/>
                    </a:lnTo>
                    <a:lnTo>
                      <a:pt x="128" y="144"/>
                    </a:lnTo>
                    <a:lnTo>
                      <a:pt x="104" y="136"/>
                    </a:lnTo>
                    <a:lnTo>
                      <a:pt x="96" y="144"/>
                    </a:lnTo>
                    <a:lnTo>
                      <a:pt x="96" y="160"/>
                    </a:lnTo>
                    <a:lnTo>
                      <a:pt x="80" y="160"/>
                    </a:lnTo>
                    <a:lnTo>
                      <a:pt x="48" y="144"/>
                    </a:lnTo>
                    <a:lnTo>
                      <a:pt x="8" y="136"/>
                    </a:lnTo>
                    <a:lnTo>
                      <a:pt x="0" y="88"/>
                    </a:lnTo>
                    <a:lnTo>
                      <a:pt x="0" y="64"/>
                    </a:lnTo>
                    <a:lnTo>
                      <a:pt x="40" y="32"/>
                    </a:lnTo>
                    <a:lnTo>
                      <a:pt x="48" y="16"/>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80" name="Freeform 4"/>
              <p:cNvSpPr>
                <a:spLocks noChangeArrowheads="1"/>
              </p:cNvSpPr>
              <p:nvPr/>
            </p:nvSpPr>
            <p:spPr bwMode="auto">
              <a:xfrm>
                <a:off x="13827" y="1060"/>
                <a:ext cx="2418" cy="2296"/>
              </a:xfrm>
              <a:custGeom>
                <a:avLst/>
                <a:gdLst>
                  <a:gd name="T0" fmla="*/ 2223 w 705"/>
                  <a:gd name="T1" fmla="*/ 7540 h 697"/>
                  <a:gd name="T2" fmla="*/ 4435 w 705"/>
                  <a:gd name="T3" fmla="*/ 12261 h 697"/>
                  <a:gd name="T4" fmla="*/ 9964 w 705"/>
                  <a:gd name="T5" fmla="*/ 12261 h 697"/>
                  <a:gd name="T6" fmla="*/ 14398 w 705"/>
                  <a:gd name="T7" fmla="*/ 20736 h 697"/>
                  <a:gd name="T8" fmla="*/ 22150 w 705"/>
                  <a:gd name="T9" fmla="*/ 18839 h 697"/>
                  <a:gd name="T10" fmla="*/ 32113 w 705"/>
                  <a:gd name="T11" fmla="*/ 19771 h 697"/>
                  <a:gd name="T12" fmla="*/ 29891 w 705"/>
                  <a:gd name="T13" fmla="*/ 36743 h 697"/>
                  <a:gd name="T14" fmla="*/ 26584 w 705"/>
                  <a:gd name="T15" fmla="*/ 46151 h 697"/>
                  <a:gd name="T16" fmla="*/ 14398 w 705"/>
                  <a:gd name="T17" fmla="*/ 54613 h 697"/>
                  <a:gd name="T18" fmla="*/ 21021 w 705"/>
                  <a:gd name="T19" fmla="*/ 57479 h 697"/>
                  <a:gd name="T20" fmla="*/ 18799 w 705"/>
                  <a:gd name="T21" fmla="*/ 61234 h 697"/>
                  <a:gd name="T22" fmla="*/ 24375 w 705"/>
                  <a:gd name="T23" fmla="*/ 64054 h 697"/>
                  <a:gd name="T24" fmla="*/ 26584 w 705"/>
                  <a:gd name="T25" fmla="*/ 67809 h 697"/>
                  <a:gd name="T26" fmla="*/ 39868 w 705"/>
                  <a:gd name="T27" fmla="*/ 68775 h 697"/>
                  <a:gd name="T28" fmla="*/ 44303 w 705"/>
                  <a:gd name="T29" fmla="*/ 69707 h 697"/>
                  <a:gd name="T30" fmla="*/ 53134 w 705"/>
                  <a:gd name="T31" fmla="*/ 75350 h 697"/>
                  <a:gd name="T32" fmla="*/ 58663 w 705"/>
                  <a:gd name="T33" fmla="*/ 78173 h 697"/>
                  <a:gd name="T34" fmla="*/ 59795 w 705"/>
                  <a:gd name="T35" fmla="*/ 73495 h 697"/>
                  <a:gd name="T36" fmla="*/ 66404 w 705"/>
                  <a:gd name="T37" fmla="*/ 81958 h 697"/>
                  <a:gd name="T38" fmla="*/ 68627 w 705"/>
                  <a:gd name="T39" fmla="*/ 80070 h 697"/>
                  <a:gd name="T40" fmla="*/ 76381 w 705"/>
                  <a:gd name="T41" fmla="*/ 80070 h 697"/>
                  <a:gd name="T42" fmla="*/ 81896 w 705"/>
                  <a:gd name="T43" fmla="*/ 74417 h 697"/>
                  <a:gd name="T44" fmla="*/ 83039 w 705"/>
                  <a:gd name="T45" fmla="*/ 62157 h 697"/>
                  <a:gd name="T46" fmla="*/ 91874 w 705"/>
                  <a:gd name="T47" fmla="*/ 63122 h 697"/>
                  <a:gd name="T48" fmla="*/ 94082 w 705"/>
                  <a:gd name="T49" fmla="*/ 40498 h 697"/>
                  <a:gd name="T50" fmla="*/ 96308 w 705"/>
                  <a:gd name="T51" fmla="*/ 34855 h 697"/>
                  <a:gd name="T52" fmla="*/ 97437 w 705"/>
                  <a:gd name="T53" fmla="*/ 30135 h 697"/>
                  <a:gd name="T54" fmla="*/ 84119 w 705"/>
                  <a:gd name="T55" fmla="*/ 37675 h 697"/>
                  <a:gd name="T56" fmla="*/ 77510 w 705"/>
                  <a:gd name="T57" fmla="*/ 42395 h 697"/>
                  <a:gd name="T58" fmla="*/ 67533 w 705"/>
                  <a:gd name="T59" fmla="*/ 35777 h 697"/>
                  <a:gd name="T60" fmla="*/ 60889 w 705"/>
                  <a:gd name="T61" fmla="*/ 32954 h 697"/>
                  <a:gd name="T62" fmla="*/ 52040 w 705"/>
                  <a:gd name="T63" fmla="*/ 30135 h 697"/>
                  <a:gd name="T64" fmla="*/ 49831 w 705"/>
                  <a:gd name="T65" fmla="*/ 28277 h 697"/>
                  <a:gd name="T66" fmla="*/ 46477 w 705"/>
                  <a:gd name="T67" fmla="*/ 29199 h 697"/>
                  <a:gd name="T68" fmla="*/ 36514 w 705"/>
                  <a:gd name="T69" fmla="*/ 15084 h 697"/>
                  <a:gd name="T70" fmla="*/ 34339 w 705"/>
                  <a:gd name="T71" fmla="*/ 10363 h 697"/>
                  <a:gd name="T72" fmla="*/ 19927 w 705"/>
                  <a:gd name="T73" fmla="*/ 2820 h 697"/>
                  <a:gd name="T74" fmla="*/ 2223 w 705"/>
                  <a:gd name="T75" fmla="*/ 1897 h 69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05" h="697">
                    <a:moveTo>
                      <a:pt x="8" y="32"/>
                    </a:moveTo>
                    <a:lnTo>
                      <a:pt x="16" y="64"/>
                    </a:lnTo>
                    <a:lnTo>
                      <a:pt x="0" y="96"/>
                    </a:lnTo>
                    <a:lnTo>
                      <a:pt x="32" y="104"/>
                    </a:lnTo>
                    <a:lnTo>
                      <a:pt x="48" y="88"/>
                    </a:lnTo>
                    <a:lnTo>
                      <a:pt x="72" y="104"/>
                    </a:lnTo>
                    <a:lnTo>
                      <a:pt x="88" y="152"/>
                    </a:lnTo>
                    <a:lnTo>
                      <a:pt x="104" y="176"/>
                    </a:lnTo>
                    <a:lnTo>
                      <a:pt x="144" y="160"/>
                    </a:lnTo>
                    <a:lnTo>
                      <a:pt x="160" y="160"/>
                    </a:lnTo>
                    <a:lnTo>
                      <a:pt x="192" y="128"/>
                    </a:lnTo>
                    <a:lnTo>
                      <a:pt x="232" y="168"/>
                    </a:lnTo>
                    <a:lnTo>
                      <a:pt x="208" y="248"/>
                    </a:lnTo>
                    <a:lnTo>
                      <a:pt x="216" y="312"/>
                    </a:lnTo>
                    <a:lnTo>
                      <a:pt x="192" y="336"/>
                    </a:lnTo>
                    <a:lnTo>
                      <a:pt x="192" y="392"/>
                    </a:lnTo>
                    <a:lnTo>
                      <a:pt x="176" y="368"/>
                    </a:lnTo>
                    <a:lnTo>
                      <a:pt x="104" y="464"/>
                    </a:lnTo>
                    <a:lnTo>
                      <a:pt x="128" y="504"/>
                    </a:lnTo>
                    <a:lnTo>
                      <a:pt x="152" y="488"/>
                    </a:lnTo>
                    <a:lnTo>
                      <a:pt x="160" y="504"/>
                    </a:lnTo>
                    <a:lnTo>
                      <a:pt x="136" y="520"/>
                    </a:lnTo>
                    <a:lnTo>
                      <a:pt x="136" y="544"/>
                    </a:lnTo>
                    <a:lnTo>
                      <a:pt x="176" y="544"/>
                    </a:lnTo>
                    <a:lnTo>
                      <a:pt x="192" y="536"/>
                    </a:lnTo>
                    <a:lnTo>
                      <a:pt x="192" y="576"/>
                    </a:lnTo>
                    <a:lnTo>
                      <a:pt x="232" y="600"/>
                    </a:lnTo>
                    <a:lnTo>
                      <a:pt x="288" y="584"/>
                    </a:lnTo>
                    <a:lnTo>
                      <a:pt x="288" y="608"/>
                    </a:lnTo>
                    <a:lnTo>
                      <a:pt x="320" y="592"/>
                    </a:lnTo>
                    <a:lnTo>
                      <a:pt x="368" y="640"/>
                    </a:lnTo>
                    <a:lnTo>
                      <a:pt x="384" y="640"/>
                    </a:lnTo>
                    <a:lnTo>
                      <a:pt x="400" y="672"/>
                    </a:lnTo>
                    <a:lnTo>
                      <a:pt x="424" y="664"/>
                    </a:lnTo>
                    <a:lnTo>
                      <a:pt x="424" y="632"/>
                    </a:lnTo>
                    <a:lnTo>
                      <a:pt x="432" y="624"/>
                    </a:lnTo>
                    <a:lnTo>
                      <a:pt x="432" y="664"/>
                    </a:lnTo>
                    <a:lnTo>
                      <a:pt x="480" y="696"/>
                    </a:lnTo>
                    <a:lnTo>
                      <a:pt x="488" y="672"/>
                    </a:lnTo>
                    <a:lnTo>
                      <a:pt x="496" y="680"/>
                    </a:lnTo>
                    <a:lnTo>
                      <a:pt x="528" y="648"/>
                    </a:lnTo>
                    <a:lnTo>
                      <a:pt x="552" y="680"/>
                    </a:lnTo>
                    <a:lnTo>
                      <a:pt x="600" y="680"/>
                    </a:lnTo>
                    <a:lnTo>
                      <a:pt x="592" y="632"/>
                    </a:lnTo>
                    <a:lnTo>
                      <a:pt x="568" y="576"/>
                    </a:lnTo>
                    <a:lnTo>
                      <a:pt x="600" y="528"/>
                    </a:lnTo>
                    <a:lnTo>
                      <a:pt x="632" y="520"/>
                    </a:lnTo>
                    <a:lnTo>
                      <a:pt x="664" y="536"/>
                    </a:lnTo>
                    <a:lnTo>
                      <a:pt x="688" y="424"/>
                    </a:lnTo>
                    <a:lnTo>
                      <a:pt x="680" y="344"/>
                    </a:lnTo>
                    <a:lnTo>
                      <a:pt x="696" y="328"/>
                    </a:lnTo>
                    <a:lnTo>
                      <a:pt x="696" y="296"/>
                    </a:lnTo>
                    <a:lnTo>
                      <a:pt x="680" y="288"/>
                    </a:lnTo>
                    <a:lnTo>
                      <a:pt x="704" y="256"/>
                    </a:lnTo>
                    <a:lnTo>
                      <a:pt x="680" y="256"/>
                    </a:lnTo>
                    <a:lnTo>
                      <a:pt x="608" y="320"/>
                    </a:lnTo>
                    <a:lnTo>
                      <a:pt x="608" y="336"/>
                    </a:lnTo>
                    <a:lnTo>
                      <a:pt x="560" y="360"/>
                    </a:lnTo>
                    <a:lnTo>
                      <a:pt x="520" y="360"/>
                    </a:lnTo>
                    <a:lnTo>
                      <a:pt x="488" y="304"/>
                    </a:lnTo>
                    <a:lnTo>
                      <a:pt x="488" y="280"/>
                    </a:lnTo>
                    <a:lnTo>
                      <a:pt x="440" y="280"/>
                    </a:lnTo>
                    <a:lnTo>
                      <a:pt x="416" y="256"/>
                    </a:lnTo>
                    <a:lnTo>
                      <a:pt x="376" y="256"/>
                    </a:lnTo>
                    <a:lnTo>
                      <a:pt x="376" y="240"/>
                    </a:lnTo>
                    <a:lnTo>
                      <a:pt x="360" y="240"/>
                    </a:lnTo>
                    <a:lnTo>
                      <a:pt x="360" y="256"/>
                    </a:lnTo>
                    <a:lnTo>
                      <a:pt x="336" y="248"/>
                    </a:lnTo>
                    <a:lnTo>
                      <a:pt x="296" y="176"/>
                    </a:lnTo>
                    <a:lnTo>
                      <a:pt x="264" y="128"/>
                    </a:lnTo>
                    <a:lnTo>
                      <a:pt x="248" y="104"/>
                    </a:lnTo>
                    <a:lnTo>
                      <a:pt x="248" y="88"/>
                    </a:lnTo>
                    <a:lnTo>
                      <a:pt x="200" y="24"/>
                    </a:lnTo>
                    <a:lnTo>
                      <a:pt x="144" y="24"/>
                    </a:lnTo>
                    <a:lnTo>
                      <a:pt x="104" y="0"/>
                    </a:lnTo>
                    <a:lnTo>
                      <a:pt x="16" y="16"/>
                    </a:lnTo>
                    <a:lnTo>
                      <a:pt x="8" y="32"/>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81" name="Freeform 5"/>
              <p:cNvSpPr>
                <a:spLocks noChangeArrowheads="1"/>
              </p:cNvSpPr>
              <p:nvPr/>
            </p:nvSpPr>
            <p:spPr bwMode="auto">
              <a:xfrm>
                <a:off x="14058" y="2836"/>
                <a:ext cx="1815" cy="1322"/>
              </a:xfrm>
              <a:custGeom>
                <a:avLst/>
                <a:gdLst>
                  <a:gd name="T0" fmla="*/ 73187 w 529"/>
                  <a:gd name="T1" fmla="*/ 17021 h 401"/>
                  <a:gd name="T2" fmla="*/ 66524 w 529"/>
                  <a:gd name="T3" fmla="*/ 17021 h 401"/>
                  <a:gd name="T4" fmla="*/ 63213 w 529"/>
                  <a:gd name="T5" fmla="*/ 14196 h 401"/>
                  <a:gd name="T6" fmla="*/ 58766 w 529"/>
                  <a:gd name="T7" fmla="*/ 17954 h 401"/>
                  <a:gd name="T8" fmla="*/ 57634 w 529"/>
                  <a:gd name="T9" fmla="*/ 16052 h 401"/>
                  <a:gd name="T10" fmla="*/ 56539 w 529"/>
                  <a:gd name="T11" fmla="*/ 18877 h 401"/>
                  <a:gd name="T12" fmla="*/ 49876 w 529"/>
                  <a:gd name="T13" fmla="*/ 15119 h 401"/>
                  <a:gd name="T14" fmla="*/ 49876 w 529"/>
                  <a:gd name="T15" fmla="*/ 10391 h 401"/>
                  <a:gd name="T16" fmla="*/ 47663 w 529"/>
                  <a:gd name="T17" fmla="*/ 11324 h 401"/>
                  <a:gd name="T18" fmla="*/ 48796 w 529"/>
                  <a:gd name="T19" fmla="*/ 15119 h 401"/>
                  <a:gd name="T20" fmla="*/ 45440 w 529"/>
                  <a:gd name="T21" fmla="*/ 15119 h 401"/>
                  <a:gd name="T22" fmla="*/ 43213 w 529"/>
                  <a:gd name="T23" fmla="*/ 12294 h 401"/>
                  <a:gd name="T24" fmla="*/ 41035 w 529"/>
                  <a:gd name="T25" fmla="*/ 12294 h 401"/>
                  <a:gd name="T26" fmla="*/ 34375 w 529"/>
                  <a:gd name="T27" fmla="*/ 6630 h 401"/>
                  <a:gd name="T28" fmla="*/ 29925 w 529"/>
                  <a:gd name="T29" fmla="*/ 8489 h 401"/>
                  <a:gd name="T30" fmla="*/ 29925 w 529"/>
                  <a:gd name="T31" fmla="*/ 6630 h 401"/>
                  <a:gd name="T32" fmla="*/ 22178 w 529"/>
                  <a:gd name="T33" fmla="*/ 7566 h 401"/>
                  <a:gd name="T34" fmla="*/ 16644 w 529"/>
                  <a:gd name="T35" fmla="*/ 4728 h 401"/>
                  <a:gd name="T36" fmla="*/ 16644 w 529"/>
                  <a:gd name="T37" fmla="*/ 0 h 401"/>
                  <a:gd name="T38" fmla="*/ 14421 w 529"/>
                  <a:gd name="T39" fmla="*/ 936 h 401"/>
                  <a:gd name="T40" fmla="*/ 8886 w 529"/>
                  <a:gd name="T41" fmla="*/ 936 h 401"/>
                  <a:gd name="T42" fmla="*/ 9970 w 529"/>
                  <a:gd name="T43" fmla="*/ 6630 h 401"/>
                  <a:gd name="T44" fmla="*/ 6663 w 529"/>
                  <a:gd name="T45" fmla="*/ 6630 h 401"/>
                  <a:gd name="T46" fmla="*/ 1094 w 529"/>
                  <a:gd name="T47" fmla="*/ 3762 h 401"/>
                  <a:gd name="T48" fmla="*/ 0 w 529"/>
                  <a:gd name="T49" fmla="*/ 6630 h 401"/>
                  <a:gd name="T50" fmla="*/ 4436 w 529"/>
                  <a:gd name="T51" fmla="*/ 10391 h 401"/>
                  <a:gd name="T52" fmla="*/ 3307 w 529"/>
                  <a:gd name="T53" fmla="*/ 14196 h 401"/>
                  <a:gd name="T54" fmla="*/ 6663 w 529"/>
                  <a:gd name="T55" fmla="*/ 18877 h 401"/>
                  <a:gd name="T56" fmla="*/ 12197 w 529"/>
                  <a:gd name="T57" fmla="*/ 16052 h 401"/>
                  <a:gd name="T58" fmla="*/ 15515 w 529"/>
                  <a:gd name="T59" fmla="*/ 21749 h 401"/>
                  <a:gd name="T60" fmla="*/ 15515 w 529"/>
                  <a:gd name="T61" fmla="*/ 26443 h 401"/>
                  <a:gd name="T62" fmla="*/ 21084 w 529"/>
                  <a:gd name="T63" fmla="*/ 26443 h 401"/>
                  <a:gd name="T64" fmla="*/ 23262 w 529"/>
                  <a:gd name="T65" fmla="*/ 31171 h 401"/>
                  <a:gd name="T66" fmla="*/ 24391 w 529"/>
                  <a:gd name="T67" fmla="*/ 27409 h 401"/>
                  <a:gd name="T68" fmla="*/ 28841 w 529"/>
                  <a:gd name="T69" fmla="*/ 33073 h 401"/>
                  <a:gd name="T70" fmla="*/ 32148 w 529"/>
                  <a:gd name="T71" fmla="*/ 37801 h 401"/>
                  <a:gd name="T72" fmla="*/ 32148 w 529"/>
                  <a:gd name="T73" fmla="*/ 40639 h 401"/>
                  <a:gd name="T74" fmla="*/ 36588 w 529"/>
                  <a:gd name="T75" fmla="*/ 47256 h 401"/>
                  <a:gd name="T76" fmla="*/ 39906 w 529"/>
                  <a:gd name="T77" fmla="*/ 44430 h 401"/>
                  <a:gd name="T78" fmla="*/ 42133 w 529"/>
                  <a:gd name="T79" fmla="*/ 38737 h 401"/>
                  <a:gd name="T80" fmla="*/ 44346 w 529"/>
                  <a:gd name="T81" fmla="*/ 37801 h 401"/>
                  <a:gd name="T82" fmla="*/ 46569 w 529"/>
                  <a:gd name="T83" fmla="*/ 38737 h 401"/>
                  <a:gd name="T84" fmla="*/ 45440 w 529"/>
                  <a:gd name="T85" fmla="*/ 40639 h 401"/>
                  <a:gd name="T86" fmla="*/ 52103 w 529"/>
                  <a:gd name="T87" fmla="*/ 40639 h 401"/>
                  <a:gd name="T88" fmla="*/ 54326 w 529"/>
                  <a:gd name="T89" fmla="*/ 38737 h 401"/>
                  <a:gd name="T90" fmla="*/ 54326 w 529"/>
                  <a:gd name="T91" fmla="*/ 36868 h 401"/>
                  <a:gd name="T92" fmla="*/ 53232 w 529"/>
                  <a:gd name="T93" fmla="*/ 34975 h 401"/>
                  <a:gd name="T94" fmla="*/ 59861 w 529"/>
                  <a:gd name="T95" fmla="*/ 32140 h 401"/>
                  <a:gd name="T96" fmla="*/ 60989 w 529"/>
                  <a:gd name="T97" fmla="*/ 31171 h 401"/>
                  <a:gd name="T98" fmla="*/ 60989 w 529"/>
                  <a:gd name="T99" fmla="*/ 29311 h 401"/>
                  <a:gd name="T100" fmla="*/ 63213 w 529"/>
                  <a:gd name="T101" fmla="*/ 28346 h 401"/>
                  <a:gd name="T102" fmla="*/ 63213 w 529"/>
                  <a:gd name="T103" fmla="*/ 22682 h 401"/>
                  <a:gd name="T104" fmla="*/ 65391 w 529"/>
                  <a:gd name="T105" fmla="*/ 22682 h 401"/>
                  <a:gd name="T106" fmla="*/ 66524 w 529"/>
                  <a:gd name="T107" fmla="*/ 25507 h 401"/>
                  <a:gd name="T108" fmla="*/ 69831 w 529"/>
                  <a:gd name="T109" fmla="*/ 27409 h 401"/>
                  <a:gd name="T110" fmla="*/ 70960 w 529"/>
                  <a:gd name="T111" fmla="*/ 26443 h 401"/>
                  <a:gd name="T112" fmla="*/ 69831 w 529"/>
                  <a:gd name="T113" fmla="*/ 24584 h 401"/>
                  <a:gd name="T114" fmla="*/ 69831 w 529"/>
                  <a:gd name="T115" fmla="*/ 22682 h 401"/>
                  <a:gd name="T116" fmla="*/ 73187 w 529"/>
                  <a:gd name="T117" fmla="*/ 21749 h 401"/>
                  <a:gd name="T118" fmla="*/ 73187 w 529"/>
                  <a:gd name="T119" fmla="*/ 17021 h 40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29" h="401">
                    <a:moveTo>
                      <a:pt x="528" y="144"/>
                    </a:moveTo>
                    <a:lnTo>
                      <a:pt x="480" y="144"/>
                    </a:lnTo>
                    <a:lnTo>
                      <a:pt x="456" y="120"/>
                    </a:lnTo>
                    <a:lnTo>
                      <a:pt x="424" y="152"/>
                    </a:lnTo>
                    <a:lnTo>
                      <a:pt x="416" y="136"/>
                    </a:lnTo>
                    <a:lnTo>
                      <a:pt x="408" y="160"/>
                    </a:lnTo>
                    <a:lnTo>
                      <a:pt x="360" y="128"/>
                    </a:lnTo>
                    <a:lnTo>
                      <a:pt x="360" y="88"/>
                    </a:lnTo>
                    <a:lnTo>
                      <a:pt x="344" y="96"/>
                    </a:lnTo>
                    <a:lnTo>
                      <a:pt x="352" y="128"/>
                    </a:lnTo>
                    <a:lnTo>
                      <a:pt x="328" y="128"/>
                    </a:lnTo>
                    <a:lnTo>
                      <a:pt x="312" y="104"/>
                    </a:lnTo>
                    <a:lnTo>
                      <a:pt x="296" y="104"/>
                    </a:lnTo>
                    <a:lnTo>
                      <a:pt x="248" y="56"/>
                    </a:lnTo>
                    <a:lnTo>
                      <a:pt x="216" y="72"/>
                    </a:lnTo>
                    <a:lnTo>
                      <a:pt x="216" y="56"/>
                    </a:lnTo>
                    <a:lnTo>
                      <a:pt x="160" y="64"/>
                    </a:lnTo>
                    <a:lnTo>
                      <a:pt x="120" y="40"/>
                    </a:lnTo>
                    <a:lnTo>
                      <a:pt x="120" y="0"/>
                    </a:lnTo>
                    <a:lnTo>
                      <a:pt x="104" y="8"/>
                    </a:lnTo>
                    <a:lnTo>
                      <a:pt x="64" y="8"/>
                    </a:lnTo>
                    <a:lnTo>
                      <a:pt x="72" y="56"/>
                    </a:lnTo>
                    <a:lnTo>
                      <a:pt x="48" y="56"/>
                    </a:lnTo>
                    <a:lnTo>
                      <a:pt x="8" y="32"/>
                    </a:lnTo>
                    <a:lnTo>
                      <a:pt x="0" y="56"/>
                    </a:lnTo>
                    <a:lnTo>
                      <a:pt x="32" y="88"/>
                    </a:lnTo>
                    <a:lnTo>
                      <a:pt x="24" y="120"/>
                    </a:lnTo>
                    <a:lnTo>
                      <a:pt x="48" y="160"/>
                    </a:lnTo>
                    <a:lnTo>
                      <a:pt x="88" y="136"/>
                    </a:lnTo>
                    <a:lnTo>
                      <a:pt x="112" y="184"/>
                    </a:lnTo>
                    <a:lnTo>
                      <a:pt x="112" y="224"/>
                    </a:lnTo>
                    <a:lnTo>
                      <a:pt x="152" y="224"/>
                    </a:lnTo>
                    <a:lnTo>
                      <a:pt x="168" y="264"/>
                    </a:lnTo>
                    <a:lnTo>
                      <a:pt x="176" y="232"/>
                    </a:lnTo>
                    <a:lnTo>
                      <a:pt x="208" y="280"/>
                    </a:lnTo>
                    <a:lnTo>
                      <a:pt x="232" y="320"/>
                    </a:lnTo>
                    <a:lnTo>
                      <a:pt x="232" y="344"/>
                    </a:lnTo>
                    <a:lnTo>
                      <a:pt x="264" y="400"/>
                    </a:lnTo>
                    <a:lnTo>
                      <a:pt x="288" y="376"/>
                    </a:lnTo>
                    <a:lnTo>
                      <a:pt x="304" y="328"/>
                    </a:lnTo>
                    <a:lnTo>
                      <a:pt x="320" y="320"/>
                    </a:lnTo>
                    <a:lnTo>
                      <a:pt x="336" y="328"/>
                    </a:lnTo>
                    <a:lnTo>
                      <a:pt x="328" y="344"/>
                    </a:lnTo>
                    <a:lnTo>
                      <a:pt x="376" y="344"/>
                    </a:lnTo>
                    <a:lnTo>
                      <a:pt x="392" y="328"/>
                    </a:lnTo>
                    <a:lnTo>
                      <a:pt x="392" y="312"/>
                    </a:lnTo>
                    <a:lnTo>
                      <a:pt x="384" y="296"/>
                    </a:lnTo>
                    <a:lnTo>
                      <a:pt x="432" y="272"/>
                    </a:lnTo>
                    <a:lnTo>
                      <a:pt x="440" y="264"/>
                    </a:lnTo>
                    <a:lnTo>
                      <a:pt x="440" y="248"/>
                    </a:lnTo>
                    <a:lnTo>
                      <a:pt x="456" y="240"/>
                    </a:lnTo>
                    <a:lnTo>
                      <a:pt x="456" y="192"/>
                    </a:lnTo>
                    <a:lnTo>
                      <a:pt x="472" y="192"/>
                    </a:lnTo>
                    <a:lnTo>
                      <a:pt x="480" y="216"/>
                    </a:lnTo>
                    <a:lnTo>
                      <a:pt x="504" y="232"/>
                    </a:lnTo>
                    <a:lnTo>
                      <a:pt x="512" y="224"/>
                    </a:lnTo>
                    <a:lnTo>
                      <a:pt x="504" y="208"/>
                    </a:lnTo>
                    <a:lnTo>
                      <a:pt x="504" y="192"/>
                    </a:lnTo>
                    <a:lnTo>
                      <a:pt x="528" y="184"/>
                    </a:lnTo>
                    <a:lnTo>
                      <a:pt x="528" y="144"/>
                    </a:lnTo>
                  </a:path>
                </a:pathLst>
              </a:custGeom>
              <a:solidFill>
                <a:srgbClr val="0277AC"/>
              </a:solidFill>
              <a:ln w="9525">
                <a:solidFill>
                  <a:srgbClr val="FFFFFF">
                    <a:alpha val="54117"/>
                  </a:srgbClr>
                </a:solidFill>
                <a:bevel/>
              </a:ln>
            </p:spPr>
            <p:txBody>
              <a:bodyPr/>
              <a:lstStyle/>
              <a:p>
                <a:endParaRPr lang="zh-CN" altLang="en-US"/>
              </a:p>
            </p:txBody>
          </p:sp>
          <p:sp>
            <p:nvSpPr>
              <p:cNvPr id="36882" name="Freeform 6"/>
              <p:cNvSpPr>
                <a:spLocks noChangeArrowheads="1"/>
              </p:cNvSpPr>
              <p:nvPr/>
            </p:nvSpPr>
            <p:spPr bwMode="auto">
              <a:xfrm>
                <a:off x="13675" y="3570"/>
                <a:ext cx="1295" cy="1298"/>
              </a:xfrm>
              <a:custGeom>
                <a:avLst/>
                <a:gdLst>
                  <a:gd name="T0" fmla="*/ 52367 w 377"/>
                  <a:gd name="T1" fmla="*/ 20933 h 393"/>
                  <a:gd name="T2" fmla="*/ 46771 w 377"/>
                  <a:gd name="T3" fmla="*/ 14268 h 393"/>
                  <a:gd name="T4" fmla="*/ 47905 w 377"/>
                  <a:gd name="T5" fmla="*/ 11421 h 393"/>
                  <a:gd name="T6" fmla="*/ 43446 w 377"/>
                  <a:gd name="T7" fmla="*/ 4756 h 393"/>
                  <a:gd name="T8" fmla="*/ 40083 w 377"/>
                  <a:gd name="T9" fmla="*/ 938 h 393"/>
                  <a:gd name="T10" fmla="*/ 38984 w 377"/>
                  <a:gd name="T11" fmla="*/ 4756 h 393"/>
                  <a:gd name="T12" fmla="*/ 36768 w 377"/>
                  <a:gd name="T13" fmla="*/ 0 h 393"/>
                  <a:gd name="T14" fmla="*/ 32306 w 377"/>
                  <a:gd name="T15" fmla="*/ 0 h 393"/>
                  <a:gd name="T16" fmla="*/ 33392 w 377"/>
                  <a:gd name="T17" fmla="*/ 2847 h 393"/>
                  <a:gd name="T18" fmla="*/ 27848 w 377"/>
                  <a:gd name="T19" fmla="*/ 6665 h 393"/>
                  <a:gd name="T20" fmla="*/ 24519 w 377"/>
                  <a:gd name="T21" fmla="*/ 6665 h 393"/>
                  <a:gd name="T22" fmla="*/ 6691 w 377"/>
                  <a:gd name="T23" fmla="*/ 17148 h 393"/>
                  <a:gd name="T24" fmla="*/ 3329 w 377"/>
                  <a:gd name="T25" fmla="*/ 13330 h 393"/>
                  <a:gd name="T26" fmla="*/ 1096 w 377"/>
                  <a:gd name="T27" fmla="*/ 13330 h 393"/>
                  <a:gd name="T28" fmla="*/ 2229 w 377"/>
                  <a:gd name="T29" fmla="*/ 16177 h 393"/>
                  <a:gd name="T30" fmla="*/ 2229 w 377"/>
                  <a:gd name="T31" fmla="*/ 19024 h 393"/>
                  <a:gd name="T32" fmla="*/ 3329 w 377"/>
                  <a:gd name="T33" fmla="*/ 21904 h 393"/>
                  <a:gd name="T34" fmla="*/ 1096 w 377"/>
                  <a:gd name="T35" fmla="*/ 21904 h 393"/>
                  <a:gd name="T36" fmla="*/ 1096 w 377"/>
                  <a:gd name="T37" fmla="*/ 25689 h 393"/>
                  <a:gd name="T38" fmla="*/ 0 w 377"/>
                  <a:gd name="T39" fmla="*/ 27598 h 393"/>
                  <a:gd name="T40" fmla="*/ 4459 w 377"/>
                  <a:gd name="T41" fmla="*/ 28569 h 393"/>
                  <a:gd name="T42" fmla="*/ 8921 w 377"/>
                  <a:gd name="T43" fmla="*/ 35234 h 393"/>
                  <a:gd name="T44" fmla="*/ 14465 w 377"/>
                  <a:gd name="T45" fmla="*/ 28569 h 393"/>
                  <a:gd name="T46" fmla="*/ 16698 w 377"/>
                  <a:gd name="T47" fmla="*/ 24751 h 393"/>
                  <a:gd name="T48" fmla="*/ 22290 w 377"/>
                  <a:gd name="T49" fmla="*/ 23813 h 393"/>
                  <a:gd name="T50" fmla="*/ 25615 w 377"/>
                  <a:gd name="T51" fmla="*/ 25689 h 393"/>
                  <a:gd name="T52" fmla="*/ 25615 w 377"/>
                  <a:gd name="T53" fmla="*/ 26660 h 393"/>
                  <a:gd name="T54" fmla="*/ 26748 w 377"/>
                  <a:gd name="T55" fmla="*/ 26660 h 393"/>
                  <a:gd name="T56" fmla="*/ 23386 w 377"/>
                  <a:gd name="T57" fmla="*/ 33325 h 393"/>
                  <a:gd name="T58" fmla="*/ 21156 w 377"/>
                  <a:gd name="T59" fmla="*/ 33325 h 393"/>
                  <a:gd name="T60" fmla="*/ 22290 w 377"/>
                  <a:gd name="T61" fmla="*/ 37110 h 393"/>
                  <a:gd name="T62" fmla="*/ 21156 w 377"/>
                  <a:gd name="T63" fmla="*/ 38081 h 393"/>
                  <a:gd name="T64" fmla="*/ 23386 w 377"/>
                  <a:gd name="T65" fmla="*/ 38081 h 393"/>
                  <a:gd name="T66" fmla="*/ 18927 w 377"/>
                  <a:gd name="T67" fmla="*/ 44746 h 393"/>
                  <a:gd name="T68" fmla="*/ 20060 w 377"/>
                  <a:gd name="T69" fmla="*/ 46655 h 393"/>
                  <a:gd name="T70" fmla="*/ 22290 w 377"/>
                  <a:gd name="T71" fmla="*/ 44746 h 393"/>
                  <a:gd name="T72" fmla="*/ 23386 w 377"/>
                  <a:gd name="T73" fmla="*/ 41899 h 393"/>
                  <a:gd name="T74" fmla="*/ 25615 w 377"/>
                  <a:gd name="T75" fmla="*/ 41899 h 393"/>
                  <a:gd name="T76" fmla="*/ 27848 w 377"/>
                  <a:gd name="T77" fmla="*/ 39990 h 393"/>
                  <a:gd name="T78" fmla="*/ 27848 w 377"/>
                  <a:gd name="T79" fmla="*/ 37110 h 393"/>
                  <a:gd name="T80" fmla="*/ 35621 w 377"/>
                  <a:gd name="T81" fmla="*/ 33325 h 393"/>
                  <a:gd name="T82" fmla="*/ 42312 w 377"/>
                  <a:gd name="T83" fmla="*/ 31416 h 393"/>
                  <a:gd name="T84" fmla="*/ 43446 w 377"/>
                  <a:gd name="T85" fmla="*/ 26660 h 393"/>
                  <a:gd name="T86" fmla="*/ 47905 w 377"/>
                  <a:gd name="T87" fmla="*/ 23813 h 393"/>
                  <a:gd name="T88" fmla="*/ 51233 w 377"/>
                  <a:gd name="T89" fmla="*/ 22842 h 393"/>
                  <a:gd name="T90" fmla="*/ 52367 w 377"/>
                  <a:gd name="T91" fmla="*/ 20933 h 39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77" h="393">
                    <a:moveTo>
                      <a:pt x="376" y="176"/>
                    </a:moveTo>
                    <a:lnTo>
                      <a:pt x="336" y="120"/>
                    </a:lnTo>
                    <a:lnTo>
                      <a:pt x="344" y="96"/>
                    </a:lnTo>
                    <a:lnTo>
                      <a:pt x="312" y="40"/>
                    </a:lnTo>
                    <a:lnTo>
                      <a:pt x="288" y="8"/>
                    </a:lnTo>
                    <a:lnTo>
                      <a:pt x="280" y="40"/>
                    </a:lnTo>
                    <a:lnTo>
                      <a:pt x="264" y="0"/>
                    </a:lnTo>
                    <a:lnTo>
                      <a:pt x="232" y="0"/>
                    </a:lnTo>
                    <a:lnTo>
                      <a:pt x="240" y="24"/>
                    </a:lnTo>
                    <a:lnTo>
                      <a:pt x="200" y="56"/>
                    </a:lnTo>
                    <a:lnTo>
                      <a:pt x="176" y="56"/>
                    </a:lnTo>
                    <a:lnTo>
                      <a:pt x="48" y="144"/>
                    </a:lnTo>
                    <a:lnTo>
                      <a:pt x="24" y="112"/>
                    </a:lnTo>
                    <a:lnTo>
                      <a:pt x="8" y="112"/>
                    </a:lnTo>
                    <a:lnTo>
                      <a:pt x="16" y="136"/>
                    </a:lnTo>
                    <a:lnTo>
                      <a:pt x="16" y="160"/>
                    </a:lnTo>
                    <a:lnTo>
                      <a:pt x="24" y="184"/>
                    </a:lnTo>
                    <a:lnTo>
                      <a:pt x="8" y="184"/>
                    </a:lnTo>
                    <a:lnTo>
                      <a:pt x="8" y="216"/>
                    </a:lnTo>
                    <a:lnTo>
                      <a:pt x="0" y="232"/>
                    </a:lnTo>
                    <a:lnTo>
                      <a:pt x="32" y="240"/>
                    </a:lnTo>
                    <a:lnTo>
                      <a:pt x="64" y="296"/>
                    </a:lnTo>
                    <a:lnTo>
                      <a:pt x="104" y="240"/>
                    </a:lnTo>
                    <a:lnTo>
                      <a:pt x="120" y="208"/>
                    </a:lnTo>
                    <a:lnTo>
                      <a:pt x="160" y="200"/>
                    </a:lnTo>
                    <a:lnTo>
                      <a:pt x="184" y="216"/>
                    </a:lnTo>
                    <a:lnTo>
                      <a:pt x="184" y="224"/>
                    </a:lnTo>
                    <a:lnTo>
                      <a:pt x="192" y="224"/>
                    </a:lnTo>
                    <a:lnTo>
                      <a:pt x="168" y="280"/>
                    </a:lnTo>
                    <a:lnTo>
                      <a:pt x="152" y="280"/>
                    </a:lnTo>
                    <a:lnTo>
                      <a:pt x="160" y="312"/>
                    </a:lnTo>
                    <a:lnTo>
                      <a:pt x="152" y="320"/>
                    </a:lnTo>
                    <a:lnTo>
                      <a:pt x="168" y="320"/>
                    </a:lnTo>
                    <a:lnTo>
                      <a:pt x="136" y="376"/>
                    </a:lnTo>
                    <a:lnTo>
                      <a:pt x="144" y="392"/>
                    </a:lnTo>
                    <a:lnTo>
                      <a:pt x="160" y="376"/>
                    </a:lnTo>
                    <a:lnTo>
                      <a:pt x="168" y="352"/>
                    </a:lnTo>
                    <a:lnTo>
                      <a:pt x="184" y="352"/>
                    </a:lnTo>
                    <a:lnTo>
                      <a:pt x="200" y="336"/>
                    </a:lnTo>
                    <a:lnTo>
                      <a:pt x="200" y="312"/>
                    </a:lnTo>
                    <a:lnTo>
                      <a:pt x="256" y="280"/>
                    </a:lnTo>
                    <a:lnTo>
                      <a:pt x="304" y="264"/>
                    </a:lnTo>
                    <a:lnTo>
                      <a:pt x="312" y="224"/>
                    </a:lnTo>
                    <a:lnTo>
                      <a:pt x="344" y="200"/>
                    </a:lnTo>
                    <a:lnTo>
                      <a:pt x="368" y="192"/>
                    </a:lnTo>
                    <a:lnTo>
                      <a:pt x="376" y="176"/>
                    </a:lnTo>
                  </a:path>
                </a:pathLst>
              </a:custGeom>
              <a:solidFill>
                <a:srgbClr val="DADADA"/>
              </a:solidFill>
              <a:ln w="9525">
                <a:solidFill>
                  <a:srgbClr val="FFFFFF">
                    <a:alpha val="54117"/>
                  </a:srgbClr>
                </a:solidFill>
                <a:bevel/>
              </a:ln>
            </p:spPr>
            <p:txBody>
              <a:bodyPr/>
              <a:lstStyle/>
              <a:p>
                <a:endParaRPr lang="zh-CN" altLang="en-US"/>
              </a:p>
            </p:txBody>
          </p:sp>
          <p:sp>
            <p:nvSpPr>
              <p:cNvPr id="36883" name="Freeform 7"/>
              <p:cNvSpPr>
                <a:spLocks noChangeArrowheads="1"/>
              </p:cNvSpPr>
              <p:nvPr/>
            </p:nvSpPr>
            <p:spPr bwMode="auto">
              <a:xfrm>
                <a:off x="12689" y="3864"/>
                <a:ext cx="1209" cy="1767"/>
              </a:xfrm>
              <a:custGeom>
                <a:avLst/>
                <a:gdLst>
                  <a:gd name="T0" fmla="*/ 44034 w 353"/>
                  <a:gd name="T1" fmla="*/ 18743 h 537"/>
                  <a:gd name="T2" fmla="*/ 40740 w 353"/>
                  <a:gd name="T3" fmla="*/ 11260 h 537"/>
                  <a:gd name="T4" fmla="*/ 34112 w 353"/>
                  <a:gd name="T5" fmla="*/ 10329 h 537"/>
                  <a:gd name="T6" fmla="*/ 30814 w 353"/>
                  <a:gd name="T7" fmla="*/ 0 h 537"/>
                  <a:gd name="T8" fmla="*/ 24221 w 353"/>
                  <a:gd name="T9" fmla="*/ 7516 h 537"/>
                  <a:gd name="T10" fmla="*/ 18721 w 353"/>
                  <a:gd name="T11" fmla="*/ 9365 h 537"/>
                  <a:gd name="T12" fmla="*/ 11004 w 353"/>
                  <a:gd name="T13" fmla="*/ 12181 h 537"/>
                  <a:gd name="T14" fmla="*/ 4422 w 353"/>
                  <a:gd name="T15" fmla="*/ 8447 h 537"/>
                  <a:gd name="T16" fmla="*/ 1079 w 353"/>
                  <a:gd name="T17" fmla="*/ 14077 h 537"/>
                  <a:gd name="T18" fmla="*/ 7720 w 353"/>
                  <a:gd name="T19" fmla="*/ 23442 h 537"/>
                  <a:gd name="T20" fmla="*/ 3295 w 353"/>
                  <a:gd name="T21" fmla="*/ 27186 h 537"/>
                  <a:gd name="T22" fmla="*/ 8799 w 353"/>
                  <a:gd name="T23" fmla="*/ 31888 h 537"/>
                  <a:gd name="T24" fmla="*/ 4422 w 353"/>
                  <a:gd name="T25" fmla="*/ 33770 h 537"/>
                  <a:gd name="T26" fmla="*/ 2206 w 353"/>
                  <a:gd name="T27" fmla="*/ 38436 h 537"/>
                  <a:gd name="T28" fmla="*/ 4422 w 353"/>
                  <a:gd name="T29" fmla="*/ 46883 h 537"/>
                  <a:gd name="T30" fmla="*/ 3295 w 353"/>
                  <a:gd name="T31" fmla="*/ 60029 h 537"/>
                  <a:gd name="T32" fmla="*/ 12093 w 353"/>
                  <a:gd name="T33" fmla="*/ 61891 h 537"/>
                  <a:gd name="T34" fmla="*/ 15426 w 353"/>
                  <a:gd name="T35" fmla="*/ 60029 h 537"/>
                  <a:gd name="T36" fmla="*/ 20926 w 353"/>
                  <a:gd name="T37" fmla="*/ 49696 h 537"/>
                  <a:gd name="T38" fmla="*/ 31941 w 353"/>
                  <a:gd name="T39" fmla="*/ 44066 h 537"/>
                  <a:gd name="T40" fmla="*/ 33020 w 353"/>
                  <a:gd name="T41" fmla="*/ 40332 h 537"/>
                  <a:gd name="T42" fmla="*/ 26440 w 353"/>
                  <a:gd name="T43" fmla="*/ 37518 h 537"/>
                  <a:gd name="T44" fmla="*/ 25314 w 353"/>
                  <a:gd name="T45" fmla="*/ 33770 h 537"/>
                  <a:gd name="T46" fmla="*/ 22019 w 353"/>
                  <a:gd name="T47" fmla="*/ 30957 h 537"/>
                  <a:gd name="T48" fmla="*/ 14299 w 353"/>
                  <a:gd name="T49" fmla="*/ 30003 h 537"/>
                  <a:gd name="T50" fmla="*/ 18721 w 353"/>
                  <a:gd name="T51" fmla="*/ 19707 h 537"/>
                  <a:gd name="T52" fmla="*/ 22019 w 353"/>
                  <a:gd name="T53" fmla="*/ 15959 h 537"/>
                  <a:gd name="T54" fmla="*/ 26440 w 353"/>
                  <a:gd name="T55" fmla="*/ 17811 h 537"/>
                  <a:gd name="T56" fmla="*/ 28608 w 353"/>
                  <a:gd name="T57" fmla="*/ 21556 h 537"/>
                  <a:gd name="T58" fmla="*/ 30814 w 353"/>
                  <a:gd name="T59" fmla="*/ 23442 h 537"/>
                  <a:gd name="T60" fmla="*/ 35236 w 353"/>
                  <a:gd name="T61" fmla="*/ 30003 h 537"/>
                  <a:gd name="T62" fmla="*/ 37441 w 353"/>
                  <a:gd name="T63" fmla="*/ 33770 h 537"/>
                  <a:gd name="T64" fmla="*/ 45113 w 353"/>
                  <a:gd name="T65" fmla="*/ 25337 h 5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53" h="537">
                    <a:moveTo>
                      <a:pt x="352" y="208"/>
                    </a:moveTo>
                    <a:lnTo>
                      <a:pt x="320" y="160"/>
                    </a:lnTo>
                    <a:lnTo>
                      <a:pt x="288" y="152"/>
                    </a:lnTo>
                    <a:lnTo>
                      <a:pt x="296" y="96"/>
                    </a:lnTo>
                    <a:lnTo>
                      <a:pt x="264" y="104"/>
                    </a:lnTo>
                    <a:lnTo>
                      <a:pt x="248" y="88"/>
                    </a:lnTo>
                    <a:lnTo>
                      <a:pt x="248" y="48"/>
                    </a:lnTo>
                    <a:lnTo>
                      <a:pt x="224" y="0"/>
                    </a:lnTo>
                    <a:lnTo>
                      <a:pt x="176" y="24"/>
                    </a:lnTo>
                    <a:lnTo>
                      <a:pt x="176" y="64"/>
                    </a:lnTo>
                    <a:lnTo>
                      <a:pt x="144" y="56"/>
                    </a:lnTo>
                    <a:lnTo>
                      <a:pt x="136" y="80"/>
                    </a:lnTo>
                    <a:lnTo>
                      <a:pt x="112" y="72"/>
                    </a:lnTo>
                    <a:lnTo>
                      <a:pt x="80" y="104"/>
                    </a:lnTo>
                    <a:lnTo>
                      <a:pt x="56" y="56"/>
                    </a:lnTo>
                    <a:lnTo>
                      <a:pt x="32" y="72"/>
                    </a:lnTo>
                    <a:lnTo>
                      <a:pt x="24" y="112"/>
                    </a:lnTo>
                    <a:lnTo>
                      <a:pt x="8" y="120"/>
                    </a:lnTo>
                    <a:lnTo>
                      <a:pt x="32" y="184"/>
                    </a:lnTo>
                    <a:lnTo>
                      <a:pt x="56" y="200"/>
                    </a:lnTo>
                    <a:lnTo>
                      <a:pt x="32" y="216"/>
                    </a:lnTo>
                    <a:lnTo>
                      <a:pt x="24" y="232"/>
                    </a:lnTo>
                    <a:lnTo>
                      <a:pt x="56" y="232"/>
                    </a:lnTo>
                    <a:lnTo>
                      <a:pt x="64" y="272"/>
                    </a:lnTo>
                    <a:lnTo>
                      <a:pt x="48" y="304"/>
                    </a:lnTo>
                    <a:lnTo>
                      <a:pt x="32" y="288"/>
                    </a:lnTo>
                    <a:lnTo>
                      <a:pt x="16" y="304"/>
                    </a:lnTo>
                    <a:lnTo>
                      <a:pt x="16" y="328"/>
                    </a:lnTo>
                    <a:lnTo>
                      <a:pt x="0" y="344"/>
                    </a:lnTo>
                    <a:lnTo>
                      <a:pt x="32" y="400"/>
                    </a:lnTo>
                    <a:lnTo>
                      <a:pt x="8" y="488"/>
                    </a:lnTo>
                    <a:lnTo>
                      <a:pt x="24" y="512"/>
                    </a:lnTo>
                    <a:lnTo>
                      <a:pt x="72" y="512"/>
                    </a:lnTo>
                    <a:lnTo>
                      <a:pt x="88" y="528"/>
                    </a:lnTo>
                    <a:lnTo>
                      <a:pt x="128" y="536"/>
                    </a:lnTo>
                    <a:lnTo>
                      <a:pt x="112" y="512"/>
                    </a:lnTo>
                    <a:lnTo>
                      <a:pt x="120" y="480"/>
                    </a:lnTo>
                    <a:lnTo>
                      <a:pt x="152" y="424"/>
                    </a:lnTo>
                    <a:lnTo>
                      <a:pt x="192" y="384"/>
                    </a:lnTo>
                    <a:lnTo>
                      <a:pt x="232" y="376"/>
                    </a:lnTo>
                    <a:lnTo>
                      <a:pt x="248" y="360"/>
                    </a:lnTo>
                    <a:lnTo>
                      <a:pt x="240" y="344"/>
                    </a:lnTo>
                    <a:lnTo>
                      <a:pt x="224" y="312"/>
                    </a:lnTo>
                    <a:lnTo>
                      <a:pt x="192" y="320"/>
                    </a:lnTo>
                    <a:lnTo>
                      <a:pt x="176" y="312"/>
                    </a:lnTo>
                    <a:lnTo>
                      <a:pt x="184" y="288"/>
                    </a:lnTo>
                    <a:lnTo>
                      <a:pt x="184" y="248"/>
                    </a:lnTo>
                    <a:lnTo>
                      <a:pt x="160" y="264"/>
                    </a:lnTo>
                    <a:lnTo>
                      <a:pt x="128" y="256"/>
                    </a:lnTo>
                    <a:lnTo>
                      <a:pt x="104" y="256"/>
                    </a:lnTo>
                    <a:lnTo>
                      <a:pt x="104" y="224"/>
                    </a:lnTo>
                    <a:lnTo>
                      <a:pt x="136" y="168"/>
                    </a:lnTo>
                    <a:lnTo>
                      <a:pt x="152" y="168"/>
                    </a:lnTo>
                    <a:lnTo>
                      <a:pt x="160" y="136"/>
                    </a:lnTo>
                    <a:lnTo>
                      <a:pt x="176" y="136"/>
                    </a:lnTo>
                    <a:lnTo>
                      <a:pt x="192" y="152"/>
                    </a:lnTo>
                    <a:lnTo>
                      <a:pt x="216" y="152"/>
                    </a:lnTo>
                    <a:lnTo>
                      <a:pt x="208" y="184"/>
                    </a:lnTo>
                    <a:lnTo>
                      <a:pt x="208" y="200"/>
                    </a:lnTo>
                    <a:lnTo>
                      <a:pt x="224" y="200"/>
                    </a:lnTo>
                    <a:lnTo>
                      <a:pt x="224" y="232"/>
                    </a:lnTo>
                    <a:lnTo>
                      <a:pt x="256" y="256"/>
                    </a:lnTo>
                    <a:lnTo>
                      <a:pt x="264" y="280"/>
                    </a:lnTo>
                    <a:lnTo>
                      <a:pt x="272" y="288"/>
                    </a:lnTo>
                    <a:lnTo>
                      <a:pt x="312" y="256"/>
                    </a:lnTo>
                    <a:lnTo>
                      <a:pt x="328" y="216"/>
                    </a:lnTo>
                    <a:lnTo>
                      <a:pt x="352" y="208"/>
                    </a:lnTo>
                  </a:path>
                </a:pathLst>
              </a:custGeom>
              <a:solidFill>
                <a:srgbClr val="0077AC"/>
              </a:solidFill>
              <a:ln w="9525">
                <a:solidFill>
                  <a:srgbClr val="FFFFFF">
                    <a:alpha val="54117"/>
                  </a:srgbClr>
                </a:solidFill>
                <a:bevel/>
              </a:ln>
            </p:spPr>
            <p:txBody>
              <a:bodyPr/>
              <a:lstStyle/>
              <a:p>
                <a:endParaRPr lang="zh-CN" altLang="en-US" dirty="0"/>
              </a:p>
            </p:txBody>
          </p:sp>
          <p:sp>
            <p:nvSpPr>
              <p:cNvPr id="36884" name="Freeform 8"/>
              <p:cNvSpPr>
                <a:spLocks noChangeArrowheads="1"/>
              </p:cNvSpPr>
              <p:nvPr/>
            </p:nvSpPr>
            <p:spPr bwMode="auto">
              <a:xfrm>
                <a:off x="13041" y="4312"/>
                <a:ext cx="389" cy="422"/>
              </a:xfrm>
              <a:custGeom>
                <a:avLst/>
                <a:gdLst>
                  <a:gd name="T0" fmla="*/ 15749 w 113"/>
                  <a:gd name="T1" fmla="*/ 7321 h 129"/>
                  <a:gd name="T2" fmla="*/ 13464 w 113"/>
                  <a:gd name="T3" fmla="*/ 4590 h 129"/>
                  <a:gd name="T4" fmla="*/ 15749 w 113"/>
                  <a:gd name="T5" fmla="*/ 1819 h 129"/>
                  <a:gd name="T6" fmla="*/ 11222 w 113"/>
                  <a:gd name="T7" fmla="*/ 1819 h 129"/>
                  <a:gd name="T8" fmla="*/ 10121 w 113"/>
                  <a:gd name="T9" fmla="*/ 0 h 129"/>
                  <a:gd name="T10" fmla="*/ 7870 w 113"/>
                  <a:gd name="T11" fmla="*/ 0 h 129"/>
                  <a:gd name="T12" fmla="*/ 6730 w 113"/>
                  <a:gd name="T13" fmla="*/ 3670 h 129"/>
                  <a:gd name="T14" fmla="*/ 4492 w 113"/>
                  <a:gd name="T15" fmla="*/ 3670 h 129"/>
                  <a:gd name="T16" fmla="*/ 0 w 113"/>
                  <a:gd name="T17" fmla="*/ 10082 h 129"/>
                  <a:gd name="T18" fmla="*/ 0 w 113"/>
                  <a:gd name="T19" fmla="*/ 13762 h 129"/>
                  <a:gd name="T20" fmla="*/ 4492 w 113"/>
                  <a:gd name="T21" fmla="*/ 13762 h 129"/>
                  <a:gd name="T22" fmla="*/ 6730 w 113"/>
                  <a:gd name="T23" fmla="*/ 14672 h 129"/>
                  <a:gd name="T24" fmla="*/ 11222 w 113"/>
                  <a:gd name="T25" fmla="*/ 12810 h 129"/>
                  <a:gd name="T26" fmla="*/ 11222 w 113"/>
                  <a:gd name="T27" fmla="*/ 10992 h 129"/>
                  <a:gd name="T28" fmla="*/ 10121 w 113"/>
                  <a:gd name="T29" fmla="*/ 9173 h 129"/>
                  <a:gd name="T30" fmla="*/ 13464 w 113"/>
                  <a:gd name="T31" fmla="*/ 9173 h 129"/>
                  <a:gd name="T32" fmla="*/ 15749 w 113"/>
                  <a:gd name="T33" fmla="*/ 7321 h 1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3" h="129">
                    <a:moveTo>
                      <a:pt x="112" y="64"/>
                    </a:moveTo>
                    <a:lnTo>
                      <a:pt x="96" y="40"/>
                    </a:lnTo>
                    <a:lnTo>
                      <a:pt x="112" y="16"/>
                    </a:lnTo>
                    <a:lnTo>
                      <a:pt x="80" y="16"/>
                    </a:lnTo>
                    <a:lnTo>
                      <a:pt x="72" y="0"/>
                    </a:lnTo>
                    <a:lnTo>
                      <a:pt x="56" y="0"/>
                    </a:lnTo>
                    <a:lnTo>
                      <a:pt x="48" y="32"/>
                    </a:lnTo>
                    <a:lnTo>
                      <a:pt x="32" y="32"/>
                    </a:lnTo>
                    <a:lnTo>
                      <a:pt x="0" y="88"/>
                    </a:lnTo>
                    <a:lnTo>
                      <a:pt x="0" y="120"/>
                    </a:lnTo>
                    <a:lnTo>
                      <a:pt x="32" y="120"/>
                    </a:lnTo>
                    <a:lnTo>
                      <a:pt x="48" y="128"/>
                    </a:lnTo>
                    <a:lnTo>
                      <a:pt x="80" y="112"/>
                    </a:lnTo>
                    <a:lnTo>
                      <a:pt x="80" y="96"/>
                    </a:lnTo>
                    <a:lnTo>
                      <a:pt x="72" y="80"/>
                    </a:lnTo>
                    <a:lnTo>
                      <a:pt x="96" y="80"/>
                    </a:lnTo>
                    <a:lnTo>
                      <a:pt x="112" y="64"/>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85" name="Freeform 9"/>
              <p:cNvSpPr>
                <a:spLocks noChangeArrowheads="1"/>
              </p:cNvSpPr>
              <p:nvPr/>
            </p:nvSpPr>
            <p:spPr bwMode="auto">
              <a:xfrm>
                <a:off x="13289" y="4520"/>
                <a:ext cx="306" cy="398"/>
              </a:xfrm>
              <a:custGeom>
                <a:avLst/>
                <a:gdLst>
                  <a:gd name="T0" fmla="*/ 12319 w 89"/>
                  <a:gd name="T1" fmla="*/ 9358 h 121"/>
                  <a:gd name="T2" fmla="*/ 11184 w 89"/>
                  <a:gd name="T3" fmla="*/ 6546 h 121"/>
                  <a:gd name="T4" fmla="*/ 7849 w 89"/>
                  <a:gd name="T5" fmla="*/ 4697 h 121"/>
                  <a:gd name="T6" fmla="*/ 6701 w 89"/>
                  <a:gd name="T7" fmla="*/ 931 h 121"/>
                  <a:gd name="T8" fmla="*/ 4470 w 89"/>
                  <a:gd name="T9" fmla="*/ 0 h 121"/>
                  <a:gd name="T10" fmla="*/ 3369 w 89"/>
                  <a:gd name="T11" fmla="*/ 931 h 121"/>
                  <a:gd name="T12" fmla="*/ 4470 w 89"/>
                  <a:gd name="T13" fmla="*/ 5625 h 121"/>
                  <a:gd name="T14" fmla="*/ 1135 w 89"/>
                  <a:gd name="T15" fmla="*/ 5625 h 121"/>
                  <a:gd name="T16" fmla="*/ 0 w 89"/>
                  <a:gd name="T17" fmla="*/ 13091 h 121"/>
                  <a:gd name="T18" fmla="*/ 2235 w 89"/>
                  <a:gd name="T19" fmla="*/ 14055 h 121"/>
                  <a:gd name="T20" fmla="*/ 7849 w 89"/>
                  <a:gd name="T21" fmla="*/ 13091 h 121"/>
                  <a:gd name="T22" fmla="*/ 7849 w 89"/>
                  <a:gd name="T23" fmla="*/ 9358 h 121"/>
                  <a:gd name="T24" fmla="*/ 12319 w 89"/>
                  <a:gd name="T25" fmla="*/ 9358 h 1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9" h="121">
                    <a:moveTo>
                      <a:pt x="88" y="80"/>
                    </a:moveTo>
                    <a:lnTo>
                      <a:pt x="80" y="56"/>
                    </a:lnTo>
                    <a:lnTo>
                      <a:pt x="56" y="40"/>
                    </a:lnTo>
                    <a:lnTo>
                      <a:pt x="48" y="8"/>
                    </a:lnTo>
                    <a:lnTo>
                      <a:pt x="32" y="0"/>
                    </a:lnTo>
                    <a:lnTo>
                      <a:pt x="24" y="8"/>
                    </a:lnTo>
                    <a:lnTo>
                      <a:pt x="32" y="48"/>
                    </a:lnTo>
                    <a:lnTo>
                      <a:pt x="8" y="48"/>
                    </a:lnTo>
                    <a:lnTo>
                      <a:pt x="0" y="112"/>
                    </a:lnTo>
                    <a:lnTo>
                      <a:pt x="16" y="120"/>
                    </a:lnTo>
                    <a:lnTo>
                      <a:pt x="56" y="112"/>
                    </a:lnTo>
                    <a:lnTo>
                      <a:pt x="56" y="80"/>
                    </a:lnTo>
                    <a:lnTo>
                      <a:pt x="88" y="80"/>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86" name="Freeform 10"/>
              <p:cNvSpPr>
                <a:spLocks noChangeArrowheads="1"/>
              </p:cNvSpPr>
              <p:nvPr/>
            </p:nvSpPr>
            <p:spPr bwMode="auto">
              <a:xfrm>
                <a:off x="13289" y="4547"/>
                <a:ext cx="117" cy="134"/>
              </a:xfrm>
              <a:custGeom>
                <a:avLst/>
                <a:gdLst>
                  <a:gd name="T0" fmla="*/ 5042 w 33"/>
                  <a:gd name="T1" fmla="*/ 4572 h 41"/>
                  <a:gd name="T2" fmla="*/ 1244 w 33"/>
                  <a:gd name="T3" fmla="*/ 4572 h 41"/>
                  <a:gd name="T4" fmla="*/ 1244 w 33"/>
                  <a:gd name="T5" fmla="*/ 2722 h 41"/>
                  <a:gd name="T6" fmla="*/ 0 w 33"/>
                  <a:gd name="T7" fmla="*/ 0 h 41"/>
                  <a:gd name="T8" fmla="*/ 3783 w 33"/>
                  <a:gd name="T9" fmla="*/ 909 h 41"/>
                  <a:gd name="T10" fmla="*/ 5042 w 33"/>
                  <a:gd name="T11" fmla="*/ 4572 h 4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3" h="41">
                    <a:moveTo>
                      <a:pt x="32" y="40"/>
                    </a:moveTo>
                    <a:lnTo>
                      <a:pt x="8" y="40"/>
                    </a:lnTo>
                    <a:lnTo>
                      <a:pt x="8" y="24"/>
                    </a:lnTo>
                    <a:lnTo>
                      <a:pt x="0" y="0"/>
                    </a:lnTo>
                    <a:lnTo>
                      <a:pt x="24" y="8"/>
                    </a:lnTo>
                    <a:lnTo>
                      <a:pt x="32" y="40"/>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87" name="Freeform 11"/>
              <p:cNvSpPr>
                <a:spLocks noChangeArrowheads="1"/>
              </p:cNvSpPr>
              <p:nvPr/>
            </p:nvSpPr>
            <p:spPr bwMode="auto">
              <a:xfrm>
                <a:off x="13015" y="5022"/>
                <a:ext cx="1489" cy="953"/>
              </a:xfrm>
              <a:custGeom>
                <a:avLst/>
                <a:gdLst>
                  <a:gd name="T0" fmla="*/ 21262 w 433"/>
                  <a:gd name="T1" fmla="*/ 937 h 289"/>
                  <a:gd name="T2" fmla="*/ 19027 w 433"/>
                  <a:gd name="T3" fmla="*/ 2839 h 289"/>
                  <a:gd name="T4" fmla="*/ 13422 w 433"/>
                  <a:gd name="T5" fmla="*/ 3805 h 289"/>
                  <a:gd name="T6" fmla="*/ 7851 w 433"/>
                  <a:gd name="T7" fmla="*/ 8504 h 289"/>
                  <a:gd name="T8" fmla="*/ 2235 w 433"/>
                  <a:gd name="T9" fmla="*/ 15136 h 289"/>
                  <a:gd name="T10" fmla="*/ 2235 w 433"/>
                  <a:gd name="T11" fmla="*/ 18931 h 289"/>
                  <a:gd name="T12" fmla="*/ 4470 w 433"/>
                  <a:gd name="T13" fmla="*/ 21771 h 289"/>
                  <a:gd name="T14" fmla="*/ 6706 w 433"/>
                  <a:gd name="T15" fmla="*/ 20801 h 289"/>
                  <a:gd name="T16" fmla="*/ 8951 w 433"/>
                  <a:gd name="T17" fmla="*/ 20801 h 289"/>
                  <a:gd name="T18" fmla="*/ 1135 w 433"/>
                  <a:gd name="T19" fmla="*/ 26499 h 289"/>
                  <a:gd name="T20" fmla="*/ 0 w 433"/>
                  <a:gd name="T21" fmla="*/ 29329 h 289"/>
                  <a:gd name="T22" fmla="*/ 2235 w 433"/>
                  <a:gd name="T23" fmla="*/ 30262 h 289"/>
                  <a:gd name="T24" fmla="*/ 6706 w 433"/>
                  <a:gd name="T25" fmla="*/ 34067 h 289"/>
                  <a:gd name="T26" fmla="*/ 11186 w 433"/>
                  <a:gd name="T27" fmla="*/ 34067 h 289"/>
                  <a:gd name="T28" fmla="*/ 13422 w 433"/>
                  <a:gd name="T29" fmla="*/ 32165 h 289"/>
                  <a:gd name="T30" fmla="*/ 13422 w 433"/>
                  <a:gd name="T31" fmla="*/ 30262 h 289"/>
                  <a:gd name="T32" fmla="*/ 15657 w 433"/>
                  <a:gd name="T33" fmla="*/ 31231 h 289"/>
                  <a:gd name="T34" fmla="*/ 16792 w 433"/>
                  <a:gd name="T35" fmla="*/ 32165 h 289"/>
                  <a:gd name="T36" fmla="*/ 21262 w 433"/>
                  <a:gd name="T37" fmla="*/ 34067 h 289"/>
                  <a:gd name="T38" fmla="*/ 23508 w 433"/>
                  <a:gd name="T39" fmla="*/ 32165 h 289"/>
                  <a:gd name="T40" fmla="*/ 26843 w 433"/>
                  <a:gd name="T41" fmla="*/ 32165 h 289"/>
                  <a:gd name="T42" fmla="*/ 26843 w 433"/>
                  <a:gd name="T43" fmla="*/ 34067 h 289"/>
                  <a:gd name="T44" fmla="*/ 29078 w 433"/>
                  <a:gd name="T45" fmla="*/ 33101 h 289"/>
                  <a:gd name="T46" fmla="*/ 33549 w 433"/>
                  <a:gd name="T47" fmla="*/ 27436 h 289"/>
                  <a:gd name="T48" fmla="*/ 35784 w 433"/>
                  <a:gd name="T49" fmla="*/ 27436 h 289"/>
                  <a:gd name="T50" fmla="*/ 41400 w 433"/>
                  <a:gd name="T51" fmla="*/ 19868 h 289"/>
                  <a:gd name="T52" fmla="*/ 41400 w 433"/>
                  <a:gd name="T53" fmla="*/ 17029 h 289"/>
                  <a:gd name="T54" fmla="*/ 42500 w 433"/>
                  <a:gd name="T55" fmla="*/ 16063 h 289"/>
                  <a:gd name="T56" fmla="*/ 43635 w 433"/>
                  <a:gd name="T57" fmla="*/ 17965 h 289"/>
                  <a:gd name="T58" fmla="*/ 48105 w 433"/>
                  <a:gd name="T59" fmla="*/ 11363 h 289"/>
                  <a:gd name="T60" fmla="*/ 52576 w 433"/>
                  <a:gd name="T61" fmla="*/ 9471 h 289"/>
                  <a:gd name="T62" fmla="*/ 52576 w 433"/>
                  <a:gd name="T63" fmla="*/ 10394 h 289"/>
                  <a:gd name="T64" fmla="*/ 55956 w 433"/>
                  <a:gd name="T65" fmla="*/ 7568 h 289"/>
                  <a:gd name="T66" fmla="*/ 58191 w 433"/>
                  <a:gd name="T67" fmla="*/ 8504 h 289"/>
                  <a:gd name="T68" fmla="*/ 60427 w 433"/>
                  <a:gd name="T69" fmla="*/ 2839 h 289"/>
                  <a:gd name="T70" fmla="*/ 59292 w 433"/>
                  <a:gd name="T71" fmla="*/ 1903 h 289"/>
                  <a:gd name="T72" fmla="*/ 55956 w 433"/>
                  <a:gd name="T73" fmla="*/ 1903 h 289"/>
                  <a:gd name="T74" fmla="*/ 53676 w 433"/>
                  <a:gd name="T75" fmla="*/ 2839 h 289"/>
                  <a:gd name="T76" fmla="*/ 48105 w 433"/>
                  <a:gd name="T77" fmla="*/ 2839 h 289"/>
                  <a:gd name="T78" fmla="*/ 45870 w 433"/>
                  <a:gd name="T79" fmla="*/ 0 h 289"/>
                  <a:gd name="T80" fmla="*/ 38019 w 433"/>
                  <a:gd name="T81" fmla="*/ 4729 h 289"/>
                  <a:gd name="T82" fmla="*/ 36919 w 433"/>
                  <a:gd name="T83" fmla="*/ 7568 h 289"/>
                  <a:gd name="T84" fmla="*/ 34684 w 433"/>
                  <a:gd name="T85" fmla="*/ 7568 h 289"/>
                  <a:gd name="T86" fmla="*/ 27978 w 433"/>
                  <a:gd name="T87" fmla="*/ 7568 h 289"/>
                  <a:gd name="T88" fmla="*/ 27978 w 433"/>
                  <a:gd name="T89" fmla="*/ 5665 h 289"/>
                  <a:gd name="T90" fmla="*/ 30213 w 433"/>
                  <a:gd name="T91" fmla="*/ 3805 h 289"/>
                  <a:gd name="T92" fmla="*/ 27978 w 433"/>
                  <a:gd name="T93" fmla="*/ 0 h 289"/>
                  <a:gd name="T94" fmla="*/ 24598 w 433"/>
                  <a:gd name="T95" fmla="*/ 0 h 289"/>
                  <a:gd name="T96" fmla="*/ 23508 w 433"/>
                  <a:gd name="T97" fmla="*/ 0 h 289"/>
                  <a:gd name="T98" fmla="*/ 22363 w 433"/>
                  <a:gd name="T99" fmla="*/ 1903 h 289"/>
                  <a:gd name="T100" fmla="*/ 21262 w 433"/>
                  <a:gd name="T101" fmla="*/ 937 h 28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33" h="289">
                    <a:moveTo>
                      <a:pt x="152" y="8"/>
                    </a:moveTo>
                    <a:lnTo>
                      <a:pt x="136" y="24"/>
                    </a:lnTo>
                    <a:lnTo>
                      <a:pt x="96" y="32"/>
                    </a:lnTo>
                    <a:lnTo>
                      <a:pt x="56" y="72"/>
                    </a:lnTo>
                    <a:lnTo>
                      <a:pt x="16" y="128"/>
                    </a:lnTo>
                    <a:lnTo>
                      <a:pt x="16" y="160"/>
                    </a:lnTo>
                    <a:lnTo>
                      <a:pt x="32" y="184"/>
                    </a:lnTo>
                    <a:lnTo>
                      <a:pt x="48" y="176"/>
                    </a:lnTo>
                    <a:lnTo>
                      <a:pt x="64" y="176"/>
                    </a:lnTo>
                    <a:lnTo>
                      <a:pt x="8" y="224"/>
                    </a:lnTo>
                    <a:lnTo>
                      <a:pt x="0" y="248"/>
                    </a:lnTo>
                    <a:lnTo>
                      <a:pt x="16" y="256"/>
                    </a:lnTo>
                    <a:lnTo>
                      <a:pt x="48" y="288"/>
                    </a:lnTo>
                    <a:lnTo>
                      <a:pt x="80" y="288"/>
                    </a:lnTo>
                    <a:lnTo>
                      <a:pt x="96" y="272"/>
                    </a:lnTo>
                    <a:lnTo>
                      <a:pt x="96" y="256"/>
                    </a:lnTo>
                    <a:lnTo>
                      <a:pt x="112" y="264"/>
                    </a:lnTo>
                    <a:lnTo>
                      <a:pt x="120" y="272"/>
                    </a:lnTo>
                    <a:lnTo>
                      <a:pt x="152" y="288"/>
                    </a:lnTo>
                    <a:lnTo>
                      <a:pt x="168" y="272"/>
                    </a:lnTo>
                    <a:lnTo>
                      <a:pt x="192" y="272"/>
                    </a:lnTo>
                    <a:lnTo>
                      <a:pt x="192" y="288"/>
                    </a:lnTo>
                    <a:lnTo>
                      <a:pt x="208" y="280"/>
                    </a:lnTo>
                    <a:lnTo>
                      <a:pt x="240" y="232"/>
                    </a:lnTo>
                    <a:lnTo>
                      <a:pt x="256" y="232"/>
                    </a:lnTo>
                    <a:lnTo>
                      <a:pt x="296" y="168"/>
                    </a:lnTo>
                    <a:lnTo>
                      <a:pt x="296" y="144"/>
                    </a:lnTo>
                    <a:lnTo>
                      <a:pt x="304" y="136"/>
                    </a:lnTo>
                    <a:lnTo>
                      <a:pt x="312" y="152"/>
                    </a:lnTo>
                    <a:lnTo>
                      <a:pt x="344" y="96"/>
                    </a:lnTo>
                    <a:lnTo>
                      <a:pt x="376" y="80"/>
                    </a:lnTo>
                    <a:lnTo>
                      <a:pt x="376" y="88"/>
                    </a:lnTo>
                    <a:lnTo>
                      <a:pt x="400" y="64"/>
                    </a:lnTo>
                    <a:lnTo>
                      <a:pt x="416" y="72"/>
                    </a:lnTo>
                    <a:lnTo>
                      <a:pt x="432" y="24"/>
                    </a:lnTo>
                    <a:lnTo>
                      <a:pt x="424" y="16"/>
                    </a:lnTo>
                    <a:lnTo>
                      <a:pt x="400" y="16"/>
                    </a:lnTo>
                    <a:lnTo>
                      <a:pt x="384" y="24"/>
                    </a:lnTo>
                    <a:lnTo>
                      <a:pt x="344" y="24"/>
                    </a:lnTo>
                    <a:lnTo>
                      <a:pt x="328" y="0"/>
                    </a:lnTo>
                    <a:lnTo>
                      <a:pt x="272" y="40"/>
                    </a:lnTo>
                    <a:lnTo>
                      <a:pt x="264" y="64"/>
                    </a:lnTo>
                    <a:lnTo>
                      <a:pt x="248" y="64"/>
                    </a:lnTo>
                    <a:lnTo>
                      <a:pt x="200" y="64"/>
                    </a:lnTo>
                    <a:lnTo>
                      <a:pt x="200" y="48"/>
                    </a:lnTo>
                    <a:lnTo>
                      <a:pt x="216" y="32"/>
                    </a:lnTo>
                    <a:lnTo>
                      <a:pt x="200" y="0"/>
                    </a:lnTo>
                    <a:lnTo>
                      <a:pt x="176" y="0"/>
                    </a:lnTo>
                    <a:lnTo>
                      <a:pt x="168" y="0"/>
                    </a:lnTo>
                    <a:lnTo>
                      <a:pt x="160" y="16"/>
                    </a:lnTo>
                    <a:lnTo>
                      <a:pt x="152" y="8"/>
                    </a:lnTo>
                  </a:path>
                </a:pathLst>
              </a:custGeom>
              <a:solidFill>
                <a:srgbClr val="0277AC"/>
              </a:solidFill>
              <a:ln w="9525">
                <a:solidFill>
                  <a:srgbClr val="FFFFFF">
                    <a:alpha val="54117"/>
                  </a:srgbClr>
                </a:solidFill>
                <a:bevel/>
              </a:ln>
            </p:spPr>
            <p:txBody>
              <a:bodyPr/>
              <a:lstStyle/>
              <a:p>
                <a:endParaRPr lang="zh-CN" altLang="en-US"/>
              </a:p>
            </p:txBody>
          </p:sp>
          <p:sp>
            <p:nvSpPr>
              <p:cNvPr id="36888" name="Freeform 12"/>
              <p:cNvSpPr>
                <a:spLocks noChangeArrowheads="1"/>
              </p:cNvSpPr>
              <p:nvPr/>
            </p:nvSpPr>
            <p:spPr bwMode="auto">
              <a:xfrm>
                <a:off x="13321" y="5786"/>
                <a:ext cx="1235" cy="1054"/>
              </a:xfrm>
              <a:custGeom>
                <a:avLst/>
                <a:gdLst>
                  <a:gd name="T0" fmla="*/ 23020 w 361"/>
                  <a:gd name="T1" fmla="*/ 0 h 321"/>
                  <a:gd name="T2" fmla="*/ 20821 w 361"/>
                  <a:gd name="T3" fmla="*/ 0 h 321"/>
                  <a:gd name="T4" fmla="*/ 16455 w 361"/>
                  <a:gd name="T5" fmla="*/ 5595 h 321"/>
                  <a:gd name="T6" fmla="*/ 13130 w 361"/>
                  <a:gd name="T7" fmla="*/ 6511 h 321"/>
                  <a:gd name="T8" fmla="*/ 13130 w 361"/>
                  <a:gd name="T9" fmla="*/ 4636 h 321"/>
                  <a:gd name="T10" fmla="*/ 10968 w 361"/>
                  <a:gd name="T11" fmla="*/ 4636 h 321"/>
                  <a:gd name="T12" fmla="*/ 8765 w 361"/>
                  <a:gd name="T13" fmla="*/ 6511 h 321"/>
                  <a:gd name="T14" fmla="*/ 4365 w 361"/>
                  <a:gd name="T15" fmla="*/ 4636 h 321"/>
                  <a:gd name="T16" fmla="*/ 3288 w 361"/>
                  <a:gd name="T17" fmla="*/ 3720 h 321"/>
                  <a:gd name="T18" fmla="*/ 1078 w 361"/>
                  <a:gd name="T19" fmla="*/ 2791 h 321"/>
                  <a:gd name="T20" fmla="*/ 1078 w 361"/>
                  <a:gd name="T21" fmla="*/ 4636 h 321"/>
                  <a:gd name="T22" fmla="*/ 0 w 361"/>
                  <a:gd name="T23" fmla="*/ 5595 h 321"/>
                  <a:gd name="T24" fmla="*/ 4365 w 361"/>
                  <a:gd name="T25" fmla="*/ 6511 h 321"/>
                  <a:gd name="T26" fmla="*/ 5487 w 361"/>
                  <a:gd name="T27" fmla="*/ 9315 h 321"/>
                  <a:gd name="T28" fmla="*/ 7691 w 361"/>
                  <a:gd name="T29" fmla="*/ 9315 h 321"/>
                  <a:gd name="T30" fmla="*/ 10968 w 361"/>
                  <a:gd name="T31" fmla="*/ 13022 h 321"/>
                  <a:gd name="T32" fmla="*/ 14256 w 361"/>
                  <a:gd name="T33" fmla="*/ 12077 h 321"/>
                  <a:gd name="T34" fmla="*/ 14256 w 361"/>
                  <a:gd name="T35" fmla="*/ 16743 h 321"/>
                  <a:gd name="T36" fmla="*/ 18621 w 361"/>
                  <a:gd name="T37" fmla="*/ 21379 h 321"/>
                  <a:gd name="T38" fmla="*/ 20821 w 361"/>
                  <a:gd name="T39" fmla="*/ 21379 h 321"/>
                  <a:gd name="T40" fmla="*/ 21898 w 361"/>
                  <a:gd name="T41" fmla="*/ 19537 h 321"/>
                  <a:gd name="T42" fmla="*/ 25186 w 361"/>
                  <a:gd name="T43" fmla="*/ 22308 h 321"/>
                  <a:gd name="T44" fmla="*/ 23020 w 361"/>
                  <a:gd name="T45" fmla="*/ 24183 h 321"/>
                  <a:gd name="T46" fmla="*/ 21898 w 361"/>
                  <a:gd name="T47" fmla="*/ 23254 h 321"/>
                  <a:gd name="T48" fmla="*/ 19743 w 361"/>
                  <a:gd name="T49" fmla="*/ 22308 h 321"/>
                  <a:gd name="T50" fmla="*/ 19743 w 361"/>
                  <a:gd name="T51" fmla="*/ 26058 h 321"/>
                  <a:gd name="T52" fmla="*/ 18621 w 361"/>
                  <a:gd name="T53" fmla="*/ 27890 h 321"/>
                  <a:gd name="T54" fmla="*/ 21898 w 361"/>
                  <a:gd name="T55" fmla="*/ 31610 h 321"/>
                  <a:gd name="T56" fmla="*/ 21898 w 361"/>
                  <a:gd name="T57" fmla="*/ 34414 h 321"/>
                  <a:gd name="T58" fmla="*/ 27386 w 361"/>
                  <a:gd name="T59" fmla="*/ 34414 h 321"/>
                  <a:gd name="T60" fmla="*/ 29585 w 361"/>
                  <a:gd name="T61" fmla="*/ 36246 h 321"/>
                  <a:gd name="T62" fmla="*/ 32876 w 361"/>
                  <a:gd name="T63" fmla="*/ 35330 h 321"/>
                  <a:gd name="T64" fmla="*/ 37276 w 361"/>
                  <a:gd name="T65" fmla="*/ 37205 h 321"/>
                  <a:gd name="T66" fmla="*/ 40563 w 361"/>
                  <a:gd name="T67" fmla="*/ 34414 h 321"/>
                  <a:gd name="T68" fmla="*/ 43841 w 361"/>
                  <a:gd name="T69" fmla="*/ 29768 h 321"/>
                  <a:gd name="T70" fmla="*/ 39441 w 361"/>
                  <a:gd name="T71" fmla="*/ 27890 h 321"/>
                  <a:gd name="T72" fmla="*/ 43841 w 361"/>
                  <a:gd name="T73" fmla="*/ 26974 h 321"/>
                  <a:gd name="T74" fmla="*/ 44918 w 361"/>
                  <a:gd name="T75" fmla="*/ 27890 h 321"/>
                  <a:gd name="T76" fmla="*/ 49332 w 361"/>
                  <a:gd name="T77" fmla="*/ 26974 h 321"/>
                  <a:gd name="T78" fmla="*/ 49332 w 361"/>
                  <a:gd name="T79" fmla="*/ 26058 h 321"/>
                  <a:gd name="T80" fmla="*/ 43841 w 361"/>
                  <a:gd name="T81" fmla="*/ 23254 h 321"/>
                  <a:gd name="T82" fmla="*/ 43841 w 361"/>
                  <a:gd name="T83" fmla="*/ 21379 h 321"/>
                  <a:gd name="T84" fmla="*/ 41641 w 361"/>
                  <a:gd name="T85" fmla="*/ 20463 h 321"/>
                  <a:gd name="T86" fmla="*/ 39441 w 361"/>
                  <a:gd name="T87" fmla="*/ 19537 h 321"/>
                  <a:gd name="T88" fmla="*/ 37276 w 361"/>
                  <a:gd name="T89" fmla="*/ 14868 h 321"/>
                  <a:gd name="T90" fmla="*/ 31788 w 361"/>
                  <a:gd name="T91" fmla="*/ 7440 h 321"/>
                  <a:gd name="T92" fmla="*/ 31788 w 361"/>
                  <a:gd name="T93" fmla="*/ 4636 h 321"/>
                  <a:gd name="T94" fmla="*/ 26311 w 361"/>
                  <a:gd name="T95" fmla="*/ 3720 h 321"/>
                  <a:gd name="T96" fmla="*/ 24098 w 361"/>
                  <a:gd name="T97" fmla="*/ 2791 h 321"/>
                  <a:gd name="T98" fmla="*/ 23020 w 361"/>
                  <a:gd name="T99" fmla="*/ 0 h 32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361" h="321">
                    <a:moveTo>
                      <a:pt x="168" y="0"/>
                    </a:moveTo>
                    <a:lnTo>
                      <a:pt x="152" y="0"/>
                    </a:lnTo>
                    <a:lnTo>
                      <a:pt x="120" y="48"/>
                    </a:lnTo>
                    <a:lnTo>
                      <a:pt x="96" y="56"/>
                    </a:lnTo>
                    <a:lnTo>
                      <a:pt x="96" y="40"/>
                    </a:lnTo>
                    <a:lnTo>
                      <a:pt x="80" y="40"/>
                    </a:lnTo>
                    <a:lnTo>
                      <a:pt x="64" y="56"/>
                    </a:lnTo>
                    <a:lnTo>
                      <a:pt x="32" y="40"/>
                    </a:lnTo>
                    <a:lnTo>
                      <a:pt x="24" y="32"/>
                    </a:lnTo>
                    <a:lnTo>
                      <a:pt x="8" y="24"/>
                    </a:lnTo>
                    <a:lnTo>
                      <a:pt x="8" y="40"/>
                    </a:lnTo>
                    <a:lnTo>
                      <a:pt x="0" y="48"/>
                    </a:lnTo>
                    <a:lnTo>
                      <a:pt x="32" y="56"/>
                    </a:lnTo>
                    <a:lnTo>
                      <a:pt x="40" y="80"/>
                    </a:lnTo>
                    <a:lnTo>
                      <a:pt x="56" y="80"/>
                    </a:lnTo>
                    <a:lnTo>
                      <a:pt x="80" y="112"/>
                    </a:lnTo>
                    <a:lnTo>
                      <a:pt x="104" y="104"/>
                    </a:lnTo>
                    <a:lnTo>
                      <a:pt x="104" y="144"/>
                    </a:lnTo>
                    <a:lnTo>
                      <a:pt x="136" y="184"/>
                    </a:lnTo>
                    <a:lnTo>
                      <a:pt x="152" y="184"/>
                    </a:lnTo>
                    <a:lnTo>
                      <a:pt x="160" y="168"/>
                    </a:lnTo>
                    <a:lnTo>
                      <a:pt x="184" y="192"/>
                    </a:lnTo>
                    <a:lnTo>
                      <a:pt x="168" y="208"/>
                    </a:lnTo>
                    <a:lnTo>
                      <a:pt x="160" y="200"/>
                    </a:lnTo>
                    <a:lnTo>
                      <a:pt x="144" y="192"/>
                    </a:lnTo>
                    <a:lnTo>
                      <a:pt x="144" y="224"/>
                    </a:lnTo>
                    <a:lnTo>
                      <a:pt x="136" y="240"/>
                    </a:lnTo>
                    <a:lnTo>
                      <a:pt x="160" y="272"/>
                    </a:lnTo>
                    <a:lnTo>
                      <a:pt x="160" y="296"/>
                    </a:lnTo>
                    <a:lnTo>
                      <a:pt x="200" y="296"/>
                    </a:lnTo>
                    <a:lnTo>
                      <a:pt x="216" y="312"/>
                    </a:lnTo>
                    <a:lnTo>
                      <a:pt x="240" y="304"/>
                    </a:lnTo>
                    <a:lnTo>
                      <a:pt x="272" y="320"/>
                    </a:lnTo>
                    <a:lnTo>
                      <a:pt x="296" y="296"/>
                    </a:lnTo>
                    <a:lnTo>
                      <a:pt x="320" y="256"/>
                    </a:lnTo>
                    <a:lnTo>
                      <a:pt x="288" y="240"/>
                    </a:lnTo>
                    <a:lnTo>
                      <a:pt x="320" y="232"/>
                    </a:lnTo>
                    <a:lnTo>
                      <a:pt x="328" y="240"/>
                    </a:lnTo>
                    <a:lnTo>
                      <a:pt x="360" y="232"/>
                    </a:lnTo>
                    <a:lnTo>
                      <a:pt x="360" y="224"/>
                    </a:lnTo>
                    <a:lnTo>
                      <a:pt x="320" y="200"/>
                    </a:lnTo>
                    <a:lnTo>
                      <a:pt x="320" y="184"/>
                    </a:lnTo>
                    <a:lnTo>
                      <a:pt x="304" y="176"/>
                    </a:lnTo>
                    <a:lnTo>
                      <a:pt x="288" y="168"/>
                    </a:lnTo>
                    <a:lnTo>
                      <a:pt x="272" y="128"/>
                    </a:lnTo>
                    <a:lnTo>
                      <a:pt x="232" y="64"/>
                    </a:lnTo>
                    <a:lnTo>
                      <a:pt x="232" y="40"/>
                    </a:lnTo>
                    <a:lnTo>
                      <a:pt x="192" y="32"/>
                    </a:lnTo>
                    <a:lnTo>
                      <a:pt x="176" y="24"/>
                    </a:lnTo>
                    <a:lnTo>
                      <a:pt x="168" y="0"/>
                    </a:lnTo>
                  </a:path>
                </a:pathLst>
              </a:custGeom>
              <a:solidFill>
                <a:srgbClr val="0277AC"/>
              </a:solidFill>
              <a:ln w="9525">
                <a:solidFill>
                  <a:srgbClr val="FFFFFF">
                    <a:alpha val="54117"/>
                  </a:srgbClr>
                </a:solidFill>
                <a:bevel/>
              </a:ln>
            </p:spPr>
            <p:txBody>
              <a:bodyPr/>
              <a:lstStyle/>
              <a:p>
                <a:endParaRPr lang="zh-CN" altLang="en-US"/>
              </a:p>
            </p:txBody>
          </p:sp>
          <p:sp>
            <p:nvSpPr>
              <p:cNvPr id="36889" name="Freeform 13"/>
              <p:cNvSpPr>
                <a:spLocks noChangeArrowheads="1"/>
              </p:cNvSpPr>
              <p:nvPr/>
            </p:nvSpPr>
            <p:spPr bwMode="auto">
              <a:xfrm>
                <a:off x="14336" y="6629"/>
                <a:ext cx="220" cy="181"/>
              </a:xfrm>
              <a:custGeom>
                <a:avLst/>
                <a:gdLst>
                  <a:gd name="T0" fmla="*/ 3138 w 65"/>
                  <a:gd name="T1" fmla="*/ 0 h 57"/>
                  <a:gd name="T2" fmla="*/ 0 w 65"/>
                  <a:gd name="T3" fmla="*/ 4065 h 57"/>
                  <a:gd name="T4" fmla="*/ 3138 w 65"/>
                  <a:gd name="T5" fmla="*/ 5697 h 57"/>
                  <a:gd name="T6" fmla="*/ 8407 w 65"/>
                  <a:gd name="T7" fmla="*/ 4065 h 57"/>
                  <a:gd name="T8" fmla="*/ 8407 w 65"/>
                  <a:gd name="T9" fmla="*/ 2429 h 57"/>
                  <a:gd name="T10" fmla="*/ 3138 w 65"/>
                  <a:gd name="T11" fmla="*/ 0 h 5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5" h="57">
                    <a:moveTo>
                      <a:pt x="24" y="0"/>
                    </a:moveTo>
                    <a:lnTo>
                      <a:pt x="0" y="40"/>
                    </a:lnTo>
                    <a:lnTo>
                      <a:pt x="24" y="56"/>
                    </a:lnTo>
                    <a:lnTo>
                      <a:pt x="64" y="40"/>
                    </a:lnTo>
                    <a:lnTo>
                      <a:pt x="64" y="24"/>
                    </a:lnTo>
                    <a:lnTo>
                      <a:pt x="24" y="0"/>
                    </a:lnTo>
                  </a:path>
                </a:pathLst>
              </a:custGeom>
              <a:solidFill>
                <a:srgbClr val="DADADA"/>
              </a:solidFill>
              <a:ln w="9525">
                <a:solidFill>
                  <a:srgbClr val="FFFFFF">
                    <a:alpha val="54117"/>
                  </a:srgbClr>
                </a:solidFill>
                <a:bevel/>
              </a:ln>
            </p:spPr>
            <p:txBody>
              <a:bodyPr/>
              <a:lstStyle/>
              <a:p>
                <a:endParaRPr lang="zh-CN" altLang="en-US"/>
              </a:p>
            </p:txBody>
          </p:sp>
          <p:sp>
            <p:nvSpPr>
              <p:cNvPr id="36890" name="Freeform 14"/>
              <p:cNvSpPr>
                <a:spLocks noChangeArrowheads="1"/>
              </p:cNvSpPr>
              <p:nvPr/>
            </p:nvSpPr>
            <p:spPr bwMode="auto">
              <a:xfrm>
                <a:off x="13787" y="6757"/>
                <a:ext cx="823" cy="977"/>
              </a:xfrm>
              <a:custGeom>
                <a:avLst/>
                <a:gdLst>
                  <a:gd name="T0" fmla="*/ 25014 w 241"/>
                  <a:gd name="T1" fmla="*/ 1882 h 297"/>
                  <a:gd name="T2" fmla="*/ 21750 w 241"/>
                  <a:gd name="T3" fmla="*/ 0 h 297"/>
                  <a:gd name="T4" fmla="*/ 18485 w 241"/>
                  <a:gd name="T5" fmla="*/ 2813 h 297"/>
                  <a:gd name="T6" fmla="*/ 14134 w 241"/>
                  <a:gd name="T7" fmla="*/ 931 h 297"/>
                  <a:gd name="T8" fmla="*/ 10870 w 241"/>
                  <a:gd name="T9" fmla="*/ 1882 h 297"/>
                  <a:gd name="T10" fmla="*/ 9797 w 241"/>
                  <a:gd name="T11" fmla="*/ 3734 h 297"/>
                  <a:gd name="T12" fmla="*/ 8722 w 241"/>
                  <a:gd name="T13" fmla="*/ 5628 h 297"/>
                  <a:gd name="T14" fmla="*/ 9797 w 241"/>
                  <a:gd name="T15" fmla="*/ 8441 h 297"/>
                  <a:gd name="T16" fmla="*/ 7605 w 241"/>
                  <a:gd name="T17" fmla="*/ 8441 h 297"/>
                  <a:gd name="T18" fmla="*/ 6529 w 241"/>
                  <a:gd name="T19" fmla="*/ 7510 h 297"/>
                  <a:gd name="T20" fmla="*/ 5457 w 241"/>
                  <a:gd name="T21" fmla="*/ 7510 h 297"/>
                  <a:gd name="T22" fmla="*/ 5457 w 241"/>
                  <a:gd name="T23" fmla="*/ 9359 h 297"/>
                  <a:gd name="T24" fmla="*/ 5457 w 241"/>
                  <a:gd name="T25" fmla="*/ 11254 h 297"/>
                  <a:gd name="T26" fmla="*/ 5457 w 241"/>
                  <a:gd name="T27" fmla="*/ 13106 h 297"/>
                  <a:gd name="T28" fmla="*/ 1072 w 241"/>
                  <a:gd name="T29" fmla="*/ 15908 h 297"/>
                  <a:gd name="T30" fmla="*/ 0 w 241"/>
                  <a:gd name="T31" fmla="*/ 16869 h 297"/>
                  <a:gd name="T32" fmla="*/ 0 w 241"/>
                  <a:gd name="T33" fmla="*/ 20616 h 297"/>
                  <a:gd name="T34" fmla="*/ 3265 w 241"/>
                  <a:gd name="T35" fmla="*/ 22497 h 297"/>
                  <a:gd name="T36" fmla="*/ 3265 w 241"/>
                  <a:gd name="T37" fmla="*/ 27162 h 297"/>
                  <a:gd name="T38" fmla="*/ 6529 w 241"/>
                  <a:gd name="T39" fmla="*/ 27162 h 297"/>
                  <a:gd name="T40" fmla="*/ 6529 w 241"/>
                  <a:gd name="T41" fmla="*/ 29044 h 297"/>
                  <a:gd name="T42" fmla="*/ 7605 w 241"/>
                  <a:gd name="T43" fmla="*/ 30896 h 297"/>
                  <a:gd name="T44" fmla="*/ 8722 w 241"/>
                  <a:gd name="T45" fmla="*/ 33708 h 297"/>
                  <a:gd name="T46" fmla="*/ 11990 w 241"/>
                  <a:gd name="T47" fmla="*/ 33708 h 297"/>
                  <a:gd name="T48" fmla="*/ 14134 w 241"/>
                  <a:gd name="T49" fmla="*/ 30896 h 297"/>
                  <a:gd name="T50" fmla="*/ 15217 w 241"/>
                  <a:gd name="T51" fmla="*/ 30896 h 297"/>
                  <a:gd name="T52" fmla="*/ 15217 w 241"/>
                  <a:gd name="T53" fmla="*/ 32787 h 297"/>
                  <a:gd name="T54" fmla="*/ 16327 w 241"/>
                  <a:gd name="T55" fmla="*/ 33708 h 297"/>
                  <a:gd name="T56" fmla="*/ 18485 w 241"/>
                  <a:gd name="T57" fmla="*/ 33708 h 297"/>
                  <a:gd name="T58" fmla="*/ 18485 w 241"/>
                  <a:gd name="T59" fmla="*/ 32787 h 297"/>
                  <a:gd name="T60" fmla="*/ 20664 w 241"/>
                  <a:gd name="T61" fmla="*/ 32787 h 297"/>
                  <a:gd name="T62" fmla="*/ 20664 w 241"/>
                  <a:gd name="T63" fmla="*/ 33708 h 297"/>
                  <a:gd name="T64" fmla="*/ 21750 w 241"/>
                  <a:gd name="T65" fmla="*/ 34672 h 297"/>
                  <a:gd name="T66" fmla="*/ 23928 w 241"/>
                  <a:gd name="T67" fmla="*/ 33708 h 297"/>
                  <a:gd name="T68" fmla="*/ 25014 w 241"/>
                  <a:gd name="T69" fmla="*/ 29974 h 297"/>
                  <a:gd name="T70" fmla="*/ 25014 w 241"/>
                  <a:gd name="T71" fmla="*/ 26231 h 297"/>
                  <a:gd name="T72" fmla="*/ 27197 w 241"/>
                  <a:gd name="T73" fmla="*/ 26231 h 297"/>
                  <a:gd name="T74" fmla="*/ 27197 w 241"/>
                  <a:gd name="T75" fmla="*/ 25310 h 297"/>
                  <a:gd name="T76" fmla="*/ 27197 w 241"/>
                  <a:gd name="T77" fmla="*/ 23428 h 297"/>
                  <a:gd name="T78" fmla="*/ 29389 w 241"/>
                  <a:gd name="T79" fmla="*/ 25310 h 297"/>
                  <a:gd name="T80" fmla="*/ 31544 w 241"/>
                  <a:gd name="T81" fmla="*/ 22497 h 297"/>
                  <a:gd name="T82" fmla="*/ 29389 w 241"/>
                  <a:gd name="T83" fmla="*/ 20616 h 297"/>
                  <a:gd name="T84" fmla="*/ 29389 w 241"/>
                  <a:gd name="T85" fmla="*/ 19685 h 297"/>
                  <a:gd name="T86" fmla="*/ 31544 w 241"/>
                  <a:gd name="T87" fmla="*/ 18721 h 297"/>
                  <a:gd name="T88" fmla="*/ 30461 w 241"/>
                  <a:gd name="T89" fmla="*/ 15908 h 297"/>
                  <a:gd name="T90" fmla="*/ 29389 w 241"/>
                  <a:gd name="T91" fmla="*/ 14987 h 297"/>
                  <a:gd name="T92" fmla="*/ 32654 w 241"/>
                  <a:gd name="T93" fmla="*/ 15908 h 297"/>
                  <a:gd name="T94" fmla="*/ 32654 w 241"/>
                  <a:gd name="T95" fmla="*/ 12175 h 297"/>
                  <a:gd name="T96" fmla="*/ 29389 w 241"/>
                  <a:gd name="T97" fmla="*/ 14056 h 297"/>
                  <a:gd name="T98" fmla="*/ 32654 w 241"/>
                  <a:gd name="T99" fmla="*/ 9359 h 297"/>
                  <a:gd name="T100" fmla="*/ 27197 w 241"/>
                  <a:gd name="T101" fmla="*/ 6546 h 297"/>
                  <a:gd name="T102" fmla="*/ 23928 w 241"/>
                  <a:gd name="T103" fmla="*/ 6546 h 297"/>
                  <a:gd name="T104" fmla="*/ 21750 w 241"/>
                  <a:gd name="T105" fmla="*/ 8441 h 297"/>
                  <a:gd name="T106" fmla="*/ 20664 w 241"/>
                  <a:gd name="T107" fmla="*/ 5628 h 297"/>
                  <a:gd name="T108" fmla="*/ 21750 w 241"/>
                  <a:gd name="T109" fmla="*/ 4697 h 297"/>
                  <a:gd name="T110" fmla="*/ 25014 w 241"/>
                  <a:gd name="T111" fmla="*/ 1882 h 29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41" h="297">
                    <a:moveTo>
                      <a:pt x="184" y="16"/>
                    </a:moveTo>
                    <a:lnTo>
                      <a:pt x="160" y="0"/>
                    </a:lnTo>
                    <a:lnTo>
                      <a:pt x="136" y="24"/>
                    </a:lnTo>
                    <a:lnTo>
                      <a:pt x="104" y="8"/>
                    </a:lnTo>
                    <a:lnTo>
                      <a:pt x="80" y="16"/>
                    </a:lnTo>
                    <a:lnTo>
                      <a:pt x="72" y="32"/>
                    </a:lnTo>
                    <a:lnTo>
                      <a:pt x="64" y="48"/>
                    </a:lnTo>
                    <a:lnTo>
                      <a:pt x="72" y="72"/>
                    </a:lnTo>
                    <a:lnTo>
                      <a:pt x="56" y="72"/>
                    </a:lnTo>
                    <a:lnTo>
                      <a:pt x="48" y="64"/>
                    </a:lnTo>
                    <a:lnTo>
                      <a:pt x="40" y="64"/>
                    </a:lnTo>
                    <a:lnTo>
                      <a:pt x="40" y="80"/>
                    </a:lnTo>
                    <a:lnTo>
                      <a:pt x="40" y="96"/>
                    </a:lnTo>
                    <a:lnTo>
                      <a:pt x="40" y="112"/>
                    </a:lnTo>
                    <a:lnTo>
                      <a:pt x="8" y="136"/>
                    </a:lnTo>
                    <a:lnTo>
                      <a:pt x="0" y="144"/>
                    </a:lnTo>
                    <a:lnTo>
                      <a:pt x="0" y="176"/>
                    </a:lnTo>
                    <a:lnTo>
                      <a:pt x="24" y="192"/>
                    </a:lnTo>
                    <a:lnTo>
                      <a:pt x="24" y="232"/>
                    </a:lnTo>
                    <a:lnTo>
                      <a:pt x="48" y="232"/>
                    </a:lnTo>
                    <a:lnTo>
                      <a:pt x="48" y="248"/>
                    </a:lnTo>
                    <a:lnTo>
                      <a:pt x="56" y="264"/>
                    </a:lnTo>
                    <a:lnTo>
                      <a:pt x="64" y="288"/>
                    </a:lnTo>
                    <a:lnTo>
                      <a:pt x="88" y="288"/>
                    </a:lnTo>
                    <a:lnTo>
                      <a:pt x="104" y="264"/>
                    </a:lnTo>
                    <a:lnTo>
                      <a:pt x="112" y="264"/>
                    </a:lnTo>
                    <a:lnTo>
                      <a:pt x="112" y="280"/>
                    </a:lnTo>
                    <a:lnTo>
                      <a:pt x="120" y="288"/>
                    </a:lnTo>
                    <a:lnTo>
                      <a:pt x="136" y="288"/>
                    </a:lnTo>
                    <a:lnTo>
                      <a:pt x="136" y="280"/>
                    </a:lnTo>
                    <a:lnTo>
                      <a:pt x="152" y="280"/>
                    </a:lnTo>
                    <a:lnTo>
                      <a:pt x="152" y="288"/>
                    </a:lnTo>
                    <a:lnTo>
                      <a:pt x="160" y="296"/>
                    </a:lnTo>
                    <a:lnTo>
                      <a:pt x="176" y="288"/>
                    </a:lnTo>
                    <a:lnTo>
                      <a:pt x="184" y="256"/>
                    </a:lnTo>
                    <a:lnTo>
                      <a:pt x="184" y="224"/>
                    </a:lnTo>
                    <a:lnTo>
                      <a:pt x="200" y="224"/>
                    </a:lnTo>
                    <a:lnTo>
                      <a:pt x="200" y="216"/>
                    </a:lnTo>
                    <a:lnTo>
                      <a:pt x="200" y="200"/>
                    </a:lnTo>
                    <a:lnTo>
                      <a:pt x="216" y="216"/>
                    </a:lnTo>
                    <a:lnTo>
                      <a:pt x="232" y="192"/>
                    </a:lnTo>
                    <a:lnTo>
                      <a:pt x="216" y="176"/>
                    </a:lnTo>
                    <a:lnTo>
                      <a:pt x="216" y="168"/>
                    </a:lnTo>
                    <a:lnTo>
                      <a:pt x="232" y="160"/>
                    </a:lnTo>
                    <a:lnTo>
                      <a:pt x="224" y="136"/>
                    </a:lnTo>
                    <a:lnTo>
                      <a:pt x="216" y="128"/>
                    </a:lnTo>
                    <a:lnTo>
                      <a:pt x="240" y="136"/>
                    </a:lnTo>
                    <a:lnTo>
                      <a:pt x="240" y="104"/>
                    </a:lnTo>
                    <a:lnTo>
                      <a:pt x="216" y="120"/>
                    </a:lnTo>
                    <a:lnTo>
                      <a:pt x="240" y="80"/>
                    </a:lnTo>
                    <a:lnTo>
                      <a:pt x="200" y="56"/>
                    </a:lnTo>
                    <a:lnTo>
                      <a:pt x="176" y="56"/>
                    </a:lnTo>
                    <a:lnTo>
                      <a:pt x="160" y="72"/>
                    </a:lnTo>
                    <a:lnTo>
                      <a:pt x="152" y="48"/>
                    </a:lnTo>
                    <a:lnTo>
                      <a:pt x="160" y="40"/>
                    </a:lnTo>
                    <a:lnTo>
                      <a:pt x="184" y="16"/>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91" name="Freeform 15"/>
              <p:cNvSpPr>
                <a:spLocks noChangeArrowheads="1"/>
              </p:cNvSpPr>
              <p:nvPr/>
            </p:nvSpPr>
            <p:spPr bwMode="auto">
              <a:xfrm>
                <a:off x="13372" y="7523"/>
                <a:ext cx="938" cy="1215"/>
              </a:xfrm>
              <a:custGeom>
                <a:avLst/>
                <a:gdLst>
                  <a:gd name="T0" fmla="*/ 37932 w 273"/>
                  <a:gd name="T1" fmla="*/ 6569 h 369"/>
                  <a:gd name="T2" fmla="*/ 37932 w 273"/>
                  <a:gd name="T3" fmla="*/ 5637 h 369"/>
                  <a:gd name="T4" fmla="*/ 35699 w 273"/>
                  <a:gd name="T5" fmla="*/ 5637 h 369"/>
                  <a:gd name="T6" fmla="*/ 35699 w 273"/>
                  <a:gd name="T7" fmla="*/ 6569 h 369"/>
                  <a:gd name="T8" fmla="*/ 33469 w 273"/>
                  <a:gd name="T9" fmla="*/ 6569 h 369"/>
                  <a:gd name="T10" fmla="*/ 32321 w 273"/>
                  <a:gd name="T11" fmla="*/ 6569 h 369"/>
                  <a:gd name="T12" fmla="*/ 32321 w 273"/>
                  <a:gd name="T13" fmla="*/ 3750 h 369"/>
                  <a:gd name="T14" fmla="*/ 31236 w 273"/>
                  <a:gd name="T15" fmla="*/ 3750 h 369"/>
                  <a:gd name="T16" fmla="*/ 29006 w 273"/>
                  <a:gd name="T17" fmla="*/ 6569 h 369"/>
                  <a:gd name="T18" fmla="*/ 25628 w 273"/>
                  <a:gd name="T19" fmla="*/ 6569 h 369"/>
                  <a:gd name="T20" fmla="*/ 24543 w 273"/>
                  <a:gd name="T21" fmla="*/ 3750 h 369"/>
                  <a:gd name="T22" fmla="*/ 23409 w 273"/>
                  <a:gd name="T23" fmla="*/ 1897 h 369"/>
                  <a:gd name="T24" fmla="*/ 22313 w 273"/>
                  <a:gd name="T25" fmla="*/ 0 h 369"/>
                  <a:gd name="T26" fmla="*/ 20079 w 273"/>
                  <a:gd name="T27" fmla="*/ 0 h 369"/>
                  <a:gd name="T28" fmla="*/ 20079 w 273"/>
                  <a:gd name="T29" fmla="*/ 932 h 369"/>
                  <a:gd name="T30" fmla="*/ 15620 w 273"/>
                  <a:gd name="T31" fmla="*/ 1897 h 369"/>
                  <a:gd name="T32" fmla="*/ 15620 w 273"/>
                  <a:gd name="T33" fmla="*/ 3750 h 369"/>
                  <a:gd name="T34" fmla="*/ 11156 w 273"/>
                  <a:gd name="T35" fmla="*/ 3750 h 369"/>
                  <a:gd name="T36" fmla="*/ 8926 w 273"/>
                  <a:gd name="T37" fmla="*/ 5637 h 369"/>
                  <a:gd name="T38" fmla="*/ 8926 w 273"/>
                  <a:gd name="T39" fmla="*/ 8456 h 369"/>
                  <a:gd name="T40" fmla="*/ 10023 w 273"/>
                  <a:gd name="T41" fmla="*/ 10355 h 369"/>
                  <a:gd name="T42" fmla="*/ 6693 w 273"/>
                  <a:gd name="T43" fmla="*/ 13174 h 369"/>
                  <a:gd name="T44" fmla="*/ 5559 w 273"/>
                  <a:gd name="T45" fmla="*/ 13174 h 369"/>
                  <a:gd name="T46" fmla="*/ 4463 w 273"/>
                  <a:gd name="T47" fmla="*/ 16924 h 369"/>
                  <a:gd name="T48" fmla="*/ 4463 w 273"/>
                  <a:gd name="T49" fmla="*/ 18811 h 369"/>
                  <a:gd name="T50" fmla="*/ 4463 w 273"/>
                  <a:gd name="T51" fmla="*/ 20708 h 369"/>
                  <a:gd name="T52" fmla="*/ 2230 w 273"/>
                  <a:gd name="T53" fmla="*/ 23526 h 369"/>
                  <a:gd name="T54" fmla="*/ 1099 w 273"/>
                  <a:gd name="T55" fmla="*/ 25380 h 369"/>
                  <a:gd name="T56" fmla="*/ 0 w 273"/>
                  <a:gd name="T57" fmla="*/ 30095 h 369"/>
                  <a:gd name="T58" fmla="*/ 1099 w 273"/>
                  <a:gd name="T59" fmla="*/ 31982 h 369"/>
                  <a:gd name="T60" fmla="*/ 7793 w 273"/>
                  <a:gd name="T61" fmla="*/ 31982 h 369"/>
                  <a:gd name="T62" fmla="*/ 11156 w 273"/>
                  <a:gd name="T63" fmla="*/ 38554 h 369"/>
                  <a:gd name="T64" fmla="*/ 12252 w 273"/>
                  <a:gd name="T65" fmla="*/ 43269 h 369"/>
                  <a:gd name="T66" fmla="*/ 15620 w 273"/>
                  <a:gd name="T67" fmla="*/ 38554 h 369"/>
                  <a:gd name="T68" fmla="*/ 16716 w 273"/>
                  <a:gd name="T69" fmla="*/ 39486 h 369"/>
                  <a:gd name="T70" fmla="*/ 21179 w 273"/>
                  <a:gd name="T71" fmla="*/ 35735 h 369"/>
                  <a:gd name="T72" fmla="*/ 21179 w 273"/>
                  <a:gd name="T73" fmla="*/ 32917 h 369"/>
                  <a:gd name="T74" fmla="*/ 25628 w 273"/>
                  <a:gd name="T75" fmla="*/ 31982 h 369"/>
                  <a:gd name="T76" fmla="*/ 27862 w 273"/>
                  <a:gd name="T77" fmla="*/ 27277 h 369"/>
                  <a:gd name="T78" fmla="*/ 30092 w 273"/>
                  <a:gd name="T79" fmla="*/ 26345 h 369"/>
                  <a:gd name="T80" fmla="*/ 30092 w 273"/>
                  <a:gd name="T81" fmla="*/ 23526 h 369"/>
                  <a:gd name="T82" fmla="*/ 33469 w 273"/>
                  <a:gd name="T83" fmla="*/ 23526 h 369"/>
                  <a:gd name="T84" fmla="*/ 34555 w 273"/>
                  <a:gd name="T85" fmla="*/ 18811 h 369"/>
                  <a:gd name="T86" fmla="*/ 33469 w 273"/>
                  <a:gd name="T87" fmla="*/ 15028 h 369"/>
                  <a:gd name="T88" fmla="*/ 34555 w 273"/>
                  <a:gd name="T89" fmla="*/ 14106 h 369"/>
                  <a:gd name="T90" fmla="*/ 32321 w 273"/>
                  <a:gd name="T91" fmla="*/ 12209 h 369"/>
                  <a:gd name="T92" fmla="*/ 34555 w 273"/>
                  <a:gd name="T93" fmla="*/ 11274 h 369"/>
                  <a:gd name="T94" fmla="*/ 35699 w 273"/>
                  <a:gd name="T95" fmla="*/ 12209 h 369"/>
                  <a:gd name="T96" fmla="*/ 37932 w 273"/>
                  <a:gd name="T97" fmla="*/ 9387 h 369"/>
                  <a:gd name="T98" fmla="*/ 37932 w 273"/>
                  <a:gd name="T99" fmla="*/ 6569 h 3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73" h="369">
                    <a:moveTo>
                      <a:pt x="272" y="56"/>
                    </a:moveTo>
                    <a:lnTo>
                      <a:pt x="272" y="48"/>
                    </a:lnTo>
                    <a:lnTo>
                      <a:pt x="256" y="48"/>
                    </a:lnTo>
                    <a:lnTo>
                      <a:pt x="256" y="56"/>
                    </a:lnTo>
                    <a:lnTo>
                      <a:pt x="240" y="56"/>
                    </a:lnTo>
                    <a:lnTo>
                      <a:pt x="232" y="56"/>
                    </a:lnTo>
                    <a:lnTo>
                      <a:pt x="232" y="32"/>
                    </a:lnTo>
                    <a:lnTo>
                      <a:pt x="224" y="32"/>
                    </a:lnTo>
                    <a:lnTo>
                      <a:pt x="208" y="56"/>
                    </a:lnTo>
                    <a:lnTo>
                      <a:pt x="184" y="56"/>
                    </a:lnTo>
                    <a:lnTo>
                      <a:pt x="176" y="32"/>
                    </a:lnTo>
                    <a:lnTo>
                      <a:pt x="168" y="16"/>
                    </a:lnTo>
                    <a:lnTo>
                      <a:pt x="160" y="0"/>
                    </a:lnTo>
                    <a:lnTo>
                      <a:pt x="144" y="0"/>
                    </a:lnTo>
                    <a:lnTo>
                      <a:pt x="144" y="8"/>
                    </a:lnTo>
                    <a:lnTo>
                      <a:pt x="112" y="16"/>
                    </a:lnTo>
                    <a:lnTo>
                      <a:pt x="112" y="32"/>
                    </a:lnTo>
                    <a:lnTo>
                      <a:pt x="80" y="32"/>
                    </a:lnTo>
                    <a:lnTo>
                      <a:pt x="64" y="48"/>
                    </a:lnTo>
                    <a:lnTo>
                      <a:pt x="64" y="72"/>
                    </a:lnTo>
                    <a:lnTo>
                      <a:pt x="72" y="88"/>
                    </a:lnTo>
                    <a:lnTo>
                      <a:pt x="48" y="112"/>
                    </a:lnTo>
                    <a:lnTo>
                      <a:pt x="40" y="112"/>
                    </a:lnTo>
                    <a:lnTo>
                      <a:pt x="32" y="144"/>
                    </a:lnTo>
                    <a:lnTo>
                      <a:pt x="32" y="160"/>
                    </a:lnTo>
                    <a:lnTo>
                      <a:pt x="32" y="176"/>
                    </a:lnTo>
                    <a:lnTo>
                      <a:pt x="16" y="200"/>
                    </a:lnTo>
                    <a:lnTo>
                      <a:pt x="8" y="216"/>
                    </a:lnTo>
                    <a:lnTo>
                      <a:pt x="0" y="256"/>
                    </a:lnTo>
                    <a:lnTo>
                      <a:pt x="8" y="272"/>
                    </a:lnTo>
                    <a:lnTo>
                      <a:pt x="56" y="272"/>
                    </a:lnTo>
                    <a:lnTo>
                      <a:pt x="80" y="328"/>
                    </a:lnTo>
                    <a:lnTo>
                      <a:pt x="88" y="368"/>
                    </a:lnTo>
                    <a:lnTo>
                      <a:pt x="112" y="328"/>
                    </a:lnTo>
                    <a:lnTo>
                      <a:pt x="120" y="336"/>
                    </a:lnTo>
                    <a:lnTo>
                      <a:pt x="152" y="304"/>
                    </a:lnTo>
                    <a:lnTo>
                      <a:pt x="152" y="280"/>
                    </a:lnTo>
                    <a:lnTo>
                      <a:pt x="184" y="272"/>
                    </a:lnTo>
                    <a:lnTo>
                      <a:pt x="200" y="232"/>
                    </a:lnTo>
                    <a:lnTo>
                      <a:pt x="216" y="224"/>
                    </a:lnTo>
                    <a:lnTo>
                      <a:pt x="216" y="200"/>
                    </a:lnTo>
                    <a:lnTo>
                      <a:pt x="240" y="200"/>
                    </a:lnTo>
                    <a:lnTo>
                      <a:pt x="248" y="160"/>
                    </a:lnTo>
                    <a:lnTo>
                      <a:pt x="240" y="128"/>
                    </a:lnTo>
                    <a:lnTo>
                      <a:pt x="248" y="120"/>
                    </a:lnTo>
                    <a:lnTo>
                      <a:pt x="232" y="104"/>
                    </a:lnTo>
                    <a:lnTo>
                      <a:pt x="248" y="96"/>
                    </a:lnTo>
                    <a:lnTo>
                      <a:pt x="256" y="104"/>
                    </a:lnTo>
                    <a:lnTo>
                      <a:pt x="272" y="80"/>
                    </a:lnTo>
                    <a:lnTo>
                      <a:pt x="272" y="56"/>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92" name="Freeform 16"/>
              <p:cNvSpPr>
                <a:spLocks noChangeArrowheads="1"/>
              </p:cNvSpPr>
              <p:nvPr/>
            </p:nvSpPr>
            <p:spPr bwMode="auto">
              <a:xfrm>
                <a:off x="11943" y="8287"/>
                <a:ext cx="1735" cy="1265"/>
              </a:xfrm>
              <a:custGeom>
                <a:avLst/>
                <a:gdLst>
                  <a:gd name="T0" fmla="*/ 69098 w 505"/>
                  <a:gd name="T1" fmla="*/ 11175 h 385"/>
                  <a:gd name="T2" fmla="*/ 59090 w 505"/>
                  <a:gd name="T3" fmla="*/ 4643 h 385"/>
                  <a:gd name="T4" fmla="*/ 56856 w 505"/>
                  <a:gd name="T5" fmla="*/ 6532 h 385"/>
                  <a:gd name="T6" fmla="*/ 52397 w 505"/>
                  <a:gd name="T7" fmla="*/ 4643 h 385"/>
                  <a:gd name="T8" fmla="*/ 43471 w 505"/>
                  <a:gd name="T9" fmla="*/ 6532 h 385"/>
                  <a:gd name="T10" fmla="*/ 43471 w 505"/>
                  <a:gd name="T11" fmla="*/ 0 h 385"/>
                  <a:gd name="T12" fmla="*/ 39012 w 505"/>
                  <a:gd name="T13" fmla="*/ 0 h 385"/>
                  <a:gd name="T14" fmla="*/ 30086 w 505"/>
                  <a:gd name="T15" fmla="*/ 917 h 385"/>
                  <a:gd name="T16" fmla="*/ 28990 w 505"/>
                  <a:gd name="T17" fmla="*/ 4643 h 385"/>
                  <a:gd name="T18" fmla="*/ 23393 w 505"/>
                  <a:gd name="T19" fmla="*/ 2806 h 385"/>
                  <a:gd name="T20" fmla="*/ 20078 w 505"/>
                  <a:gd name="T21" fmla="*/ 5602 h 385"/>
                  <a:gd name="T22" fmla="*/ 21164 w 505"/>
                  <a:gd name="T23" fmla="*/ 10255 h 385"/>
                  <a:gd name="T24" fmla="*/ 20078 w 505"/>
                  <a:gd name="T25" fmla="*/ 13051 h 385"/>
                  <a:gd name="T26" fmla="*/ 15615 w 505"/>
                  <a:gd name="T27" fmla="*/ 19583 h 385"/>
                  <a:gd name="T28" fmla="*/ 10022 w 505"/>
                  <a:gd name="T29" fmla="*/ 26105 h 385"/>
                  <a:gd name="T30" fmla="*/ 4463 w 505"/>
                  <a:gd name="T31" fmla="*/ 31707 h 385"/>
                  <a:gd name="T32" fmla="*/ 0 w 505"/>
                  <a:gd name="T33" fmla="*/ 34513 h 385"/>
                  <a:gd name="T34" fmla="*/ 1099 w 505"/>
                  <a:gd name="T35" fmla="*/ 36360 h 385"/>
                  <a:gd name="T36" fmla="*/ 2230 w 505"/>
                  <a:gd name="T37" fmla="*/ 41965 h 385"/>
                  <a:gd name="T38" fmla="*/ 7792 w 505"/>
                  <a:gd name="T39" fmla="*/ 44771 h 385"/>
                  <a:gd name="T40" fmla="*/ 5559 w 505"/>
                  <a:gd name="T41" fmla="*/ 40086 h 385"/>
                  <a:gd name="T42" fmla="*/ 11156 w 505"/>
                  <a:gd name="T43" fmla="*/ 35433 h 385"/>
                  <a:gd name="T44" fmla="*/ 21164 w 505"/>
                  <a:gd name="T45" fmla="*/ 32637 h 385"/>
                  <a:gd name="T46" fmla="*/ 26771 w 505"/>
                  <a:gd name="T47" fmla="*/ 34513 h 385"/>
                  <a:gd name="T48" fmla="*/ 33453 w 505"/>
                  <a:gd name="T49" fmla="*/ 28911 h 385"/>
                  <a:gd name="T50" fmla="*/ 36779 w 505"/>
                  <a:gd name="T51" fmla="*/ 27984 h 385"/>
                  <a:gd name="T52" fmla="*/ 36779 w 505"/>
                  <a:gd name="T53" fmla="*/ 25188 h 385"/>
                  <a:gd name="T54" fmla="*/ 39012 w 505"/>
                  <a:gd name="T55" fmla="*/ 24226 h 385"/>
                  <a:gd name="T56" fmla="*/ 46800 w 505"/>
                  <a:gd name="T57" fmla="*/ 27032 h 385"/>
                  <a:gd name="T58" fmla="*/ 46800 w 505"/>
                  <a:gd name="T59" fmla="*/ 23309 h 385"/>
                  <a:gd name="T60" fmla="*/ 52397 w 505"/>
                  <a:gd name="T61" fmla="*/ 22379 h 385"/>
                  <a:gd name="T62" fmla="*/ 54627 w 505"/>
                  <a:gd name="T63" fmla="*/ 23309 h 385"/>
                  <a:gd name="T64" fmla="*/ 55726 w 505"/>
                  <a:gd name="T65" fmla="*/ 21462 h 385"/>
                  <a:gd name="T66" fmla="*/ 62405 w 505"/>
                  <a:gd name="T67" fmla="*/ 20503 h 385"/>
                  <a:gd name="T68" fmla="*/ 66868 w 505"/>
                  <a:gd name="T69" fmla="*/ 15860 h 38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05" h="385">
                    <a:moveTo>
                      <a:pt x="504" y="128"/>
                    </a:moveTo>
                    <a:lnTo>
                      <a:pt x="496" y="96"/>
                    </a:lnTo>
                    <a:lnTo>
                      <a:pt x="472" y="40"/>
                    </a:lnTo>
                    <a:lnTo>
                      <a:pt x="424" y="40"/>
                    </a:lnTo>
                    <a:lnTo>
                      <a:pt x="416" y="32"/>
                    </a:lnTo>
                    <a:lnTo>
                      <a:pt x="408" y="56"/>
                    </a:lnTo>
                    <a:lnTo>
                      <a:pt x="392" y="56"/>
                    </a:lnTo>
                    <a:lnTo>
                      <a:pt x="376" y="40"/>
                    </a:lnTo>
                    <a:lnTo>
                      <a:pt x="320" y="64"/>
                    </a:lnTo>
                    <a:lnTo>
                      <a:pt x="312" y="56"/>
                    </a:lnTo>
                    <a:lnTo>
                      <a:pt x="336" y="8"/>
                    </a:lnTo>
                    <a:lnTo>
                      <a:pt x="312" y="0"/>
                    </a:lnTo>
                    <a:lnTo>
                      <a:pt x="296" y="16"/>
                    </a:lnTo>
                    <a:lnTo>
                      <a:pt x="280" y="0"/>
                    </a:lnTo>
                    <a:lnTo>
                      <a:pt x="272" y="8"/>
                    </a:lnTo>
                    <a:lnTo>
                      <a:pt x="216" y="8"/>
                    </a:lnTo>
                    <a:lnTo>
                      <a:pt x="224" y="40"/>
                    </a:lnTo>
                    <a:lnTo>
                      <a:pt x="208" y="40"/>
                    </a:lnTo>
                    <a:lnTo>
                      <a:pt x="176" y="16"/>
                    </a:lnTo>
                    <a:lnTo>
                      <a:pt x="168" y="24"/>
                    </a:lnTo>
                    <a:lnTo>
                      <a:pt x="168" y="48"/>
                    </a:lnTo>
                    <a:lnTo>
                      <a:pt x="144" y="48"/>
                    </a:lnTo>
                    <a:lnTo>
                      <a:pt x="144" y="72"/>
                    </a:lnTo>
                    <a:lnTo>
                      <a:pt x="152" y="88"/>
                    </a:lnTo>
                    <a:lnTo>
                      <a:pt x="144" y="96"/>
                    </a:lnTo>
                    <a:lnTo>
                      <a:pt x="144" y="112"/>
                    </a:lnTo>
                    <a:lnTo>
                      <a:pt x="112" y="144"/>
                    </a:lnTo>
                    <a:lnTo>
                      <a:pt x="112" y="168"/>
                    </a:lnTo>
                    <a:lnTo>
                      <a:pt x="104" y="200"/>
                    </a:lnTo>
                    <a:lnTo>
                      <a:pt x="72" y="224"/>
                    </a:lnTo>
                    <a:lnTo>
                      <a:pt x="48" y="256"/>
                    </a:lnTo>
                    <a:lnTo>
                      <a:pt x="32" y="272"/>
                    </a:lnTo>
                    <a:lnTo>
                      <a:pt x="8" y="280"/>
                    </a:lnTo>
                    <a:lnTo>
                      <a:pt x="0" y="296"/>
                    </a:lnTo>
                    <a:lnTo>
                      <a:pt x="16" y="304"/>
                    </a:lnTo>
                    <a:lnTo>
                      <a:pt x="8" y="312"/>
                    </a:lnTo>
                    <a:lnTo>
                      <a:pt x="8" y="352"/>
                    </a:lnTo>
                    <a:lnTo>
                      <a:pt x="16" y="360"/>
                    </a:lnTo>
                    <a:lnTo>
                      <a:pt x="16" y="384"/>
                    </a:lnTo>
                    <a:lnTo>
                      <a:pt x="56" y="384"/>
                    </a:lnTo>
                    <a:lnTo>
                      <a:pt x="56" y="360"/>
                    </a:lnTo>
                    <a:lnTo>
                      <a:pt x="40" y="344"/>
                    </a:lnTo>
                    <a:lnTo>
                      <a:pt x="48" y="312"/>
                    </a:lnTo>
                    <a:lnTo>
                      <a:pt x="80" y="304"/>
                    </a:lnTo>
                    <a:lnTo>
                      <a:pt x="104" y="304"/>
                    </a:lnTo>
                    <a:lnTo>
                      <a:pt x="152" y="280"/>
                    </a:lnTo>
                    <a:lnTo>
                      <a:pt x="184" y="280"/>
                    </a:lnTo>
                    <a:lnTo>
                      <a:pt x="192" y="296"/>
                    </a:lnTo>
                    <a:lnTo>
                      <a:pt x="208" y="264"/>
                    </a:lnTo>
                    <a:lnTo>
                      <a:pt x="240" y="248"/>
                    </a:lnTo>
                    <a:lnTo>
                      <a:pt x="248" y="224"/>
                    </a:lnTo>
                    <a:lnTo>
                      <a:pt x="264" y="240"/>
                    </a:lnTo>
                    <a:lnTo>
                      <a:pt x="272" y="240"/>
                    </a:lnTo>
                    <a:lnTo>
                      <a:pt x="264" y="216"/>
                    </a:lnTo>
                    <a:lnTo>
                      <a:pt x="264" y="184"/>
                    </a:lnTo>
                    <a:lnTo>
                      <a:pt x="280" y="208"/>
                    </a:lnTo>
                    <a:lnTo>
                      <a:pt x="288" y="232"/>
                    </a:lnTo>
                    <a:lnTo>
                      <a:pt x="336" y="232"/>
                    </a:lnTo>
                    <a:lnTo>
                      <a:pt x="320" y="216"/>
                    </a:lnTo>
                    <a:lnTo>
                      <a:pt x="336" y="200"/>
                    </a:lnTo>
                    <a:lnTo>
                      <a:pt x="360" y="208"/>
                    </a:lnTo>
                    <a:lnTo>
                      <a:pt x="376" y="192"/>
                    </a:lnTo>
                    <a:lnTo>
                      <a:pt x="392" y="192"/>
                    </a:lnTo>
                    <a:lnTo>
                      <a:pt x="392" y="200"/>
                    </a:lnTo>
                    <a:lnTo>
                      <a:pt x="400" y="200"/>
                    </a:lnTo>
                    <a:lnTo>
                      <a:pt x="400" y="184"/>
                    </a:lnTo>
                    <a:lnTo>
                      <a:pt x="424" y="192"/>
                    </a:lnTo>
                    <a:lnTo>
                      <a:pt x="448" y="176"/>
                    </a:lnTo>
                    <a:lnTo>
                      <a:pt x="472" y="168"/>
                    </a:lnTo>
                    <a:lnTo>
                      <a:pt x="480" y="136"/>
                    </a:lnTo>
                    <a:lnTo>
                      <a:pt x="504" y="128"/>
                    </a:lnTo>
                  </a:path>
                </a:pathLst>
              </a:custGeom>
              <a:solidFill>
                <a:srgbClr val="0277AC"/>
              </a:solidFill>
              <a:ln w="9525">
                <a:solidFill>
                  <a:srgbClr val="FFFFFF">
                    <a:alpha val="54117"/>
                  </a:srgbClr>
                </a:solidFill>
                <a:bevel/>
              </a:ln>
            </p:spPr>
            <p:txBody>
              <a:bodyPr/>
              <a:lstStyle/>
              <a:p>
                <a:endParaRPr lang="zh-CN" altLang="en-US"/>
              </a:p>
            </p:txBody>
          </p:sp>
          <p:sp>
            <p:nvSpPr>
              <p:cNvPr id="36893" name="Freeform 17"/>
              <p:cNvSpPr>
                <a:spLocks noChangeArrowheads="1"/>
              </p:cNvSpPr>
              <p:nvPr/>
            </p:nvSpPr>
            <p:spPr bwMode="auto">
              <a:xfrm>
                <a:off x="10788" y="8049"/>
                <a:ext cx="1709" cy="1265"/>
              </a:xfrm>
              <a:custGeom>
                <a:avLst/>
                <a:gdLst>
                  <a:gd name="T0" fmla="*/ 48100 w 497"/>
                  <a:gd name="T1" fmla="*/ 40086 h 385"/>
                  <a:gd name="T2" fmla="*/ 58140 w 497"/>
                  <a:gd name="T3" fmla="*/ 34513 h 385"/>
                  <a:gd name="T4" fmla="*/ 62655 w 497"/>
                  <a:gd name="T5" fmla="*/ 27984 h 385"/>
                  <a:gd name="T6" fmla="*/ 67126 w 497"/>
                  <a:gd name="T7" fmla="*/ 21462 h 385"/>
                  <a:gd name="T8" fmla="*/ 69361 w 497"/>
                  <a:gd name="T9" fmla="*/ 18656 h 385"/>
                  <a:gd name="T10" fmla="*/ 67126 w 497"/>
                  <a:gd name="T11" fmla="*/ 14930 h 385"/>
                  <a:gd name="T12" fmla="*/ 63756 w 497"/>
                  <a:gd name="T13" fmla="*/ 11175 h 385"/>
                  <a:gd name="T14" fmla="*/ 61521 w 497"/>
                  <a:gd name="T15" fmla="*/ 13051 h 385"/>
                  <a:gd name="T16" fmla="*/ 59285 w 497"/>
                  <a:gd name="T17" fmla="*/ 12134 h 385"/>
                  <a:gd name="T18" fmla="*/ 61521 w 497"/>
                  <a:gd name="T19" fmla="*/ 6532 h 385"/>
                  <a:gd name="T20" fmla="*/ 61521 w 497"/>
                  <a:gd name="T21" fmla="*/ 1879 h 385"/>
                  <a:gd name="T22" fmla="*/ 57040 w 497"/>
                  <a:gd name="T23" fmla="*/ 917 h 385"/>
                  <a:gd name="T24" fmla="*/ 52570 w 497"/>
                  <a:gd name="T25" fmla="*/ 2806 h 385"/>
                  <a:gd name="T26" fmla="*/ 50335 w 497"/>
                  <a:gd name="T27" fmla="*/ 2806 h 385"/>
                  <a:gd name="T28" fmla="*/ 44719 w 497"/>
                  <a:gd name="T29" fmla="*/ 3726 h 385"/>
                  <a:gd name="T30" fmla="*/ 40249 w 497"/>
                  <a:gd name="T31" fmla="*/ 7449 h 385"/>
                  <a:gd name="T32" fmla="*/ 36914 w 497"/>
                  <a:gd name="T33" fmla="*/ 8411 h 385"/>
                  <a:gd name="T34" fmla="*/ 31309 w 497"/>
                  <a:gd name="T35" fmla="*/ 11175 h 385"/>
                  <a:gd name="T36" fmla="*/ 25742 w 497"/>
                  <a:gd name="T37" fmla="*/ 10255 h 385"/>
                  <a:gd name="T38" fmla="*/ 22358 w 497"/>
                  <a:gd name="T39" fmla="*/ 8411 h 385"/>
                  <a:gd name="T40" fmla="*/ 20126 w 497"/>
                  <a:gd name="T41" fmla="*/ 10255 h 385"/>
                  <a:gd name="T42" fmla="*/ 13421 w 497"/>
                  <a:gd name="T43" fmla="*/ 14930 h 385"/>
                  <a:gd name="T44" fmla="*/ 4470 w 497"/>
                  <a:gd name="T45" fmla="*/ 13051 h 385"/>
                  <a:gd name="T46" fmla="*/ 0 w 497"/>
                  <a:gd name="T47" fmla="*/ 14930 h 385"/>
                  <a:gd name="T48" fmla="*/ 4470 w 497"/>
                  <a:gd name="T49" fmla="*/ 16777 h 385"/>
                  <a:gd name="T50" fmla="*/ 12321 w 497"/>
                  <a:gd name="T51" fmla="*/ 19583 h 385"/>
                  <a:gd name="T52" fmla="*/ 14556 w 497"/>
                  <a:gd name="T53" fmla="*/ 24226 h 385"/>
                  <a:gd name="T54" fmla="*/ 7850 w 497"/>
                  <a:gd name="T55" fmla="*/ 26105 h 385"/>
                  <a:gd name="T56" fmla="*/ 12321 w 497"/>
                  <a:gd name="T57" fmla="*/ 28911 h 385"/>
                  <a:gd name="T58" fmla="*/ 19026 w 497"/>
                  <a:gd name="T59" fmla="*/ 32637 h 385"/>
                  <a:gd name="T60" fmla="*/ 19026 w 497"/>
                  <a:gd name="T61" fmla="*/ 35433 h 385"/>
                  <a:gd name="T62" fmla="*/ 29077 w 497"/>
                  <a:gd name="T63" fmla="*/ 41965 h 385"/>
                  <a:gd name="T64" fmla="*/ 34682 w 497"/>
                  <a:gd name="T65" fmla="*/ 41965 h 385"/>
                  <a:gd name="T66" fmla="*/ 35779 w 497"/>
                  <a:gd name="T67" fmla="*/ 40086 h 385"/>
                  <a:gd name="T68" fmla="*/ 41398 w 497"/>
                  <a:gd name="T69" fmla="*/ 43808 h 385"/>
                  <a:gd name="T70" fmla="*/ 46965 w 497"/>
                  <a:gd name="T71" fmla="*/ 42882 h 38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97" h="385">
                    <a:moveTo>
                      <a:pt x="336" y="368"/>
                    </a:moveTo>
                    <a:lnTo>
                      <a:pt x="344" y="344"/>
                    </a:lnTo>
                    <a:lnTo>
                      <a:pt x="368" y="344"/>
                    </a:lnTo>
                    <a:lnTo>
                      <a:pt x="416" y="296"/>
                    </a:lnTo>
                    <a:lnTo>
                      <a:pt x="440" y="272"/>
                    </a:lnTo>
                    <a:lnTo>
                      <a:pt x="448" y="240"/>
                    </a:lnTo>
                    <a:lnTo>
                      <a:pt x="448" y="216"/>
                    </a:lnTo>
                    <a:lnTo>
                      <a:pt x="480" y="184"/>
                    </a:lnTo>
                    <a:lnTo>
                      <a:pt x="480" y="168"/>
                    </a:lnTo>
                    <a:lnTo>
                      <a:pt x="496" y="160"/>
                    </a:lnTo>
                    <a:lnTo>
                      <a:pt x="480" y="152"/>
                    </a:lnTo>
                    <a:lnTo>
                      <a:pt x="480" y="128"/>
                    </a:lnTo>
                    <a:lnTo>
                      <a:pt x="456" y="128"/>
                    </a:lnTo>
                    <a:lnTo>
                      <a:pt x="456" y="96"/>
                    </a:lnTo>
                    <a:lnTo>
                      <a:pt x="440" y="96"/>
                    </a:lnTo>
                    <a:lnTo>
                      <a:pt x="440" y="112"/>
                    </a:lnTo>
                    <a:lnTo>
                      <a:pt x="424" y="112"/>
                    </a:lnTo>
                    <a:lnTo>
                      <a:pt x="424" y="104"/>
                    </a:lnTo>
                    <a:lnTo>
                      <a:pt x="432" y="64"/>
                    </a:lnTo>
                    <a:lnTo>
                      <a:pt x="440" y="56"/>
                    </a:lnTo>
                    <a:lnTo>
                      <a:pt x="440" y="40"/>
                    </a:lnTo>
                    <a:lnTo>
                      <a:pt x="440" y="16"/>
                    </a:lnTo>
                    <a:lnTo>
                      <a:pt x="432" y="0"/>
                    </a:lnTo>
                    <a:lnTo>
                      <a:pt x="408" y="8"/>
                    </a:lnTo>
                    <a:lnTo>
                      <a:pt x="392" y="8"/>
                    </a:lnTo>
                    <a:lnTo>
                      <a:pt x="376" y="24"/>
                    </a:lnTo>
                    <a:lnTo>
                      <a:pt x="360" y="32"/>
                    </a:lnTo>
                    <a:lnTo>
                      <a:pt x="360" y="24"/>
                    </a:lnTo>
                    <a:lnTo>
                      <a:pt x="344" y="32"/>
                    </a:lnTo>
                    <a:lnTo>
                      <a:pt x="320" y="32"/>
                    </a:lnTo>
                    <a:lnTo>
                      <a:pt x="304" y="40"/>
                    </a:lnTo>
                    <a:lnTo>
                      <a:pt x="288" y="64"/>
                    </a:lnTo>
                    <a:lnTo>
                      <a:pt x="272" y="56"/>
                    </a:lnTo>
                    <a:lnTo>
                      <a:pt x="264" y="72"/>
                    </a:lnTo>
                    <a:lnTo>
                      <a:pt x="232" y="72"/>
                    </a:lnTo>
                    <a:lnTo>
                      <a:pt x="224" y="96"/>
                    </a:lnTo>
                    <a:lnTo>
                      <a:pt x="200" y="104"/>
                    </a:lnTo>
                    <a:lnTo>
                      <a:pt x="184" y="88"/>
                    </a:lnTo>
                    <a:lnTo>
                      <a:pt x="176" y="64"/>
                    </a:lnTo>
                    <a:lnTo>
                      <a:pt x="160" y="72"/>
                    </a:lnTo>
                    <a:lnTo>
                      <a:pt x="160" y="88"/>
                    </a:lnTo>
                    <a:lnTo>
                      <a:pt x="144" y="88"/>
                    </a:lnTo>
                    <a:lnTo>
                      <a:pt x="104" y="112"/>
                    </a:lnTo>
                    <a:lnTo>
                      <a:pt x="96" y="128"/>
                    </a:lnTo>
                    <a:lnTo>
                      <a:pt x="48" y="112"/>
                    </a:lnTo>
                    <a:lnTo>
                      <a:pt x="32" y="112"/>
                    </a:lnTo>
                    <a:lnTo>
                      <a:pt x="24" y="120"/>
                    </a:lnTo>
                    <a:lnTo>
                      <a:pt x="0" y="128"/>
                    </a:lnTo>
                    <a:lnTo>
                      <a:pt x="0" y="144"/>
                    </a:lnTo>
                    <a:lnTo>
                      <a:pt x="32" y="144"/>
                    </a:lnTo>
                    <a:lnTo>
                      <a:pt x="40" y="160"/>
                    </a:lnTo>
                    <a:lnTo>
                      <a:pt x="88" y="168"/>
                    </a:lnTo>
                    <a:lnTo>
                      <a:pt x="96" y="176"/>
                    </a:lnTo>
                    <a:lnTo>
                      <a:pt x="104" y="208"/>
                    </a:lnTo>
                    <a:lnTo>
                      <a:pt x="64" y="208"/>
                    </a:lnTo>
                    <a:lnTo>
                      <a:pt x="56" y="224"/>
                    </a:lnTo>
                    <a:lnTo>
                      <a:pt x="64" y="240"/>
                    </a:lnTo>
                    <a:lnTo>
                      <a:pt x="88" y="248"/>
                    </a:lnTo>
                    <a:lnTo>
                      <a:pt x="136" y="264"/>
                    </a:lnTo>
                    <a:lnTo>
                      <a:pt x="136" y="280"/>
                    </a:lnTo>
                    <a:lnTo>
                      <a:pt x="120" y="288"/>
                    </a:lnTo>
                    <a:lnTo>
                      <a:pt x="136" y="304"/>
                    </a:lnTo>
                    <a:lnTo>
                      <a:pt x="136" y="328"/>
                    </a:lnTo>
                    <a:lnTo>
                      <a:pt x="208" y="360"/>
                    </a:lnTo>
                    <a:lnTo>
                      <a:pt x="224" y="360"/>
                    </a:lnTo>
                    <a:lnTo>
                      <a:pt x="248" y="360"/>
                    </a:lnTo>
                    <a:lnTo>
                      <a:pt x="256" y="368"/>
                    </a:lnTo>
                    <a:lnTo>
                      <a:pt x="256" y="344"/>
                    </a:lnTo>
                    <a:lnTo>
                      <a:pt x="288" y="352"/>
                    </a:lnTo>
                    <a:lnTo>
                      <a:pt x="296" y="376"/>
                    </a:lnTo>
                    <a:lnTo>
                      <a:pt x="312" y="384"/>
                    </a:lnTo>
                    <a:lnTo>
                      <a:pt x="336" y="368"/>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94" name="Freeform 18"/>
              <p:cNvSpPr>
                <a:spLocks noChangeArrowheads="1"/>
              </p:cNvSpPr>
              <p:nvPr/>
            </p:nvSpPr>
            <p:spPr bwMode="auto">
              <a:xfrm>
                <a:off x="10625" y="7339"/>
                <a:ext cx="1269" cy="1164"/>
              </a:xfrm>
              <a:custGeom>
                <a:avLst/>
                <a:gdLst>
                  <a:gd name="T0" fmla="*/ 6706 w 369"/>
                  <a:gd name="T1" fmla="*/ 37828 h 353"/>
                  <a:gd name="T2" fmla="*/ 4471 w 369"/>
                  <a:gd name="T3" fmla="*/ 31227 h 353"/>
                  <a:gd name="T4" fmla="*/ 7855 w 369"/>
                  <a:gd name="T5" fmla="*/ 22693 h 353"/>
                  <a:gd name="T6" fmla="*/ 1135 w 369"/>
                  <a:gd name="T7" fmla="*/ 18931 h 353"/>
                  <a:gd name="T8" fmla="*/ 2235 w 369"/>
                  <a:gd name="T9" fmla="*/ 16059 h 353"/>
                  <a:gd name="T10" fmla="*/ 6706 w 369"/>
                  <a:gd name="T11" fmla="*/ 16059 h 353"/>
                  <a:gd name="T12" fmla="*/ 14557 w 369"/>
                  <a:gd name="T13" fmla="*/ 14199 h 353"/>
                  <a:gd name="T14" fmla="*/ 23513 w 369"/>
                  <a:gd name="T15" fmla="*/ 13233 h 353"/>
                  <a:gd name="T16" fmla="*/ 19028 w 369"/>
                  <a:gd name="T17" fmla="*/ 9470 h 353"/>
                  <a:gd name="T18" fmla="*/ 20129 w 369"/>
                  <a:gd name="T19" fmla="*/ 4729 h 353"/>
                  <a:gd name="T20" fmla="*/ 25748 w 369"/>
                  <a:gd name="T21" fmla="*/ 4729 h 353"/>
                  <a:gd name="T22" fmla="*/ 29084 w 369"/>
                  <a:gd name="T23" fmla="*/ 5665 h 353"/>
                  <a:gd name="T24" fmla="*/ 32454 w 369"/>
                  <a:gd name="T25" fmla="*/ 4729 h 353"/>
                  <a:gd name="T26" fmla="*/ 34689 w 369"/>
                  <a:gd name="T27" fmla="*/ 0 h 353"/>
                  <a:gd name="T28" fmla="*/ 40271 w 369"/>
                  <a:gd name="T29" fmla="*/ 1903 h 353"/>
                  <a:gd name="T30" fmla="*/ 44742 w 369"/>
                  <a:gd name="T31" fmla="*/ 8491 h 353"/>
                  <a:gd name="T32" fmla="*/ 48112 w 369"/>
                  <a:gd name="T33" fmla="*/ 10394 h 353"/>
                  <a:gd name="T34" fmla="*/ 50358 w 369"/>
                  <a:gd name="T35" fmla="*/ 7568 h 353"/>
                  <a:gd name="T36" fmla="*/ 50358 w 369"/>
                  <a:gd name="T37" fmla="*/ 11363 h 353"/>
                  <a:gd name="T38" fmla="*/ 50358 w 369"/>
                  <a:gd name="T39" fmla="*/ 15135 h 353"/>
                  <a:gd name="T40" fmla="*/ 47025 w 369"/>
                  <a:gd name="T41" fmla="*/ 19864 h 353"/>
                  <a:gd name="T42" fmla="*/ 51496 w 369"/>
                  <a:gd name="T43" fmla="*/ 21766 h 353"/>
                  <a:gd name="T44" fmla="*/ 50358 w 369"/>
                  <a:gd name="T45" fmla="*/ 24596 h 353"/>
                  <a:gd name="T46" fmla="*/ 51496 w 369"/>
                  <a:gd name="T47" fmla="*/ 27431 h 353"/>
                  <a:gd name="T48" fmla="*/ 48112 w 369"/>
                  <a:gd name="T49" fmla="*/ 30261 h 353"/>
                  <a:gd name="T50" fmla="*/ 48112 w 369"/>
                  <a:gd name="T51" fmla="*/ 33097 h 353"/>
                  <a:gd name="T52" fmla="*/ 43641 w 369"/>
                  <a:gd name="T53" fmla="*/ 34066 h 353"/>
                  <a:gd name="T54" fmla="*/ 38022 w 369"/>
                  <a:gd name="T55" fmla="*/ 36892 h 353"/>
                  <a:gd name="T56" fmla="*/ 32454 w 369"/>
                  <a:gd name="T57" fmla="*/ 35926 h 353"/>
                  <a:gd name="T58" fmla="*/ 29084 w 369"/>
                  <a:gd name="T59" fmla="*/ 34066 h 353"/>
                  <a:gd name="T60" fmla="*/ 26848 w 369"/>
                  <a:gd name="T61" fmla="*/ 35926 h 353"/>
                  <a:gd name="T62" fmla="*/ 20129 w 369"/>
                  <a:gd name="T63" fmla="*/ 41624 h 353"/>
                  <a:gd name="T64" fmla="*/ 11187 w 369"/>
                  <a:gd name="T65" fmla="*/ 38795 h 3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69" h="353">
                    <a:moveTo>
                      <a:pt x="48" y="344"/>
                    </a:moveTo>
                    <a:lnTo>
                      <a:pt x="48" y="320"/>
                    </a:lnTo>
                    <a:lnTo>
                      <a:pt x="64" y="296"/>
                    </a:lnTo>
                    <a:lnTo>
                      <a:pt x="32" y="264"/>
                    </a:lnTo>
                    <a:lnTo>
                      <a:pt x="56" y="224"/>
                    </a:lnTo>
                    <a:lnTo>
                      <a:pt x="56" y="192"/>
                    </a:lnTo>
                    <a:lnTo>
                      <a:pt x="8" y="200"/>
                    </a:lnTo>
                    <a:lnTo>
                      <a:pt x="8" y="160"/>
                    </a:lnTo>
                    <a:lnTo>
                      <a:pt x="0" y="152"/>
                    </a:lnTo>
                    <a:lnTo>
                      <a:pt x="16" y="136"/>
                    </a:lnTo>
                    <a:lnTo>
                      <a:pt x="32" y="144"/>
                    </a:lnTo>
                    <a:lnTo>
                      <a:pt x="48" y="136"/>
                    </a:lnTo>
                    <a:lnTo>
                      <a:pt x="96" y="136"/>
                    </a:lnTo>
                    <a:lnTo>
                      <a:pt x="104" y="120"/>
                    </a:lnTo>
                    <a:lnTo>
                      <a:pt x="112" y="112"/>
                    </a:lnTo>
                    <a:lnTo>
                      <a:pt x="168" y="112"/>
                    </a:lnTo>
                    <a:lnTo>
                      <a:pt x="160" y="80"/>
                    </a:lnTo>
                    <a:lnTo>
                      <a:pt x="136" y="80"/>
                    </a:lnTo>
                    <a:lnTo>
                      <a:pt x="128" y="56"/>
                    </a:lnTo>
                    <a:lnTo>
                      <a:pt x="144" y="40"/>
                    </a:lnTo>
                    <a:lnTo>
                      <a:pt x="168" y="48"/>
                    </a:lnTo>
                    <a:lnTo>
                      <a:pt x="184" y="40"/>
                    </a:lnTo>
                    <a:lnTo>
                      <a:pt x="192" y="56"/>
                    </a:lnTo>
                    <a:lnTo>
                      <a:pt x="208" y="48"/>
                    </a:lnTo>
                    <a:lnTo>
                      <a:pt x="208" y="24"/>
                    </a:lnTo>
                    <a:lnTo>
                      <a:pt x="232" y="40"/>
                    </a:lnTo>
                    <a:lnTo>
                      <a:pt x="240" y="8"/>
                    </a:lnTo>
                    <a:lnTo>
                      <a:pt x="248" y="0"/>
                    </a:lnTo>
                    <a:lnTo>
                      <a:pt x="264" y="16"/>
                    </a:lnTo>
                    <a:lnTo>
                      <a:pt x="288" y="16"/>
                    </a:lnTo>
                    <a:lnTo>
                      <a:pt x="312" y="72"/>
                    </a:lnTo>
                    <a:lnTo>
                      <a:pt x="320" y="72"/>
                    </a:lnTo>
                    <a:lnTo>
                      <a:pt x="328" y="88"/>
                    </a:lnTo>
                    <a:lnTo>
                      <a:pt x="344" y="88"/>
                    </a:lnTo>
                    <a:lnTo>
                      <a:pt x="352" y="72"/>
                    </a:lnTo>
                    <a:lnTo>
                      <a:pt x="360" y="64"/>
                    </a:lnTo>
                    <a:lnTo>
                      <a:pt x="368" y="88"/>
                    </a:lnTo>
                    <a:lnTo>
                      <a:pt x="360" y="96"/>
                    </a:lnTo>
                    <a:lnTo>
                      <a:pt x="360" y="112"/>
                    </a:lnTo>
                    <a:lnTo>
                      <a:pt x="360" y="128"/>
                    </a:lnTo>
                    <a:lnTo>
                      <a:pt x="336" y="152"/>
                    </a:lnTo>
                    <a:lnTo>
                      <a:pt x="336" y="168"/>
                    </a:lnTo>
                    <a:lnTo>
                      <a:pt x="360" y="168"/>
                    </a:lnTo>
                    <a:lnTo>
                      <a:pt x="368" y="184"/>
                    </a:lnTo>
                    <a:lnTo>
                      <a:pt x="360" y="192"/>
                    </a:lnTo>
                    <a:lnTo>
                      <a:pt x="360" y="208"/>
                    </a:lnTo>
                    <a:lnTo>
                      <a:pt x="360" y="232"/>
                    </a:lnTo>
                    <a:lnTo>
                      <a:pt x="368" y="232"/>
                    </a:lnTo>
                    <a:lnTo>
                      <a:pt x="368" y="248"/>
                    </a:lnTo>
                    <a:lnTo>
                      <a:pt x="344" y="256"/>
                    </a:lnTo>
                    <a:lnTo>
                      <a:pt x="344" y="272"/>
                    </a:lnTo>
                    <a:lnTo>
                      <a:pt x="344" y="280"/>
                    </a:lnTo>
                    <a:lnTo>
                      <a:pt x="320" y="272"/>
                    </a:lnTo>
                    <a:lnTo>
                      <a:pt x="312" y="288"/>
                    </a:lnTo>
                    <a:lnTo>
                      <a:pt x="280" y="288"/>
                    </a:lnTo>
                    <a:lnTo>
                      <a:pt x="272" y="312"/>
                    </a:lnTo>
                    <a:lnTo>
                      <a:pt x="248" y="320"/>
                    </a:lnTo>
                    <a:lnTo>
                      <a:pt x="232" y="304"/>
                    </a:lnTo>
                    <a:lnTo>
                      <a:pt x="224" y="280"/>
                    </a:lnTo>
                    <a:lnTo>
                      <a:pt x="208" y="288"/>
                    </a:lnTo>
                    <a:lnTo>
                      <a:pt x="208" y="304"/>
                    </a:lnTo>
                    <a:lnTo>
                      <a:pt x="192" y="304"/>
                    </a:lnTo>
                    <a:lnTo>
                      <a:pt x="152" y="328"/>
                    </a:lnTo>
                    <a:lnTo>
                      <a:pt x="144" y="352"/>
                    </a:lnTo>
                    <a:lnTo>
                      <a:pt x="96" y="328"/>
                    </a:lnTo>
                    <a:lnTo>
                      <a:pt x="80" y="328"/>
                    </a:lnTo>
                    <a:lnTo>
                      <a:pt x="48" y="344"/>
                    </a:lnTo>
                  </a:path>
                </a:pathLst>
              </a:custGeom>
              <a:solidFill>
                <a:srgbClr val="DADADA"/>
              </a:solidFill>
              <a:ln w="9525">
                <a:solidFill>
                  <a:srgbClr val="FFFFFF">
                    <a:alpha val="54117"/>
                  </a:srgbClr>
                </a:solidFill>
                <a:bevel/>
              </a:ln>
            </p:spPr>
            <p:txBody>
              <a:bodyPr/>
              <a:lstStyle/>
              <a:p>
                <a:endParaRPr lang="zh-CN" altLang="en-US"/>
              </a:p>
            </p:txBody>
          </p:sp>
          <p:sp>
            <p:nvSpPr>
              <p:cNvPr id="36895" name="Freeform 19"/>
              <p:cNvSpPr>
                <a:spLocks noChangeArrowheads="1"/>
              </p:cNvSpPr>
              <p:nvPr/>
            </p:nvSpPr>
            <p:spPr bwMode="auto">
              <a:xfrm>
                <a:off x="9193" y="7259"/>
                <a:ext cx="1955" cy="2029"/>
              </a:xfrm>
              <a:custGeom>
                <a:avLst/>
                <a:gdLst>
                  <a:gd name="T0" fmla="*/ 73582 w 569"/>
                  <a:gd name="T1" fmla="*/ 52382 h 617"/>
                  <a:gd name="T2" fmla="*/ 78042 w 569"/>
                  <a:gd name="T3" fmla="*/ 48653 h 617"/>
                  <a:gd name="T4" fmla="*/ 73582 w 569"/>
                  <a:gd name="T5" fmla="*/ 47723 h 617"/>
                  <a:gd name="T6" fmla="*/ 69119 w 569"/>
                  <a:gd name="T7" fmla="*/ 44911 h 617"/>
                  <a:gd name="T8" fmla="*/ 64656 w 569"/>
                  <a:gd name="T9" fmla="*/ 42109 h 617"/>
                  <a:gd name="T10" fmla="*/ 66889 w 569"/>
                  <a:gd name="T11" fmla="*/ 37407 h 617"/>
                  <a:gd name="T12" fmla="*/ 65790 w 569"/>
                  <a:gd name="T13" fmla="*/ 29014 h 617"/>
                  <a:gd name="T14" fmla="*/ 59097 w 569"/>
                  <a:gd name="T15" fmla="*/ 26213 h 617"/>
                  <a:gd name="T16" fmla="*/ 57963 w 569"/>
                  <a:gd name="T17" fmla="*/ 20589 h 617"/>
                  <a:gd name="T18" fmla="*/ 62426 w 569"/>
                  <a:gd name="T19" fmla="*/ 19629 h 617"/>
                  <a:gd name="T20" fmla="*/ 71349 w 569"/>
                  <a:gd name="T21" fmla="*/ 18708 h 617"/>
                  <a:gd name="T22" fmla="*/ 71349 w 569"/>
                  <a:gd name="T23" fmla="*/ 13085 h 617"/>
                  <a:gd name="T24" fmla="*/ 64656 w 569"/>
                  <a:gd name="T25" fmla="*/ 13085 h 617"/>
                  <a:gd name="T26" fmla="*/ 60193 w 569"/>
                  <a:gd name="T27" fmla="*/ 7471 h 617"/>
                  <a:gd name="T28" fmla="*/ 56867 w 569"/>
                  <a:gd name="T29" fmla="*/ 11237 h 617"/>
                  <a:gd name="T30" fmla="*/ 53500 w 569"/>
                  <a:gd name="T31" fmla="*/ 16860 h 617"/>
                  <a:gd name="T32" fmla="*/ 51270 w 569"/>
                  <a:gd name="T33" fmla="*/ 28064 h 617"/>
                  <a:gd name="T34" fmla="*/ 46807 w 569"/>
                  <a:gd name="T35" fmla="*/ 26213 h 617"/>
                  <a:gd name="T36" fmla="*/ 40148 w 569"/>
                  <a:gd name="T37" fmla="*/ 28064 h 617"/>
                  <a:gd name="T38" fmla="*/ 37928 w 569"/>
                  <a:gd name="T39" fmla="*/ 26213 h 617"/>
                  <a:gd name="T40" fmla="*/ 32321 w 569"/>
                  <a:gd name="T41" fmla="*/ 12167 h 617"/>
                  <a:gd name="T42" fmla="*/ 30091 w 569"/>
                  <a:gd name="T43" fmla="*/ 13085 h 617"/>
                  <a:gd name="T44" fmla="*/ 29005 w 569"/>
                  <a:gd name="T45" fmla="*/ 8425 h 617"/>
                  <a:gd name="T46" fmla="*/ 22312 w 569"/>
                  <a:gd name="T47" fmla="*/ 4693 h 617"/>
                  <a:gd name="T48" fmla="*/ 18949 w 569"/>
                  <a:gd name="T49" fmla="*/ 9356 h 617"/>
                  <a:gd name="T50" fmla="*/ 18949 w 569"/>
                  <a:gd name="T51" fmla="*/ 0 h 617"/>
                  <a:gd name="T52" fmla="*/ 15619 w 569"/>
                  <a:gd name="T53" fmla="*/ 0 h 617"/>
                  <a:gd name="T54" fmla="*/ 13386 w 569"/>
                  <a:gd name="T55" fmla="*/ 3732 h 617"/>
                  <a:gd name="T56" fmla="*/ 12252 w 569"/>
                  <a:gd name="T57" fmla="*/ 7471 h 617"/>
                  <a:gd name="T58" fmla="*/ 11156 w 569"/>
                  <a:gd name="T59" fmla="*/ 11237 h 617"/>
                  <a:gd name="T60" fmla="*/ 14486 w 569"/>
                  <a:gd name="T61" fmla="*/ 13085 h 617"/>
                  <a:gd name="T62" fmla="*/ 12252 w 569"/>
                  <a:gd name="T63" fmla="*/ 28064 h 617"/>
                  <a:gd name="T64" fmla="*/ 3329 w 569"/>
                  <a:gd name="T65" fmla="*/ 32757 h 617"/>
                  <a:gd name="T66" fmla="*/ 1099 w 569"/>
                  <a:gd name="T67" fmla="*/ 36486 h 617"/>
                  <a:gd name="T68" fmla="*/ 0 w 569"/>
                  <a:gd name="T69" fmla="*/ 43961 h 617"/>
                  <a:gd name="T70" fmla="*/ 6693 w 569"/>
                  <a:gd name="T71" fmla="*/ 43030 h 617"/>
                  <a:gd name="T72" fmla="*/ 11156 w 569"/>
                  <a:gd name="T73" fmla="*/ 45842 h 617"/>
                  <a:gd name="T74" fmla="*/ 12252 w 569"/>
                  <a:gd name="T75" fmla="*/ 47723 h 617"/>
                  <a:gd name="T76" fmla="*/ 13386 w 569"/>
                  <a:gd name="T77" fmla="*/ 52382 h 617"/>
                  <a:gd name="T78" fmla="*/ 16715 w 569"/>
                  <a:gd name="T79" fmla="*/ 54267 h 617"/>
                  <a:gd name="T80" fmla="*/ 15619 w 569"/>
                  <a:gd name="T81" fmla="*/ 58927 h 617"/>
                  <a:gd name="T82" fmla="*/ 14486 w 569"/>
                  <a:gd name="T83" fmla="*/ 61738 h 617"/>
                  <a:gd name="T84" fmla="*/ 20079 w 569"/>
                  <a:gd name="T85" fmla="*/ 65500 h 617"/>
                  <a:gd name="T86" fmla="*/ 27861 w 569"/>
                  <a:gd name="T87" fmla="*/ 67352 h 617"/>
                  <a:gd name="T88" fmla="*/ 31235 w 569"/>
                  <a:gd name="T89" fmla="*/ 66431 h 617"/>
                  <a:gd name="T90" fmla="*/ 32321 w 569"/>
                  <a:gd name="T91" fmla="*/ 70163 h 617"/>
                  <a:gd name="T92" fmla="*/ 36784 w 569"/>
                  <a:gd name="T93" fmla="*/ 69243 h 617"/>
                  <a:gd name="T94" fmla="*/ 37928 w 569"/>
                  <a:gd name="T95" fmla="*/ 59890 h 617"/>
                  <a:gd name="T96" fmla="*/ 45711 w 569"/>
                  <a:gd name="T97" fmla="*/ 58927 h 617"/>
                  <a:gd name="T98" fmla="*/ 49040 w 569"/>
                  <a:gd name="T99" fmla="*/ 59890 h 617"/>
                  <a:gd name="T100" fmla="*/ 53500 w 569"/>
                  <a:gd name="T101" fmla="*/ 59890 h 617"/>
                  <a:gd name="T102" fmla="*/ 57963 w 569"/>
                  <a:gd name="T103" fmla="*/ 60808 h 617"/>
                  <a:gd name="T104" fmla="*/ 61327 w 569"/>
                  <a:gd name="T105" fmla="*/ 58927 h 617"/>
                  <a:gd name="T106" fmla="*/ 68020 w 569"/>
                  <a:gd name="T107" fmla="*/ 55194 h 617"/>
                  <a:gd name="T108" fmla="*/ 72483 w 569"/>
                  <a:gd name="T109" fmla="*/ 54267 h 61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69" h="617">
                    <a:moveTo>
                      <a:pt x="520" y="464"/>
                    </a:moveTo>
                    <a:lnTo>
                      <a:pt x="528" y="448"/>
                    </a:lnTo>
                    <a:lnTo>
                      <a:pt x="568" y="448"/>
                    </a:lnTo>
                    <a:lnTo>
                      <a:pt x="560" y="416"/>
                    </a:lnTo>
                    <a:lnTo>
                      <a:pt x="552" y="400"/>
                    </a:lnTo>
                    <a:lnTo>
                      <a:pt x="528" y="408"/>
                    </a:lnTo>
                    <a:lnTo>
                      <a:pt x="504" y="400"/>
                    </a:lnTo>
                    <a:lnTo>
                      <a:pt x="496" y="384"/>
                    </a:lnTo>
                    <a:lnTo>
                      <a:pt x="464" y="384"/>
                    </a:lnTo>
                    <a:lnTo>
                      <a:pt x="464" y="360"/>
                    </a:lnTo>
                    <a:lnTo>
                      <a:pt x="464" y="344"/>
                    </a:lnTo>
                    <a:lnTo>
                      <a:pt x="480" y="320"/>
                    </a:lnTo>
                    <a:lnTo>
                      <a:pt x="448" y="288"/>
                    </a:lnTo>
                    <a:lnTo>
                      <a:pt x="472" y="248"/>
                    </a:lnTo>
                    <a:lnTo>
                      <a:pt x="472" y="216"/>
                    </a:lnTo>
                    <a:lnTo>
                      <a:pt x="424" y="224"/>
                    </a:lnTo>
                    <a:lnTo>
                      <a:pt x="424" y="184"/>
                    </a:lnTo>
                    <a:lnTo>
                      <a:pt x="416" y="176"/>
                    </a:lnTo>
                    <a:lnTo>
                      <a:pt x="432" y="160"/>
                    </a:lnTo>
                    <a:lnTo>
                      <a:pt x="448" y="168"/>
                    </a:lnTo>
                    <a:lnTo>
                      <a:pt x="464" y="152"/>
                    </a:lnTo>
                    <a:lnTo>
                      <a:pt x="512" y="160"/>
                    </a:lnTo>
                    <a:lnTo>
                      <a:pt x="528" y="136"/>
                    </a:lnTo>
                    <a:lnTo>
                      <a:pt x="512" y="112"/>
                    </a:lnTo>
                    <a:lnTo>
                      <a:pt x="488" y="128"/>
                    </a:lnTo>
                    <a:lnTo>
                      <a:pt x="464" y="112"/>
                    </a:lnTo>
                    <a:lnTo>
                      <a:pt x="464" y="64"/>
                    </a:lnTo>
                    <a:lnTo>
                      <a:pt x="432" y="64"/>
                    </a:lnTo>
                    <a:lnTo>
                      <a:pt x="424" y="96"/>
                    </a:lnTo>
                    <a:lnTo>
                      <a:pt x="408" y="96"/>
                    </a:lnTo>
                    <a:lnTo>
                      <a:pt x="408" y="120"/>
                    </a:lnTo>
                    <a:lnTo>
                      <a:pt x="384" y="144"/>
                    </a:lnTo>
                    <a:lnTo>
                      <a:pt x="368" y="144"/>
                    </a:lnTo>
                    <a:lnTo>
                      <a:pt x="368" y="240"/>
                    </a:lnTo>
                    <a:lnTo>
                      <a:pt x="344" y="240"/>
                    </a:lnTo>
                    <a:lnTo>
                      <a:pt x="336" y="224"/>
                    </a:lnTo>
                    <a:lnTo>
                      <a:pt x="320" y="240"/>
                    </a:lnTo>
                    <a:lnTo>
                      <a:pt x="288" y="240"/>
                    </a:lnTo>
                    <a:lnTo>
                      <a:pt x="288" y="232"/>
                    </a:lnTo>
                    <a:lnTo>
                      <a:pt x="272" y="224"/>
                    </a:lnTo>
                    <a:lnTo>
                      <a:pt x="272" y="192"/>
                    </a:lnTo>
                    <a:lnTo>
                      <a:pt x="232" y="104"/>
                    </a:lnTo>
                    <a:lnTo>
                      <a:pt x="216" y="104"/>
                    </a:lnTo>
                    <a:lnTo>
                      <a:pt x="216" y="112"/>
                    </a:lnTo>
                    <a:lnTo>
                      <a:pt x="200" y="88"/>
                    </a:lnTo>
                    <a:lnTo>
                      <a:pt x="208" y="72"/>
                    </a:lnTo>
                    <a:lnTo>
                      <a:pt x="176" y="32"/>
                    </a:lnTo>
                    <a:lnTo>
                      <a:pt x="160" y="40"/>
                    </a:lnTo>
                    <a:lnTo>
                      <a:pt x="152" y="80"/>
                    </a:lnTo>
                    <a:lnTo>
                      <a:pt x="136" y="80"/>
                    </a:lnTo>
                    <a:lnTo>
                      <a:pt x="136" y="64"/>
                    </a:lnTo>
                    <a:lnTo>
                      <a:pt x="136" y="0"/>
                    </a:lnTo>
                    <a:lnTo>
                      <a:pt x="120" y="16"/>
                    </a:lnTo>
                    <a:lnTo>
                      <a:pt x="112" y="0"/>
                    </a:lnTo>
                    <a:lnTo>
                      <a:pt x="96" y="16"/>
                    </a:lnTo>
                    <a:lnTo>
                      <a:pt x="96" y="32"/>
                    </a:lnTo>
                    <a:lnTo>
                      <a:pt x="104" y="64"/>
                    </a:lnTo>
                    <a:lnTo>
                      <a:pt x="88" y="64"/>
                    </a:lnTo>
                    <a:lnTo>
                      <a:pt x="72" y="64"/>
                    </a:lnTo>
                    <a:lnTo>
                      <a:pt x="80" y="96"/>
                    </a:lnTo>
                    <a:lnTo>
                      <a:pt x="80" y="112"/>
                    </a:lnTo>
                    <a:lnTo>
                      <a:pt x="104" y="112"/>
                    </a:lnTo>
                    <a:lnTo>
                      <a:pt x="104" y="168"/>
                    </a:lnTo>
                    <a:lnTo>
                      <a:pt x="88" y="240"/>
                    </a:lnTo>
                    <a:lnTo>
                      <a:pt x="40" y="272"/>
                    </a:lnTo>
                    <a:lnTo>
                      <a:pt x="24" y="280"/>
                    </a:lnTo>
                    <a:lnTo>
                      <a:pt x="16" y="288"/>
                    </a:lnTo>
                    <a:lnTo>
                      <a:pt x="8" y="312"/>
                    </a:lnTo>
                    <a:lnTo>
                      <a:pt x="8" y="360"/>
                    </a:lnTo>
                    <a:lnTo>
                      <a:pt x="0" y="376"/>
                    </a:lnTo>
                    <a:lnTo>
                      <a:pt x="32" y="376"/>
                    </a:lnTo>
                    <a:lnTo>
                      <a:pt x="48" y="368"/>
                    </a:lnTo>
                    <a:lnTo>
                      <a:pt x="88" y="376"/>
                    </a:lnTo>
                    <a:lnTo>
                      <a:pt x="80" y="392"/>
                    </a:lnTo>
                    <a:lnTo>
                      <a:pt x="72" y="392"/>
                    </a:lnTo>
                    <a:lnTo>
                      <a:pt x="88" y="408"/>
                    </a:lnTo>
                    <a:lnTo>
                      <a:pt x="80" y="432"/>
                    </a:lnTo>
                    <a:lnTo>
                      <a:pt x="96" y="448"/>
                    </a:lnTo>
                    <a:lnTo>
                      <a:pt x="120" y="448"/>
                    </a:lnTo>
                    <a:lnTo>
                      <a:pt x="120" y="464"/>
                    </a:lnTo>
                    <a:lnTo>
                      <a:pt x="112" y="472"/>
                    </a:lnTo>
                    <a:lnTo>
                      <a:pt x="112" y="504"/>
                    </a:lnTo>
                    <a:lnTo>
                      <a:pt x="96" y="504"/>
                    </a:lnTo>
                    <a:lnTo>
                      <a:pt x="104" y="528"/>
                    </a:lnTo>
                    <a:lnTo>
                      <a:pt x="144" y="528"/>
                    </a:lnTo>
                    <a:lnTo>
                      <a:pt x="144" y="560"/>
                    </a:lnTo>
                    <a:lnTo>
                      <a:pt x="160" y="568"/>
                    </a:lnTo>
                    <a:lnTo>
                      <a:pt x="200" y="576"/>
                    </a:lnTo>
                    <a:lnTo>
                      <a:pt x="216" y="560"/>
                    </a:lnTo>
                    <a:lnTo>
                      <a:pt x="224" y="568"/>
                    </a:lnTo>
                    <a:lnTo>
                      <a:pt x="216" y="592"/>
                    </a:lnTo>
                    <a:lnTo>
                      <a:pt x="232" y="600"/>
                    </a:lnTo>
                    <a:lnTo>
                      <a:pt x="264" y="616"/>
                    </a:lnTo>
                    <a:lnTo>
                      <a:pt x="264" y="592"/>
                    </a:lnTo>
                    <a:lnTo>
                      <a:pt x="264" y="520"/>
                    </a:lnTo>
                    <a:lnTo>
                      <a:pt x="272" y="512"/>
                    </a:lnTo>
                    <a:lnTo>
                      <a:pt x="320" y="512"/>
                    </a:lnTo>
                    <a:lnTo>
                      <a:pt x="328" y="504"/>
                    </a:lnTo>
                    <a:lnTo>
                      <a:pt x="344" y="504"/>
                    </a:lnTo>
                    <a:lnTo>
                      <a:pt x="352" y="512"/>
                    </a:lnTo>
                    <a:lnTo>
                      <a:pt x="376" y="504"/>
                    </a:lnTo>
                    <a:lnTo>
                      <a:pt x="384" y="512"/>
                    </a:lnTo>
                    <a:lnTo>
                      <a:pt x="392" y="504"/>
                    </a:lnTo>
                    <a:lnTo>
                      <a:pt x="416" y="520"/>
                    </a:lnTo>
                    <a:lnTo>
                      <a:pt x="416" y="504"/>
                    </a:lnTo>
                    <a:lnTo>
                      <a:pt x="440" y="504"/>
                    </a:lnTo>
                    <a:lnTo>
                      <a:pt x="480" y="496"/>
                    </a:lnTo>
                    <a:lnTo>
                      <a:pt x="488" y="472"/>
                    </a:lnTo>
                    <a:lnTo>
                      <a:pt x="504" y="464"/>
                    </a:lnTo>
                    <a:lnTo>
                      <a:pt x="520" y="464"/>
                    </a:lnTo>
                  </a:path>
                </a:pathLst>
              </a:custGeom>
              <a:solidFill>
                <a:srgbClr val="0277AC"/>
              </a:solidFill>
              <a:ln w="9525">
                <a:solidFill>
                  <a:srgbClr val="FFFFFF">
                    <a:alpha val="54117"/>
                  </a:srgbClr>
                </a:solidFill>
                <a:bevel/>
              </a:ln>
            </p:spPr>
            <p:txBody>
              <a:bodyPr/>
              <a:lstStyle/>
              <a:p>
                <a:endParaRPr lang="zh-CN" altLang="en-US"/>
              </a:p>
            </p:txBody>
          </p:sp>
          <p:sp>
            <p:nvSpPr>
              <p:cNvPr id="36896" name="Freeform 20"/>
              <p:cNvSpPr>
                <a:spLocks noChangeArrowheads="1"/>
              </p:cNvSpPr>
              <p:nvPr/>
            </p:nvSpPr>
            <p:spPr bwMode="auto">
              <a:xfrm>
                <a:off x="5543" y="4912"/>
                <a:ext cx="4156" cy="2584"/>
              </a:xfrm>
              <a:custGeom>
                <a:avLst/>
                <a:gdLst>
                  <a:gd name="T0" fmla="*/ 165329 w 1209"/>
                  <a:gd name="T1" fmla="*/ 85460 h 785"/>
                  <a:gd name="T2" fmla="*/ 161995 w 1209"/>
                  <a:gd name="T3" fmla="*/ 85460 h 785"/>
                  <a:gd name="T4" fmla="*/ 161995 w 1209"/>
                  <a:gd name="T5" fmla="*/ 92056 h 785"/>
                  <a:gd name="T6" fmla="*/ 155295 w 1209"/>
                  <a:gd name="T7" fmla="*/ 89242 h 785"/>
                  <a:gd name="T8" fmla="*/ 151916 w 1209"/>
                  <a:gd name="T9" fmla="*/ 88277 h 785"/>
                  <a:gd name="T10" fmla="*/ 142982 w 1209"/>
                  <a:gd name="T11" fmla="*/ 84528 h 785"/>
                  <a:gd name="T12" fmla="*/ 145216 w 1209"/>
                  <a:gd name="T13" fmla="*/ 81710 h 785"/>
                  <a:gd name="T14" fmla="*/ 144116 w 1209"/>
                  <a:gd name="T15" fmla="*/ 79824 h 785"/>
                  <a:gd name="T16" fmla="*/ 139651 w 1209"/>
                  <a:gd name="T17" fmla="*/ 77971 h 785"/>
                  <a:gd name="T18" fmla="*/ 136282 w 1209"/>
                  <a:gd name="T19" fmla="*/ 79824 h 785"/>
                  <a:gd name="T20" fmla="*/ 129582 w 1209"/>
                  <a:gd name="T21" fmla="*/ 76075 h 785"/>
                  <a:gd name="T22" fmla="*/ 116172 w 1209"/>
                  <a:gd name="T23" fmla="*/ 81710 h 785"/>
                  <a:gd name="T24" fmla="*/ 112851 w 1209"/>
                  <a:gd name="T25" fmla="*/ 84528 h 785"/>
                  <a:gd name="T26" fmla="*/ 101672 w 1209"/>
                  <a:gd name="T27" fmla="*/ 86424 h 785"/>
                  <a:gd name="T28" fmla="*/ 91604 w 1209"/>
                  <a:gd name="T29" fmla="*/ 83606 h 785"/>
                  <a:gd name="T30" fmla="*/ 88273 w 1209"/>
                  <a:gd name="T31" fmla="*/ 79824 h 785"/>
                  <a:gd name="T32" fmla="*/ 81570 w 1209"/>
                  <a:gd name="T33" fmla="*/ 82642 h 785"/>
                  <a:gd name="T34" fmla="*/ 74860 w 1209"/>
                  <a:gd name="T35" fmla="*/ 85460 h 785"/>
                  <a:gd name="T36" fmla="*/ 63691 w 1209"/>
                  <a:gd name="T37" fmla="*/ 78893 h 785"/>
                  <a:gd name="T38" fmla="*/ 56991 w 1209"/>
                  <a:gd name="T39" fmla="*/ 75153 h 785"/>
                  <a:gd name="T40" fmla="*/ 50291 w 1209"/>
                  <a:gd name="T41" fmla="*/ 73257 h 785"/>
                  <a:gd name="T42" fmla="*/ 44678 w 1209"/>
                  <a:gd name="T43" fmla="*/ 69521 h 785"/>
                  <a:gd name="T44" fmla="*/ 37978 w 1209"/>
                  <a:gd name="T45" fmla="*/ 61058 h 785"/>
                  <a:gd name="T46" fmla="*/ 34647 w 1209"/>
                  <a:gd name="T47" fmla="*/ 60104 h 785"/>
                  <a:gd name="T48" fmla="*/ 29047 w 1209"/>
                  <a:gd name="T49" fmla="*/ 53537 h 785"/>
                  <a:gd name="T50" fmla="*/ 22344 w 1209"/>
                  <a:gd name="T51" fmla="*/ 45087 h 785"/>
                  <a:gd name="T52" fmla="*/ 16779 w 1209"/>
                  <a:gd name="T53" fmla="*/ 47904 h 785"/>
                  <a:gd name="T54" fmla="*/ 8934 w 1209"/>
                  <a:gd name="T55" fmla="*/ 38520 h 785"/>
                  <a:gd name="T56" fmla="*/ 4465 w 1209"/>
                  <a:gd name="T57" fmla="*/ 31920 h 785"/>
                  <a:gd name="T58" fmla="*/ 0 w 1209"/>
                  <a:gd name="T59" fmla="*/ 30070 h 785"/>
                  <a:gd name="T60" fmla="*/ 2234 w 1209"/>
                  <a:gd name="T61" fmla="*/ 20652 h 785"/>
                  <a:gd name="T62" fmla="*/ 6700 w 1209"/>
                  <a:gd name="T63" fmla="*/ 22538 h 785"/>
                  <a:gd name="T64" fmla="*/ 11165 w 1209"/>
                  <a:gd name="T65" fmla="*/ 21617 h 785"/>
                  <a:gd name="T66" fmla="*/ 11165 w 1209"/>
                  <a:gd name="T67" fmla="*/ 15017 h 785"/>
                  <a:gd name="T68" fmla="*/ 7834 w 1209"/>
                  <a:gd name="T69" fmla="*/ 11268 h 785"/>
                  <a:gd name="T70" fmla="*/ 11165 w 1209"/>
                  <a:gd name="T71" fmla="*/ 5635 h 785"/>
                  <a:gd name="T72" fmla="*/ 21248 w 1209"/>
                  <a:gd name="T73" fmla="*/ 4714 h 785"/>
                  <a:gd name="T74" fmla="*/ 29047 w 1209"/>
                  <a:gd name="T75" fmla="*/ 932 h 785"/>
                  <a:gd name="T76" fmla="*/ 40212 w 1209"/>
                  <a:gd name="T77" fmla="*/ 1886 h 785"/>
                  <a:gd name="T78" fmla="*/ 48060 w 1209"/>
                  <a:gd name="T79" fmla="*/ 6567 h 785"/>
                  <a:gd name="T80" fmla="*/ 60326 w 1209"/>
                  <a:gd name="T81" fmla="*/ 6567 h 785"/>
                  <a:gd name="T82" fmla="*/ 73725 w 1209"/>
                  <a:gd name="T83" fmla="*/ 4714 h 785"/>
                  <a:gd name="T84" fmla="*/ 92738 w 1209"/>
                  <a:gd name="T85" fmla="*/ 6567 h 785"/>
                  <a:gd name="T86" fmla="*/ 99438 w 1209"/>
                  <a:gd name="T87" fmla="*/ 8453 h 785"/>
                  <a:gd name="T88" fmla="*/ 98304 w 1209"/>
                  <a:gd name="T89" fmla="*/ 11268 h 785"/>
                  <a:gd name="T90" fmla="*/ 101672 w 1209"/>
                  <a:gd name="T91" fmla="*/ 15981 h 785"/>
                  <a:gd name="T92" fmla="*/ 99438 w 1209"/>
                  <a:gd name="T93" fmla="*/ 21617 h 785"/>
                  <a:gd name="T94" fmla="*/ 97204 w 1209"/>
                  <a:gd name="T95" fmla="*/ 29105 h 785"/>
                  <a:gd name="T96" fmla="*/ 102769 w 1209"/>
                  <a:gd name="T97" fmla="*/ 37555 h 785"/>
                  <a:gd name="T98" fmla="*/ 116172 w 1209"/>
                  <a:gd name="T99" fmla="*/ 43191 h 785"/>
                  <a:gd name="T100" fmla="*/ 130716 w 1209"/>
                  <a:gd name="T101" fmla="*/ 48823 h 785"/>
                  <a:gd name="T102" fmla="*/ 138516 w 1209"/>
                  <a:gd name="T103" fmla="*/ 49787 h 785"/>
                  <a:gd name="T104" fmla="*/ 140751 w 1209"/>
                  <a:gd name="T105" fmla="*/ 56354 h 785"/>
                  <a:gd name="T106" fmla="*/ 145216 w 1209"/>
                  <a:gd name="T107" fmla="*/ 58240 h 785"/>
                  <a:gd name="T108" fmla="*/ 147450 w 1209"/>
                  <a:gd name="T109" fmla="*/ 55423 h 785"/>
                  <a:gd name="T110" fmla="*/ 150829 w 1209"/>
                  <a:gd name="T111" fmla="*/ 56354 h 785"/>
                  <a:gd name="T112" fmla="*/ 153064 w 1209"/>
                  <a:gd name="T113" fmla="*/ 54458 h 785"/>
                  <a:gd name="T114" fmla="*/ 158629 w 1209"/>
                  <a:gd name="T115" fmla="*/ 51640 h 785"/>
                  <a:gd name="T116" fmla="*/ 164229 w 1209"/>
                  <a:gd name="T117" fmla="*/ 53537 h 785"/>
                  <a:gd name="T118" fmla="*/ 168694 w 1209"/>
                  <a:gd name="T119" fmla="*/ 62921 h 785"/>
                  <a:gd name="T120" fmla="*/ 168694 w 1209"/>
                  <a:gd name="T121" fmla="*/ 67625 h 785"/>
                  <a:gd name="T122" fmla="*/ 167560 w 1209"/>
                  <a:gd name="T123" fmla="*/ 83606 h 78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209" h="785">
                    <a:moveTo>
                      <a:pt x="1200" y="712"/>
                    </a:moveTo>
                    <a:lnTo>
                      <a:pt x="1184" y="728"/>
                    </a:lnTo>
                    <a:lnTo>
                      <a:pt x="1176" y="712"/>
                    </a:lnTo>
                    <a:lnTo>
                      <a:pt x="1160" y="728"/>
                    </a:lnTo>
                    <a:lnTo>
                      <a:pt x="1168" y="776"/>
                    </a:lnTo>
                    <a:lnTo>
                      <a:pt x="1160" y="784"/>
                    </a:lnTo>
                    <a:lnTo>
                      <a:pt x="1136" y="776"/>
                    </a:lnTo>
                    <a:lnTo>
                      <a:pt x="1112" y="760"/>
                    </a:lnTo>
                    <a:lnTo>
                      <a:pt x="1112" y="744"/>
                    </a:lnTo>
                    <a:lnTo>
                      <a:pt x="1088" y="752"/>
                    </a:lnTo>
                    <a:lnTo>
                      <a:pt x="1024" y="728"/>
                    </a:lnTo>
                    <a:lnTo>
                      <a:pt x="1024" y="720"/>
                    </a:lnTo>
                    <a:lnTo>
                      <a:pt x="1040" y="712"/>
                    </a:lnTo>
                    <a:lnTo>
                      <a:pt x="1040" y="696"/>
                    </a:lnTo>
                    <a:lnTo>
                      <a:pt x="1024" y="688"/>
                    </a:lnTo>
                    <a:lnTo>
                      <a:pt x="1032" y="680"/>
                    </a:lnTo>
                    <a:lnTo>
                      <a:pt x="1016" y="656"/>
                    </a:lnTo>
                    <a:lnTo>
                      <a:pt x="1000" y="664"/>
                    </a:lnTo>
                    <a:lnTo>
                      <a:pt x="984" y="672"/>
                    </a:lnTo>
                    <a:lnTo>
                      <a:pt x="976" y="680"/>
                    </a:lnTo>
                    <a:lnTo>
                      <a:pt x="960" y="680"/>
                    </a:lnTo>
                    <a:lnTo>
                      <a:pt x="928" y="648"/>
                    </a:lnTo>
                    <a:lnTo>
                      <a:pt x="864" y="696"/>
                    </a:lnTo>
                    <a:lnTo>
                      <a:pt x="832" y="696"/>
                    </a:lnTo>
                    <a:lnTo>
                      <a:pt x="824" y="720"/>
                    </a:lnTo>
                    <a:lnTo>
                      <a:pt x="808" y="720"/>
                    </a:lnTo>
                    <a:lnTo>
                      <a:pt x="760" y="744"/>
                    </a:lnTo>
                    <a:lnTo>
                      <a:pt x="728" y="736"/>
                    </a:lnTo>
                    <a:lnTo>
                      <a:pt x="712" y="712"/>
                    </a:lnTo>
                    <a:lnTo>
                      <a:pt x="656" y="712"/>
                    </a:lnTo>
                    <a:lnTo>
                      <a:pt x="664" y="688"/>
                    </a:lnTo>
                    <a:lnTo>
                      <a:pt x="632" y="680"/>
                    </a:lnTo>
                    <a:lnTo>
                      <a:pt x="600" y="680"/>
                    </a:lnTo>
                    <a:lnTo>
                      <a:pt x="584" y="704"/>
                    </a:lnTo>
                    <a:lnTo>
                      <a:pt x="552" y="728"/>
                    </a:lnTo>
                    <a:lnTo>
                      <a:pt x="536" y="728"/>
                    </a:lnTo>
                    <a:lnTo>
                      <a:pt x="544" y="680"/>
                    </a:lnTo>
                    <a:lnTo>
                      <a:pt x="456" y="672"/>
                    </a:lnTo>
                    <a:lnTo>
                      <a:pt x="424" y="640"/>
                    </a:lnTo>
                    <a:lnTo>
                      <a:pt x="408" y="640"/>
                    </a:lnTo>
                    <a:lnTo>
                      <a:pt x="392" y="648"/>
                    </a:lnTo>
                    <a:lnTo>
                      <a:pt x="360" y="624"/>
                    </a:lnTo>
                    <a:lnTo>
                      <a:pt x="336" y="600"/>
                    </a:lnTo>
                    <a:lnTo>
                      <a:pt x="320" y="592"/>
                    </a:lnTo>
                    <a:lnTo>
                      <a:pt x="280" y="544"/>
                    </a:lnTo>
                    <a:lnTo>
                      <a:pt x="272" y="520"/>
                    </a:lnTo>
                    <a:lnTo>
                      <a:pt x="264" y="512"/>
                    </a:lnTo>
                    <a:lnTo>
                      <a:pt x="248" y="512"/>
                    </a:lnTo>
                    <a:lnTo>
                      <a:pt x="224" y="464"/>
                    </a:lnTo>
                    <a:lnTo>
                      <a:pt x="208" y="456"/>
                    </a:lnTo>
                    <a:lnTo>
                      <a:pt x="192" y="424"/>
                    </a:lnTo>
                    <a:lnTo>
                      <a:pt x="160" y="384"/>
                    </a:lnTo>
                    <a:lnTo>
                      <a:pt x="144" y="384"/>
                    </a:lnTo>
                    <a:lnTo>
                      <a:pt x="120" y="408"/>
                    </a:lnTo>
                    <a:lnTo>
                      <a:pt x="96" y="376"/>
                    </a:lnTo>
                    <a:lnTo>
                      <a:pt x="64" y="328"/>
                    </a:lnTo>
                    <a:lnTo>
                      <a:pt x="40" y="304"/>
                    </a:lnTo>
                    <a:lnTo>
                      <a:pt x="32" y="272"/>
                    </a:lnTo>
                    <a:lnTo>
                      <a:pt x="8" y="280"/>
                    </a:lnTo>
                    <a:lnTo>
                      <a:pt x="0" y="256"/>
                    </a:lnTo>
                    <a:lnTo>
                      <a:pt x="8" y="248"/>
                    </a:lnTo>
                    <a:lnTo>
                      <a:pt x="16" y="176"/>
                    </a:lnTo>
                    <a:lnTo>
                      <a:pt x="32" y="168"/>
                    </a:lnTo>
                    <a:lnTo>
                      <a:pt x="48" y="192"/>
                    </a:lnTo>
                    <a:lnTo>
                      <a:pt x="64" y="184"/>
                    </a:lnTo>
                    <a:lnTo>
                      <a:pt x="80" y="184"/>
                    </a:lnTo>
                    <a:lnTo>
                      <a:pt x="72" y="144"/>
                    </a:lnTo>
                    <a:lnTo>
                      <a:pt x="80" y="128"/>
                    </a:lnTo>
                    <a:lnTo>
                      <a:pt x="56" y="120"/>
                    </a:lnTo>
                    <a:lnTo>
                      <a:pt x="56" y="96"/>
                    </a:lnTo>
                    <a:lnTo>
                      <a:pt x="64" y="56"/>
                    </a:lnTo>
                    <a:lnTo>
                      <a:pt x="80" y="48"/>
                    </a:lnTo>
                    <a:lnTo>
                      <a:pt x="120" y="56"/>
                    </a:lnTo>
                    <a:lnTo>
                      <a:pt x="152" y="40"/>
                    </a:lnTo>
                    <a:lnTo>
                      <a:pt x="176" y="0"/>
                    </a:lnTo>
                    <a:lnTo>
                      <a:pt x="208" y="8"/>
                    </a:lnTo>
                    <a:lnTo>
                      <a:pt x="272" y="32"/>
                    </a:lnTo>
                    <a:lnTo>
                      <a:pt x="288" y="16"/>
                    </a:lnTo>
                    <a:lnTo>
                      <a:pt x="336" y="24"/>
                    </a:lnTo>
                    <a:lnTo>
                      <a:pt x="344" y="56"/>
                    </a:lnTo>
                    <a:lnTo>
                      <a:pt x="408" y="72"/>
                    </a:lnTo>
                    <a:lnTo>
                      <a:pt x="432" y="56"/>
                    </a:lnTo>
                    <a:lnTo>
                      <a:pt x="504" y="56"/>
                    </a:lnTo>
                    <a:lnTo>
                      <a:pt x="528" y="40"/>
                    </a:lnTo>
                    <a:lnTo>
                      <a:pt x="640" y="32"/>
                    </a:lnTo>
                    <a:lnTo>
                      <a:pt x="664" y="56"/>
                    </a:lnTo>
                    <a:lnTo>
                      <a:pt x="696" y="64"/>
                    </a:lnTo>
                    <a:lnTo>
                      <a:pt x="712" y="72"/>
                    </a:lnTo>
                    <a:lnTo>
                      <a:pt x="720" y="88"/>
                    </a:lnTo>
                    <a:lnTo>
                      <a:pt x="704" y="96"/>
                    </a:lnTo>
                    <a:lnTo>
                      <a:pt x="728" y="104"/>
                    </a:lnTo>
                    <a:lnTo>
                      <a:pt x="728" y="136"/>
                    </a:lnTo>
                    <a:lnTo>
                      <a:pt x="704" y="168"/>
                    </a:lnTo>
                    <a:lnTo>
                      <a:pt x="712" y="184"/>
                    </a:lnTo>
                    <a:lnTo>
                      <a:pt x="704" y="232"/>
                    </a:lnTo>
                    <a:lnTo>
                      <a:pt x="696" y="248"/>
                    </a:lnTo>
                    <a:lnTo>
                      <a:pt x="712" y="296"/>
                    </a:lnTo>
                    <a:lnTo>
                      <a:pt x="736" y="320"/>
                    </a:lnTo>
                    <a:lnTo>
                      <a:pt x="784" y="320"/>
                    </a:lnTo>
                    <a:lnTo>
                      <a:pt x="832" y="368"/>
                    </a:lnTo>
                    <a:lnTo>
                      <a:pt x="864" y="376"/>
                    </a:lnTo>
                    <a:lnTo>
                      <a:pt x="936" y="416"/>
                    </a:lnTo>
                    <a:lnTo>
                      <a:pt x="968" y="400"/>
                    </a:lnTo>
                    <a:lnTo>
                      <a:pt x="992" y="424"/>
                    </a:lnTo>
                    <a:lnTo>
                      <a:pt x="1016" y="448"/>
                    </a:lnTo>
                    <a:lnTo>
                      <a:pt x="1008" y="480"/>
                    </a:lnTo>
                    <a:lnTo>
                      <a:pt x="1040" y="480"/>
                    </a:lnTo>
                    <a:lnTo>
                      <a:pt x="1040" y="496"/>
                    </a:lnTo>
                    <a:lnTo>
                      <a:pt x="1064" y="496"/>
                    </a:lnTo>
                    <a:lnTo>
                      <a:pt x="1056" y="472"/>
                    </a:lnTo>
                    <a:lnTo>
                      <a:pt x="1072" y="472"/>
                    </a:lnTo>
                    <a:lnTo>
                      <a:pt x="1080" y="480"/>
                    </a:lnTo>
                    <a:lnTo>
                      <a:pt x="1096" y="480"/>
                    </a:lnTo>
                    <a:lnTo>
                      <a:pt x="1096" y="464"/>
                    </a:lnTo>
                    <a:lnTo>
                      <a:pt x="1120" y="464"/>
                    </a:lnTo>
                    <a:lnTo>
                      <a:pt x="1136" y="440"/>
                    </a:lnTo>
                    <a:lnTo>
                      <a:pt x="1152" y="432"/>
                    </a:lnTo>
                    <a:lnTo>
                      <a:pt x="1176" y="456"/>
                    </a:lnTo>
                    <a:lnTo>
                      <a:pt x="1176" y="480"/>
                    </a:lnTo>
                    <a:lnTo>
                      <a:pt x="1208" y="536"/>
                    </a:lnTo>
                    <a:lnTo>
                      <a:pt x="1192" y="544"/>
                    </a:lnTo>
                    <a:lnTo>
                      <a:pt x="1208" y="576"/>
                    </a:lnTo>
                    <a:lnTo>
                      <a:pt x="1208" y="608"/>
                    </a:lnTo>
                    <a:lnTo>
                      <a:pt x="1200" y="712"/>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97" name="Freeform 21"/>
              <p:cNvSpPr>
                <a:spLocks noChangeArrowheads="1"/>
              </p:cNvSpPr>
              <p:nvPr/>
            </p:nvSpPr>
            <p:spPr bwMode="auto">
              <a:xfrm>
                <a:off x="9442" y="5971"/>
                <a:ext cx="2610" cy="2082"/>
              </a:xfrm>
              <a:custGeom>
                <a:avLst/>
                <a:gdLst>
                  <a:gd name="T0" fmla="*/ 96302 w 761"/>
                  <a:gd name="T1" fmla="*/ 57109 h 633"/>
                  <a:gd name="T2" fmla="*/ 92986 w 761"/>
                  <a:gd name="T3" fmla="*/ 58990 h 633"/>
                  <a:gd name="T4" fmla="*/ 90774 w 761"/>
                  <a:gd name="T5" fmla="*/ 57109 h 633"/>
                  <a:gd name="T6" fmla="*/ 84117 w 761"/>
                  <a:gd name="T7" fmla="*/ 50563 h 633"/>
                  <a:gd name="T8" fmla="*/ 80811 w 761"/>
                  <a:gd name="T9" fmla="*/ 49633 h 633"/>
                  <a:gd name="T10" fmla="*/ 76366 w 761"/>
                  <a:gd name="T11" fmla="*/ 51484 h 633"/>
                  <a:gd name="T12" fmla="*/ 74153 w 761"/>
                  <a:gd name="T13" fmla="*/ 55227 h 633"/>
                  <a:gd name="T14" fmla="*/ 70847 w 761"/>
                  <a:gd name="T15" fmla="*/ 54296 h 633"/>
                  <a:gd name="T16" fmla="*/ 65319 w 761"/>
                  <a:gd name="T17" fmla="*/ 55227 h 633"/>
                  <a:gd name="T18" fmla="*/ 69753 w 761"/>
                  <a:gd name="T19" fmla="*/ 58039 h 633"/>
                  <a:gd name="T20" fmla="*/ 63096 w 761"/>
                  <a:gd name="T21" fmla="*/ 61805 h 633"/>
                  <a:gd name="T22" fmla="*/ 57567 w 761"/>
                  <a:gd name="T23" fmla="*/ 60842 h 633"/>
                  <a:gd name="T24" fmla="*/ 54227 w 761"/>
                  <a:gd name="T25" fmla="*/ 53376 h 633"/>
                  <a:gd name="T26" fmla="*/ 49827 w 761"/>
                  <a:gd name="T27" fmla="*/ 57109 h 633"/>
                  <a:gd name="T28" fmla="*/ 46476 w 761"/>
                  <a:gd name="T29" fmla="*/ 58990 h 633"/>
                  <a:gd name="T30" fmla="*/ 40947 w 761"/>
                  <a:gd name="T31" fmla="*/ 62733 h 633"/>
                  <a:gd name="T32" fmla="*/ 37641 w 761"/>
                  <a:gd name="T33" fmla="*/ 73975 h 633"/>
                  <a:gd name="T34" fmla="*/ 34335 w 761"/>
                  <a:gd name="T35" fmla="*/ 73975 h 633"/>
                  <a:gd name="T36" fmla="*/ 29890 w 761"/>
                  <a:gd name="T37" fmla="*/ 73011 h 633"/>
                  <a:gd name="T38" fmla="*/ 27678 w 761"/>
                  <a:gd name="T39" fmla="*/ 67430 h 633"/>
                  <a:gd name="T40" fmla="*/ 19927 w 761"/>
                  <a:gd name="T41" fmla="*/ 58039 h 633"/>
                  <a:gd name="T42" fmla="*/ 17714 w 761"/>
                  <a:gd name="T43" fmla="*/ 56178 h 633"/>
                  <a:gd name="T44" fmla="*/ 14398 w 761"/>
                  <a:gd name="T45" fmla="*/ 49633 h 633"/>
                  <a:gd name="T46" fmla="*/ 11057 w 761"/>
                  <a:gd name="T47" fmla="*/ 54296 h 633"/>
                  <a:gd name="T48" fmla="*/ 9963 w 761"/>
                  <a:gd name="T49" fmla="*/ 29036 h 633"/>
                  <a:gd name="T50" fmla="*/ 9963 w 761"/>
                  <a:gd name="T51" fmla="*/ 25260 h 633"/>
                  <a:gd name="T52" fmla="*/ 5529 w 761"/>
                  <a:gd name="T53" fmla="*/ 15903 h 633"/>
                  <a:gd name="T54" fmla="*/ 0 w 761"/>
                  <a:gd name="T55" fmla="*/ 12170 h 633"/>
                  <a:gd name="T56" fmla="*/ 1094 w 761"/>
                  <a:gd name="T57" fmla="*/ 7509 h 633"/>
                  <a:gd name="T58" fmla="*/ 2222 w 761"/>
                  <a:gd name="T59" fmla="*/ 3733 h 633"/>
                  <a:gd name="T60" fmla="*/ 4435 w 761"/>
                  <a:gd name="T61" fmla="*/ 0 h 633"/>
                  <a:gd name="T62" fmla="*/ 8879 w 761"/>
                  <a:gd name="T63" fmla="*/ 1881 h 633"/>
                  <a:gd name="T64" fmla="*/ 12186 w 761"/>
                  <a:gd name="T65" fmla="*/ 9357 h 633"/>
                  <a:gd name="T66" fmla="*/ 17714 w 761"/>
                  <a:gd name="T67" fmla="*/ 14054 h 633"/>
                  <a:gd name="T68" fmla="*/ 21021 w 761"/>
                  <a:gd name="T69" fmla="*/ 12170 h 633"/>
                  <a:gd name="T70" fmla="*/ 24371 w 761"/>
                  <a:gd name="T71" fmla="*/ 14982 h 633"/>
                  <a:gd name="T72" fmla="*/ 30984 w 761"/>
                  <a:gd name="T73" fmla="*/ 11239 h 633"/>
                  <a:gd name="T74" fmla="*/ 39863 w 761"/>
                  <a:gd name="T75" fmla="*/ 11239 h 633"/>
                  <a:gd name="T76" fmla="*/ 40947 w 761"/>
                  <a:gd name="T77" fmla="*/ 4694 h 633"/>
                  <a:gd name="T78" fmla="*/ 44298 w 761"/>
                  <a:gd name="T79" fmla="*/ 3733 h 633"/>
                  <a:gd name="T80" fmla="*/ 47604 w 761"/>
                  <a:gd name="T81" fmla="*/ 5624 h 633"/>
                  <a:gd name="T82" fmla="*/ 55355 w 761"/>
                  <a:gd name="T83" fmla="*/ 8437 h 633"/>
                  <a:gd name="T84" fmla="*/ 57567 w 761"/>
                  <a:gd name="T85" fmla="*/ 15903 h 633"/>
                  <a:gd name="T86" fmla="*/ 65319 w 761"/>
                  <a:gd name="T87" fmla="*/ 18715 h 633"/>
                  <a:gd name="T88" fmla="*/ 70847 w 761"/>
                  <a:gd name="T89" fmla="*/ 15903 h 633"/>
                  <a:gd name="T90" fmla="*/ 76366 w 761"/>
                  <a:gd name="T91" fmla="*/ 16867 h 633"/>
                  <a:gd name="T92" fmla="*/ 86339 w 761"/>
                  <a:gd name="T93" fmla="*/ 21527 h 633"/>
                  <a:gd name="T94" fmla="*/ 97431 w 761"/>
                  <a:gd name="T95" fmla="*/ 26224 h 633"/>
                  <a:gd name="T96" fmla="*/ 105172 w 761"/>
                  <a:gd name="T97" fmla="*/ 29957 h 633"/>
                  <a:gd name="T98" fmla="*/ 102960 w 761"/>
                  <a:gd name="T99" fmla="*/ 34661 h 633"/>
                  <a:gd name="T100" fmla="*/ 91858 w 761"/>
                  <a:gd name="T101" fmla="*/ 36512 h 633"/>
                  <a:gd name="T102" fmla="*/ 89645 w 761"/>
                  <a:gd name="T103" fmla="*/ 39315 h 633"/>
                  <a:gd name="T104" fmla="*/ 90774 w 761"/>
                  <a:gd name="T105" fmla="*/ 42127 h 633"/>
                  <a:gd name="T106" fmla="*/ 90774 w 761"/>
                  <a:gd name="T107" fmla="*/ 44018 h 633"/>
                  <a:gd name="T108" fmla="*/ 97431 w 761"/>
                  <a:gd name="T109" fmla="*/ 53376 h 6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61" h="633">
                    <a:moveTo>
                      <a:pt x="696" y="480"/>
                    </a:moveTo>
                    <a:lnTo>
                      <a:pt x="696" y="488"/>
                    </a:lnTo>
                    <a:lnTo>
                      <a:pt x="688" y="504"/>
                    </a:lnTo>
                    <a:lnTo>
                      <a:pt x="672" y="504"/>
                    </a:lnTo>
                    <a:lnTo>
                      <a:pt x="664" y="488"/>
                    </a:lnTo>
                    <a:lnTo>
                      <a:pt x="656" y="488"/>
                    </a:lnTo>
                    <a:lnTo>
                      <a:pt x="632" y="432"/>
                    </a:lnTo>
                    <a:lnTo>
                      <a:pt x="608" y="432"/>
                    </a:lnTo>
                    <a:lnTo>
                      <a:pt x="592" y="416"/>
                    </a:lnTo>
                    <a:lnTo>
                      <a:pt x="584" y="424"/>
                    </a:lnTo>
                    <a:lnTo>
                      <a:pt x="576" y="456"/>
                    </a:lnTo>
                    <a:lnTo>
                      <a:pt x="552" y="440"/>
                    </a:lnTo>
                    <a:lnTo>
                      <a:pt x="552" y="464"/>
                    </a:lnTo>
                    <a:lnTo>
                      <a:pt x="536" y="472"/>
                    </a:lnTo>
                    <a:lnTo>
                      <a:pt x="528" y="464"/>
                    </a:lnTo>
                    <a:lnTo>
                      <a:pt x="512" y="464"/>
                    </a:lnTo>
                    <a:lnTo>
                      <a:pt x="488" y="456"/>
                    </a:lnTo>
                    <a:lnTo>
                      <a:pt x="472" y="472"/>
                    </a:lnTo>
                    <a:lnTo>
                      <a:pt x="480" y="496"/>
                    </a:lnTo>
                    <a:lnTo>
                      <a:pt x="504" y="496"/>
                    </a:lnTo>
                    <a:lnTo>
                      <a:pt x="512" y="528"/>
                    </a:lnTo>
                    <a:lnTo>
                      <a:pt x="456" y="528"/>
                    </a:lnTo>
                    <a:lnTo>
                      <a:pt x="440" y="504"/>
                    </a:lnTo>
                    <a:lnTo>
                      <a:pt x="416" y="520"/>
                    </a:lnTo>
                    <a:lnTo>
                      <a:pt x="392" y="504"/>
                    </a:lnTo>
                    <a:lnTo>
                      <a:pt x="392" y="456"/>
                    </a:lnTo>
                    <a:lnTo>
                      <a:pt x="360" y="456"/>
                    </a:lnTo>
                    <a:lnTo>
                      <a:pt x="360" y="488"/>
                    </a:lnTo>
                    <a:lnTo>
                      <a:pt x="336" y="496"/>
                    </a:lnTo>
                    <a:lnTo>
                      <a:pt x="336" y="504"/>
                    </a:lnTo>
                    <a:lnTo>
                      <a:pt x="312" y="536"/>
                    </a:lnTo>
                    <a:lnTo>
                      <a:pt x="296" y="536"/>
                    </a:lnTo>
                    <a:lnTo>
                      <a:pt x="296" y="632"/>
                    </a:lnTo>
                    <a:lnTo>
                      <a:pt x="272" y="632"/>
                    </a:lnTo>
                    <a:lnTo>
                      <a:pt x="264" y="616"/>
                    </a:lnTo>
                    <a:lnTo>
                      <a:pt x="248" y="632"/>
                    </a:lnTo>
                    <a:lnTo>
                      <a:pt x="216" y="632"/>
                    </a:lnTo>
                    <a:lnTo>
                      <a:pt x="216" y="624"/>
                    </a:lnTo>
                    <a:lnTo>
                      <a:pt x="200" y="616"/>
                    </a:lnTo>
                    <a:lnTo>
                      <a:pt x="200" y="576"/>
                    </a:lnTo>
                    <a:lnTo>
                      <a:pt x="160" y="496"/>
                    </a:lnTo>
                    <a:lnTo>
                      <a:pt x="144" y="496"/>
                    </a:lnTo>
                    <a:lnTo>
                      <a:pt x="144" y="504"/>
                    </a:lnTo>
                    <a:lnTo>
                      <a:pt x="128" y="480"/>
                    </a:lnTo>
                    <a:lnTo>
                      <a:pt x="136" y="472"/>
                    </a:lnTo>
                    <a:lnTo>
                      <a:pt x="104" y="424"/>
                    </a:lnTo>
                    <a:lnTo>
                      <a:pt x="88" y="432"/>
                    </a:lnTo>
                    <a:lnTo>
                      <a:pt x="80" y="464"/>
                    </a:lnTo>
                    <a:lnTo>
                      <a:pt x="64" y="472"/>
                    </a:lnTo>
                    <a:lnTo>
                      <a:pt x="72" y="248"/>
                    </a:lnTo>
                    <a:lnTo>
                      <a:pt x="56" y="224"/>
                    </a:lnTo>
                    <a:lnTo>
                      <a:pt x="72" y="216"/>
                    </a:lnTo>
                    <a:lnTo>
                      <a:pt x="40" y="160"/>
                    </a:lnTo>
                    <a:lnTo>
                      <a:pt x="40" y="136"/>
                    </a:lnTo>
                    <a:lnTo>
                      <a:pt x="16" y="112"/>
                    </a:lnTo>
                    <a:lnTo>
                      <a:pt x="0" y="104"/>
                    </a:lnTo>
                    <a:lnTo>
                      <a:pt x="0" y="96"/>
                    </a:lnTo>
                    <a:lnTo>
                      <a:pt x="8" y="64"/>
                    </a:lnTo>
                    <a:lnTo>
                      <a:pt x="24" y="48"/>
                    </a:lnTo>
                    <a:lnTo>
                      <a:pt x="16" y="32"/>
                    </a:lnTo>
                    <a:lnTo>
                      <a:pt x="16" y="0"/>
                    </a:lnTo>
                    <a:lnTo>
                      <a:pt x="32" y="0"/>
                    </a:lnTo>
                    <a:lnTo>
                      <a:pt x="40" y="16"/>
                    </a:lnTo>
                    <a:lnTo>
                      <a:pt x="64" y="16"/>
                    </a:lnTo>
                    <a:lnTo>
                      <a:pt x="88" y="40"/>
                    </a:lnTo>
                    <a:lnTo>
                      <a:pt x="88" y="80"/>
                    </a:lnTo>
                    <a:lnTo>
                      <a:pt x="104" y="80"/>
                    </a:lnTo>
                    <a:lnTo>
                      <a:pt x="128" y="120"/>
                    </a:lnTo>
                    <a:lnTo>
                      <a:pt x="152" y="112"/>
                    </a:lnTo>
                    <a:lnTo>
                      <a:pt x="152" y="104"/>
                    </a:lnTo>
                    <a:lnTo>
                      <a:pt x="160" y="112"/>
                    </a:lnTo>
                    <a:lnTo>
                      <a:pt x="176" y="128"/>
                    </a:lnTo>
                    <a:lnTo>
                      <a:pt x="216" y="128"/>
                    </a:lnTo>
                    <a:lnTo>
                      <a:pt x="224" y="96"/>
                    </a:lnTo>
                    <a:lnTo>
                      <a:pt x="256" y="88"/>
                    </a:lnTo>
                    <a:lnTo>
                      <a:pt x="288" y="96"/>
                    </a:lnTo>
                    <a:lnTo>
                      <a:pt x="304" y="72"/>
                    </a:lnTo>
                    <a:lnTo>
                      <a:pt x="296" y="40"/>
                    </a:lnTo>
                    <a:lnTo>
                      <a:pt x="296" y="32"/>
                    </a:lnTo>
                    <a:lnTo>
                      <a:pt x="320" y="32"/>
                    </a:lnTo>
                    <a:lnTo>
                      <a:pt x="336" y="24"/>
                    </a:lnTo>
                    <a:lnTo>
                      <a:pt x="344" y="48"/>
                    </a:lnTo>
                    <a:lnTo>
                      <a:pt x="384" y="72"/>
                    </a:lnTo>
                    <a:lnTo>
                      <a:pt x="400" y="72"/>
                    </a:lnTo>
                    <a:lnTo>
                      <a:pt x="400" y="88"/>
                    </a:lnTo>
                    <a:lnTo>
                      <a:pt x="416" y="136"/>
                    </a:lnTo>
                    <a:lnTo>
                      <a:pt x="432" y="152"/>
                    </a:lnTo>
                    <a:lnTo>
                      <a:pt x="472" y="160"/>
                    </a:lnTo>
                    <a:lnTo>
                      <a:pt x="496" y="128"/>
                    </a:lnTo>
                    <a:lnTo>
                      <a:pt x="512" y="136"/>
                    </a:lnTo>
                    <a:lnTo>
                      <a:pt x="520" y="152"/>
                    </a:lnTo>
                    <a:lnTo>
                      <a:pt x="552" y="144"/>
                    </a:lnTo>
                    <a:lnTo>
                      <a:pt x="592" y="176"/>
                    </a:lnTo>
                    <a:lnTo>
                      <a:pt x="624" y="184"/>
                    </a:lnTo>
                    <a:lnTo>
                      <a:pt x="656" y="192"/>
                    </a:lnTo>
                    <a:lnTo>
                      <a:pt x="704" y="224"/>
                    </a:lnTo>
                    <a:lnTo>
                      <a:pt x="728" y="232"/>
                    </a:lnTo>
                    <a:lnTo>
                      <a:pt x="760" y="256"/>
                    </a:lnTo>
                    <a:lnTo>
                      <a:pt x="760" y="296"/>
                    </a:lnTo>
                    <a:lnTo>
                      <a:pt x="744" y="296"/>
                    </a:lnTo>
                    <a:lnTo>
                      <a:pt x="712" y="312"/>
                    </a:lnTo>
                    <a:lnTo>
                      <a:pt x="664" y="312"/>
                    </a:lnTo>
                    <a:lnTo>
                      <a:pt x="648" y="328"/>
                    </a:lnTo>
                    <a:lnTo>
                      <a:pt x="648" y="336"/>
                    </a:lnTo>
                    <a:lnTo>
                      <a:pt x="656" y="352"/>
                    </a:lnTo>
                    <a:lnTo>
                      <a:pt x="656" y="360"/>
                    </a:lnTo>
                    <a:lnTo>
                      <a:pt x="648" y="376"/>
                    </a:lnTo>
                    <a:lnTo>
                      <a:pt x="656" y="376"/>
                    </a:lnTo>
                    <a:lnTo>
                      <a:pt x="696" y="424"/>
                    </a:lnTo>
                    <a:lnTo>
                      <a:pt x="704" y="456"/>
                    </a:lnTo>
                    <a:lnTo>
                      <a:pt x="696" y="480"/>
                    </a:lnTo>
                  </a:path>
                </a:pathLst>
              </a:custGeom>
              <a:solidFill>
                <a:srgbClr val="0277AC"/>
              </a:solidFill>
              <a:ln w="9525">
                <a:solidFill>
                  <a:srgbClr val="FFFFFF">
                    <a:alpha val="54117"/>
                  </a:srgbClr>
                </a:solidFill>
                <a:bevel/>
              </a:ln>
            </p:spPr>
            <p:txBody>
              <a:bodyPr/>
              <a:lstStyle/>
              <a:p>
                <a:endParaRPr lang="zh-CN" altLang="en-US"/>
              </a:p>
            </p:txBody>
          </p:sp>
          <p:sp>
            <p:nvSpPr>
              <p:cNvPr id="36898" name="Freeform 22"/>
              <p:cNvSpPr>
                <a:spLocks noChangeArrowheads="1"/>
              </p:cNvSpPr>
              <p:nvPr/>
            </p:nvSpPr>
            <p:spPr bwMode="auto">
              <a:xfrm>
                <a:off x="7935" y="4520"/>
                <a:ext cx="2696" cy="2032"/>
              </a:xfrm>
              <a:custGeom>
                <a:avLst/>
                <a:gdLst>
                  <a:gd name="T0" fmla="*/ 93498 w 785"/>
                  <a:gd name="T1" fmla="*/ 63048 h 617"/>
                  <a:gd name="T2" fmla="*/ 85716 w 785"/>
                  <a:gd name="T3" fmla="*/ 66835 h 617"/>
                  <a:gd name="T4" fmla="*/ 82353 w 785"/>
                  <a:gd name="T5" fmla="*/ 64013 h 617"/>
                  <a:gd name="T6" fmla="*/ 79039 w 785"/>
                  <a:gd name="T7" fmla="*/ 65870 h 617"/>
                  <a:gd name="T8" fmla="*/ 73448 w 785"/>
                  <a:gd name="T9" fmla="*/ 61194 h 617"/>
                  <a:gd name="T10" fmla="*/ 70120 w 785"/>
                  <a:gd name="T11" fmla="*/ 53655 h 617"/>
                  <a:gd name="T12" fmla="*/ 65662 w 785"/>
                  <a:gd name="T13" fmla="*/ 51758 h 617"/>
                  <a:gd name="T14" fmla="*/ 63433 w 785"/>
                  <a:gd name="T15" fmla="*/ 53655 h 617"/>
                  <a:gd name="T16" fmla="*/ 64567 w 785"/>
                  <a:gd name="T17" fmla="*/ 56474 h 617"/>
                  <a:gd name="T18" fmla="*/ 61204 w 785"/>
                  <a:gd name="T19" fmla="*/ 63048 h 617"/>
                  <a:gd name="T20" fmla="*/ 63433 w 785"/>
                  <a:gd name="T21" fmla="*/ 64935 h 617"/>
                  <a:gd name="T22" fmla="*/ 58975 w 785"/>
                  <a:gd name="T23" fmla="*/ 68690 h 617"/>
                  <a:gd name="T24" fmla="*/ 55661 w 785"/>
                  <a:gd name="T25" fmla="*/ 70586 h 617"/>
                  <a:gd name="T26" fmla="*/ 52299 w 785"/>
                  <a:gd name="T27" fmla="*/ 69654 h 617"/>
                  <a:gd name="T28" fmla="*/ 51203 w 785"/>
                  <a:gd name="T29" fmla="*/ 71509 h 617"/>
                  <a:gd name="T30" fmla="*/ 46746 w 785"/>
                  <a:gd name="T31" fmla="*/ 70586 h 617"/>
                  <a:gd name="T32" fmla="*/ 44513 w 785"/>
                  <a:gd name="T33" fmla="*/ 66835 h 617"/>
                  <a:gd name="T34" fmla="*/ 32283 w 785"/>
                  <a:gd name="T35" fmla="*/ 63048 h 617"/>
                  <a:gd name="T36" fmla="*/ 18920 w 785"/>
                  <a:gd name="T37" fmla="*/ 58365 h 617"/>
                  <a:gd name="T38" fmla="*/ 5557 w 785"/>
                  <a:gd name="T39" fmla="*/ 51758 h 617"/>
                  <a:gd name="T40" fmla="*/ 0 w 785"/>
                  <a:gd name="T41" fmla="*/ 43298 h 617"/>
                  <a:gd name="T42" fmla="*/ 2229 w 785"/>
                  <a:gd name="T43" fmla="*/ 35759 h 617"/>
                  <a:gd name="T44" fmla="*/ 4458 w 785"/>
                  <a:gd name="T45" fmla="*/ 29186 h 617"/>
                  <a:gd name="T46" fmla="*/ 1096 w 785"/>
                  <a:gd name="T47" fmla="*/ 25402 h 617"/>
                  <a:gd name="T48" fmla="*/ 6687 w 785"/>
                  <a:gd name="T49" fmla="*/ 24470 h 617"/>
                  <a:gd name="T50" fmla="*/ 14462 w 785"/>
                  <a:gd name="T51" fmla="*/ 26357 h 617"/>
                  <a:gd name="T52" fmla="*/ 13363 w 785"/>
                  <a:gd name="T53" fmla="*/ 21651 h 617"/>
                  <a:gd name="T54" fmla="*/ 17821 w 785"/>
                  <a:gd name="T55" fmla="*/ 15999 h 617"/>
                  <a:gd name="T56" fmla="*/ 12230 w 785"/>
                  <a:gd name="T57" fmla="*/ 8471 h 617"/>
                  <a:gd name="T58" fmla="*/ 21149 w 785"/>
                  <a:gd name="T59" fmla="*/ 1897 h 617"/>
                  <a:gd name="T60" fmla="*/ 40069 w 785"/>
                  <a:gd name="T61" fmla="*/ 0 h 617"/>
                  <a:gd name="T62" fmla="*/ 53432 w 785"/>
                  <a:gd name="T63" fmla="*/ 4719 h 617"/>
                  <a:gd name="T64" fmla="*/ 63433 w 785"/>
                  <a:gd name="T65" fmla="*/ 12255 h 617"/>
                  <a:gd name="T66" fmla="*/ 65662 w 785"/>
                  <a:gd name="T67" fmla="*/ 5642 h 617"/>
                  <a:gd name="T68" fmla="*/ 73448 w 785"/>
                  <a:gd name="T69" fmla="*/ 8471 h 617"/>
                  <a:gd name="T70" fmla="*/ 82353 w 785"/>
                  <a:gd name="T71" fmla="*/ 11290 h 617"/>
                  <a:gd name="T72" fmla="*/ 91269 w 785"/>
                  <a:gd name="T73" fmla="*/ 14112 h 617"/>
                  <a:gd name="T74" fmla="*/ 101273 w 785"/>
                  <a:gd name="T75" fmla="*/ 20715 h 617"/>
                  <a:gd name="T76" fmla="*/ 106865 w 785"/>
                  <a:gd name="T77" fmla="*/ 27289 h 617"/>
                  <a:gd name="T78" fmla="*/ 109094 w 785"/>
                  <a:gd name="T79" fmla="*/ 39547 h 617"/>
                  <a:gd name="T80" fmla="*/ 104636 w 785"/>
                  <a:gd name="T81" fmla="*/ 42366 h 617"/>
                  <a:gd name="T82" fmla="*/ 99045 w 785"/>
                  <a:gd name="T83" fmla="*/ 48004 h 617"/>
                  <a:gd name="T84" fmla="*/ 102403 w 785"/>
                  <a:gd name="T85" fmla="*/ 50826 h 617"/>
                  <a:gd name="T86" fmla="*/ 97946 w 785"/>
                  <a:gd name="T87" fmla="*/ 53655 h 617"/>
                  <a:gd name="T88" fmla="*/ 91269 w 785"/>
                  <a:gd name="T89" fmla="*/ 52690 h 617"/>
                  <a:gd name="T90" fmla="*/ 92354 w 785"/>
                  <a:gd name="T91" fmla="*/ 57397 h 617"/>
                  <a:gd name="T92" fmla="*/ 99045 w 785"/>
                  <a:gd name="T93" fmla="*/ 59297 h 61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85" h="617">
                    <a:moveTo>
                      <a:pt x="704" y="528"/>
                    </a:moveTo>
                    <a:lnTo>
                      <a:pt x="672" y="536"/>
                    </a:lnTo>
                    <a:lnTo>
                      <a:pt x="656" y="568"/>
                    </a:lnTo>
                    <a:lnTo>
                      <a:pt x="616" y="568"/>
                    </a:lnTo>
                    <a:lnTo>
                      <a:pt x="608" y="552"/>
                    </a:lnTo>
                    <a:lnTo>
                      <a:pt x="592" y="544"/>
                    </a:lnTo>
                    <a:lnTo>
                      <a:pt x="592" y="552"/>
                    </a:lnTo>
                    <a:lnTo>
                      <a:pt x="568" y="560"/>
                    </a:lnTo>
                    <a:lnTo>
                      <a:pt x="544" y="520"/>
                    </a:lnTo>
                    <a:lnTo>
                      <a:pt x="528" y="520"/>
                    </a:lnTo>
                    <a:lnTo>
                      <a:pt x="528" y="480"/>
                    </a:lnTo>
                    <a:lnTo>
                      <a:pt x="504" y="456"/>
                    </a:lnTo>
                    <a:lnTo>
                      <a:pt x="488" y="456"/>
                    </a:lnTo>
                    <a:lnTo>
                      <a:pt x="472" y="440"/>
                    </a:lnTo>
                    <a:lnTo>
                      <a:pt x="456" y="440"/>
                    </a:lnTo>
                    <a:lnTo>
                      <a:pt x="456" y="456"/>
                    </a:lnTo>
                    <a:lnTo>
                      <a:pt x="456" y="472"/>
                    </a:lnTo>
                    <a:lnTo>
                      <a:pt x="464" y="480"/>
                    </a:lnTo>
                    <a:lnTo>
                      <a:pt x="448" y="496"/>
                    </a:lnTo>
                    <a:lnTo>
                      <a:pt x="440" y="536"/>
                    </a:lnTo>
                    <a:lnTo>
                      <a:pt x="448" y="552"/>
                    </a:lnTo>
                    <a:lnTo>
                      <a:pt x="456" y="552"/>
                    </a:lnTo>
                    <a:lnTo>
                      <a:pt x="440" y="560"/>
                    </a:lnTo>
                    <a:lnTo>
                      <a:pt x="424" y="584"/>
                    </a:lnTo>
                    <a:lnTo>
                      <a:pt x="400" y="584"/>
                    </a:lnTo>
                    <a:lnTo>
                      <a:pt x="400" y="600"/>
                    </a:lnTo>
                    <a:lnTo>
                      <a:pt x="384" y="608"/>
                    </a:lnTo>
                    <a:lnTo>
                      <a:pt x="376" y="592"/>
                    </a:lnTo>
                    <a:lnTo>
                      <a:pt x="360" y="592"/>
                    </a:lnTo>
                    <a:lnTo>
                      <a:pt x="368" y="608"/>
                    </a:lnTo>
                    <a:lnTo>
                      <a:pt x="352" y="616"/>
                    </a:lnTo>
                    <a:lnTo>
                      <a:pt x="336" y="600"/>
                    </a:lnTo>
                    <a:lnTo>
                      <a:pt x="312" y="600"/>
                    </a:lnTo>
                    <a:lnTo>
                      <a:pt x="320" y="568"/>
                    </a:lnTo>
                    <a:lnTo>
                      <a:pt x="264" y="520"/>
                    </a:lnTo>
                    <a:lnTo>
                      <a:pt x="232" y="536"/>
                    </a:lnTo>
                    <a:lnTo>
                      <a:pt x="168" y="496"/>
                    </a:lnTo>
                    <a:lnTo>
                      <a:pt x="136" y="496"/>
                    </a:lnTo>
                    <a:lnTo>
                      <a:pt x="88" y="440"/>
                    </a:lnTo>
                    <a:lnTo>
                      <a:pt x="40" y="440"/>
                    </a:lnTo>
                    <a:lnTo>
                      <a:pt x="16" y="416"/>
                    </a:lnTo>
                    <a:lnTo>
                      <a:pt x="0" y="368"/>
                    </a:lnTo>
                    <a:lnTo>
                      <a:pt x="8" y="352"/>
                    </a:lnTo>
                    <a:lnTo>
                      <a:pt x="16" y="304"/>
                    </a:lnTo>
                    <a:lnTo>
                      <a:pt x="8" y="280"/>
                    </a:lnTo>
                    <a:lnTo>
                      <a:pt x="32" y="248"/>
                    </a:lnTo>
                    <a:lnTo>
                      <a:pt x="32" y="224"/>
                    </a:lnTo>
                    <a:lnTo>
                      <a:pt x="8" y="216"/>
                    </a:lnTo>
                    <a:lnTo>
                      <a:pt x="16" y="208"/>
                    </a:lnTo>
                    <a:lnTo>
                      <a:pt x="48" y="208"/>
                    </a:lnTo>
                    <a:lnTo>
                      <a:pt x="56" y="200"/>
                    </a:lnTo>
                    <a:lnTo>
                      <a:pt x="104" y="224"/>
                    </a:lnTo>
                    <a:lnTo>
                      <a:pt x="104" y="192"/>
                    </a:lnTo>
                    <a:lnTo>
                      <a:pt x="96" y="184"/>
                    </a:lnTo>
                    <a:lnTo>
                      <a:pt x="96" y="160"/>
                    </a:lnTo>
                    <a:lnTo>
                      <a:pt x="128" y="136"/>
                    </a:lnTo>
                    <a:lnTo>
                      <a:pt x="120" y="112"/>
                    </a:lnTo>
                    <a:lnTo>
                      <a:pt x="88" y="72"/>
                    </a:lnTo>
                    <a:lnTo>
                      <a:pt x="96" y="32"/>
                    </a:lnTo>
                    <a:lnTo>
                      <a:pt x="152" y="16"/>
                    </a:lnTo>
                    <a:lnTo>
                      <a:pt x="256" y="8"/>
                    </a:lnTo>
                    <a:lnTo>
                      <a:pt x="288" y="0"/>
                    </a:lnTo>
                    <a:lnTo>
                      <a:pt x="344" y="24"/>
                    </a:lnTo>
                    <a:lnTo>
                      <a:pt x="384" y="40"/>
                    </a:lnTo>
                    <a:lnTo>
                      <a:pt x="424" y="64"/>
                    </a:lnTo>
                    <a:lnTo>
                      <a:pt x="456" y="104"/>
                    </a:lnTo>
                    <a:lnTo>
                      <a:pt x="472" y="56"/>
                    </a:lnTo>
                    <a:lnTo>
                      <a:pt x="472" y="48"/>
                    </a:lnTo>
                    <a:lnTo>
                      <a:pt x="504" y="64"/>
                    </a:lnTo>
                    <a:lnTo>
                      <a:pt x="528" y="72"/>
                    </a:lnTo>
                    <a:lnTo>
                      <a:pt x="584" y="64"/>
                    </a:lnTo>
                    <a:lnTo>
                      <a:pt x="592" y="96"/>
                    </a:lnTo>
                    <a:lnTo>
                      <a:pt x="640" y="128"/>
                    </a:lnTo>
                    <a:lnTo>
                      <a:pt x="656" y="120"/>
                    </a:lnTo>
                    <a:lnTo>
                      <a:pt x="728" y="192"/>
                    </a:lnTo>
                    <a:lnTo>
                      <a:pt x="728" y="176"/>
                    </a:lnTo>
                    <a:lnTo>
                      <a:pt x="760" y="208"/>
                    </a:lnTo>
                    <a:lnTo>
                      <a:pt x="768" y="232"/>
                    </a:lnTo>
                    <a:lnTo>
                      <a:pt x="776" y="288"/>
                    </a:lnTo>
                    <a:lnTo>
                      <a:pt x="784" y="336"/>
                    </a:lnTo>
                    <a:lnTo>
                      <a:pt x="776" y="360"/>
                    </a:lnTo>
                    <a:lnTo>
                      <a:pt x="752" y="360"/>
                    </a:lnTo>
                    <a:lnTo>
                      <a:pt x="744" y="392"/>
                    </a:lnTo>
                    <a:lnTo>
                      <a:pt x="712" y="408"/>
                    </a:lnTo>
                    <a:lnTo>
                      <a:pt x="712" y="424"/>
                    </a:lnTo>
                    <a:lnTo>
                      <a:pt x="736" y="432"/>
                    </a:lnTo>
                    <a:lnTo>
                      <a:pt x="728" y="440"/>
                    </a:lnTo>
                    <a:lnTo>
                      <a:pt x="704" y="456"/>
                    </a:lnTo>
                    <a:lnTo>
                      <a:pt x="672" y="448"/>
                    </a:lnTo>
                    <a:lnTo>
                      <a:pt x="656" y="448"/>
                    </a:lnTo>
                    <a:lnTo>
                      <a:pt x="648" y="464"/>
                    </a:lnTo>
                    <a:lnTo>
                      <a:pt x="664" y="488"/>
                    </a:lnTo>
                    <a:lnTo>
                      <a:pt x="696" y="496"/>
                    </a:lnTo>
                    <a:lnTo>
                      <a:pt x="712" y="504"/>
                    </a:lnTo>
                    <a:lnTo>
                      <a:pt x="704" y="528"/>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899" name="Freeform 23"/>
              <p:cNvSpPr>
                <a:spLocks noChangeArrowheads="1"/>
              </p:cNvSpPr>
              <p:nvPr/>
            </p:nvSpPr>
            <p:spPr bwMode="auto">
              <a:xfrm>
                <a:off x="12823" y="7098"/>
                <a:ext cx="1049" cy="1405"/>
              </a:xfrm>
              <a:custGeom>
                <a:avLst/>
                <a:gdLst>
                  <a:gd name="T0" fmla="*/ 38077 w 305"/>
                  <a:gd name="T1" fmla="*/ 4764 h 425"/>
                  <a:gd name="T2" fmla="*/ 39178 w 305"/>
                  <a:gd name="T3" fmla="*/ 8602 h 425"/>
                  <a:gd name="T4" fmla="*/ 42562 w 305"/>
                  <a:gd name="T5" fmla="*/ 10513 h 425"/>
                  <a:gd name="T6" fmla="*/ 42562 w 305"/>
                  <a:gd name="T7" fmla="*/ 16262 h 425"/>
                  <a:gd name="T8" fmla="*/ 38077 w 305"/>
                  <a:gd name="T9" fmla="*/ 18143 h 425"/>
                  <a:gd name="T10" fmla="*/ 38077 w 305"/>
                  <a:gd name="T11" fmla="*/ 19115 h 425"/>
                  <a:gd name="T12" fmla="*/ 33558 w 305"/>
                  <a:gd name="T13" fmla="*/ 19115 h 425"/>
                  <a:gd name="T14" fmla="*/ 31322 w 305"/>
                  <a:gd name="T15" fmla="*/ 21029 h 425"/>
                  <a:gd name="T16" fmla="*/ 31322 w 305"/>
                  <a:gd name="T17" fmla="*/ 23878 h 425"/>
                  <a:gd name="T18" fmla="*/ 32471 w 305"/>
                  <a:gd name="T19" fmla="*/ 24854 h 425"/>
                  <a:gd name="T20" fmla="*/ 29087 w 305"/>
                  <a:gd name="T21" fmla="*/ 28655 h 425"/>
                  <a:gd name="T22" fmla="*/ 26851 w 305"/>
                  <a:gd name="T23" fmla="*/ 28655 h 425"/>
                  <a:gd name="T24" fmla="*/ 26851 w 305"/>
                  <a:gd name="T25" fmla="*/ 32480 h 425"/>
                  <a:gd name="T26" fmla="*/ 26851 w 305"/>
                  <a:gd name="T27" fmla="*/ 33452 h 425"/>
                  <a:gd name="T28" fmla="*/ 26851 w 305"/>
                  <a:gd name="T29" fmla="*/ 36305 h 425"/>
                  <a:gd name="T30" fmla="*/ 24615 w 305"/>
                  <a:gd name="T31" fmla="*/ 38229 h 425"/>
                  <a:gd name="T32" fmla="*/ 23515 w 305"/>
                  <a:gd name="T33" fmla="*/ 42993 h 425"/>
                  <a:gd name="T34" fmla="*/ 22380 w 305"/>
                  <a:gd name="T35" fmla="*/ 45846 h 425"/>
                  <a:gd name="T36" fmla="*/ 22380 w 305"/>
                  <a:gd name="T37" fmla="*/ 46818 h 425"/>
                  <a:gd name="T38" fmla="*/ 21279 w 305"/>
                  <a:gd name="T39" fmla="*/ 49684 h 425"/>
                  <a:gd name="T40" fmla="*/ 19044 w 305"/>
                  <a:gd name="T41" fmla="*/ 49684 h 425"/>
                  <a:gd name="T42" fmla="*/ 17898 w 305"/>
                  <a:gd name="T43" fmla="*/ 48742 h 425"/>
                  <a:gd name="T44" fmla="*/ 8956 w 305"/>
                  <a:gd name="T45" fmla="*/ 50656 h 425"/>
                  <a:gd name="T46" fmla="*/ 7855 w 305"/>
                  <a:gd name="T47" fmla="*/ 49684 h 425"/>
                  <a:gd name="T48" fmla="*/ 11192 w 305"/>
                  <a:gd name="T49" fmla="*/ 43968 h 425"/>
                  <a:gd name="T50" fmla="*/ 7855 w 305"/>
                  <a:gd name="T51" fmla="*/ 42993 h 425"/>
                  <a:gd name="T52" fmla="*/ 5620 w 305"/>
                  <a:gd name="T53" fmla="*/ 43968 h 425"/>
                  <a:gd name="T54" fmla="*/ 3371 w 305"/>
                  <a:gd name="T55" fmla="*/ 42993 h 425"/>
                  <a:gd name="T56" fmla="*/ 3371 w 305"/>
                  <a:gd name="T57" fmla="*/ 38229 h 425"/>
                  <a:gd name="T58" fmla="*/ 5620 w 305"/>
                  <a:gd name="T59" fmla="*/ 37244 h 425"/>
                  <a:gd name="T60" fmla="*/ 6707 w 305"/>
                  <a:gd name="T61" fmla="*/ 37244 h 425"/>
                  <a:gd name="T62" fmla="*/ 6707 w 305"/>
                  <a:gd name="T63" fmla="*/ 34394 h 425"/>
                  <a:gd name="T64" fmla="*/ 4471 w 305"/>
                  <a:gd name="T65" fmla="*/ 34394 h 425"/>
                  <a:gd name="T66" fmla="*/ 4471 w 305"/>
                  <a:gd name="T67" fmla="*/ 32480 h 425"/>
                  <a:gd name="T68" fmla="*/ 2236 w 305"/>
                  <a:gd name="T69" fmla="*/ 31541 h 425"/>
                  <a:gd name="T70" fmla="*/ 2236 w 305"/>
                  <a:gd name="T71" fmla="*/ 25792 h 425"/>
                  <a:gd name="T72" fmla="*/ 0 w 305"/>
                  <a:gd name="T73" fmla="*/ 23878 h 425"/>
                  <a:gd name="T74" fmla="*/ 1135 w 305"/>
                  <a:gd name="T75" fmla="*/ 21029 h 425"/>
                  <a:gd name="T76" fmla="*/ 4471 w 305"/>
                  <a:gd name="T77" fmla="*/ 18143 h 425"/>
                  <a:gd name="T78" fmla="*/ 4471 w 305"/>
                  <a:gd name="T79" fmla="*/ 15280 h 425"/>
                  <a:gd name="T80" fmla="*/ 3371 w 305"/>
                  <a:gd name="T81" fmla="*/ 14338 h 425"/>
                  <a:gd name="T82" fmla="*/ 4471 w 305"/>
                  <a:gd name="T83" fmla="*/ 12427 h 425"/>
                  <a:gd name="T84" fmla="*/ 2236 w 305"/>
                  <a:gd name="T85" fmla="*/ 9541 h 425"/>
                  <a:gd name="T86" fmla="*/ 4471 w 305"/>
                  <a:gd name="T87" fmla="*/ 7660 h 425"/>
                  <a:gd name="T88" fmla="*/ 7855 w 305"/>
                  <a:gd name="T89" fmla="*/ 6688 h 425"/>
                  <a:gd name="T90" fmla="*/ 15663 w 305"/>
                  <a:gd name="T91" fmla="*/ 2853 h 425"/>
                  <a:gd name="T92" fmla="*/ 20134 w 305"/>
                  <a:gd name="T93" fmla="*/ 939 h 425"/>
                  <a:gd name="T94" fmla="*/ 23515 w 305"/>
                  <a:gd name="T95" fmla="*/ 939 h 425"/>
                  <a:gd name="T96" fmla="*/ 25750 w 305"/>
                  <a:gd name="T97" fmla="*/ 0 h 425"/>
                  <a:gd name="T98" fmla="*/ 26851 w 305"/>
                  <a:gd name="T99" fmla="*/ 939 h 425"/>
                  <a:gd name="T100" fmla="*/ 25750 w 305"/>
                  <a:gd name="T101" fmla="*/ 1914 h 425"/>
                  <a:gd name="T102" fmla="*/ 25750 w 305"/>
                  <a:gd name="T103" fmla="*/ 3825 h 425"/>
                  <a:gd name="T104" fmla="*/ 29087 w 305"/>
                  <a:gd name="T105" fmla="*/ 3825 h 425"/>
                  <a:gd name="T106" fmla="*/ 29087 w 305"/>
                  <a:gd name="T107" fmla="*/ 1914 h 425"/>
                  <a:gd name="T108" fmla="*/ 30225 w 305"/>
                  <a:gd name="T109" fmla="*/ 0 h 425"/>
                  <a:gd name="T110" fmla="*/ 32471 w 305"/>
                  <a:gd name="T111" fmla="*/ 1914 h 425"/>
                  <a:gd name="T112" fmla="*/ 33558 w 305"/>
                  <a:gd name="T113" fmla="*/ 3825 h 425"/>
                  <a:gd name="T114" fmla="*/ 38077 w 305"/>
                  <a:gd name="T115" fmla="*/ 3825 h 425"/>
                  <a:gd name="T116" fmla="*/ 38077 w 305"/>
                  <a:gd name="T117" fmla="*/ 4764 h 42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05" h="425">
                    <a:moveTo>
                      <a:pt x="272" y="40"/>
                    </a:moveTo>
                    <a:lnTo>
                      <a:pt x="280" y="72"/>
                    </a:lnTo>
                    <a:lnTo>
                      <a:pt x="304" y="88"/>
                    </a:lnTo>
                    <a:lnTo>
                      <a:pt x="304" y="136"/>
                    </a:lnTo>
                    <a:lnTo>
                      <a:pt x="272" y="152"/>
                    </a:lnTo>
                    <a:lnTo>
                      <a:pt x="272" y="160"/>
                    </a:lnTo>
                    <a:lnTo>
                      <a:pt x="240" y="160"/>
                    </a:lnTo>
                    <a:lnTo>
                      <a:pt x="224" y="176"/>
                    </a:lnTo>
                    <a:lnTo>
                      <a:pt x="224" y="200"/>
                    </a:lnTo>
                    <a:lnTo>
                      <a:pt x="232" y="208"/>
                    </a:lnTo>
                    <a:lnTo>
                      <a:pt x="208" y="240"/>
                    </a:lnTo>
                    <a:lnTo>
                      <a:pt x="192" y="240"/>
                    </a:lnTo>
                    <a:lnTo>
                      <a:pt x="192" y="272"/>
                    </a:lnTo>
                    <a:lnTo>
                      <a:pt x="192" y="280"/>
                    </a:lnTo>
                    <a:lnTo>
                      <a:pt x="192" y="304"/>
                    </a:lnTo>
                    <a:lnTo>
                      <a:pt x="176" y="320"/>
                    </a:lnTo>
                    <a:lnTo>
                      <a:pt x="168" y="360"/>
                    </a:lnTo>
                    <a:lnTo>
                      <a:pt x="160" y="384"/>
                    </a:lnTo>
                    <a:lnTo>
                      <a:pt x="160" y="392"/>
                    </a:lnTo>
                    <a:lnTo>
                      <a:pt x="152" y="416"/>
                    </a:lnTo>
                    <a:lnTo>
                      <a:pt x="136" y="416"/>
                    </a:lnTo>
                    <a:lnTo>
                      <a:pt x="128" y="408"/>
                    </a:lnTo>
                    <a:lnTo>
                      <a:pt x="64" y="424"/>
                    </a:lnTo>
                    <a:lnTo>
                      <a:pt x="56" y="416"/>
                    </a:lnTo>
                    <a:lnTo>
                      <a:pt x="80" y="368"/>
                    </a:lnTo>
                    <a:lnTo>
                      <a:pt x="56" y="360"/>
                    </a:lnTo>
                    <a:lnTo>
                      <a:pt x="40" y="368"/>
                    </a:lnTo>
                    <a:lnTo>
                      <a:pt x="24" y="360"/>
                    </a:lnTo>
                    <a:lnTo>
                      <a:pt x="24" y="320"/>
                    </a:lnTo>
                    <a:lnTo>
                      <a:pt x="40" y="312"/>
                    </a:lnTo>
                    <a:lnTo>
                      <a:pt x="48" y="312"/>
                    </a:lnTo>
                    <a:lnTo>
                      <a:pt x="48" y="288"/>
                    </a:lnTo>
                    <a:lnTo>
                      <a:pt x="32" y="288"/>
                    </a:lnTo>
                    <a:lnTo>
                      <a:pt x="32" y="272"/>
                    </a:lnTo>
                    <a:lnTo>
                      <a:pt x="16" y="264"/>
                    </a:lnTo>
                    <a:lnTo>
                      <a:pt x="16" y="216"/>
                    </a:lnTo>
                    <a:lnTo>
                      <a:pt x="0" y="200"/>
                    </a:lnTo>
                    <a:lnTo>
                      <a:pt x="8" y="176"/>
                    </a:lnTo>
                    <a:lnTo>
                      <a:pt x="32" y="152"/>
                    </a:lnTo>
                    <a:lnTo>
                      <a:pt x="32" y="128"/>
                    </a:lnTo>
                    <a:lnTo>
                      <a:pt x="24" y="120"/>
                    </a:lnTo>
                    <a:lnTo>
                      <a:pt x="32" y="104"/>
                    </a:lnTo>
                    <a:lnTo>
                      <a:pt x="16" y="80"/>
                    </a:lnTo>
                    <a:lnTo>
                      <a:pt x="32" y="64"/>
                    </a:lnTo>
                    <a:lnTo>
                      <a:pt x="56" y="56"/>
                    </a:lnTo>
                    <a:lnTo>
                      <a:pt x="112" y="24"/>
                    </a:lnTo>
                    <a:lnTo>
                      <a:pt x="144" y="8"/>
                    </a:lnTo>
                    <a:lnTo>
                      <a:pt x="168" y="8"/>
                    </a:lnTo>
                    <a:lnTo>
                      <a:pt x="184" y="0"/>
                    </a:lnTo>
                    <a:lnTo>
                      <a:pt x="192" y="8"/>
                    </a:lnTo>
                    <a:lnTo>
                      <a:pt x="184" y="16"/>
                    </a:lnTo>
                    <a:lnTo>
                      <a:pt x="184" y="32"/>
                    </a:lnTo>
                    <a:lnTo>
                      <a:pt x="208" y="32"/>
                    </a:lnTo>
                    <a:lnTo>
                      <a:pt x="208" y="16"/>
                    </a:lnTo>
                    <a:lnTo>
                      <a:pt x="216" y="0"/>
                    </a:lnTo>
                    <a:lnTo>
                      <a:pt x="232" y="16"/>
                    </a:lnTo>
                    <a:lnTo>
                      <a:pt x="240" y="32"/>
                    </a:lnTo>
                    <a:lnTo>
                      <a:pt x="272" y="32"/>
                    </a:lnTo>
                    <a:lnTo>
                      <a:pt x="272" y="40"/>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00" name="Freeform 24"/>
              <p:cNvSpPr>
                <a:spLocks noChangeArrowheads="1"/>
              </p:cNvSpPr>
              <p:nvPr/>
            </p:nvSpPr>
            <p:spPr bwMode="auto">
              <a:xfrm>
                <a:off x="11777" y="7098"/>
                <a:ext cx="1212" cy="1378"/>
              </a:xfrm>
              <a:custGeom>
                <a:avLst/>
                <a:gdLst>
                  <a:gd name="T0" fmla="*/ 46705 w 353"/>
                  <a:gd name="T1" fmla="*/ 12415 h 417"/>
                  <a:gd name="T2" fmla="*/ 47804 w 353"/>
                  <a:gd name="T3" fmla="*/ 15267 h 417"/>
                  <a:gd name="T4" fmla="*/ 43347 w 353"/>
                  <a:gd name="T5" fmla="*/ 21000 h 417"/>
                  <a:gd name="T6" fmla="*/ 44477 w 353"/>
                  <a:gd name="T7" fmla="*/ 25759 h 417"/>
                  <a:gd name="T8" fmla="*/ 44477 w 353"/>
                  <a:gd name="T9" fmla="*/ 31473 h 417"/>
                  <a:gd name="T10" fmla="*/ 45575 w 353"/>
                  <a:gd name="T11" fmla="*/ 34354 h 417"/>
                  <a:gd name="T12" fmla="*/ 48933 w 353"/>
                  <a:gd name="T13" fmla="*/ 37206 h 417"/>
                  <a:gd name="T14" fmla="*/ 45575 w 353"/>
                  <a:gd name="T15" fmla="*/ 38144 h 417"/>
                  <a:gd name="T16" fmla="*/ 44477 w 353"/>
                  <a:gd name="T17" fmla="*/ 43878 h 417"/>
                  <a:gd name="T18" fmla="*/ 37805 w 353"/>
                  <a:gd name="T19" fmla="*/ 47711 h 417"/>
                  <a:gd name="T20" fmla="*/ 31121 w 353"/>
                  <a:gd name="T21" fmla="*/ 44859 h 417"/>
                  <a:gd name="T22" fmla="*/ 30036 w 353"/>
                  <a:gd name="T23" fmla="*/ 48650 h 417"/>
                  <a:gd name="T24" fmla="*/ 26678 w 353"/>
                  <a:gd name="T25" fmla="*/ 49621 h 417"/>
                  <a:gd name="T26" fmla="*/ 23354 w 353"/>
                  <a:gd name="T27" fmla="*/ 45788 h 417"/>
                  <a:gd name="T28" fmla="*/ 21126 w 353"/>
                  <a:gd name="T29" fmla="*/ 47711 h 417"/>
                  <a:gd name="T30" fmla="*/ 19993 w 353"/>
                  <a:gd name="T31" fmla="*/ 41965 h 417"/>
                  <a:gd name="T32" fmla="*/ 21126 w 353"/>
                  <a:gd name="T33" fmla="*/ 37206 h 417"/>
                  <a:gd name="T34" fmla="*/ 19993 w 353"/>
                  <a:gd name="T35" fmla="*/ 34354 h 417"/>
                  <a:gd name="T36" fmla="*/ 13356 w 353"/>
                  <a:gd name="T37" fmla="*/ 37206 h 417"/>
                  <a:gd name="T38" fmla="*/ 8899 w 353"/>
                  <a:gd name="T39" fmla="*/ 36264 h 417"/>
                  <a:gd name="T40" fmla="*/ 4457 w 353"/>
                  <a:gd name="T41" fmla="*/ 37206 h 417"/>
                  <a:gd name="T42" fmla="*/ 3324 w 353"/>
                  <a:gd name="T43" fmla="*/ 36264 h 417"/>
                  <a:gd name="T44" fmla="*/ 2228 w 353"/>
                  <a:gd name="T45" fmla="*/ 31473 h 417"/>
                  <a:gd name="T46" fmla="*/ 3324 w 353"/>
                  <a:gd name="T47" fmla="*/ 28621 h 417"/>
                  <a:gd name="T48" fmla="*/ 0 w 353"/>
                  <a:gd name="T49" fmla="*/ 26701 h 417"/>
                  <a:gd name="T50" fmla="*/ 3324 w 353"/>
                  <a:gd name="T51" fmla="*/ 20029 h 417"/>
                  <a:gd name="T52" fmla="*/ 3324 w 353"/>
                  <a:gd name="T53" fmla="*/ 16206 h 417"/>
                  <a:gd name="T54" fmla="*/ 3324 w 353"/>
                  <a:gd name="T55" fmla="*/ 14329 h 417"/>
                  <a:gd name="T56" fmla="*/ 6685 w 353"/>
                  <a:gd name="T57" fmla="*/ 3823 h 417"/>
                  <a:gd name="T58" fmla="*/ 14451 w 353"/>
                  <a:gd name="T59" fmla="*/ 4762 h 417"/>
                  <a:gd name="T60" fmla="*/ 15584 w 353"/>
                  <a:gd name="T61" fmla="*/ 0 h 417"/>
                  <a:gd name="T62" fmla="*/ 25582 w 353"/>
                  <a:gd name="T63" fmla="*/ 1910 h 417"/>
                  <a:gd name="T64" fmla="*/ 34444 w 353"/>
                  <a:gd name="T65" fmla="*/ 4762 h 417"/>
                  <a:gd name="T66" fmla="*/ 40034 w 353"/>
                  <a:gd name="T67" fmla="*/ 3823 h 417"/>
                  <a:gd name="T68" fmla="*/ 42248 w 353"/>
                  <a:gd name="T69" fmla="*/ 9524 h 41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53" h="417">
                    <a:moveTo>
                      <a:pt x="320" y="80"/>
                    </a:moveTo>
                    <a:lnTo>
                      <a:pt x="336" y="104"/>
                    </a:lnTo>
                    <a:lnTo>
                      <a:pt x="328" y="120"/>
                    </a:lnTo>
                    <a:lnTo>
                      <a:pt x="344" y="128"/>
                    </a:lnTo>
                    <a:lnTo>
                      <a:pt x="328" y="152"/>
                    </a:lnTo>
                    <a:lnTo>
                      <a:pt x="312" y="176"/>
                    </a:lnTo>
                    <a:lnTo>
                      <a:pt x="304" y="200"/>
                    </a:lnTo>
                    <a:lnTo>
                      <a:pt x="320" y="216"/>
                    </a:lnTo>
                    <a:lnTo>
                      <a:pt x="320" y="248"/>
                    </a:lnTo>
                    <a:lnTo>
                      <a:pt x="320" y="264"/>
                    </a:lnTo>
                    <a:lnTo>
                      <a:pt x="336" y="272"/>
                    </a:lnTo>
                    <a:lnTo>
                      <a:pt x="328" y="288"/>
                    </a:lnTo>
                    <a:lnTo>
                      <a:pt x="352" y="288"/>
                    </a:lnTo>
                    <a:lnTo>
                      <a:pt x="352" y="312"/>
                    </a:lnTo>
                    <a:lnTo>
                      <a:pt x="344" y="312"/>
                    </a:lnTo>
                    <a:lnTo>
                      <a:pt x="328" y="320"/>
                    </a:lnTo>
                    <a:lnTo>
                      <a:pt x="328" y="360"/>
                    </a:lnTo>
                    <a:lnTo>
                      <a:pt x="320" y="368"/>
                    </a:lnTo>
                    <a:lnTo>
                      <a:pt x="264" y="368"/>
                    </a:lnTo>
                    <a:lnTo>
                      <a:pt x="272" y="400"/>
                    </a:lnTo>
                    <a:lnTo>
                      <a:pt x="248" y="400"/>
                    </a:lnTo>
                    <a:lnTo>
                      <a:pt x="224" y="376"/>
                    </a:lnTo>
                    <a:lnTo>
                      <a:pt x="216" y="384"/>
                    </a:lnTo>
                    <a:lnTo>
                      <a:pt x="216" y="408"/>
                    </a:lnTo>
                    <a:lnTo>
                      <a:pt x="200" y="408"/>
                    </a:lnTo>
                    <a:lnTo>
                      <a:pt x="192" y="416"/>
                    </a:lnTo>
                    <a:lnTo>
                      <a:pt x="168" y="416"/>
                    </a:lnTo>
                    <a:lnTo>
                      <a:pt x="168" y="384"/>
                    </a:lnTo>
                    <a:lnTo>
                      <a:pt x="152" y="384"/>
                    </a:lnTo>
                    <a:lnTo>
                      <a:pt x="152" y="400"/>
                    </a:lnTo>
                    <a:lnTo>
                      <a:pt x="136" y="400"/>
                    </a:lnTo>
                    <a:lnTo>
                      <a:pt x="144" y="352"/>
                    </a:lnTo>
                    <a:lnTo>
                      <a:pt x="152" y="336"/>
                    </a:lnTo>
                    <a:lnTo>
                      <a:pt x="152" y="312"/>
                    </a:lnTo>
                    <a:lnTo>
                      <a:pt x="152" y="296"/>
                    </a:lnTo>
                    <a:lnTo>
                      <a:pt x="144" y="288"/>
                    </a:lnTo>
                    <a:lnTo>
                      <a:pt x="96" y="296"/>
                    </a:lnTo>
                    <a:lnTo>
                      <a:pt x="96" y="312"/>
                    </a:lnTo>
                    <a:lnTo>
                      <a:pt x="72" y="320"/>
                    </a:lnTo>
                    <a:lnTo>
                      <a:pt x="64" y="304"/>
                    </a:lnTo>
                    <a:lnTo>
                      <a:pt x="56" y="320"/>
                    </a:lnTo>
                    <a:lnTo>
                      <a:pt x="32" y="312"/>
                    </a:lnTo>
                    <a:lnTo>
                      <a:pt x="32" y="304"/>
                    </a:lnTo>
                    <a:lnTo>
                      <a:pt x="24" y="304"/>
                    </a:lnTo>
                    <a:lnTo>
                      <a:pt x="24" y="288"/>
                    </a:lnTo>
                    <a:lnTo>
                      <a:pt x="16" y="264"/>
                    </a:lnTo>
                    <a:lnTo>
                      <a:pt x="32" y="256"/>
                    </a:lnTo>
                    <a:lnTo>
                      <a:pt x="24" y="240"/>
                    </a:lnTo>
                    <a:lnTo>
                      <a:pt x="0" y="240"/>
                    </a:lnTo>
                    <a:lnTo>
                      <a:pt x="0" y="224"/>
                    </a:lnTo>
                    <a:lnTo>
                      <a:pt x="24" y="192"/>
                    </a:lnTo>
                    <a:lnTo>
                      <a:pt x="24" y="168"/>
                    </a:lnTo>
                    <a:lnTo>
                      <a:pt x="32" y="160"/>
                    </a:lnTo>
                    <a:lnTo>
                      <a:pt x="24" y="136"/>
                    </a:lnTo>
                    <a:lnTo>
                      <a:pt x="16" y="136"/>
                    </a:lnTo>
                    <a:lnTo>
                      <a:pt x="24" y="120"/>
                    </a:lnTo>
                    <a:lnTo>
                      <a:pt x="16" y="80"/>
                    </a:lnTo>
                    <a:lnTo>
                      <a:pt x="48" y="32"/>
                    </a:lnTo>
                    <a:lnTo>
                      <a:pt x="80" y="32"/>
                    </a:lnTo>
                    <a:lnTo>
                      <a:pt x="104" y="40"/>
                    </a:lnTo>
                    <a:lnTo>
                      <a:pt x="96" y="8"/>
                    </a:lnTo>
                    <a:lnTo>
                      <a:pt x="112" y="0"/>
                    </a:lnTo>
                    <a:lnTo>
                      <a:pt x="152" y="16"/>
                    </a:lnTo>
                    <a:lnTo>
                      <a:pt x="184" y="16"/>
                    </a:lnTo>
                    <a:lnTo>
                      <a:pt x="208" y="40"/>
                    </a:lnTo>
                    <a:lnTo>
                      <a:pt x="248" y="40"/>
                    </a:lnTo>
                    <a:lnTo>
                      <a:pt x="256" y="48"/>
                    </a:lnTo>
                    <a:lnTo>
                      <a:pt x="288" y="32"/>
                    </a:lnTo>
                    <a:lnTo>
                      <a:pt x="304" y="32"/>
                    </a:lnTo>
                    <a:lnTo>
                      <a:pt x="304" y="80"/>
                    </a:lnTo>
                    <a:lnTo>
                      <a:pt x="320" y="80"/>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01" name="Freeform 25"/>
              <p:cNvSpPr>
                <a:spLocks noChangeArrowheads="1"/>
              </p:cNvSpPr>
              <p:nvPr/>
            </p:nvSpPr>
            <p:spPr bwMode="auto">
              <a:xfrm>
                <a:off x="11671" y="6314"/>
                <a:ext cx="1678" cy="1051"/>
              </a:xfrm>
              <a:custGeom>
                <a:avLst/>
                <a:gdLst>
                  <a:gd name="T0" fmla="*/ 67683 w 489"/>
                  <a:gd name="T1" fmla="*/ 28505 h 321"/>
                  <a:gd name="T2" fmla="*/ 62103 w 489"/>
                  <a:gd name="T3" fmla="*/ 30328 h 321"/>
                  <a:gd name="T4" fmla="*/ 54341 w 489"/>
                  <a:gd name="T5" fmla="*/ 34015 h 321"/>
                  <a:gd name="T6" fmla="*/ 51033 w 489"/>
                  <a:gd name="T7" fmla="*/ 34925 h 321"/>
                  <a:gd name="T8" fmla="*/ 48810 w 489"/>
                  <a:gd name="T9" fmla="*/ 36782 h 321"/>
                  <a:gd name="T10" fmla="*/ 45498 w 489"/>
                  <a:gd name="T11" fmla="*/ 36782 h 321"/>
                  <a:gd name="T12" fmla="*/ 46593 w 489"/>
                  <a:gd name="T13" fmla="*/ 31271 h 321"/>
                  <a:gd name="T14" fmla="*/ 44369 w 489"/>
                  <a:gd name="T15" fmla="*/ 31271 h 321"/>
                  <a:gd name="T16" fmla="*/ 39919 w 489"/>
                  <a:gd name="T17" fmla="*/ 33105 h 321"/>
                  <a:gd name="T18" fmla="*/ 38834 w 489"/>
                  <a:gd name="T19" fmla="*/ 32182 h 321"/>
                  <a:gd name="T20" fmla="*/ 33299 w 489"/>
                  <a:gd name="T21" fmla="*/ 32182 h 321"/>
                  <a:gd name="T22" fmla="*/ 31076 w 489"/>
                  <a:gd name="T23" fmla="*/ 29415 h 321"/>
                  <a:gd name="T24" fmla="*/ 25493 w 489"/>
                  <a:gd name="T25" fmla="*/ 29415 h 321"/>
                  <a:gd name="T26" fmla="*/ 19958 w 489"/>
                  <a:gd name="T27" fmla="*/ 27581 h 321"/>
                  <a:gd name="T28" fmla="*/ 17734 w 489"/>
                  <a:gd name="T29" fmla="*/ 28505 h 321"/>
                  <a:gd name="T30" fmla="*/ 18877 w 489"/>
                  <a:gd name="T31" fmla="*/ 32182 h 321"/>
                  <a:gd name="T32" fmla="*/ 15521 w 489"/>
                  <a:gd name="T33" fmla="*/ 31271 h 321"/>
                  <a:gd name="T34" fmla="*/ 11115 w 489"/>
                  <a:gd name="T35" fmla="*/ 31271 h 321"/>
                  <a:gd name="T36" fmla="*/ 6664 w 489"/>
                  <a:gd name="T37" fmla="*/ 36782 h 321"/>
                  <a:gd name="T38" fmla="*/ 1095 w 489"/>
                  <a:gd name="T39" fmla="*/ 31271 h 321"/>
                  <a:gd name="T40" fmla="*/ 0 w 489"/>
                  <a:gd name="T41" fmla="*/ 31271 h 321"/>
                  <a:gd name="T42" fmla="*/ 1095 w 489"/>
                  <a:gd name="T43" fmla="*/ 29415 h 321"/>
                  <a:gd name="T44" fmla="*/ 2227 w 489"/>
                  <a:gd name="T45" fmla="*/ 28505 h 321"/>
                  <a:gd name="T46" fmla="*/ 0 w 489"/>
                  <a:gd name="T47" fmla="*/ 26671 h 321"/>
                  <a:gd name="T48" fmla="*/ 0 w 489"/>
                  <a:gd name="T49" fmla="*/ 25728 h 321"/>
                  <a:gd name="T50" fmla="*/ 2227 w 489"/>
                  <a:gd name="T51" fmla="*/ 23905 h 321"/>
                  <a:gd name="T52" fmla="*/ 9986 w 489"/>
                  <a:gd name="T53" fmla="*/ 23905 h 321"/>
                  <a:gd name="T54" fmla="*/ 13294 w 489"/>
                  <a:gd name="T55" fmla="*/ 22071 h 321"/>
                  <a:gd name="T56" fmla="*/ 15521 w 489"/>
                  <a:gd name="T57" fmla="*/ 21128 h 321"/>
                  <a:gd name="T58" fmla="*/ 15521 w 489"/>
                  <a:gd name="T59" fmla="*/ 18394 h 321"/>
                  <a:gd name="T60" fmla="*/ 11115 w 489"/>
                  <a:gd name="T61" fmla="*/ 13797 h 321"/>
                  <a:gd name="T62" fmla="*/ 9986 w 489"/>
                  <a:gd name="T63" fmla="*/ 9197 h 321"/>
                  <a:gd name="T64" fmla="*/ 12199 w 489"/>
                  <a:gd name="T65" fmla="*/ 6421 h 321"/>
                  <a:gd name="T66" fmla="*/ 12199 w 489"/>
                  <a:gd name="T67" fmla="*/ 4600 h 321"/>
                  <a:gd name="T68" fmla="*/ 9986 w 489"/>
                  <a:gd name="T69" fmla="*/ 910 h 321"/>
                  <a:gd name="T70" fmla="*/ 17734 w 489"/>
                  <a:gd name="T71" fmla="*/ 910 h 321"/>
                  <a:gd name="T72" fmla="*/ 19958 w 489"/>
                  <a:gd name="T73" fmla="*/ 1824 h 321"/>
                  <a:gd name="T74" fmla="*/ 23279 w 489"/>
                  <a:gd name="T75" fmla="*/ 0 h 321"/>
                  <a:gd name="T76" fmla="*/ 28849 w 489"/>
                  <a:gd name="T77" fmla="*/ 8287 h 321"/>
                  <a:gd name="T78" fmla="*/ 38834 w 489"/>
                  <a:gd name="T79" fmla="*/ 8287 h 321"/>
                  <a:gd name="T80" fmla="*/ 41048 w 489"/>
                  <a:gd name="T81" fmla="*/ 9197 h 321"/>
                  <a:gd name="T82" fmla="*/ 43275 w 489"/>
                  <a:gd name="T83" fmla="*/ 8287 h 321"/>
                  <a:gd name="T84" fmla="*/ 46593 w 489"/>
                  <a:gd name="T85" fmla="*/ 10111 h 321"/>
                  <a:gd name="T86" fmla="*/ 46593 w 489"/>
                  <a:gd name="T87" fmla="*/ 12887 h 321"/>
                  <a:gd name="T88" fmla="*/ 48810 w 489"/>
                  <a:gd name="T89" fmla="*/ 14707 h 321"/>
                  <a:gd name="T90" fmla="*/ 49904 w 489"/>
                  <a:gd name="T91" fmla="*/ 12887 h 321"/>
                  <a:gd name="T92" fmla="*/ 52128 w 489"/>
                  <a:gd name="T93" fmla="*/ 14707 h 321"/>
                  <a:gd name="T94" fmla="*/ 56568 w 489"/>
                  <a:gd name="T95" fmla="*/ 14707 h 321"/>
                  <a:gd name="T96" fmla="*/ 57697 w 489"/>
                  <a:gd name="T97" fmla="*/ 13797 h 321"/>
                  <a:gd name="T98" fmla="*/ 64327 w 489"/>
                  <a:gd name="T99" fmla="*/ 17484 h 321"/>
                  <a:gd name="T100" fmla="*/ 65459 w 489"/>
                  <a:gd name="T101" fmla="*/ 22071 h 321"/>
                  <a:gd name="T102" fmla="*/ 65459 w 489"/>
                  <a:gd name="T103" fmla="*/ 24818 h 321"/>
                  <a:gd name="T104" fmla="*/ 67683 w 489"/>
                  <a:gd name="T105" fmla="*/ 28505 h 32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89" h="321">
                    <a:moveTo>
                      <a:pt x="488" y="248"/>
                    </a:moveTo>
                    <a:lnTo>
                      <a:pt x="448" y="264"/>
                    </a:lnTo>
                    <a:lnTo>
                      <a:pt x="392" y="296"/>
                    </a:lnTo>
                    <a:lnTo>
                      <a:pt x="368" y="304"/>
                    </a:lnTo>
                    <a:lnTo>
                      <a:pt x="352" y="320"/>
                    </a:lnTo>
                    <a:lnTo>
                      <a:pt x="328" y="320"/>
                    </a:lnTo>
                    <a:lnTo>
                      <a:pt x="336" y="272"/>
                    </a:lnTo>
                    <a:lnTo>
                      <a:pt x="320" y="272"/>
                    </a:lnTo>
                    <a:lnTo>
                      <a:pt x="288" y="288"/>
                    </a:lnTo>
                    <a:lnTo>
                      <a:pt x="280" y="280"/>
                    </a:lnTo>
                    <a:lnTo>
                      <a:pt x="240" y="280"/>
                    </a:lnTo>
                    <a:lnTo>
                      <a:pt x="224" y="256"/>
                    </a:lnTo>
                    <a:lnTo>
                      <a:pt x="184" y="256"/>
                    </a:lnTo>
                    <a:lnTo>
                      <a:pt x="144" y="240"/>
                    </a:lnTo>
                    <a:lnTo>
                      <a:pt x="128" y="248"/>
                    </a:lnTo>
                    <a:lnTo>
                      <a:pt x="136" y="280"/>
                    </a:lnTo>
                    <a:lnTo>
                      <a:pt x="112" y="272"/>
                    </a:lnTo>
                    <a:lnTo>
                      <a:pt x="80" y="272"/>
                    </a:lnTo>
                    <a:lnTo>
                      <a:pt x="48" y="320"/>
                    </a:lnTo>
                    <a:lnTo>
                      <a:pt x="8" y="272"/>
                    </a:lnTo>
                    <a:lnTo>
                      <a:pt x="0" y="272"/>
                    </a:lnTo>
                    <a:lnTo>
                      <a:pt x="8" y="256"/>
                    </a:lnTo>
                    <a:lnTo>
                      <a:pt x="16" y="248"/>
                    </a:lnTo>
                    <a:lnTo>
                      <a:pt x="0" y="232"/>
                    </a:lnTo>
                    <a:lnTo>
                      <a:pt x="0" y="224"/>
                    </a:lnTo>
                    <a:lnTo>
                      <a:pt x="16" y="208"/>
                    </a:lnTo>
                    <a:lnTo>
                      <a:pt x="72" y="208"/>
                    </a:lnTo>
                    <a:lnTo>
                      <a:pt x="96" y="192"/>
                    </a:lnTo>
                    <a:lnTo>
                      <a:pt x="112" y="184"/>
                    </a:lnTo>
                    <a:lnTo>
                      <a:pt x="112" y="160"/>
                    </a:lnTo>
                    <a:lnTo>
                      <a:pt x="80" y="120"/>
                    </a:lnTo>
                    <a:lnTo>
                      <a:pt x="72" y="80"/>
                    </a:lnTo>
                    <a:lnTo>
                      <a:pt x="88" y="56"/>
                    </a:lnTo>
                    <a:lnTo>
                      <a:pt x="88" y="40"/>
                    </a:lnTo>
                    <a:lnTo>
                      <a:pt x="72" y="8"/>
                    </a:lnTo>
                    <a:lnTo>
                      <a:pt x="128" y="8"/>
                    </a:lnTo>
                    <a:lnTo>
                      <a:pt x="144" y="16"/>
                    </a:lnTo>
                    <a:lnTo>
                      <a:pt x="168" y="0"/>
                    </a:lnTo>
                    <a:lnTo>
                      <a:pt x="208" y="72"/>
                    </a:lnTo>
                    <a:lnTo>
                      <a:pt x="280" y="72"/>
                    </a:lnTo>
                    <a:lnTo>
                      <a:pt x="296" y="80"/>
                    </a:lnTo>
                    <a:lnTo>
                      <a:pt x="312" y="72"/>
                    </a:lnTo>
                    <a:lnTo>
                      <a:pt x="336" y="88"/>
                    </a:lnTo>
                    <a:lnTo>
                      <a:pt x="336" y="112"/>
                    </a:lnTo>
                    <a:lnTo>
                      <a:pt x="352" y="128"/>
                    </a:lnTo>
                    <a:lnTo>
                      <a:pt x="360" y="112"/>
                    </a:lnTo>
                    <a:lnTo>
                      <a:pt x="376" y="128"/>
                    </a:lnTo>
                    <a:lnTo>
                      <a:pt x="408" y="128"/>
                    </a:lnTo>
                    <a:lnTo>
                      <a:pt x="416" y="120"/>
                    </a:lnTo>
                    <a:lnTo>
                      <a:pt x="464" y="152"/>
                    </a:lnTo>
                    <a:lnTo>
                      <a:pt x="472" y="192"/>
                    </a:lnTo>
                    <a:lnTo>
                      <a:pt x="472" y="216"/>
                    </a:lnTo>
                    <a:lnTo>
                      <a:pt x="488" y="248"/>
                    </a:lnTo>
                  </a:path>
                </a:pathLst>
              </a:custGeom>
              <a:solidFill>
                <a:srgbClr val="0277AC"/>
              </a:solidFill>
              <a:ln w="9525">
                <a:solidFill>
                  <a:srgbClr val="FFFFFF">
                    <a:alpha val="54117"/>
                  </a:srgbClr>
                </a:solidFill>
                <a:bevel/>
              </a:ln>
            </p:spPr>
            <p:txBody>
              <a:bodyPr/>
              <a:lstStyle/>
              <a:p>
                <a:endParaRPr lang="zh-CN" altLang="en-US"/>
              </a:p>
            </p:txBody>
          </p:sp>
          <p:sp>
            <p:nvSpPr>
              <p:cNvPr id="36902" name="Freeform 26"/>
              <p:cNvSpPr>
                <a:spLocks noChangeArrowheads="1"/>
              </p:cNvSpPr>
              <p:nvPr/>
            </p:nvSpPr>
            <p:spPr bwMode="auto">
              <a:xfrm>
                <a:off x="13015" y="5943"/>
                <a:ext cx="1046" cy="1268"/>
              </a:xfrm>
              <a:custGeom>
                <a:avLst/>
                <a:gdLst>
                  <a:gd name="T0" fmla="*/ 12185 w 305"/>
                  <a:gd name="T1" fmla="*/ 0 h 385"/>
                  <a:gd name="T2" fmla="*/ 17713 w 305"/>
                  <a:gd name="T3" fmla="*/ 3755 h 385"/>
                  <a:gd name="T4" fmla="*/ 24360 w 305"/>
                  <a:gd name="T5" fmla="*/ 7539 h 385"/>
                  <a:gd name="T6" fmla="*/ 27676 w 305"/>
                  <a:gd name="T7" fmla="*/ 11293 h 385"/>
                  <a:gd name="T8" fmla="*/ 33191 w 305"/>
                  <a:gd name="T9" fmla="*/ 16000 h 385"/>
                  <a:gd name="T10" fmla="*/ 37635 w 305"/>
                  <a:gd name="T11" fmla="*/ 16932 h 385"/>
                  <a:gd name="T12" fmla="*/ 34333 w 305"/>
                  <a:gd name="T13" fmla="*/ 16932 h 385"/>
                  <a:gd name="T14" fmla="*/ 32110 w 305"/>
                  <a:gd name="T15" fmla="*/ 20719 h 385"/>
                  <a:gd name="T16" fmla="*/ 34333 w 305"/>
                  <a:gd name="T17" fmla="*/ 26371 h 385"/>
                  <a:gd name="T18" fmla="*/ 39847 w 305"/>
                  <a:gd name="T19" fmla="*/ 29190 h 385"/>
                  <a:gd name="T20" fmla="*/ 39847 w 305"/>
                  <a:gd name="T21" fmla="*/ 34829 h 385"/>
                  <a:gd name="T22" fmla="*/ 38719 w 305"/>
                  <a:gd name="T23" fmla="*/ 37651 h 385"/>
                  <a:gd name="T24" fmla="*/ 36507 w 305"/>
                  <a:gd name="T25" fmla="*/ 36729 h 385"/>
                  <a:gd name="T26" fmla="*/ 37635 w 305"/>
                  <a:gd name="T27" fmla="*/ 40480 h 385"/>
                  <a:gd name="T28" fmla="*/ 36507 w 305"/>
                  <a:gd name="T29" fmla="*/ 42368 h 385"/>
                  <a:gd name="T30" fmla="*/ 30979 w 305"/>
                  <a:gd name="T31" fmla="*/ 45190 h 385"/>
                  <a:gd name="T32" fmla="*/ 25450 w 305"/>
                  <a:gd name="T33" fmla="*/ 45190 h 385"/>
                  <a:gd name="T34" fmla="*/ 21019 w 305"/>
                  <a:gd name="T35" fmla="*/ 43303 h 385"/>
                  <a:gd name="T36" fmla="*/ 17713 w 305"/>
                  <a:gd name="T37" fmla="*/ 45190 h 385"/>
                  <a:gd name="T38" fmla="*/ 18794 w 305"/>
                  <a:gd name="T39" fmla="*/ 42368 h 385"/>
                  <a:gd name="T40" fmla="*/ 16619 w 305"/>
                  <a:gd name="T41" fmla="*/ 43303 h 385"/>
                  <a:gd name="T42" fmla="*/ 11057 w 305"/>
                  <a:gd name="T43" fmla="*/ 36729 h 385"/>
                  <a:gd name="T44" fmla="*/ 9963 w 305"/>
                  <a:gd name="T45" fmla="*/ 31045 h 385"/>
                  <a:gd name="T46" fmla="*/ 9963 w 305"/>
                  <a:gd name="T47" fmla="*/ 25403 h 385"/>
                  <a:gd name="T48" fmla="*/ 9963 w 305"/>
                  <a:gd name="T49" fmla="*/ 18832 h 385"/>
                  <a:gd name="T50" fmla="*/ 3306 w 305"/>
                  <a:gd name="T51" fmla="*/ 17897 h 385"/>
                  <a:gd name="T52" fmla="*/ 0 w 305"/>
                  <a:gd name="T53" fmla="*/ 16000 h 385"/>
                  <a:gd name="T54" fmla="*/ 4434 w 305"/>
                  <a:gd name="T55" fmla="*/ 14113 h 385"/>
                  <a:gd name="T56" fmla="*/ 5528 w 305"/>
                  <a:gd name="T57" fmla="*/ 4720 h 385"/>
                  <a:gd name="T58" fmla="*/ 9963 w 305"/>
                  <a:gd name="T59" fmla="*/ 6574 h 385"/>
                  <a:gd name="T60" fmla="*/ 14397 w 305"/>
                  <a:gd name="T61" fmla="*/ 5642 h 385"/>
                  <a:gd name="T62" fmla="*/ 11057 w 305"/>
                  <a:gd name="T63" fmla="*/ 1897 h 38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05" h="385">
                    <a:moveTo>
                      <a:pt x="80" y="8"/>
                    </a:moveTo>
                    <a:lnTo>
                      <a:pt x="88" y="0"/>
                    </a:lnTo>
                    <a:lnTo>
                      <a:pt x="120" y="8"/>
                    </a:lnTo>
                    <a:lnTo>
                      <a:pt x="128" y="32"/>
                    </a:lnTo>
                    <a:lnTo>
                      <a:pt x="152" y="32"/>
                    </a:lnTo>
                    <a:lnTo>
                      <a:pt x="176" y="64"/>
                    </a:lnTo>
                    <a:lnTo>
                      <a:pt x="184" y="56"/>
                    </a:lnTo>
                    <a:lnTo>
                      <a:pt x="200" y="96"/>
                    </a:lnTo>
                    <a:lnTo>
                      <a:pt x="224" y="136"/>
                    </a:lnTo>
                    <a:lnTo>
                      <a:pt x="240" y="136"/>
                    </a:lnTo>
                    <a:lnTo>
                      <a:pt x="256" y="120"/>
                    </a:lnTo>
                    <a:lnTo>
                      <a:pt x="272" y="144"/>
                    </a:lnTo>
                    <a:lnTo>
                      <a:pt x="256" y="160"/>
                    </a:lnTo>
                    <a:lnTo>
                      <a:pt x="248" y="144"/>
                    </a:lnTo>
                    <a:lnTo>
                      <a:pt x="232" y="144"/>
                    </a:lnTo>
                    <a:lnTo>
                      <a:pt x="232" y="176"/>
                    </a:lnTo>
                    <a:lnTo>
                      <a:pt x="224" y="192"/>
                    </a:lnTo>
                    <a:lnTo>
                      <a:pt x="248" y="224"/>
                    </a:lnTo>
                    <a:lnTo>
                      <a:pt x="248" y="248"/>
                    </a:lnTo>
                    <a:lnTo>
                      <a:pt x="288" y="248"/>
                    </a:lnTo>
                    <a:lnTo>
                      <a:pt x="304" y="264"/>
                    </a:lnTo>
                    <a:lnTo>
                      <a:pt x="288" y="296"/>
                    </a:lnTo>
                    <a:lnTo>
                      <a:pt x="296" y="320"/>
                    </a:lnTo>
                    <a:lnTo>
                      <a:pt x="280" y="320"/>
                    </a:lnTo>
                    <a:lnTo>
                      <a:pt x="280" y="312"/>
                    </a:lnTo>
                    <a:lnTo>
                      <a:pt x="264" y="312"/>
                    </a:lnTo>
                    <a:lnTo>
                      <a:pt x="264" y="328"/>
                    </a:lnTo>
                    <a:lnTo>
                      <a:pt x="272" y="344"/>
                    </a:lnTo>
                    <a:lnTo>
                      <a:pt x="264" y="344"/>
                    </a:lnTo>
                    <a:lnTo>
                      <a:pt x="264" y="360"/>
                    </a:lnTo>
                    <a:lnTo>
                      <a:pt x="232" y="384"/>
                    </a:lnTo>
                    <a:lnTo>
                      <a:pt x="224" y="384"/>
                    </a:lnTo>
                    <a:lnTo>
                      <a:pt x="216" y="376"/>
                    </a:lnTo>
                    <a:lnTo>
                      <a:pt x="184" y="384"/>
                    </a:lnTo>
                    <a:lnTo>
                      <a:pt x="168" y="352"/>
                    </a:lnTo>
                    <a:lnTo>
                      <a:pt x="152" y="368"/>
                    </a:lnTo>
                    <a:lnTo>
                      <a:pt x="152" y="384"/>
                    </a:lnTo>
                    <a:lnTo>
                      <a:pt x="128" y="384"/>
                    </a:lnTo>
                    <a:lnTo>
                      <a:pt x="128" y="368"/>
                    </a:lnTo>
                    <a:lnTo>
                      <a:pt x="136" y="360"/>
                    </a:lnTo>
                    <a:lnTo>
                      <a:pt x="128" y="352"/>
                    </a:lnTo>
                    <a:lnTo>
                      <a:pt x="120" y="368"/>
                    </a:lnTo>
                    <a:lnTo>
                      <a:pt x="88" y="360"/>
                    </a:lnTo>
                    <a:lnTo>
                      <a:pt x="80" y="312"/>
                    </a:lnTo>
                    <a:lnTo>
                      <a:pt x="80" y="296"/>
                    </a:lnTo>
                    <a:lnTo>
                      <a:pt x="72" y="264"/>
                    </a:lnTo>
                    <a:lnTo>
                      <a:pt x="32" y="240"/>
                    </a:lnTo>
                    <a:lnTo>
                      <a:pt x="72" y="216"/>
                    </a:lnTo>
                    <a:lnTo>
                      <a:pt x="80" y="216"/>
                    </a:lnTo>
                    <a:lnTo>
                      <a:pt x="72" y="160"/>
                    </a:lnTo>
                    <a:lnTo>
                      <a:pt x="48" y="168"/>
                    </a:lnTo>
                    <a:lnTo>
                      <a:pt x="24" y="152"/>
                    </a:lnTo>
                    <a:lnTo>
                      <a:pt x="16" y="136"/>
                    </a:lnTo>
                    <a:lnTo>
                      <a:pt x="0" y="136"/>
                    </a:lnTo>
                    <a:lnTo>
                      <a:pt x="8" y="120"/>
                    </a:lnTo>
                    <a:lnTo>
                      <a:pt x="32" y="120"/>
                    </a:lnTo>
                    <a:lnTo>
                      <a:pt x="40" y="88"/>
                    </a:lnTo>
                    <a:lnTo>
                      <a:pt x="40" y="40"/>
                    </a:lnTo>
                    <a:lnTo>
                      <a:pt x="48" y="40"/>
                    </a:lnTo>
                    <a:lnTo>
                      <a:pt x="72" y="56"/>
                    </a:lnTo>
                    <a:lnTo>
                      <a:pt x="80" y="72"/>
                    </a:lnTo>
                    <a:lnTo>
                      <a:pt x="104" y="48"/>
                    </a:lnTo>
                    <a:lnTo>
                      <a:pt x="104" y="32"/>
                    </a:lnTo>
                    <a:lnTo>
                      <a:pt x="80" y="16"/>
                    </a:lnTo>
                    <a:lnTo>
                      <a:pt x="80" y="8"/>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03" name="Freeform 27"/>
              <p:cNvSpPr>
                <a:spLocks noChangeArrowheads="1"/>
              </p:cNvSpPr>
              <p:nvPr/>
            </p:nvSpPr>
            <p:spPr bwMode="auto">
              <a:xfrm>
                <a:off x="12083" y="5548"/>
                <a:ext cx="1295" cy="1185"/>
              </a:xfrm>
              <a:custGeom>
                <a:avLst/>
                <a:gdLst>
                  <a:gd name="T0" fmla="*/ 27848 w 377"/>
                  <a:gd name="T1" fmla="*/ 916 h 361"/>
                  <a:gd name="T2" fmla="*/ 34536 w 377"/>
                  <a:gd name="T3" fmla="*/ 0 h 361"/>
                  <a:gd name="T4" fmla="*/ 36768 w 377"/>
                  <a:gd name="T5" fmla="*/ 1874 h 361"/>
                  <a:gd name="T6" fmla="*/ 42312 w 377"/>
                  <a:gd name="T7" fmla="*/ 2790 h 361"/>
                  <a:gd name="T8" fmla="*/ 44542 w 377"/>
                  <a:gd name="T9" fmla="*/ 1874 h 361"/>
                  <a:gd name="T10" fmla="*/ 46771 w 377"/>
                  <a:gd name="T11" fmla="*/ 1874 h 361"/>
                  <a:gd name="T12" fmla="*/ 38984 w 377"/>
                  <a:gd name="T13" fmla="*/ 7425 h 361"/>
                  <a:gd name="T14" fmla="*/ 37854 w 377"/>
                  <a:gd name="T15" fmla="*/ 10225 h 361"/>
                  <a:gd name="T16" fmla="*/ 38984 w 377"/>
                  <a:gd name="T17" fmla="*/ 11141 h 361"/>
                  <a:gd name="T18" fmla="*/ 40083 w 377"/>
                  <a:gd name="T19" fmla="*/ 11141 h 361"/>
                  <a:gd name="T20" fmla="*/ 44542 w 377"/>
                  <a:gd name="T21" fmla="*/ 14860 h 361"/>
                  <a:gd name="T22" fmla="*/ 49004 w 377"/>
                  <a:gd name="T23" fmla="*/ 14860 h 361"/>
                  <a:gd name="T24" fmla="*/ 49004 w 377"/>
                  <a:gd name="T25" fmla="*/ 16734 h 361"/>
                  <a:gd name="T26" fmla="*/ 52367 w 377"/>
                  <a:gd name="T27" fmla="*/ 17650 h 361"/>
                  <a:gd name="T28" fmla="*/ 52367 w 377"/>
                  <a:gd name="T29" fmla="*/ 19492 h 361"/>
                  <a:gd name="T30" fmla="*/ 49004 w 377"/>
                  <a:gd name="T31" fmla="*/ 22282 h 361"/>
                  <a:gd name="T32" fmla="*/ 49004 w 377"/>
                  <a:gd name="T33" fmla="*/ 20440 h 361"/>
                  <a:gd name="T34" fmla="*/ 45675 w 377"/>
                  <a:gd name="T35" fmla="*/ 18566 h 361"/>
                  <a:gd name="T36" fmla="*/ 43446 w 377"/>
                  <a:gd name="T37" fmla="*/ 18566 h 361"/>
                  <a:gd name="T38" fmla="*/ 43446 w 377"/>
                  <a:gd name="T39" fmla="*/ 24156 h 361"/>
                  <a:gd name="T40" fmla="*/ 42312 w 377"/>
                  <a:gd name="T41" fmla="*/ 27875 h 361"/>
                  <a:gd name="T42" fmla="*/ 38984 w 377"/>
                  <a:gd name="T43" fmla="*/ 27875 h 361"/>
                  <a:gd name="T44" fmla="*/ 37854 w 377"/>
                  <a:gd name="T45" fmla="*/ 28791 h 361"/>
                  <a:gd name="T46" fmla="*/ 40083 w 377"/>
                  <a:gd name="T47" fmla="*/ 29707 h 361"/>
                  <a:gd name="T48" fmla="*/ 41217 w 377"/>
                  <a:gd name="T49" fmla="*/ 31581 h 361"/>
                  <a:gd name="T50" fmla="*/ 44542 w 377"/>
                  <a:gd name="T51" fmla="*/ 33423 h 361"/>
                  <a:gd name="T52" fmla="*/ 47905 w 377"/>
                  <a:gd name="T53" fmla="*/ 32507 h 361"/>
                  <a:gd name="T54" fmla="*/ 49004 w 377"/>
                  <a:gd name="T55" fmla="*/ 39016 h 361"/>
                  <a:gd name="T56" fmla="*/ 42312 w 377"/>
                  <a:gd name="T57" fmla="*/ 41807 h 361"/>
                  <a:gd name="T58" fmla="*/ 41217 w 377"/>
                  <a:gd name="T59" fmla="*/ 40848 h 361"/>
                  <a:gd name="T60" fmla="*/ 40083 w 377"/>
                  <a:gd name="T61" fmla="*/ 41807 h 361"/>
                  <a:gd name="T62" fmla="*/ 35621 w 377"/>
                  <a:gd name="T63" fmla="*/ 41807 h 361"/>
                  <a:gd name="T64" fmla="*/ 33392 w 377"/>
                  <a:gd name="T65" fmla="*/ 39932 h 361"/>
                  <a:gd name="T66" fmla="*/ 32306 w 377"/>
                  <a:gd name="T67" fmla="*/ 41807 h 361"/>
                  <a:gd name="T68" fmla="*/ 30077 w 377"/>
                  <a:gd name="T69" fmla="*/ 39932 h 361"/>
                  <a:gd name="T70" fmla="*/ 30077 w 377"/>
                  <a:gd name="T71" fmla="*/ 37142 h 361"/>
                  <a:gd name="T72" fmla="*/ 26748 w 377"/>
                  <a:gd name="T73" fmla="*/ 35301 h 361"/>
                  <a:gd name="T74" fmla="*/ 24519 w 377"/>
                  <a:gd name="T75" fmla="*/ 36216 h 361"/>
                  <a:gd name="T76" fmla="*/ 22290 w 377"/>
                  <a:gd name="T77" fmla="*/ 35301 h 361"/>
                  <a:gd name="T78" fmla="*/ 12236 w 377"/>
                  <a:gd name="T79" fmla="*/ 34385 h 361"/>
                  <a:gd name="T80" fmla="*/ 6691 w 377"/>
                  <a:gd name="T81" fmla="*/ 26950 h 361"/>
                  <a:gd name="T82" fmla="*/ 2229 w 377"/>
                  <a:gd name="T83" fmla="*/ 21366 h 361"/>
                  <a:gd name="T84" fmla="*/ 0 w 377"/>
                  <a:gd name="T85" fmla="*/ 14860 h 361"/>
                  <a:gd name="T86" fmla="*/ 4459 w 377"/>
                  <a:gd name="T87" fmla="*/ 14860 h 361"/>
                  <a:gd name="T88" fmla="*/ 15598 w 377"/>
                  <a:gd name="T89" fmla="*/ 9299 h 361"/>
                  <a:gd name="T90" fmla="*/ 18927 w 377"/>
                  <a:gd name="T91" fmla="*/ 9299 h 361"/>
                  <a:gd name="T92" fmla="*/ 23386 w 377"/>
                  <a:gd name="T93" fmla="*/ 9299 h 361"/>
                  <a:gd name="T94" fmla="*/ 26748 w 377"/>
                  <a:gd name="T95" fmla="*/ 5593 h 361"/>
                  <a:gd name="T96" fmla="*/ 27848 w 377"/>
                  <a:gd name="T97" fmla="*/ 916 h 36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377" h="361">
                    <a:moveTo>
                      <a:pt x="200" y="8"/>
                    </a:moveTo>
                    <a:lnTo>
                      <a:pt x="248" y="0"/>
                    </a:lnTo>
                    <a:lnTo>
                      <a:pt x="264" y="16"/>
                    </a:lnTo>
                    <a:lnTo>
                      <a:pt x="304" y="24"/>
                    </a:lnTo>
                    <a:lnTo>
                      <a:pt x="320" y="16"/>
                    </a:lnTo>
                    <a:lnTo>
                      <a:pt x="336" y="16"/>
                    </a:lnTo>
                    <a:lnTo>
                      <a:pt x="280" y="64"/>
                    </a:lnTo>
                    <a:lnTo>
                      <a:pt x="272" y="88"/>
                    </a:lnTo>
                    <a:lnTo>
                      <a:pt x="280" y="96"/>
                    </a:lnTo>
                    <a:lnTo>
                      <a:pt x="288" y="96"/>
                    </a:lnTo>
                    <a:lnTo>
                      <a:pt x="320" y="128"/>
                    </a:lnTo>
                    <a:lnTo>
                      <a:pt x="352" y="128"/>
                    </a:lnTo>
                    <a:lnTo>
                      <a:pt x="352" y="144"/>
                    </a:lnTo>
                    <a:lnTo>
                      <a:pt x="376" y="152"/>
                    </a:lnTo>
                    <a:lnTo>
                      <a:pt x="376" y="168"/>
                    </a:lnTo>
                    <a:lnTo>
                      <a:pt x="352" y="192"/>
                    </a:lnTo>
                    <a:lnTo>
                      <a:pt x="352" y="176"/>
                    </a:lnTo>
                    <a:lnTo>
                      <a:pt x="328" y="160"/>
                    </a:lnTo>
                    <a:lnTo>
                      <a:pt x="312" y="160"/>
                    </a:lnTo>
                    <a:lnTo>
                      <a:pt x="312" y="208"/>
                    </a:lnTo>
                    <a:lnTo>
                      <a:pt x="304" y="240"/>
                    </a:lnTo>
                    <a:lnTo>
                      <a:pt x="280" y="240"/>
                    </a:lnTo>
                    <a:lnTo>
                      <a:pt x="272" y="248"/>
                    </a:lnTo>
                    <a:lnTo>
                      <a:pt x="288" y="256"/>
                    </a:lnTo>
                    <a:lnTo>
                      <a:pt x="296" y="272"/>
                    </a:lnTo>
                    <a:lnTo>
                      <a:pt x="320" y="288"/>
                    </a:lnTo>
                    <a:lnTo>
                      <a:pt x="344" y="280"/>
                    </a:lnTo>
                    <a:lnTo>
                      <a:pt x="352" y="336"/>
                    </a:lnTo>
                    <a:lnTo>
                      <a:pt x="304" y="360"/>
                    </a:lnTo>
                    <a:lnTo>
                      <a:pt x="296" y="352"/>
                    </a:lnTo>
                    <a:lnTo>
                      <a:pt x="288" y="360"/>
                    </a:lnTo>
                    <a:lnTo>
                      <a:pt x="256" y="360"/>
                    </a:lnTo>
                    <a:lnTo>
                      <a:pt x="240" y="344"/>
                    </a:lnTo>
                    <a:lnTo>
                      <a:pt x="232" y="360"/>
                    </a:lnTo>
                    <a:lnTo>
                      <a:pt x="216" y="344"/>
                    </a:lnTo>
                    <a:lnTo>
                      <a:pt x="216" y="320"/>
                    </a:lnTo>
                    <a:lnTo>
                      <a:pt x="192" y="304"/>
                    </a:lnTo>
                    <a:lnTo>
                      <a:pt x="176" y="312"/>
                    </a:lnTo>
                    <a:lnTo>
                      <a:pt x="160" y="304"/>
                    </a:lnTo>
                    <a:lnTo>
                      <a:pt x="88" y="296"/>
                    </a:lnTo>
                    <a:lnTo>
                      <a:pt x="48" y="232"/>
                    </a:lnTo>
                    <a:lnTo>
                      <a:pt x="16" y="184"/>
                    </a:lnTo>
                    <a:lnTo>
                      <a:pt x="0" y="128"/>
                    </a:lnTo>
                    <a:lnTo>
                      <a:pt x="32" y="128"/>
                    </a:lnTo>
                    <a:lnTo>
                      <a:pt x="112" y="80"/>
                    </a:lnTo>
                    <a:lnTo>
                      <a:pt x="136" y="80"/>
                    </a:lnTo>
                    <a:lnTo>
                      <a:pt x="168" y="80"/>
                    </a:lnTo>
                    <a:lnTo>
                      <a:pt x="192" y="48"/>
                    </a:lnTo>
                    <a:lnTo>
                      <a:pt x="200" y="8"/>
                    </a:lnTo>
                  </a:path>
                </a:pathLst>
              </a:custGeom>
              <a:solidFill>
                <a:srgbClr val="0077AC"/>
              </a:solidFill>
              <a:ln w="9525">
                <a:solidFill>
                  <a:srgbClr val="FFFFFF">
                    <a:alpha val="54117"/>
                  </a:srgbClr>
                </a:solidFill>
                <a:bevel/>
              </a:ln>
            </p:spPr>
            <p:txBody>
              <a:bodyPr/>
              <a:lstStyle/>
              <a:p>
                <a:endParaRPr lang="zh-CN" altLang="en-US"/>
              </a:p>
            </p:txBody>
          </p:sp>
          <p:sp>
            <p:nvSpPr>
              <p:cNvPr id="36904" name="Freeform 28"/>
              <p:cNvSpPr>
                <a:spLocks noChangeArrowheads="1"/>
              </p:cNvSpPr>
              <p:nvPr/>
            </p:nvSpPr>
            <p:spPr bwMode="auto">
              <a:xfrm>
                <a:off x="12057" y="4470"/>
                <a:ext cx="855" cy="1506"/>
              </a:xfrm>
              <a:custGeom>
                <a:avLst/>
                <a:gdLst>
                  <a:gd name="T0" fmla="*/ 28912 w 249"/>
                  <a:gd name="T1" fmla="*/ 39617 h 457"/>
                  <a:gd name="T2" fmla="*/ 27813 w 249"/>
                  <a:gd name="T3" fmla="*/ 44340 h 457"/>
                  <a:gd name="T4" fmla="*/ 24455 w 249"/>
                  <a:gd name="T5" fmla="*/ 48129 h 457"/>
                  <a:gd name="T6" fmla="*/ 18913 w 249"/>
                  <a:gd name="T7" fmla="*/ 47164 h 457"/>
                  <a:gd name="T8" fmla="*/ 11129 w 249"/>
                  <a:gd name="T9" fmla="*/ 50963 h 457"/>
                  <a:gd name="T10" fmla="*/ 5542 w 249"/>
                  <a:gd name="T11" fmla="*/ 53788 h 457"/>
                  <a:gd name="T12" fmla="*/ 1095 w 249"/>
                  <a:gd name="T13" fmla="*/ 53788 h 457"/>
                  <a:gd name="T14" fmla="*/ 0 w 249"/>
                  <a:gd name="T15" fmla="*/ 52822 h 457"/>
                  <a:gd name="T16" fmla="*/ 2228 w 249"/>
                  <a:gd name="T17" fmla="*/ 45276 h 457"/>
                  <a:gd name="T18" fmla="*/ 3324 w 249"/>
                  <a:gd name="T19" fmla="*/ 43407 h 457"/>
                  <a:gd name="T20" fmla="*/ 1095 w 249"/>
                  <a:gd name="T21" fmla="*/ 38681 h 457"/>
                  <a:gd name="T22" fmla="*/ 2228 w 249"/>
                  <a:gd name="T23" fmla="*/ 31135 h 457"/>
                  <a:gd name="T24" fmla="*/ 3324 w 249"/>
                  <a:gd name="T25" fmla="*/ 26409 h 457"/>
                  <a:gd name="T26" fmla="*/ 4457 w 249"/>
                  <a:gd name="T27" fmla="*/ 24511 h 457"/>
                  <a:gd name="T28" fmla="*/ 2228 w 249"/>
                  <a:gd name="T29" fmla="*/ 22653 h 457"/>
                  <a:gd name="T30" fmla="*/ 4457 w 249"/>
                  <a:gd name="T31" fmla="*/ 18863 h 457"/>
                  <a:gd name="T32" fmla="*/ 7771 w 249"/>
                  <a:gd name="T33" fmla="*/ 13205 h 457"/>
                  <a:gd name="T34" fmla="*/ 7771 w 249"/>
                  <a:gd name="T35" fmla="*/ 9448 h 457"/>
                  <a:gd name="T36" fmla="*/ 9999 w 249"/>
                  <a:gd name="T37" fmla="*/ 9448 h 457"/>
                  <a:gd name="T38" fmla="*/ 16685 w 249"/>
                  <a:gd name="T39" fmla="*/ 2824 h 457"/>
                  <a:gd name="T40" fmla="*/ 19998 w 249"/>
                  <a:gd name="T41" fmla="*/ 1901 h 457"/>
                  <a:gd name="T42" fmla="*/ 23356 w 249"/>
                  <a:gd name="T43" fmla="*/ 0 h 457"/>
                  <a:gd name="T44" fmla="*/ 24455 w 249"/>
                  <a:gd name="T45" fmla="*/ 933 h 457"/>
                  <a:gd name="T46" fmla="*/ 30042 w 249"/>
                  <a:gd name="T47" fmla="*/ 0 h 457"/>
                  <a:gd name="T48" fmla="*/ 33355 w 249"/>
                  <a:gd name="T49" fmla="*/ 2824 h 457"/>
                  <a:gd name="T50" fmla="*/ 30042 w 249"/>
                  <a:gd name="T51" fmla="*/ 3757 h 457"/>
                  <a:gd name="T52" fmla="*/ 28912 w 249"/>
                  <a:gd name="T53" fmla="*/ 5658 h 457"/>
                  <a:gd name="T54" fmla="*/ 33355 w 249"/>
                  <a:gd name="T55" fmla="*/ 5658 h 457"/>
                  <a:gd name="T56" fmla="*/ 34499 w 249"/>
                  <a:gd name="T57" fmla="*/ 10381 h 457"/>
                  <a:gd name="T58" fmla="*/ 32270 w 249"/>
                  <a:gd name="T59" fmla="*/ 14141 h 457"/>
                  <a:gd name="T60" fmla="*/ 30042 w 249"/>
                  <a:gd name="T61" fmla="*/ 12272 h 457"/>
                  <a:gd name="T62" fmla="*/ 26684 w 249"/>
                  <a:gd name="T63" fmla="*/ 14141 h 457"/>
                  <a:gd name="T64" fmla="*/ 27813 w 249"/>
                  <a:gd name="T65" fmla="*/ 16029 h 457"/>
                  <a:gd name="T66" fmla="*/ 25585 w 249"/>
                  <a:gd name="T67" fmla="*/ 18863 h 457"/>
                  <a:gd name="T68" fmla="*/ 31137 w 249"/>
                  <a:gd name="T69" fmla="*/ 25477 h 457"/>
                  <a:gd name="T70" fmla="*/ 26684 w 249"/>
                  <a:gd name="T71" fmla="*/ 35857 h 457"/>
                  <a:gd name="T72" fmla="*/ 28912 w 249"/>
                  <a:gd name="T73" fmla="*/ 39617 h 45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249" h="457">
                    <a:moveTo>
                      <a:pt x="208" y="336"/>
                    </a:moveTo>
                    <a:lnTo>
                      <a:pt x="200" y="376"/>
                    </a:lnTo>
                    <a:lnTo>
                      <a:pt x="176" y="408"/>
                    </a:lnTo>
                    <a:lnTo>
                      <a:pt x="136" y="400"/>
                    </a:lnTo>
                    <a:lnTo>
                      <a:pt x="80" y="432"/>
                    </a:lnTo>
                    <a:lnTo>
                      <a:pt x="40" y="456"/>
                    </a:lnTo>
                    <a:lnTo>
                      <a:pt x="8" y="456"/>
                    </a:lnTo>
                    <a:lnTo>
                      <a:pt x="0" y="448"/>
                    </a:lnTo>
                    <a:lnTo>
                      <a:pt x="16" y="384"/>
                    </a:lnTo>
                    <a:lnTo>
                      <a:pt x="24" y="368"/>
                    </a:lnTo>
                    <a:lnTo>
                      <a:pt x="8" y="328"/>
                    </a:lnTo>
                    <a:lnTo>
                      <a:pt x="16" y="264"/>
                    </a:lnTo>
                    <a:lnTo>
                      <a:pt x="24" y="224"/>
                    </a:lnTo>
                    <a:lnTo>
                      <a:pt x="32" y="208"/>
                    </a:lnTo>
                    <a:lnTo>
                      <a:pt x="16" y="192"/>
                    </a:lnTo>
                    <a:lnTo>
                      <a:pt x="32" y="160"/>
                    </a:lnTo>
                    <a:lnTo>
                      <a:pt x="56" y="112"/>
                    </a:lnTo>
                    <a:lnTo>
                      <a:pt x="56" y="80"/>
                    </a:lnTo>
                    <a:lnTo>
                      <a:pt x="72" y="80"/>
                    </a:lnTo>
                    <a:lnTo>
                      <a:pt x="120" y="24"/>
                    </a:lnTo>
                    <a:lnTo>
                      <a:pt x="144" y="16"/>
                    </a:lnTo>
                    <a:lnTo>
                      <a:pt x="168" y="0"/>
                    </a:lnTo>
                    <a:lnTo>
                      <a:pt x="176" y="8"/>
                    </a:lnTo>
                    <a:lnTo>
                      <a:pt x="216" y="0"/>
                    </a:lnTo>
                    <a:lnTo>
                      <a:pt x="240" y="24"/>
                    </a:lnTo>
                    <a:lnTo>
                      <a:pt x="216" y="32"/>
                    </a:lnTo>
                    <a:lnTo>
                      <a:pt x="208" y="48"/>
                    </a:lnTo>
                    <a:lnTo>
                      <a:pt x="240" y="48"/>
                    </a:lnTo>
                    <a:lnTo>
                      <a:pt x="248" y="88"/>
                    </a:lnTo>
                    <a:lnTo>
                      <a:pt x="232" y="120"/>
                    </a:lnTo>
                    <a:lnTo>
                      <a:pt x="216" y="104"/>
                    </a:lnTo>
                    <a:lnTo>
                      <a:pt x="192" y="120"/>
                    </a:lnTo>
                    <a:lnTo>
                      <a:pt x="200" y="136"/>
                    </a:lnTo>
                    <a:lnTo>
                      <a:pt x="184" y="160"/>
                    </a:lnTo>
                    <a:lnTo>
                      <a:pt x="224" y="216"/>
                    </a:lnTo>
                    <a:lnTo>
                      <a:pt x="192" y="304"/>
                    </a:lnTo>
                    <a:lnTo>
                      <a:pt x="208" y="336"/>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05" name="Freeform 29"/>
              <p:cNvSpPr>
                <a:spLocks noChangeArrowheads="1"/>
              </p:cNvSpPr>
              <p:nvPr/>
            </p:nvSpPr>
            <p:spPr bwMode="auto">
              <a:xfrm>
                <a:off x="11148" y="4731"/>
                <a:ext cx="1103" cy="2002"/>
              </a:xfrm>
              <a:custGeom>
                <a:avLst/>
                <a:gdLst>
                  <a:gd name="T0" fmla="*/ 44632 w 321"/>
                  <a:gd name="T1" fmla="*/ 56056 h 609"/>
                  <a:gd name="T2" fmla="*/ 41265 w 321"/>
                  <a:gd name="T3" fmla="*/ 57946 h 609"/>
                  <a:gd name="T4" fmla="*/ 39035 w 321"/>
                  <a:gd name="T5" fmla="*/ 56983 h 609"/>
                  <a:gd name="T6" fmla="*/ 31241 w 321"/>
                  <a:gd name="T7" fmla="*/ 56983 h 609"/>
                  <a:gd name="T8" fmla="*/ 33471 w 321"/>
                  <a:gd name="T9" fmla="*/ 60711 h 609"/>
                  <a:gd name="T10" fmla="*/ 31241 w 321"/>
                  <a:gd name="T11" fmla="*/ 65402 h 609"/>
                  <a:gd name="T12" fmla="*/ 32341 w 321"/>
                  <a:gd name="T13" fmla="*/ 71010 h 609"/>
                  <a:gd name="T14" fmla="*/ 27877 w 321"/>
                  <a:gd name="T15" fmla="*/ 70060 h 609"/>
                  <a:gd name="T16" fmla="*/ 21180 w 321"/>
                  <a:gd name="T17" fmla="*/ 66322 h 609"/>
                  <a:gd name="T18" fmla="*/ 13391 w 321"/>
                  <a:gd name="T19" fmla="*/ 64485 h 609"/>
                  <a:gd name="T20" fmla="*/ 7793 w 321"/>
                  <a:gd name="T21" fmla="*/ 60711 h 609"/>
                  <a:gd name="T22" fmla="*/ 2230 w 321"/>
                  <a:gd name="T23" fmla="*/ 60711 h 609"/>
                  <a:gd name="T24" fmla="*/ 2230 w 321"/>
                  <a:gd name="T25" fmla="*/ 59794 h 609"/>
                  <a:gd name="T26" fmla="*/ 0 w 321"/>
                  <a:gd name="T27" fmla="*/ 58863 h 609"/>
                  <a:gd name="T28" fmla="*/ 1100 w 321"/>
                  <a:gd name="T29" fmla="*/ 57946 h 609"/>
                  <a:gd name="T30" fmla="*/ 1100 w 321"/>
                  <a:gd name="T31" fmla="*/ 55136 h 609"/>
                  <a:gd name="T32" fmla="*/ 0 w 321"/>
                  <a:gd name="T33" fmla="*/ 54176 h 609"/>
                  <a:gd name="T34" fmla="*/ 2230 w 321"/>
                  <a:gd name="T35" fmla="*/ 53255 h 609"/>
                  <a:gd name="T36" fmla="*/ 6694 w 321"/>
                  <a:gd name="T37" fmla="*/ 53255 h 609"/>
                  <a:gd name="T38" fmla="*/ 6694 w 321"/>
                  <a:gd name="T39" fmla="*/ 40178 h 609"/>
                  <a:gd name="T40" fmla="*/ 12257 w 321"/>
                  <a:gd name="T41" fmla="*/ 40178 h 609"/>
                  <a:gd name="T42" fmla="*/ 12257 w 321"/>
                  <a:gd name="T43" fmla="*/ 42029 h 609"/>
                  <a:gd name="T44" fmla="*/ 15621 w 321"/>
                  <a:gd name="T45" fmla="*/ 42029 h 609"/>
                  <a:gd name="T46" fmla="*/ 15621 w 321"/>
                  <a:gd name="T47" fmla="*/ 38298 h 609"/>
                  <a:gd name="T48" fmla="*/ 22314 w 321"/>
                  <a:gd name="T49" fmla="*/ 38298 h 609"/>
                  <a:gd name="T50" fmla="*/ 23414 w 321"/>
                  <a:gd name="T51" fmla="*/ 32680 h 609"/>
                  <a:gd name="T52" fmla="*/ 23414 w 321"/>
                  <a:gd name="T53" fmla="*/ 28952 h 609"/>
                  <a:gd name="T54" fmla="*/ 20084 w 321"/>
                  <a:gd name="T55" fmla="*/ 27104 h 609"/>
                  <a:gd name="T56" fmla="*/ 15621 w 321"/>
                  <a:gd name="T57" fmla="*/ 24303 h 609"/>
                  <a:gd name="T58" fmla="*/ 13391 w 321"/>
                  <a:gd name="T59" fmla="*/ 21496 h 609"/>
                  <a:gd name="T60" fmla="*/ 14487 w 321"/>
                  <a:gd name="T61" fmla="*/ 16805 h 609"/>
                  <a:gd name="T62" fmla="*/ 16720 w 321"/>
                  <a:gd name="T63" fmla="*/ 14957 h 609"/>
                  <a:gd name="T64" fmla="*/ 20084 w 321"/>
                  <a:gd name="T65" fmla="*/ 16805 h 609"/>
                  <a:gd name="T66" fmla="*/ 24548 w 321"/>
                  <a:gd name="T67" fmla="*/ 16805 h 609"/>
                  <a:gd name="T68" fmla="*/ 25644 w 321"/>
                  <a:gd name="T69" fmla="*/ 13994 h 609"/>
                  <a:gd name="T70" fmla="*/ 27877 w 321"/>
                  <a:gd name="T71" fmla="*/ 13994 h 609"/>
                  <a:gd name="T72" fmla="*/ 26778 w 321"/>
                  <a:gd name="T73" fmla="*/ 10266 h 609"/>
                  <a:gd name="T74" fmla="*/ 34571 w 321"/>
                  <a:gd name="T75" fmla="*/ 3728 h 609"/>
                  <a:gd name="T76" fmla="*/ 34571 w 321"/>
                  <a:gd name="T77" fmla="*/ 1880 h 609"/>
                  <a:gd name="T78" fmla="*/ 39035 w 321"/>
                  <a:gd name="T79" fmla="*/ 1880 h 609"/>
                  <a:gd name="T80" fmla="*/ 40168 w 321"/>
                  <a:gd name="T81" fmla="*/ 2811 h 609"/>
                  <a:gd name="T82" fmla="*/ 41265 w 321"/>
                  <a:gd name="T83" fmla="*/ 917 h 609"/>
                  <a:gd name="T84" fmla="*/ 42398 w 321"/>
                  <a:gd name="T85" fmla="*/ 0 h 609"/>
                  <a:gd name="T86" fmla="*/ 44632 w 321"/>
                  <a:gd name="T87" fmla="*/ 2811 h 609"/>
                  <a:gd name="T88" fmla="*/ 44632 w 321"/>
                  <a:gd name="T89" fmla="*/ 3728 h 609"/>
                  <a:gd name="T90" fmla="*/ 39035 w 321"/>
                  <a:gd name="T91" fmla="*/ 13077 h 609"/>
                  <a:gd name="T92" fmla="*/ 41265 w 321"/>
                  <a:gd name="T93" fmla="*/ 14957 h 609"/>
                  <a:gd name="T94" fmla="*/ 39035 w 321"/>
                  <a:gd name="T95" fmla="*/ 21496 h 609"/>
                  <a:gd name="T96" fmla="*/ 37935 w 321"/>
                  <a:gd name="T97" fmla="*/ 28952 h 609"/>
                  <a:gd name="T98" fmla="*/ 40168 w 321"/>
                  <a:gd name="T99" fmla="*/ 33643 h 609"/>
                  <a:gd name="T100" fmla="*/ 36801 w 321"/>
                  <a:gd name="T101" fmla="*/ 42029 h 609"/>
                  <a:gd name="T102" fmla="*/ 37935 w 321"/>
                  <a:gd name="T103" fmla="*/ 43909 h 609"/>
                  <a:gd name="T104" fmla="*/ 40168 w 321"/>
                  <a:gd name="T105" fmla="*/ 50444 h 609"/>
                  <a:gd name="T106" fmla="*/ 44632 w 321"/>
                  <a:gd name="T107" fmla="*/ 56056 h 60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21" h="609">
                    <a:moveTo>
                      <a:pt x="320" y="480"/>
                    </a:moveTo>
                    <a:lnTo>
                      <a:pt x="296" y="496"/>
                    </a:lnTo>
                    <a:lnTo>
                      <a:pt x="280" y="488"/>
                    </a:lnTo>
                    <a:lnTo>
                      <a:pt x="224" y="488"/>
                    </a:lnTo>
                    <a:lnTo>
                      <a:pt x="240" y="520"/>
                    </a:lnTo>
                    <a:lnTo>
                      <a:pt x="224" y="560"/>
                    </a:lnTo>
                    <a:lnTo>
                      <a:pt x="232" y="608"/>
                    </a:lnTo>
                    <a:lnTo>
                      <a:pt x="200" y="600"/>
                    </a:lnTo>
                    <a:lnTo>
                      <a:pt x="152" y="568"/>
                    </a:lnTo>
                    <a:lnTo>
                      <a:pt x="96" y="552"/>
                    </a:lnTo>
                    <a:lnTo>
                      <a:pt x="56" y="520"/>
                    </a:lnTo>
                    <a:lnTo>
                      <a:pt x="16" y="520"/>
                    </a:lnTo>
                    <a:lnTo>
                      <a:pt x="16" y="512"/>
                    </a:lnTo>
                    <a:lnTo>
                      <a:pt x="0" y="504"/>
                    </a:lnTo>
                    <a:lnTo>
                      <a:pt x="8" y="496"/>
                    </a:lnTo>
                    <a:lnTo>
                      <a:pt x="8" y="472"/>
                    </a:lnTo>
                    <a:lnTo>
                      <a:pt x="0" y="464"/>
                    </a:lnTo>
                    <a:lnTo>
                      <a:pt x="16" y="456"/>
                    </a:lnTo>
                    <a:lnTo>
                      <a:pt x="48" y="456"/>
                    </a:lnTo>
                    <a:lnTo>
                      <a:pt x="48" y="344"/>
                    </a:lnTo>
                    <a:lnTo>
                      <a:pt x="88" y="344"/>
                    </a:lnTo>
                    <a:lnTo>
                      <a:pt x="88" y="360"/>
                    </a:lnTo>
                    <a:lnTo>
                      <a:pt x="112" y="360"/>
                    </a:lnTo>
                    <a:lnTo>
                      <a:pt x="112" y="328"/>
                    </a:lnTo>
                    <a:lnTo>
                      <a:pt x="160" y="328"/>
                    </a:lnTo>
                    <a:lnTo>
                      <a:pt x="168" y="280"/>
                    </a:lnTo>
                    <a:lnTo>
                      <a:pt x="168" y="248"/>
                    </a:lnTo>
                    <a:lnTo>
                      <a:pt x="144" y="232"/>
                    </a:lnTo>
                    <a:lnTo>
                      <a:pt x="112" y="208"/>
                    </a:lnTo>
                    <a:lnTo>
                      <a:pt x="96" y="184"/>
                    </a:lnTo>
                    <a:lnTo>
                      <a:pt x="104" y="144"/>
                    </a:lnTo>
                    <a:lnTo>
                      <a:pt x="120" y="128"/>
                    </a:lnTo>
                    <a:lnTo>
                      <a:pt x="144" y="144"/>
                    </a:lnTo>
                    <a:lnTo>
                      <a:pt x="176" y="144"/>
                    </a:lnTo>
                    <a:lnTo>
                      <a:pt x="184" y="120"/>
                    </a:lnTo>
                    <a:lnTo>
                      <a:pt x="200" y="120"/>
                    </a:lnTo>
                    <a:lnTo>
                      <a:pt x="192" y="88"/>
                    </a:lnTo>
                    <a:lnTo>
                      <a:pt x="248" y="32"/>
                    </a:lnTo>
                    <a:lnTo>
                      <a:pt x="248" y="16"/>
                    </a:lnTo>
                    <a:lnTo>
                      <a:pt x="280" y="16"/>
                    </a:lnTo>
                    <a:lnTo>
                      <a:pt x="288" y="24"/>
                    </a:lnTo>
                    <a:lnTo>
                      <a:pt x="296" y="8"/>
                    </a:lnTo>
                    <a:lnTo>
                      <a:pt x="304" y="0"/>
                    </a:lnTo>
                    <a:lnTo>
                      <a:pt x="320" y="24"/>
                    </a:lnTo>
                    <a:lnTo>
                      <a:pt x="320" y="32"/>
                    </a:lnTo>
                    <a:lnTo>
                      <a:pt x="280" y="112"/>
                    </a:lnTo>
                    <a:lnTo>
                      <a:pt x="296" y="128"/>
                    </a:lnTo>
                    <a:lnTo>
                      <a:pt x="280" y="184"/>
                    </a:lnTo>
                    <a:lnTo>
                      <a:pt x="272" y="248"/>
                    </a:lnTo>
                    <a:lnTo>
                      <a:pt x="288" y="288"/>
                    </a:lnTo>
                    <a:lnTo>
                      <a:pt x="264" y="360"/>
                    </a:lnTo>
                    <a:lnTo>
                      <a:pt x="272" y="376"/>
                    </a:lnTo>
                    <a:lnTo>
                      <a:pt x="288" y="432"/>
                    </a:lnTo>
                    <a:lnTo>
                      <a:pt x="320" y="480"/>
                    </a:lnTo>
                  </a:path>
                </a:pathLst>
              </a:custGeom>
              <a:solidFill>
                <a:srgbClr val="0277AC"/>
              </a:solidFill>
              <a:ln w="9525">
                <a:solidFill>
                  <a:srgbClr val="FFFFFF">
                    <a:alpha val="54117"/>
                  </a:srgbClr>
                </a:solidFill>
                <a:bevel/>
              </a:ln>
            </p:spPr>
            <p:txBody>
              <a:bodyPr/>
              <a:lstStyle/>
              <a:p>
                <a:endParaRPr lang="zh-CN" altLang="en-US"/>
              </a:p>
            </p:txBody>
          </p:sp>
          <p:sp>
            <p:nvSpPr>
              <p:cNvPr id="36906" name="Freeform 30"/>
              <p:cNvSpPr>
                <a:spLocks noChangeArrowheads="1"/>
              </p:cNvSpPr>
              <p:nvPr/>
            </p:nvSpPr>
            <p:spPr bwMode="auto">
              <a:xfrm>
                <a:off x="10942" y="4758"/>
                <a:ext cx="603" cy="1031"/>
              </a:xfrm>
              <a:custGeom>
                <a:avLst/>
                <a:gdLst>
                  <a:gd name="T0" fmla="*/ 23721 w 177"/>
                  <a:gd name="T1" fmla="*/ 14114 h 313"/>
                  <a:gd name="T2" fmla="*/ 21551 w 177"/>
                  <a:gd name="T3" fmla="*/ 12260 h 313"/>
                  <a:gd name="T4" fmla="*/ 16169 w 177"/>
                  <a:gd name="T5" fmla="*/ 10363 h 313"/>
                  <a:gd name="T6" fmla="*/ 18301 w 177"/>
                  <a:gd name="T7" fmla="*/ 3755 h 313"/>
                  <a:gd name="T8" fmla="*/ 17235 w 177"/>
                  <a:gd name="T9" fmla="*/ 0 h 313"/>
                  <a:gd name="T10" fmla="*/ 9692 w 177"/>
                  <a:gd name="T11" fmla="*/ 6575 h 313"/>
                  <a:gd name="T12" fmla="*/ 8623 w 177"/>
                  <a:gd name="T13" fmla="*/ 13182 h 313"/>
                  <a:gd name="T14" fmla="*/ 5372 w 177"/>
                  <a:gd name="T15" fmla="*/ 14114 h 313"/>
                  <a:gd name="T16" fmla="*/ 1066 w 177"/>
                  <a:gd name="T17" fmla="*/ 16937 h 313"/>
                  <a:gd name="T18" fmla="*/ 0 w 177"/>
                  <a:gd name="T19" fmla="*/ 19770 h 313"/>
                  <a:gd name="T20" fmla="*/ 5372 w 177"/>
                  <a:gd name="T21" fmla="*/ 22590 h 313"/>
                  <a:gd name="T22" fmla="*/ 5372 w 177"/>
                  <a:gd name="T23" fmla="*/ 26378 h 313"/>
                  <a:gd name="T24" fmla="*/ 6487 w 177"/>
                  <a:gd name="T25" fmla="*/ 28265 h 313"/>
                  <a:gd name="T26" fmla="*/ 5372 w 177"/>
                  <a:gd name="T27" fmla="*/ 31095 h 313"/>
                  <a:gd name="T28" fmla="*/ 6487 w 177"/>
                  <a:gd name="T29" fmla="*/ 32952 h 313"/>
                  <a:gd name="T30" fmla="*/ 12929 w 177"/>
                  <a:gd name="T31" fmla="*/ 36737 h 313"/>
                  <a:gd name="T32" fmla="*/ 15099 w 177"/>
                  <a:gd name="T33" fmla="*/ 36737 h 313"/>
                  <a:gd name="T34" fmla="*/ 15099 w 177"/>
                  <a:gd name="T35" fmla="*/ 34850 h 313"/>
                  <a:gd name="T36" fmla="*/ 17235 w 177"/>
                  <a:gd name="T37" fmla="*/ 32017 h 313"/>
                  <a:gd name="T38" fmla="*/ 16169 w 177"/>
                  <a:gd name="T39" fmla="*/ 28265 h 313"/>
                  <a:gd name="T40" fmla="*/ 15099 w 177"/>
                  <a:gd name="T41" fmla="*/ 28265 h 313"/>
                  <a:gd name="T42" fmla="*/ 13998 w 177"/>
                  <a:gd name="T43" fmla="*/ 24477 h 313"/>
                  <a:gd name="T44" fmla="*/ 16169 w 177"/>
                  <a:gd name="T45" fmla="*/ 24477 h 313"/>
                  <a:gd name="T46" fmla="*/ 16169 w 177"/>
                  <a:gd name="T47" fmla="*/ 20722 h 313"/>
                  <a:gd name="T48" fmla="*/ 18301 w 177"/>
                  <a:gd name="T49" fmla="*/ 20722 h 313"/>
                  <a:gd name="T50" fmla="*/ 20485 w 177"/>
                  <a:gd name="T51" fmla="*/ 21658 h 313"/>
                  <a:gd name="T52" fmla="*/ 21551 w 177"/>
                  <a:gd name="T53" fmla="*/ 16015 h 313"/>
                  <a:gd name="T54" fmla="*/ 23721 w 177"/>
                  <a:gd name="T55" fmla="*/ 14114 h 3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77" h="313">
                    <a:moveTo>
                      <a:pt x="176" y="120"/>
                    </a:moveTo>
                    <a:lnTo>
                      <a:pt x="160" y="104"/>
                    </a:lnTo>
                    <a:lnTo>
                      <a:pt x="120" y="88"/>
                    </a:lnTo>
                    <a:lnTo>
                      <a:pt x="136" y="32"/>
                    </a:lnTo>
                    <a:lnTo>
                      <a:pt x="128" y="0"/>
                    </a:lnTo>
                    <a:lnTo>
                      <a:pt x="72" y="56"/>
                    </a:lnTo>
                    <a:lnTo>
                      <a:pt x="64" y="112"/>
                    </a:lnTo>
                    <a:lnTo>
                      <a:pt x="40" y="120"/>
                    </a:lnTo>
                    <a:lnTo>
                      <a:pt x="8" y="144"/>
                    </a:lnTo>
                    <a:lnTo>
                      <a:pt x="0" y="168"/>
                    </a:lnTo>
                    <a:lnTo>
                      <a:pt x="40" y="192"/>
                    </a:lnTo>
                    <a:lnTo>
                      <a:pt x="40" y="224"/>
                    </a:lnTo>
                    <a:lnTo>
                      <a:pt x="48" y="240"/>
                    </a:lnTo>
                    <a:lnTo>
                      <a:pt x="40" y="264"/>
                    </a:lnTo>
                    <a:lnTo>
                      <a:pt x="48" y="280"/>
                    </a:lnTo>
                    <a:lnTo>
                      <a:pt x="96" y="312"/>
                    </a:lnTo>
                    <a:lnTo>
                      <a:pt x="112" y="312"/>
                    </a:lnTo>
                    <a:lnTo>
                      <a:pt x="112" y="296"/>
                    </a:lnTo>
                    <a:lnTo>
                      <a:pt x="128" y="272"/>
                    </a:lnTo>
                    <a:lnTo>
                      <a:pt x="120" y="240"/>
                    </a:lnTo>
                    <a:lnTo>
                      <a:pt x="112" y="240"/>
                    </a:lnTo>
                    <a:lnTo>
                      <a:pt x="104" y="208"/>
                    </a:lnTo>
                    <a:lnTo>
                      <a:pt x="120" y="208"/>
                    </a:lnTo>
                    <a:lnTo>
                      <a:pt x="120" y="176"/>
                    </a:lnTo>
                    <a:lnTo>
                      <a:pt x="136" y="176"/>
                    </a:lnTo>
                    <a:lnTo>
                      <a:pt x="152" y="184"/>
                    </a:lnTo>
                    <a:lnTo>
                      <a:pt x="160" y="136"/>
                    </a:lnTo>
                    <a:lnTo>
                      <a:pt x="176" y="120"/>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07" name="Freeform 31"/>
              <p:cNvSpPr>
                <a:spLocks noChangeArrowheads="1"/>
              </p:cNvSpPr>
              <p:nvPr/>
            </p:nvSpPr>
            <p:spPr bwMode="auto">
              <a:xfrm>
                <a:off x="8784" y="3733"/>
                <a:ext cx="2944" cy="2765"/>
              </a:xfrm>
              <a:custGeom>
                <a:avLst/>
                <a:gdLst>
                  <a:gd name="T0" fmla="*/ 88011 w 857"/>
                  <a:gd name="T1" fmla="*/ 56079 h 841"/>
                  <a:gd name="T2" fmla="*/ 93569 w 857"/>
                  <a:gd name="T3" fmla="*/ 62619 h 841"/>
                  <a:gd name="T4" fmla="*/ 93569 w 857"/>
                  <a:gd name="T5" fmla="*/ 66347 h 841"/>
                  <a:gd name="T6" fmla="*/ 102480 w 857"/>
                  <a:gd name="T7" fmla="*/ 72919 h 841"/>
                  <a:gd name="T8" fmla="*/ 103610 w 857"/>
                  <a:gd name="T9" fmla="*/ 70121 h 841"/>
                  <a:gd name="T10" fmla="*/ 104710 w 857"/>
                  <a:gd name="T11" fmla="*/ 64499 h 841"/>
                  <a:gd name="T12" fmla="*/ 102480 w 857"/>
                  <a:gd name="T13" fmla="*/ 60771 h 841"/>
                  <a:gd name="T14" fmla="*/ 104710 w 857"/>
                  <a:gd name="T15" fmla="*/ 57010 h 841"/>
                  <a:gd name="T16" fmla="*/ 111401 w 857"/>
                  <a:gd name="T17" fmla="*/ 59808 h 841"/>
                  <a:gd name="T18" fmla="*/ 119223 w 857"/>
                  <a:gd name="T19" fmla="*/ 64499 h 841"/>
                  <a:gd name="T20" fmla="*/ 111401 w 857"/>
                  <a:gd name="T21" fmla="*/ 73850 h 841"/>
                  <a:gd name="T22" fmla="*/ 108073 w 857"/>
                  <a:gd name="T23" fmla="*/ 77578 h 841"/>
                  <a:gd name="T24" fmla="*/ 102480 w 857"/>
                  <a:gd name="T25" fmla="*/ 75697 h 841"/>
                  <a:gd name="T26" fmla="*/ 98018 w 857"/>
                  <a:gd name="T27" fmla="*/ 87849 h 841"/>
                  <a:gd name="T28" fmla="*/ 96932 w 857"/>
                  <a:gd name="T29" fmla="*/ 90656 h 841"/>
                  <a:gd name="T30" fmla="*/ 95788 w 857"/>
                  <a:gd name="T31" fmla="*/ 94431 h 841"/>
                  <a:gd name="T32" fmla="*/ 88011 w 857"/>
                  <a:gd name="T33" fmla="*/ 98159 h 841"/>
                  <a:gd name="T34" fmla="*/ 82453 w 857"/>
                  <a:gd name="T35" fmla="*/ 88809 h 841"/>
                  <a:gd name="T36" fmla="*/ 80223 w 857"/>
                  <a:gd name="T37" fmla="*/ 87849 h 841"/>
                  <a:gd name="T38" fmla="*/ 73542 w 857"/>
                  <a:gd name="T39" fmla="*/ 81306 h 841"/>
                  <a:gd name="T40" fmla="*/ 69083 w 857"/>
                  <a:gd name="T41" fmla="*/ 83200 h 841"/>
                  <a:gd name="T42" fmla="*/ 67939 w 857"/>
                  <a:gd name="T43" fmla="*/ 85048 h 841"/>
                  <a:gd name="T44" fmla="*/ 66853 w 857"/>
                  <a:gd name="T45" fmla="*/ 90656 h 841"/>
                  <a:gd name="T46" fmla="*/ 64620 w 857"/>
                  <a:gd name="T47" fmla="*/ 86928 h 841"/>
                  <a:gd name="T48" fmla="*/ 57932 w 857"/>
                  <a:gd name="T49" fmla="*/ 85048 h 841"/>
                  <a:gd name="T50" fmla="*/ 56833 w 857"/>
                  <a:gd name="T51" fmla="*/ 80389 h 841"/>
                  <a:gd name="T52" fmla="*/ 63490 w 857"/>
                  <a:gd name="T53" fmla="*/ 81306 h 841"/>
                  <a:gd name="T54" fmla="*/ 67939 w 857"/>
                  <a:gd name="T55" fmla="*/ 78508 h 841"/>
                  <a:gd name="T56" fmla="*/ 64620 w 857"/>
                  <a:gd name="T57" fmla="*/ 74767 h 841"/>
                  <a:gd name="T58" fmla="*/ 70168 w 857"/>
                  <a:gd name="T59" fmla="*/ 70121 h 841"/>
                  <a:gd name="T60" fmla="*/ 74627 w 857"/>
                  <a:gd name="T61" fmla="*/ 66347 h 841"/>
                  <a:gd name="T62" fmla="*/ 66853 w 857"/>
                  <a:gd name="T63" fmla="*/ 47659 h 841"/>
                  <a:gd name="T64" fmla="*/ 56833 w 857"/>
                  <a:gd name="T65" fmla="*/ 42080 h 841"/>
                  <a:gd name="T66" fmla="*/ 47911 w 857"/>
                  <a:gd name="T67" fmla="*/ 39269 h 841"/>
                  <a:gd name="T68" fmla="*/ 39000 w 857"/>
                  <a:gd name="T69" fmla="*/ 36461 h 841"/>
                  <a:gd name="T70" fmla="*/ 28983 w 857"/>
                  <a:gd name="T71" fmla="*/ 39269 h 841"/>
                  <a:gd name="T72" fmla="*/ 6692 w 857"/>
                  <a:gd name="T73" fmla="*/ 28038 h 841"/>
                  <a:gd name="T74" fmla="*/ 1096 w 857"/>
                  <a:gd name="T75" fmla="*/ 18691 h 841"/>
                  <a:gd name="T76" fmla="*/ 6692 w 857"/>
                  <a:gd name="T77" fmla="*/ 17770 h 841"/>
                  <a:gd name="T78" fmla="*/ 15613 w 857"/>
                  <a:gd name="T79" fmla="*/ 11231 h 841"/>
                  <a:gd name="T80" fmla="*/ 18928 w 857"/>
                  <a:gd name="T81" fmla="*/ 7460 h 841"/>
                  <a:gd name="T82" fmla="*/ 30079 w 857"/>
                  <a:gd name="T83" fmla="*/ 3728 h 841"/>
                  <a:gd name="T84" fmla="*/ 32312 w 857"/>
                  <a:gd name="T85" fmla="*/ 0 h 841"/>
                  <a:gd name="T86" fmla="*/ 40089 w 857"/>
                  <a:gd name="T87" fmla="*/ 8420 h 841"/>
                  <a:gd name="T88" fmla="*/ 41233 w 857"/>
                  <a:gd name="T89" fmla="*/ 14959 h 841"/>
                  <a:gd name="T90" fmla="*/ 43463 w 857"/>
                  <a:gd name="T91" fmla="*/ 20581 h 841"/>
                  <a:gd name="T92" fmla="*/ 46778 w 857"/>
                  <a:gd name="T93" fmla="*/ 22429 h 841"/>
                  <a:gd name="T94" fmla="*/ 56833 w 857"/>
                  <a:gd name="T95" fmla="*/ 20581 h 841"/>
                  <a:gd name="T96" fmla="*/ 56833 w 857"/>
                  <a:gd name="T97" fmla="*/ 25230 h 841"/>
                  <a:gd name="T98" fmla="*/ 53469 w 857"/>
                  <a:gd name="T99" fmla="*/ 29919 h 841"/>
                  <a:gd name="T100" fmla="*/ 60161 w 857"/>
                  <a:gd name="T101" fmla="*/ 38309 h 841"/>
                  <a:gd name="T102" fmla="*/ 69083 w 857"/>
                  <a:gd name="T103" fmla="*/ 40189 h 841"/>
                  <a:gd name="T104" fmla="*/ 73542 w 857"/>
                  <a:gd name="T105" fmla="*/ 37388 h 841"/>
                  <a:gd name="T106" fmla="*/ 81319 w 857"/>
                  <a:gd name="T107" fmla="*/ 37388 h 841"/>
                  <a:gd name="T108" fmla="*/ 86915 w 857"/>
                  <a:gd name="T109" fmla="*/ 39269 h 841"/>
                  <a:gd name="T110" fmla="*/ 80223 w 857"/>
                  <a:gd name="T111" fmla="*/ 45808 h 841"/>
                  <a:gd name="T112" fmla="*/ 83548 w 857"/>
                  <a:gd name="T113" fmla="*/ 53268 h 84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857" h="841">
                    <a:moveTo>
                      <a:pt x="640" y="456"/>
                    </a:moveTo>
                    <a:lnTo>
                      <a:pt x="632" y="480"/>
                    </a:lnTo>
                    <a:lnTo>
                      <a:pt x="680" y="504"/>
                    </a:lnTo>
                    <a:lnTo>
                      <a:pt x="672" y="536"/>
                    </a:lnTo>
                    <a:lnTo>
                      <a:pt x="680" y="544"/>
                    </a:lnTo>
                    <a:lnTo>
                      <a:pt x="672" y="568"/>
                    </a:lnTo>
                    <a:lnTo>
                      <a:pt x="680" y="592"/>
                    </a:lnTo>
                    <a:lnTo>
                      <a:pt x="736" y="624"/>
                    </a:lnTo>
                    <a:lnTo>
                      <a:pt x="744" y="624"/>
                    </a:lnTo>
                    <a:lnTo>
                      <a:pt x="744" y="600"/>
                    </a:lnTo>
                    <a:lnTo>
                      <a:pt x="760" y="584"/>
                    </a:lnTo>
                    <a:lnTo>
                      <a:pt x="752" y="552"/>
                    </a:lnTo>
                    <a:lnTo>
                      <a:pt x="736" y="544"/>
                    </a:lnTo>
                    <a:lnTo>
                      <a:pt x="736" y="520"/>
                    </a:lnTo>
                    <a:lnTo>
                      <a:pt x="752" y="520"/>
                    </a:lnTo>
                    <a:lnTo>
                      <a:pt x="752" y="488"/>
                    </a:lnTo>
                    <a:lnTo>
                      <a:pt x="784" y="496"/>
                    </a:lnTo>
                    <a:lnTo>
                      <a:pt x="800" y="512"/>
                    </a:lnTo>
                    <a:lnTo>
                      <a:pt x="840" y="536"/>
                    </a:lnTo>
                    <a:lnTo>
                      <a:pt x="856" y="552"/>
                    </a:lnTo>
                    <a:lnTo>
                      <a:pt x="848" y="632"/>
                    </a:lnTo>
                    <a:lnTo>
                      <a:pt x="800" y="632"/>
                    </a:lnTo>
                    <a:lnTo>
                      <a:pt x="800" y="664"/>
                    </a:lnTo>
                    <a:lnTo>
                      <a:pt x="776" y="664"/>
                    </a:lnTo>
                    <a:lnTo>
                      <a:pt x="776" y="648"/>
                    </a:lnTo>
                    <a:lnTo>
                      <a:pt x="736" y="648"/>
                    </a:lnTo>
                    <a:lnTo>
                      <a:pt x="736" y="760"/>
                    </a:lnTo>
                    <a:lnTo>
                      <a:pt x="704" y="752"/>
                    </a:lnTo>
                    <a:lnTo>
                      <a:pt x="688" y="768"/>
                    </a:lnTo>
                    <a:lnTo>
                      <a:pt x="696" y="776"/>
                    </a:lnTo>
                    <a:lnTo>
                      <a:pt x="704" y="800"/>
                    </a:lnTo>
                    <a:lnTo>
                      <a:pt x="688" y="808"/>
                    </a:lnTo>
                    <a:lnTo>
                      <a:pt x="664" y="840"/>
                    </a:lnTo>
                    <a:lnTo>
                      <a:pt x="632" y="840"/>
                    </a:lnTo>
                    <a:lnTo>
                      <a:pt x="608" y="816"/>
                    </a:lnTo>
                    <a:lnTo>
                      <a:pt x="592" y="760"/>
                    </a:lnTo>
                    <a:lnTo>
                      <a:pt x="592" y="752"/>
                    </a:lnTo>
                    <a:lnTo>
                      <a:pt x="576" y="752"/>
                    </a:lnTo>
                    <a:lnTo>
                      <a:pt x="544" y="736"/>
                    </a:lnTo>
                    <a:lnTo>
                      <a:pt x="528" y="696"/>
                    </a:lnTo>
                    <a:lnTo>
                      <a:pt x="512" y="704"/>
                    </a:lnTo>
                    <a:lnTo>
                      <a:pt x="496" y="712"/>
                    </a:lnTo>
                    <a:lnTo>
                      <a:pt x="488" y="712"/>
                    </a:lnTo>
                    <a:lnTo>
                      <a:pt x="488" y="728"/>
                    </a:lnTo>
                    <a:lnTo>
                      <a:pt x="496" y="752"/>
                    </a:lnTo>
                    <a:lnTo>
                      <a:pt x="480" y="776"/>
                    </a:lnTo>
                    <a:lnTo>
                      <a:pt x="448" y="768"/>
                    </a:lnTo>
                    <a:lnTo>
                      <a:pt x="464" y="744"/>
                    </a:lnTo>
                    <a:lnTo>
                      <a:pt x="448" y="736"/>
                    </a:lnTo>
                    <a:lnTo>
                      <a:pt x="416" y="728"/>
                    </a:lnTo>
                    <a:lnTo>
                      <a:pt x="400" y="704"/>
                    </a:lnTo>
                    <a:lnTo>
                      <a:pt x="408" y="688"/>
                    </a:lnTo>
                    <a:lnTo>
                      <a:pt x="424" y="688"/>
                    </a:lnTo>
                    <a:lnTo>
                      <a:pt x="456" y="696"/>
                    </a:lnTo>
                    <a:lnTo>
                      <a:pt x="480" y="680"/>
                    </a:lnTo>
                    <a:lnTo>
                      <a:pt x="488" y="672"/>
                    </a:lnTo>
                    <a:lnTo>
                      <a:pt x="464" y="664"/>
                    </a:lnTo>
                    <a:lnTo>
                      <a:pt x="464" y="640"/>
                    </a:lnTo>
                    <a:lnTo>
                      <a:pt x="496" y="632"/>
                    </a:lnTo>
                    <a:lnTo>
                      <a:pt x="504" y="600"/>
                    </a:lnTo>
                    <a:lnTo>
                      <a:pt x="528" y="600"/>
                    </a:lnTo>
                    <a:lnTo>
                      <a:pt x="536" y="568"/>
                    </a:lnTo>
                    <a:lnTo>
                      <a:pt x="520" y="480"/>
                    </a:lnTo>
                    <a:lnTo>
                      <a:pt x="480" y="408"/>
                    </a:lnTo>
                    <a:lnTo>
                      <a:pt x="480" y="432"/>
                    </a:lnTo>
                    <a:lnTo>
                      <a:pt x="408" y="360"/>
                    </a:lnTo>
                    <a:lnTo>
                      <a:pt x="392" y="368"/>
                    </a:lnTo>
                    <a:lnTo>
                      <a:pt x="344" y="336"/>
                    </a:lnTo>
                    <a:lnTo>
                      <a:pt x="336" y="304"/>
                    </a:lnTo>
                    <a:lnTo>
                      <a:pt x="280" y="312"/>
                    </a:lnTo>
                    <a:lnTo>
                      <a:pt x="224" y="288"/>
                    </a:lnTo>
                    <a:lnTo>
                      <a:pt x="208" y="336"/>
                    </a:lnTo>
                    <a:lnTo>
                      <a:pt x="136" y="280"/>
                    </a:lnTo>
                    <a:lnTo>
                      <a:pt x="48" y="240"/>
                    </a:lnTo>
                    <a:lnTo>
                      <a:pt x="0" y="248"/>
                    </a:lnTo>
                    <a:lnTo>
                      <a:pt x="8" y="160"/>
                    </a:lnTo>
                    <a:lnTo>
                      <a:pt x="24" y="144"/>
                    </a:lnTo>
                    <a:lnTo>
                      <a:pt x="48" y="152"/>
                    </a:lnTo>
                    <a:lnTo>
                      <a:pt x="72" y="112"/>
                    </a:lnTo>
                    <a:lnTo>
                      <a:pt x="112" y="96"/>
                    </a:lnTo>
                    <a:lnTo>
                      <a:pt x="136" y="80"/>
                    </a:lnTo>
                    <a:lnTo>
                      <a:pt x="136" y="64"/>
                    </a:lnTo>
                    <a:lnTo>
                      <a:pt x="200" y="64"/>
                    </a:lnTo>
                    <a:lnTo>
                      <a:pt x="216" y="32"/>
                    </a:lnTo>
                    <a:lnTo>
                      <a:pt x="216" y="8"/>
                    </a:lnTo>
                    <a:lnTo>
                      <a:pt x="232" y="0"/>
                    </a:lnTo>
                    <a:lnTo>
                      <a:pt x="272" y="8"/>
                    </a:lnTo>
                    <a:lnTo>
                      <a:pt x="288" y="72"/>
                    </a:lnTo>
                    <a:lnTo>
                      <a:pt x="288" y="104"/>
                    </a:lnTo>
                    <a:lnTo>
                      <a:pt x="296" y="128"/>
                    </a:lnTo>
                    <a:lnTo>
                      <a:pt x="312" y="152"/>
                    </a:lnTo>
                    <a:lnTo>
                      <a:pt x="312" y="176"/>
                    </a:lnTo>
                    <a:lnTo>
                      <a:pt x="320" y="192"/>
                    </a:lnTo>
                    <a:lnTo>
                      <a:pt x="336" y="192"/>
                    </a:lnTo>
                    <a:lnTo>
                      <a:pt x="336" y="168"/>
                    </a:lnTo>
                    <a:lnTo>
                      <a:pt x="408" y="176"/>
                    </a:lnTo>
                    <a:lnTo>
                      <a:pt x="408" y="200"/>
                    </a:lnTo>
                    <a:lnTo>
                      <a:pt x="408" y="216"/>
                    </a:lnTo>
                    <a:lnTo>
                      <a:pt x="384" y="240"/>
                    </a:lnTo>
                    <a:lnTo>
                      <a:pt x="384" y="256"/>
                    </a:lnTo>
                    <a:lnTo>
                      <a:pt x="432" y="304"/>
                    </a:lnTo>
                    <a:lnTo>
                      <a:pt x="432" y="328"/>
                    </a:lnTo>
                    <a:lnTo>
                      <a:pt x="488" y="352"/>
                    </a:lnTo>
                    <a:lnTo>
                      <a:pt x="496" y="344"/>
                    </a:lnTo>
                    <a:lnTo>
                      <a:pt x="488" y="312"/>
                    </a:lnTo>
                    <a:lnTo>
                      <a:pt x="528" y="320"/>
                    </a:lnTo>
                    <a:lnTo>
                      <a:pt x="536" y="320"/>
                    </a:lnTo>
                    <a:lnTo>
                      <a:pt x="584" y="320"/>
                    </a:lnTo>
                    <a:lnTo>
                      <a:pt x="608" y="312"/>
                    </a:lnTo>
                    <a:lnTo>
                      <a:pt x="624" y="336"/>
                    </a:lnTo>
                    <a:lnTo>
                      <a:pt x="584" y="368"/>
                    </a:lnTo>
                    <a:lnTo>
                      <a:pt x="576" y="392"/>
                    </a:lnTo>
                    <a:lnTo>
                      <a:pt x="568" y="416"/>
                    </a:lnTo>
                    <a:lnTo>
                      <a:pt x="600" y="456"/>
                    </a:lnTo>
                    <a:lnTo>
                      <a:pt x="640" y="456"/>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08" name="Freeform 32"/>
              <p:cNvSpPr>
                <a:spLocks noChangeArrowheads="1"/>
              </p:cNvSpPr>
              <p:nvPr/>
            </p:nvSpPr>
            <p:spPr bwMode="auto">
              <a:xfrm>
                <a:off x="9719" y="1179"/>
                <a:ext cx="4891" cy="4084"/>
              </a:xfrm>
              <a:custGeom>
                <a:avLst/>
                <a:gdLst>
                  <a:gd name="T0" fmla="*/ 2228 w 1425"/>
                  <a:gd name="T1" fmla="*/ 105105 h 1241"/>
                  <a:gd name="T2" fmla="*/ 8893 w 1425"/>
                  <a:gd name="T3" fmla="*/ 113552 h 1241"/>
                  <a:gd name="T4" fmla="*/ 18884 w 1425"/>
                  <a:gd name="T5" fmla="*/ 114474 h 1241"/>
                  <a:gd name="T6" fmla="*/ 15528 w 1425"/>
                  <a:gd name="T7" fmla="*/ 121036 h 1241"/>
                  <a:gd name="T8" fmla="*/ 29957 w 1425"/>
                  <a:gd name="T9" fmla="*/ 132301 h 1241"/>
                  <a:gd name="T10" fmla="*/ 35541 w 1425"/>
                  <a:gd name="T11" fmla="*/ 128552 h 1241"/>
                  <a:gd name="T12" fmla="*/ 48841 w 1425"/>
                  <a:gd name="T13" fmla="*/ 129484 h 1241"/>
                  <a:gd name="T14" fmla="*/ 45533 w 1425"/>
                  <a:gd name="T15" fmla="*/ 145448 h 1241"/>
                  <a:gd name="T16" fmla="*/ 58833 w 1425"/>
                  <a:gd name="T17" fmla="*/ 140745 h 1241"/>
                  <a:gd name="T18" fmla="*/ 68821 w 1425"/>
                  <a:gd name="T19" fmla="*/ 130405 h 1241"/>
                  <a:gd name="T20" fmla="*/ 77717 w 1425"/>
                  <a:gd name="T21" fmla="*/ 143562 h 1241"/>
                  <a:gd name="T22" fmla="*/ 83253 w 1425"/>
                  <a:gd name="T23" fmla="*/ 140745 h 1241"/>
                  <a:gd name="T24" fmla="*/ 92146 w 1425"/>
                  <a:gd name="T25" fmla="*/ 130405 h 1241"/>
                  <a:gd name="T26" fmla="*/ 97683 w 1425"/>
                  <a:gd name="T27" fmla="*/ 128552 h 1241"/>
                  <a:gd name="T28" fmla="*/ 102138 w 1425"/>
                  <a:gd name="T29" fmla="*/ 128552 h 1241"/>
                  <a:gd name="T30" fmla="*/ 111031 w 1425"/>
                  <a:gd name="T31" fmla="*/ 120104 h 1241"/>
                  <a:gd name="T32" fmla="*/ 119890 w 1425"/>
                  <a:gd name="T33" fmla="*/ 118219 h 1241"/>
                  <a:gd name="T34" fmla="*/ 124331 w 1425"/>
                  <a:gd name="T35" fmla="*/ 107922 h 1241"/>
                  <a:gd name="T36" fmla="*/ 131010 w 1425"/>
                  <a:gd name="T37" fmla="*/ 106957 h 1241"/>
                  <a:gd name="T38" fmla="*/ 139907 w 1425"/>
                  <a:gd name="T39" fmla="*/ 102288 h 1241"/>
                  <a:gd name="T40" fmla="*/ 150979 w 1425"/>
                  <a:gd name="T41" fmla="*/ 96657 h 1241"/>
                  <a:gd name="T42" fmla="*/ 156563 w 1425"/>
                  <a:gd name="T43" fmla="*/ 107922 h 1241"/>
                  <a:gd name="T44" fmla="*/ 163195 w 1425"/>
                  <a:gd name="T45" fmla="*/ 104140 h 1241"/>
                  <a:gd name="T46" fmla="*/ 163195 w 1425"/>
                  <a:gd name="T47" fmla="*/ 98510 h 1241"/>
                  <a:gd name="T48" fmla="*/ 187619 w 1425"/>
                  <a:gd name="T49" fmla="*/ 91957 h 1241"/>
                  <a:gd name="T50" fmla="*/ 190976 w 1425"/>
                  <a:gd name="T51" fmla="*/ 85395 h 1241"/>
                  <a:gd name="T52" fmla="*/ 182079 w 1425"/>
                  <a:gd name="T53" fmla="*/ 78800 h 1241"/>
                  <a:gd name="T54" fmla="*/ 175400 w 1425"/>
                  <a:gd name="T55" fmla="*/ 65683 h 1241"/>
                  <a:gd name="T56" fmla="*/ 185426 w 1425"/>
                  <a:gd name="T57" fmla="*/ 65683 h 1241"/>
                  <a:gd name="T58" fmla="*/ 187619 w 1425"/>
                  <a:gd name="T59" fmla="*/ 55353 h 1241"/>
                  <a:gd name="T60" fmla="*/ 179855 w 1425"/>
                  <a:gd name="T61" fmla="*/ 50683 h 1241"/>
                  <a:gd name="T62" fmla="*/ 193189 w 1425"/>
                  <a:gd name="T63" fmla="*/ 34709 h 1241"/>
                  <a:gd name="T64" fmla="*/ 197641 w 1425"/>
                  <a:gd name="T65" fmla="*/ 15000 h 1241"/>
                  <a:gd name="T66" fmla="*/ 186520 w 1425"/>
                  <a:gd name="T67" fmla="*/ 15000 h 1241"/>
                  <a:gd name="T68" fmla="*/ 175400 w 1425"/>
                  <a:gd name="T69" fmla="*/ 8448 h 1241"/>
                  <a:gd name="T70" fmla="*/ 165412 w 1425"/>
                  <a:gd name="T71" fmla="*/ 7516 h 1241"/>
                  <a:gd name="T72" fmla="*/ 162100 w 1425"/>
                  <a:gd name="T73" fmla="*/ 0 h 1241"/>
                  <a:gd name="T74" fmla="*/ 160971 w 1425"/>
                  <a:gd name="T75" fmla="*/ 7516 h 1241"/>
                  <a:gd name="T76" fmla="*/ 156563 w 1425"/>
                  <a:gd name="T77" fmla="*/ 19709 h 1241"/>
                  <a:gd name="T78" fmla="*/ 155434 w 1425"/>
                  <a:gd name="T79" fmla="*/ 28157 h 1241"/>
                  <a:gd name="T80" fmla="*/ 137679 w 1425"/>
                  <a:gd name="T81" fmla="*/ 32827 h 1241"/>
                  <a:gd name="T82" fmla="*/ 137679 w 1425"/>
                  <a:gd name="T83" fmla="*/ 50683 h 1241"/>
                  <a:gd name="T84" fmla="*/ 146538 w 1425"/>
                  <a:gd name="T85" fmla="*/ 48788 h 1241"/>
                  <a:gd name="T86" fmla="*/ 157648 w 1425"/>
                  <a:gd name="T87" fmla="*/ 52536 h 1241"/>
                  <a:gd name="T88" fmla="*/ 157648 w 1425"/>
                  <a:gd name="T89" fmla="*/ 59131 h 1241"/>
                  <a:gd name="T90" fmla="*/ 144348 w 1425"/>
                  <a:gd name="T91" fmla="*/ 62869 h 1241"/>
                  <a:gd name="T92" fmla="*/ 137679 w 1425"/>
                  <a:gd name="T93" fmla="*/ 69431 h 1241"/>
                  <a:gd name="T94" fmla="*/ 119890 w 1425"/>
                  <a:gd name="T95" fmla="*/ 77879 h 1241"/>
                  <a:gd name="T96" fmla="*/ 105495 w 1425"/>
                  <a:gd name="T97" fmla="*/ 75983 h 1241"/>
                  <a:gd name="T98" fmla="*/ 106579 w 1425"/>
                  <a:gd name="T99" fmla="*/ 88209 h 1241"/>
                  <a:gd name="T100" fmla="*/ 88838 w 1425"/>
                  <a:gd name="T101" fmla="*/ 99474 h 1241"/>
                  <a:gd name="T102" fmla="*/ 63284 w 1425"/>
                  <a:gd name="T103" fmla="*/ 103209 h 1241"/>
                  <a:gd name="T104" fmla="*/ 48841 w 1425"/>
                  <a:gd name="T105" fmla="*/ 104140 h 1241"/>
                  <a:gd name="T106" fmla="*/ 34412 w 1425"/>
                  <a:gd name="T107" fmla="*/ 101327 h 1241"/>
                  <a:gd name="T108" fmla="*/ 13300 w 1425"/>
                  <a:gd name="T109" fmla="*/ 95693 h 124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425" h="1241">
                    <a:moveTo>
                      <a:pt x="0" y="784"/>
                    </a:moveTo>
                    <a:lnTo>
                      <a:pt x="16" y="848"/>
                    </a:lnTo>
                    <a:lnTo>
                      <a:pt x="16" y="896"/>
                    </a:lnTo>
                    <a:lnTo>
                      <a:pt x="40" y="928"/>
                    </a:lnTo>
                    <a:lnTo>
                      <a:pt x="48" y="968"/>
                    </a:lnTo>
                    <a:lnTo>
                      <a:pt x="64" y="968"/>
                    </a:lnTo>
                    <a:lnTo>
                      <a:pt x="64" y="944"/>
                    </a:lnTo>
                    <a:lnTo>
                      <a:pt x="136" y="952"/>
                    </a:lnTo>
                    <a:lnTo>
                      <a:pt x="136" y="976"/>
                    </a:lnTo>
                    <a:lnTo>
                      <a:pt x="136" y="992"/>
                    </a:lnTo>
                    <a:lnTo>
                      <a:pt x="112" y="1016"/>
                    </a:lnTo>
                    <a:lnTo>
                      <a:pt x="112" y="1032"/>
                    </a:lnTo>
                    <a:lnTo>
                      <a:pt x="160" y="1080"/>
                    </a:lnTo>
                    <a:lnTo>
                      <a:pt x="160" y="1104"/>
                    </a:lnTo>
                    <a:lnTo>
                      <a:pt x="216" y="1128"/>
                    </a:lnTo>
                    <a:lnTo>
                      <a:pt x="224" y="1120"/>
                    </a:lnTo>
                    <a:lnTo>
                      <a:pt x="216" y="1088"/>
                    </a:lnTo>
                    <a:lnTo>
                      <a:pt x="256" y="1096"/>
                    </a:lnTo>
                    <a:lnTo>
                      <a:pt x="264" y="1096"/>
                    </a:lnTo>
                    <a:lnTo>
                      <a:pt x="336" y="1088"/>
                    </a:lnTo>
                    <a:lnTo>
                      <a:pt x="352" y="1104"/>
                    </a:lnTo>
                    <a:lnTo>
                      <a:pt x="312" y="1144"/>
                    </a:lnTo>
                    <a:lnTo>
                      <a:pt x="296" y="1192"/>
                    </a:lnTo>
                    <a:lnTo>
                      <a:pt x="328" y="1240"/>
                    </a:lnTo>
                    <a:lnTo>
                      <a:pt x="376" y="1232"/>
                    </a:lnTo>
                    <a:lnTo>
                      <a:pt x="400" y="1208"/>
                    </a:lnTo>
                    <a:lnTo>
                      <a:pt x="424" y="1200"/>
                    </a:lnTo>
                    <a:lnTo>
                      <a:pt x="432" y="1136"/>
                    </a:lnTo>
                    <a:lnTo>
                      <a:pt x="488" y="1088"/>
                    </a:lnTo>
                    <a:lnTo>
                      <a:pt x="496" y="1112"/>
                    </a:lnTo>
                    <a:lnTo>
                      <a:pt x="480" y="1176"/>
                    </a:lnTo>
                    <a:lnTo>
                      <a:pt x="520" y="1192"/>
                    </a:lnTo>
                    <a:lnTo>
                      <a:pt x="560" y="1224"/>
                    </a:lnTo>
                    <a:lnTo>
                      <a:pt x="576" y="1224"/>
                    </a:lnTo>
                    <a:lnTo>
                      <a:pt x="592" y="1224"/>
                    </a:lnTo>
                    <a:lnTo>
                      <a:pt x="600" y="1200"/>
                    </a:lnTo>
                    <a:lnTo>
                      <a:pt x="616" y="1200"/>
                    </a:lnTo>
                    <a:lnTo>
                      <a:pt x="608" y="1168"/>
                    </a:lnTo>
                    <a:lnTo>
                      <a:pt x="664" y="1112"/>
                    </a:lnTo>
                    <a:lnTo>
                      <a:pt x="664" y="1096"/>
                    </a:lnTo>
                    <a:lnTo>
                      <a:pt x="696" y="1096"/>
                    </a:lnTo>
                    <a:lnTo>
                      <a:pt x="704" y="1096"/>
                    </a:lnTo>
                    <a:lnTo>
                      <a:pt x="712" y="1080"/>
                    </a:lnTo>
                    <a:lnTo>
                      <a:pt x="720" y="1080"/>
                    </a:lnTo>
                    <a:lnTo>
                      <a:pt x="736" y="1096"/>
                    </a:lnTo>
                    <a:lnTo>
                      <a:pt x="736" y="1072"/>
                    </a:lnTo>
                    <a:lnTo>
                      <a:pt x="760" y="1080"/>
                    </a:lnTo>
                    <a:lnTo>
                      <a:pt x="800" y="1024"/>
                    </a:lnTo>
                    <a:lnTo>
                      <a:pt x="832" y="1016"/>
                    </a:lnTo>
                    <a:lnTo>
                      <a:pt x="848" y="1000"/>
                    </a:lnTo>
                    <a:lnTo>
                      <a:pt x="864" y="1008"/>
                    </a:lnTo>
                    <a:lnTo>
                      <a:pt x="896" y="1000"/>
                    </a:lnTo>
                    <a:lnTo>
                      <a:pt x="872" y="928"/>
                    </a:lnTo>
                    <a:lnTo>
                      <a:pt x="896" y="920"/>
                    </a:lnTo>
                    <a:lnTo>
                      <a:pt x="896" y="888"/>
                    </a:lnTo>
                    <a:lnTo>
                      <a:pt x="928" y="872"/>
                    </a:lnTo>
                    <a:lnTo>
                      <a:pt x="944" y="912"/>
                    </a:lnTo>
                    <a:lnTo>
                      <a:pt x="984" y="888"/>
                    </a:lnTo>
                    <a:lnTo>
                      <a:pt x="1000" y="896"/>
                    </a:lnTo>
                    <a:lnTo>
                      <a:pt x="1008" y="872"/>
                    </a:lnTo>
                    <a:lnTo>
                      <a:pt x="1040" y="880"/>
                    </a:lnTo>
                    <a:lnTo>
                      <a:pt x="1040" y="840"/>
                    </a:lnTo>
                    <a:lnTo>
                      <a:pt x="1088" y="824"/>
                    </a:lnTo>
                    <a:lnTo>
                      <a:pt x="1112" y="864"/>
                    </a:lnTo>
                    <a:lnTo>
                      <a:pt x="1112" y="904"/>
                    </a:lnTo>
                    <a:lnTo>
                      <a:pt x="1128" y="920"/>
                    </a:lnTo>
                    <a:lnTo>
                      <a:pt x="1160" y="912"/>
                    </a:lnTo>
                    <a:lnTo>
                      <a:pt x="1176" y="912"/>
                    </a:lnTo>
                    <a:lnTo>
                      <a:pt x="1176" y="888"/>
                    </a:lnTo>
                    <a:lnTo>
                      <a:pt x="1176" y="864"/>
                    </a:lnTo>
                    <a:lnTo>
                      <a:pt x="1160" y="832"/>
                    </a:lnTo>
                    <a:lnTo>
                      <a:pt x="1176" y="840"/>
                    </a:lnTo>
                    <a:lnTo>
                      <a:pt x="1200" y="872"/>
                    </a:lnTo>
                    <a:lnTo>
                      <a:pt x="1328" y="776"/>
                    </a:lnTo>
                    <a:lnTo>
                      <a:pt x="1352" y="784"/>
                    </a:lnTo>
                    <a:lnTo>
                      <a:pt x="1392" y="752"/>
                    </a:lnTo>
                    <a:lnTo>
                      <a:pt x="1392" y="728"/>
                    </a:lnTo>
                    <a:lnTo>
                      <a:pt x="1376" y="728"/>
                    </a:lnTo>
                    <a:lnTo>
                      <a:pt x="1376" y="688"/>
                    </a:lnTo>
                    <a:lnTo>
                      <a:pt x="1352" y="640"/>
                    </a:lnTo>
                    <a:lnTo>
                      <a:pt x="1312" y="672"/>
                    </a:lnTo>
                    <a:lnTo>
                      <a:pt x="1288" y="616"/>
                    </a:lnTo>
                    <a:lnTo>
                      <a:pt x="1296" y="592"/>
                    </a:lnTo>
                    <a:lnTo>
                      <a:pt x="1264" y="560"/>
                    </a:lnTo>
                    <a:lnTo>
                      <a:pt x="1272" y="536"/>
                    </a:lnTo>
                    <a:lnTo>
                      <a:pt x="1312" y="560"/>
                    </a:lnTo>
                    <a:lnTo>
                      <a:pt x="1336" y="560"/>
                    </a:lnTo>
                    <a:lnTo>
                      <a:pt x="1328" y="512"/>
                    </a:lnTo>
                    <a:lnTo>
                      <a:pt x="1328" y="488"/>
                    </a:lnTo>
                    <a:lnTo>
                      <a:pt x="1352" y="472"/>
                    </a:lnTo>
                    <a:lnTo>
                      <a:pt x="1352" y="456"/>
                    </a:lnTo>
                    <a:lnTo>
                      <a:pt x="1320" y="472"/>
                    </a:lnTo>
                    <a:lnTo>
                      <a:pt x="1296" y="432"/>
                    </a:lnTo>
                    <a:lnTo>
                      <a:pt x="1368" y="336"/>
                    </a:lnTo>
                    <a:lnTo>
                      <a:pt x="1384" y="360"/>
                    </a:lnTo>
                    <a:lnTo>
                      <a:pt x="1392" y="296"/>
                    </a:lnTo>
                    <a:lnTo>
                      <a:pt x="1408" y="272"/>
                    </a:lnTo>
                    <a:lnTo>
                      <a:pt x="1400" y="216"/>
                    </a:lnTo>
                    <a:lnTo>
                      <a:pt x="1424" y="128"/>
                    </a:lnTo>
                    <a:lnTo>
                      <a:pt x="1384" y="88"/>
                    </a:lnTo>
                    <a:lnTo>
                      <a:pt x="1360" y="120"/>
                    </a:lnTo>
                    <a:lnTo>
                      <a:pt x="1344" y="128"/>
                    </a:lnTo>
                    <a:lnTo>
                      <a:pt x="1296" y="144"/>
                    </a:lnTo>
                    <a:lnTo>
                      <a:pt x="1280" y="120"/>
                    </a:lnTo>
                    <a:lnTo>
                      <a:pt x="1264" y="72"/>
                    </a:lnTo>
                    <a:lnTo>
                      <a:pt x="1240" y="56"/>
                    </a:lnTo>
                    <a:lnTo>
                      <a:pt x="1224" y="72"/>
                    </a:lnTo>
                    <a:lnTo>
                      <a:pt x="1192" y="64"/>
                    </a:lnTo>
                    <a:lnTo>
                      <a:pt x="1208" y="32"/>
                    </a:lnTo>
                    <a:lnTo>
                      <a:pt x="1200" y="0"/>
                    </a:lnTo>
                    <a:lnTo>
                      <a:pt x="1168" y="0"/>
                    </a:lnTo>
                    <a:lnTo>
                      <a:pt x="1128" y="40"/>
                    </a:lnTo>
                    <a:lnTo>
                      <a:pt x="1128" y="56"/>
                    </a:lnTo>
                    <a:lnTo>
                      <a:pt x="1160" y="64"/>
                    </a:lnTo>
                    <a:lnTo>
                      <a:pt x="1168" y="88"/>
                    </a:lnTo>
                    <a:lnTo>
                      <a:pt x="1136" y="136"/>
                    </a:lnTo>
                    <a:lnTo>
                      <a:pt x="1128" y="168"/>
                    </a:lnTo>
                    <a:lnTo>
                      <a:pt x="1112" y="200"/>
                    </a:lnTo>
                    <a:lnTo>
                      <a:pt x="1112" y="232"/>
                    </a:lnTo>
                    <a:lnTo>
                      <a:pt x="1120" y="240"/>
                    </a:lnTo>
                    <a:lnTo>
                      <a:pt x="1056" y="288"/>
                    </a:lnTo>
                    <a:lnTo>
                      <a:pt x="1016" y="280"/>
                    </a:lnTo>
                    <a:lnTo>
                      <a:pt x="992" y="280"/>
                    </a:lnTo>
                    <a:lnTo>
                      <a:pt x="944" y="416"/>
                    </a:lnTo>
                    <a:lnTo>
                      <a:pt x="960" y="432"/>
                    </a:lnTo>
                    <a:lnTo>
                      <a:pt x="992" y="432"/>
                    </a:lnTo>
                    <a:lnTo>
                      <a:pt x="1032" y="432"/>
                    </a:lnTo>
                    <a:lnTo>
                      <a:pt x="1040" y="440"/>
                    </a:lnTo>
                    <a:lnTo>
                      <a:pt x="1056" y="416"/>
                    </a:lnTo>
                    <a:lnTo>
                      <a:pt x="1080" y="408"/>
                    </a:lnTo>
                    <a:lnTo>
                      <a:pt x="1104" y="416"/>
                    </a:lnTo>
                    <a:lnTo>
                      <a:pt x="1136" y="448"/>
                    </a:lnTo>
                    <a:lnTo>
                      <a:pt x="1160" y="480"/>
                    </a:lnTo>
                    <a:lnTo>
                      <a:pt x="1160" y="512"/>
                    </a:lnTo>
                    <a:lnTo>
                      <a:pt x="1136" y="504"/>
                    </a:lnTo>
                    <a:lnTo>
                      <a:pt x="1088" y="520"/>
                    </a:lnTo>
                    <a:lnTo>
                      <a:pt x="1048" y="520"/>
                    </a:lnTo>
                    <a:lnTo>
                      <a:pt x="1040" y="536"/>
                    </a:lnTo>
                    <a:lnTo>
                      <a:pt x="1016" y="536"/>
                    </a:lnTo>
                    <a:lnTo>
                      <a:pt x="992" y="560"/>
                    </a:lnTo>
                    <a:lnTo>
                      <a:pt x="992" y="592"/>
                    </a:lnTo>
                    <a:lnTo>
                      <a:pt x="968" y="608"/>
                    </a:lnTo>
                    <a:lnTo>
                      <a:pt x="912" y="616"/>
                    </a:lnTo>
                    <a:lnTo>
                      <a:pt x="864" y="664"/>
                    </a:lnTo>
                    <a:lnTo>
                      <a:pt x="800" y="664"/>
                    </a:lnTo>
                    <a:lnTo>
                      <a:pt x="784" y="648"/>
                    </a:lnTo>
                    <a:lnTo>
                      <a:pt x="760" y="648"/>
                    </a:lnTo>
                    <a:lnTo>
                      <a:pt x="752" y="680"/>
                    </a:lnTo>
                    <a:lnTo>
                      <a:pt x="728" y="704"/>
                    </a:lnTo>
                    <a:lnTo>
                      <a:pt x="768" y="752"/>
                    </a:lnTo>
                    <a:lnTo>
                      <a:pt x="720" y="784"/>
                    </a:lnTo>
                    <a:lnTo>
                      <a:pt x="696" y="824"/>
                    </a:lnTo>
                    <a:lnTo>
                      <a:pt x="640" y="848"/>
                    </a:lnTo>
                    <a:lnTo>
                      <a:pt x="560" y="856"/>
                    </a:lnTo>
                    <a:lnTo>
                      <a:pt x="496" y="864"/>
                    </a:lnTo>
                    <a:lnTo>
                      <a:pt x="456" y="880"/>
                    </a:lnTo>
                    <a:lnTo>
                      <a:pt x="408" y="912"/>
                    </a:lnTo>
                    <a:lnTo>
                      <a:pt x="384" y="912"/>
                    </a:lnTo>
                    <a:lnTo>
                      <a:pt x="352" y="888"/>
                    </a:lnTo>
                    <a:lnTo>
                      <a:pt x="312" y="888"/>
                    </a:lnTo>
                    <a:lnTo>
                      <a:pt x="280" y="864"/>
                    </a:lnTo>
                    <a:lnTo>
                      <a:pt x="248" y="864"/>
                    </a:lnTo>
                    <a:lnTo>
                      <a:pt x="224" y="824"/>
                    </a:lnTo>
                    <a:lnTo>
                      <a:pt x="160" y="816"/>
                    </a:lnTo>
                    <a:lnTo>
                      <a:pt x="96" y="816"/>
                    </a:lnTo>
                    <a:lnTo>
                      <a:pt x="64" y="792"/>
                    </a:lnTo>
                    <a:lnTo>
                      <a:pt x="0" y="784"/>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09" name="Freeform 33"/>
              <p:cNvSpPr>
                <a:spLocks noChangeArrowheads="1"/>
              </p:cNvSpPr>
              <p:nvPr/>
            </p:nvSpPr>
            <p:spPr bwMode="auto">
              <a:xfrm>
                <a:off x="5214" y="1865"/>
                <a:ext cx="4371" cy="3398"/>
              </a:xfrm>
              <a:custGeom>
                <a:avLst/>
                <a:gdLst>
                  <a:gd name="T0" fmla="*/ 174593 w 1273"/>
                  <a:gd name="T1" fmla="*/ 67453 h 1033"/>
                  <a:gd name="T2" fmla="*/ 172368 w 1273"/>
                  <a:gd name="T3" fmla="*/ 74003 h 1033"/>
                  <a:gd name="T4" fmla="*/ 163464 w 1273"/>
                  <a:gd name="T5" fmla="*/ 74003 h 1033"/>
                  <a:gd name="T6" fmla="*/ 160141 w 1273"/>
                  <a:gd name="T7" fmla="*/ 77733 h 1033"/>
                  <a:gd name="T8" fmla="*/ 150108 w 1273"/>
                  <a:gd name="T9" fmla="*/ 84282 h 1033"/>
                  <a:gd name="T10" fmla="*/ 145651 w 1273"/>
                  <a:gd name="T11" fmla="*/ 85243 h 1033"/>
                  <a:gd name="T12" fmla="*/ 130110 w 1273"/>
                  <a:gd name="T13" fmla="*/ 96496 h 1033"/>
                  <a:gd name="T14" fmla="*/ 122330 w 1273"/>
                  <a:gd name="T15" fmla="*/ 103042 h 1033"/>
                  <a:gd name="T16" fmla="*/ 127882 w 1273"/>
                  <a:gd name="T17" fmla="*/ 110519 h 1033"/>
                  <a:gd name="T18" fmla="*/ 123428 w 1273"/>
                  <a:gd name="T19" fmla="*/ 116137 h 1033"/>
                  <a:gd name="T20" fmla="*/ 124558 w 1273"/>
                  <a:gd name="T21" fmla="*/ 120844 h 1033"/>
                  <a:gd name="T22" fmla="*/ 116753 w 1273"/>
                  <a:gd name="T23" fmla="*/ 118950 h 1033"/>
                  <a:gd name="T24" fmla="*/ 112297 w 1273"/>
                  <a:gd name="T25" fmla="*/ 117068 h 1033"/>
                  <a:gd name="T26" fmla="*/ 102301 w 1273"/>
                  <a:gd name="T27" fmla="*/ 112404 h 1033"/>
                  <a:gd name="T28" fmla="*/ 83389 w 1273"/>
                  <a:gd name="T29" fmla="*/ 115216 h 1033"/>
                  <a:gd name="T30" fmla="*/ 71162 w 1273"/>
                  <a:gd name="T31" fmla="*/ 116137 h 1033"/>
                  <a:gd name="T32" fmla="*/ 60033 w 1273"/>
                  <a:gd name="T33" fmla="*/ 111483 h 1033"/>
                  <a:gd name="T34" fmla="*/ 51168 w 1273"/>
                  <a:gd name="T35" fmla="*/ 112404 h 1033"/>
                  <a:gd name="T36" fmla="*/ 37811 w 1273"/>
                  <a:gd name="T37" fmla="*/ 108670 h 1033"/>
                  <a:gd name="T38" fmla="*/ 30041 w 1273"/>
                  <a:gd name="T39" fmla="*/ 115216 h 1033"/>
                  <a:gd name="T40" fmla="*/ 21127 w 1273"/>
                  <a:gd name="T41" fmla="*/ 110519 h 1033"/>
                  <a:gd name="T42" fmla="*/ 14456 w 1273"/>
                  <a:gd name="T43" fmla="*/ 101160 h 1033"/>
                  <a:gd name="T44" fmla="*/ 7770 w 1273"/>
                  <a:gd name="T45" fmla="*/ 93683 h 1033"/>
                  <a:gd name="T46" fmla="*/ 8900 w 1273"/>
                  <a:gd name="T47" fmla="*/ 90871 h 1033"/>
                  <a:gd name="T48" fmla="*/ 5542 w 1273"/>
                  <a:gd name="T49" fmla="*/ 83361 h 1033"/>
                  <a:gd name="T50" fmla="*/ 0 w 1273"/>
                  <a:gd name="T51" fmla="*/ 80549 h 1033"/>
                  <a:gd name="T52" fmla="*/ 4457 w 1273"/>
                  <a:gd name="T53" fmla="*/ 80549 h 1033"/>
                  <a:gd name="T54" fmla="*/ 4457 w 1273"/>
                  <a:gd name="T55" fmla="*/ 72108 h 1033"/>
                  <a:gd name="T56" fmla="*/ 3324 w 1273"/>
                  <a:gd name="T57" fmla="*/ 66493 h 1033"/>
                  <a:gd name="T58" fmla="*/ 0 w 1273"/>
                  <a:gd name="T59" fmla="*/ 60898 h 1033"/>
                  <a:gd name="T60" fmla="*/ 12227 w 1273"/>
                  <a:gd name="T61" fmla="*/ 54319 h 1033"/>
                  <a:gd name="T62" fmla="*/ 18912 w 1273"/>
                  <a:gd name="T63" fmla="*/ 53388 h 1033"/>
                  <a:gd name="T64" fmla="*/ 21127 w 1273"/>
                  <a:gd name="T65" fmla="*/ 56200 h 1033"/>
                  <a:gd name="T66" fmla="*/ 27812 w 1273"/>
                  <a:gd name="T67" fmla="*/ 56200 h 1033"/>
                  <a:gd name="T68" fmla="*/ 42268 w 1273"/>
                  <a:gd name="T69" fmla="*/ 53388 h 1033"/>
                  <a:gd name="T70" fmla="*/ 57805 w 1273"/>
                  <a:gd name="T71" fmla="*/ 49654 h 1033"/>
                  <a:gd name="T72" fmla="*/ 58938 w 1273"/>
                  <a:gd name="T73" fmla="*/ 44029 h 1033"/>
                  <a:gd name="T74" fmla="*/ 65623 w 1273"/>
                  <a:gd name="T75" fmla="*/ 27161 h 1033"/>
                  <a:gd name="T76" fmla="*/ 63395 w 1273"/>
                  <a:gd name="T77" fmla="*/ 23414 h 1033"/>
                  <a:gd name="T78" fmla="*/ 82304 w 1273"/>
                  <a:gd name="T79" fmla="*/ 26230 h 1033"/>
                  <a:gd name="T80" fmla="*/ 92303 w 1273"/>
                  <a:gd name="T81" fmla="*/ 11243 h 1033"/>
                  <a:gd name="T82" fmla="*/ 108973 w 1273"/>
                  <a:gd name="T83" fmla="*/ 14987 h 1033"/>
                  <a:gd name="T84" fmla="*/ 108973 w 1273"/>
                  <a:gd name="T85" fmla="*/ 9358 h 1033"/>
                  <a:gd name="T86" fmla="*/ 116753 w 1273"/>
                  <a:gd name="T87" fmla="*/ 4697 h 1033"/>
                  <a:gd name="T88" fmla="*/ 122330 w 1273"/>
                  <a:gd name="T89" fmla="*/ 0 h 1033"/>
                  <a:gd name="T90" fmla="*/ 128981 w 1273"/>
                  <a:gd name="T91" fmla="*/ 1882 h 1033"/>
                  <a:gd name="T92" fmla="*/ 128981 w 1273"/>
                  <a:gd name="T93" fmla="*/ 5628 h 1033"/>
                  <a:gd name="T94" fmla="*/ 133424 w 1273"/>
                  <a:gd name="T95" fmla="*/ 13105 h 1033"/>
                  <a:gd name="T96" fmla="*/ 142337 w 1273"/>
                  <a:gd name="T97" fmla="*/ 16868 h 1033"/>
                  <a:gd name="T98" fmla="*/ 144555 w 1273"/>
                  <a:gd name="T99" fmla="*/ 29043 h 1033"/>
                  <a:gd name="T100" fmla="*/ 141242 w 1273"/>
                  <a:gd name="T101" fmla="*/ 39332 h 1033"/>
                  <a:gd name="T102" fmla="*/ 154564 w 1273"/>
                  <a:gd name="T103" fmla="*/ 43108 h 1033"/>
                  <a:gd name="T104" fmla="*/ 167921 w 1273"/>
                  <a:gd name="T105" fmla="*/ 51506 h 1033"/>
                  <a:gd name="T106" fmla="*/ 171235 w 1273"/>
                  <a:gd name="T107" fmla="*/ 56200 h 1033"/>
                  <a:gd name="T108" fmla="*/ 176821 w 1273"/>
                  <a:gd name="T109" fmla="*/ 66493 h 103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73" h="1033">
                    <a:moveTo>
                      <a:pt x="1272" y="568"/>
                    </a:moveTo>
                    <a:lnTo>
                      <a:pt x="1256" y="576"/>
                    </a:lnTo>
                    <a:lnTo>
                      <a:pt x="1256" y="600"/>
                    </a:lnTo>
                    <a:lnTo>
                      <a:pt x="1240" y="632"/>
                    </a:lnTo>
                    <a:lnTo>
                      <a:pt x="1208" y="632"/>
                    </a:lnTo>
                    <a:lnTo>
                      <a:pt x="1176" y="632"/>
                    </a:lnTo>
                    <a:lnTo>
                      <a:pt x="1176" y="648"/>
                    </a:lnTo>
                    <a:lnTo>
                      <a:pt x="1152" y="664"/>
                    </a:lnTo>
                    <a:lnTo>
                      <a:pt x="1112" y="680"/>
                    </a:lnTo>
                    <a:lnTo>
                      <a:pt x="1080" y="720"/>
                    </a:lnTo>
                    <a:lnTo>
                      <a:pt x="1064" y="712"/>
                    </a:lnTo>
                    <a:lnTo>
                      <a:pt x="1048" y="728"/>
                    </a:lnTo>
                    <a:lnTo>
                      <a:pt x="1040" y="816"/>
                    </a:lnTo>
                    <a:lnTo>
                      <a:pt x="936" y="824"/>
                    </a:lnTo>
                    <a:lnTo>
                      <a:pt x="888" y="840"/>
                    </a:lnTo>
                    <a:lnTo>
                      <a:pt x="880" y="880"/>
                    </a:lnTo>
                    <a:lnTo>
                      <a:pt x="920" y="928"/>
                    </a:lnTo>
                    <a:lnTo>
                      <a:pt x="920" y="944"/>
                    </a:lnTo>
                    <a:lnTo>
                      <a:pt x="888" y="968"/>
                    </a:lnTo>
                    <a:lnTo>
                      <a:pt x="888" y="992"/>
                    </a:lnTo>
                    <a:lnTo>
                      <a:pt x="896" y="1000"/>
                    </a:lnTo>
                    <a:lnTo>
                      <a:pt x="896" y="1032"/>
                    </a:lnTo>
                    <a:lnTo>
                      <a:pt x="840" y="1008"/>
                    </a:lnTo>
                    <a:lnTo>
                      <a:pt x="840" y="1016"/>
                    </a:lnTo>
                    <a:lnTo>
                      <a:pt x="816" y="1016"/>
                    </a:lnTo>
                    <a:lnTo>
                      <a:pt x="808" y="1000"/>
                    </a:lnTo>
                    <a:lnTo>
                      <a:pt x="760" y="976"/>
                    </a:lnTo>
                    <a:lnTo>
                      <a:pt x="736" y="960"/>
                    </a:lnTo>
                    <a:lnTo>
                      <a:pt x="624" y="968"/>
                    </a:lnTo>
                    <a:lnTo>
                      <a:pt x="600" y="984"/>
                    </a:lnTo>
                    <a:lnTo>
                      <a:pt x="528" y="984"/>
                    </a:lnTo>
                    <a:lnTo>
                      <a:pt x="512" y="992"/>
                    </a:lnTo>
                    <a:lnTo>
                      <a:pt x="440" y="984"/>
                    </a:lnTo>
                    <a:lnTo>
                      <a:pt x="432" y="952"/>
                    </a:lnTo>
                    <a:lnTo>
                      <a:pt x="384" y="944"/>
                    </a:lnTo>
                    <a:lnTo>
                      <a:pt x="368" y="960"/>
                    </a:lnTo>
                    <a:lnTo>
                      <a:pt x="296" y="928"/>
                    </a:lnTo>
                    <a:lnTo>
                      <a:pt x="272" y="928"/>
                    </a:lnTo>
                    <a:lnTo>
                      <a:pt x="248" y="968"/>
                    </a:lnTo>
                    <a:lnTo>
                      <a:pt x="216" y="984"/>
                    </a:lnTo>
                    <a:lnTo>
                      <a:pt x="176" y="976"/>
                    </a:lnTo>
                    <a:lnTo>
                      <a:pt x="152" y="944"/>
                    </a:lnTo>
                    <a:lnTo>
                      <a:pt x="152" y="872"/>
                    </a:lnTo>
                    <a:lnTo>
                      <a:pt x="104" y="864"/>
                    </a:lnTo>
                    <a:lnTo>
                      <a:pt x="72" y="816"/>
                    </a:lnTo>
                    <a:lnTo>
                      <a:pt x="56" y="800"/>
                    </a:lnTo>
                    <a:lnTo>
                      <a:pt x="48" y="784"/>
                    </a:lnTo>
                    <a:lnTo>
                      <a:pt x="64" y="776"/>
                    </a:lnTo>
                    <a:lnTo>
                      <a:pt x="64" y="752"/>
                    </a:lnTo>
                    <a:lnTo>
                      <a:pt x="40" y="712"/>
                    </a:lnTo>
                    <a:lnTo>
                      <a:pt x="16" y="704"/>
                    </a:lnTo>
                    <a:lnTo>
                      <a:pt x="0" y="688"/>
                    </a:lnTo>
                    <a:lnTo>
                      <a:pt x="16" y="680"/>
                    </a:lnTo>
                    <a:lnTo>
                      <a:pt x="32" y="688"/>
                    </a:lnTo>
                    <a:lnTo>
                      <a:pt x="40" y="672"/>
                    </a:lnTo>
                    <a:lnTo>
                      <a:pt x="32" y="616"/>
                    </a:lnTo>
                    <a:lnTo>
                      <a:pt x="48" y="592"/>
                    </a:lnTo>
                    <a:lnTo>
                      <a:pt x="24" y="568"/>
                    </a:lnTo>
                    <a:lnTo>
                      <a:pt x="0" y="568"/>
                    </a:lnTo>
                    <a:lnTo>
                      <a:pt x="0" y="520"/>
                    </a:lnTo>
                    <a:lnTo>
                      <a:pt x="48" y="464"/>
                    </a:lnTo>
                    <a:lnTo>
                      <a:pt x="88" y="464"/>
                    </a:lnTo>
                    <a:lnTo>
                      <a:pt x="112" y="448"/>
                    </a:lnTo>
                    <a:lnTo>
                      <a:pt x="136" y="456"/>
                    </a:lnTo>
                    <a:lnTo>
                      <a:pt x="144" y="448"/>
                    </a:lnTo>
                    <a:lnTo>
                      <a:pt x="152" y="480"/>
                    </a:lnTo>
                    <a:lnTo>
                      <a:pt x="168" y="472"/>
                    </a:lnTo>
                    <a:lnTo>
                      <a:pt x="200" y="480"/>
                    </a:lnTo>
                    <a:lnTo>
                      <a:pt x="208" y="456"/>
                    </a:lnTo>
                    <a:lnTo>
                      <a:pt x="304" y="456"/>
                    </a:lnTo>
                    <a:lnTo>
                      <a:pt x="320" y="432"/>
                    </a:lnTo>
                    <a:lnTo>
                      <a:pt x="416" y="424"/>
                    </a:lnTo>
                    <a:lnTo>
                      <a:pt x="424" y="408"/>
                    </a:lnTo>
                    <a:lnTo>
                      <a:pt x="424" y="376"/>
                    </a:lnTo>
                    <a:lnTo>
                      <a:pt x="464" y="352"/>
                    </a:lnTo>
                    <a:lnTo>
                      <a:pt x="472" y="232"/>
                    </a:lnTo>
                    <a:lnTo>
                      <a:pt x="456" y="224"/>
                    </a:lnTo>
                    <a:lnTo>
                      <a:pt x="456" y="200"/>
                    </a:lnTo>
                    <a:lnTo>
                      <a:pt x="576" y="208"/>
                    </a:lnTo>
                    <a:lnTo>
                      <a:pt x="592" y="224"/>
                    </a:lnTo>
                    <a:lnTo>
                      <a:pt x="608" y="176"/>
                    </a:lnTo>
                    <a:lnTo>
                      <a:pt x="664" y="96"/>
                    </a:lnTo>
                    <a:lnTo>
                      <a:pt x="744" y="136"/>
                    </a:lnTo>
                    <a:lnTo>
                      <a:pt x="784" y="128"/>
                    </a:lnTo>
                    <a:lnTo>
                      <a:pt x="792" y="104"/>
                    </a:lnTo>
                    <a:lnTo>
                      <a:pt x="784" y="80"/>
                    </a:lnTo>
                    <a:lnTo>
                      <a:pt x="816" y="48"/>
                    </a:lnTo>
                    <a:lnTo>
                      <a:pt x="840" y="40"/>
                    </a:lnTo>
                    <a:lnTo>
                      <a:pt x="872" y="24"/>
                    </a:lnTo>
                    <a:lnTo>
                      <a:pt x="880" y="0"/>
                    </a:lnTo>
                    <a:lnTo>
                      <a:pt x="928" y="8"/>
                    </a:lnTo>
                    <a:lnTo>
                      <a:pt x="928" y="16"/>
                    </a:lnTo>
                    <a:lnTo>
                      <a:pt x="912" y="32"/>
                    </a:lnTo>
                    <a:lnTo>
                      <a:pt x="928" y="48"/>
                    </a:lnTo>
                    <a:lnTo>
                      <a:pt x="936" y="72"/>
                    </a:lnTo>
                    <a:lnTo>
                      <a:pt x="960" y="112"/>
                    </a:lnTo>
                    <a:lnTo>
                      <a:pt x="984" y="120"/>
                    </a:lnTo>
                    <a:lnTo>
                      <a:pt x="1024" y="144"/>
                    </a:lnTo>
                    <a:lnTo>
                      <a:pt x="1024" y="200"/>
                    </a:lnTo>
                    <a:lnTo>
                      <a:pt x="1040" y="248"/>
                    </a:lnTo>
                    <a:lnTo>
                      <a:pt x="1008" y="304"/>
                    </a:lnTo>
                    <a:lnTo>
                      <a:pt x="1016" y="336"/>
                    </a:lnTo>
                    <a:lnTo>
                      <a:pt x="1048" y="360"/>
                    </a:lnTo>
                    <a:lnTo>
                      <a:pt x="1112" y="368"/>
                    </a:lnTo>
                    <a:lnTo>
                      <a:pt x="1160" y="392"/>
                    </a:lnTo>
                    <a:lnTo>
                      <a:pt x="1208" y="440"/>
                    </a:lnTo>
                    <a:lnTo>
                      <a:pt x="1232" y="440"/>
                    </a:lnTo>
                    <a:lnTo>
                      <a:pt x="1232" y="480"/>
                    </a:lnTo>
                    <a:lnTo>
                      <a:pt x="1248" y="520"/>
                    </a:lnTo>
                    <a:lnTo>
                      <a:pt x="1272" y="568"/>
                    </a:lnTo>
                  </a:path>
                </a:pathLst>
              </a:custGeom>
              <a:solidFill>
                <a:srgbClr val="A6A6A6">
                  <a:alpha val="41176"/>
                </a:srgbClr>
              </a:solidFill>
              <a:ln w="9525">
                <a:solidFill>
                  <a:srgbClr val="FFFFFF">
                    <a:alpha val="54117"/>
                  </a:srgbClr>
                </a:solidFill>
                <a:bevel/>
              </a:ln>
            </p:spPr>
            <p:txBody>
              <a:bodyPr/>
              <a:lstStyle/>
              <a:p>
                <a:endParaRPr lang="zh-CN" altLang="en-US"/>
              </a:p>
            </p:txBody>
          </p:sp>
          <p:sp>
            <p:nvSpPr>
              <p:cNvPr id="36910" name="Freeform 34"/>
              <p:cNvSpPr>
                <a:spLocks noChangeArrowheads="1"/>
              </p:cNvSpPr>
              <p:nvPr/>
            </p:nvSpPr>
            <p:spPr bwMode="auto">
              <a:xfrm>
                <a:off x="14310" y="8102"/>
                <a:ext cx="437" cy="849"/>
              </a:xfrm>
              <a:custGeom>
                <a:avLst/>
                <a:gdLst>
                  <a:gd name="T0" fmla="*/ 3144 w 129"/>
                  <a:gd name="T1" fmla="*/ 27611 h 257"/>
                  <a:gd name="T2" fmla="*/ 4201 w 129"/>
                  <a:gd name="T3" fmla="*/ 29530 h 257"/>
                  <a:gd name="T4" fmla="*/ 7392 w 129"/>
                  <a:gd name="T5" fmla="*/ 30501 h 257"/>
                  <a:gd name="T6" fmla="*/ 8435 w 129"/>
                  <a:gd name="T7" fmla="*/ 26682 h 257"/>
                  <a:gd name="T8" fmla="*/ 13679 w 129"/>
                  <a:gd name="T9" fmla="*/ 21925 h 257"/>
                  <a:gd name="T10" fmla="*/ 13679 w 129"/>
                  <a:gd name="T11" fmla="*/ 15246 h 257"/>
                  <a:gd name="T12" fmla="*/ 15823 w 129"/>
                  <a:gd name="T13" fmla="*/ 11427 h 257"/>
                  <a:gd name="T14" fmla="*/ 16870 w 129"/>
                  <a:gd name="T15" fmla="*/ 8579 h 257"/>
                  <a:gd name="T16" fmla="*/ 14736 w 129"/>
                  <a:gd name="T17" fmla="*/ 6666 h 257"/>
                  <a:gd name="T18" fmla="*/ 13679 w 129"/>
                  <a:gd name="T19" fmla="*/ 0 h 257"/>
                  <a:gd name="T20" fmla="*/ 8435 w 129"/>
                  <a:gd name="T21" fmla="*/ 2848 h 257"/>
                  <a:gd name="T22" fmla="*/ 6335 w 129"/>
                  <a:gd name="T23" fmla="*/ 2848 h 257"/>
                  <a:gd name="T24" fmla="*/ 7392 w 129"/>
                  <a:gd name="T25" fmla="*/ 4757 h 257"/>
                  <a:gd name="T26" fmla="*/ 3144 w 129"/>
                  <a:gd name="T27" fmla="*/ 8579 h 257"/>
                  <a:gd name="T28" fmla="*/ 3144 w 129"/>
                  <a:gd name="T29" fmla="*/ 13336 h 257"/>
                  <a:gd name="T30" fmla="*/ 0 w 129"/>
                  <a:gd name="T31" fmla="*/ 16184 h 257"/>
                  <a:gd name="T32" fmla="*/ 1043 w 129"/>
                  <a:gd name="T33" fmla="*/ 20003 h 257"/>
                  <a:gd name="T34" fmla="*/ 2100 w 129"/>
                  <a:gd name="T35" fmla="*/ 26682 h 257"/>
                  <a:gd name="T36" fmla="*/ 3144 w 129"/>
                  <a:gd name="T37" fmla="*/ 27611 h 2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9" h="257">
                    <a:moveTo>
                      <a:pt x="24" y="232"/>
                    </a:moveTo>
                    <a:lnTo>
                      <a:pt x="32" y="248"/>
                    </a:lnTo>
                    <a:lnTo>
                      <a:pt x="56" y="256"/>
                    </a:lnTo>
                    <a:lnTo>
                      <a:pt x="64" y="224"/>
                    </a:lnTo>
                    <a:lnTo>
                      <a:pt x="104" y="184"/>
                    </a:lnTo>
                    <a:lnTo>
                      <a:pt x="104" y="128"/>
                    </a:lnTo>
                    <a:lnTo>
                      <a:pt x="120" y="96"/>
                    </a:lnTo>
                    <a:lnTo>
                      <a:pt x="128" y="72"/>
                    </a:lnTo>
                    <a:lnTo>
                      <a:pt x="112" y="56"/>
                    </a:lnTo>
                    <a:lnTo>
                      <a:pt x="104" y="0"/>
                    </a:lnTo>
                    <a:lnTo>
                      <a:pt x="64" y="24"/>
                    </a:lnTo>
                    <a:lnTo>
                      <a:pt x="48" y="24"/>
                    </a:lnTo>
                    <a:lnTo>
                      <a:pt x="56" y="40"/>
                    </a:lnTo>
                    <a:lnTo>
                      <a:pt x="24" y="72"/>
                    </a:lnTo>
                    <a:lnTo>
                      <a:pt x="24" y="112"/>
                    </a:lnTo>
                    <a:lnTo>
                      <a:pt x="0" y="136"/>
                    </a:lnTo>
                    <a:lnTo>
                      <a:pt x="8" y="168"/>
                    </a:lnTo>
                    <a:lnTo>
                      <a:pt x="16" y="224"/>
                    </a:lnTo>
                    <a:lnTo>
                      <a:pt x="24" y="232"/>
                    </a:lnTo>
                  </a:path>
                </a:pathLst>
              </a:custGeom>
              <a:solidFill>
                <a:srgbClr val="A6A6A6">
                  <a:alpha val="41176"/>
                </a:srgbClr>
              </a:solidFill>
              <a:ln w="9525">
                <a:solidFill>
                  <a:srgbClr val="FFFFFF">
                    <a:alpha val="54117"/>
                  </a:srgbClr>
                </a:solidFill>
                <a:bevel/>
              </a:ln>
            </p:spPr>
            <p:txBody>
              <a:bodyPr/>
              <a:lstStyle/>
              <a:p>
                <a:endParaRPr lang="zh-CN" altLang="en-US"/>
              </a:p>
            </p:txBody>
          </p:sp>
          <p:pic>
            <p:nvPicPr>
              <p:cNvPr id="36911" name="图片 93" descr="地图改动20170728-02"/>
              <p:cNvPicPr>
                <a:picLocks noChangeAspect="1" noChangeArrowheads="1"/>
              </p:cNvPicPr>
              <p:nvPr/>
            </p:nvPicPr>
            <p:blipFill>
              <a:blip r:embed="rId3">
                <a:lum bright="-24000"/>
                <a:extLst>
                  <a:ext uri="{28A0092B-C50C-407E-A947-70E740481C1C}">
                    <a14:useLocalDpi xmlns:a14="http://schemas.microsoft.com/office/drawing/2010/main" val="0"/>
                  </a:ext>
                </a:extLst>
              </a:blip>
              <a:srcRect/>
              <a:stretch>
                <a:fillRect/>
              </a:stretch>
            </p:blipFill>
            <p:spPr bwMode="auto">
              <a:xfrm>
                <a:off x="15613" y="8403"/>
                <a:ext cx="1112" cy="1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912" name="文本框 107"/>
              <p:cNvSpPr txBox="1">
                <a:spLocks noChangeArrowheads="1"/>
              </p:cNvSpPr>
              <p:nvPr/>
            </p:nvSpPr>
            <p:spPr bwMode="auto">
              <a:xfrm>
                <a:off x="9942" y="6757"/>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a:solidFill>
                      <a:schemeClr val="bg1"/>
                    </a:solidFill>
                  </a:rPr>
                  <a:t>四川</a:t>
                </a:r>
              </a:p>
            </p:txBody>
          </p:sp>
          <p:sp>
            <p:nvSpPr>
              <p:cNvPr id="36913" name="文本框 110"/>
              <p:cNvSpPr txBox="1">
                <a:spLocks noChangeArrowheads="1"/>
              </p:cNvSpPr>
              <p:nvPr/>
            </p:nvSpPr>
            <p:spPr bwMode="auto">
              <a:xfrm>
                <a:off x="14609" y="3304"/>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dirty="0">
                    <a:solidFill>
                      <a:schemeClr val="bg1"/>
                    </a:solidFill>
                  </a:rPr>
                  <a:t>吉林</a:t>
                </a:r>
              </a:p>
            </p:txBody>
          </p:sp>
          <p:sp>
            <p:nvSpPr>
              <p:cNvPr id="36914" name="文本框 113"/>
              <p:cNvSpPr txBox="1">
                <a:spLocks noChangeArrowheads="1"/>
              </p:cNvSpPr>
              <p:nvPr/>
            </p:nvSpPr>
            <p:spPr bwMode="auto">
              <a:xfrm>
                <a:off x="11277" y="5943"/>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a:solidFill>
                      <a:schemeClr val="bg1"/>
                    </a:solidFill>
                  </a:rPr>
                  <a:t>陕西</a:t>
                </a:r>
              </a:p>
            </p:txBody>
          </p:sp>
          <p:sp>
            <p:nvSpPr>
              <p:cNvPr id="36915" name="文本框 116"/>
              <p:cNvSpPr txBox="1">
                <a:spLocks noChangeArrowheads="1"/>
              </p:cNvSpPr>
              <p:nvPr/>
            </p:nvSpPr>
            <p:spPr bwMode="auto">
              <a:xfrm>
                <a:off x="12251" y="6733"/>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a:solidFill>
                      <a:schemeClr val="bg1"/>
                    </a:solidFill>
                  </a:rPr>
                  <a:t>湖北</a:t>
                </a:r>
              </a:p>
            </p:txBody>
          </p:sp>
          <p:sp>
            <p:nvSpPr>
              <p:cNvPr id="36916" name="文本框 119"/>
              <p:cNvSpPr txBox="1">
                <a:spLocks noChangeArrowheads="1"/>
              </p:cNvSpPr>
              <p:nvPr/>
            </p:nvSpPr>
            <p:spPr bwMode="auto">
              <a:xfrm>
                <a:off x="12272" y="5904"/>
                <a:ext cx="846"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dirty="0">
                    <a:solidFill>
                      <a:schemeClr val="bg1"/>
                    </a:solidFill>
                  </a:rPr>
                  <a:t>河南</a:t>
                </a:r>
              </a:p>
            </p:txBody>
          </p:sp>
          <p:sp>
            <p:nvSpPr>
              <p:cNvPr id="36917" name="任意多边形 122"/>
              <p:cNvSpPr>
                <a:spLocks noChangeArrowheads="1"/>
              </p:cNvSpPr>
              <p:nvPr/>
            </p:nvSpPr>
            <p:spPr bwMode="auto">
              <a:xfrm>
                <a:off x="10948" y="6467"/>
                <a:ext cx="1109" cy="1162"/>
              </a:xfrm>
              <a:custGeom>
                <a:avLst/>
                <a:gdLst>
                  <a:gd name="T0" fmla="*/ 250 w 1109"/>
                  <a:gd name="T1" fmla="*/ 735 h 1162"/>
                  <a:gd name="T2" fmla="*/ 421 w 1109"/>
                  <a:gd name="T3" fmla="*/ 507 h 1162"/>
                  <a:gd name="T4" fmla="*/ 371 w 1109"/>
                  <a:gd name="T5" fmla="*/ 300 h 1162"/>
                  <a:gd name="T6" fmla="*/ 440 w 1109"/>
                  <a:gd name="T7" fmla="*/ 177 h 1162"/>
                  <a:gd name="T8" fmla="*/ 414 w 1109"/>
                  <a:gd name="T9" fmla="*/ 0 h 1162"/>
                  <a:gd name="T10" fmla="*/ 516 w 1109"/>
                  <a:gd name="T11" fmla="*/ 80 h 1162"/>
                  <a:gd name="T12" fmla="*/ 719 w 1109"/>
                  <a:gd name="T13" fmla="*/ 129 h 1162"/>
                  <a:gd name="T14" fmla="*/ 1109 w 1109"/>
                  <a:gd name="T15" fmla="*/ 358 h 1162"/>
                  <a:gd name="T16" fmla="*/ 1101 w 1109"/>
                  <a:gd name="T17" fmla="*/ 451 h 1162"/>
                  <a:gd name="T18" fmla="*/ 779 w 1109"/>
                  <a:gd name="T19" fmla="*/ 538 h 1162"/>
                  <a:gd name="T20" fmla="*/ 764 w 1109"/>
                  <a:gd name="T21" fmla="*/ 661 h 1162"/>
                  <a:gd name="T22" fmla="*/ 732 w 1109"/>
                  <a:gd name="T23" fmla="*/ 729 h 1162"/>
                  <a:gd name="T24" fmla="*/ 889 w 1109"/>
                  <a:gd name="T25" fmla="*/ 894 h 1162"/>
                  <a:gd name="T26" fmla="*/ 897 w 1109"/>
                  <a:gd name="T27" fmla="*/ 1048 h 1162"/>
                  <a:gd name="T28" fmla="*/ 870 w 1109"/>
                  <a:gd name="T29" fmla="*/ 1153 h 1162"/>
                  <a:gd name="T30" fmla="*/ 810 w 1109"/>
                  <a:gd name="T31" fmla="*/ 1153 h 1162"/>
                  <a:gd name="T32" fmla="*/ 780 w 1109"/>
                  <a:gd name="T33" fmla="*/ 1111 h 1162"/>
                  <a:gd name="T34" fmla="*/ 649 w 1109"/>
                  <a:gd name="T35" fmla="*/ 920 h 1162"/>
                  <a:gd name="T36" fmla="*/ 574 w 1109"/>
                  <a:gd name="T37" fmla="*/ 924 h 1162"/>
                  <a:gd name="T38" fmla="*/ 533 w 1109"/>
                  <a:gd name="T39" fmla="*/ 868 h 1162"/>
                  <a:gd name="T40" fmla="*/ 458 w 1109"/>
                  <a:gd name="T41" fmla="*/ 1003 h 1162"/>
                  <a:gd name="T42" fmla="*/ 387 w 1109"/>
                  <a:gd name="T43" fmla="*/ 954 h 1162"/>
                  <a:gd name="T44" fmla="*/ 334 w 1109"/>
                  <a:gd name="T45" fmla="*/ 1066 h 1162"/>
                  <a:gd name="T46" fmla="*/ 193 w 1109"/>
                  <a:gd name="T47" fmla="*/ 1014 h 1162"/>
                  <a:gd name="T48" fmla="*/ 36 w 1109"/>
                  <a:gd name="T49" fmla="*/ 871 h 1162"/>
                  <a:gd name="T50" fmla="*/ 0 w 1109"/>
                  <a:gd name="T51" fmla="*/ 685 h 1162"/>
                  <a:gd name="T52" fmla="*/ 250 w 1109"/>
                  <a:gd name="T53" fmla="*/ 735 h 11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09" h="1162">
                    <a:moveTo>
                      <a:pt x="250" y="735"/>
                    </a:moveTo>
                    <a:lnTo>
                      <a:pt x="421" y="507"/>
                    </a:lnTo>
                    <a:lnTo>
                      <a:pt x="371" y="300"/>
                    </a:lnTo>
                    <a:lnTo>
                      <a:pt x="440" y="177"/>
                    </a:lnTo>
                    <a:lnTo>
                      <a:pt x="414" y="0"/>
                    </a:lnTo>
                    <a:lnTo>
                      <a:pt x="516" y="80"/>
                    </a:lnTo>
                    <a:lnTo>
                      <a:pt x="719" y="129"/>
                    </a:lnTo>
                    <a:cubicBezTo>
                      <a:pt x="873" y="241"/>
                      <a:pt x="989" y="253"/>
                      <a:pt x="1109" y="358"/>
                    </a:cubicBezTo>
                    <a:lnTo>
                      <a:pt x="1101" y="451"/>
                    </a:lnTo>
                    <a:cubicBezTo>
                      <a:pt x="978" y="526"/>
                      <a:pt x="963" y="534"/>
                      <a:pt x="779" y="538"/>
                    </a:cubicBezTo>
                    <a:cubicBezTo>
                      <a:pt x="726" y="579"/>
                      <a:pt x="708" y="594"/>
                      <a:pt x="764" y="661"/>
                    </a:cubicBezTo>
                    <a:cubicBezTo>
                      <a:pt x="749" y="692"/>
                      <a:pt x="777" y="650"/>
                      <a:pt x="732" y="729"/>
                    </a:cubicBezTo>
                    <a:cubicBezTo>
                      <a:pt x="703" y="755"/>
                      <a:pt x="863" y="823"/>
                      <a:pt x="889" y="894"/>
                    </a:cubicBezTo>
                    <a:cubicBezTo>
                      <a:pt x="856" y="927"/>
                      <a:pt x="939" y="1009"/>
                      <a:pt x="897" y="1048"/>
                    </a:cubicBezTo>
                    <a:cubicBezTo>
                      <a:pt x="866" y="1078"/>
                      <a:pt x="895" y="1130"/>
                      <a:pt x="870" y="1153"/>
                    </a:cubicBezTo>
                    <a:cubicBezTo>
                      <a:pt x="845" y="1176"/>
                      <a:pt x="840" y="1146"/>
                      <a:pt x="810" y="1153"/>
                    </a:cubicBezTo>
                    <a:cubicBezTo>
                      <a:pt x="781" y="1157"/>
                      <a:pt x="803" y="1164"/>
                      <a:pt x="780" y="1111"/>
                    </a:cubicBezTo>
                    <a:cubicBezTo>
                      <a:pt x="738" y="1110"/>
                      <a:pt x="694" y="1006"/>
                      <a:pt x="649" y="920"/>
                    </a:cubicBezTo>
                    <a:cubicBezTo>
                      <a:pt x="605" y="909"/>
                      <a:pt x="630" y="942"/>
                      <a:pt x="574" y="924"/>
                    </a:cubicBezTo>
                    <a:cubicBezTo>
                      <a:pt x="540" y="915"/>
                      <a:pt x="568" y="880"/>
                      <a:pt x="533" y="868"/>
                    </a:cubicBezTo>
                    <a:cubicBezTo>
                      <a:pt x="498" y="856"/>
                      <a:pt x="490" y="1031"/>
                      <a:pt x="458" y="1003"/>
                    </a:cubicBezTo>
                    <a:lnTo>
                      <a:pt x="387" y="954"/>
                    </a:lnTo>
                    <a:cubicBezTo>
                      <a:pt x="369" y="991"/>
                      <a:pt x="439" y="1018"/>
                      <a:pt x="334" y="1066"/>
                    </a:cubicBezTo>
                    <a:cubicBezTo>
                      <a:pt x="298" y="1061"/>
                      <a:pt x="379" y="1028"/>
                      <a:pt x="193" y="1014"/>
                    </a:cubicBezTo>
                    <a:cubicBezTo>
                      <a:pt x="141" y="946"/>
                      <a:pt x="71" y="938"/>
                      <a:pt x="36" y="871"/>
                    </a:cubicBezTo>
                    <a:cubicBezTo>
                      <a:pt x="1" y="804"/>
                      <a:pt x="2" y="726"/>
                      <a:pt x="0" y="685"/>
                    </a:cubicBezTo>
                    <a:lnTo>
                      <a:pt x="250" y="735"/>
                    </a:lnTo>
                    <a:close/>
                  </a:path>
                </a:pathLst>
              </a:custGeom>
              <a:solidFill>
                <a:srgbClr val="0277AC"/>
              </a:solidFill>
              <a:ln w="9525">
                <a:solidFill>
                  <a:srgbClr val="FFFFFF">
                    <a:alpha val="54117"/>
                  </a:srgbClr>
                </a:solidFill>
                <a:bevel/>
              </a:ln>
            </p:spPr>
            <p:txBody>
              <a:bodyPr/>
              <a:lstStyle/>
              <a:p>
                <a:endParaRPr lang="zh-CN" altLang="en-US"/>
              </a:p>
            </p:txBody>
          </p:sp>
          <p:sp>
            <p:nvSpPr>
              <p:cNvPr id="36918" name="文本框 120"/>
              <p:cNvSpPr txBox="1">
                <a:spLocks noChangeArrowheads="1"/>
              </p:cNvSpPr>
              <p:nvPr/>
            </p:nvSpPr>
            <p:spPr bwMode="auto">
              <a:xfrm>
                <a:off x="11206" y="6647"/>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a:solidFill>
                      <a:schemeClr val="bg1"/>
                    </a:solidFill>
                  </a:rPr>
                  <a:t>重庆</a:t>
                </a:r>
              </a:p>
            </p:txBody>
          </p:sp>
          <p:sp>
            <p:nvSpPr>
              <p:cNvPr id="36919" name="文本框 123"/>
              <p:cNvSpPr txBox="1">
                <a:spLocks noChangeArrowheads="1"/>
              </p:cNvSpPr>
              <p:nvPr/>
            </p:nvSpPr>
            <p:spPr bwMode="auto">
              <a:xfrm>
                <a:off x="13215" y="5343"/>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dirty="0">
                    <a:solidFill>
                      <a:schemeClr val="bg1"/>
                    </a:solidFill>
                  </a:rPr>
                  <a:t>山东</a:t>
                </a:r>
              </a:p>
            </p:txBody>
          </p:sp>
          <p:sp>
            <p:nvSpPr>
              <p:cNvPr id="36920" name="文本框 124"/>
              <p:cNvSpPr txBox="1">
                <a:spLocks noChangeArrowheads="1"/>
              </p:cNvSpPr>
              <p:nvPr/>
            </p:nvSpPr>
            <p:spPr bwMode="auto">
              <a:xfrm>
                <a:off x="9719" y="8287"/>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a:solidFill>
                      <a:schemeClr val="bg1"/>
                    </a:solidFill>
                  </a:rPr>
                  <a:t>云南</a:t>
                </a:r>
              </a:p>
            </p:txBody>
          </p:sp>
          <p:sp>
            <p:nvSpPr>
              <p:cNvPr id="36921" name="文本框 125"/>
              <p:cNvSpPr txBox="1">
                <a:spLocks noChangeArrowheads="1"/>
              </p:cNvSpPr>
              <p:nvPr/>
            </p:nvSpPr>
            <p:spPr bwMode="auto">
              <a:xfrm>
                <a:off x="13675" y="6166"/>
                <a:ext cx="846"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dirty="0">
                    <a:solidFill>
                      <a:schemeClr val="bg1"/>
                    </a:solidFill>
                  </a:rPr>
                  <a:t>江苏</a:t>
                </a:r>
              </a:p>
            </p:txBody>
          </p:sp>
        </p:grpSp>
        <p:sp>
          <p:nvSpPr>
            <p:cNvPr id="36877" name="文本框 4"/>
            <p:cNvSpPr txBox="1">
              <a:spLocks noChangeArrowheads="1"/>
            </p:cNvSpPr>
            <p:nvPr/>
          </p:nvSpPr>
          <p:spPr bwMode="auto">
            <a:xfrm>
              <a:off x="13366" y="7724"/>
              <a:ext cx="751"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a:solidFill>
                    <a:schemeClr val="bg1"/>
                  </a:solidFill>
                </a:rPr>
                <a:t>广东</a:t>
              </a:r>
            </a:p>
          </p:txBody>
        </p:sp>
      </p:grpSp>
      <p:sp>
        <p:nvSpPr>
          <p:cNvPr id="27" name="矩形 26"/>
          <p:cNvSpPr/>
          <p:nvPr/>
        </p:nvSpPr>
        <p:spPr>
          <a:xfrm>
            <a:off x="557961" y="2114032"/>
            <a:ext cx="107950" cy="107950"/>
          </a:xfrm>
          <a:prstGeom prst="rect">
            <a:avLst/>
          </a:prstGeom>
          <a:solidFill>
            <a:srgbClr val="00A6B2"/>
          </a:solidFill>
          <a:ln>
            <a:noFill/>
          </a:ln>
          <a:effectLst>
            <a:outerShdw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1" name="矩形 60"/>
          <p:cNvSpPr/>
          <p:nvPr/>
        </p:nvSpPr>
        <p:spPr>
          <a:xfrm>
            <a:off x="721288" y="2963503"/>
            <a:ext cx="4051390" cy="597856"/>
          </a:xfrm>
          <a:prstGeom prst="rect">
            <a:avLst/>
          </a:prstGeom>
        </p:spPr>
        <p:txBody>
          <a:bodyPr wrap="square">
            <a:spAutoFit/>
          </a:bodyPr>
          <a:lstStyle/>
          <a:p>
            <a:pPr algn="just">
              <a:lnSpc>
                <a:spcPct val="130000"/>
              </a:lnSpc>
              <a:buFont typeface="Wingdings" panose="05000000000000000000" pitchFamily="2" charset="2"/>
              <a:buNone/>
            </a:pPr>
            <a:r>
              <a:rPr lang="en-US" altLang="zh-CN" sz="2800" b="1" dirty="0">
                <a:solidFill>
                  <a:srgbClr val="00A6B2"/>
                </a:solidFill>
                <a:latin typeface="微软雅黑" panose="020B0503020204020204" charset="-122"/>
                <a:ea typeface="微软雅黑" panose="020B0503020204020204" charset="-122"/>
              </a:rPr>
              <a:t>2</a:t>
            </a:r>
            <a:r>
              <a:rPr lang="zh-CN" altLang="en-US" sz="2800" b="1" dirty="0">
                <a:solidFill>
                  <a:srgbClr val="00A6B2"/>
                </a:solidFill>
                <a:latin typeface="微软雅黑" panose="020B0503020204020204" charset="-122"/>
                <a:ea typeface="微软雅黑" panose="020B0503020204020204" charset="-122"/>
              </a:rPr>
              <a:t>万</a:t>
            </a:r>
            <a:r>
              <a:rPr lang="en-US" altLang="zh-CN" sz="2800" b="1" dirty="0">
                <a:solidFill>
                  <a:srgbClr val="00A6B2"/>
                </a:solidFill>
                <a:latin typeface="微软雅黑" panose="020B0503020204020204" charset="-122"/>
                <a:ea typeface="微软雅黑" panose="020B0503020204020204" charset="-122"/>
              </a:rPr>
              <a:t>+</a:t>
            </a:r>
            <a:endParaRPr lang="zh-CN" altLang="en-US" sz="1600" b="1" dirty="0">
              <a:solidFill>
                <a:srgbClr val="586371"/>
              </a:solidFill>
              <a:latin typeface="微软雅黑" panose="020B0503020204020204" charset="-122"/>
              <a:ea typeface="微软雅黑" panose="020B0503020204020204" charset="-122"/>
            </a:endParaRPr>
          </a:p>
        </p:txBody>
      </p:sp>
      <p:sp>
        <p:nvSpPr>
          <p:cNvPr id="62" name="矩形 61"/>
          <p:cNvSpPr/>
          <p:nvPr/>
        </p:nvSpPr>
        <p:spPr>
          <a:xfrm>
            <a:off x="665911" y="1861400"/>
            <a:ext cx="4377055" cy="597856"/>
          </a:xfrm>
          <a:prstGeom prst="rect">
            <a:avLst/>
          </a:prstGeom>
        </p:spPr>
        <p:txBody>
          <a:bodyPr wrap="square">
            <a:spAutoFit/>
          </a:bodyPr>
          <a:lstStyle/>
          <a:p>
            <a:pPr algn="just">
              <a:lnSpc>
                <a:spcPct val="130000"/>
              </a:lnSpc>
              <a:buFont typeface="Wingdings" panose="05000000000000000000" pitchFamily="2" charset="2"/>
              <a:buNone/>
            </a:pPr>
            <a:r>
              <a:rPr lang="en-US" altLang="zh-CN" sz="2800" b="1" dirty="0">
                <a:solidFill>
                  <a:srgbClr val="00A6B2"/>
                </a:solidFill>
                <a:latin typeface="微软雅黑" panose="020B0503020204020204" charset="-122"/>
                <a:ea typeface="微软雅黑" panose="020B0503020204020204" charset="-122"/>
              </a:rPr>
              <a:t>40</a:t>
            </a:r>
            <a:r>
              <a:rPr lang="zh-CN" altLang="en-US" sz="2800" b="1" dirty="0">
                <a:solidFill>
                  <a:srgbClr val="00A6B2"/>
                </a:solidFill>
                <a:latin typeface="微软雅黑" panose="020B0503020204020204" charset="-122"/>
                <a:ea typeface="微软雅黑" panose="020B0503020204020204" charset="-122"/>
              </a:rPr>
              <a:t>所</a:t>
            </a:r>
            <a:r>
              <a:rPr lang="en-US" altLang="zh-CN" sz="2800" b="1" dirty="0">
                <a:solidFill>
                  <a:srgbClr val="00A6B2"/>
                </a:solidFill>
                <a:latin typeface="微软雅黑" panose="020B0503020204020204" charset="-122"/>
                <a:ea typeface="微软雅黑" panose="020B0503020204020204" charset="-122"/>
              </a:rPr>
              <a:t>+</a:t>
            </a:r>
            <a:endParaRPr lang="zh-CN" altLang="en-US" sz="1600" b="1" dirty="0">
              <a:solidFill>
                <a:srgbClr val="586371"/>
              </a:solidFill>
              <a:latin typeface="微软雅黑" panose="020B0503020204020204" charset="-122"/>
              <a:ea typeface="微软雅黑" panose="020B0503020204020204" charset="-122"/>
            </a:endParaRPr>
          </a:p>
        </p:txBody>
      </p:sp>
      <p:sp>
        <p:nvSpPr>
          <p:cNvPr id="66" name="文本框 65"/>
          <p:cNvSpPr txBox="1"/>
          <p:nvPr/>
        </p:nvSpPr>
        <p:spPr>
          <a:xfrm>
            <a:off x="813104" y="5617234"/>
            <a:ext cx="2017050" cy="377411"/>
          </a:xfrm>
          <a:prstGeom prst="rect">
            <a:avLst/>
          </a:prstGeom>
          <a:noFill/>
          <a:ln>
            <a:solidFill>
              <a:srgbClr val="00A6B2"/>
            </a:solidFill>
          </a:ln>
        </p:spPr>
        <p:txBody>
          <a:bodyPr wrap="square" rtlCol="0">
            <a:spAutoFit/>
          </a:bodyPr>
          <a:lstStyle/>
          <a:p>
            <a:pPr>
              <a:lnSpc>
                <a:spcPct val="150000"/>
              </a:lnSpc>
            </a:pPr>
            <a:r>
              <a:rPr lang="en-US" altLang="zh-CN" sz="1400" b="1" dirty="0">
                <a:solidFill>
                  <a:srgbClr val="00A6B2"/>
                </a:solidFill>
                <a:latin typeface="微软雅黑" panose="020B0503020204020204" charset="-122"/>
                <a:ea typeface="微软雅黑" panose="020B0503020204020204" charset="-122"/>
              </a:rPr>
              <a:t>50+</a:t>
            </a:r>
            <a:r>
              <a:rPr lang="zh-CN" altLang="en-US" sz="1400" b="1" dirty="0">
                <a:solidFill>
                  <a:srgbClr val="586371"/>
                </a:solidFill>
                <a:latin typeface="微软雅黑" panose="020B0503020204020204" charset="-122"/>
                <a:ea typeface="微软雅黑" panose="020B0503020204020204" charset="-122"/>
              </a:rPr>
              <a:t>国家级省级项目</a:t>
            </a:r>
          </a:p>
        </p:txBody>
      </p:sp>
      <p:sp>
        <p:nvSpPr>
          <p:cNvPr id="67" name="文本框 66"/>
          <p:cNvSpPr txBox="1"/>
          <p:nvPr/>
        </p:nvSpPr>
        <p:spPr>
          <a:xfrm>
            <a:off x="2996702" y="5617234"/>
            <a:ext cx="1583235" cy="377411"/>
          </a:xfrm>
          <a:prstGeom prst="rect">
            <a:avLst/>
          </a:prstGeom>
          <a:noFill/>
          <a:ln>
            <a:solidFill>
              <a:srgbClr val="00A6B2"/>
            </a:solidFill>
          </a:ln>
        </p:spPr>
        <p:txBody>
          <a:bodyPr wrap="square" rtlCol="0">
            <a:spAutoFit/>
          </a:bodyPr>
          <a:lstStyle/>
          <a:p>
            <a:pPr>
              <a:lnSpc>
                <a:spcPct val="150000"/>
              </a:lnSpc>
            </a:pPr>
            <a:r>
              <a:rPr lang="en-US" altLang="zh-CN" sz="1400" b="1" dirty="0">
                <a:solidFill>
                  <a:srgbClr val="00A6B2"/>
                </a:solidFill>
                <a:latin typeface="微软雅黑" panose="020B0503020204020204" charset="-122"/>
                <a:ea typeface="微软雅黑" panose="020B0503020204020204" charset="-122"/>
              </a:rPr>
              <a:t>200+</a:t>
            </a:r>
            <a:r>
              <a:rPr lang="zh-CN" altLang="en-US" sz="1400" b="1" dirty="0">
                <a:solidFill>
                  <a:srgbClr val="586371"/>
                </a:solidFill>
                <a:latin typeface="微软雅黑" panose="020B0503020204020204" charset="-122"/>
                <a:ea typeface="微软雅黑" panose="020B0503020204020204" charset="-122"/>
              </a:rPr>
              <a:t>学科竞赛</a:t>
            </a:r>
          </a:p>
        </p:txBody>
      </p:sp>
      <p:sp>
        <p:nvSpPr>
          <p:cNvPr id="68" name="文本框 67"/>
          <p:cNvSpPr txBox="1"/>
          <p:nvPr/>
        </p:nvSpPr>
        <p:spPr>
          <a:xfrm>
            <a:off x="4687807" y="5617234"/>
            <a:ext cx="1674263" cy="377411"/>
          </a:xfrm>
          <a:prstGeom prst="rect">
            <a:avLst/>
          </a:prstGeom>
          <a:noFill/>
          <a:ln>
            <a:solidFill>
              <a:srgbClr val="00A6B2"/>
            </a:solidFill>
          </a:ln>
        </p:spPr>
        <p:txBody>
          <a:bodyPr wrap="square" rtlCol="0">
            <a:spAutoFit/>
          </a:bodyPr>
          <a:lstStyle/>
          <a:p>
            <a:pPr>
              <a:lnSpc>
                <a:spcPct val="150000"/>
              </a:lnSpc>
            </a:pPr>
            <a:r>
              <a:rPr lang="en-US" altLang="zh-CN" sz="1400" b="1" dirty="0">
                <a:solidFill>
                  <a:srgbClr val="00A6B2"/>
                </a:solidFill>
                <a:latin typeface="微软雅黑" panose="020B0503020204020204" charset="-122"/>
                <a:ea typeface="微软雅黑" panose="020B0503020204020204" charset="-122"/>
              </a:rPr>
              <a:t>50+</a:t>
            </a:r>
            <a:r>
              <a:rPr lang="zh-CN" altLang="en-US" sz="1400" b="1" dirty="0">
                <a:solidFill>
                  <a:srgbClr val="586371"/>
                </a:solidFill>
                <a:latin typeface="微软雅黑" panose="020B0503020204020204" charset="-122"/>
                <a:ea typeface="微软雅黑" panose="020B0503020204020204" charset="-122"/>
              </a:rPr>
              <a:t>著作教材</a:t>
            </a:r>
          </a:p>
        </p:txBody>
      </p:sp>
      <p:sp>
        <p:nvSpPr>
          <p:cNvPr id="69" name="矩形 68"/>
          <p:cNvSpPr/>
          <p:nvPr/>
        </p:nvSpPr>
        <p:spPr>
          <a:xfrm>
            <a:off x="707147" y="5188122"/>
            <a:ext cx="2670810" cy="381195"/>
          </a:xfrm>
          <a:prstGeom prst="rect">
            <a:avLst/>
          </a:prstGeom>
        </p:spPr>
        <p:txBody>
          <a:bodyPr wrap="square">
            <a:spAutoFit/>
          </a:bodyPr>
          <a:lstStyle/>
          <a:p>
            <a:pPr algn="just">
              <a:lnSpc>
                <a:spcPct val="130000"/>
              </a:lnSpc>
              <a:buFont typeface="Wingdings" panose="05000000000000000000" pitchFamily="2" charset="2"/>
              <a:buNone/>
            </a:pPr>
            <a:r>
              <a:rPr lang="zh-CN" altLang="en-US" sz="1600" b="1" dirty="0">
                <a:solidFill>
                  <a:srgbClr val="586371"/>
                </a:solidFill>
                <a:latin typeface="微软雅黑" panose="020B0503020204020204" charset="-122"/>
                <a:ea typeface="微软雅黑" panose="020B0503020204020204" charset="-122"/>
              </a:rPr>
              <a:t>教科研成果</a:t>
            </a:r>
          </a:p>
        </p:txBody>
      </p:sp>
      <p:sp>
        <p:nvSpPr>
          <p:cNvPr id="70" name="矩形 69"/>
          <p:cNvSpPr/>
          <p:nvPr/>
        </p:nvSpPr>
        <p:spPr>
          <a:xfrm>
            <a:off x="-3175" y="288925"/>
            <a:ext cx="74613" cy="598488"/>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71" name="矩形 17"/>
          <p:cNvSpPr>
            <a:spLocks noChangeArrowheads="1"/>
          </p:cNvSpPr>
          <p:nvPr/>
        </p:nvSpPr>
        <p:spPr bwMode="auto">
          <a:xfrm>
            <a:off x="239713" y="342900"/>
            <a:ext cx="22240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1.3</a:t>
            </a:r>
            <a:r>
              <a:rPr lang="zh-CN" altLang="en-US" sz="2600" b="1" dirty="0">
                <a:solidFill>
                  <a:srgbClr val="586371"/>
                </a:solidFill>
                <a:latin typeface="微软雅黑" panose="020B0503020204020204" charset="-122"/>
                <a:ea typeface="微软雅黑" panose="020B0503020204020204" charset="-122"/>
              </a:rPr>
              <a:t>办学成果</a:t>
            </a:r>
          </a:p>
        </p:txBody>
      </p:sp>
      <p:sp>
        <p:nvSpPr>
          <p:cNvPr id="73" name="矩形 72"/>
          <p:cNvSpPr/>
          <p:nvPr/>
        </p:nvSpPr>
        <p:spPr>
          <a:xfrm>
            <a:off x="557961" y="4104004"/>
            <a:ext cx="107950" cy="107950"/>
          </a:xfrm>
          <a:prstGeom prst="rect">
            <a:avLst/>
          </a:prstGeom>
          <a:solidFill>
            <a:srgbClr val="00A6B2"/>
          </a:solidFill>
          <a:ln>
            <a:noFill/>
          </a:ln>
          <a:effectLst>
            <a:outerShdw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74" name="矩形 73"/>
          <p:cNvSpPr/>
          <p:nvPr/>
        </p:nvSpPr>
        <p:spPr>
          <a:xfrm>
            <a:off x="561605" y="3215458"/>
            <a:ext cx="107950" cy="107950"/>
          </a:xfrm>
          <a:prstGeom prst="rect">
            <a:avLst/>
          </a:prstGeom>
          <a:solidFill>
            <a:srgbClr val="00A6B2"/>
          </a:solidFill>
          <a:ln>
            <a:noFill/>
          </a:ln>
          <a:effectLst>
            <a:outerShdw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75" name="矩形 74"/>
          <p:cNvSpPr/>
          <p:nvPr/>
        </p:nvSpPr>
        <p:spPr>
          <a:xfrm>
            <a:off x="561007" y="5324745"/>
            <a:ext cx="107950" cy="107950"/>
          </a:xfrm>
          <a:prstGeom prst="rect">
            <a:avLst/>
          </a:prstGeom>
          <a:solidFill>
            <a:srgbClr val="00A6B2"/>
          </a:solidFill>
          <a:ln>
            <a:noFill/>
          </a:ln>
          <a:effectLst>
            <a:outerShdw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76" name="文本框 123"/>
          <p:cNvSpPr txBox="1">
            <a:spLocks noChangeArrowheads="1"/>
          </p:cNvSpPr>
          <p:nvPr/>
        </p:nvSpPr>
        <p:spPr bwMode="auto">
          <a:xfrm>
            <a:off x="8692132" y="3018966"/>
            <a:ext cx="466343" cy="244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000" b="1" dirty="0">
                <a:solidFill>
                  <a:schemeClr val="bg1"/>
                </a:solidFill>
              </a:rPr>
              <a:t>河北</a:t>
            </a:r>
          </a:p>
        </p:txBody>
      </p:sp>
      <p:sp>
        <p:nvSpPr>
          <p:cNvPr id="2" name="矩形 1"/>
          <p:cNvSpPr/>
          <p:nvPr/>
        </p:nvSpPr>
        <p:spPr>
          <a:xfrm>
            <a:off x="2029522" y="2028475"/>
            <a:ext cx="2064989" cy="307777"/>
          </a:xfrm>
          <a:prstGeom prst="rect">
            <a:avLst/>
          </a:prstGeom>
        </p:spPr>
        <p:txBody>
          <a:bodyPr wrap="none">
            <a:spAutoFit/>
          </a:bodyPr>
          <a:lstStyle/>
          <a:p>
            <a:r>
              <a:rPr lang="zh-CN" altLang="en-US" sz="1400" b="1" dirty="0">
                <a:solidFill>
                  <a:srgbClr val="586371"/>
                </a:solidFill>
                <a:latin typeface="微软雅黑" panose="020B0503020204020204" charset="-122"/>
                <a:ea typeface="微软雅黑" panose="020B0503020204020204" charset="-122"/>
              </a:rPr>
              <a:t>产业学院</a:t>
            </a:r>
            <a:r>
              <a:rPr lang="en-US" altLang="zh-CN" sz="1400" b="1" dirty="0">
                <a:solidFill>
                  <a:srgbClr val="586371"/>
                </a:solidFill>
                <a:latin typeface="微软雅黑" panose="020B0503020204020204" charset="-122"/>
                <a:ea typeface="微软雅黑" panose="020B0503020204020204" charset="-122"/>
              </a:rPr>
              <a:t>/</a:t>
            </a:r>
            <a:r>
              <a:rPr lang="zh-CN" altLang="en-US" sz="1400" b="1" dirty="0">
                <a:solidFill>
                  <a:srgbClr val="586371"/>
                </a:solidFill>
                <a:latin typeface="微软雅黑" panose="020B0503020204020204" charset="-122"/>
                <a:ea typeface="微软雅黑" panose="020B0503020204020204" charset="-122"/>
              </a:rPr>
              <a:t>专业共建项目</a:t>
            </a:r>
            <a:endParaRPr lang="zh-CN" altLang="en-US" sz="1400" dirty="0"/>
          </a:p>
        </p:txBody>
      </p:sp>
      <p:sp>
        <p:nvSpPr>
          <p:cNvPr id="65" name="矩形 64"/>
          <p:cNvSpPr/>
          <p:nvPr/>
        </p:nvSpPr>
        <p:spPr>
          <a:xfrm>
            <a:off x="2030655" y="3190805"/>
            <a:ext cx="723275" cy="307777"/>
          </a:xfrm>
          <a:prstGeom prst="rect">
            <a:avLst/>
          </a:prstGeom>
        </p:spPr>
        <p:txBody>
          <a:bodyPr wrap="none">
            <a:spAutoFit/>
          </a:bodyPr>
          <a:lstStyle/>
          <a:p>
            <a:r>
              <a:rPr lang="zh-CN" altLang="en-US" sz="1400" b="1" dirty="0">
                <a:solidFill>
                  <a:srgbClr val="586371"/>
                </a:solidFill>
                <a:latin typeface="微软雅黑" panose="020B0503020204020204" charset="-122"/>
                <a:ea typeface="微软雅黑" panose="020B0503020204020204" charset="-122"/>
              </a:rPr>
              <a:t>在校生</a:t>
            </a:r>
            <a:endParaRPr lang="zh-CN" altLang="en-US" sz="1400" dirty="0"/>
          </a:p>
        </p:txBody>
      </p:sp>
      <p:sp>
        <p:nvSpPr>
          <p:cNvPr id="72" name="矩形 71"/>
          <p:cNvSpPr/>
          <p:nvPr/>
        </p:nvSpPr>
        <p:spPr>
          <a:xfrm>
            <a:off x="707147" y="3976548"/>
            <a:ext cx="2670810" cy="381195"/>
          </a:xfrm>
          <a:prstGeom prst="rect">
            <a:avLst/>
          </a:prstGeom>
        </p:spPr>
        <p:txBody>
          <a:bodyPr wrap="square">
            <a:spAutoFit/>
          </a:bodyPr>
          <a:lstStyle/>
          <a:p>
            <a:pPr algn="just">
              <a:lnSpc>
                <a:spcPct val="130000"/>
              </a:lnSpc>
              <a:buFont typeface="Wingdings" panose="05000000000000000000" pitchFamily="2" charset="2"/>
              <a:buNone/>
            </a:pPr>
            <a:r>
              <a:rPr lang="zh-CN" altLang="en-US" sz="1600" b="1" dirty="0">
                <a:solidFill>
                  <a:srgbClr val="586371"/>
                </a:solidFill>
                <a:latin typeface="微软雅黑" panose="020B0503020204020204" charset="-122"/>
                <a:ea typeface="微软雅黑" panose="020B0503020204020204" charset="-122"/>
              </a:rPr>
              <a:t>就业成果</a:t>
            </a:r>
          </a:p>
        </p:txBody>
      </p:sp>
      <p:sp>
        <p:nvSpPr>
          <p:cNvPr id="77" name="文本框 76"/>
          <p:cNvSpPr txBox="1"/>
          <p:nvPr/>
        </p:nvSpPr>
        <p:spPr>
          <a:xfrm>
            <a:off x="813104" y="4459893"/>
            <a:ext cx="2017050" cy="377411"/>
          </a:xfrm>
          <a:prstGeom prst="rect">
            <a:avLst/>
          </a:prstGeom>
          <a:noFill/>
          <a:ln>
            <a:solidFill>
              <a:srgbClr val="00A6B2"/>
            </a:solidFill>
          </a:ln>
        </p:spPr>
        <p:txBody>
          <a:bodyPr wrap="square" rtlCol="0">
            <a:spAutoFit/>
          </a:bodyPr>
          <a:lstStyle/>
          <a:p>
            <a:pPr>
              <a:lnSpc>
                <a:spcPct val="150000"/>
              </a:lnSpc>
            </a:pPr>
            <a:r>
              <a:rPr lang="en-US" altLang="zh-CN" sz="1400" b="1" dirty="0">
                <a:solidFill>
                  <a:srgbClr val="00A6B2"/>
                </a:solidFill>
                <a:latin typeface="微软雅黑" panose="020B0503020204020204" charset="-122"/>
                <a:ea typeface="微软雅黑" panose="020B0503020204020204" charset="-122"/>
              </a:rPr>
              <a:t>100%</a:t>
            </a:r>
            <a:r>
              <a:rPr lang="zh-CN" altLang="en-US" sz="1400" b="1" dirty="0">
                <a:solidFill>
                  <a:srgbClr val="586371"/>
                </a:solidFill>
                <a:latin typeface="微软雅黑" panose="020B0503020204020204" charset="-122"/>
                <a:ea typeface="微软雅黑" panose="020B0503020204020204" charset="-122"/>
              </a:rPr>
              <a:t>就业率</a:t>
            </a:r>
          </a:p>
        </p:txBody>
      </p:sp>
      <p:sp>
        <p:nvSpPr>
          <p:cNvPr id="78" name="文本框 77"/>
          <p:cNvSpPr txBox="1"/>
          <p:nvPr/>
        </p:nvSpPr>
        <p:spPr>
          <a:xfrm>
            <a:off x="2996702" y="4459893"/>
            <a:ext cx="1583235" cy="377411"/>
          </a:xfrm>
          <a:prstGeom prst="rect">
            <a:avLst/>
          </a:prstGeom>
          <a:noFill/>
          <a:ln>
            <a:solidFill>
              <a:srgbClr val="00A6B2"/>
            </a:solidFill>
          </a:ln>
        </p:spPr>
        <p:txBody>
          <a:bodyPr wrap="square" rtlCol="0">
            <a:spAutoFit/>
          </a:bodyPr>
          <a:lstStyle/>
          <a:p>
            <a:pPr>
              <a:lnSpc>
                <a:spcPct val="150000"/>
              </a:lnSpc>
            </a:pPr>
            <a:r>
              <a:rPr lang="en-US" altLang="zh-CN" sz="1400" b="1" dirty="0">
                <a:solidFill>
                  <a:srgbClr val="00A6B2"/>
                </a:solidFill>
                <a:latin typeface="微软雅黑" panose="020B0503020204020204" charset="-122"/>
                <a:ea typeface="微软雅黑" panose="020B0503020204020204" charset="-122"/>
              </a:rPr>
              <a:t>97%</a:t>
            </a:r>
            <a:r>
              <a:rPr lang="zh-CN" altLang="en-US" sz="1400" b="1" dirty="0">
                <a:solidFill>
                  <a:srgbClr val="586371"/>
                </a:solidFill>
                <a:latin typeface="微软雅黑" panose="020B0503020204020204" charset="-122"/>
                <a:ea typeface="微软雅黑" panose="020B0503020204020204" charset="-122"/>
              </a:rPr>
              <a:t>就业满意度</a:t>
            </a:r>
          </a:p>
        </p:txBody>
      </p:sp>
      <p:sp>
        <p:nvSpPr>
          <p:cNvPr id="79" name="文本框 78"/>
          <p:cNvSpPr txBox="1"/>
          <p:nvPr/>
        </p:nvSpPr>
        <p:spPr>
          <a:xfrm>
            <a:off x="4687808" y="4459893"/>
            <a:ext cx="1674264" cy="377411"/>
          </a:xfrm>
          <a:prstGeom prst="rect">
            <a:avLst/>
          </a:prstGeom>
          <a:noFill/>
          <a:ln>
            <a:solidFill>
              <a:srgbClr val="00A6B2"/>
            </a:solidFill>
          </a:ln>
        </p:spPr>
        <p:txBody>
          <a:bodyPr wrap="square" rtlCol="0">
            <a:spAutoFit/>
          </a:bodyPr>
          <a:lstStyle/>
          <a:p>
            <a:pPr>
              <a:lnSpc>
                <a:spcPct val="150000"/>
              </a:lnSpc>
            </a:pPr>
            <a:r>
              <a:rPr lang="en-US" altLang="zh-CN" sz="1400" b="1" dirty="0">
                <a:solidFill>
                  <a:srgbClr val="00A6B2"/>
                </a:solidFill>
                <a:latin typeface="微软雅黑" panose="020B0503020204020204" charset="-122"/>
                <a:ea typeface="微软雅黑" panose="020B0503020204020204" charset="-122"/>
              </a:rPr>
              <a:t>81.3%</a:t>
            </a:r>
            <a:r>
              <a:rPr lang="zh-CN" altLang="en-US" sz="1400" b="1" dirty="0">
                <a:solidFill>
                  <a:srgbClr val="586371"/>
                </a:solidFill>
                <a:latin typeface="微软雅黑" panose="020B0503020204020204" charset="-122"/>
                <a:ea typeface="微软雅黑" panose="020B0503020204020204" charset="-122"/>
              </a:rPr>
              <a:t>对口就业率</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831215" y="740410"/>
            <a:ext cx="4705350" cy="5159375"/>
          </a:xfrm>
          <a:prstGeom prst="rect">
            <a:avLst/>
          </a:prstGeom>
          <a:blipFill>
            <a:blip r:embed="rId6"/>
            <a:srcRect/>
            <a:stretch>
              <a:fillRect l="8" t="-90138" r="-8" b="-89682"/>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rgbClr val="4276AA">
              <a:shade val="50000"/>
            </a:srgbClr>
          </a:lnRef>
          <a:fillRef idx="1">
            <a:srgbClr val="4276AA"/>
          </a:fillRef>
          <a:effectRef idx="0">
            <a:srgbClr val="4276AA"/>
          </a:effectRef>
          <a:fontRef idx="minor">
            <a:srgbClr val="FFFFFF"/>
          </a:fontRef>
        </p:style>
        <p:txBody>
          <a:bodyPr anchor="ctr"/>
          <a:lstStyle/>
          <a:p>
            <a:pPr algn="ctr" eaLnBrk="1" fontAlgn="auto" hangingPunct="1">
              <a:defRPr/>
            </a:pPr>
            <a:endParaRPr noProof="1"/>
          </a:p>
        </p:txBody>
      </p:sp>
      <p:sp>
        <p:nvSpPr>
          <p:cNvPr id="17420" name="矩形 7"/>
          <p:cNvSpPr>
            <a:spLocks noChangeArrowheads="1"/>
          </p:cNvSpPr>
          <p:nvPr>
            <p:custDataLst>
              <p:tags r:id="rId3"/>
            </p:custDataLst>
          </p:nvPr>
        </p:nvSpPr>
        <p:spPr bwMode="auto">
          <a:xfrm>
            <a:off x="4671695" y="2384425"/>
            <a:ext cx="5130800" cy="1871345"/>
          </a:xfrm>
          <a:prstGeom prst="rect">
            <a:avLst/>
          </a:prstGeom>
          <a:solidFill>
            <a:srgbClr val="FFFFFF"/>
          </a:solidFill>
          <a:ln w="57150">
            <a:solidFill>
              <a:srgbClr val="778495">
                <a:alpha val="18823"/>
              </a:srgbClr>
            </a:solidFill>
            <a:miter lim="800000"/>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7421" name="文本框 9"/>
          <p:cNvSpPr txBox="1">
            <a:spLocks noChangeArrowheads="1"/>
          </p:cNvSpPr>
          <p:nvPr>
            <p:custDataLst>
              <p:tags r:id="rId4"/>
            </p:custDataLst>
          </p:nvPr>
        </p:nvSpPr>
        <p:spPr bwMode="auto">
          <a:xfrm>
            <a:off x="4963160" y="3012440"/>
            <a:ext cx="454850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3600" b="1" dirty="0">
                <a:solidFill>
                  <a:srgbClr val="586371"/>
                </a:solidFill>
                <a:latin typeface="微软雅黑" panose="020B0503020204020204" charset="-122"/>
                <a:ea typeface="微软雅黑" panose="020B0503020204020204" charset="-122"/>
                <a:sym typeface="+mn-ea"/>
              </a:rPr>
              <a:t>商业模式</a:t>
            </a:r>
            <a:endParaRPr lang="en-US" altLang="zh-CN" sz="3600" b="1" dirty="0">
              <a:solidFill>
                <a:srgbClr val="586371"/>
              </a:solidFill>
              <a:latin typeface="微软雅黑" panose="020B0503020204020204" charset="-122"/>
              <a:ea typeface="微软雅黑" panose="020B0503020204020204" charset="-122"/>
              <a:sym typeface="+mn-ea"/>
            </a:endParaRPr>
          </a:p>
        </p:txBody>
      </p:sp>
      <p:sp>
        <p:nvSpPr>
          <p:cNvPr id="2" name="文本框 1"/>
          <p:cNvSpPr txBox="1"/>
          <p:nvPr/>
        </p:nvSpPr>
        <p:spPr>
          <a:xfrm>
            <a:off x="6338170" y="3553234"/>
            <a:ext cx="2029216" cy="521970"/>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1400" dirty="0">
                <a:solidFill>
                  <a:srgbClr val="586371"/>
                </a:solidFill>
                <a:latin typeface="Microsoft YaHei" panose="020B0503020204020204" pitchFamily="34" charset="-122"/>
                <a:ea typeface="Microsoft YaHei" panose="020B0503020204020204" pitchFamily="34" charset="-122"/>
              </a:rPr>
              <a:t>ZX***</a:t>
            </a:r>
            <a:r>
              <a:rPr kumimoji="1" lang="zh-CN" altLang="en-US" sz="1400" dirty="0">
                <a:solidFill>
                  <a:srgbClr val="586371"/>
                </a:solidFill>
                <a:latin typeface="Microsoft YaHei" panose="020B0503020204020204" pitchFamily="34" charset="-122"/>
                <a:ea typeface="Microsoft YaHei" panose="020B0503020204020204" pitchFamily="34" charset="-122"/>
              </a:rPr>
              <a:t>学院</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合作模式</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p:txBody>
      </p:sp>
    </p:spTree>
    <p:custDataLst>
      <p:tags r:id="rId1"/>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图片 81" descr="摄图网_500602941_banner"/>
          <p:cNvPicPr>
            <a:picLocks noChangeAspect="1" noChangeArrowheads="1"/>
          </p:cNvPicPr>
          <p:nvPr/>
        </p:nvPicPr>
        <p:blipFill>
          <a:blip r:embed="rId4">
            <a:lum bright="6000" contrast="6000"/>
            <a:extLst>
              <a:ext uri="{28A0092B-C50C-407E-A947-70E740481C1C}">
                <a14:useLocalDpi xmlns:a14="http://schemas.microsoft.com/office/drawing/2010/main" val="0"/>
              </a:ext>
            </a:extLst>
          </a:blip>
          <a:srcRect/>
          <a:stretch>
            <a:fillRect/>
          </a:stretch>
        </p:blipFill>
        <p:spPr bwMode="auto">
          <a:xfrm>
            <a:off x="8113713" y="1673225"/>
            <a:ext cx="334645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2" name="图片 80"/>
          <p:cNvPicPr>
            <a:picLocks noChangeAspect="1" noChangeArrowheads="1"/>
          </p:cNvPicPr>
          <p:nvPr/>
        </p:nvPicPr>
        <p:blipFill>
          <a:blip r:embed="rId5">
            <a:lum bright="18000" contrast="6000"/>
            <a:extLst>
              <a:ext uri="{28A0092B-C50C-407E-A947-70E740481C1C}">
                <a14:useLocalDpi xmlns:a14="http://schemas.microsoft.com/office/drawing/2010/main" val="0"/>
              </a:ext>
            </a:extLst>
          </a:blip>
          <a:srcRect r="16347"/>
          <a:stretch>
            <a:fillRect/>
          </a:stretch>
        </p:blipFill>
        <p:spPr bwMode="auto">
          <a:xfrm>
            <a:off x="4424363" y="1663700"/>
            <a:ext cx="3343275"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图片 79" descr="摄图网_500583427_wx"/>
          <p:cNvPicPr>
            <a:picLocks noChangeAspect="1" noChangeArrowheads="1"/>
          </p:cNvPicPr>
          <p:nvPr/>
        </p:nvPicPr>
        <p:blipFill>
          <a:blip r:embed="rId6">
            <a:lum bright="6000" contrast="6000"/>
            <a:extLst>
              <a:ext uri="{28A0092B-C50C-407E-A947-70E740481C1C}">
                <a14:useLocalDpi xmlns:a14="http://schemas.microsoft.com/office/drawing/2010/main" val="0"/>
              </a:ext>
            </a:extLst>
          </a:blip>
          <a:srcRect r="35745"/>
          <a:stretch>
            <a:fillRect/>
          </a:stretch>
        </p:blipFill>
        <p:spPr bwMode="auto">
          <a:xfrm>
            <a:off x="730250" y="1663700"/>
            <a:ext cx="3355975"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725" name="矩形 17"/>
          <p:cNvSpPr>
            <a:spLocks noChangeArrowheads="1"/>
          </p:cNvSpPr>
          <p:nvPr/>
        </p:nvSpPr>
        <p:spPr bwMode="auto">
          <a:xfrm>
            <a:off x="239713" y="342900"/>
            <a:ext cx="37718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2.1ZX***</a:t>
            </a:r>
            <a:r>
              <a:rPr lang="zh-CN" altLang="en-US" sz="2600" b="1" dirty="0">
                <a:solidFill>
                  <a:srgbClr val="586371"/>
                </a:solidFill>
                <a:latin typeface="微软雅黑" panose="020B0503020204020204" charset="-122"/>
                <a:ea typeface="微软雅黑" panose="020B0503020204020204" charset="-122"/>
              </a:rPr>
              <a:t>学院</a:t>
            </a:r>
          </a:p>
        </p:txBody>
      </p:sp>
      <p:sp>
        <p:nvSpPr>
          <p:cNvPr id="30727" name="矩形 6"/>
          <p:cNvSpPr>
            <a:spLocks noChangeArrowheads="1"/>
          </p:cNvSpPr>
          <p:nvPr/>
        </p:nvSpPr>
        <p:spPr bwMode="auto">
          <a:xfrm>
            <a:off x="1727200" y="833438"/>
            <a:ext cx="88455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20000"/>
              </a:lnSpc>
              <a:buFontTx/>
              <a:buNone/>
            </a:pPr>
            <a:endParaRPr lang="zh-CN" altLang="en-US" sz="2400" b="1">
              <a:solidFill>
                <a:srgbClr val="0277AC"/>
              </a:solidFill>
              <a:latin typeface="微软雅黑" panose="020B0503020204020204" charset="-122"/>
              <a:ea typeface="微软雅黑" panose="020B0503020204020204" charset="-122"/>
              <a:sym typeface="宋体" pitchFamily="2" charset="-122"/>
            </a:endParaRPr>
          </a:p>
        </p:txBody>
      </p:sp>
      <p:sp>
        <p:nvSpPr>
          <p:cNvPr id="9" name="椭圆 8"/>
          <p:cNvSpPr/>
          <p:nvPr/>
        </p:nvSpPr>
        <p:spPr>
          <a:xfrm>
            <a:off x="1876425" y="3370263"/>
            <a:ext cx="1062038" cy="1062037"/>
          </a:xfrm>
          <a:prstGeom prst="ellipse">
            <a:avLst/>
          </a:prstGeom>
          <a:solidFill>
            <a:srgbClr val="00A6B2"/>
          </a:solidFill>
          <a:ln>
            <a:noFill/>
          </a:ln>
          <a:effectLst>
            <a:outerShdw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729" name="矩形 24"/>
          <p:cNvSpPr>
            <a:spLocks noChangeArrowheads="1"/>
          </p:cNvSpPr>
          <p:nvPr/>
        </p:nvSpPr>
        <p:spPr bwMode="auto">
          <a:xfrm>
            <a:off x="545750" y="4627748"/>
            <a:ext cx="3355975" cy="1078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rPr>
              <a:t>隶属合作院校的</a:t>
            </a:r>
            <a:r>
              <a:rPr lang="zh-CN" altLang="zh-CN" sz="1100" dirty="0">
                <a:solidFill>
                  <a:srgbClr val="00A6B2"/>
                </a:solidFill>
                <a:latin typeface="微软雅黑" panose="020B0503020204020204" charset="-122"/>
                <a:ea typeface="微软雅黑" panose="020B0503020204020204" charset="-122"/>
              </a:rPr>
              <a:t>二级学院</a:t>
            </a:r>
            <a:r>
              <a:rPr lang="zh-CN" altLang="en-US" sz="1100" dirty="0">
                <a:solidFill>
                  <a:srgbClr val="00A6B2"/>
                </a:solidFill>
                <a:latin typeface="微软雅黑" panose="020B0503020204020204" charset="-122"/>
                <a:ea typeface="微软雅黑" panose="020B0503020204020204" charset="-122"/>
              </a:rPr>
              <a:t>，轻资产产业学院</a:t>
            </a:r>
            <a:endParaRPr lang="zh-CN" altLang="zh-CN" sz="1100" dirty="0">
              <a:solidFill>
                <a:srgbClr val="00A6B2"/>
              </a:solidFill>
              <a:latin typeface="微软雅黑" panose="020B0503020204020204" charset="-122"/>
              <a:ea typeface="微软雅黑" panose="020B0503020204020204" charset="-122"/>
            </a:endParaRPr>
          </a:p>
          <a:p>
            <a:pPr eaLnBrk="1" hangingPunct="1">
              <a:lnSpc>
                <a:spcPct val="150000"/>
              </a:lnSpc>
              <a:spcBef>
                <a:spcPct val="0"/>
              </a:spcBef>
            </a:pPr>
            <a:r>
              <a:rPr lang="zh-CN" altLang="en-US" sz="1100" dirty="0">
                <a:solidFill>
                  <a:srgbClr val="586371"/>
                </a:solidFill>
                <a:latin typeface="微软雅黑" panose="020B0503020204020204" charset="-122"/>
                <a:ea typeface="微软雅黑" panose="020B0503020204020204" charset="-122"/>
              </a:rPr>
              <a:t>校企双方</a:t>
            </a:r>
            <a:r>
              <a:rPr lang="zh-CN" altLang="en-US" sz="1100" dirty="0">
                <a:solidFill>
                  <a:srgbClr val="00A6B2"/>
                </a:solidFill>
                <a:latin typeface="微软雅黑" panose="020B0503020204020204" charset="-122"/>
                <a:ea typeface="微软雅黑" panose="020B0503020204020204" charset="-122"/>
              </a:rPr>
              <a:t>共建共管</a:t>
            </a:r>
            <a:r>
              <a:rPr lang="zh-CN" altLang="en-US" sz="1100" dirty="0">
                <a:solidFill>
                  <a:srgbClr val="586371"/>
                </a:solidFill>
                <a:latin typeface="微软雅黑" panose="020B0503020204020204" charset="-122"/>
                <a:ea typeface="微软雅黑" panose="020B0503020204020204" charset="-122"/>
              </a:rPr>
              <a:t>的</a:t>
            </a:r>
            <a:r>
              <a:rPr lang="zh-CN" altLang="zh-CN" sz="1100" dirty="0">
                <a:solidFill>
                  <a:srgbClr val="586371"/>
                </a:solidFill>
                <a:latin typeface="微软雅黑" panose="020B0503020204020204" charset="-122"/>
                <a:ea typeface="微软雅黑" panose="020B0503020204020204" charset="-122"/>
              </a:rPr>
              <a:t>运营模式</a:t>
            </a:r>
          </a:p>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rPr>
              <a:t>全方位的产教融合，校企深度合作</a:t>
            </a:r>
            <a:endParaRPr lang="en-US" altLang="zh-CN" sz="1100" dirty="0">
              <a:solidFill>
                <a:srgbClr val="586371"/>
              </a:solidFill>
              <a:latin typeface="微软雅黑" panose="020B0503020204020204" charset="-122"/>
              <a:ea typeface="微软雅黑" panose="020B0503020204020204" charset="-122"/>
            </a:endParaRPr>
          </a:p>
          <a:p>
            <a:pPr eaLnBrk="1" hangingPunct="1">
              <a:lnSpc>
                <a:spcPct val="150000"/>
              </a:lnSpc>
              <a:spcBef>
                <a:spcPct val="0"/>
              </a:spcBef>
            </a:pPr>
            <a:r>
              <a:rPr lang="zh-CN" altLang="en-US" sz="1100" dirty="0">
                <a:solidFill>
                  <a:srgbClr val="586371"/>
                </a:solidFill>
                <a:latin typeface="微软雅黑" panose="020B0503020204020204" charset="-122"/>
                <a:ea typeface="微软雅黑" panose="020B0503020204020204" charset="-122"/>
              </a:rPr>
              <a:t>利用</a:t>
            </a:r>
            <a:r>
              <a:rPr lang="zh-CN" altLang="en-US" sz="1100" dirty="0">
                <a:solidFill>
                  <a:srgbClr val="00A6B2"/>
                </a:solidFill>
                <a:latin typeface="微软雅黑" panose="020B0503020204020204" charset="-122"/>
                <a:ea typeface="微软雅黑" panose="020B0503020204020204" charset="-122"/>
              </a:rPr>
              <a:t>项目式教学系统</a:t>
            </a:r>
            <a:r>
              <a:rPr lang="zh-CN" altLang="en-US" sz="1100" dirty="0">
                <a:solidFill>
                  <a:srgbClr val="586371"/>
                </a:solidFill>
                <a:latin typeface="微软雅黑" panose="020B0503020204020204" charset="-122"/>
                <a:ea typeface="微软雅黑" panose="020B0503020204020204" charset="-122"/>
              </a:rPr>
              <a:t>对产业学院进行“</a:t>
            </a:r>
            <a:r>
              <a:rPr lang="zh-CN" altLang="en-US" sz="1100" dirty="0">
                <a:solidFill>
                  <a:srgbClr val="00A6B2"/>
                </a:solidFill>
                <a:latin typeface="微软雅黑" panose="020B0503020204020204" charset="-122"/>
                <a:ea typeface="微软雅黑" panose="020B0503020204020204" charset="-122"/>
              </a:rPr>
              <a:t>轻交付</a:t>
            </a:r>
            <a:r>
              <a:rPr lang="zh-CN" altLang="en-US" sz="1100" dirty="0">
                <a:solidFill>
                  <a:srgbClr val="586371"/>
                </a:solidFill>
                <a:latin typeface="微软雅黑" panose="020B0503020204020204" charset="-122"/>
                <a:ea typeface="微软雅黑" panose="020B0503020204020204" charset="-122"/>
              </a:rPr>
              <a:t>”</a:t>
            </a:r>
            <a:endParaRPr lang="zh-CN" altLang="zh-CN" sz="1100" dirty="0">
              <a:solidFill>
                <a:srgbClr val="586371"/>
              </a:solidFill>
              <a:latin typeface="微软雅黑" panose="020B0503020204020204" charset="-122"/>
              <a:ea typeface="微软雅黑" panose="020B0503020204020204" charset="-122"/>
            </a:endParaRPr>
          </a:p>
        </p:txBody>
      </p:sp>
      <p:sp>
        <p:nvSpPr>
          <p:cNvPr id="21" name="椭圆 20"/>
          <p:cNvSpPr/>
          <p:nvPr/>
        </p:nvSpPr>
        <p:spPr>
          <a:xfrm>
            <a:off x="5340350" y="3289300"/>
            <a:ext cx="1062038" cy="1062038"/>
          </a:xfrm>
          <a:prstGeom prst="ellipse">
            <a:avLst/>
          </a:prstGeom>
          <a:solidFill>
            <a:srgbClr val="00A6B2"/>
          </a:solidFill>
          <a:ln>
            <a:noFill/>
          </a:ln>
          <a:effectLst>
            <a:outerShdw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731" name="矩形 26"/>
          <p:cNvSpPr>
            <a:spLocks noChangeArrowheads="1"/>
          </p:cNvSpPr>
          <p:nvPr/>
        </p:nvSpPr>
        <p:spPr bwMode="auto">
          <a:xfrm>
            <a:off x="4513263" y="4635500"/>
            <a:ext cx="2887662" cy="1078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50000"/>
              </a:lnSpc>
              <a:spcBef>
                <a:spcPct val="0"/>
              </a:spcBef>
            </a:pPr>
            <a:r>
              <a:rPr lang="zh-CN" altLang="zh-CN" sz="1100" dirty="0">
                <a:solidFill>
                  <a:srgbClr val="00A6B2"/>
                </a:solidFill>
                <a:latin typeface="微软雅黑" panose="020B0503020204020204" charset="-122"/>
                <a:ea typeface="微软雅黑" panose="020B0503020204020204" charset="-122"/>
                <a:sym typeface="宋体" pitchFamily="2" charset="-122"/>
              </a:rPr>
              <a:t>以产业带教育，以教育促产业</a:t>
            </a:r>
          </a:p>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sym typeface="宋体" pitchFamily="2" charset="-122"/>
              </a:rPr>
              <a:t>注重学历教育+职业技能认证</a:t>
            </a:r>
          </a:p>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sym typeface="宋体" pitchFamily="2" charset="-122"/>
              </a:rPr>
              <a:t>侧重职业教育</a:t>
            </a:r>
            <a:r>
              <a:rPr lang="zh-CN" altLang="zh-CN" sz="1100" dirty="0">
                <a:solidFill>
                  <a:srgbClr val="00A6B2"/>
                </a:solidFill>
                <a:latin typeface="微软雅黑" panose="020B0503020204020204" charset="-122"/>
                <a:ea typeface="微软雅黑" panose="020B0503020204020204" charset="-122"/>
                <a:sym typeface="宋体" pitchFamily="2" charset="-122"/>
              </a:rPr>
              <a:t>（应用型本科、高职</a:t>
            </a:r>
            <a:r>
              <a:rPr lang="zh-CN" altLang="en-US" sz="1100" dirty="0">
                <a:solidFill>
                  <a:srgbClr val="00A6B2"/>
                </a:solidFill>
                <a:latin typeface="微软雅黑" panose="020B0503020204020204" charset="-122"/>
                <a:ea typeface="微软雅黑" panose="020B0503020204020204" charset="-122"/>
                <a:sym typeface="宋体" pitchFamily="2" charset="-122"/>
              </a:rPr>
              <a:t>院校</a:t>
            </a:r>
            <a:r>
              <a:rPr lang="zh-CN" altLang="zh-CN" sz="1100" dirty="0">
                <a:solidFill>
                  <a:srgbClr val="00A6B2"/>
                </a:solidFill>
                <a:latin typeface="微软雅黑" panose="020B0503020204020204" charset="-122"/>
                <a:ea typeface="微软雅黑" panose="020B0503020204020204" charset="-122"/>
                <a:sym typeface="宋体" pitchFamily="2" charset="-122"/>
              </a:rPr>
              <a:t>）</a:t>
            </a:r>
          </a:p>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sym typeface="宋体" pitchFamily="2" charset="-122"/>
              </a:rPr>
              <a:t>融聚职业教育、国际化、双创为一体</a:t>
            </a:r>
          </a:p>
        </p:txBody>
      </p:sp>
      <p:sp>
        <p:nvSpPr>
          <p:cNvPr id="28" name="椭圆 27"/>
          <p:cNvSpPr/>
          <p:nvPr/>
        </p:nvSpPr>
        <p:spPr>
          <a:xfrm>
            <a:off x="9339263" y="3289300"/>
            <a:ext cx="1062037" cy="1062038"/>
          </a:xfrm>
          <a:prstGeom prst="ellipse">
            <a:avLst/>
          </a:prstGeom>
          <a:solidFill>
            <a:srgbClr val="00A6B2"/>
          </a:solidFill>
          <a:ln>
            <a:noFill/>
          </a:ln>
          <a:effectLst>
            <a:outerShdw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0733" name="矩形 32"/>
          <p:cNvSpPr>
            <a:spLocks noChangeArrowheads="1"/>
          </p:cNvSpPr>
          <p:nvPr/>
        </p:nvSpPr>
        <p:spPr bwMode="auto">
          <a:xfrm>
            <a:off x="8012463" y="4635500"/>
            <a:ext cx="4179537" cy="1078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sym typeface="宋体" pitchFamily="2" charset="-122"/>
              </a:rPr>
              <a:t>产教融合，打造国内</a:t>
            </a:r>
            <a:r>
              <a:rPr lang="zh-CN" altLang="en-US" sz="1100" dirty="0">
                <a:solidFill>
                  <a:srgbClr val="586371"/>
                </a:solidFill>
                <a:latin typeface="微软雅黑" panose="020B0503020204020204" charset="-122"/>
                <a:ea typeface="微软雅黑" panose="020B0503020204020204" charset="-122"/>
                <a:sym typeface="宋体" pitchFamily="2" charset="-122"/>
              </a:rPr>
              <a:t>一流的</a:t>
            </a:r>
            <a:r>
              <a:rPr lang="zh-CN" altLang="en-US" sz="1100" dirty="0">
                <a:solidFill>
                  <a:srgbClr val="00A6B2"/>
                </a:solidFill>
                <a:latin typeface="微软雅黑" panose="020B0503020204020204" charset="-122"/>
                <a:ea typeface="微软雅黑" panose="020B0503020204020204" charset="-122"/>
                <a:sym typeface="宋体" pitchFamily="2" charset="-122"/>
              </a:rPr>
              <a:t>集成电路、微电子</a:t>
            </a:r>
            <a:r>
              <a:rPr lang="zh-CN" altLang="en-US" sz="1100" dirty="0">
                <a:solidFill>
                  <a:srgbClr val="586371"/>
                </a:solidFill>
                <a:latin typeface="微软雅黑" panose="020B0503020204020204" charset="-122"/>
                <a:ea typeface="微软雅黑" panose="020B0503020204020204" charset="-122"/>
                <a:sym typeface="宋体" pitchFamily="2" charset="-122"/>
              </a:rPr>
              <a:t>等</a:t>
            </a:r>
            <a:r>
              <a:rPr lang="zh-CN" altLang="zh-CN" sz="1100" dirty="0">
                <a:solidFill>
                  <a:srgbClr val="586371"/>
                </a:solidFill>
                <a:latin typeface="微软雅黑" panose="020B0503020204020204" charset="-122"/>
                <a:ea typeface="微软雅黑" panose="020B0503020204020204" charset="-122"/>
                <a:sym typeface="宋体" pitchFamily="2" charset="-122"/>
              </a:rPr>
              <a:t>专业</a:t>
            </a:r>
          </a:p>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sym typeface="宋体" pitchFamily="2" charset="-122"/>
              </a:rPr>
              <a:t>建设100%双师型师资队伍</a:t>
            </a:r>
          </a:p>
          <a:p>
            <a:pPr eaLnBrk="1" hangingPunct="1">
              <a:lnSpc>
                <a:spcPct val="150000"/>
              </a:lnSpc>
              <a:spcBef>
                <a:spcPct val="0"/>
              </a:spcBef>
            </a:pPr>
            <a:r>
              <a:rPr lang="zh-CN" altLang="zh-CN" sz="1100" dirty="0">
                <a:solidFill>
                  <a:srgbClr val="586371"/>
                </a:solidFill>
                <a:latin typeface="微软雅黑" panose="020B0503020204020204" charset="-122"/>
                <a:ea typeface="微软雅黑" panose="020B0503020204020204" charset="-122"/>
                <a:sym typeface="宋体" pitchFamily="2" charset="-122"/>
              </a:rPr>
              <a:t>支持国际工程教育认证，与国际接轨</a:t>
            </a:r>
          </a:p>
          <a:p>
            <a:pPr eaLnBrk="1" hangingPunct="1">
              <a:lnSpc>
                <a:spcPct val="150000"/>
              </a:lnSpc>
              <a:spcBef>
                <a:spcPct val="0"/>
              </a:spcBef>
            </a:pPr>
            <a:r>
              <a:rPr lang="zh-CN" altLang="zh-CN" sz="1100" dirty="0">
                <a:solidFill>
                  <a:srgbClr val="00A6B2"/>
                </a:solidFill>
                <a:latin typeface="微软雅黑" panose="020B0503020204020204" charset="-122"/>
                <a:ea typeface="微软雅黑" panose="020B0503020204020204" charset="-122"/>
                <a:sym typeface="宋体" pitchFamily="2" charset="-122"/>
              </a:rPr>
              <a:t>支持</a:t>
            </a:r>
            <a:r>
              <a:rPr lang="zh-CN" altLang="en-US" sz="1100" dirty="0">
                <a:solidFill>
                  <a:srgbClr val="00A6B2"/>
                </a:solidFill>
                <a:latin typeface="微软雅黑" panose="020B0503020204020204" charset="-122"/>
                <a:ea typeface="微软雅黑" panose="020B0503020204020204" charset="-122"/>
                <a:sym typeface="宋体" pitchFamily="2" charset="-122"/>
              </a:rPr>
              <a:t>半导体及集成电路</a:t>
            </a:r>
            <a:r>
              <a:rPr lang="zh-CN" altLang="zh-CN" sz="1100" dirty="0">
                <a:solidFill>
                  <a:srgbClr val="00A6B2"/>
                </a:solidFill>
                <a:latin typeface="微软雅黑" panose="020B0503020204020204" charset="-122"/>
                <a:ea typeface="微软雅黑" panose="020B0503020204020204" charset="-122"/>
                <a:sym typeface="宋体" pitchFamily="2" charset="-122"/>
              </a:rPr>
              <a:t>战略</a:t>
            </a:r>
            <a:r>
              <a:rPr lang="zh-CN" altLang="en-US" sz="1100" dirty="0">
                <a:solidFill>
                  <a:srgbClr val="00A6B2"/>
                </a:solidFill>
                <a:latin typeface="微软雅黑" panose="020B0503020204020204" charset="-122"/>
                <a:ea typeface="微软雅黑" panose="020B0503020204020204" charset="-122"/>
                <a:sym typeface="宋体" pitchFamily="2" charset="-122"/>
              </a:rPr>
              <a:t>性</a:t>
            </a:r>
            <a:r>
              <a:rPr lang="zh-CN" altLang="zh-CN" sz="1100" dirty="0">
                <a:solidFill>
                  <a:srgbClr val="00A6B2"/>
                </a:solidFill>
                <a:latin typeface="微软雅黑" panose="020B0503020204020204" charset="-122"/>
                <a:ea typeface="微软雅黑" panose="020B0503020204020204" charset="-122"/>
                <a:sym typeface="宋体" pitchFamily="2" charset="-122"/>
              </a:rPr>
              <a:t>新兴产业的发展</a:t>
            </a:r>
          </a:p>
        </p:txBody>
      </p:sp>
      <p:sp>
        <p:nvSpPr>
          <p:cNvPr id="30734" name="文本框 73"/>
          <p:cNvSpPr txBox="1">
            <a:spLocks noChangeArrowheads="1"/>
          </p:cNvSpPr>
          <p:nvPr/>
        </p:nvSpPr>
        <p:spPr bwMode="auto">
          <a:xfrm>
            <a:off x="2087563" y="3587750"/>
            <a:ext cx="6397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a:solidFill>
                  <a:schemeClr val="bg1"/>
                </a:solidFill>
                <a:latin typeface="微软雅黑" panose="020B0503020204020204" charset="-122"/>
                <a:ea typeface="微软雅黑" panose="020B0503020204020204" charset="-122"/>
              </a:rPr>
              <a:t>项目</a:t>
            </a:r>
          </a:p>
          <a:p>
            <a:pPr eaLnBrk="1" hangingPunct="1">
              <a:lnSpc>
                <a:spcPct val="100000"/>
              </a:lnSpc>
              <a:spcBef>
                <a:spcPct val="0"/>
              </a:spcBef>
              <a:buFontTx/>
              <a:buNone/>
            </a:pPr>
            <a:r>
              <a:rPr lang="zh-CN" altLang="en-US" sz="1800" b="1">
                <a:solidFill>
                  <a:schemeClr val="bg1"/>
                </a:solidFill>
                <a:latin typeface="微软雅黑" panose="020B0503020204020204" charset="-122"/>
                <a:ea typeface="微软雅黑" panose="020B0503020204020204" charset="-122"/>
              </a:rPr>
              <a:t>性质</a:t>
            </a:r>
          </a:p>
        </p:txBody>
      </p:sp>
      <p:sp>
        <p:nvSpPr>
          <p:cNvPr id="30735" name="文本框 74"/>
          <p:cNvSpPr txBox="1">
            <a:spLocks noChangeArrowheads="1"/>
          </p:cNvSpPr>
          <p:nvPr/>
        </p:nvSpPr>
        <p:spPr bwMode="auto">
          <a:xfrm>
            <a:off x="5551488" y="3497263"/>
            <a:ext cx="6397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a:solidFill>
                  <a:schemeClr val="bg1"/>
                </a:solidFill>
                <a:latin typeface="微软雅黑" panose="020B0503020204020204" charset="-122"/>
                <a:ea typeface="微软雅黑" panose="020B0503020204020204" charset="-122"/>
              </a:rPr>
              <a:t>项目</a:t>
            </a:r>
          </a:p>
          <a:p>
            <a:pPr eaLnBrk="1" hangingPunct="1">
              <a:lnSpc>
                <a:spcPct val="100000"/>
              </a:lnSpc>
              <a:spcBef>
                <a:spcPct val="0"/>
              </a:spcBef>
              <a:buFontTx/>
              <a:buNone/>
            </a:pPr>
            <a:r>
              <a:rPr lang="zh-CN" altLang="en-US" sz="1800" b="1">
                <a:solidFill>
                  <a:schemeClr val="bg1"/>
                </a:solidFill>
                <a:latin typeface="微软雅黑" panose="020B0503020204020204" charset="-122"/>
                <a:ea typeface="微软雅黑" panose="020B0503020204020204" charset="-122"/>
              </a:rPr>
              <a:t>定位</a:t>
            </a:r>
          </a:p>
        </p:txBody>
      </p:sp>
      <p:sp>
        <p:nvSpPr>
          <p:cNvPr id="30736" name="文本框 75"/>
          <p:cNvSpPr txBox="1">
            <a:spLocks noChangeArrowheads="1"/>
          </p:cNvSpPr>
          <p:nvPr/>
        </p:nvSpPr>
        <p:spPr bwMode="auto">
          <a:xfrm>
            <a:off x="9550400" y="3497263"/>
            <a:ext cx="6397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1800" b="1">
                <a:solidFill>
                  <a:schemeClr val="bg1"/>
                </a:solidFill>
                <a:latin typeface="微软雅黑" panose="020B0503020204020204" charset="-122"/>
                <a:ea typeface="微软雅黑" panose="020B0503020204020204" charset="-122"/>
              </a:rPr>
              <a:t>项目</a:t>
            </a:r>
          </a:p>
          <a:p>
            <a:pPr eaLnBrk="1" hangingPunct="1">
              <a:lnSpc>
                <a:spcPct val="100000"/>
              </a:lnSpc>
              <a:spcBef>
                <a:spcPct val="0"/>
              </a:spcBef>
              <a:buFontTx/>
              <a:buNone/>
            </a:pPr>
            <a:r>
              <a:rPr lang="zh-CN" altLang="en-US" sz="1800" b="1">
                <a:solidFill>
                  <a:schemeClr val="bg1"/>
                </a:solidFill>
                <a:latin typeface="微软雅黑" panose="020B0503020204020204" charset="-122"/>
                <a:ea typeface="微软雅黑" panose="020B0503020204020204" charset="-122"/>
              </a:rPr>
              <a:t>目标</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6"/>
          <p:cNvSpPr>
            <a:spLocks noGrp="1"/>
          </p:cNvSpPr>
          <p:nvPr/>
        </p:nvSpPr>
        <p:spPr>
          <a:xfrm>
            <a:off x="1023946" y="973447"/>
            <a:ext cx="9390380" cy="924623"/>
          </a:xfrm>
          <a:prstGeom prst="rect">
            <a:avLst/>
          </a:prstGeom>
        </p:spPr>
        <p:txBody>
          <a:bodyPr vert="horz" lIns="121920" tIns="60960" rIns="121920" bIns="60960" rtlCol="0" anchor="ctr">
            <a:normAutofit/>
            <a:scene3d>
              <a:camera prst="orthographicFront"/>
              <a:lightRig rig="threePt" dir="t"/>
            </a:scene3d>
          </a:bodyPr>
          <a:lstStyle>
            <a:lvl1pPr algn="l" defTabSz="914400" rtl="0" eaLnBrk="1" latinLnBrk="0" hangingPunct="1">
              <a:lnSpc>
                <a:spcPct val="90000"/>
              </a:lnSpc>
              <a:spcBef>
                <a:spcPct val="0"/>
              </a:spcBef>
              <a:buNone/>
              <a:defRPr sz="2800" kern="1200">
                <a:solidFill>
                  <a:srgbClr val="595959"/>
                </a:solidFill>
                <a:latin typeface="微软雅黑" panose="020B0503020204020204" charset="-122"/>
                <a:ea typeface="微软雅黑" panose="020B0503020204020204" charset="-122"/>
                <a:cs typeface="+mn-ea"/>
              </a:defRPr>
            </a:lvl1pPr>
          </a:lstStyle>
          <a:p>
            <a:pPr algn="ctr"/>
            <a:r>
              <a:rPr lang="zh-CN" altLang="en-US" sz="2665" b="1" dirty="0">
                <a:solidFill>
                  <a:schemeClr val="tx1">
                    <a:lumMod val="75000"/>
                    <a:lumOff val="25000"/>
                  </a:schemeClr>
                </a:solidFill>
                <a:effectLst>
                  <a:outerShdw blurRad="38100" dist="19050" dir="2700000" algn="tl" rotWithShape="0">
                    <a:srgbClr val="000000">
                      <a:alpha val="40000"/>
                    </a:srgbClr>
                  </a:outerShdw>
                </a:effectLst>
                <a:latin typeface="楷体" panose="02010609060101010101" charset="-122"/>
                <a:ea typeface="楷体" panose="02010609060101010101" charset="-122"/>
                <a:cs typeface="楷体" panose="02010609060101010101" charset="-122"/>
                <a:sym typeface="+mn-ea"/>
              </a:rPr>
              <a:t>打造共建、共管、共赢的轻资产产业学院（</a:t>
            </a:r>
            <a:r>
              <a:rPr lang="en-US" altLang="zh-CN" sz="2665" b="1" dirty="0">
                <a:solidFill>
                  <a:schemeClr val="tx1">
                    <a:lumMod val="75000"/>
                    <a:lumOff val="25000"/>
                  </a:schemeClr>
                </a:solidFill>
                <a:effectLst>
                  <a:outerShdw blurRad="38100" dist="19050" dir="2700000" algn="tl" rotWithShape="0">
                    <a:srgbClr val="000000">
                      <a:alpha val="40000"/>
                    </a:srgbClr>
                  </a:outerShdw>
                </a:effectLst>
                <a:latin typeface="楷体" panose="02010609060101010101" charset="-122"/>
                <a:ea typeface="楷体" panose="02010609060101010101" charset="-122"/>
                <a:cs typeface="楷体" panose="02010609060101010101" charset="-122"/>
                <a:sym typeface="+mn-ea"/>
              </a:rPr>
              <a:t>ZX***</a:t>
            </a:r>
            <a:r>
              <a:rPr lang="zh-CN" altLang="en-US" sz="2665" b="1" dirty="0">
                <a:solidFill>
                  <a:schemeClr val="tx1">
                    <a:lumMod val="75000"/>
                    <a:lumOff val="25000"/>
                  </a:schemeClr>
                </a:solidFill>
                <a:effectLst>
                  <a:outerShdw blurRad="38100" dist="19050" dir="2700000" algn="tl" rotWithShape="0">
                    <a:srgbClr val="000000">
                      <a:alpha val="40000"/>
                    </a:srgbClr>
                  </a:outerShdw>
                </a:effectLst>
                <a:latin typeface="楷体" panose="02010609060101010101" charset="-122"/>
                <a:ea typeface="楷体" panose="02010609060101010101" charset="-122"/>
                <a:cs typeface="楷体" panose="02010609060101010101" charset="-122"/>
                <a:sym typeface="+mn-ea"/>
              </a:rPr>
              <a:t>学院）</a:t>
            </a:r>
            <a:endParaRPr sz="2665" b="1" dirty="0">
              <a:solidFill>
                <a:schemeClr val="tx1">
                  <a:lumMod val="75000"/>
                  <a:lumOff val="25000"/>
                </a:schemeClr>
              </a:solidFill>
              <a:effectLst>
                <a:outerShdw blurRad="38100" dist="19050" dir="2700000" algn="tl" rotWithShape="0">
                  <a:srgbClr val="000000">
                    <a:alpha val="40000"/>
                  </a:srgbClr>
                </a:outerShdw>
              </a:effectLst>
              <a:latin typeface="楷体" panose="02010609060101010101" charset="-122"/>
              <a:ea typeface="楷体" panose="02010609060101010101" charset="-122"/>
              <a:cs typeface="楷体" panose="02010609060101010101" charset="-122"/>
              <a:sym typeface="+mn-ea"/>
            </a:endParaRPr>
          </a:p>
        </p:txBody>
      </p:sp>
      <p:sp>
        <p:nvSpPr>
          <p:cNvPr id="14" name="Freeform 47"/>
          <p:cNvSpPr>
            <a:spLocks noEditPoints="1"/>
          </p:cNvSpPr>
          <p:nvPr/>
        </p:nvSpPr>
        <p:spPr bwMode="auto">
          <a:xfrm>
            <a:off x="1940885" y="2190105"/>
            <a:ext cx="580390" cy="484505"/>
          </a:xfrm>
          <a:custGeom>
            <a:avLst/>
            <a:gdLst>
              <a:gd name="T0" fmla="*/ 328 w 328"/>
              <a:gd name="T1" fmla="*/ 42 h 274"/>
              <a:gd name="T2" fmla="*/ 163 w 328"/>
              <a:gd name="T3" fmla="*/ 0 h 274"/>
              <a:gd name="T4" fmla="*/ 0 w 328"/>
              <a:gd name="T5" fmla="*/ 42 h 274"/>
              <a:gd name="T6" fmla="*/ 1 w 328"/>
              <a:gd name="T7" fmla="*/ 53 h 274"/>
              <a:gd name="T8" fmla="*/ 66 w 328"/>
              <a:gd name="T9" fmla="*/ 70 h 274"/>
              <a:gd name="T10" fmla="*/ 66 w 328"/>
              <a:gd name="T11" fmla="*/ 150 h 274"/>
              <a:gd name="T12" fmla="*/ 160 w 328"/>
              <a:gd name="T13" fmla="*/ 197 h 274"/>
              <a:gd name="T14" fmla="*/ 261 w 328"/>
              <a:gd name="T15" fmla="*/ 150 h 274"/>
              <a:gd name="T16" fmla="*/ 262 w 328"/>
              <a:gd name="T17" fmla="*/ 71 h 274"/>
              <a:gd name="T18" fmla="*/ 266 w 328"/>
              <a:gd name="T19" fmla="*/ 70 h 274"/>
              <a:gd name="T20" fmla="*/ 272 w 328"/>
              <a:gd name="T21" fmla="*/ 134 h 274"/>
              <a:gd name="T22" fmla="*/ 269 w 328"/>
              <a:gd name="T23" fmla="*/ 204 h 274"/>
              <a:gd name="T24" fmla="*/ 258 w 328"/>
              <a:gd name="T25" fmla="*/ 216 h 274"/>
              <a:gd name="T26" fmla="*/ 267 w 328"/>
              <a:gd name="T27" fmla="*/ 228 h 274"/>
              <a:gd name="T28" fmla="*/ 252 w 328"/>
              <a:gd name="T29" fmla="*/ 272 h 274"/>
              <a:gd name="T30" fmla="*/ 256 w 328"/>
              <a:gd name="T31" fmla="*/ 273 h 274"/>
              <a:gd name="T32" fmla="*/ 263 w 328"/>
              <a:gd name="T33" fmla="*/ 256 h 274"/>
              <a:gd name="T34" fmla="*/ 259 w 328"/>
              <a:gd name="T35" fmla="*/ 273 h 274"/>
              <a:gd name="T36" fmla="*/ 264 w 328"/>
              <a:gd name="T37" fmla="*/ 274 h 274"/>
              <a:gd name="T38" fmla="*/ 266 w 328"/>
              <a:gd name="T39" fmla="*/ 261 h 274"/>
              <a:gd name="T40" fmla="*/ 267 w 328"/>
              <a:gd name="T41" fmla="*/ 274 h 274"/>
              <a:gd name="T42" fmla="*/ 272 w 328"/>
              <a:gd name="T43" fmla="*/ 274 h 274"/>
              <a:gd name="T44" fmla="*/ 272 w 328"/>
              <a:gd name="T45" fmla="*/ 261 h 274"/>
              <a:gd name="T46" fmla="*/ 274 w 328"/>
              <a:gd name="T47" fmla="*/ 274 h 274"/>
              <a:gd name="T48" fmla="*/ 278 w 328"/>
              <a:gd name="T49" fmla="*/ 274 h 274"/>
              <a:gd name="T50" fmla="*/ 276 w 328"/>
              <a:gd name="T51" fmla="*/ 259 h 274"/>
              <a:gd name="T52" fmla="*/ 281 w 328"/>
              <a:gd name="T53" fmla="*/ 273 h 274"/>
              <a:gd name="T54" fmla="*/ 284 w 328"/>
              <a:gd name="T55" fmla="*/ 272 h 274"/>
              <a:gd name="T56" fmla="*/ 274 w 328"/>
              <a:gd name="T57" fmla="*/ 228 h 274"/>
              <a:gd name="T58" fmla="*/ 283 w 328"/>
              <a:gd name="T59" fmla="*/ 216 h 274"/>
              <a:gd name="T60" fmla="*/ 274 w 328"/>
              <a:gd name="T61" fmla="*/ 204 h 274"/>
              <a:gd name="T62" fmla="*/ 277 w 328"/>
              <a:gd name="T63" fmla="*/ 134 h 274"/>
              <a:gd name="T64" fmla="*/ 271 w 328"/>
              <a:gd name="T65" fmla="*/ 68 h 274"/>
              <a:gd name="T66" fmla="*/ 327 w 328"/>
              <a:gd name="T67" fmla="*/ 54 h 274"/>
              <a:gd name="T68" fmla="*/ 328 w 328"/>
              <a:gd name="T69" fmla="*/ 42 h 274"/>
              <a:gd name="T70" fmla="*/ 162 w 328"/>
              <a:gd name="T71" fmla="*/ 57 h 274"/>
              <a:gd name="T72" fmla="*/ 66 w 328"/>
              <a:gd name="T73" fmla="*/ 40 h 274"/>
              <a:gd name="T74" fmla="*/ 162 w 328"/>
              <a:gd name="T75" fmla="*/ 23 h 274"/>
              <a:gd name="T76" fmla="*/ 258 w 328"/>
              <a:gd name="T77" fmla="*/ 40 h 274"/>
              <a:gd name="T78" fmla="*/ 162 w 328"/>
              <a:gd name="T79" fmla="*/ 57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28" h="274">
                <a:moveTo>
                  <a:pt x="328" y="42"/>
                </a:moveTo>
                <a:cubicBezTo>
                  <a:pt x="163" y="0"/>
                  <a:pt x="163" y="0"/>
                  <a:pt x="163" y="0"/>
                </a:cubicBezTo>
                <a:cubicBezTo>
                  <a:pt x="0" y="42"/>
                  <a:pt x="0" y="42"/>
                  <a:pt x="0" y="42"/>
                </a:cubicBezTo>
                <a:cubicBezTo>
                  <a:pt x="1" y="53"/>
                  <a:pt x="1" y="53"/>
                  <a:pt x="1" y="53"/>
                </a:cubicBezTo>
                <a:cubicBezTo>
                  <a:pt x="66" y="70"/>
                  <a:pt x="66" y="70"/>
                  <a:pt x="66" y="70"/>
                </a:cubicBezTo>
                <a:cubicBezTo>
                  <a:pt x="66" y="150"/>
                  <a:pt x="66" y="150"/>
                  <a:pt x="66" y="150"/>
                </a:cubicBezTo>
                <a:cubicBezTo>
                  <a:pt x="80" y="195"/>
                  <a:pt x="160" y="197"/>
                  <a:pt x="160" y="197"/>
                </a:cubicBezTo>
                <a:cubicBezTo>
                  <a:pt x="253" y="196"/>
                  <a:pt x="261" y="150"/>
                  <a:pt x="261" y="150"/>
                </a:cubicBezTo>
                <a:cubicBezTo>
                  <a:pt x="262" y="71"/>
                  <a:pt x="262" y="71"/>
                  <a:pt x="262" y="71"/>
                </a:cubicBezTo>
                <a:cubicBezTo>
                  <a:pt x="266" y="70"/>
                  <a:pt x="266" y="70"/>
                  <a:pt x="266" y="70"/>
                </a:cubicBezTo>
                <a:cubicBezTo>
                  <a:pt x="270" y="80"/>
                  <a:pt x="274" y="99"/>
                  <a:pt x="272" y="134"/>
                </a:cubicBezTo>
                <a:cubicBezTo>
                  <a:pt x="269" y="182"/>
                  <a:pt x="268" y="196"/>
                  <a:pt x="269" y="204"/>
                </a:cubicBezTo>
                <a:cubicBezTo>
                  <a:pt x="263" y="204"/>
                  <a:pt x="258" y="210"/>
                  <a:pt x="258" y="216"/>
                </a:cubicBezTo>
                <a:cubicBezTo>
                  <a:pt x="258" y="222"/>
                  <a:pt x="262" y="226"/>
                  <a:pt x="267" y="228"/>
                </a:cubicBezTo>
                <a:cubicBezTo>
                  <a:pt x="266" y="234"/>
                  <a:pt x="261" y="251"/>
                  <a:pt x="252" y="272"/>
                </a:cubicBezTo>
                <a:cubicBezTo>
                  <a:pt x="256" y="273"/>
                  <a:pt x="256" y="273"/>
                  <a:pt x="256" y="273"/>
                </a:cubicBezTo>
                <a:cubicBezTo>
                  <a:pt x="256" y="273"/>
                  <a:pt x="262" y="260"/>
                  <a:pt x="263" y="256"/>
                </a:cubicBezTo>
                <a:cubicBezTo>
                  <a:pt x="262" y="259"/>
                  <a:pt x="260" y="272"/>
                  <a:pt x="259" y="273"/>
                </a:cubicBezTo>
                <a:cubicBezTo>
                  <a:pt x="264" y="274"/>
                  <a:pt x="264" y="274"/>
                  <a:pt x="264" y="274"/>
                </a:cubicBezTo>
                <a:cubicBezTo>
                  <a:pt x="264" y="274"/>
                  <a:pt x="267" y="263"/>
                  <a:pt x="266" y="261"/>
                </a:cubicBezTo>
                <a:cubicBezTo>
                  <a:pt x="266" y="261"/>
                  <a:pt x="267" y="273"/>
                  <a:pt x="267" y="274"/>
                </a:cubicBezTo>
                <a:cubicBezTo>
                  <a:pt x="272" y="274"/>
                  <a:pt x="272" y="274"/>
                  <a:pt x="272" y="274"/>
                </a:cubicBezTo>
                <a:cubicBezTo>
                  <a:pt x="272" y="274"/>
                  <a:pt x="271" y="263"/>
                  <a:pt x="272" y="261"/>
                </a:cubicBezTo>
                <a:cubicBezTo>
                  <a:pt x="272" y="261"/>
                  <a:pt x="274" y="268"/>
                  <a:pt x="274" y="274"/>
                </a:cubicBezTo>
                <a:cubicBezTo>
                  <a:pt x="278" y="274"/>
                  <a:pt x="278" y="274"/>
                  <a:pt x="278" y="274"/>
                </a:cubicBezTo>
                <a:cubicBezTo>
                  <a:pt x="278" y="274"/>
                  <a:pt x="277" y="261"/>
                  <a:pt x="276" y="259"/>
                </a:cubicBezTo>
                <a:cubicBezTo>
                  <a:pt x="276" y="259"/>
                  <a:pt x="280" y="266"/>
                  <a:pt x="281" y="273"/>
                </a:cubicBezTo>
                <a:cubicBezTo>
                  <a:pt x="284" y="272"/>
                  <a:pt x="284" y="272"/>
                  <a:pt x="284" y="272"/>
                </a:cubicBezTo>
                <a:cubicBezTo>
                  <a:pt x="284" y="272"/>
                  <a:pt x="277" y="237"/>
                  <a:pt x="274" y="228"/>
                </a:cubicBezTo>
                <a:cubicBezTo>
                  <a:pt x="279" y="226"/>
                  <a:pt x="283" y="221"/>
                  <a:pt x="283" y="216"/>
                </a:cubicBezTo>
                <a:cubicBezTo>
                  <a:pt x="283" y="210"/>
                  <a:pt x="279" y="205"/>
                  <a:pt x="274" y="204"/>
                </a:cubicBezTo>
                <a:cubicBezTo>
                  <a:pt x="274" y="196"/>
                  <a:pt x="274" y="183"/>
                  <a:pt x="277" y="134"/>
                </a:cubicBezTo>
                <a:cubicBezTo>
                  <a:pt x="279" y="105"/>
                  <a:pt x="277" y="83"/>
                  <a:pt x="271" y="68"/>
                </a:cubicBezTo>
                <a:cubicBezTo>
                  <a:pt x="327" y="54"/>
                  <a:pt x="327" y="54"/>
                  <a:pt x="327" y="54"/>
                </a:cubicBezTo>
                <a:lnTo>
                  <a:pt x="328" y="42"/>
                </a:lnTo>
                <a:close/>
                <a:moveTo>
                  <a:pt x="162" y="57"/>
                </a:moveTo>
                <a:cubicBezTo>
                  <a:pt x="109" y="57"/>
                  <a:pt x="66" y="50"/>
                  <a:pt x="66" y="40"/>
                </a:cubicBezTo>
                <a:cubicBezTo>
                  <a:pt x="66" y="30"/>
                  <a:pt x="109" y="23"/>
                  <a:pt x="162" y="23"/>
                </a:cubicBezTo>
                <a:cubicBezTo>
                  <a:pt x="215" y="23"/>
                  <a:pt x="258" y="30"/>
                  <a:pt x="258" y="40"/>
                </a:cubicBezTo>
                <a:cubicBezTo>
                  <a:pt x="258" y="50"/>
                  <a:pt x="215" y="57"/>
                  <a:pt x="162" y="5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latin typeface="华文楷体" panose="02010600040101010101" pitchFamily="2" charset="-122"/>
              <a:ea typeface="华文楷体" panose="02010600040101010101" pitchFamily="2" charset="-122"/>
              <a:cs typeface="Arial" panose="020B0604020202020204" pitchFamily="34" charset="0"/>
            </a:endParaRPr>
          </a:p>
        </p:txBody>
      </p:sp>
      <p:grpSp>
        <p:nvGrpSpPr>
          <p:cNvPr id="15" name="组合 14"/>
          <p:cNvGrpSpPr/>
          <p:nvPr/>
        </p:nvGrpSpPr>
        <p:grpSpPr>
          <a:xfrm>
            <a:off x="5449260" y="2158355"/>
            <a:ext cx="514985" cy="431800"/>
            <a:chOff x="14436726" y="14133513"/>
            <a:chExt cx="577850" cy="484188"/>
          </a:xfrm>
          <a:solidFill>
            <a:schemeClr val="bg1"/>
          </a:solidFill>
        </p:grpSpPr>
        <p:sp>
          <p:nvSpPr>
            <p:cNvPr id="48" name="Freeform 25"/>
            <p:cNvSpPr>
              <a:spLocks noEditPoints="1"/>
            </p:cNvSpPr>
            <p:nvPr/>
          </p:nvSpPr>
          <p:spPr bwMode="auto">
            <a:xfrm>
              <a:off x="14436726" y="14133513"/>
              <a:ext cx="577850" cy="484188"/>
            </a:xfrm>
            <a:custGeom>
              <a:avLst/>
              <a:gdLst>
                <a:gd name="T0" fmla="*/ 73 w 154"/>
                <a:gd name="T1" fmla="*/ 128 h 129"/>
                <a:gd name="T2" fmla="*/ 81 w 154"/>
                <a:gd name="T3" fmla="*/ 128 h 129"/>
                <a:gd name="T4" fmla="*/ 146 w 154"/>
                <a:gd name="T5" fmla="*/ 120 h 129"/>
                <a:gd name="T6" fmla="*/ 152 w 154"/>
                <a:gd name="T7" fmla="*/ 119 h 129"/>
                <a:gd name="T8" fmla="*/ 154 w 154"/>
                <a:gd name="T9" fmla="*/ 114 h 129"/>
                <a:gd name="T10" fmla="*/ 154 w 154"/>
                <a:gd name="T11" fmla="*/ 17 h 129"/>
                <a:gd name="T12" fmla="*/ 149 w 154"/>
                <a:gd name="T13" fmla="*/ 10 h 129"/>
                <a:gd name="T14" fmla="*/ 77 w 154"/>
                <a:gd name="T15" fmla="*/ 18 h 129"/>
                <a:gd name="T16" fmla="*/ 5 w 154"/>
                <a:gd name="T17" fmla="*/ 10 h 129"/>
                <a:gd name="T18" fmla="*/ 0 w 154"/>
                <a:gd name="T19" fmla="*/ 17 h 129"/>
                <a:gd name="T20" fmla="*/ 0 w 154"/>
                <a:gd name="T21" fmla="*/ 114 h 129"/>
                <a:gd name="T22" fmla="*/ 3 w 154"/>
                <a:gd name="T23" fmla="*/ 119 h 129"/>
                <a:gd name="T24" fmla="*/ 8 w 154"/>
                <a:gd name="T25" fmla="*/ 120 h 129"/>
                <a:gd name="T26" fmla="*/ 73 w 154"/>
                <a:gd name="T27" fmla="*/ 128 h 129"/>
                <a:gd name="T28" fmla="*/ 80 w 154"/>
                <a:gd name="T29" fmla="*/ 26 h 129"/>
                <a:gd name="T30" fmla="*/ 146 w 154"/>
                <a:gd name="T31" fmla="*/ 18 h 129"/>
                <a:gd name="T32" fmla="*/ 146 w 154"/>
                <a:gd name="T33" fmla="*/ 112 h 129"/>
                <a:gd name="T34" fmla="*/ 80 w 154"/>
                <a:gd name="T35" fmla="*/ 119 h 129"/>
                <a:gd name="T36" fmla="*/ 80 w 154"/>
                <a:gd name="T37" fmla="*/ 26 h 129"/>
                <a:gd name="T38" fmla="*/ 8 w 154"/>
                <a:gd name="T39" fmla="*/ 112 h 129"/>
                <a:gd name="T40" fmla="*/ 8 w 154"/>
                <a:gd name="T41" fmla="*/ 18 h 129"/>
                <a:gd name="T42" fmla="*/ 74 w 154"/>
                <a:gd name="T43" fmla="*/ 26 h 129"/>
                <a:gd name="T44" fmla="*/ 74 w 154"/>
                <a:gd name="T45" fmla="*/ 119 h 129"/>
                <a:gd name="T46" fmla="*/ 8 w 154"/>
                <a:gd name="T47" fmla="*/ 112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4" h="129">
                  <a:moveTo>
                    <a:pt x="73" y="128"/>
                  </a:moveTo>
                  <a:cubicBezTo>
                    <a:pt x="75" y="129"/>
                    <a:pt x="79" y="129"/>
                    <a:pt x="81" y="128"/>
                  </a:cubicBezTo>
                  <a:cubicBezTo>
                    <a:pt x="88" y="122"/>
                    <a:pt x="109" y="111"/>
                    <a:pt x="146" y="120"/>
                  </a:cubicBezTo>
                  <a:cubicBezTo>
                    <a:pt x="148" y="121"/>
                    <a:pt x="150" y="120"/>
                    <a:pt x="152" y="119"/>
                  </a:cubicBezTo>
                  <a:cubicBezTo>
                    <a:pt x="153" y="118"/>
                    <a:pt x="154" y="116"/>
                    <a:pt x="154" y="114"/>
                  </a:cubicBezTo>
                  <a:cubicBezTo>
                    <a:pt x="154" y="17"/>
                    <a:pt x="154" y="17"/>
                    <a:pt x="154" y="17"/>
                  </a:cubicBezTo>
                  <a:cubicBezTo>
                    <a:pt x="154" y="14"/>
                    <a:pt x="152" y="11"/>
                    <a:pt x="149" y="10"/>
                  </a:cubicBezTo>
                  <a:cubicBezTo>
                    <a:pt x="110" y="0"/>
                    <a:pt x="86" y="12"/>
                    <a:pt x="77" y="18"/>
                  </a:cubicBezTo>
                  <a:cubicBezTo>
                    <a:pt x="68" y="12"/>
                    <a:pt x="45" y="0"/>
                    <a:pt x="5" y="10"/>
                  </a:cubicBezTo>
                  <a:cubicBezTo>
                    <a:pt x="2" y="11"/>
                    <a:pt x="0" y="14"/>
                    <a:pt x="0" y="17"/>
                  </a:cubicBezTo>
                  <a:cubicBezTo>
                    <a:pt x="0" y="114"/>
                    <a:pt x="0" y="114"/>
                    <a:pt x="0" y="114"/>
                  </a:cubicBezTo>
                  <a:cubicBezTo>
                    <a:pt x="0" y="116"/>
                    <a:pt x="1" y="118"/>
                    <a:pt x="3" y="119"/>
                  </a:cubicBezTo>
                  <a:cubicBezTo>
                    <a:pt x="4" y="121"/>
                    <a:pt x="6" y="121"/>
                    <a:pt x="8" y="120"/>
                  </a:cubicBezTo>
                  <a:cubicBezTo>
                    <a:pt x="45" y="111"/>
                    <a:pt x="66" y="122"/>
                    <a:pt x="73" y="128"/>
                  </a:cubicBezTo>
                  <a:close/>
                  <a:moveTo>
                    <a:pt x="80" y="26"/>
                  </a:moveTo>
                  <a:cubicBezTo>
                    <a:pt x="86" y="21"/>
                    <a:pt x="107" y="8"/>
                    <a:pt x="146" y="18"/>
                  </a:cubicBezTo>
                  <a:cubicBezTo>
                    <a:pt x="146" y="112"/>
                    <a:pt x="146" y="112"/>
                    <a:pt x="146" y="112"/>
                  </a:cubicBezTo>
                  <a:cubicBezTo>
                    <a:pt x="112" y="104"/>
                    <a:pt x="90" y="113"/>
                    <a:pt x="80" y="119"/>
                  </a:cubicBezTo>
                  <a:lnTo>
                    <a:pt x="80" y="26"/>
                  </a:lnTo>
                  <a:close/>
                  <a:moveTo>
                    <a:pt x="8" y="112"/>
                  </a:moveTo>
                  <a:cubicBezTo>
                    <a:pt x="8" y="18"/>
                    <a:pt x="8" y="18"/>
                    <a:pt x="8" y="18"/>
                  </a:cubicBezTo>
                  <a:cubicBezTo>
                    <a:pt x="47" y="8"/>
                    <a:pt x="68" y="21"/>
                    <a:pt x="74" y="26"/>
                  </a:cubicBezTo>
                  <a:cubicBezTo>
                    <a:pt x="74" y="119"/>
                    <a:pt x="74" y="119"/>
                    <a:pt x="74" y="119"/>
                  </a:cubicBezTo>
                  <a:cubicBezTo>
                    <a:pt x="64" y="113"/>
                    <a:pt x="42" y="104"/>
                    <a:pt x="8"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49" name="Freeform 26"/>
            <p:cNvSpPr/>
            <p:nvPr/>
          </p:nvSpPr>
          <p:spPr bwMode="auto">
            <a:xfrm>
              <a:off x="14524038" y="14257338"/>
              <a:ext cx="138113" cy="33338"/>
            </a:xfrm>
            <a:custGeom>
              <a:avLst/>
              <a:gdLst>
                <a:gd name="T0" fmla="*/ 2 w 37"/>
                <a:gd name="T1" fmla="*/ 2 h 9"/>
                <a:gd name="T2" fmla="*/ 0 w 37"/>
                <a:gd name="T3" fmla="*/ 3 h 9"/>
                <a:gd name="T4" fmla="*/ 0 w 37"/>
                <a:gd name="T5" fmla="*/ 6 h 9"/>
                <a:gd name="T6" fmla="*/ 1 w 37"/>
                <a:gd name="T7" fmla="*/ 7 h 9"/>
                <a:gd name="T8" fmla="*/ 2 w 37"/>
                <a:gd name="T9" fmla="*/ 8 h 9"/>
                <a:gd name="T10" fmla="*/ 35 w 37"/>
                <a:gd name="T11" fmla="*/ 9 h 9"/>
                <a:gd name="T12" fmla="*/ 36 w 37"/>
                <a:gd name="T13" fmla="*/ 9 h 9"/>
                <a:gd name="T14" fmla="*/ 37 w 37"/>
                <a:gd name="T15" fmla="*/ 8 h 9"/>
                <a:gd name="T16" fmla="*/ 37 w 37"/>
                <a:gd name="T17" fmla="*/ 5 h 9"/>
                <a:gd name="T18" fmla="*/ 35 w 37"/>
                <a:gd name="T19" fmla="*/ 3 h 9"/>
                <a:gd name="T20" fmla="*/ 2 w 37"/>
                <a:gd name="T21"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2"/>
                  </a:moveTo>
                  <a:cubicBezTo>
                    <a:pt x="1" y="2"/>
                    <a:pt x="0" y="3"/>
                    <a:pt x="0" y="3"/>
                  </a:cubicBezTo>
                  <a:cubicBezTo>
                    <a:pt x="0" y="6"/>
                    <a:pt x="0" y="6"/>
                    <a:pt x="0" y="6"/>
                  </a:cubicBezTo>
                  <a:cubicBezTo>
                    <a:pt x="0" y="6"/>
                    <a:pt x="0" y="7"/>
                    <a:pt x="1" y="7"/>
                  </a:cubicBezTo>
                  <a:cubicBezTo>
                    <a:pt x="1" y="8"/>
                    <a:pt x="2" y="8"/>
                    <a:pt x="2" y="8"/>
                  </a:cubicBezTo>
                  <a:cubicBezTo>
                    <a:pt x="14" y="6"/>
                    <a:pt x="25" y="7"/>
                    <a:pt x="35" y="9"/>
                  </a:cubicBezTo>
                  <a:cubicBezTo>
                    <a:pt x="35" y="9"/>
                    <a:pt x="36" y="9"/>
                    <a:pt x="36" y="9"/>
                  </a:cubicBezTo>
                  <a:cubicBezTo>
                    <a:pt x="37" y="9"/>
                    <a:pt x="37" y="8"/>
                    <a:pt x="37" y="8"/>
                  </a:cubicBezTo>
                  <a:cubicBezTo>
                    <a:pt x="37" y="5"/>
                    <a:pt x="37" y="5"/>
                    <a:pt x="37" y="5"/>
                  </a:cubicBezTo>
                  <a:cubicBezTo>
                    <a:pt x="37" y="4"/>
                    <a:pt x="36" y="4"/>
                    <a:pt x="35" y="3"/>
                  </a:cubicBezTo>
                  <a:cubicBezTo>
                    <a:pt x="25" y="1"/>
                    <a:pt x="14" y="0"/>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50" name="Freeform 27"/>
            <p:cNvSpPr/>
            <p:nvPr/>
          </p:nvSpPr>
          <p:spPr bwMode="auto">
            <a:xfrm>
              <a:off x="14524038" y="14320838"/>
              <a:ext cx="138113" cy="33338"/>
            </a:xfrm>
            <a:custGeom>
              <a:avLst/>
              <a:gdLst>
                <a:gd name="T0" fmla="*/ 2 w 37"/>
                <a:gd name="T1" fmla="*/ 1 h 9"/>
                <a:gd name="T2" fmla="*/ 0 w 37"/>
                <a:gd name="T3" fmla="*/ 3 h 9"/>
                <a:gd name="T4" fmla="*/ 0 w 37"/>
                <a:gd name="T5" fmla="*/ 5 h 9"/>
                <a:gd name="T6" fmla="*/ 1 w 37"/>
                <a:gd name="T7" fmla="*/ 7 h 9"/>
                <a:gd name="T8" fmla="*/ 2 w 37"/>
                <a:gd name="T9" fmla="*/ 7 h 9"/>
                <a:gd name="T10" fmla="*/ 35 w 37"/>
                <a:gd name="T11" fmla="*/ 9 h 9"/>
                <a:gd name="T12" fmla="*/ 36 w 37"/>
                <a:gd name="T13" fmla="*/ 8 h 9"/>
                <a:gd name="T14" fmla="*/ 37 w 37"/>
                <a:gd name="T15" fmla="*/ 7 h 9"/>
                <a:gd name="T16" fmla="*/ 37 w 37"/>
                <a:gd name="T17" fmla="*/ 5 h 9"/>
                <a:gd name="T18" fmla="*/ 35 w 37"/>
                <a:gd name="T19" fmla="*/ 3 h 9"/>
                <a:gd name="T20" fmla="*/ 2 w 37"/>
                <a:gd name="T21"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1"/>
                  </a:moveTo>
                  <a:cubicBezTo>
                    <a:pt x="1" y="1"/>
                    <a:pt x="0" y="2"/>
                    <a:pt x="0" y="3"/>
                  </a:cubicBezTo>
                  <a:cubicBezTo>
                    <a:pt x="0" y="5"/>
                    <a:pt x="0" y="5"/>
                    <a:pt x="0" y="5"/>
                  </a:cubicBezTo>
                  <a:cubicBezTo>
                    <a:pt x="0" y="6"/>
                    <a:pt x="0" y="6"/>
                    <a:pt x="1" y="7"/>
                  </a:cubicBezTo>
                  <a:cubicBezTo>
                    <a:pt x="1" y="7"/>
                    <a:pt x="2" y="7"/>
                    <a:pt x="2" y="7"/>
                  </a:cubicBezTo>
                  <a:cubicBezTo>
                    <a:pt x="14" y="6"/>
                    <a:pt x="25" y="6"/>
                    <a:pt x="35" y="9"/>
                  </a:cubicBezTo>
                  <a:cubicBezTo>
                    <a:pt x="35" y="9"/>
                    <a:pt x="36" y="9"/>
                    <a:pt x="36" y="8"/>
                  </a:cubicBezTo>
                  <a:cubicBezTo>
                    <a:pt x="37" y="8"/>
                    <a:pt x="37" y="8"/>
                    <a:pt x="37" y="7"/>
                  </a:cubicBezTo>
                  <a:cubicBezTo>
                    <a:pt x="37" y="5"/>
                    <a:pt x="37" y="5"/>
                    <a:pt x="37" y="5"/>
                  </a:cubicBezTo>
                  <a:cubicBezTo>
                    <a:pt x="37" y="4"/>
                    <a:pt x="36" y="3"/>
                    <a:pt x="35" y="3"/>
                  </a:cubicBezTo>
                  <a:cubicBezTo>
                    <a:pt x="25" y="0"/>
                    <a:pt x="14" y="0"/>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51" name="Freeform 28"/>
            <p:cNvSpPr/>
            <p:nvPr/>
          </p:nvSpPr>
          <p:spPr bwMode="auto">
            <a:xfrm>
              <a:off x="14524038" y="14381163"/>
              <a:ext cx="138113" cy="33338"/>
            </a:xfrm>
            <a:custGeom>
              <a:avLst/>
              <a:gdLst>
                <a:gd name="T0" fmla="*/ 2 w 37"/>
                <a:gd name="T1" fmla="*/ 2 h 9"/>
                <a:gd name="T2" fmla="*/ 0 w 37"/>
                <a:gd name="T3" fmla="*/ 4 h 9"/>
                <a:gd name="T4" fmla="*/ 0 w 37"/>
                <a:gd name="T5" fmla="*/ 6 h 9"/>
                <a:gd name="T6" fmla="*/ 1 w 37"/>
                <a:gd name="T7" fmla="*/ 7 h 9"/>
                <a:gd name="T8" fmla="*/ 2 w 37"/>
                <a:gd name="T9" fmla="*/ 8 h 9"/>
                <a:gd name="T10" fmla="*/ 35 w 37"/>
                <a:gd name="T11" fmla="*/ 9 h 9"/>
                <a:gd name="T12" fmla="*/ 36 w 37"/>
                <a:gd name="T13" fmla="*/ 9 h 9"/>
                <a:gd name="T14" fmla="*/ 37 w 37"/>
                <a:gd name="T15" fmla="*/ 8 h 9"/>
                <a:gd name="T16" fmla="*/ 37 w 37"/>
                <a:gd name="T17" fmla="*/ 5 h 9"/>
                <a:gd name="T18" fmla="*/ 35 w 37"/>
                <a:gd name="T19" fmla="*/ 3 h 9"/>
                <a:gd name="T20" fmla="*/ 2 w 37"/>
                <a:gd name="T21" fmla="*/ 2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2"/>
                  </a:moveTo>
                  <a:cubicBezTo>
                    <a:pt x="1" y="2"/>
                    <a:pt x="0" y="3"/>
                    <a:pt x="0" y="4"/>
                  </a:cubicBezTo>
                  <a:cubicBezTo>
                    <a:pt x="0" y="6"/>
                    <a:pt x="0" y="6"/>
                    <a:pt x="0" y="6"/>
                  </a:cubicBezTo>
                  <a:cubicBezTo>
                    <a:pt x="0" y="6"/>
                    <a:pt x="0" y="7"/>
                    <a:pt x="1" y="7"/>
                  </a:cubicBezTo>
                  <a:cubicBezTo>
                    <a:pt x="1" y="8"/>
                    <a:pt x="2" y="8"/>
                    <a:pt x="2" y="8"/>
                  </a:cubicBezTo>
                  <a:cubicBezTo>
                    <a:pt x="14" y="6"/>
                    <a:pt x="25" y="7"/>
                    <a:pt x="35" y="9"/>
                  </a:cubicBezTo>
                  <a:cubicBezTo>
                    <a:pt x="35" y="9"/>
                    <a:pt x="36" y="9"/>
                    <a:pt x="36" y="9"/>
                  </a:cubicBezTo>
                  <a:cubicBezTo>
                    <a:pt x="37" y="9"/>
                    <a:pt x="37" y="8"/>
                    <a:pt x="37" y="8"/>
                  </a:cubicBezTo>
                  <a:cubicBezTo>
                    <a:pt x="37" y="5"/>
                    <a:pt x="37" y="5"/>
                    <a:pt x="37" y="5"/>
                  </a:cubicBezTo>
                  <a:cubicBezTo>
                    <a:pt x="37" y="4"/>
                    <a:pt x="36" y="4"/>
                    <a:pt x="35" y="3"/>
                  </a:cubicBezTo>
                  <a:cubicBezTo>
                    <a:pt x="25" y="1"/>
                    <a:pt x="14" y="0"/>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52" name="Freeform 29"/>
            <p:cNvSpPr/>
            <p:nvPr/>
          </p:nvSpPr>
          <p:spPr bwMode="auto">
            <a:xfrm>
              <a:off x="14524038" y="14444663"/>
              <a:ext cx="138113" cy="33338"/>
            </a:xfrm>
            <a:custGeom>
              <a:avLst/>
              <a:gdLst>
                <a:gd name="T0" fmla="*/ 2 w 37"/>
                <a:gd name="T1" fmla="*/ 1 h 9"/>
                <a:gd name="T2" fmla="*/ 0 w 37"/>
                <a:gd name="T3" fmla="*/ 3 h 9"/>
                <a:gd name="T4" fmla="*/ 0 w 37"/>
                <a:gd name="T5" fmla="*/ 5 h 9"/>
                <a:gd name="T6" fmla="*/ 1 w 37"/>
                <a:gd name="T7" fmla="*/ 7 h 9"/>
                <a:gd name="T8" fmla="*/ 2 w 37"/>
                <a:gd name="T9" fmla="*/ 7 h 9"/>
                <a:gd name="T10" fmla="*/ 35 w 37"/>
                <a:gd name="T11" fmla="*/ 9 h 9"/>
                <a:gd name="T12" fmla="*/ 36 w 37"/>
                <a:gd name="T13" fmla="*/ 8 h 9"/>
                <a:gd name="T14" fmla="*/ 37 w 37"/>
                <a:gd name="T15" fmla="*/ 7 h 9"/>
                <a:gd name="T16" fmla="*/ 37 w 37"/>
                <a:gd name="T17" fmla="*/ 5 h 9"/>
                <a:gd name="T18" fmla="*/ 35 w 37"/>
                <a:gd name="T19" fmla="*/ 3 h 9"/>
                <a:gd name="T20" fmla="*/ 2 w 37"/>
                <a:gd name="T21" fmla="*/ 1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1"/>
                  </a:moveTo>
                  <a:cubicBezTo>
                    <a:pt x="1" y="1"/>
                    <a:pt x="0" y="2"/>
                    <a:pt x="0" y="3"/>
                  </a:cubicBezTo>
                  <a:cubicBezTo>
                    <a:pt x="0" y="5"/>
                    <a:pt x="0" y="5"/>
                    <a:pt x="0" y="5"/>
                  </a:cubicBezTo>
                  <a:cubicBezTo>
                    <a:pt x="0" y="6"/>
                    <a:pt x="0" y="6"/>
                    <a:pt x="1" y="7"/>
                  </a:cubicBezTo>
                  <a:cubicBezTo>
                    <a:pt x="1" y="7"/>
                    <a:pt x="2" y="7"/>
                    <a:pt x="2" y="7"/>
                  </a:cubicBezTo>
                  <a:cubicBezTo>
                    <a:pt x="14" y="6"/>
                    <a:pt x="25" y="6"/>
                    <a:pt x="35" y="9"/>
                  </a:cubicBezTo>
                  <a:cubicBezTo>
                    <a:pt x="35" y="9"/>
                    <a:pt x="36" y="9"/>
                    <a:pt x="36" y="8"/>
                  </a:cubicBezTo>
                  <a:cubicBezTo>
                    <a:pt x="37" y="8"/>
                    <a:pt x="37" y="8"/>
                    <a:pt x="37" y="7"/>
                  </a:cubicBezTo>
                  <a:cubicBezTo>
                    <a:pt x="37" y="5"/>
                    <a:pt x="37" y="5"/>
                    <a:pt x="37" y="5"/>
                  </a:cubicBezTo>
                  <a:cubicBezTo>
                    <a:pt x="37" y="4"/>
                    <a:pt x="36" y="3"/>
                    <a:pt x="35" y="3"/>
                  </a:cubicBezTo>
                  <a:cubicBezTo>
                    <a:pt x="25" y="0"/>
                    <a:pt x="14" y="0"/>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53" name="Freeform 30"/>
            <p:cNvSpPr/>
            <p:nvPr/>
          </p:nvSpPr>
          <p:spPr bwMode="auto">
            <a:xfrm>
              <a:off x="14790738" y="14257338"/>
              <a:ext cx="138113" cy="33338"/>
            </a:xfrm>
            <a:custGeom>
              <a:avLst/>
              <a:gdLst>
                <a:gd name="T0" fmla="*/ 2 w 37"/>
                <a:gd name="T1" fmla="*/ 3 h 9"/>
                <a:gd name="T2" fmla="*/ 0 w 37"/>
                <a:gd name="T3" fmla="*/ 5 h 9"/>
                <a:gd name="T4" fmla="*/ 0 w 37"/>
                <a:gd name="T5" fmla="*/ 8 h 9"/>
                <a:gd name="T6" fmla="*/ 1 w 37"/>
                <a:gd name="T7" fmla="*/ 9 h 9"/>
                <a:gd name="T8" fmla="*/ 3 w 37"/>
                <a:gd name="T9" fmla="*/ 9 h 9"/>
                <a:gd name="T10" fmla="*/ 35 w 37"/>
                <a:gd name="T11" fmla="*/ 8 h 9"/>
                <a:gd name="T12" fmla="*/ 36 w 37"/>
                <a:gd name="T13" fmla="*/ 7 h 9"/>
                <a:gd name="T14" fmla="*/ 37 w 37"/>
                <a:gd name="T15" fmla="*/ 6 h 9"/>
                <a:gd name="T16" fmla="*/ 37 w 37"/>
                <a:gd name="T17" fmla="*/ 3 h 9"/>
                <a:gd name="T18" fmla="*/ 36 w 37"/>
                <a:gd name="T19" fmla="*/ 2 h 9"/>
                <a:gd name="T20" fmla="*/ 2 w 37"/>
                <a:gd name="T21"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3"/>
                  </a:moveTo>
                  <a:cubicBezTo>
                    <a:pt x="1" y="4"/>
                    <a:pt x="0" y="4"/>
                    <a:pt x="0" y="5"/>
                  </a:cubicBezTo>
                  <a:cubicBezTo>
                    <a:pt x="0" y="8"/>
                    <a:pt x="0" y="8"/>
                    <a:pt x="0" y="8"/>
                  </a:cubicBezTo>
                  <a:cubicBezTo>
                    <a:pt x="0" y="8"/>
                    <a:pt x="1" y="9"/>
                    <a:pt x="1" y="9"/>
                  </a:cubicBezTo>
                  <a:cubicBezTo>
                    <a:pt x="1" y="9"/>
                    <a:pt x="2" y="9"/>
                    <a:pt x="3" y="9"/>
                  </a:cubicBezTo>
                  <a:cubicBezTo>
                    <a:pt x="12" y="7"/>
                    <a:pt x="23" y="6"/>
                    <a:pt x="35" y="8"/>
                  </a:cubicBezTo>
                  <a:cubicBezTo>
                    <a:pt x="36" y="8"/>
                    <a:pt x="36" y="8"/>
                    <a:pt x="36" y="7"/>
                  </a:cubicBezTo>
                  <a:cubicBezTo>
                    <a:pt x="37" y="7"/>
                    <a:pt x="37" y="6"/>
                    <a:pt x="37" y="6"/>
                  </a:cubicBezTo>
                  <a:cubicBezTo>
                    <a:pt x="37" y="3"/>
                    <a:pt x="37" y="3"/>
                    <a:pt x="37" y="3"/>
                  </a:cubicBezTo>
                  <a:cubicBezTo>
                    <a:pt x="37" y="3"/>
                    <a:pt x="36" y="2"/>
                    <a:pt x="36" y="2"/>
                  </a:cubicBezTo>
                  <a:cubicBezTo>
                    <a:pt x="23" y="0"/>
                    <a:pt x="12" y="1"/>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54" name="Freeform 31"/>
            <p:cNvSpPr/>
            <p:nvPr/>
          </p:nvSpPr>
          <p:spPr bwMode="auto">
            <a:xfrm>
              <a:off x="14790738" y="14320838"/>
              <a:ext cx="138113" cy="33338"/>
            </a:xfrm>
            <a:custGeom>
              <a:avLst/>
              <a:gdLst>
                <a:gd name="T0" fmla="*/ 2 w 37"/>
                <a:gd name="T1" fmla="*/ 3 h 9"/>
                <a:gd name="T2" fmla="*/ 0 w 37"/>
                <a:gd name="T3" fmla="*/ 5 h 9"/>
                <a:gd name="T4" fmla="*/ 0 w 37"/>
                <a:gd name="T5" fmla="*/ 7 h 9"/>
                <a:gd name="T6" fmla="*/ 1 w 37"/>
                <a:gd name="T7" fmla="*/ 8 h 9"/>
                <a:gd name="T8" fmla="*/ 3 w 37"/>
                <a:gd name="T9" fmla="*/ 9 h 9"/>
                <a:gd name="T10" fmla="*/ 35 w 37"/>
                <a:gd name="T11" fmla="*/ 7 h 9"/>
                <a:gd name="T12" fmla="*/ 36 w 37"/>
                <a:gd name="T13" fmla="*/ 7 h 9"/>
                <a:gd name="T14" fmla="*/ 37 w 37"/>
                <a:gd name="T15" fmla="*/ 5 h 9"/>
                <a:gd name="T16" fmla="*/ 37 w 37"/>
                <a:gd name="T17" fmla="*/ 3 h 9"/>
                <a:gd name="T18" fmla="*/ 36 w 37"/>
                <a:gd name="T19" fmla="*/ 1 h 9"/>
                <a:gd name="T20" fmla="*/ 2 w 37"/>
                <a:gd name="T21"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3"/>
                  </a:moveTo>
                  <a:cubicBezTo>
                    <a:pt x="1" y="3"/>
                    <a:pt x="0" y="4"/>
                    <a:pt x="0" y="5"/>
                  </a:cubicBezTo>
                  <a:cubicBezTo>
                    <a:pt x="0" y="7"/>
                    <a:pt x="0" y="7"/>
                    <a:pt x="0" y="7"/>
                  </a:cubicBezTo>
                  <a:cubicBezTo>
                    <a:pt x="0" y="8"/>
                    <a:pt x="1" y="8"/>
                    <a:pt x="1" y="8"/>
                  </a:cubicBezTo>
                  <a:cubicBezTo>
                    <a:pt x="1" y="9"/>
                    <a:pt x="2" y="9"/>
                    <a:pt x="3" y="9"/>
                  </a:cubicBezTo>
                  <a:cubicBezTo>
                    <a:pt x="12" y="6"/>
                    <a:pt x="23" y="6"/>
                    <a:pt x="35" y="7"/>
                  </a:cubicBezTo>
                  <a:cubicBezTo>
                    <a:pt x="36" y="7"/>
                    <a:pt x="36" y="7"/>
                    <a:pt x="36" y="7"/>
                  </a:cubicBezTo>
                  <a:cubicBezTo>
                    <a:pt x="37" y="6"/>
                    <a:pt x="37" y="6"/>
                    <a:pt x="37" y="5"/>
                  </a:cubicBezTo>
                  <a:cubicBezTo>
                    <a:pt x="37" y="3"/>
                    <a:pt x="37" y="3"/>
                    <a:pt x="37" y="3"/>
                  </a:cubicBezTo>
                  <a:cubicBezTo>
                    <a:pt x="37" y="2"/>
                    <a:pt x="36" y="1"/>
                    <a:pt x="36" y="1"/>
                  </a:cubicBezTo>
                  <a:cubicBezTo>
                    <a:pt x="23" y="0"/>
                    <a:pt x="12" y="0"/>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55" name="Freeform 32"/>
            <p:cNvSpPr/>
            <p:nvPr/>
          </p:nvSpPr>
          <p:spPr bwMode="auto">
            <a:xfrm>
              <a:off x="14790738" y="14381163"/>
              <a:ext cx="138113" cy="33338"/>
            </a:xfrm>
            <a:custGeom>
              <a:avLst/>
              <a:gdLst>
                <a:gd name="T0" fmla="*/ 2 w 37"/>
                <a:gd name="T1" fmla="*/ 3 h 9"/>
                <a:gd name="T2" fmla="*/ 0 w 37"/>
                <a:gd name="T3" fmla="*/ 5 h 9"/>
                <a:gd name="T4" fmla="*/ 0 w 37"/>
                <a:gd name="T5" fmla="*/ 8 h 9"/>
                <a:gd name="T6" fmla="*/ 1 w 37"/>
                <a:gd name="T7" fmla="*/ 9 h 9"/>
                <a:gd name="T8" fmla="*/ 3 w 37"/>
                <a:gd name="T9" fmla="*/ 9 h 9"/>
                <a:gd name="T10" fmla="*/ 35 w 37"/>
                <a:gd name="T11" fmla="*/ 8 h 9"/>
                <a:gd name="T12" fmla="*/ 36 w 37"/>
                <a:gd name="T13" fmla="*/ 7 h 9"/>
                <a:gd name="T14" fmla="*/ 37 w 37"/>
                <a:gd name="T15" fmla="*/ 6 h 9"/>
                <a:gd name="T16" fmla="*/ 37 w 37"/>
                <a:gd name="T17" fmla="*/ 4 h 9"/>
                <a:gd name="T18" fmla="*/ 36 w 37"/>
                <a:gd name="T19" fmla="*/ 2 h 9"/>
                <a:gd name="T20" fmla="*/ 2 w 37"/>
                <a:gd name="T21"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3"/>
                  </a:moveTo>
                  <a:cubicBezTo>
                    <a:pt x="1" y="4"/>
                    <a:pt x="0" y="4"/>
                    <a:pt x="0" y="5"/>
                  </a:cubicBezTo>
                  <a:cubicBezTo>
                    <a:pt x="0" y="8"/>
                    <a:pt x="0" y="8"/>
                    <a:pt x="0" y="8"/>
                  </a:cubicBezTo>
                  <a:cubicBezTo>
                    <a:pt x="0" y="8"/>
                    <a:pt x="1" y="9"/>
                    <a:pt x="1" y="9"/>
                  </a:cubicBezTo>
                  <a:cubicBezTo>
                    <a:pt x="1" y="9"/>
                    <a:pt x="2" y="9"/>
                    <a:pt x="3" y="9"/>
                  </a:cubicBezTo>
                  <a:cubicBezTo>
                    <a:pt x="12" y="7"/>
                    <a:pt x="23" y="6"/>
                    <a:pt x="35" y="8"/>
                  </a:cubicBezTo>
                  <a:cubicBezTo>
                    <a:pt x="36" y="8"/>
                    <a:pt x="36" y="8"/>
                    <a:pt x="36" y="7"/>
                  </a:cubicBezTo>
                  <a:cubicBezTo>
                    <a:pt x="37" y="7"/>
                    <a:pt x="37" y="6"/>
                    <a:pt x="37" y="6"/>
                  </a:cubicBezTo>
                  <a:cubicBezTo>
                    <a:pt x="37" y="4"/>
                    <a:pt x="37" y="4"/>
                    <a:pt x="37" y="4"/>
                  </a:cubicBezTo>
                  <a:cubicBezTo>
                    <a:pt x="37" y="3"/>
                    <a:pt x="36" y="2"/>
                    <a:pt x="36" y="2"/>
                  </a:cubicBezTo>
                  <a:cubicBezTo>
                    <a:pt x="23" y="0"/>
                    <a:pt x="12" y="1"/>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sp>
          <p:nvSpPr>
            <p:cNvPr id="56" name="Freeform 33"/>
            <p:cNvSpPr/>
            <p:nvPr/>
          </p:nvSpPr>
          <p:spPr bwMode="auto">
            <a:xfrm>
              <a:off x="14790738" y="14444663"/>
              <a:ext cx="138113" cy="33338"/>
            </a:xfrm>
            <a:custGeom>
              <a:avLst/>
              <a:gdLst>
                <a:gd name="T0" fmla="*/ 2 w 37"/>
                <a:gd name="T1" fmla="*/ 3 h 9"/>
                <a:gd name="T2" fmla="*/ 0 w 37"/>
                <a:gd name="T3" fmla="*/ 5 h 9"/>
                <a:gd name="T4" fmla="*/ 0 w 37"/>
                <a:gd name="T5" fmla="*/ 7 h 9"/>
                <a:gd name="T6" fmla="*/ 1 w 37"/>
                <a:gd name="T7" fmla="*/ 8 h 9"/>
                <a:gd name="T8" fmla="*/ 3 w 37"/>
                <a:gd name="T9" fmla="*/ 9 h 9"/>
                <a:gd name="T10" fmla="*/ 35 w 37"/>
                <a:gd name="T11" fmla="*/ 7 h 9"/>
                <a:gd name="T12" fmla="*/ 36 w 37"/>
                <a:gd name="T13" fmla="*/ 7 h 9"/>
                <a:gd name="T14" fmla="*/ 37 w 37"/>
                <a:gd name="T15" fmla="*/ 5 h 9"/>
                <a:gd name="T16" fmla="*/ 37 w 37"/>
                <a:gd name="T17" fmla="*/ 3 h 9"/>
                <a:gd name="T18" fmla="*/ 36 w 37"/>
                <a:gd name="T19" fmla="*/ 1 h 9"/>
                <a:gd name="T20" fmla="*/ 2 w 37"/>
                <a:gd name="T21"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9">
                  <a:moveTo>
                    <a:pt x="2" y="3"/>
                  </a:moveTo>
                  <a:cubicBezTo>
                    <a:pt x="1" y="3"/>
                    <a:pt x="0" y="4"/>
                    <a:pt x="0" y="5"/>
                  </a:cubicBezTo>
                  <a:cubicBezTo>
                    <a:pt x="0" y="7"/>
                    <a:pt x="0" y="7"/>
                    <a:pt x="0" y="7"/>
                  </a:cubicBezTo>
                  <a:cubicBezTo>
                    <a:pt x="0" y="8"/>
                    <a:pt x="1" y="8"/>
                    <a:pt x="1" y="8"/>
                  </a:cubicBezTo>
                  <a:cubicBezTo>
                    <a:pt x="1" y="9"/>
                    <a:pt x="2" y="9"/>
                    <a:pt x="3" y="9"/>
                  </a:cubicBezTo>
                  <a:cubicBezTo>
                    <a:pt x="12" y="6"/>
                    <a:pt x="23" y="6"/>
                    <a:pt x="35" y="7"/>
                  </a:cubicBezTo>
                  <a:cubicBezTo>
                    <a:pt x="36" y="7"/>
                    <a:pt x="36" y="7"/>
                    <a:pt x="36" y="7"/>
                  </a:cubicBezTo>
                  <a:cubicBezTo>
                    <a:pt x="37" y="6"/>
                    <a:pt x="37" y="6"/>
                    <a:pt x="37" y="5"/>
                  </a:cubicBezTo>
                  <a:cubicBezTo>
                    <a:pt x="37" y="3"/>
                    <a:pt x="37" y="3"/>
                    <a:pt x="37" y="3"/>
                  </a:cubicBezTo>
                  <a:cubicBezTo>
                    <a:pt x="37" y="2"/>
                    <a:pt x="36" y="1"/>
                    <a:pt x="36" y="1"/>
                  </a:cubicBezTo>
                  <a:cubicBezTo>
                    <a:pt x="23" y="0"/>
                    <a:pt x="12" y="0"/>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grpSp>
      <p:sp>
        <p:nvSpPr>
          <p:cNvPr id="16" name="Freeform 6"/>
          <p:cNvSpPr>
            <a:spLocks noEditPoints="1"/>
          </p:cNvSpPr>
          <p:nvPr/>
        </p:nvSpPr>
        <p:spPr bwMode="auto">
          <a:xfrm>
            <a:off x="8922076" y="2050405"/>
            <a:ext cx="535305" cy="539750"/>
          </a:xfrm>
          <a:custGeom>
            <a:avLst/>
            <a:gdLst>
              <a:gd name="T0" fmla="*/ 137 w 150"/>
              <a:gd name="T1" fmla="*/ 46 h 151"/>
              <a:gd name="T2" fmla="*/ 130 w 150"/>
              <a:gd name="T3" fmla="*/ 46 h 151"/>
              <a:gd name="T4" fmla="*/ 121 w 150"/>
              <a:gd name="T5" fmla="*/ 56 h 151"/>
              <a:gd name="T6" fmla="*/ 117 w 150"/>
              <a:gd name="T7" fmla="*/ 62 h 151"/>
              <a:gd name="T8" fmla="*/ 110 w 150"/>
              <a:gd name="T9" fmla="*/ 61 h 151"/>
              <a:gd name="T10" fmla="*/ 81 w 150"/>
              <a:gd name="T11" fmla="*/ 46 h 151"/>
              <a:gd name="T12" fmla="*/ 95 w 150"/>
              <a:gd name="T13" fmla="*/ 24 h 151"/>
              <a:gd name="T14" fmla="*/ 48 w 150"/>
              <a:gd name="T15" fmla="*/ 24 h 151"/>
              <a:gd name="T16" fmla="*/ 62 w 150"/>
              <a:gd name="T17" fmla="*/ 46 h 151"/>
              <a:gd name="T18" fmla="*/ 36 w 150"/>
              <a:gd name="T19" fmla="*/ 56 h 151"/>
              <a:gd name="T20" fmla="*/ 18 w 150"/>
              <a:gd name="T21" fmla="*/ 109 h 151"/>
              <a:gd name="T22" fmla="*/ 2 w 150"/>
              <a:gd name="T23" fmla="*/ 142 h 151"/>
              <a:gd name="T24" fmla="*/ 1 w 150"/>
              <a:gd name="T25" fmla="*/ 148 h 151"/>
              <a:gd name="T26" fmla="*/ 138 w 150"/>
              <a:gd name="T27" fmla="*/ 151 h 151"/>
              <a:gd name="T28" fmla="*/ 142 w 150"/>
              <a:gd name="T29" fmla="*/ 141 h 151"/>
              <a:gd name="T30" fmla="*/ 119 w 150"/>
              <a:gd name="T31" fmla="*/ 112 h 151"/>
              <a:gd name="T32" fmla="*/ 103 w 150"/>
              <a:gd name="T33" fmla="*/ 106 h 151"/>
              <a:gd name="T34" fmla="*/ 106 w 150"/>
              <a:gd name="T35" fmla="*/ 98 h 151"/>
              <a:gd name="T36" fmla="*/ 113 w 150"/>
              <a:gd name="T37" fmla="*/ 103 h 151"/>
              <a:gd name="T38" fmla="*/ 139 w 150"/>
              <a:gd name="T39" fmla="*/ 80 h 151"/>
              <a:gd name="T40" fmla="*/ 145 w 150"/>
              <a:gd name="T41" fmla="*/ 68 h 151"/>
              <a:gd name="T42" fmla="*/ 136 w 150"/>
              <a:gd name="T43" fmla="*/ 46 h 151"/>
              <a:gd name="T44" fmla="*/ 71 w 150"/>
              <a:gd name="T45" fmla="*/ 8 h 151"/>
              <a:gd name="T46" fmla="*/ 79 w 150"/>
              <a:gd name="T47" fmla="*/ 38 h 151"/>
              <a:gd name="T48" fmla="*/ 71 w 150"/>
              <a:gd name="T49" fmla="*/ 40 h 151"/>
              <a:gd name="T50" fmla="*/ 65 w 150"/>
              <a:gd name="T51" fmla="*/ 39 h 151"/>
              <a:gd name="T52" fmla="*/ 109 w 150"/>
              <a:gd name="T53" fmla="*/ 112 h 151"/>
              <a:gd name="T54" fmla="*/ 138 w 150"/>
              <a:gd name="T55" fmla="*/ 145 h 151"/>
              <a:gd name="T56" fmla="*/ 138 w 150"/>
              <a:gd name="T57" fmla="*/ 145 h 151"/>
              <a:gd name="T58" fmla="*/ 6 w 150"/>
              <a:gd name="T59" fmla="*/ 145 h 151"/>
              <a:gd name="T60" fmla="*/ 6 w 150"/>
              <a:gd name="T61" fmla="*/ 145 h 151"/>
              <a:gd name="T62" fmla="*/ 6 w 150"/>
              <a:gd name="T63" fmla="*/ 145 h 151"/>
              <a:gd name="T64" fmla="*/ 39 w 150"/>
              <a:gd name="T65" fmla="*/ 133 h 151"/>
              <a:gd name="T66" fmla="*/ 54 w 150"/>
              <a:gd name="T67" fmla="*/ 136 h 151"/>
              <a:gd name="T68" fmla="*/ 60 w 150"/>
              <a:gd name="T69" fmla="*/ 115 h 151"/>
              <a:gd name="T70" fmla="*/ 109 w 150"/>
              <a:gd name="T71" fmla="*/ 112 h 151"/>
              <a:gd name="T72" fmla="*/ 136 w 150"/>
              <a:gd name="T73" fmla="*/ 69 h 151"/>
              <a:gd name="T74" fmla="*/ 122 w 150"/>
              <a:gd name="T75" fmla="*/ 96 h 151"/>
              <a:gd name="T76" fmla="*/ 112 w 150"/>
              <a:gd name="T77" fmla="*/ 93 h 151"/>
              <a:gd name="T78" fmla="*/ 100 w 150"/>
              <a:gd name="T79" fmla="*/ 81 h 151"/>
              <a:gd name="T80" fmla="*/ 94 w 150"/>
              <a:gd name="T81" fmla="*/ 84 h 151"/>
              <a:gd name="T82" fmla="*/ 71 w 150"/>
              <a:gd name="T83" fmla="*/ 106 h 151"/>
              <a:gd name="T84" fmla="*/ 50 w 150"/>
              <a:gd name="T85" fmla="*/ 104 h 151"/>
              <a:gd name="T86" fmla="*/ 48 w 150"/>
              <a:gd name="T87" fmla="*/ 79 h 151"/>
              <a:gd name="T88" fmla="*/ 38 w 150"/>
              <a:gd name="T89" fmla="*/ 101 h 151"/>
              <a:gd name="T90" fmla="*/ 55 w 150"/>
              <a:gd name="T91" fmla="*/ 126 h 151"/>
              <a:gd name="T92" fmla="*/ 47 w 150"/>
              <a:gd name="T93" fmla="*/ 129 h 151"/>
              <a:gd name="T94" fmla="*/ 23 w 150"/>
              <a:gd name="T95" fmla="*/ 104 h 151"/>
              <a:gd name="T96" fmla="*/ 42 w 150"/>
              <a:gd name="T97" fmla="*/ 61 h 151"/>
              <a:gd name="T98" fmla="*/ 67 w 150"/>
              <a:gd name="T99" fmla="*/ 53 h 151"/>
              <a:gd name="T100" fmla="*/ 64 w 150"/>
              <a:gd name="T101" fmla="*/ 95 h 151"/>
              <a:gd name="T102" fmla="*/ 79 w 150"/>
              <a:gd name="T103" fmla="*/ 94 h 151"/>
              <a:gd name="T104" fmla="*/ 76 w 150"/>
              <a:gd name="T105" fmla="*/ 53 h 151"/>
              <a:gd name="T106" fmla="*/ 104 w 150"/>
              <a:gd name="T107" fmla="*/ 65 h 151"/>
              <a:gd name="T108" fmla="*/ 113 w 150"/>
              <a:gd name="T109" fmla="*/ 77 h 151"/>
              <a:gd name="T110" fmla="*/ 119 w 150"/>
              <a:gd name="T111" fmla="*/ 76 h 151"/>
              <a:gd name="T112" fmla="*/ 124 w 150"/>
              <a:gd name="T113" fmla="*/ 66 h 151"/>
              <a:gd name="T114" fmla="*/ 127 w 150"/>
              <a:gd name="T115" fmla="*/ 59 h 151"/>
              <a:gd name="T116" fmla="*/ 132 w 150"/>
              <a:gd name="T117" fmla="*/ 53 h 151"/>
              <a:gd name="T118" fmla="*/ 135 w 150"/>
              <a:gd name="T119" fmla="*/ 53 h 151"/>
              <a:gd name="T120" fmla="*/ 138 w 150"/>
              <a:gd name="T121"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0" h="151">
                <a:moveTo>
                  <a:pt x="136" y="46"/>
                </a:moveTo>
                <a:cubicBezTo>
                  <a:pt x="137" y="46"/>
                  <a:pt x="137" y="46"/>
                  <a:pt x="137" y="46"/>
                </a:cubicBezTo>
                <a:cubicBezTo>
                  <a:pt x="136" y="46"/>
                  <a:pt x="136" y="46"/>
                  <a:pt x="136" y="46"/>
                </a:cubicBezTo>
                <a:cubicBezTo>
                  <a:pt x="134" y="45"/>
                  <a:pt x="132" y="46"/>
                  <a:pt x="130" y="46"/>
                </a:cubicBezTo>
                <a:cubicBezTo>
                  <a:pt x="125" y="47"/>
                  <a:pt x="123" y="52"/>
                  <a:pt x="121" y="55"/>
                </a:cubicBezTo>
                <a:cubicBezTo>
                  <a:pt x="121" y="56"/>
                  <a:pt x="121" y="56"/>
                  <a:pt x="121" y="56"/>
                </a:cubicBezTo>
                <a:cubicBezTo>
                  <a:pt x="121" y="56"/>
                  <a:pt x="119" y="60"/>
                  <a:pt x="119" y="60"/>
                </a:cubicBezTo>
                <a:cubicBezTo>
                  <a:pt x="117" y="62"/>
                  <a:pt x="117" y="62"/>
                  <a:pt x="117" y="62"/>
                </a:cubicBezTo>
                <a:cubicBezTo>
                  <a:pt x="117" y="64"/>
                  <a:pt x="116" y="65"/>
                  <a:pt x="115" y="67"/>
                </a:cubicBezTo>
                <a:cubicBezTo>
                  <a:pt x="114" y="65"/>
                  <a:pt x="112" y="63"/>
                  <a:pt x="110" y="61"/>
                </a:cubicBezTo>
                <a:cubicBezTo>
                  <a:pt x="104" y="52"/>
                  <a:pt x="99" y="47"/>
                  <a:pt x="87" y="46"/>
                </a:cubicBezTo>
                <a:cubicBezTo>
                  <a:pt x="85" y="46"/>
                  <a:pt x="83" y="46"/>
                  <a:pt x="81" y="46"/>
                </a:cubicBezTo>
                <a:cubicBezTo>
                  <a:pt x="82" y="45"/>
                  <a:pt x="82" y="45"/>
                  <a:pt x="83" y="45"/>
                </a:cubicBezTo>
                <a:cubicBezTo>
                  <a:pt x="91" y="40"/>
                  <a:pt x="95" y="32"/>
                  <a:pt x="95" y="24"/>
                </a:cubicBezTo>
                <a:cubicBezTo>
                  <a:pt x="95" y="11"/>
                  <a:pt x="85" y="0"/>
                  <a:pt x="71" y="0"/>
                </a:cubicBezTo>
                <a:cubicBezTo>
                  <a:pt x="58" y="0"/>
                  <a:pt x="48" y="11"/>
                  <a:pt x="48" y="24"/>
                </a:cubicBezTo>
                <a:cubicBezTo>
                  <a:pt x="48" y="33"/>
                  <a:pt x="53" y="42"/>
                  <a:pt x="62" y="46"/>
                </a:cubicBezTo>
                <a:cubicBezTo>
                  <a:pt x="62" y="46"/>
                  <a:pt x="62" y="46"/>
                  <a:pt x="62" y="46"/>
                </a:cubicBezTo>
                <a:cubicBezTo>
                  <a:pt x="60" y="46"/>
                  <a:pt x="58" y="46"/>
                  <a:pt x="55" y="47"/>
                </a:cubicBezTo>
                <a:cubicBezTo>
                  <a:pt x="48" y="47"/>
                  <a:pt x="41" y="49"/>
                  <a:pt x="36" y="56"/>
                </a:cubicBezTo>
                <a:cubicBezTo>
                  <a:pt x="29" y="68"/>
                  <a:pt x="20" y="84"/>
                  <a:pt x="16" y="93"/>
                </a:cubicBezTo>
                <a:cubicBezTo>
                  <a:pt x="12" y="99"/>
                  <a:pt x="13" y="103"/>
                  <a:pt x="18" y="109"/>
                </a:cubicBezTo>
                <a:cubicBezTo>
                  <a:pt x="18" y="109"/>
                  <a:pt x="20" y="111"/>
                  <a:pt x="23" y="115"/>
                </a:cubicBezTo>
                <a:cubicBezTo>
                  <a:pt x="2" y="142"/>
                  <a:pt x="2" y="142"/>
                  <a:pt x="2" y="142"/>
                </a:cubicBezTo>
                <a:cubicBezTo>
                  <a:pt x="2" y="141"/>
                  <a:pt x="2" y="141"/>
                  <a:pt x="2" y="141"/>
                </a:cubicBezTo>
                <a:cubicBezTo>
                  <a:pt x="0" y="143"/>
                  <a:pt x="0" y="145"/>
                  <a:pt x="1" y="148"/>
                </a:cubicBezTo>
                <a:cubicBezTo>
                  <a:pt x="2" y="150"/>
                  <a:pt x="4" y="151"/>
                  <a:pt x="6" y="151"/>
                </a:cubicBezTo>
                <a:cubicBezTo>
                  <a:pt x="138" y="151"/>
                  <a:pt x="138" y="151"/>
                  <a:pt x="138" y="151"/>
                </a:cubicBezTo>
                <a:cubicBezTo>
                  <a:pt x="141" y="151"/>
                  <a:pt x="143" y="150"/>
                  <a:pt x="144" y="148"/>
                </a:cubicBezTo>
                <a:cubicBezTo>
                  <a:pt x="144" y="145"/>
                  <a:pt x="144" y="143"/>
                  <a:pt x="142" y="141"/>
                </a:cubicBezTo>
                <a:cubicBezTo>
                  <a:pt x="143" y="142"/>
                  <a:pt x="143" y="142"/>
                  <a:pt x="143" y="142"/>
                </a:cubicBezTo>
                <a:cubicBezTo>
                  <a:pt x="119" y="112"/>
                  <a:pt x="119" y="112"/>
                  <a:pt x="119" y="112"/>
                </a:cubicBezTo>
                <a:cubicBezTo>
                  <a:pt x="116" y="108"/>
                  <a:pt x="115" y="106"/>
                  <a:pt x="109" y="106"/>
                </a:cubicBezTo>
                <a:cubicBezTo>
                  <a:pt x="103" y="106"/>
                  <a:pt x="103" y="106"/>
                  <a:pt x="103" y="106"/>
                </a:cubicBezTo>
                <a:cubicBezTo>
                  <a:pt x="102" y="102"/>
                  <a:pt x="102" y="98"/>
                  <a:pt x="102" y="93"/>
                </a:cubicBezTo>
                <a:cubicBezTo>
                  <a:pt x="104" y="95"/>
                  <a:pt x="105" y="97"/>
                  <a:pt x="106" y="98"/>
                </a:cubicBezTo>
                <a:cubicBezTo>
                  <a:pt x="107" y="99"/>
                  <a:pt x="107" y="99"/>
                  <a:pt x="107" y="99"/>
                </a:cubicBezTo>
                <a:cubicBezTo>
                  <a:pt x="109" y="100"/>
                  <a:pt x="110" y="102"/>
                  <a:pt x="113" y="103"/>
                </a:cubicBezTo>
                <a:cubicBezTo>
                  <a:pt x="117" y="105"/>
                  <a:pt x="122" y="104"/>
                  <a:pt x="126" y="102"/>
                </a:cubicBezTo>
                <a:cubicBezTo>
                  <a:pt x="129" y="99"/>
                  <a:pt x="131" y="97"/>
                  <a:pt x="139" y="80"/>
                </a:cubicBezTo>
                <a:cubicBezTo>
                  <a:pt x="139" y="80"/>
                  <a:pt x="143" y="72"/>
                  <a:pt x="143" y="72"/>
                </a:cubicBezTo>
                <a:cubicBezTo>
                  <a:pt x="143" y="71"/>
                  <a:pt x="144" y="69"/>
                  <a:pt x="145" y="68"/>
                </a:cubicBezTo>
                <a:cubicBezTo>
                  <a:pt x="146" y="64"/>
                  <a:pt x="150" y="57"/>
                  <a:pt x="145" y="51"/>
                </a:cubicBezTo>
                <a:cubicBezTo>
                  <a:pt x="143" y="48"/>
                  <a:pt x="140" y="46"/>
                  <a:pt x="136" y="46"/>
                </a:cubicBezTo>
                <a:close/>
                <a:moveTo>
                  <a:pt x="55" y="24"/>
                </a:moveTo>
                <a:cubicBezTo>
                  <a:pt x="55" y="15"/>
                  <a:pt x="62" y="8"/>
                  <a:pt x="71" y="8"/>
                </a:cubicBezTo>
                <a:cubicBezTo>
                  <a:pt x="80" y="8"/>
                  <a:pt x="88" y="15"/>
                  <a:pt x="88" y="24"/>
                </a:cubicBezTo>
                <a:cubicBezTo>
                  <a:pt x="88" y="30"/>
                  <a:pt x="85" y="35"/>
                  <a:pt x="79" y="38"/>
                </a:cubicBezTo>
                <a:cubicBezTo>
                  <a:pt x="79" y="39"/>
                  <a:pt x="78" y="39"/>
                  <a:pt x="77" y="39"/>
                </a:cubicBezTo>
                <a:cubicBezTo>
                  <a:pt x="75" y="40"/>
                  <a:pt x="73" y="40"/>
                  <a:pt x="71" y="40"/>
                </a:cubicBezTo>
                <a:cubicBezTo>
                  <a:pt x="70" y="40"/>
                  <a:pt x="69" y="40"/>
                  <a:pt x="68" y="40"/>
                </a:cubicBezTo>
                <a:cubicBezTo>
                  <a:pt x="67" y="40"/>
                  <a:pt x="66" y="39"/>
                  <a:pt x="65" y="39"/>
                </a:cubicBezTo>
                <a:cubicBezTo>
                  <a:pt x="59" y="36"/>
                  <a:pt x="55" y="30"/>
                  <a:pt x="55" y="24"/>
                </a:cubicBezTo>
                <a:close/>
                <a:moveTo>
                  <a:pt x="109" y="112"/>
                </a:moveTo>
                <a:cubicBezTo>
                  <a:pt x="112" y="112"/>
                  <a:pt x="112" y="112"/>
                  <a:pt x="115" y="115"/>
                </a:cubicBezTo>
                <a:cubicBezTo>
                  <a:pt x="138" y="145"/>
                  <a:pt x="138" y="145"/>
                  <a:pt x="138" y="145"/>
                </a:cubicBezTo>
                <a:cubicBezTo>
                  <a:pt x="138" y="145"/>
                  <a:pt x="138" y="145"/>
                  <a:pt x="138" y="145"/>
                </a:cubicBezTo>
                <a:cubicBezTo>
                  <a:pt x="138" y="145"/>
                  <a:pt x="138" y="145"/>
                  <a:pt x="138" y="145"/>
                </a:cubicBezTo>
                <a:cubicBezTo>
                  <a:pt x="138" y="145"/>
                  <a:pt x="138" y="145"/>
                  <a:pt x="138" y="145"/>
                </a:cubicBezTo>
                <a:cubicBezTo>
                  <a:pt x="6" y="145"/>
                  <a:pt x="6" y="145"/>
                  <a:pt x="6" y="145"/>
                </a:cubicBezTo>
                <a:cubicBezTo>
                  <a:pt x="6" y="145"/>
                  <a:pt x="6" y="145"/>
                  <a:pt x="6" y="145"/>
                </a:cubicBezTo>
                <a:cubicBezTo>
                  <a:pt x="6" y="145"/>
                  <a:pt x="6" y="145"/>
                  <a:pt x="6" y="145"/>
                </a:cubicBezTo>
                <a:cubicBezTo>
                  <a:pt x="6" y="145"/>
                  <a:pt x="6" y="145"/>
                  <a:pt x="6" y="145"/>
                </a:cubicBezTo>
                <a:cubicBezTo>
                  <a:pt x="6" y="145"/>
                  <a:pt x="6" y="145"/>
                  <a:pt x="6" y="145"/>
                </a:cubicBezTo>
                <a:cubicBezTo>
                  <a:pt x="27" y="119"/>
                  <a:pt x="27" y="119"/>
                  <a:pt x="27" y="119"/>
                </a:cubicBezTo>
                <a:cubicBezTo>
                  <a:pt x="33" y="126"/>
                  <a:pt x="39" y="133"/>
                  <a:pt x="39" y="133"/>
                </a:cubicBezTo>
                <a:cubicBezTo>
                  <a:pt x="41" y="134"/>
                  <a:pt x="42" y="136"/>
                  <a:pt x="44" y="136"/>
                </a:cubicBezTo>
                <a:cubicBezTo>
                  <a:pt x="47" y="138"/>
                  <a:pt x="51" y="138"/>
                  <a:pt x="54" y="136"/>
                </a:cubicBezTo>
                <a:cubicBezTo>
                  <a:pt x="58" y="135"/>
                  <a:pt x="60" y="132"/>
                  <a:pt x="62" y="129"/>
                </a:cubicBezTo>
                <a:cubicBezTo>
                  <a:pt x="63" y="124"/>
                  <a:pt x="63" y="119"/>
                  <a:pt x="60" y="115"/>
                </a:cubicBezTo>
                <a:cubicBezTo>
                  <a:pt x="59" y="114"/>
                  <a:pt x="58" y="113"/>
                  <a:pt x="57" y="112"/>
                </a:cubicBezTo>
                <a:lnTo>
                  <a:pt x="109" y="112"/>
                </a:lnTo>
                <a:close/>
                <a:moveTo>
                  <a:pt x="138" y="65"/>
                </a:moveTo>
                <a:cubicBezTo>
                  <a:pt x="137" y="66"/>
                  <a:pt x="137" y="68"/>
                  <a:pt x="136" y="69"/>
                </a:cubicBezTo>
                <a:cubicBezTo>
                  <a:pt x="136" y="69"/>
                  <a:pt x="132" y="77"/>
                  <a:pt x="132" y="77"/>
                </a:cubicBezTo>
                <a:cubicBezTo>
                  <a:pt x="125" y="93"/>
                  <a:pt x="123" y="94"/>
                  <a:pt x="122" y="96"/>
                </a:cubicBezTo>
                <a:cubicBezTo>
                  <a:pt x="120" y="97"/>
                  <a:pt x="118" y="97"/>
                  <a:pt x="116" y="96"/>
                </a:cubicBezTo>
                <a:cubicBezTo>
                  <a:pt x="115" y="96"/>
                  <a:pt x="113" y="95"/>
                  <a:pt x="112" y="93"/>
                </a:cubicBezTo>
                <a:cubicBezTo>
                  <a:pt x="111" y="93"/>
                  <a:pt x="111" y="93"/>
                  <a:pt x="111" y="93"/>
                </a:cubicBezTo>
                <a:cubicBezTo>
                  <a:pt x="109" y="90"/>
                  <a:pt x="105" y="86"/>
                  <a:pt x="100" y="81"/>
                </a:cubicBezTo>
                <a:cubicBezTo>
                  <a:pt x="93" y="73"/>
                  <a:pt x="93" y="73"/>
                  <a:pt x="93" y="73"/>
                </a:cubicBezTo>
                <a:cubicBezTo>
                  <a:pt x="94" y="84"/>
                  <a:pt x="94" y="84"/>
                  <a:pt x="94" y="84"/>
                </a:cubicBezTo>
                <a:cubicBezTo>
                  <a:pt x="94" y="91"/>
                  <a:pt x="95" y="99"/>
                  <a:pt x="95" y="106"/>
                </a:cubicBezTo>
                <a:cubicBezTo>
                  <a:pt x="71" y="106"/>
                  <a:pt x="71" y="106"/>
                  <a:pt x="71" y="106"/>
                </a:cubicBezTo>
                <a:cubicBezTo>
                  <a:pt x="52" y="106"/>
                  <a:pt x="52" y="106"/>
                  <a:pt x="52" y="106"/>
                </a:cubicBezTo>
                <a:cubicBezTo>
                  <a:pt x="51" y="106"/>
                  <a:pt x="51" y="105"/>
                  <a:pt x="50" y="104"/>
                </a:cubicBezTo>
                <a:cubicBezTo>
                  <a:pt x="50" y="104"/>
                  <a:pt x="49" y="103"/>
                  <a:pt x="49" y="102"/>
                </a:cubicBezTo>
                <a:cubicBezTo>
                  <a:pt x="48" y="79"/>
                  <a:pt x="48" y="79"/>
                  <a:pt x="48" y="79"/>
                </a:cubicBezTo>
                <a:cubicBezTo>
                  <a:pt x="36" y="99"/>
                  <a:pt x="36" y="99"/>
                  <a:pt x="36" y="99"/>
                </a:cubicBezTo>
                <a:cubicBezTo>
                  <a:pt x="38" y="101"/>
                  <a:pt x="38" y="101"/>
                  <a:pt x="38" y="101"/>
                </a:cubicBezTo>
                <a:cubicBezTo>
                  <a:pt x="38" y="101"/>
                  <a:pt x="48" y="113"/>
                  <a:pt x="54" y="120"/>
                </a:cubicBezTo>
                <a:cubicBezTo>
                  <a:pt x="55" y="122"/>
                  <a:pt x="56" y="124"/>
                  <a:pt x="55" y="126"/>
                </a:cubicBezTo>
                <a:cubicBezTo>
                  <a:pt x="54" y="127"/>
                  <a:pt x="53" y="129"/>
                  <a:pt x="52" y="129"/>
                </a:cubicBezTo>
                <a:cubicBezTo>
                  <a:pt x="50" y="130"/>
                  <a:pt x="48" y="130"/>
                  <a:pt x="47" y="129"/>
                </a:cubicBezTo>
                <a:cubicBezTo>
                  <a:pt x="46" y="129"/>
                  <a:pt x="45" y="129"/>
                  <a:pt x="45" y="128"/>
                </a:cubicBezTo>
                <a:cubicBezTo>
                  <a:pt x="45" y="128"/>
                  <a:pt x="23" y="104"/>
                  <a:pt x="23" y="104"/>
                </a:cubicBezTo>
                <a:cubicBezTo>
                  <a:pt x="20" y="101"/>
                  <a:pt x="20" y="100"/>
                  <a:pt x="22" y="96"/>
                </a:cubicBezTo>
                <a:cubicBezTo>
                  <a:pt x="27" y="87"/>
                  <a:pt x="35" y="71"/>
                  <a:pt x="42" y="61"/>
                </a:cubicBezTo>
                <a:cubicBezTo>
                  <a:pt x="45" y="56"/>
                  <a:pt x="49" y="55"/>
                  <a:pt x="56" y="54"/>
                </a:cubicBezTo>
                <a:cubicBezTo>
                  <a:pt x="60" y="53"/>
                  <a:pt x="63" y="53"/>
                  <a:pt x="67" y="53"/>
                </a:cubicBezTo>
                <a:cubicBezTo>
                  <a:pt x="69" y="60"/>
                  <a:pt x="69" y="60"/>
                  <a:pt x="69" y="60"/>
                </a:cubicBezTo>
                <a:cubicBezTo>
                  <a:pt x="64" y="95"/>
                  <a:pt x="64" y="95"/>
                  <a:pt x="64" y="95"/>
                </a:cubicBezTo>
                <a:cubicBezTo>
                  <a:pt x="72" y="102"/>
                  <a:pt x="72" y="102"/>
                  <a:pt x="72" y="102"/>
                </a:cubicBezTo>
                <a:cubicBezTo>
                  <a:pt x="79" y="94"/>
                  <a:pt x="79" y="94"/>
                  <a:pt x="79" y="94"/>
                </a:cubicBezTo>
                <a:cubicBezTo>
                  <a:pt x="73" y="60"/>
                  <a:pt x="73" y="60"/>
                  <a:pt x="73" y="60"/>
                </a:cubicBezTo>
                <a:cubicBezTo>
                  <a:pt x="76" y="53"/>
                  <a:pt x="76" y="53"/>
                  <a:pt x="76" y="53"/>
                </a:cubicBezTo>
                <a:cubicBezTo>
                  <a:pt x="80" y="53"/>
                  <a:pt x="83" y="53"/>
                  <a:pt x="86" y="53"/>
                </a:cubicBezTo>
                <a:cubicBezTo>
                  <a:pt x="95" y="54"/>
                  <a:pt x="98" y="58"/>
                  <a:pt x="104" y="65"/>
                </a:cubicBezTo>
                <a:cubicBezTo>
                  <a:pt x="106" y="68"/>
                  <a:pt x="108" y="70"/>
                  <a:pt x="110" y="72"/>
                </a:cubicBezTo>
                <a:cubicBezTo>
                  <a:pt x="111" y="74"/>
                  <a:pt x="112" y="76"/>
                  <a:pt x="113" y="77"/>
                </a:cubicBezTo>
                <a:cubicBezTo>
                  <a:pt x="117" y="81"/>
                  <a:pt x="117" y="81"/>
                  <a:pt x="117" y="81"/>
                </a:cubicBezTo>
                <a:cubicBezTo>
                  <a:pt x="117" y="81"/>
                  <a:pt x="119" y="76"/>
                  <a:pt x="119" y="76"/>
                </a:cubicBezTo>
                <a:cubicBezTo>
                  <a:pt x="121" y="71"/>
                  <a:pt x="121" y="71"/>
                  <a:pt x="121" y="71"/>
                </a:cubicBezTo>
                <a:cubicBezTo>
                  <a:pt x="122" y="69"/>
                  <a:pt x="123" y="68"/>
                  <a:pt x="124" y="66"/>
                </a:cubicBezTo>
                <a:cubicBezTo>
                  <a:pt x="124" y="66"/>
                  <a:pt x="125" y="63"/>
                  <a:pt x="125" y="63"/>
                </a:cubicBezTo>
                <a:cubicBezTo>
                  <a:pt x="127" y="59"/>
                  <a:pt x="127" y="59"/>
                  <a:pt x="127" y="59"/>
                </a:cubicBezTo>
                <a:cubicBezTo>
                  <a:pt x="127" y="59"/>
                  <a:pt x="127" y="59"/>
                  <a:pt x="127" y="59"/>
                </a:cubicBezTo>
                <a:cubicBezTo>
                  <a:pt x="129" y="55"/>
                  <a:pt x="130" y="54"/>
                  <a:pt x="132" y="53"/>
                </a:cubicBezTo>
                <a:cubicBezTo>
                  <a:pt x="133" y="53"/>
                  <a:pt x="134" y="53"/>
                  <a:pt x="135" y="53"/>
                </a:cubicBezTo>
                <a:cubicBezTo>
                  <a:pt x="135" y="53"/>
                  <a:pt x="135" y="53"/>
                  <a:pt x="135" y="53"/>
                </a:cubicBezTo>
                <a:cubicBezTo>
                  <a:pt x="137" y="53"/>
                  <a:pt x="138" y="54"/>
                  <a:pt x="139" y="55"/>
                </a:cubicBezTo>
                <a:cubicBezTo>
                  <a:pt x="141" y="58"/>
                  <a:pt x="140" y="60"/>
                  <a:pt x="138" y="65"/>
                </a:cubicBezTo>
                <a:close/>
              </a:path>
            </a:pathLst>
          </a:custGeom>
          <a:solidFill>
            <a:schemeClr val="bg1"/>
          </a:solidFill>
          <a:ln>
            <a:noFill/>
          </a:ln>
        </p:spPr>
        <p:txBody>
          <a:bodyPr vert="horz" wrap="square" lIns="91440" tIns="45720" rIns="91440" bIns="45720" numCol="1" anchor="t" anchorCtr="0" compatLnSpc="1"/>
          <a:lstStyle/>
          <a:p>
            <a:endParaRPr lang="zh-CN" altLang="en-US" dirty="0">
              <a:latin typeface="华文楷体" panose="02010600040101010101" pitchFamily="2" charset="-122"/>
              <a:ea typeface="华文楷体" panose="02010600040101010101" pitchFamily="2" charset="-122"/>
            </a:endParaRPr>
          </a:p>
        </p:txBody>
      </p:sp>
      <p:grpSp>
        <p:nvGrpSpPr>
          <p:cNvPr id="17" name="组合 16"/>
          <p:cNvGrpSpPr/>
          <p:nvPr/>
        </p:nvGrpSpPr>
        <p:grpSpPr>
          <a:xfrm>
            <a:off x="1020127" y="1888631"/>
            <a:ext cx="2592000" cy="4320000"/>
            <a:chOff x="2175" y="2252"/>
            <a:chExt cx="4010" cy="6222"/>
          </a:xfrm>
          <a:solidFill>
            <a:srgbClr val="0E3753"/>
          </a:solidFill>
        </p:grpSpPr>
        <p:sp>
          <p:nvSpPr>
            <p:cNvPr id="45" name="Rectangle 5"/>
            <p:cNvSpPr/>
            <p:nvPr/>
          </p:nvSpPr>
          <p:spPr>
            <a:xfrm>
              <a:off x="2175" y="2252"/>
              <a:ext cx="3899" cy="6222"/>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华文楷体" panose="02010600040101010101" pitchFamily="2" charset="-122"/>
                <a:ea typeface="华文楷体" panose="02010600040101010101" pitchFamily="2" charset="-122"/>
                <a:cs typeface="Arial" panose="020B0604020202020204" pitchFamily="34" charset="0"/>
              </a:endParaRPr>
            </a:p>
          </p:txBody>
        </p:sp>
        <p:sp>
          <p:nvSpPr>
            <p:cNvPr id="46" name="Rectangle 27"/>
            <p:cNvSpPr/>
            <p:nvPr/>
          </p:nvSpPr>
          <p:spPr>
            <a:xfrm>
              <a:off x="2320" y="6750"/>
              <a:ext cx="3865" cy="1724"/>
            </a:xfrm>
            <a:prstGeom prst="rect">
              <a:avLst/>
            </a:prstGeom>
            <a:noFill/>
          </p:spPr>
          <p:txBody>
            <a:bodyPr wrap="square">
              <a:spAutoFit/>
            </a:bodyPr>
            <a:lstStyle/>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用人标准</a:t>
              </a: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项目案例资源</a:t>
              </a:r>
              <a:endParaRPr lang="en-US" altLang="zh-CN"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产品与技术支持、培训支持</a:t>
              </a: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售前、售后服务</a:t>
              </a: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实习实训与就业支持</a:t>
              </a:r>
              <a:endParaRPr lang="en-US" altLang="zh-CN"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联合研发</a:t>
              </a:r>
            </a:p>
          </p:txBody>
        </p:sp>
        <p:sp>
          <p:nvSpPr>
            <p:cNvPr id="47" name="TextBox 28"/>
            <p:cNvSpPr txBox="1"/>
            <p:nvPr/>
          </p:nvSpPr>
          <p:spPr>
            <a:xfrm>
              <a:off x="2962" y="6276"/>
              <a:ext cx="2168" cy="532"/>
            </a:xfrm>
            <a:prstGeom prst="rect">
              <a:avLst/>
            </a:prstGeom>
            <a:solidFill>
              <a:srgbClr val="00A6B2"/>
            </a:solidFill>
          </p:spPr>
          <p:txBody>
            <a:bodyPr wrap="square" rtlCol="0">
              <a:spAutoFit/>
            </a:bodyPr>
            <a:lstStyle/>
            <a:p>
              <a:pPr>
                <a:defRPr/>
              </a:pPr>
              <a:r>
                <a:rPr lang="en-US" altLang="zh-CN" b="1" dirty="0">
                  <a:solidFill>
                    <a:srgbClr val="FFFF00"/>
                  </a:solidFill>
                  <a:latin typeface="华文楷体" panose="02010600040101010101" pitchFamily="2" charset="-122"/>
                  <a:ea typeface="华文楷体" panose="02010600040101010101" pitchFamily="2" charset="-122"/>
                  <a:sym typeface="+mn-ea"/>
                </a:rPr>
                <a:t>ZX***</a:t>
              </a:r>
              <a:r>
                <a:rPr lang="zh-CN" altLang="en-US" b="1" dirty="0">
                  <a:solidFill>
                    <a:srgbClr val="FFFF00"/>
                  </a:solidFill>
                  <a:latin typeface="华文楷体" panose="02010600040101010101" pitchFamily="2" charset="-122"/>
                  <a:ea typeface="华文楷体" panose="02010600040101010101" pitchFamily="2" charset="-122"/>
                  <a:sym typeface="+mn-ea"/>
                </a:rPr>
                <a:t>科技</a:t>
              </a:r>
              <a:endParaRPr lang="en-US" altLang="zh-CN" b="1" dirty="0">
                <a:solidFill>
                  <a:srgbClr val="FFFF00"/>
                </a:solidFill>
                <a:latin typeface="华文楷体" panose="02010600040101010101" pitchFamily="2" charset="-122"/>
                <a:ea typeface="华文楷体" panose="02010600040101010101" pitchFamily="2" charset="-122"/>
                <a:sym typeface="+mn-ea"/>
              </a:endParaRPr>
            </a:p>
          </p:txBody>
        </p:sp>
      </p:grpSp>
      <p:grpSp>
        <p:nvGrpSpPr>
          <p:cNvPr id="18" name="组合 17"/>
          <p:cNvGrpSpPr/>
          <p:nvPr/>
        </p:nvGrpSpPr>
        <p:grpSpPr>
          <a:xfrm>
            <a:off x="7966400" y="1889266"/>
            <a:ext cx="2520056" cy="4320000"/>
            <a:chOff x="13152" y="1683"/>
            <a:chExt cx="3748" cy="6177"/>
          </a:xfrm>
        </p:grpSpPr>
        <p:sp>
          <p:nvSpPr>
            <p:cNvPr id="42" name="Rectangle 7"/>
            <p:cNvSpPr/>
            <p:nvPr/>
          </p:nvSpPr>
          <p:spPr>
            <a:xfrm>
              <a:off x="13152" y="1683"/>
              <a:ext cx="3748" cy="6177"/>
            </a:xfrm>
            <a:prstGeom prst="rect">
              <a:avLst/>
            </a:prstGeom>
            <a:solidFill>
              <a:srgbClr val="2179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华文楷体" panose="02010600040101010101" pitchFamily="2" charset="-122"/>
                <a:ea typeface="华文楷体" panose="02010600040101010101" pitchFamily="2" charset="-122"/>
                <a:cs typeface="Arial" panose="020B0604020202020204" pitchFamily="34" charset="0"/>
              </a:endParaRPr>
            </a:p>
          </p:txBody>
        </p:sp>
        <p:sp>
          <p:nvSpPr>
            <p:cNvPr id="43" name="Rectangle 29"/>
            <p:cNvSpPr/>
            <p:nvPr/>
          </p:nvSpPr>
          <p:spPr>
            <a:xfrm>
              <a:off x="13307" y="3616"/>
              <a:ext cx="3497" cy="3715"/>
            </a:xfrm>
            <a:prstGeom prst="rect">
              <a:avLst/>
            </a:prstGeom>
          </p:spPr>
          <p:txBody>
            <a:bodyPr wrap="square">
              <a:spAutoFit/>
            </a:bodyPr>
            <a:lstStyle/>
            <a:p>
              <a:pPr marL="171450" indent="-171450" algn="just">
                <a:lnSpc>
                  <a:spcPct val="200000"/>
                </a:lnSpc>
                <a:buFont typeface="Arial" panose="020B0604020202020204" pitchFamily="34" charset="0"/>
                <a:buChar char="•"/>
              </a:pPr>
              <a:r>
                <a:rPr sz="1200" b="1" dirty="0">
                  <a:solidFill>
                    <a:schemeClr val="bg1"/>
                  </a:solidFill>
                  <a:latin typeface="华文楷体" panose="02010600040101010101" pitchFamily="2" charset="-122"/>
                  <a:ea typeface="华文楷体" panose="02010600040101010101" pitchFamily="2" charset="-122"/>
                  <a:sym typeface="+mn-ea"/>
                </a:rPr>
                <a:t>作为办学主体，统一管理学院党政工作和教师编制</a:t>
              </a:r>
            </a:p>
            <a:p>
              <a:pPr marL="171450" indent="-171450" algn="just">
                <a:lnSpc>
                  <a:spcPct val="200000"/>
                </a:lnSpc>
                <a:buFont typeface="Arial" panose="020B0604020202020204" pitchFamily="34" charset="0"/>
                <a:buChar char="•"/>
              </a:pPr>
              <a:r>
                <a:rPr sz="1200" b="1" dirty="0">
                  <a:solidFill>
                    <a:schemeClr val="bg1"/>
                  </a:solidFill>
                  <a:latin typeface="华文楷体" panose="02010600040101010101" pitchFamily="2" charset="-122"/>
                  <a:ea typeface="华文楷体" panose="02010600040101010101" pitchFamily="2" charset="-122"/>
                  <a:sym typeface="+mn-ea"/>
                </a:rPr>
                <a:t>负责教务、学籍、学工、行政、后勤等管理</a:t>
              </a:r>
            </a:p>
            <a:p>
              <a:pPr marL="171450" indent="-171450" algn="just">
                <a:lnSpc>
                  <a:spcPct val="200000"/>
                </a:lnSpc>
                <a:buFont typeface="Arial" panose="020B0604020202020204" pitchFamily="34" charset="0"/>
                <a:buChar char="•"/>
              </a:pPr>
              <a:r>
                <a:rPr sz="1200" b="1" dirty="0">
                  <a:solidFill>
                    <a:schemeClr val="bg1"/>
                  </a:solidFill>
                  <a:latin typeface="华文楷体" panose="02010600040101010101" pitchFamily="2" charset="-122"/>
                  <a:ea typeface="华文楷体" panose="02010600040101010101" pitchFamily="2" charset="-122"/>
                  <a:sym typeface="+mn-ea"/>
                </a:rPr>
                <a:t>招生指标划拨</a:t>
              </a:r>
            </a:p>
            <a:p>
              <a:pPr marL="171450" indent="-171450" algn="just">
                <a:lnSpc>
                  <a:spcPct val="200000"/>
                </a:lnSpc>
                <a:buFont typeface="Arial" panose="020B0604020202020204" pitchFamily="34" charset="0"/>
                <a:buChar char="•"/>
              </a:pPr>
              <a:r>
                <a:rPr sz="1200" b="1" dirty="0" err="1">
                  <a:solidFill>
                    <a:schemeClr val="bg1"/>
                  </a:solidFill>
                  <a:latin typeface="华文楷体" panose="02010600040101010101" pitchFamily="2" charset="-122"/>
                  <a:ea typeface="华文楷体" panose="02010600040101010101" pitchFamily="2" charset="-122"/>
                  <a:sym typeface="+mn-ea"/>
                </a:rPr>
                <a:t>教学实施</a:t>
              </a:r>
              <a:r>
                <a:rPr lang="zh-CN" altLang="en-US" sz="1200" b="1" dirty="0">
                  <a:solidFill>
                    <a:schemeClr val="bg1"/>
                  </a:solidFill>
                  <a:latin typeface="华文楷体" panose="02010600040101010101" pitchFamily="2" charset="-122"/>
                  <a:ea typeface="华文楷体" panose="02010600040101010101" pitchFamily="2" charset="-122"/>
                  <a:sym typeface="+mn-ea"/>
                </a:rPr>
                <a:t>（</a:t>
              </a:r>
              <a:r>
                <a:rPr lang="en-US" altLang="zh-CN" sz="1200" b="1" dirty="0">
                  <a:solidFill>
                    <a:schemeClr val="bg1"/>
                  </a:solidFill>
                  <a:latin typeface="华文楷体" panose="02010600040101010101" pitchFamily="2" charset="-122"/>
                  <a:ea typeface="华文楷体" panose="02010600040101010101" pitchFamily="2" charset="-122"/>
                  <a:sym typeface="+mn-ea"/>
                </a:rPr>
                <a:t>65%</a:t>
              </a:r>
              <a:r>
                <a:rPr lang="zh-CN" altLang="en-US" sz="1200" b="1" dirty="0">
                  <a:solidFill>
                    <a:schemeClr val="bg1"/>
                  </a:solidFill>
                  <a:latin typeface="华文楷体" panose="02010600040101010101" pitchFamily="2" charset="-122"/>
                  <a:ea typeface="华文楷体" panose="02010600040101010101" pitchFamily="2" charset="-122"/>
                  <a:sym typeface="+mn-ea"/>
                </a:rPr>
                <a:t>以上）</a:t>
              </a:r>
              <a:endParaRPr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lnSpc>
                  <a:spcPct val="200000"/>
                </a:lnSpc>
                <a:buFont typeface="Arial" panose="020B0604020202020204" pitchFamily="34" charset="0"/>
                <a:buChar char="•"/>
              </a:pPr>
              <a:r>
                <a:rPr sz="1200" b="1" dirty="0" err="1">
                  <a:solidFill>
                    <a:schemeClr val="bg1"/>
                  </a:solidFill>
                  <a:latin typeface="华文楷体" panose="02010600040101010101" pitchFamily="2" charset="-122"/>
                  <a:ea typeface="华文楷体" panose="02010600040101010101" pitchFamily="2" charset="-122"/>
                  <a:sym typeface="+mn-ea"/>
                </a:rPr>
                <a:t>实验室配套</a:t>
              </a:r>
              <a:endParaRPr sz="1200" b="1" dirty="0">
                <a:solidFill>
                  <a:schemeClr val="bg1"/>
                </a:solidFill>
                <a:latin typeface="华文楷体" panose="02010600040101010101" pitchFamily="2" charset="-122"/>
                <a:ea typeface="华文楷体" panose="02010600040101010101" pitchFamily="2" charset="-122"/>
                <a:sym typeface="+mn-ea"/>
              </a:endParaRPr>
            </a:p>
          </p:txBody>
        </p:sp>
        <p:sp>
          <p:nvSpPr>
            <p:cNvPr id="44" name="TextBox 30"/>
            <p:cNvSpPr txBox="1"/>
            <p:nvPr/>
          </p:nvSpPr>
          <p:spPr>
            <a:xfrm>
              <a:off x="14183" y="3235"/>
              <a:ext cx="1745" cy="526"/>
            </a:xfrm>
            <a:prstGeom prst="rect">
              <a:avLst/>
            </a:prstGeom>
            <a:noFill/>
          </p:spPr>
          <p:txBody>
            <a:bodyPr wrap="none" rtlCol="0">
              <a:spAutoFit/>
            </a:bodyPr>
            <a:lstStyle/>
            <a:p>
              <a:pPr algn="ctr"/>
              <a:r>
                <a:rPr lang="zh-CN" altLang="en-US" b="1" dirty="0">
                  <a:solidFill>
                    <a:srgbClr val="FFFF00"/>
                  </a:solidFill>
                  <a:latin typeface="华文楷体" panose="02010600040101010101" pitchFamily="2" charset="-122"/>
                  <a:ea typeface="华文楷体" panose="02010600040101010101" pitchFamily="2" charset="-122"/>
                  <a:sym typeface="+mn-ea"/>
                </a:rPr>
                <a:t>合作院校</a:t>
              </a:r>
              <a:endParaRPr lang="zh-CN" altLang="en-US" b="1" dirty="0">
                <a:solidFill>
                  <a:srgbClr val="FFFF00"/>
                </a:solidFill>
                <a:latin typeface="华文楷体" panose="02010600040101010101" pitchFamily="2" charset="-122"/>
                <a:ea typeface="华文楷体" panose="02010600040101010101" pitchFamily="2" charset="-122"/>
                <a:cs typeface="Arial" panose="020B0604020202020204" pitchFamily="34" charset="0"/>
                <a:sym typeface="+mn-ea"/>
              </a:endParaRPr>
            </a:p>
          </p:txBody>
        </p:sp>
      </p:grpSp>
      <p:grpSp>
        <p:nvGrpSpPr>
          <p:cNvPr id="19" name="组合 18"/>
          <p:cNvGrpSpPr/>
          <p:nvPr/>
        </p:nvGrpSpPr>
        <p:grpSpPr>
          <a:xfrm>
            <a:off x="4487235" y="1888632"/>
            <a:ext cx="2590800" cy="4332587"/>
            <a:chOff x="7673" y="1683"/>
            <a:chExt cx="4080" cy="6196"/>
          </a:xfrm>
        </p:grpSpPr>
        <p:sp>
          <p:nvSpPr>
            <p:cNvPr id="35" name="Rectangle 6"/>
            <p:cNvSpPr/>
            <p:nvPr/>
          </p:nvSpPr>
          <p:spPr>
            <a:xfrm>
              <a:off x="7673" y="1683"/>
              <a:ext cx="3969" cy="6178"/>
            </a:xfrm>
            <a:prstGeom prst="rect">
              <a:avLst/>
            </a:prstGeom>
            <a:solidFill>
              <a:srgbClr val="1FAD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华文楷体" panose="02010600040101010101" pitchFamily="2" charset="-122"/>
                <a:ea typeface="华文楷体" panose="02010600040101010101" pitchFamily="2" charset="-122"/>
                <a:cs typeface="Arial" panose="020B0604020202020204" pitchFamily="34" charset="0"/>
              </a:endParaRPr>
            </a:p>
          </p:txBody>
        </p:sp>
        <p:grpSp>
          <p:nvGrpSpPr>
            <p:cNvPr id="36" name="Group 4681"/>
            <p:cNvGrpSpPr>
              <a:grpSpLocks noChangeAspect="1"/>
            </p:cNvGrpSpPr>
            <p:nvPr/>
          </p:nvGrpSpPr>
          <p:grpSpPr bwMode="auto">
            <a:xfrm>
              <a:off x="9235" y="2745"/>
              <a:ext cx="746" cy="498"/>
              <a:chOff x="4610100" y="2400299"/>
              <a:chExt cx="214313" cy="142875"/>
            </a:xfrm>
            <a:solidFill>
              <a:schemeClr val="bg1"/>
            </a:solidFill>
          </p:grpSpPr>
          <p:sp>
            <p:nvSpPr>
              <p:cNvPr id="39" name="Freeform 252"/>
              <p:cNvSpPr>
                <a:spLocks noChangeArrowheads="1"/>
              </p:cNvSpPr>
              <p:nvPr/>
            </p:nvSpPr>
            <p:spPr bwMode="auto">
              <a:xfrm>
                <a:off x="4610100" y="2541587"/>
                <a:ext cx="1588" cy="1587"/>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dirty="0">
                  <a:latin typeface="华文楷体" panose="02010600040101010101" pitchFamily="2" charset="-122"/>
                  <a:ea typeface="华文楷体" panose="02010600040101010101" pitchFamily="2" charset="-122"/>
                  <a:cs typeface="Arial" panose="020B0604020202020204" pitchFamily="34" charset="0"/>
                </a:endParaRPr>
              </a:p>
            </p:txBody>
          </p:sp>
          <p:sp>
            <p:nvSpPr>
              <p:cNvPr id="40" name="Freeform 255"/>
              <p:cNvSpPr>
                <a:spLocks noChangeArrowheads="1"/>
              </p:cNvSpPr>
              <p:nvPr/>
            </p:nvSpPr>
            <p:spPr bwMode="auto">
              <a:xfrm>
                <a:off x="4822825" y="2541587"/>
                <a:ext cx="1588" cy="1587"/>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dirty="0">
                  <a:latin typeface="华文楷体" panose="02010600040101010101" pitchFamily="2" charset="-122"/>
                  <a:ea typeface="华文楷体" panose="02010600040101010101" pitchFamily="2" charset="-122"/>
                  <a:cs typeface="Arial" panose="020B0604020202020204" pitchFamily="34" charset="0"/>
                </a:endParaRPr>
              </a:p>
            </p:txBody>
          </p:sp>
          <p:sp>
            <p:nvSpPr>
              <p:cNvPr id="41" name="Freeform 259"/>
              <p:cNvSpPr>
                <a:spLocks noChangeArrowheads="1"/>
              </p:cNvSpPr>
              <p:nvPr/>
            </p:nvSpPr>
            <p:spPr bwMode="auto">
              <a:xfrm>
                <a:off x="4691063" y="2400299"/>
                <a:ext cx="1587" cy="158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a:solidFill>
                      <a:srgbClr val="808080"/>
                    </a:solidFill>
                    <a:rou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dirty="0">
                  <a:latin typeface="华文楷体" panose="02010600040101010101" pitchFamily="2" charset="-122"/>
                  <a:ea typeface="华文楷体" panose="02010600040101010101" pitchFamily="2" charset="-122"/>
                  <a:cs typeface="Arial" panose="020B0604020202020204" pitchFamily="34" charset="0"/>
                </a:endParaRPr>
              </a:p>
            </p:txBody>
          </p:sp>
        </p:grpSp>
        <p:sp>
          <p:nvSpPr>
            <p:cNvPr id="37" name="TextBox 31"/>
            <p:cNvSpPr txBox="1"/>
            <p:nvPr/>
          </p:nvSpPr>
          <p:spPr>
            <a:xfrm>
              <a:off x="8135" y="3084"/>
              <a:ext cx="2916" cy="748"/>
            </a:xfrm>
            <a:prstGeom prst="rect">
              <a:avLst/>
            </a:prstGeom>
            <a:noFill/>
          </p:spPr>
          <p:txBody>
            <a:bodyPr wrap="none" rtlCol="0">
              <a:spAutoFit/>
            </a:bodyPr>
            <a:lstStyle/>
            <a:p>
              <a:pPr algn="ctr"/>
              <a:r>
                <a:rPr lang="en-US" altLang="zh-CN" sz="2800" b="1" dirty="0">
                  <a:solidFill>
                    <a:srgbClr val="FFFF00"/>
                  </a:solidFill>
                  <a:latin typeface="华文楷体" panose="02010600040101010101" pitchFamily="2" charset="-122"/>
                  <a:ea typeface="华文楷体" panose="02010600040101010101" pitchFamily="2" charset="-122"/>
                  <a:sym typeface="+mn-ea"/>
                </a:rPr>
                <a:t>ZX***</a:t>
              </a:r>
              <a:r>
                <a:rPr lang="zh-CN" altLang="en-US" sz="2800" b="1" dirty="0">
                  <a:solidFill>
                    <a:srgbClr val="FFFF00"/>
                  </a:solidFill>
                  <a:latin typeface="华文楷体" panose="02010600040101010101" pitchFamily="2" charset="-122"/>
                  <a:ea typeface="华文楷体" panose="02010600040101010101" pitchFamily="2" charset="-122"/>
                  <a:sym typeface="+mn-ea"/>
                </a:rPr>
                <a:t>学院</a:t>
              </a:r>
              <a:endParaRPr lang="zh-CN" altLang="en-US" sz="2800" b="1" dirty="0">
                <a:solidFill>
                  <a:srgbClr val="FFFF00"/>
                </a:solidFill>
                <a:latin typeface="华文楷体" panose="02010600040101010101" pitchFamily="2" charset="-122"/>
                <a:ea typeface="华文楷体" panose="02010600040101010101" pitchFamily="2" charset="-122"/>
                <a:cs typeface="Arial" panose="020B0604020202020204" pitchFamily="34" charset="0"/>
                <a:sym typeface="+mn-ea"/>
              </a:endParaRPr>
            </a:p>
          </p:txBody>
        </p:sp>
        <p:sp>
          <p:nvSpPr>
            <p:cNvPr id="38" name="Rectangle 32"/>
            <p:cNvSpPr/>
            <p:nvPr/>
          </p:nvSpPr>
          <p:spPr>
            <a:xfrm>
              <a:off x="7701" y="3617"/>
              <a:ext cx="4052" cy="4262"/>
            </a:xfrm>
            <a:prstGeom prst="rect">
              <a:avLst/>
            </a:prstGeom>
          </p:spPr>
          <p:txBody>
            <a:bodyPr wrap="square">
              <a:spAutoFit/>
            </a:bodyPr>
            <a:lstStyle/>
            <a:p>
              <a:pPr marL="171450" indent="-171450" algn="just">
                <a:lnSpc>
                  <a:spcPct val="200000"/>
                </a:lnSpc>
                <a:buFont typeface="Arial" panose="020B0604020202020204" pitchFamily="34" charset="0"/>
                <a:buChar char="•"/>
              </a:pPr>
              <a:r>
                <a:rPr sz="1200" b="1" dirty="0" err="1">
                  <a:solidFill>
                    <a:schemeClr val="bg1"/>
                  </a:solidFill>
                  <a:latin typeface="华文楷体" panose="02010600040101010101" pitchFamily="2" charset="-122"/>
                  <a:ea typeface="华文楷体" panose="02010600040101010101" pitchFamily="2" charset="-122"/>
                </a:rPr>
                <a:t>管理模式</a:t>
              </a:r>
              <a:r>
                <a:rPr lang="zh-CN" altLang="en-US" sz="1200" b="1" dirty="0">
                  <a:solidFill>
                    <a:schemeClr val="bg1"/>
                  </a:solidFill>
                  <a:latin typeface="华文楷体" panose="02010600040101010101" pitchFamily="2" charset="-122"/>
                  <a:ea typeface="华文楷体" panose="02010600040101010101" pitchFamily="2" charset="-122"/>
                </a:rPr>
                <a:t>：</a:t>
              </a:r>
              <a:r>
                <a:rPr sz="1200" b="1" dirty="0" err="1">
                  <a:solidFill>
                    <a:schemeClr val="bg1"/>
                  </a:solidFill>
                  <a:latin typeface="华文楷体" panose="02010600040101010101" pitchFamily="2" charset="-122"/>
                  <a:ea typeface="华文楷体" panose="02010600040101010101" pitchFamily="2" charset="-122"/>
                </a:rPr>
                <a:t>校企共建</a:t>
              </a:r>
              <a:r>
                <a:rPr lang="zh-CN" altLang="en-US" sz="1200" b="1" dirty="0">
                  <a:solidFill>
                    <a:schemeClr val="bg1"/>
                  </a:solidFill>
                  <a:latin typeface="华文楷体" panose="02010600040101010101" pitchFamily="2" charset="-122"/>
                  <a:ea typeface="华文楷体" panose="02010600040101010101" pitchFamily="2" charset="-122"/>
                </a:rPr>
                <a:t>工作小组</a:t>
              </a:r>
              <a:endParaRPr sz="1200" b="1" dirty="0">
                <a:solidFill>
                  <a:schemeClr val="bg1"/>
                </a:solidFill>
                <a:latin typeface="华文楷体" panose="02010600040101010101" pitchFamily="2" charset="-122"/>
                <a:ea typeface="华文楷体" panose="02010600040101010101" pitchFamily="2" charset="-122"/>
              </a:endParaRPr>
            </a:p>
            <a:p>
              <a:pPr algn="just">
                <a:lnSpc>
                  <a:spcPct val="200000"/>
                </a:lnSpc>
              </a:pPr>
              <a:r>
                <a:rPr lang="zh-CN" altLang="en-US" sz="1200" b="1" dirty="0">
                  <a:solidFill>
                    <a:schemeClr val="bg1"/>
                  </a:solidFill>
                  <a:latin typeface="华文楷体" panose="02010600040101010101" pitchFamily="2" charset="-122"/>
                  <a:ea typeface="华文楷体" panose="02010600040101010101" pitchFamily="2" charset="-122"/>
                </a:rPr>
                <a:t>实行校企工作小组领导下</a:t>
              </a:r>
              <a:endParaRPr lang="en-US" altLang="zh-CN" sz="1200" b="1" dirty="0">
                <a:solidFill>
                  <a:schemeClr val="bg1"/>
                </a:solidFill>
                <a:latin typeface="华文楷体" panose="02010600040101010101" pitchFamily="2" charset="-122"/>
                <a:ea typeface="华文楷体" panose="02010600040101010101" pitchFamily="2" charset="-122"/>
              </a:endParaRPr>
            </a:p>
            <a:p>
              <a:pPr algn="just">
                <a:lnSpc>
                  <a:spcPct val="200000"/>
                </a:lnSpc>
              </a:pPr>
              <a:r>
                <a:rPr lang="zh-CN" altLang="en-US" sz="1200" b="1" dirty="0">
                  <a:solidFill>
                    <a:schemeClr val="bg1"/>
                  </a:solidFill>
                  <a:latin typeface="华文楷体" panose="02010600040101010101" pitchFamily="2" charset="-122"/>
                  <a:ea typeface="华文楷体" panose="02010600040101010101" pitchFamily="2" charset="-122"/>
                </a:rPr>
                <a:t>的院长负责制。</a:t>
              </a:r>
              <a:endParaRPr lang="en-US" altLang="zh-CN" sz="1200" b="1" dirty="0">
                <a:solidFill>
                  <a:schemeClr val="bg1"/>
                </a:solidFill>
                <a:latin typeface="华文楷体" panose="02010600040101010101" pitchFamily="2" charset="-122"/>
                <a:ea typeface="华文楷体" panose="02010600040101010101" pitchFamily="2" charset="-122"/>
              </a:endParaRPr>
            </a:p>
            <a:p>
              <a:pPr marL="171450" indent="-171450" algn="just">
                <a:lnSpc>
                  <a:spcPct val="200000"/>
                </a:lnSpc>
                <a:buFont typeface="Arial" panose="020B0604020202020204" pitchFamily="34" charset="0"/>
                <a:buChar char="•"/>
              </a:pPr>
              <a:r>
                <a:rPr sz="1200" b="1" dirty="0">
                  <a:solidFill>
                    <a:schemeClr val="bg1"/>
                  </a:solidFill>
                  <a:latin typeface="华文楷体" panose="02010600040101010101" pitchFamily="2" charset="-122"/>
                  <a:ea typeface="华文楷体" panose="02010600040101010101" pitchFamily="2" charset="-122"/>
                </a:rPr>
                <a:t>专业规模：</a:t>
              </a:r>
              <a:r>
                <a:rPr lang="en-US" altLang="zh-CN" sz="1200" b="1" dirty="0">
                  <a:solidFill>
                    <a:schemeClr val="bg1"/>
                  </a:solidFill>
                  <a:latin typeface="华文楷体" panose="02010600040101010101" pitchFamily="2" charset="-122"/>
                  <a:ea typeface="华文楷体" panose="02010600040101010101" pitchFamily="2" charset="-122"/>
                </a:rPr>
                <a:t>3-4</a:t>
              </a:r>
              <a:r>
                <a:rPr lang="zh-CN" altLang="en-US" sz="1200" b="1" dirty="0">
                  <a:solidFill>
                    <a:schemeClr val="bg1"/>
                  </a:solidFill>
                  <a:latin typeface="华文楷体" panose="02010600040101010101" pitchFamily="2" charset="-122"/>
                  <a:ea typeface="华文楷体" panose="02010600040101010101" pitchFamily="2" charset="-122"/>
                </a:rPr>
                <a:t>个</a:t>
              </a:r>
              <a:r>
                <a:rPr sz="1200" b="1" dirty="0" err="1">
                  <a:solidFill>
                    <a:schemeClr val="bg1"/>
                  </a:solidFill>
                  <a:latin typeface="华文楷体" panose="02010600040101010101" pitchFamily="2" charset="-122"/>
                  <a:ea typeface="华文楷体" panose="02010600040101010101" pitchFamily="2" charset="-122"/>
                </a:rPr>
                <a:t>专业</a:t>
              </a:r>
              <a:endParaRPr sz="1200" b="1" dirty="0">
                <a:solidFill>
                  <a:schemeClr val="bg1"/>
                </a:solidFill>
                <a:latin typeface="华文楷体" panose="02010600040101010101" pitchFamily="2" charset="-122"/>
                <a:ea typeface="华文楷体" panose="02010600040101010101" pitchFamily="2" charset="-122"/>
              </a:endParaRPr>
            </a:p>
            <a:p>
              <a:pPr marL="171450" indent="-171450" algn="just">
                <a:lnSpc>
                  <a:spcPct val="200000"/>
                </a:lnSpc>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rPr>
                <a:t>合作</a:t>
              </a:r>
              <a:r>
                <a:rPr sz="1200" b="1" dirty="0">
                  <a:solidFill>
                    <a:schemeClr val="bg1"/>
                  </a:solidFill>
                  <a:latin typeface="华文楷体" panose="02010600040101010101" pitchFamily="2" charset="-122"/>
                  <a:ea typeface="华文楷体" panose="02010600040101010101" pitchFamily="2" charset="-122"/>
                </a:rPr>
                <a:t>规模：</a:t>
              </a:r>
              <a:r>
                <a:rPr lang="en-US" altLang="zh-CN" sz="1200" b="1" dirty="0">
                  <a:solidFill>
                    <a:schemeClr val="bg1"/>
                  </a:solidFill>
                  <a:latin typeface="华文楷体" panose="02010600040101010101" pitchFamily="2" charset="-122"/>
                  <a:ea typeface="华文楷体" panose="02010600040101010101" pitchFamily="2" charset="-122"/>
                </a:rPr>
                <a:t>300</a:t>
              </a:r>
              <a:r>
                <a:rPr lang="zh-CN" altLang="en-US" sz="1200" b="1" dirty="0">
                  <a:solidFill>
                    <a:schemeClr val="bg1"/>
                  </a:solidFill>
                  <a:latin typeface="华文楷体" panose="02010600040101010101" pitchFamily="2" charset="-122"/>
                  <a:ea typeface="华文楷体" panose="02010600040101010101" pitchFamily="2" charset="-122"/>
                </a:rPr>
                <a:t>人</a:t>
              </a:r>
              <a:r>
                <a:rPr lang="en-US" altLang="zh-CN" sz="1200" b="1" dirty="0">
                  <a:solidFill>
                    <a:schemeClr val="bg1"/>
                  </a:solidFill>
                  <a:latin typeface="华文楷体" panose="02010600040101010101" pitchFamily="2" charset="-122"/>
                  <a:ea typeface="华文楷体" panose="02010600040101010101" pitchFamily="2" charset="-122"/>
                </a:rPr>
                <a:t>/</a:t>
              </a:r>
              <a:r>
                <a:rPr lang="zh-CN" altLang="en-US" sz="1200" b="1" dirty="0">
                  <a:solidFill>
                    <a:schemeClr val="bg1"/>
                  </a:solidFill>
                  <a:latin typeface="华文楷体" panose="02010600040101010101" pitchFamily="2" charset="-122"/>
                  <a:ea typeface="华文楷体" panose="02010600040101010101" pitchFamily="2" charset="-122"/>
                </a:rPr>
                <a:t>届</a:t>
              </a:r>
              <a:endParaRPr lang="en-US" altLang="zh-CN" sz="1200" b="1" dirty="0">
                <a:solidFill>
                  <a:schemeClr val="bg1"/>
                </a:solidFill>
                <a:latin typeface="华文楷体" panose="02010600040101010101" pitchFamily="2" charset="-122"/>
                <a:ea typeface="华文楷体" panose="02010600040101010101" pitchFamily="2" charset="-122"/>
              </a:endParaRPr>
            </a:p>
            <a:p>
              <a:pPr marL="171450" indent="-171450" algn="just">
                <a:lnSpc>
                  <a:spcPct val="200000"/>
                </a:lnSpc>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rPr>
                <a:t>服务费：</a:t>
              </a:r>
              <a:r>
                <a:rPr lang="en-US" altLang="zh-CN" sz="1200" b="1" dirty="0">
                  <a:solidFill>
                    <a:schemeClr val="bg1"/>
                  </a:solidFill>
                  <a:latin typeface="华文楷体" panose="02010600040101010101" pitchFamily="2" charset="-122"/>
                  <a:ea typeface="华文楷体" panose="02010600040101010101" pitchFamily="2" charset="-122"/>
                </a:rPr>
                <a:t>2,000</a:t>
              </a:r>
              <a:r>
                <a:rPr lang="zh-CN" altLang="en-US" sz="1200" b="1" dirty="0">
                  <a:solidFill>
                    <a:schemeClr val="bg1"/>
                  </a:solidFill>
                  <a:latin typeface="华文楷体" panose="02010600040101010101" pitchFamily="2" charset="-122"/>
                  <a:ea typeface="华文楷体" panose="02010600040101010101" pitchFamily="2" charset="-122"/>
                </a:rPr>
                <a:t>元</a:t>
              </a:r>
              <a:r>
                <a:rPr lang="en-US" altLang="zh-CN" sz="1200" b="1" dirty="0">
                  <a:solidFill>
                    <a:schemeClr val="bg1"/>
                  </a:solidFill>
                  <a:latin typeface="华文楷体" panose="02010600040101010101" pitchFamily="2" charset="-122"/>
                  <a:ea typeface="华文楷体" panose="02010600040101010101" pitchFamily="2" charset="-122"/>
                </a:rPr>
                <a:t>/</a:t>
              </a:r>
              <a:r>
                <a:rPr lang="zh-CN" altLang="en-US" sz="1200" b="1" dirty="0">
                  <a:solidFill>
                    <a:schemeClr val="bg1"/>
                  </a:solidFill>
                  <a:latin typeface="华文楷体" panose="02010600040101010101" pitchFamily="2" charset="-122"/>
                  <a:ea typeface="华文楷体" panose="02010600040101010101" pitchFamily="2" charset="-122"/>
                </a:rPr>
                <a:t>生</a:t>
              </a:r>
              <a:r>
                <a:rPr lang="en-US" altLang="zh-CN" sz="1200" b="1" dirty="0">
                  <a:solidFill>
                    <a:schemeClr val="bg1"/>
                  </a:solidFill>
                  <a:latin typeface="华文楷体" panose="02010600040101010101" pitchFamily="2" charset="-122"/>
                  <a:ea typeface="华文楷体" panose="02010600040101010101" pitchFamily="2" charset="-122"/>
                </a:rPr>
                <a:t>·</a:t>
              </a:r>
              <a:r>
                <a:rPr lang="zh-CN" altLang="en-US" sz="1200" b="1" dirty="0">
                  <a:solidFill>
                    <a:schemeClr val="bg1"/>
                  </a:solidFill>
                  <a:latin typeface="华文楷体" panose="02010600040101010101" pitchFamily="2" charset="-122"/>
                  <a:ea typeface="华文楷体" panose="02010600040101010101" pitchFamily="2" charset="-122"/>
                </a:rPr>
                <a:t>学年（由合作院校支付企业方）</a:t>
              </a:r>
              <a:endParaRPr sz="1200" b="1" dirty="0">
                <a:solidFill>
                  <a:schemeClr val="bg1"/>
                </a:solidFill>
                <a:latin typeface="华文楷体" panose="02010600040101010101" pitchFamily="2" charset="-122"/>
                <a:ea typeface="华文楷体" panose="02010600040101010101" pitchFamily="2" charset="-122"/>
              </a:endParaRPr>
            </a:p>
            <a:p>
              <a:pPr marL="171450" indent="-171450" algn="just">
                <a:lnSpc>
                  <a:spcPct val="200000"/>
                </a:lnSpc>
                <a:buFont typeface="Arial" panose="020B0604020202020204" pitchFamily="34" charset="0"/>
                <a:buChar char="•"/>
              </a:pPr>
              <a:r>
                <a:rPr sz="1200" b="1" dirty="0">
                  <a:solidFill>
                    <a:schemeClr val="bg1"/>
                  </a:solidFill>
                  <a:latin typeface="华文楷体" panose="02010600040101010101" pitchFamily="2" charset="-122"/>
                  <a:ea typeface="华文楷体" panose="02010600040101010101" pitchFamily="2" charset="-122"/>
                </a:rPr>
                <a:t>合作期限：</a:t>
              </a:r>
              <a:r>
                <a:rPr lang="en-US" altLang="zh-CN" sz="1200" b="1" dirty="0">
                  <a:solidFill>
                    <a:schemeClr val="bg1"/>
                  </a:solidFill>
                  <a:latin typeface="华文楷体" panose="02010600040101010101" pitchFamily="2" charset="-122"/>
                  <a:ea typeface="华文楷体" panose="02010600040101010101" pitchFamily="2" charset="-122"/>
                </a:rPr>
                <a:t>5</a:t>
              </a:r>
              <a:r>
                <a:rPr sz="1200" b="1" dirty="0">
                  <a:solidFill>
                    <a:schemeClr val="bg1"/>
                  </a:solidFill>
                  <a:latin typeface="华文楷体" panose="02010600040101010101" pitchFamily="2" charset="-122"/>
                  <a:ea typeface="华文楷体" panose="02010600040101010101" pitchFamily="2" charset="-122"/>
                </a:rPr>
                <a:t>-</a:t>
              </a:r>
              <a:r>
                <a:rPr lang="en-US" altLang="zh-CN" sz="1200" b="1" dirty="0">
                  <a:solidFill>
                    <a:schemeClr val="bg1"/>
                  </a:solidFill>
                  <a:latin typeface="华文楷体" panose="02010600040101010101" pitchFamily="2" charset="-122"/>
                  <a:ea typeface="华文楷体" panose="02010600040101010101" pitchFamily="2" charset="-122"/>
                </a:rPr>
                <a:t>7</a:t>
              </a:r>
              <a:r>
                <a:rPr sz="1200" b="1" dirty="0">
                  <a:solidFill>
                    <a:schemeClr val="bg1"/>
                  </a:solidFill>
                  <a:latin typeface="华文楷体" panose="02010600040101010101" pitchFamily="2" charset="-122"/>
                  <a:ea typeface="华文楷体" panose="02010600040101010101" pitchFamily="2" charset="-122"/>
                </a:rPr>
                <a:t>年</a:t>
              </a:r>
            </a:p>
          </p:txBody>
        </p:sp>
      </p:grpSp>
      <p:sp>
        <p:nvSpPr>
          <p:cNvPr id="58" name="矩形 57"/>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9" name="矩形 17"/>
          <p:cNvSpPr>
            <a:spLocks noChangeArrowheads="1"/>
          </p:cNvSpPr>
          <p:nvPr/>
        </p:nvSpPr>
        <p:spPr bwMode="auto">
          <a:xfrm>
            <a:off x="239713" y="342900"/>
            <a:ext cx="3771899"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2.2</a:t>
            </a:r>
            <a:r>
              <a:rPr lang="zh-CN" altLang="en-US" sz="2600" b="1" dirty="0">
                <a:solidFill>
                  <a:srgbClr val="586371"/>
                </a:solidFill>
                <a:latin typeface="微软雅黑" panose="020B0503020204020204" charset="-122"/>
                <a:ea typeface="微软雅黑" panose="020B0503020204020204" charset="-122"/>
              </a:rPr>
              <a:t>合作模式</a:t>
            </a:r>
          </a:p>
        </p:txBody>
      </p:sp>
      <p:sp>
        <p:nvSpPr>
          <p:cNvPr id="63" name="Rectangle 27"/>
          <p:cNvSpPr/>
          <p:nvPr/>
        </p:nvSpPr>
        <p:spPr>
          <a:xfrm>
            <a:off x="1112201" y="3164879"/>
            <a:ext cx="2486668" cy="1569660"/>
          </a:xfrm>
          <a:prstGeom prst="rect">
            <a:avLst/>
          </a:prstGeom>
          <a:noFill/>
        </p:spPr>
        <p:txBody>
          <a:bodyPr wrap="square">
            <a:spAutoFit/>
          </a:bodyPr>
          <a:lstStyle/>
          <a:p>
            <a:pPr marL="171450" indent="-171450" algn="just">
              <a:buFont typeface="Arial" panose="020B0604020202020204" pitchFamily="34" charset="0"/>
              <a:buChar char="•"/>
            </a:pPr>
            <a:r>
              <a:rPr sz="1200" b="1" dirty="0" err="1">
                <a:solidFill>
                  <a:schemeClr val="bg1"/>
                </a:solidFill>
                <a:latin typeface="华文楷体" panose="02010600040101010101" pitchFamily="2" charset="-122"/>
                <a:ea typeface="华文楷体" panose="02010600040101010101" pitchFamily="2" charset="-122"/>
                <a:sym typeface="+mn-ea"/>
              </a:rPr>
              <a:t>整体规划与设计</a:t>
            </a:r>
            <a:endParaRPr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sz="1200" b="1" dirty="0" err="1">
                <a:solidFill>
                  <a:schemeClr val="bg1"/>
                </a:solidFill>
                <a:latin typeface="华文楷体" panose="02010600040101010101" pitchFamily="2" charset="-122"/>
                <a:ea typeface="华文楷体" panose="02010600040101010101" pitchFamily="2" charset="-122"/>
                <a:sym typeface="+mn-ea"/>
              </a:rPr>
              <a:t>专业设置</a:t>
            </a:r>
            <a:r>
              <a:rPr lang="zh-CN" altLang="en-US" sz="1200" b="1" dirty="0">
                <a:solidFill>
                  <a:schemeClr val="bg1"/>
                </a:solidFill>
                <a:latin typeface="华文楷体" panose="02010600040101010101" pitchFamily="2" charset="-122"/>
                <a:ea typeface="华文楷体" panose="02010600040101010101" pitchFamily="2" charset="-122"/>
                <a:sym typeface="+mn-ea"/>
              </a:rPr>
              <a:t>，</a:t>
            </a:r>
            <a:r>
              <a:rPr sz="1200" b="1" dirty="0" err="1">
                <a:solidFill>
                  <a:schemeClr val="bg1"/>
                </a:solidFill>
                <a:latin typeface="华文楷体" panose="02010600040101010101" pitchFamily="2" charset="-122"/>
                <a:ea typeface="华文楷体" panose="02010600040101010101" pitchFamily="2" charset="-122"/>
                <a:sym typeface="+mn-ea"/>
              </a:rPr>
              <a:t>人才培养方案制定</a:t>
            </a:r>
            <a:endParaRPr lang="en-US"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运营管理体系，教学资源及教学平台输出</a:t>
            </a:r>
            <a:endParaRPr lang="en-US"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师资培训</a:t>
            </a:r>
            <a:endParaRPr lang="en-US" altLang="zh-CN"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教学、实习实训实施</a:t>
            </a:r>
            <a:r>
              <a:rPr lang="en-US" altLang="zh-CN" sz="1200" b="1" dirty="0">
                <a:solidFill>
                  <a:schemeClr val="bg1"/>
                </a:solidFill>
                <a:latin typeface="华文楷体" panose="02010600040101010101" pitchFamily="2" charset="-122"/>
                <a:ea typeface="华文楷体" panose="02010600040101010101" pitchFamily="2" charset="-122"/>
                <a:sym typeface="+mn-ea"/>
              </a:rPr>
              <a:t>(35%</a:t>
            </a:r>
            <a:r>
              <a:rPr lang="zh-CN" altLang="en-US" sz="1200" b="1" dirty="0">
                <a:solidFill>
                  <a:schemeClr val="bg1"/>
                </a:solidFill>
                <a:latin typeface="华文楷体" panose="02010600040101010101" pitchFamily="2" charset="-122"/>
                <a:ea typeface="华文楷体" panose="02010600040101010101" pitchFamily="2" charset="-122"/>
                <a:sym typeface="+mn-ea"/>
              </a:rPr>
              <a:t>以内</a:t>
            </a:r>
            <a:r>
              <a:rPr lang="en-US" altLang="zh-CN" sz="1200" b="1" dirty="0">
                <a:solidFill>
                  <a:schemeClr val="bg1"/>
                </a:solidFill>
                <a:latin typeface="华文楷体" panose="02010600040101010101" pitchFamily="2" charset="-122"/>
                <a:ea typeface="华文楷体" panose="02010600040101010101" pitchFamily="2" charset="-122"/>
                <a:sym typeface="+mn-ea"/>
              </a:rPr>
              <a:t>)</a:t>
            </a:r>
            <a:endParaRPr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sz="1200" b="1" dirty="0" err="1">
                <a:solidFill>
                  <a:schemeClr val="bg1"/>
                </a:solidFill>
                <a:latin typeface="华文楷体" panose="02010600040101010101" pitchFamily="2" charset="-122"/>
                <a:ea typeface="华文楷体" panose="02010600040101010101" pitchFamily="2" charset="-122"/>
                <a:sym typeface="+mn-ea"/>
              </a:rPr>
              <a:t>产业就业服务</a:t>
            </a:r>
            <a:r>
              <a:rPr lang="zh-CN" altLang="en-US" sz="1200" b="1" dirty="0">
                <a:solidFill>
                  <a:schemeClr val="bg1"/>
                </a:solidFill>
                <a:latin typeface="华文楷体" panose="02010600040101010101" pitchFamily="2" charset="-122"/>
                <a:ea typeface="华文楷体" panose="02010600040101010101" pitchFamily="2" charset="-122"/>
                <a:sym typeface="+mn-ea"/>
              </a:rPr>
              <a:t>、</a:t>
            </a:r>
            <a:r>
              <a:rPr sz="1200" b="1" dirty="0" err="1">
                <a:solidFill>
                  <a:schemeClr val="bg1"/>
                </a:solidFill>
                <a:latin typeface="华文楷体" panose="02010600040101010101" pitchFamily="2" charset="-122"/>
                <a:ea typeface="华文楷体" panose="02010600040101010101" pitchFamily="2" charset="-122"/>
                <a:sym typeface="+mn-ea"/>
              </a:rPr>
              <a:t>创新创业教育</a:t>
            </a:r>
            <a:endParaRPr lang="en-US" sz="1200" b="1" dirty="0">
              <a:solidFill>
                <a:schemeClr val="bg1"/>
              </a:solidFill>
              <a:latin typeface="华文楷体" panose="02010600040101010101" pitchFamily="2" charset="-122"/>
              <a:ea typeface="华文楷体" panose="02010600040101010101" pitchFamily="2" charset="-122"/>
              <a:sym typeface="+mn-ea"/>
            </a:endParaRPr>
          </a:p>
          <a:p>
            <a:pPr marL="171450" indent="-171450" algn="just">
              <a:buFont typeface="Arial" panose="020B0604020202020204" pitchFamily="34" charset="0"/>
              <a:buChar char="•"/>
            </a:pPr>
            <a:r>
              <a:rPr lang="zh-CN" altLang="en-US" sz="1200" b="1" dirty="0">
                <a:solidFill>
                  <a:schemeClr val="bg1"/>
                </a:solidFill>
                <a:latin typeface="华文楷体" panose="02010600040101010101" pitchFamily="2" charset="-122"/>
                <a:ea typeface="华文楷体" panose="02010600040101010101" pitchFamily="2" charset="-122"/>
                <a:sym typeface="+mn-ea"/>
              </a:rPr>
              <a:t>联合研发</a:t>
            </a:r>
            <a:endParaRPr sz="1200" b="1" dirty="0">
              <a:solidFill>
                <a:schemeClr val="bg1"/>
              </a:solidFill>
              <a:latin typeface="华文楷体" panose="02010600040101010101" pitchFamily="2" charset="-122"/>
              <a:ea typeface="华文楷体" panose="02010600040101010101" pitchFamily="2" charset="-122"/>
              <a:sym typeface="+mn-ea"/>
            </a:endParaRPr>
          </a:p>
        </p:txBody>
      </p:sp>
      <p:sp>
        <p:nvSpPr>
          <p:cNvPr id="64" name="TextBox 28"/>
          <p:cNvSpPr txBox="1"/>
          <p:nvPr/>
        </p:nvSpPr>
        <p:spPr>
          <a:xfrm>
            <a:off x="1571624" y="2878268"/>
            <a:ext cx="1107996" cy="369332"/>
          </a:xfrm>
          <a:prstGeom prst="rect">
            <a:avLst/>
          </a:prstGeom>
          <a:solidFill>
            <a:srgbClr val="00A6B2"/>
          </a:solidFill>
        </p:spPr>
        <p:txBody>
          <a:bodyPr wrap="none" rtlCol="0">
            <a:spAutoFit/>
          </a:bodyPr>
          <a:lstStyle/>
          <a:p>
            <a:pPr>
              <a:defRPr/>
            </a:pPr>
            <a:r>
              <a:rPr lang="zh-CN" altLang="en-US" b="1" dirty="0">
                <a:solidFill>
                  <a:srgbClr val="FFFF00"/>
                </a:solidFill>
                <a:latin typeface="华文楷体" panose="02010600040101010101" pitchFamily="2" charset="-122"/>
                <a:ea typeface="华文楷体" panose="02010600040101010101" pitchFamily="2" charset="-122"/>
                <a:sym typeface="+mn-ea"/>
              </a:rPr>
              <a:t>鼎利教育</a:t>
            </a:r>
            <a:endParaRPr lang="zh-CN" altLang="en-US" b="1" dirty="0">
              <a:solidFill>
                <a:srgbClr val="FFFF00"/>
              </a:solidFill>
              <a:latin typeface="华文楷体" panose="02010600040101010101" pitchFamily="2" charset="-122"/>
              <a:ea typeface="华文楷体" panose="02010600040101010101" pitchFamily="2" charset="-122"/>
              <a:cs typeface="Arial" panose="020B0604020202020204" pitchFamily="34" charset="0"/>
              <a:sym typeface="+mn-ea"/>
            </a:endParaRPr>
          </a:p>
        </p:txBody>
      </p:sp>
      <p:sp>
        <p:nvSpPr>
          <p:cNvPr id="65" name="右箭头 44"/>
          <p:cNvSpPr/>
          <p:nvPr/>
        </p:nvSpPr>
        <p:spPr>
          <a:xfrm>
            <a:off x="3667451" y="3664925"/>
            <a:ext cx="637859" cy="1071452"/>
          </a:xfrm>
          <a:prstGeom prst="rightArrow">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华文楷体" panose="02010600040101010101" pitchFamily="2" charset="-122"/>
              <a:ea typeface="华文楷体" panose="02010600040101010101" pitchFamily="2" charset="-122"/>
              <a:cs typeface="Arial" panose="020B0604020202020204" pitchFamily="34" charset="0"/>
            </a:endParaRPr>
          </a:p>
        </p:txBody>
      </p:sp>
      <p:sp>
        <p:nvSpPr>
          <p:cNvPr id="66" name="右箭头 44"/>
          <p:cNvSpPr/>
          <p:nvPr/>
        </p:nvSpPr>
        <p:spPr>
          <a:xfrm rot="10800000">
            <a:off x="7115500" y="3664925"/>
            <a:ext cx="637859" cy="1071452"/>
          </a:xfrm>
          <a:prstGeom prst="rightArrow">
            <a:avLst/>
          </a:prstGeom>
          <a:solidFill>
            <a:srgbClr val="2179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华文楷体" panose="02010600040101010101" pitchFamily="2" charset="-122"/>
              <a:ea typeface="华文楷体" panose="02010600040101010101" pitchFamily="2" charset="-122"/>
              <a:cs typeface="Arial" panose="020B0604020202020204" pitchFamily="34" charset="0"/>
            </a:endParaRPr>
          </a:p>
        </p:txBody>
      </p:sp>
      <p:pic>
        <p:nvPicPr>
          <p:cNvPr id="57" name="图形 56" descr="学校 轮廓"/>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0863" y="1975157"/>
            <a:ext cx="914400" cy="914400"/>
          </a:xfrm>
          <a:prstGeom prst="rect">
            <a:avLst/>
          </a:prstGeom>
        </p:spPr>
      </p:pic>
      <p:pic>
        <p:nvPicPr>
          <p:cNvPr id="68" name="图形 67" descr="教室 轮廓"/>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815122" y="2158355"/>
            <a:ext cx="720000" cy="720000"/>
          </a:xfrm>
          <a:prstGeom prst="rect">
            <a:avLst/>
          </a:prstGeom>
        </p:spPr>
      </p:pic>
      <p:pic>
        <p:nvPicPr>
          <p:cNvPr id="3" name="图形 2" descr="业务增长 轮廓"/>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43599" y="2159358"/>
            <a:ext cx="792000" cy="792000"/>
          </a:xfrm>
          <a:prstGeom prst="rect">
            <a:avLst/>
          </a:prstGeom>
        </p:spPr>
      </p:pic>
      <p:sp>
        <p:nvSpPr>
          <p:cNvPr id="72" name="内容占位符 20"/>
          <p:cNvSpPr txBox="1">
            <a:spLocks noGrp="1"/>
          </p:cNvSpPr>
          <p:nvPr/>
        </p:nvSpPr>
        <p:spPr>
          <a:xfrm>
            <a:off x="3068021" y="6473588"/>
            <a:ext cx="5302229" cy="456637"/>
          </a:xfrm>
        </p:spPr>
        <p:txBody>
          <a:bodyPr vert="horz" lIns="91440" tIns="45720" rIns="91440" bIns="45720" rtlCol="0" anchor="ctr">
            <a:normAutofit/>
            <a:scene3d>
              <a:camera prst="orthographicFront"/>
              <a:lightRig rig="threePt" dir="t"/>
            </a:scene3d>
          </a:bodyPr>
          <a:lstStyle>
            <a:defPPr>
              <a:defRPr lang="zh-CN"/>
            </a:defPPr>
            <a:lvl1pPr algn="ctr" defTabSz="914400">
              <a:lnSpc>
                <a:spcPct val="90000"/>
              </a:lnSpc>
              <a:spcBef>
                <a:spcPct val="0"/>
              </a:spcBef>
              <a:buNone/>
              <a:defRPr sz="2000" b="1">
                <a:solidFill>
                  <a:srgbClr val="FF0000"/>
                </a:solidFill>
                <a:effectLst>
                  <a:outerShdw blurRad="38100" dist="19050" dir="2700000" algn="tl" rotWithShape="0">
                    <a:srgbClr val="000000">
                      <a:alpha val="40000"/>
                    </a:srgbClr>
                  </a:outerShdw>
                </a:effectLst>
                <a:latin typeface="楷体" panose="02010609060101010101" charset="-122"/>
                <a:ea typeface="楷体" panose="02010609060101010101" charset="-122"/>
                <a:cs typeface="+mn-ea"/>
              </a:defRPr>
            </a:lvl1pPr>
            <a:lvl2pPr marL="4572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微软雅黑" panose="020B0503020204020204" charset="-122"/>
                <a:ea typeface="微软雅黑" panose="020B0503020204020204" charset="-122"/>
                <a:cs typeface="+mn-cs"/>
              </a:defRPr>
            </a:lvl2pPr>
            <a:lvl3pPr marL="9144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微软雅黑" panose="020B0503020204020204" charset="-122"/>
                <a:ea typeface="微软雅黑" panose="020B0503020204020204" charset="-122"/>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tx1">
                    <a:lumMod val="75000"/>
                    <a:lumOff val="25000"/>
                  </a:schemeClr>
                </a:solidFill>
                <a:sym typeface="+mn-ea"/>
              </a:rPr>
              <a:t>各方优势互补，形成校企命运共同体！</a:t>
            </a: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831215" y="740410"/>
            <a:ext cx="4705350" cy="5159375"/>
          </a:xfrm>
          <a:prstGeom prst="rect">
            <a:avLst/>
          </a:prstGeom>
          <a:blipFill>
            <a:blip r:embed="rId6"/>
            <a:srcRect/>
            <a:stretch>
              <a:fillRect l="8" t="-90138" r="-8" b="-89682"/>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rgbClr val="4276AA">
              <a:shade val="50000"/>
            </a:srgbClr>
          </a:lnRef>
          <a:fillRef idx="1">
            <a:srgbClr val="4276AA"/>
          </a:fillRef>
          <a:effectRef idx="0">
            <a:srgbClr val="4276AA"/>
          </a:effectRef>
          <a:fontRef idx="minor">
            <a:srgbClr val="FFFFFF"/>
          </a:fontRef>
        </p:style>
        <p:txBody>
          <a:bodyPr anchor="ctr"/>
          <a:lstStyle/>
          <a:p>
            <a:pPr algn="ctr" eaLnBrk="1" fontAlgn="auto" hangingPunct="1">
              <a:defRPr/>
            </a:pPr>
            <a:endParaRPr noProof="1"/>
          </a:p>
        </p:txBody>
      </p:sp>
      <p:sp>
        <p:nvSpPr>
          <p:cNvPr id="17420" name="矩形 7"/>
          <p:cNvSpPr>
            <a:spLocks noChangeArrowheads="1"/>
          </p:cNvSpPr>
          <p:nvPr>
            <p:custDataLst>
              <p:tags r:id="rId3"/>
            </p:custDataLst>
          </p:nvPr>
        </p:nvSpPr>
        <p:spPr bwMode="auto">
          <a:xfrm>
            <a:off x="4671695" y="2384425"/>
            <a:ext cx="5130800" cy="1871345"/>
          </a:xfrm>
          <a:prstGeom prst="rect">
            <a:avLst/>
          </a:prstGeom>
          <a:solidFill>
            <a:srgbClr val="FFFFFF"/>
          </a:solidFill>
          <a:ln w="57150">
            <a:solidFill>
              <a:srgbClr val="778495">
                <a:alpha val="18823"/>
              </a:srgbClr>
            </a:solidFill>
            <a:miter lim="800000"/>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7421" name="文本框 9"/>
          <p:cNvSpPr txBox="1">
            <a:spLocks noChangeArrowheads="1"/>
          </p:cNvSpPr>
          <p:nvPr>
            <p:custDataLst>
              <p:tags r:id="rId4"/>
            </p:custDataLst>
          </p:nvPr>
        </p:nvSpPr>
        <p:spPr bwMode="auto">
          <a:xfrm>
            <a:off x="4962842" y="2813050"/>
            <a:ext cx="454850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3600" b="1" dirty="0">
                <a:solidFill>
                  <a:srgbClr val="586371"/>
                </a:solidFill>
                <a:latin typeface="微软雅黑" panose="020B0503020204020204" charset="-122"/>
                <a:ea typeface="微软雅黑" panose="020B0503020204020204" charset="-122"/>
                <a:sym typeface="+mn-ea"/>
              </a:rPr>
              <a:t>市场分析</a:t>
            </a:r>
            <a:endParaRPr lang="en-US" altLang="zh-CN" sz="3600" b="1" dirty="0">
              <a:solidFill>
                <a:srgbClr val="586371"/>
              </a:solidFill>
              <a:latin typeface="微软雅黑" panose="020B0503020204020204" charset="-122"/>
              <a:ea typeface="微软雅黑" panose="020B0503020204020204" charset="-122"/>
              <a:sym typeface="+mn-ea"/>
            </a:endParaRPr>
          </a:p>
        </p:txBody>
      </p:sp>
      <p:sp>
        <p:nvSpPr>
          <p:cNvPr id="2" name="文本框 1"/>
          <p:cNvSpPr txBox="1"/>
          <p:nvPr/>
        </p:nvSpPr>
        <p:spPr>
          <a:xfrm>
            <a:off x="6338170" y="3329003"/>
            <a:ext cx="2029216" cy="95410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市场规模</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行业痛点</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产业需求</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政策背景</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p:txBody>
      </p:sp>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3175" y="288925"/>
            <a:ext cx="74613" cy="598488"/>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9" name="矩形 17"/>
          <p:cNvSpPr>
            <a:spLocks noChangeArrowheads="1"/>
          </p:cNvSpPr>
          <p:nvPr/>
        </p:nvSpPr>
        <p:spPr bwMode="auto">
          <a:xfrm>
            <a:off x="239713" y="342900"/>
            <a:ext cx="22240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3.1</a:t>
            </a:r>
            <a:r>
              <a:rPr lang="zh-CN" altLang="en-US" sz="2600" b="1" dirty="0">
                <a:solidFill>
                  <a:srgbClr val="586371"/>
                </a:solidFill>
                <a:latin typeface="微软雅黑" panose="020B0503020204020204" charset="-122"/>
                <a:ea typeface="微软雅黑" panose="020B0503020204020204" charset="-122"/>
              </a:rPr>
              <a:t>市场规模</a:t>
            </a:r>
          </a:p>
        </p:txBody>
      </p:sp>
      <p:pic>
        <p:nvPicPr>
          <p:cNvPr id="15" name="图片 14" descr="C:/Users/15910/AppData/Local/Temp/kaimatting/20210317164324/output_aiMatting_20210317164341.pngoutput_aiMatting_20210317164341"/>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678815" y="2147570"/>
            <a:ext cx="10749280" cy="4367530"/>
          </a:xfrm>
          <a:prstGeom prst="rect">
            <a:avLst/>
          </a:prstGeom>
        </p:spPr>
      </p:pic>
      <p:sp>
        <p:nvSpPr>
          <p:cNvPr id="16" name="文本框 15"/>
          <p:cNvSpPr txBox="1"/>
          <p:nvPr/>
        </p:nvSpPr>
        <p:spPr>
          <a:xfrm>
            <a:off x="2091979" y="1420405"/>
            <a:ext cx="8631555" cy="400110"/>
          </a:xfrm>
          <a:prstGeom prst="rect">
            <a:avLst/>
          </a:prstGeom>
          <a:noFill/>
        </p:spPr>
        <p:txBody>
          <a:bodyPr wrap="square" rtlCol="0">
            <a:spAutoFit/>
          </a:bodyPr>
          <a:lstStyle/>
          <a:p>
            <a:r>
              <a:rPr lang="en-US" altLang="zh-CN" sz="20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2020</a:t>
            </a:r>
            <a:r>
              <a:rPr lang="zh-CN" altLang="en-US" sz="20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年高校招生达到</a:t>
            </a:r>
            <a:r>
              <a:rPr lang="en-US" altLang="zh-CN" sz="2000" dirty="0">
                <a:solidFill>
                  <a:srgbClr val="00A6B2"/>
                </a:solidFill>
                <a:latin typeface="Microsoft YaHei" panose="020B0503020204020204" pitchFamily="34" charset="-122"/>
                <a:ea typeface="Microsoft YaHei" panose="020B0503020204020204" pitchFamily="34" charset="-122"/>
                <a:cs typeface="华文楷体" panose="02010600040101010101" pitchFamily="2" charset="-122"/>
              </a:rPr>
              <a:t>967</a:t>
            </a:r>
            <a:r>
              <a:rPr lang="zh-CN" altLang="en-US" sz="2000" dirty="0">
                <a:solidFill>
                  <a:srgbClr val="00A6B2"/>
                </a:solidFill>
                <a:latin typeface="Microsoft YaHei" panose="020B0503020204020204" pitchFamily="34" charset="-122"/>
                <a:ea typeface="Microsoft YaHei" panose="020B0503020204020204" pitchFamily="34" charset="-122"/>
                <a:cs typeface="华文楷体" panose="02010600040101010101" pitchFamily="2" charset="-122"/>
              </a:rPr>
              <a:t>万人</a:t>
            </a:r>
            <a:r>
              <a:rPr lang="zh-CN" altLang="en-US" sz="20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，在校生数量达到</a:t>
            </a:r>
            <a:r>
              <a:rPr lang="en-US" altLang="zh-CN" sz="2000" dirty="0">
                <a:solidFill>
                  <a:srgbClr val="00A6B2"/>
                </a:solidFill>
                <a:latin typeface="Microsoft YaHei" panose="020B0503020204020204" pitchFamily="34" charset="-122"/>
                <a:ea typeface="Microsoft YaHei" panose="020B0503020204020204" pitchFamily="34" charset="-122"/>
              </a:rPr>
              <a:t>3,285</a:t>
            </a:r>
            <a:r>
              <a:rPr lang="zh-CN" altLang="en-US" sz="2000" dirty="0">
                <a:solidFill>
                  <a:srgbClr val="00A6B2"/>
                </a:solidFill>
                <a:latin typeface="Microsoft YaHei" panose="020B0503020204020204" pitchFamily="34" charset="-122"/>
                <a:ea typeface="Microsoft YaHei" panose="020B0503020204020204" pitchFamily="34" charset="-122"/>
              </a:rPr>
              <a:t>万人</a:t>
            </a:r>
            <a:r>
              <a:rPr lang="zh-CN" altLang="en-US" sz="20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5"/>
          <p:cNvSpPr/>
          <p:nvPr/>
        </p:nvSpPr>
        <p:spPr bwMode="auto">
          <a:xfrm>
            <a:off x="4024258" y="3029616"/>
            <a:ext cx="3932867" cy="3476585"/>
          </a:xfrm>
          <a:custGeom>
            <a:avLst/>
            <a:gdLst>
              <a:gd name="T0" fmla="*/ 553107085 w 5977"/>
              <a:gd name="T1" fmla="*/ 70285550 h 6949"/>
              <a:gd name="T2" fmla="*/ 487233550 w 5977"/>
              <a:gd name="T3" fmla="*/ 359685891 h 6949"/>
              <a:gd name="T4" fmla="*/ 350301198 w 5977"/>
              <a:gd name="T5" fmla="*/ 115798432 h 6949"/>
              <a:gd name="T6" fmla="*/ 336665723 w 5977"/>
              <a:gd name="T7" fmla="*/ 128664779 h 6949"/>
              <a:gd name="T8" fmla="*/ 487425501 w 5977"/>
              <a:gd name="T9" fmla="*/ 487966836 h 6949"/>
              <a:gd name="T10" fmla="*/ 426737689 w 5977"/>
              <a:gd name="T11" fmla="*/ 535784040 h 6949"/>
              <a:gd name="T12" fmla="*/ 102747252 w 5977"/>
              <a:gd name="T13" fmla="*/ 361990214 h 6949"/>
              <a:gd name="T14" fmla="*/ 72211396 w 5977"/>
              <a:gd name="T15" fmla="*/ 375625106 h 6949"/>
              <a:gd name="T16" fmla="*/ 300559805 w 5977"/>
              <a:gd name="T17" fmla="*/ 476252431 h 6949"/>
              <a:gd name="T18" fmla="*/ 458810023 w 5977"/>
              <a:gd name="T19" fmla="*/ 679236091 h 6949"/>
              <a:gd name="T20" fmla="*/ 410029258 w 5977"/>
              <a:gd name="T21" fmla="*/ 814238084 h 6949"/>
              <a:gd name="T22" fmla="*/ 2304717 w 5977"/>
              <a:gd name="T23" fmla="*/ 744144451 h 6949"/>
              <a:gd name="T24" fmla="*/ 0 w 5977"/>
              <a:gd name="T25" fmla="*/ 778519119 h 6949"/>
              <a:gd name="T26" fmla="*/ 419439638 w 5977"/>
              <a:gd name="T27" fmla="*/ 879530717 h 6949"/>
              <a:gd name="T28" fmla="*/ 430770396 w 5977"/>
              <a:gd name="T29" fmla="*/ 1158560951 h 6949"/>
              <a:gd name="T30" fmla="*/ 300559805 w 5977"/>
              <a:gd name="T31" fmla="*/ 1274167466 h 6949"/>
              <a:gd name="T32" fmla="*/ 174382360 w 5977"/>
              <a:gd name="T33" fmla="*/ 1298364383 h 6949"/>
              <a:gd name="T34" fmla="*/ 763979262 w 5977"/>
              <a:gd name="T35" fmla="*/ 1322752778 h 6949"/>
              <a:gd name="T36" fmla="*/ 853474940 w 5977"/>
              <a:gd name="T37" fmla="*/ 1303164944 h 6949"/>
              <a:gd name="T38" fmla="*/ 766283979 w 5977"/>
              <a:gd name="T39" fmla="*/ 1282233251 h 6949"/>
              <a:gd name="T40" fmla="*/ 599391621 w 5977"/>
              <a:gd name="T41" fmla="*/ 1171043463 h 6949"/>
              <a:gd name="T42" fmla="*/ 595934326 w 5977"/>
              <a:gd name="T43" fmla="*/ 916593980 h 6949"/>
              <a:gd name="T44" fmla="*/ 886123563 w 5977"/>
              <a:gd name="T45" fmla="*/ 798298870 h 6949"/>
              <a:gd name="T46" fmla="*/ 1147889272 w 5977"/>
              <a:gd name="T47" fmla="*/ 773910474 h 6949"/>
              <a:gd name="T48" fmla="*/ 1146544744 w 5977"/>
              <a:gd name="T49" fmla="*/ 735310997 h 6949"/>
              <a:gd name="T50" fmla="*/ 1096611840 w 5977"/>
              <a:gd name="T51" fmla="*/ 748561178 h 6949"/>
              <a:gd name="T52" fmla="*/ 589788853 w 5977"/>
              <a:gd name="T53" fmla="*/ 814814274 h 6949"/>
              <a:gd name="T54" fmla="*/ 635305150 w 5977"/>
              <a:gd name="T55" fmla="*/ 568238220 h 6949"/>
              <a:gd name="T56" fmla="*/ 1048982776 w 5977"/>
              <a:gd name="T57" fmla="*/ 422866120 h 6949"/>
              <a:gd name="T58" fmla="*/ 1035347301 w 5977"/>
              <a:gd name="T59" fmla="*/ 406926906 h 6949"/>
              <a:gd name="T60" fmla="*/ 734403157 w 5977"/>
              <a:gd name="T61" fmla="*/ 474524299 h 6949"/>
              <a:gd name="T62" fmla="*/ 560020797 w 5977"/>
              <a:gd name="T63" fmla="*/ 545386039 h 6949"/>
              <a:gd name="T64" fmla="*/ 592093570 w 5977"/>
              <a:gd name="T65" fmla="*/ 456472680 h 6949"/>
              <a:gd name="T66" fmla="*/ 779535115 w 5977"/>
              <a:gd name="T67" fmla="*/ 194533602 h 6949"/>
              <a:gd name="T68" fmla="*/ 656430626 w 5977"/>
              <a:gd name="T69" fmla="*/ 351812462 h 6949"/>
              <a:gd name="T70" fmla="*/ 538895321 w 5977"/>
              <a:gd name="T71" fmla="*/ 408463120 h 6949"/>
              <a:gd name="T72" fmla="*/ 572120233 w 5977"/>
              <a:gd name="T73" fmla="*/ 103700193 h 6949"/>
              <a:gd name="T74" fmla="*/ 563093753 w 5977"/>
              <a:gd name="T75" fmla="*/ 191917 h 6949"/>
              <a:gd name="T76" fmla="*/ 534862176 w 5977"/>
              <a:gd name="T77" fmla="*/ 0 h 694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connsiteX0" fmla="*/ 4660 w 10000"/>
              <a:gd name="connsiteY0" fmla="*/ 0 h 9959"/>
              <a:gd name="connsiteX1" fmla="*/ 4818 w 10000"/>
              <a:gd name="connsiteY1" fmla="*/ 527 h 9959"/>
              <a:gd name="connsiteX2" fmla="*/ 4618 w 10000"/>
              <a:gd name="connsiteY2" fmla="*/ 2177 h 9959"/>
              <a:gd name="connsiteX3" fmla="*/ 4245 w 10000"/>
              <a:gd name="connsiteY3" fmla="*/ 2695 h 9959"/>
              <a:gd name="connsiteX4" fmla="*/ 3341 w 10000"/>
              <a:gd name="connsiteY4" fmla="*/ 1219 h 9959"/>
              <a:gd name="connsiteX5" fmla="*/ 3052 w 10000"/>
              <a:gd name="connsiteY5" fmla="*/ 868 h 9959"/>
              <a:gd name="connsiteX6" fmla="*/ 3053 w 10000"/>
              <a:gd name="connsiteY6" fmla="*/ 825 h 9959"/>
              <a:gd name="connsiteX7" fmla="*/ 2933 w 10000"/>
              <a:gd name="connsiteY7" fmla="*/ 964 h 9959"/>
              <a:gd name="connsiteX8" fmla="*/ 3664 w 10000"/>
              <a:gd name="connsiteY8" fmla="*/ 2015 h 9959"/>
              <a:gd name="connsiteX9" fmla="*/ 4246 w 10000"/>
              <a:gd name="connsiteY9" fmla="*/ 3657 h 9959"/>
              <a:gd name="connsiteX10" fmla="*/ 4092 w 10000"/>
              <a:gd name="connsiteY10" fmla="*/ 4178 h 9959"/>
              <a:gd name="connsiteX11" fmla="*/ 3718 w 10000"/>
              <a:gd name="connsiteY11" fmla="*/ 4015 h 9959"/>
              <a:gd name="connsiteX12" fmla="*/ 2403 w 10000"/>
              <a:gd name="connsiteY12" fmla="*/ 3261 h 9959"/>
              <a:gd name="connsiteX13" fmla="*/ 895 w 10000"/>
              <a:gd name="connsiteY13" fmla="*/ 2713 h 9959"/>
              <a:gd name="connsiteX14" fmla="*/ 703 w 10000"/>
              <a:gd name="connsiteY14" fmla="*/ 2623 h 9959"/>
              <a:gd name="connsiteX15" fmla="*/ 629 w 10000"/>
              <a:gd name="connsiteY15" fmla="*/ 2815 h 9959"/>
              <a:gd name="connsiteX16" fmla="*/ 661 w 10000"/>
              <a:gd name="connsiteY16" fmla="*/ 2808 h 9959"/>
              <a:gd name="connsiteX17" fmla="*/ 2618 w 10000"/>
              <a:gd name="connsiteY17" fmla="*/ 3569 h 9959"/>
              <a:gd name="connsiteX18" fmla="*/ 3826 w 10000"/>
              <a:gd name="connsiteY18" fmla="*/ 4557 h 9959"/>
              <a:gd name="connsiteX19" fmla="*/ 3997 w 10000"/>
              <a:gd name="connsiteY19" fmla="*/ 5090 h 9959"/>
              <a:gd name="connsiteX20" fmla="*/ 3863 w 10000"/>
              <a:gd name="connsiteY20" fmla="*/ 6162 h 9959"/>
              <a:gd name="connsiteX21" fmla="*/ 3572 w 10000"/>
              <a:gd name="connsiteY21" fmla="*/ 6102 h 9959"/>
              <a:gd name="connsiteX22" fmla="*/ 671 w 10000"/>
              <a:gd name="connsiteY22" fmla="*/ 5634 h 9959"/>
              <a:gd name="connsiteX23" fmla="*/ 20 w 10000"/>
              <a:gd name="connsiteY23" fmla="*/ 5576 h 9959"/>
              <a:gd name="connsiteX24" fmla="*/ 20 w 10000"/>
              <a:gd name="connsiteY24" fmla="*/ 5584 h 9959"/>
              <a:gd name="connsiteX25" fmla="*/ 0 w 10000"/>
              <a:gd name="connsiteY25" fmla="*/ 5834 h 9959"/>
              <a:gd name="connsiteX26" fmla="*/ 383 w 10000"/>
              <a:gd name="connsiteY26" fmla="*/ 5838 h 9959"/>
              <a:gd name="connsiteX27" fmla="*/ 3654 w 10000"/>
              <a:gd name="connsiteY27" fmla="*/ 6591 h 9959"/>
              <a:gd name="connsiteX28" fmla="*/ 3897 w 10000"/>
              <a:gd name="connsiteY28" fmla="*/ 6977 h 9959"/>
              <a:gd name="connsiteX29" fmla="*/ 3753 w 10000"/>
              <a:gd name="connsiteY29" fmla="*/ 8682 h 9959"/>
              <a:gd name="connsiteX30" fmla="*/ 3594 w 10000"/>
              <a:gd name="connsiteY30" fmla="*/ 9101 h 9959"/>
              <a:gd name="connsiteX31" fmla="*/ 2618 w 10000"/>
              <a:gd name="connsiteY31" fmla="*/ 9548 h 9959"/>
              <a:gd name="connsiteX32" fmla="*/ 1966 w 10000"/>
              <a:gd name="connsiteY32" fmla="*/ 9647 h 9959"/>
              <a:gd name="connsiteX33" fmla="*/ 1471 w 10000"/>
              <a:gd name="connsiteY33" fmla="*/ 9893 h 9959"/>
              <a:gd name="connsiteX34" fmla="*/ 2899 w 10000"/>
              <a:gd name="connsiteY34" fmla="*/ 9957 h 9959"/>
              <a:gd name="connsiteX35" fmla="*/ 6656 w 10000"/>
              <a:gd name="connsiteY35" fmla="*/ 9912 h 9959"/>
              <a:gd name="connsiteX36" fmla="*/ 7293 w 10000"/>
              <a:gd name="connsiteY36" fmla="*/ 9816 h 9959"/>
              <a:gd name="connsiteX37" fmla="*/ 7435 w 10000"/>
              <a:gd name="connsiteY37" fmla="*/ 9765 h 9959"/>
              <a:gd name="connsiteX38" fmla="*/ 7328 w 10000"/>
              <a:gd name="connsiteY38" fmla="*/ 9717 h 9959"/>
              <a:gd name="connsiteX39" fmla="*/ 6676 w 10000"/>
              <a:gd name="connsiteY39" fmla="*/ 9609 h 9959"/>
              <a:gd name="connsiteX40" fmla="*/ 5392 w 10000"/>
              <a:gd name="connsiteY40" fmla="*/ 9191 h 9959"/>
              <a:gd name="connsiteX41" fmla="*/ 5222 w 10000"/>
              <a:gd name="connsiteY41" fmla="*/ 8775 h 9959"/>
              <a:gd name="connsiteX42" fmla="*/ 5183 w 10000"/>
              <a:gd name="connsiteY42" fmla="*/ 7407 h 9959"/>
              <a:gd name="connsiteX43" fmla="*/ 5192 w 10000"/>
              <a:gd name="connsiteY43" fmla="*/ 6869 h 9959"/>
              <a:gd name="connsiteX44" fmla="*/ 5356 w 10000"/>
              <a:gd name="connsiteY44" fmla="*/ 6713 h 9959"/>
              <a:gd name="connsiteX45" fmla="*/ 7720 w 10000"/>
              <a:gd name="connsiteY45" fmla="*/ 5982 h 9959"/>
              <a:gd name="connsiteX46" fmla="*/ 9982 w 10000"/>
              <a:gd name="connsiteY46" fmla="*/ 5786 h 9959"/>
              <a:gd name="connsiteX47" fmla="*/ 10000 w 10000"/>
              <a:gd name="connsiteY47" fmla="*/ 5799 h 9959"/>
              <a:gd name="connsiteX48" fmla="*/ 9985 w 10000"/>
              <a:gd name="connsiteY48" fmla="*/ 5594 h 9959"/>
              <a:gd name="connsiteX49" fmla="*/ 9988 w 10000"/>
              <a:gd name="connsiteY49" fmla="*/ 5510 h 9959"/>
              <a:gd name="connsiteX50" fmla="*/ 9941 w 10000"/>
              <a:gd name="connsiteY50" fmla="*/ 5579 h 9959"/>
              <a:gd name="connsiteX51" fmla="*/ 9553 w 10000"/>
              <a:gd name="connsiteY51" fmla="*/ 5609 h 9959"/>
              <a:gd name="connsiteX52" fmla="*/ 6000 w 10000"/>
              <a:gd name="connsiteY52" fmla="*/ 5999 h 9959"/>
              <a:gd name="connsiteX53" fmla="*/ 5138 w 10000"/>
              <a:gd name="connsiteY53" fmla="*/ 6106 h 9959"/>
              <a:gd name="connsiteX54" fmla="*/ 4956 w 10000"/>
              <a:gd name="connsiteY54" fmla="*/ 4937 h 9959"/>
              <a:gd name="connsiteX55" fmla="*/ 5535 w 10000"/>
              <a:gd name="connsiteY55" fmla="*/ 4258 h 9959"/>
              <a:gd name="connsiteX56" fmla="*/ 8583 w 10000"/>
              <a:gd name="connsiteY56" fmla="*/ 3252 h 9959"/>
              <a:gd name="connsiteX57" fmla="*/ 9138 w 10000"/>
              <a:gd name="connsiteY57" fmla="*/ 3169 h 9959"/>
              <a:gd name="connsiteX58" fmla="*/ 9040 w 10000"/>
              <a:gd name="connsiteY58" fmla="*/ 3023 h 9959"/>
              <a:gd name="connsiteX59" fmla="*/ 9020 w 10000"/>
              <a:gd name="connsiteY59" fmla="*/ 3049 h 9959"/>
              <a:gd name="connsiteX60" fmla="*/ 8390 w 10000"/>
              <a:gd name="connsiteY60" fmla="*/ 3150 h 9959"/>
              <a:gd name="connsiteX61" fmla="*/ 6398 w 10000"/>
              <a:gd name="connsiteY61" fmla="*/ 3556 h 9959"/>
              <a:gd name="connsiteX62" fmla="*/ 5514 w 10000"/>
              <a:gd name="connsiteY62" fmla="*/ 3914 h 9959"/>
              <a:gd name="connsiteX63" fmla="*/ 4879 w 10000"/>
              <a:gd name="connsiteY63" fmla="*/ 4087 h 9959"/>
              <a:gd name="connsiteX64" fmla="*/ 4830 w 10000"/>
              <a:gd name="connsiteY64" fmla="*/ 3847 h 9959"/>
              <a:gd name="connsiteX65" fmla="*/ 5158 w 10000"/>
              <a:gd name="connsiteY65" fmla="*/ 3421 h 9959"/>
              <a:gd name="connsiteX66" fmla="*/ 6676 w 10000"/>
              <a:gd name="connsiteY66" fmla="*/ 1639 h 9959"/>
              <a:gd name="connsiteX67" fmla="*/ 6791 w 10000"/>
              <a:gd name="connsiteY67" fmla="*/ 1458 h 9959"/>
              <a:gd name="connsiteX68" fmla="*/ 6647 w 10000"/>
              <a:gd name="connsiteY68" fmla="*/ 1371 h 9959"/>
              <a:gd name="connsiteX69" fmla="*/ 5719 w 10000"/>
              <a:gd name="connsiteY69" fmla="*/ 2636 h 9959"/>
              <a:gd name="connsiteX70" fmla="*/ 4735 w 10000"/>
              <a:gd name="connsiteY70" fmla="*/ 3336 h 9959"/>
              <a:gd name="connsiteX71" fmla="*/ 4695 w 10000"/>
              <a:gd name="connsiteY71" fmla="*/ 3061 h 9959"/>
              <a:gd name="connsiteX72" fmla="*/ 4797 w 10000"/>
              <a:gd name="connsiteY72" fmla="*/ 2462 h 9959"/>
              <a:gd name="connsiteX73" fmla="*/ 4984 w 10000"/>
              <a:gd name="connsiteY73" fmla="*/ 777 h 9959"/>
              <a:gd name="connsiteX74" fmla="*/ 4929 w 10000"/>
              <a:gd name="connsiteY74" fmla="*/ 121 h 9959"/>
              <a:gd name="connsiteX75" fmla="*/ 4905 w 10000"/>
              <a:gd name="connsiteY75" fmla="*/ 1 h 9959"/>
              <a:gd name="connsiteX76" fmla="*/ 4790 w 10000"/>
              <a:gd name="connsiteY76" fmla="*/ 4 h 9959"/>
              <a:gd name="connsiteX77" fmla="*/ 4660 w 10000"/>
              <a:gd name="connsiteY77" fmla="*/ 0 h 9959"/>
              <a:gd name="connsiteX0-1" fmla="*/ 4660 w 10000"/>
              <a:gd name="connsiteY0-2" fmla="*/ 0 h 10000"/>
              <a:gd name="connsiteX1-3" fmla="*/ 4818 w 10000"/>
              <a:gd name="connsiteY1-4" fmla="*/ 529 h 10000"/>
              <a:gd name="connsiteX2-5" fmla="*/ 4618 w 10000"/>
              <a:gd name="connsiteY2-6" fmla="*/ 2186 h 10000"/>
              <a:gd name="connsiteX3-7" fmla="*/ 4245 w 10000"/>
              <a:gd name="connsiteY3-8" fmla="*/ 2706 h 10000"/>
              <a:gd name="connsiteX4-9" fmla="*/ 3341 w 10000"/>
              <a:gd name="connsiteY4-10" fmla="*/ 1224 h 10000"/>
              <a:gd name="connsiteX5-11" fmla="*/ 3052 w 10000"/>
              <a:gd name="connsiteY5-12" fmla="*/ 872 h 10000"/>
              <a:gd name="connsiteX6-13" fmla="*/ 3053 w 10000"/>
              <a:gd name="connsiteY6-14" fmla="*/ 828 h 10000"/>
              <a:gd name="connsiteX7-15" fmla="*/ 2933 w 10000"/>
              <a:gd name="connsiteY7-16" fmla="*/ 968 h 10000"/>
              <a:gd name="connsiteX8-17" fmla="*/ 3664 w 10000"/>
              <a:gd name="connsiteY8-18" fmla="*/ 2023 h 10000"/>
              <a:gd name="connsiteX9-19" fmla="*/ 4246 w 10000"/>
              <a:gd name="connsiteY9-20" fmla="*/ 3672 h 10000"/>
              <a:gd name="connsiteX10-21" fmla="*/ 4092 w 10000"/>
              <a:gd name="connsiteY10-22" fmla="*/ 4195 h 10000"/>
              <a:gd name="connsiteX11-23" fmla="*/ 3718 w 10000"/>
              <a:gd name="connsiteY11-24" fmla="*/ 4032 h 10000"/>
              <a:gd name="connsiteX12-25" fmla="*/ 2403 w 10000"/>
              <a:gd name="connsiteY12-26" fmla="*/ 3274 h 10000"/>
              <a:gd name="connsiteX13-27" fmla="*/ 895 w 10000"/>
              <a:gd name="connsiteY13-28" fmla="*/ 2724 h 10000"/>
              <a:gd name="connsiteX14-29" fmla="*/ 703 w 10000"/>
              <a:gd name="connsiteY14-30" fmla="*/ 2634 h 10000"/>
              <a:gd name="connsiteX15-31" fmla="*/ 629 w 10000"/>
              <a:gd name="connsiteY15-32" fmla="*/ 2827 h 10000"/>
              <a:gd name="connsiteX16-33" fmla="*/ 661 w 10000"/>
              <a:gd name="connsiteY16-34" fmla="*/ 2820 h 10000"/>
              <a:gd name="connsiteX17-35" fmla="*/ 2618 w 10000"/>
              <a:gd name="connsiteY17-36" fmla="*/ 3584 h 10000"/>
              <a:gd name="connsiteX18-37" fmla="*/ 3826 w 10000"/>
              <a:gd name="connsiteY18-38" fmla="*/ 4576 h 10000"/>
              <a:gd name="connsiteX19-39" fmla="*/ 3997 w 10000"/>
              <a:gd name="connsiteY19-40" fmla="*/ 5111 h 10000"/>
              <a:gd name="connsiteX20-41" fmla="*/ 3863 w 10000"/>
              <a:gd name="connsiteY20-42" fmla="*/ 6187 h 10000"/>
              <a:gd name="connsiteX21-43" fmla="*/ 3572 w 10000"/>
              <a:gd name="connsiteY21-44" fmla="*/ 6127 h 10000"/>
              <a:gd name="connsiteX22-45" fmla="*/ 671 w 10000"/>
              <a:gd name="connsiteY22-46" fmla="*/ 5657 h 10000"/>
              <a:gd name="connsiteX23-47" fmla="*/ 20 w 10000"/>
              <a:gd name="connsiteY23-48" fmla="*/ 5599 h 10000"/>
              <a:gd name="connsiteX24-49" fmla="*/ 20 w 10000"/>
              <a:gd name="connsiteY24-50" fmla="*/ 5607 h 10000"/>
              <a:gd name="connsiteX25-51" fmla="*/ 0 w 10000"/>
              <a:gd name="connsiteY25-52" fmla="*/ 5858 h 10000"/>
              <a:gd name="connsiteX26-53" fmla="*/ 383 w 10000"/>
              <a:gd name="connsiteY26-54" fmla="*/ 5862 h 10000"/>
              <a:gd name="connsiteX27-55" fmla="*/ 3654 w 10000"/>
              <a:gd name="connsiteY27-56" fmla="*/ 6618 h 10000"/>
              <a:gd name="connsiteX28-57" fmla="*/ 3897 w 10000"/>
              <a:gd name="connsiteY28-58" fmla="*/ 7006 h 10000"/>
              <a:gd name="connsiteX29-59" fmla="*/ 3753 w 10000"/>
              <a:gd name="connsiteY29-60" fmla="*/ 8718 h 10000"/>
              <a:gd name="connsiteX30-61" fmla="*/ 3594 w 10000"/>
              <a:gd name="connsiteY30-62" fmla="*/ 9138 h 10000"/>
              <a:gd name="connsiteX31-63" fmla="*/ 2618 w 10000"/>
              <a:gd name="connsiteY31-64" fmla="*/ 9587 h 10000"/>
              <a:gd name="connsiteX32-65" fmla="*/ 1966 w 10000"/>
              <a:gd name="connsiteY32-66" fmla="*/ 9687 h 10000"/>
              <a:gd name="connsiteX33-67" fmla="*/ 1471 w 10000"/>
              <a:gd name="connsiteY33-68" fmla="*/ 9934 h 10000"/>
              <a:gd name="connsiteX34-69" fmla="*/ 2899 w 10000"/>
              <a:gd name="connsiteY34-70" fmla="*/ 9998 h 10000"/>
              <a:gd name="connsiteX35-71" fmla="*/ 6656 w 10000"/>
              <a:gd name="connsiteY35-72" fmla="*/ 9953 h 10000"/>
              <a:gd name="connsiteX36-73" fmla="*/ 7345 w 10000"/>
              <a:gd name="connsiteY36-74" fmla="*/ 9982 h 10000"/>
              <a:gd name="connsiteX37-75" fmla="*/ 7435 w 10000"/>
              <a:gd name="connsiteY37-76" fmla="*/ 9805 h 10000"/>
              <a:gd name="connsiteX38-77" fmla="*/ 7328 w 10000"/>
              <a:gd name="connsiteY38-78" fmla="*/ 9757 h 10000"/>
              <a:gd name="connsiteX39-79" fmla="*/ 6676 w 10000"/>
              <a:gd name="connsiteY39-80" fmla="*/ 9649 h 10000"/>
              <a:gd name="connsiteX40-81" fmla="*/ 5392 w 10000"/>
              <a:gd name="connsiteY40-82" fmla="*/ 9229 h 10000"/>
              <a:gd name="connsiteX41-83" fmla="*/ 5222 w 10000"/>
              <a:gd name="connsiteY41-84" fmla="*/ 8811 h 10000"/>
              <a:gd name="connsiteX42-85" fmla="*/ 5183 w 10000"/>
              <a:gd name="connsiteY42-86" fmla="*/ 7437 h 10000"/>
              <a:gd name="connsiteX43-87" fmla="*/ 5192 w 10000"/>
              <a:gd name="connsiteY43-88" fmla="*/ 6897 h 10000"/>
              <a:gd name="connsiteX44-89" fmla="*/ 5356 w 10000"/>
              <a:gd name="connsiteY44-90" fmla="*/ 6741 h 10000"/>
              <a:gd name="connsiteX45-91" fmla="*/ 7720 w 10000"/>
              <a:gd name="connsiteY45-92" fmla="*/ 6007 h 10000"/>
              <a:gd name="connsiteX46-93" fmla="*/ 9982 w 10000"/>
              <a:gd name="connsiteY46-94" fmla="*/ 5810 h 10000"/>
              <a:gd name="connsiteX47-95" fmla="*/ 10000 w 10000"/>
              <a:gd name="connsiteY47-96" fmla="*/ 5823 h 10000"/>
              <a:gd name="connsiteX48-97" fmla="*/ 9985 w 10000"/>
              <a:gd name="connsiteY48-98" fmla="*/ 5617 h 10000"/>
              <a:gd name="connsiteX49-99" fmla="*/ 9988 w 10000"/>
              <a:gd name="connsiteY49-100" fmla="*/ 5533 h 10000"/>
              <a:gd name="connsiteX50-101" fmla="*/ 9941 w 10000"/>
              <a:gd name="connsiteY50-102" fmla="*/ 5602 h 10000"/>
              <a:gd name="connsiteX51-103" fmla="*/ 9553 w 10000"/>
              <a:gd name="connsiteY51-104" fmla="*/ 5632 h 10000"/>
              <a:gd name="connsiteX52-105" fmla="*/ 6000 w 10000"/>
              <a:gd name="connsiteY52-106" fmla="*/ 6024 h 10000"/>
              <a:gd name="connsiteX53-107" fmla="*/ 5138 w 10000"/>
              <a:gd name="connsiteY53-108" fmla="*/ 6131 h 10000"/>
              <a:gd name="connsiteX54-109" fmla="*/ 4956 w 10000"/>
              <a:gd name="connsiteY54-110" fmla="*/ 4957 h 10000"/>
              <a:gd name="connsiteX55-111" fmla="*/ 5535 w 10000"/>
              <a:gd name="connsiteY55-112" fmla="*/ 4276 h 10000"/>
              <a:gd name="connsiteX56-113" fmla="*/ 8583 w 10000"/>
              <a:gd name="connsiteY56-114" fmla="*/ 3265 h 10000"/>
              <a:gd name="connsiteX57-115" fmla="*/ 9138 w 10000"/>
              <a:gd name="connsiteY57-116" fmla="*/ 3182 h 10000"/>
              <a:gd name="connsiteX58-117" fmla="*/ 9040 w 10000"/>
              <a:gd name="connsiteY58-118" fmla="*/ 3035 h 10000"/>
              <a:gd name="connsiteX59-119" fmla="*/ 9020 w 10000"/>
              <a:gd name="connsiteY59-120" fmla="*/ 3062 h 10000"/>
              <a:gd name="connsiteX60-121" fmla="*/ 8390 w 10000"/>
              <a:gd name="connsiteY60-122" fmla="*/ 3163 h 10000"/>
              <a:gd name="connsiteX61-123" fmla="*/ 6398 w 10000"/>
              <a:gd name="connsiteY61-124" fmla="*/ 3571 h 10000"/>
              <a:gd name="connsiteX62-125" fmla="*/ 5514 w 10000"/>
              <a:gd name="connsiteY62-126" fmla="*/ 3930 h 10000"/>
              <a:gd name="connsiteX63-127" fmla="*/ 4879 w 10000"/>
              <a:gd name="connsiteY63-128" fmla="*/ 4104 h 10000"/>
              <a:gd name="connsiteX64-129" fmla="*/ 4830 w 10000"/>
              <a:gd name="connsiteY64-130" fmla="*/ 3863 h 10000"/>
              <a:gd name="connsiteX65-131" fmla="*/ 5158 w 10000"/>
              <a:gd name="connsiteY65-132" fmla="*/ 3435 h 10000"/>
              <a:gd name="connsiteX66-133" fmla="*/ 6676 w 10000"/>
              <a:gd name="connsiteY66-134" fmla="*/ 1646 h 10000"/>
              <a:gd name="connsiteX67-135" fmla="*/ 6791 w 10000"/>
              <a:gd name="connsiteY67-136" fmla="*/ 1464 h 10000"/>
              <a:gd name="connsiteX68-137" fmla="*/ 6647 w 10000"/>
              <a:gd name="connsiteY68-138" fmla="*/ 1377 h 10000"/>
              <a:gd name="connsiteX69-139" fmla="*/ 5719 w 10000"/>
              <a:gd name="connsiteY69-140" fmla="*/ 2647 h 10000"/>
              <a:gd name="connsiteX70-141" fmla="*/ 4735 w 10000"/>
              <a:gd name="connsiteY70-142" fmla="*/ 3350 h 10000"/>
              <a:gd name="connsiteX71-143" fmla="*/ 4695 w 10000"/>
              <a:gd name="connsiteY71-144" fmla="*/ 3074 h 10000"/>
              <a:gd name="connsiteX72-145" fmla="*/ 4797 w 10000"/>
              <a:gd name="connsiteY72-146" fmla="*/ 2472 h 10000"/>
              <a:gd name="connsiteX73-147" fmla="*/ 4984 w 10000"/>
              <a:gd name="connsiteY73-148" fmla="*/ 780 h 10000"/>
              <a:gd name="connsiteX74-149" fmla="*/ 4929 w 10000"/>
              <a:gd name="connsiteY74-150" fmla="*/ 121 h 10000"/>
              <a:gd name="connsiteX75-151" fmla="*/ 4905 w 10000"/>
              <a:gd name="connsiteY75-152" fmla="*/ 1 h 10000"/>
              <a:gd name="connsiteX76-153" fmla="*/ 4790 w 10000"/>
              <a:gd name="connsiteY76-154" fmla="*/ 4 h 10000"/>
              <a:gd name="connsiteX77-155" fmla="*/ 4660 w 10000"/>
              <a:gd name="connsiteY77-156" fmla="*/ 0 h 10000"/>
              <a:gd name="connsiteX0-157" fmla="*/ 4660 w 10000"/>
              <a:gd name="connsiteY0-158" fmla="*/ 0 h 10000"/>
              <a:gd name="connsiteX1-159" fmla="*/ 4818 w 10000"/>
              <a:gd name="connsiteY1-160" fmla="*/ 529 h 10000"/>
              <a:gd name="connsiteX2-161" fmla="*/ 4618 w 10000"/>
              <a:gd name="connsiteY2-162" fmla="*/ 2186 h 10000"/>
              <a:gd name="connsiteX3-163" fmla="*/ 4245 w 10000"/>
              <a:gd name="connsiteY3-164" fmla="*/ 2706 h 10000"/>
              <a:gd name="connsiteX4-165" fmla="*/ 3341 w 10000"/>
              <a:gd name="connsiteY4-166" fmla="*/ 1224 h 10000"/>
              <a:gd name="connsiteX5-167" fmla="*/ 3052 w 10000"/>
              <a:gd name="connsiteY5-168" fmla="*/ 872 h 10000"/>
              <a:gd name="connsiteX6-169" fmla="*/ 3053 w 10000"/>
              <a:gd name="connsiteY6-170" fmla="*/ 828 h 10000"/>
              <a:gd name="connsiteX7-171" fmla="*/ 2933 w 10000"/>
              <a:gd name="connsiteY7-172" fmla="*/ 968 h 10000"/>
              <a:gd name="connsiteX8-173" fmla="*/ 3664 w 10000"/>
              <a:gd name="connsiteY8-174" fmla="*/ 2023 h 10000"/>
              <a:gd name="connsiteX9-175" fmla="*/ 4246 w 10000"/>
              <a:gd name="connsiteY9-176" fmla="*/ 3672 h 10000"/>
              <a:gd name="connsiteX10-177" fmla="*/ 4092 w 10000"/>
              <a:gd name="connsiteY10-178" fmla="*/ 4195 h 10000"/>
              <a:gd name="connsiteX11-179" fmla="*/ 3718 w 10000"/>
              <a:gd name="connsiteY11-180" fmla="*/ 4032 h 10000"/>
              <a:gd name="connsiteX12-181" fmla="*/ 2403 w 10000"/>
              <a:gd name="connsiteY12-182" fmla="*/ 3274 h 10000"/>
              <a:gd name="connsiteX13-183" fmla="*/ 895 w 10000"/>
              <a:gd name="connsiteY13-184" fmla="*/ 2724 h 10000"/>
              <a:gd name="connsiteX14-185" fmla="*/ 703 w 10000"/>
              <a:gd name="connsiteY14-186" fmla="*/ 2634 h 10000"/>
              <a:gd name="connsiteX15-187" fmla="*/ 629 w 10000"/>
              <a:gd name="connsiteY15-188" fmla="*/ 2827 h 10000"/>
              <a:gd name="connsiteX16-189" fmla="*/ 661 w 10000"/>
              <a:gd name="connsiteY16-190" fmla="*/ 2820 h 10000"/>
              <a:gd name="connsiteX17-191" fmla="*/ 2618 w 10000"/>
              <a:gd name="connsiteY17-192" fmla="*/ 3584 h 10000"/>
              <a:gd name="connsiteX18-193" fmla="*/ 3826 w 10000"/>
              <a:gd name="connsiteY18-194" fmla="*/ 4576 h 10000"/>
              <a:gd name="connsiteX19-195" fmla="*/ 3997 w 10000"/>
              <a:gd name="connsiteY19-196" fmla="*/ 5111 h 10000"/>
              <a:gd name="connsiteX20-197" fmla="*/ 3863 w 10000"/>
              <a:gd name="connsiteY20-198" fmla="*/ 6187 h 10000"/>
              <a:gd name="connsiteX21-199" fmla="*/ 3572 w 10000"/>
              <a:gd name="connsiteY21-200" fmla="*/ 6127 h 10000"/>
              <a:gd name="connsiteX22-201" fmla="*/ 671 w 10000"/>
              <a:gd name="connsiteY22-202" fmla="*/ 5657 h 10000"/>
              <a:gd name="connsiteX23-203" fmla="*/ 20 w 10000"/>
              <a:gd name="connsiteY23-204" fmla="*/ 5599 h 10000"/>
              <a:gd name="connsiteX24-205" fmla="*/ 20 w 10000"/>
              <a:gd name="connsiteY24-206" fmla="*/ 5607 h 10000"/>
              <a:gd name="connsiteX25-207" fmla="*/ 0 w 10000"/>
              <a:gd name="connsiteY25-208" fmla="*/ 5858 h 10000"/>
              <a:gd name="connsiteX26-209" fmla="*/ 383 w 10000"/>
              <a:gd name="connsiteY26-210" fmla="*/ 5862 h 10000"/>
              <a:gd name="connsiteX27-211" fmla="*/ 3654 w 10000"/>
              <a:gd name="connsiteY27-212" fmla="*/ 6618 h 10000"/>
              <a:gd name="connsiteX28-213" fmla="*/ 3897 w 10000"/>
              <a:gd name="connsiteY28-214" fmla="*/ 7006 h 10000"/>
              <a:gd name="connsiteX29-215" fmla="*/ 3753 w 10000"/>
              <a:gd name="connsiteY29-216" fmla="*/ 8718 h 10000"/>
              <a:gd name="connsiteX30-217" fmla="*/ 3594 w 10000"/>
              <a:gd name="connsiteY30-218" fmla="*/ 9138 h 10000"/>
              <a:gd name="connsiteX31-219" fmla="*/ 2618 w 10000"/>
              <a:gd name="connsiteY31-220" fmla="*/ 9587 h 10000"/>
              <a:gd name="connsiteX32-221" fmla="*/ 1966 w 10000"/>
              <a:gd name="connsiteY32-222" fmla="*/ 9687 h 10000"/>
              <a:gd name="connsiteX33-223" fmla="*/ 1471 w 10000"/>
              <a:gd name="connsiteY33-224" fmla="*/ 9934 h 10000"/>
              <a:gd name="connsiteX34-225" fmla="*/ 2899 w 10000"/>
              <a:gd name="connsiteY34-226" fmla="*/ 9998 h 10000"/>
              <a:gd name="connsiteX35-227" fmla="*/ 6656 w 10000"/>
              <a:gd name="connsiteY35-228" fmla="*/ 9953 h 10000"/>
              <a:gd name="connsiteX36-229" fmla="*/ 7345 w 10000"/>
              <a:gd name="connsiteY36-230" fmla="*/ 9982 h 10000"/>
              <a:gd name="connsiteX37-231" fmla="*/ 7571 w 10000"/>
              <a:gd name="connsiteY37-232" fmla="*/ 9967 h 10000"/>
              <a:gd name="connsiteX38-233" fmla="*/ 7328 w 10000"/>
              <a:gd name="connsiteY38-234" fmla="*/ 9757 h 10000"/>
              <a:gd name="connsiteX39-235" fmla="*/ 6676 w 10000"/>
              <a:gd name="connsiteY39-236" fmla="*/ 9649 h 10000"/>
              <a:gd name="connsiteX40-237" fmla="*/ 5392 w 10000"/>
              <a:gd name="connsiteY40-238" fmla="*/ 9229 h 10000"/>
              <a:gd name="connsiteX41-239" fmla="*/ 5222 w 10000"/>
              <a:gd name="connsiteY41-240" fmla="*/ 8811 h 10000"/>
              <a:gd name="connsiteX42-241" fmla="*/ 5183 w 10000"/>
              <a:gd name="connsiteY42-242" fmla="*/ 7437 h 10000"/>
              <a:gd name="connsiteX43-243" fmla="*/ 5192 w 10000"/>
              <a:gd name="connsiteY43-244" fmla="*/ 6897 h 10000"/>
              <a:gd name="connsiteX44-245" fmla="*/ 5356 w 10000"/>
              <a:gd name="connsiteY44-246" fmla="*/ 6741 h 10000"/>
              <a:gd name="connsiteX45-247" fmla="*/ 7720 w 10000"/>
              <a:gd name="connsiteY45-248" fmla="*/ 6007 h 10000"/>
              <a:gd name="connsiteX46-249" fmla="*/ 9982 w 10000"/>
              <a:gd name="connsiteY46-250" fmla="*/ 5810 h 10000"/>
              <a:gd name="connsiteX47-251" fmla="*/ 10000 w 10000"/>
              <a:gd name="connsiteY47-252" fmla="*/ 5823 h 10000"/>
              <a:gd name="connsiteX48-253" fmla="*/ 9985 w 10000"/>
              <a:gd name="connsiteY48-254" fmla="*/ 5617 h 10000"/>
              <a:gd name="connsiteX49-255" fmla="*/ 9988 w 10000"/>
              <a:gd name="connsiteY49-256" fmla="*/ 5533 h 10000"/>
              <a:gd name="connsiteX50-257" fmla="*/ 9941 w 10000"/>
              <a:gd name="connsiteY50-258" fmla="*/ 5602 h 10000"/>
              <a:gd name="connsiteX51-259" fmla="*/ 9553 w 10000"/>
              <a:gd name="connsiteY51-260" fmla="*/ 5632 h 10000"/>
              <a:gd name="connsiteX52-261" fmla="*/ 6000 w 10000"/>
              <a:gd name="connsiteY52-262" fmla="*/ 6024 h 10000"/>
              <a:gd name="connsiteX53-263" fmla="*/ 5138 w 10000"/>
              <a:gd name="connsiteY53-264" fmla="*/ 6131 h 10000"/>
              <a:gd name="connsiteX54-265" fmla="*/ 4956 w 10000"/>
              <a:gd name="connsiteY54-266" fmla="*/ 4957 h 10000"/>
              <a:gd name="connsiteX55-267" fmla="*/ 5535 w 10000"/>
              <a:gd name="connsiteY55-268" fmla="*/ 4276 h 10000"/>
              <a:gd name="connsiteX56-269" fmla="*/ 8583 w 10000"/>
              <a:gd name="connsiteY56-270" fmla="*/ 3265 h 10000"/>
              <a:gd name="connsiteX57-271" fmla="*/ 9138 w 10000"/>
              <a:gd name="connsiteY57-272" fmla="*/ 3182 h 10000"/>
              <a:gd name="connsiteX58-273" fmla="*/ 9040 w 10000"/>
              <a:gd name="connsiteY58-274" fmla="*/ 3035 h 10000"/>
              <a:gd name="connsiteX59-275" fmla="*/ 9020 w 10000"/>
              <a:gd name="connsiteY59-276" fmla="*/ 3062 h 10000"/>
              <a:gd name="connsiteX60-277" fmla="*/ 8390 w 10000"/>
              <a:gd name="connsiteY60-278" fmla="*/ 3163 h 10000"/>
              <a:gd name="connsiteX61-279" fmla="*/ 6398 w 10000"/>
              <a:gd name="connsiteY61-280" fmla="*/ 3571 h 10000"/>
              <a:gd name="connsiteX62-281" fmla="*/ 5514 w 10000"/>
              <a:gd name="connsiteY62-282" fmla="*/ 3930 h 10000"/>
              <a:gd name="connsiteX63-283" fmla="*/ 4879 w 10000"/>
              <a:gd name="connsiteY63-284" fmla="*/ 4104 h 10000"/>
              <a:gd name="connsiteX64-285" fmla="*/ 4830 w 10000"/>
              <a:gd name="connsiteY64-286" fmla="*/ 3863 h 10000"/>
              <a:gd name="connsiteX65-287" fmla="*/ 5158 w 10000"/>
              <a:gd name="connsiteY65-288" fmla="*/ 3435 h 10000"/>
              <a:gd name="connsiteX66-289" fmla="*/ 6676 w 10000"/>
              <a:gd name="connsiteY66-290" fmla="*/ 1646 h 10000"/>
              <a:gd name="connsiteX67-291" fmla="*/ 6791 w 10000"/>
              <a:gd name="connsiteY67-292" fmla="*/ 1464 h 10000"/>
              <a:gd name="connsiteX68-293" fmla="*/ 6647 w 10000"/>
              <a:gd name="connsiteY68-294" fmla="*/ 1377 h 10000"/>
              <a:gd name="connsiteX69-295" fmla="*/ 5719 w 10000"/>
              <a:gd name="connsiteY69-296" fmla="*/ 2647 h 10000"/>
              <a:gd name="connsiteX70-297" fmla="*/ 4735 w 10000"/>
              <a:gd name="connsiteY70-298" fmla="*/ 3350 h 10000"/>
              <a:gd name="connsiteX71-299" fmla="*/ 4695 w 10000"/>
              <a:gd name="connsiteY71-300" fmla="*/ 3074 h 10000"/>
              <a:gd name="connsiteX72-301" fmla="*/ 4797 w 10000"/>
              <a:gd name="connsiteY72-302" fmla="*/ 2472 h 10000"/>
              <a:gd name="connsiteX73-303" fmla="*/ 4984 w 10000"/>
              <a:gd name="connsiteY73-304" fmla="*/ 780 h 10000"/>
              <a:gd name="connsiteX74-305" fmla="*/ 4929 w 10000"/>
              <a:gd name="connsiteY74-306" fmla="*/ 121 h 10000"/>
              <a:gd name="connsiteX75-307" fmla="*/ 4905 w 10000"/>
              <a:gd name="connsiteY75-308" fmla="*/ 1 h 10000"/>
              <a:gd name="connsiteX76-309" fmla="*/ 4790 w 10000"/>
              <a:gd name="connsiteY76-310" fmla="*/ 4 h 10000"/>
              <a:gd name="connsiteX77-311" fmla="*/ 4660 w 10000"/>
              <a:gd name="connsiteY77-312" fmla="*/ 0 h 10000"/>
              <a:gd name="connsiteX0-313" fmla="*/ 4660 w 10000"/>
              <a:gd name="connsiteY0-314" fmla="*/ 0 h 10000"/>
              <a:gd name="connsiteX1-315" fmla="*/ 4818 w 10000"/>
              <a:gd name="connsiteY1-316" fmla="*/ 529 h 10000"/>
              <a:gd name="connsiteX2-317" fmla="*/ 4618 w 10000"/>
              <a:gd name="connsiteY2-318" fmla="*/ 2186 h 10000"/>
              <a:gd name="connsiteX3-319" fmla="*/ 4245 w 10000"/>
              <a:gd name="connsiteY3-320" fmla="*/ 2706 h 10000"/>
              <a:gd name="connsiteX4-321" fmla="*/ 3341 w 10000"/>
              <a:gd name="connsiteY4-322" fmla="*/ 1224 h 10000"/>
              <a:gd name="connsiteX5-323" fmla="*/ 3052 w 10000"/>
              <a:gd name="connsiteY5-324" fmla="*/ 872 h 10000"/>
              <a:gd name="connsiteX6-325" fmla="*/ 3053 w 10000"/>
              <a:gd name="connsiteY6-326" fmla="*/ 828 h 10000"/>
              <a:gd name="connsiteX7-327" fmla="*/ 2933 w 10000"/>
              <a:gd name="connsiteY7-328" fmla="*/ 968 h 10000"/>
              <a:gd name="connsiteX8-329" fmla="*/ 3664 w 10000"/>
              <a:gd name="connsiteY8-330" fmla="*/ 2023 h 10000"/>
              <a:gd name="connsiteX9-331" fmla="*/ 4246 w 10000"/>
              <a:gd name="connsiteY9-332" fmla="*/ 3672 h 10000"/>
              <a:gd name="connsiteX10-333" fmla="*/ 4092 w 10000"/>
              <a:gd name="connsiteY10-334" fmla="*/ 4195 h 10000"/>
              <a:gd name="connsiteX11-335" fmla="*/ 3718 w 10000"/>
              <a:gd name="connsiteY11-336" fmla="*/ 4032 h 10000"/>
              <a:gd name="connsiteX12-337" fmla="*/ 2403 w 10000"/>
              <a:gd name="connsiteY12-338" fmla="*/ 3274 h 10000"/>
              <a:gd name="connsiteX13-339" fmla="*/ 895 w 10000"/>
              <a:gd name="connsiteY13-340" fmla="*/ 2724 h 10000"/>
              <a:gd name="connsiteX14-341" fmla="*/ 703 w 10000"/>
              <a:gd name="connsiteY14-342" fmla="*/ 2634 h 10000"/>
              <a:gd name="connsiteX15-343" fmla="*/ 629 w 10000"/>
              <a:gd name="connsiteY15-344" fmla="*/ 2827 h 10000"/>
              <a:gd name="connsiteX16-345" fmla="*/ 661 w 10000"/>
              <a:gd name="connsiteY16-346" fmla="*/ 2820 h 10000"/>
              <a:gd name="connsiteX17-347" fmla="*/ 2618 w 10000"/>
              <a:gd name="connsiteY17-348" fmla="*/ 3584 h 10000"/>
              <a:gd name="connsiteX18-349" fmla="*/ 3826 w 10000"/>
              <a:gd name="connsiteY18-350" fmla="*/ 4576 h 10000"/>
              <a:gd name="connsiteX19-351" fmla="*/ 3997 w 10000"/>
              <a:gd name="connsiteY19-352" fmla="*/ 5111 h 10000"/>
              <a:gd name="connsiteX20-353" fmla="*/ 3863 w 10000"/>
              <a:gd name="connsiteY20-354" fmla="*/ 6187 h 10000"/>
              <a:gd name="connsiteX21-355" fmla="*/ 3572 w 10000"/>
              <a:gd name="connsiteY21-356" fmla="*/ 6127 h 10000"/>
              <a:gd name="connsiteX22-357" fmla="*/ 671 w 10000"/>
              <a:gd name="connsiteY22-358" fmla="*/ 5657 h 10000"/>
              <a:gd name="connsiteX23-359" fmla="*/ 20 w 10000"/>
              <a:gd name="connsiteY23-360" fmla="*/ 5599 h 10000"/>
              <a:gd name="connsiteX24-361" fmla="*/ 20 w 10000"/>
              <a:gd name="connsiteY24-362" fmla="*/ 5607 h 10000"/>
              <a:gd name="connsiteX25-363" fmla="*/ 0 w 10000"/>
              <a:gd name="connsiteY25-364" fmla="*/ 5858 h 10000"/>
              <a:gd name="connsiteX26-365" fmla="*/ 383 w 10000"/>
              <a:gd name="connsiteY26-366" fmla="*/ 5862 h 10000"/>
              <a:gd name="connsiteX27-367" fmla="*/ 3654 w 10000"/>
              <a:gd name="connsiteY27-368" fmla="*/ 6618 h 10000"/>
              <a:gd name="connsiteX28-369" fmla="*/ 3897 w 10000"/>
              <a:gd name="connsiteY28-370" fmla="*/ 7006 h 10000"/>
              <a:gd name="connsiteX29-371" fmla="*/ 3753 w 10000"/>
              <a:gd name="connsiteY29-372" fmla="*/ 8718 h 10000"/>
              <a:gd name="connsiteX30-373" fmla="*/ 3594 w 10000"/>
              <a:gd name="connsiteY30-374" fmla="*/ 9138 h 10000"/>
              <a:gd name="connsiteX31-375" fmla="*/ 2618 w 10000"/>
              <a:gd name="connsiteY31-376" fmla="*/ 9587 h 10000"/>
              <a:gd name="connsiteX32-377" fmla="*/ 1966 w 10000"/>
              <a:gd name="connsiteY32-378" fmla="*/ 9687 h 10000"/>
              <a:gd name="connsiteX33-379" fmla="*/ 1471 w 10000"/>
              <a:gd name="connsiteY33-380" fmla="*/ 9934 h 10000"/>
              <a:gd name="connsiteX34-381" fmla="*/ 2899 w 10000"/>
              <a:gd name="connsiteY34-382" fmla="*/ 9998 h 10000"/>
              <a:gd name="connsiteX35-383" fmla="*/ 7345 w 10000"/>
              <a:gd name="connsiteY35-384" fmla="*/ 9982 h 10000"/>
              <a:gd name="connsiteX36-385" fmla="*/ 7571 w 10000"/>
              <a:gd name="connsiteY36-386" fmla="*/ 9967 h 10000"/>
              <a:gd name="connsiteX37-387" fmla="*/ 7328 w 10000"/>
              <a:gd name="connsiteY37-388" fmla="*/ 9757 h 10000"/>
              <a:gd name="connsiteX38-389" fmla="*/ 6676 w 10000"/>
              <a:gd name="connsiteY38-390" fmla="*/ 9649 h 10000"/>
              <a:gd name="connsiteX39-391" fmla="*/ 5392 w 10000"/>
              <a:gd name="connsiteY39-392" fmla="*/ 9229 h 10000"/>
              <a:gd name="connsiteX40-393" fmla="*/ 5222 w 10000"/>
              <a:gd name="connsiteY40-394" fmla="*/ 8811 h 10000"/>
              <a:gd name="connsiteX41-395" fmla="*/ 5183 w 10000"/>
              <a:gd name="connsiteY41-396" fmla="*/ 7437 h 10000"/>
              <a:gd name="connsiteX42-397" fmla="*/ 5192 w 10000"/>
              <a:gd name="connsiteY42-398" fmla="*/ 6897 h 10000"/>
              <a:gd name="connsiteX43-399" fmla="*/ 5356 w 10000"/>
              <a:gd name="connsiteY43-400" fmla="*/ 6741 h 10000"/>
              <a:gd name="connsiteX44-401" fmla="*/ 7720 w 10000"/>
              <a:gd name="connsiteY44-402" fmla="*/ 6007 h 10000"/>
              <a:gd name="connsiteX45-403" fmla="*/ 9982 w 10000"/>
              <a:gd name="connsiteY45-404" fmla="*/ 5810 h 10000"/>
              <a:gd name="connsiteX46-405" fmla="*/ 10000 w 10000"/>
              <a:gd name="connsiteY46-406" fmla="*/ 5823 h 10000"/>
              <a:gd name="connsiteX47-407" fmla="*/ 9985 w 10000"/>
              <a:gd name="connsiteY47-408" fmla="*/ 5617 h 10000"/>
              <a:gd name="connsiteX48-409" fmla="*/ 9988 w 10000"/>
              <a:gd name="connsiteY48-410" fmla="*/ 5533 h 10000"/>
              <a:gd name="connsiteX49-411" fmla="*/ 9941 w 10000"/>
              <a:gd name="connsiteY49-412" fmla="*/ 5602 h 10000"/>
              <a:gd name="connsiteX50-413" fmla="*/ 9553 w 10000"/>
              <a:gd name="connsiteY50-414" fmla="*/ 5632 h 10000"/>
              <a:gd name="connsiteX51-415" fmla="*/ 6000 w 10000"/>
              <a:gd name="connsiteY51-416" fmla="*/ 6024 h 10000"/>
              <a:gd name="connsiteX52-417" fmla="*/ 5138 w 10000"/>
              <a:gd name="connsiteY52-418" fmla="*/ 6131 h 10000"/>
              <a:gd name="connsiteX53-419" fmla="*/ 4956 w 10000"/>
              <a:gd name="connsiteY53-420" fmla="*/ 4957 h 10000"/>
              <a:gd name="connsiteX54-421" fmla="*/ 5535 w 10000"/>
              <a:gd name="connsiteY54-422" fmla="*/ 4276 h 10000"/>
              <a:gd name="connsiteX55-423" fmla="*/ 8583 w 10000"/>
              <a:gd name="connsiteY55-424" fmla="*/ 3265 h 10000"/>
              <a:gd name="connsiteX56-425" fmla="*/ 9138 w 10000"/>
              <a:gd name="connsiteY56-426" fmla="*/ 3182 h 10000"/>
              <a:gd name="connsiteX57-427" fmla="*/ 9040 w 10000"/>
              <a:gd name="connsiteY57-428" fmla="*/ 3035 h 10000"/>
              <a:gd name="connsiteX58-429" fmla="*/ 9020 w 10000"/>
              <a:gd name="connsiteY58-430" fmla="*/ 3062 h 10000"/>
              <a:gd name="connsiteX59-431" fmla="*/ 8390 w 10000"/>
              <a:gd name="connsiteY59-432" fmla="*/ 3163 h 10000"/>
              <a:gd name="connsiteX60-433" fmla="*/ 6398 w 10000"/>
              <a:gd name="connsiteY60-434" fmla="*/ 3571 h 10000"/>
              <a:gd name="connsiteX61-435" fmla="*/ 5514 w 10000"/>
              <a:gd name="connsiteY61-436" fmla="*/ 3930 h 10000"/>
              <a:gd name="connsiteX62-437" fmla="*/ 4879 w 10000"/>
              <a:gd name="connsiteY62-438" fmla="*/ 4104 h 10000"/>
              <a:gd name="connsiteX63-439" fmla="*/ 4830 w 10000"/>
              <a:gd name="connsiteY63-440" fmla="*/ 3863 h 10000"/>
              <a:gd name="connsiteX64-441" fmla="*/ 5158 w 10000"/>
              <a:gd name="connsiteY64-442" fmla="*/ 3435 h 10000"/>
              <a:gd name="connsiteX65-443" fmla="*/ 6676 w 10000"/>
              <a:gd name="connsiteY65-444" fmla="*/ 1646 h 10000"/>
              <a:gd name="connsiteX66-445" fmla="*/ 6791 w 10000"/>
              <a:gd name="connsiteY66-446" fmla="*/ 1464 h 10000"/>
              <a:gd name="connsiteX67-447" fmla="*/ 6647 w 10000"/>
              <a:gd name="connsiteY67-448" fmla="*/ 1377 h 10000"/>
              <a:gd name="connsiteX68-449" fmla="*/ 5719 w 10000"/>
              <a:gd name="connsiteY68-450" fmla="*/ 2647 h 10000"/>
              <a:gd name="connsiteX69-451" fmla="*/ 4735 w 10000"/>
              <a:gd name="connsiteY69-452" fmla="*/ 3350 h 10000"/>
              <a:gd name="connsiteX70-453" fmla="*/ 4695 w 10000"/>
              <a:gd name="connsiteY70-454" fmla="*/ 3074 h 10000"/>
              <a:gd name="connsiteX71-455" fmla="*/ 4797 w 10000"/>
              <a:gd name="connsiteY71-456" fmla="*/ 2472 h 10000"/>
              <a:gd name="connsiteX72-457" fmla="*/ 4984 w 10000"/>
              <a:gd name="connsiteY72-458" fmla="*/ 780 h 10000"/>
              <a:gd name="connsiteX73-459" fmla="*/ 4929 w 10000"/>
              <a:gd name="connsiteY73-460" fmla="*/ 121 h 10000"/>
              <a:gd name="connsiteX74-461" fmla="*/ 4905 w 10000"/>
              <a:gd name="connsiteY74-462" fmla="*/ 1 h 10000"/>
              <a:gd name="connsiteX75-463" fmla="*/ 4790 w 10000"/>
              <a:gd name="connsiteY75-464" fmla="*/ 4 h 10000"/>
              <a:gd name="connsiteX76-465" fmla="*/ 4660 w 10000"/>
              <a:gd name="connsiteY76-466"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Lst>
            <a:rect l="l" t="t" r="r" b="b"/>
            <a:pathLst>
              <a:path w="10000" h="10000">
                <a:moveTo>
                  <a:pt x="4660" y="0"/>
                </a:moveTo>
                <a:cubicBezTo>
                  <a:pt x="4753" y="60"/>
                  <a:pt x="4782" y="194"/>
                  <a:pt x="4818" y="529"/>
                </a:cubicBezTo>
                <a:cubicBezTo>
                  <a:pt x="4869" y="974"/>
                  <a:pt x="4837" y="1238"/>
                  <a:pt x="4618" y="2186"/>
                </a:cubicBezTo>
                <a:cubicBezTo>
                  <a:pt x="4414" y="3083"/>
                  <a:pt x="4415" y="3078"/>
                  <a:pt x="4245" y="2706"/>
                </a:cubicBezTo>
                <a:cubicBezTo>
                  <a:pt x="4037" y="2257"/>
                  <a:pt x="3595" y="1531"/>
                  <a:pt x="3341" y="1224"/>
                </a:cubicBezTo>
                <a:cubicBezTo>
                  <a:pt x="3199" y="1055"/>
                  <a:pt x="3068" y="895"/>
                  <a:pt x="3052" y="872"/>
                </a:cubicBezTo>
                <a:cubicBezTo>
                  <a:pt x="3047" y="866"/>
                  <a:pt x="3048" y="849"/>
                  <a:pt x="3053" y="828"/>
                </a:cubicBezTo>
                <a:cubicBezTo>
                  <a:pt x="3015" y="878"/>
                  <a:pt x="2976" y="924"/>
                  <a:pt x="2933" y="968"/>
                </a:cubicBezTo>
                <a:cubicBezTo>
                  <a:pt x="3042" y="1044"/>
                  <a:pt x="3437" y="1616"/>
                  <a:pt x="3664" y="2023"/>
                </a:cubicBezTo>
                <a:cubicBezTo>
                  <a:pt x="3925" y="2491"/>
                  <a:pt x="4248" y="3409"/>
                  <a:pt x="4246" y="3672"/>
                </a:cubicBezTo>
                <a:cubicBezTo>
                  <a:pt x="4245" y="3880"/>
                  <a:pt x="4173" y="4126"/>
                  <a:pt x="4092" y="4195"/>
                </a:cubicBezTo>
                <a:cubicBezTo>
                  <a:pt x="4030" y="4248"/>
                  <a:pt x="3985" y="4228"/>
                  <a:pt x="3718" y="4032"/>
                </a:cubicBezTo>
                <a:cubicBezTo>
                  <a:pt x="3309" y="3734"/>
                  <a:pt x="2938" y="3520"/>
                  <a:pt x="2403" y="3274"/>
                </a:cubicBezTo>
                <a:cubicBezTo>
                  <a:pt x="1986" y="3083"/>
                  <a:pt x="1161" y="2781"/>
                  <a:pt x="895" y="2724"/>
                </a:cubicBezTo>
                <a:cubicBezTo>
                  <a:pt x="786" y="2699"/>
                  <a:pt x="728" y="2682"/>
                  <a:pt x="703" y="2634"/>
                </a:cubicBezTo>
                <a:cubicBezTo>
                  <a:pt x="683" y="2699"/>
                  <a:pt x="658" y="2764"/>
                  <a:pt x="629" y="2827"/>
                </a:cubicBezTo>
                <a:cubicBezTo>
                  <a:pt x="641" y="2822"/>
                  <a:pt x="651" y="2820"/>
                  <a:pt x="661" y="2820"/>
                </a:cubicBezTo>
                <a:cubicBezTo>
                  <a:pt x="919" y="2820"/>
                  <a:pt x="2014" y="3247"/>
                  <a:pt x="2618" y="3584"/>
                </a:cubicBezTo>
                <a:cubicBezTo>
                  <a:pt x="3013" y="3804"/>
                  <a:pt x="3627" y="4308"/>
                  <a:pt x="3826" y="4576"/>
                </a:cubicBezTo>
                <a:cubicBezTo>
                  <a:pt x="3945" y="4738"/>
                  <a:pt x="3974" y="4824"/>
                  <a:pt x="3997" y="5111"/>
                </a:cubicBezTo>
                <a:cubicBezTo>
                  <a:pt x="4027" y="5467"/>
                  <a:pt x="3942" y="6145"/>
                  <a:pt x="3863" y="6187"/>
                </a:cubicBezTo>
                <a:cubicBezTo>
                  <a:pt x="3838" y="6200"/>
                  <a:pt x="3708" y="6173"/>
                  <a:pt x="3572" y="6127"/>
                </a:cubicBezTo>
                <a:cubicBezTo>
                  <a:pt x="2963" y="5917"/>
                  <a:pt x="1889" y="5744"/>
                  <a:pt x="671" y="5657"/>
                </a:cubicBezTo>
                <a:cubicBezTo>
                  <a:pt x="392" y="5637"/>
                  <a:pt x="149" y="5615"/>
                  <a:pt x="20" y="5599"/>
                </a:cubicBezTo>
                <a:lnTo>
                  <a:pt x="20" y="5607"/>
                </a:lnTo>
                <a:cubicBezTo>
                  <a:pt x="20" y="5691"/>
                  <a:pt x="13" y="5776"/>
                  <a:pt x="0" y="5858"/>
                </a:cubicBezTo>
                <a:lnTo>
                  <a:pt x="383" y="5862"/>
                </a:lnTo>
                <a:cubicBezTo>
                  <a:pt x="1732" y="5875"/>
                  <a:pt x="3094" y="6190"/>
                  <a:pt x="3654" y="6618"/>
                </a:cubicBezTo>
                <a:cubicBezTo>
                  <a:pt x="3841" y="6760"/>
                  <a:pt x="3866" y="6802"/>
                  <a:pt x="3897" y="7006"/>
                </a:cubicBezTo>
                <a:cubicBezTo>
                  <a:pt x="3937" y="7276"/>
                  <a:pt x="3853" y="8265"/>
                  <a:pt x="3753" y="8718"/>
                </a:cubicBezTo>
                <a:cubicBezTo>
                  <a:pt x="3713" y="8893"/>
                  <a:pt x="3642" y="9083"/>
                  <a:pt x="3594" y="9138"/>
                </a:cubicBezTo>
                <a:cubicBezTo>
                  <a:pt x="3477" y="9275"/>
                  <a:pt x="2909" y="9535"/>
                  <a:pt x="2618" y="9587"/>
                </a:cubicBezTo>
                <a:cubicBezTo>
                  <a:pt x="2490" y="9610"/>
                  <a:pt x="2157" y="9629"/>
                  <a:pt x="1966" y="9687"/>
                </a:cubicBezTo>
                <a:cubicBezTo>
                  <a:pt x="1775" y="9744"/>
                  <a:pt x="1486" y="9922"/>
                  <a:pt x="1471" y="9934"/>
                </a:cubicBezTo>
                <a:cubicBezTo>
                  <a:pt x="1367" y="10024"/>
                  <a:pt x="2035" y="9995"/>
                  <a:pt x="2899" y="9998"/>
                </a:cubicBezTo>
                <a:lnTo>
                  <a:pt x="7345" y="9982"/>
                </a:lnTo>
                <a:lnTo>
                  <a:pt x="7571" y="9967"/>
                </a:lnTo>
                <a:lnTo>
                  <a:pt x="7328" y="9757"/>
                </a:lnTo>
                <a:cubicBezTo>
                  <a:pt x="7268" y="9729"/>
                  <a:pt x="6975" y="9680"/>
                  <a:pt x="6676" y="9649"/>
                </a:cubicBezTo>
                <a:cubicBezTo>
                  <a:pt x="6083" y="9584"/>
                  <a:pt x="5662" y="9448"/>
                  <a:pt x="5392" y="9229"/>
                </a:cubicBezTo>
                <a:cubicBezTo>
                  <a:pt x="5265" y="9128"/>
                  <a:pt x="5247" y="9080"/>
                  <a:pt x="5222" y="8811"/>
                </a:cubicBezTo>
                <a:cubicBezTo>
                  <a:pt x="5183" y="8392"/>
                  <a:pt x="5173" y="8069"/>
                  <a:pt x="5183" y="7437"/>
                </a:cubicBezTo>
                <a:cubicBezTo>
                  <a:pt x="5186" y="7258"/>
                  <a:pt x="5189" y="7077"/>
                  <a:pt x="5192" y="6897"/>
                </a:cubicBezTo>
                <a:lnTo>
                  <a:pt x="5356" y="6741"/>
                </a:lnTo>
                <a:cubicBezTo>
                  <a:pt x="5670" y="6441"/>
                  <a:pt x="6490" y="6186"/>
                  <a:pt x="7720" y="6007"/>
                </a:cubicBezTo>
                <a:cubicBezTo>
                  <a:pt x="8360" y="5913"/>
                  <a:pt x="9891" y="5780"/>
                  <a:pt x="9982" y="5810"/>
                </a:cubicBezTo>
                <a:cubicBezTo>
                  <a:pt x="9987" y="5812"/>
                  <a:pt x="9993" y="5818"/>
                  <a:pt x="10000" y="5823"/>
                </a:cubicBezTo>
                <a:cubicBezTo>
                  <a:pt x="9990" y="5756"/>
                  <a:pt x="9985" y="5686"/>
                  <a:pt x="9985" y="5617"/>
                </a:cubicBezTo>
                <a:cubicBezTo>
                  <a:pt x="9985" y="5588"/>
                  <a:pt x="9987" y="5560"/>
                  <a:pt x="9988" y="5533"/>
                </a:cubicBezTo>
                <a:cubicBezTo>
                  <a:pt x="9973" y="5569"/>
                  <a:pt x="9956" y="5594"/>
                  <a:pt x="9941" y="5602"/>
                </a:cubicBezTo>
                <a:cubicBezTo>
                  <a:pt x="9913" y="5618"/>
                  <a:pt x="9739" y="5632"/>
                  <a:pt x="9553" y="5632"/>
                </a:cubicBezTo>
                <a:cubicBezTo>
                  <a:pt x="8779" y="5634"/>
                  <a:pt x="7286" y="5799"/>
                  <a:pt x="6000" y="6024"/>
                </a:cubicBezTo>
                <a:cubicBezTo>
                  <a:pt x="5525" y="6106"/>
                  <a:pt x="5161" y="6151"/>
                  <a:pt x="5138" y="6131"/>
                </a:cubicBezTo>
                <a:cubicBezTo>
                  <a:pt x="5091" y="6091"/>
                  <a:pt x="4956" y="5219"/>
                  <a:pt x="4956" y="4957"/>
                </a:cubicBezTo>
                <a:cubicBezTo>
                  <a:pt x="4956" y="4749"/>
                  <a:pt x="5081" y="4602"/>
                  <a:pt x="5535" y="4276"/>
                </a:cubicBezTo>
                <a:cubicBezTo>
                  <a:pt x="6204" y="3795"/>
                  <a:pt x="7134" y="3485"/>
                  <a:pt x="8583" y="3265"/>
                </a:cubicBezTo>
                <a:lnTo>
                  <a:pt x="9138" y="3182"/>
                </a:lnTo>
                <a:cubicBezTo>
                  <a:pt x="9103" y="3134"/>
                  <a:pt x="9068" y="3087"/>
                  <a:pt x="9040" y="3035"/>
                </a:cubicBezTo>
                <a:cubicBezTo>
                  <a:pt x="9035" y="3048"/>
                  <a:pt x="9030" y="3058"/>
                  <a:pt x="9020" y="3062"/>
                </a:cubicBezTo>
                <a:cubicBezTo>
                  <a:pt x="8991" y="3078"/>
                  <a:pt x="8707" y="3123"/>
                  <a:pt x="8390" y="3163"/>
                </a:cubicBezTo>
                <a:cubicBezTo>
                  <a:pt x="7701" y="3249"/>
                  <a:pt x="6843" y="3426"/>
                  <a:pt x="6398" y="3571"/>
                </a:cubicBezTo>
                <a:cubicBezTo>
                  <a:pt x="6221" y="3628"/>
                  <a:pt x="5822" y="3791"/>
                  <a:pt x="5514" y="3930"/>
                </a:cubicBezTo>
                <a:cubicBezTo>
                  <a:pt x="4964" y="4179"/>
                  <a:pt x="4951" y="4183"/>
                  <a:pt x="4879" y="4104"/>
                </a:cubicBezTo>
                <a:cubicBezTo>
                  <a:pt x="4832" y="4049"/>
                  <a:pt x="4815" y="3969"/>
                  <a:pt x="4830" y="3863"/>
                </a:cubicBezTo>
                <a:cubicBezTo>
                  <a:pt x="4850" y="3735"/>
                  <a:pt x="4916" y="3650"/>
                  <a:pt x="5158" y="3435"/>
                </a:cubicBezTo>
                <a:cubicBezTo>
                  <a:pt x="5812" y="2856"/>
                  <a:pt x="6323" y="2255"/>
                  <a:pt x="6676" y="1646"/>
                </a:cubicBezTo>
                <a:cubicBezTo>
                  <a:pt x="6716" y="1576"/>
                  <a:pt x="6756" y="1514"/>
                  <a:pt x="6791" y="1464"/>
                </a:cubicBezTo>
                <a:cubicBezTo>
                  <a:pt x="6741" y="1436"/>
                  <a:pt x="6694" y="1409"/>
                  <a:pt x="6647" y="1377"/>
                </a:cubicBezTo>
                <a:cubicBezTo>
                  <a:pt x="6517" y="1672"/>
                  <a:pt x="6082" y="2281"/>
                  <a:pt x="5719" y="2647"/>
                </a:cubicBezTo>
                <a:cubicBezTo>
                  <a:pt x="5461" y="2907"/>
                  <a:pt x="4840" y="3350"/>
                  <a:pt x="4735" y="3350"/>
                </a:cubicBezTo>
                <a:cubicBezTo>
                  <a:pt x="4673" y="3350"/>
                  <a:pt x="4666" y="3308"/>
                  <a:pt x="4695" y="3074"/>
                </a:cubicBezTo>
                <a:cubicBezTo>
                  <a:pt x="4713" y="2922"/>
                  <a:pt x="4760" y="2652"/>
                  <a:pt x="4797" y="2472"/>
                </a:cubicBezTo>
                <a:cubicBezTo>
                  <a:pt x="4976" y="1619"/>
                  <a:pt x="5013" y="1287"/>
                  <a:pt x="4984" y="780"/>
                </a:cubicBezTo>
                <a:cubicBezTo>
                  <a:pt x="4969" y="500"/>
                  <a:pt x="4944" y="202"/>
                  <a:pt x="4929" y="121"/>
                </a:cubicBezTo>
                <a:lnTo>
                  <a:pt x="4905" y="1"/>
                </a:lnTo>
                <a:cubicBezTo>
                  <a:pt x="4867" y="3"/>
                  <a:pt x="4829" y="4"/>
                  <a:pt x="4790" y="4"/>
                </a:cubicBezTo>
                <a:cubicBezTo>
                  <a:pt x="4745" y="4"/>
                  <a:pt x="4703" y="3"/>
                  <a:pt x="4660" y="0"/>
                </a:cubicBezTo>
                <a:close/>
              </a:path>
            </a:pathLst>
          </a:custGeom>
          <a:solidFill>
            <a:srgbClr val="00A6B2"/>
          </a:solidFill>
          <a:ln>
            <a:noFill/>
          </a:ln>
          <a:effectLst>
            <a:outerShdw blurRad="127000" dist="63500" dir="2700000" algn="tl" rotWithShape="0">
              <a:prstClr val="black">
                <a:alpha val="25000"/>
              </a:prstClr>
            </a:outerShdw>
          </a:effectLst>
          <a:scene3d>
            <a:camera prst="orthographicFront"/>
            <a:lightRig rig="threePt" dir="t">
              <a:rot lat="0" lon="0" rev="0"/>
            </a:lightRig>
          </a:scene3d>
          <a:sp3d>
            <a:bevelT w="1905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05">
              <a:solidFill>
                <a:schemeClr val="lt1"/>
              </a:solidFill>
              <a:latin typeface="华文楷体" panose="02010600040101010101" pitchFamily="2" charset="-122"/>
              <a:ea typeface="华文楷体" panose="02010600040101010101" pitchFamily="2" charset="-122"/>
            </a:endParaRPr>
          </a:p>
        </p:txBody>
      </p:sp>
      <p:sp>
        <p:nvSpPr>
          <p:cNvPr id="5" name="橢圓 3"/>
          <p:cNvSpPr/>
          <p:nvPr/>
        </p:nvSpPr>
        <p:spPr>
          <a:xfrm>
            <a:off x="3590469" y="4779995"/>
            <a:ext cx="720000" cy="720000"/>
          </a:xfrm>
          <a:prstGeom prst="ellipse">
            <a:avLst/>
          </a:prstGeom>
          <a:solidFill>
            <a:srgbClr val="00A6B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5">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6" name="橢圓 5"/>
          <p:cNvSpPr/>
          <p:nvPr/>
        </p:nvSpPr>
        <p:spPr>
          <a:xfrm>
            <a:off x="3860196" y="3681823"/>
            <a:ext cx="720000" cy="720000"/>
          </a:xfrm>
          <a:prstGeom prst="ellipse">
            <a:avLst/>
          </a:prstGeom>
          <a:solidFill>
            <a:srgbClr val="00A6B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5">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7" name="橢圓 7"/>
          <p:cNvSpPr/>
          <p:nvPr/>
        </p:nvSpPr>
        <p:spPr>
          <a:xfrm>
            <a:off x="6689580" y="2947437"/>
            <a:ext cx="720000" cy="720000"/>
          </a:xfrm>
          <a:prstGeom prst="ellipse">
            <a:avLst/>
          </a:prstGeom>
          <a:solidFill>
            <a:srgbClr val="00A6B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5">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44" name="橢圓 9"/>
          <p:cNvSpPr/>
          <p:nvPr/>
        </p:nvSpPr>
        <p:spPr>
          <a:xfrm>
            <a:off x="7410517" y="3739923"/>
            <a:ext cx="720000" cy="720000"/>
          </a:xfrm>
          <a:prstGeom prst="ellipse">
            <a:avLst/>
          </a:prstGeom>
          <a:solidFill>
            <a:srgbClr val="00A6B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5">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45" name="橢圓 5"/>
          <p:cNvSpPr/>
          <p:nvPr/>
        </p:nvSpPr>
        <p:spPr>
          <a:xfrm>
            <a:off x="5659561" y="2490151"/>
            <a:ext cx="720000" cy="720000"/>
          </a:xfrm>
          <a:prstGeom prst="ellipse">
            <a:avLst/>
          </a:prstGeom>
          <a:solidFill>
            <a:srgbClr val="00A6B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5">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46" name="橢圓 3"/>
          <p:cNvSpPr/>
          <p:nvPr/>
        </p:nvSpPr>
        <p:spPr>
          <a:xfrm>
            <a:off x="4595481" y="2961823"/>
            <a:ext cx="720000" cy="720000"/>
          </a:xfrm>
          <a:prstGeom prst="ellipse">
            <a:avLst/>
          </a:prstGeom>
          <a:solidFill>
            <a:srgbClr val="00A6B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5">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47" name="橢圓 3"/>
          <p:cNvSpPr/>
          <p:nvPr/>
        </p:nvSpPr>
        <p:spPr>
          <a:xfrm>
            <a:off x="7747888" y="4787708"/>
            <a:ext cx="720000" cy="720000"/>
          </a:xfrm>
          <a:prstGeom prst="ellipse">
            <a:avLst/>
          </a:prstGeom>
          <a:solidFill>
            <a:srgbClr val="00A6B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05">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endParaRPr>
          </a:p>
        </p:txBody>
      </p:sp>
      <p:sp>
        <p:nvSpPr>
          <p:cNvPr id="48" name="Freeform 314"/>
          <p:cNvSpPr>
            <a:spLocks noEditPoints="1"/>
          </p:cNvSpPr>
          <p:nvPr/>
        </p:nvSpPr>
        <p:spPr bwMode="auto">
          <a:xfrm>
            <a:off x="4799207" y="3151167"/>
            <a:ext cx="301634" cy="312540"/>
          </a:xfrm>
          <a:custGeom>
            <a:avLst/>
            <a:gdLst>
              <a:gd name="T0" fmla="*/ 33 w 41"/>
              <a:gd name="T1" fmla="*/ 18 h 41"/>
              <a:gd name="T2" fmla="*/ 11 w 41"/>
              <a:gd name="T3" fmla="*/ 41 h 41"/>
              <a:gd name="T4" fmla="*/ 0 w 41"/>
              <a:gd name="T5" fmla="*/ 41 h 41"/>
              <a:gd name="T6" fmla="*/ 0 w 41"/>
              <a:gd name="T7" fmla="*/ 29 h 41"/>
              <a:gd name="T8" fmla="*/ 22 w 41"/>
              <a:gd name="T9" fmla="*/ 7 h 41"/>
              <a:gd name="T10" fmla="*/ 33 w 41"/>
              <a:gd name="T11" fmla="*/ 18 h 41"/>
              <a:gd name="T12" fmla="*/ 12 w 41"/>
              <a:gd name="T13" fmla="*/ 35 h 41"/>
              <a:gd name="T14" fmla="*/ 6 w 41"/>
              <a:gd name="T15" fmla="*/ 28 h 41"/>
              <a:gd name="T16" fmla="*/ 3 w 41"/>
              <a:gd name="T17" fmla="*/ 31 h 41"/>
              <a:gd name="T18" fmla="*/ 3 w 41"/>
              <a:gd name="T19" fmla="*/ 34 h 41"/>
              <a:gd name="T20" fmla="*/ 7 w 41"/>
              <a:gd name="T21" fmla="*/ 34 h 41"/>
              <a:gd name="T22" fmla="*/ 7 w 41"/>
              <a:gd name="T23" fmla="*/ 37 h 41"/>
              <a:gd name="T24" fmla="*/ 10 w 41"/>
              <a:gd name="T25" fmla="*/ 37 h 41"/>
              <a:gd name="T26" fmla="*/ 12 w 41"/>
              <a:gd name="T27" fmla="*/ 35 h 41"/>
              <a:gd name="T28" fmla="*/ 23 w 41"/>
              <a:gd name="T29" fmla="*/ 12 h 41"/>
              <a:gd name="T30" fmla="*/ 23 w 41"/>
              <a:gd name="T31" fmla="*/ 12 h 41"/>
              <a:gd name="T32" fmla="*/ 8 w 41"/>
              <a:gd name="T33" fmla="*/ 26 h 41"/>
              <a:gd name="T34" fmla="*/ 8 w 41"/>
              <a:gd name="T35" fmla="*/ 27 h 41"/>
              <a:gd name="T36" fmla="*/ 9 w 41"/>
              <a:gd name="T37" fmla="*/ 28 h 41"/>
              <a:gd name="T38" fmla="*/ 9 w 41"/>
              <a:gd name="T39" fmla="*/ 27 h 41"/>
              <a:gd name="T40" fmla="*/ 24 w 41"/>
              <a:gd name="T41" fmla="*/ 13 h 41"/>
              <a:gd name="T42" fmla="*/ 24 w 41"/>
              <a:gd name="T43" fmla="*/ 12 h 41"/>
              <a:gd name="T44" fmla="*/ 23 w 41"/>
              <a:gd name="T45" fmla="*/ 12 h 41"/>
              <a:gd name="T46" fmla="*/ 40 w 41"/>
              <a:gd name="T47" fmla="*/ 12 h 41"/>
              <a:gd name="T48" fmla="*/ 35 w 41"/>
              <a:gd name="T49" fmla="*/ 17 h 41"/>
              <a:gd name="T50" fmla="*/ 24 w 41"/>
              <a:gd name="T51" fmla="*/ 5 h 41"/>
              <a:gd name="T52" fmla="*/ 29 w 41"/>
              <a:gd name="T53" fmla="*/ 1 h 41"/>
              <a:gd name="T54" fmla="*/ 31 w 41"/>
              <a:gd name="T55" fmla="*/ 0 h 41"/>
              <a:gd name="T56" fmla="*/ 33 w 41"/>
              <a:gd name="T57" fmla="*/ 1 h 41"/>
              <a:gd name="T58" fmla="*/ 40 w 41"/>
              <a:gd name="T59" fmla="*/ 7 h 41"/>
              <a:gd name="T60" fmla="*/ 41 w 41"/>
              <a:gd name="T61" fmla="*/ 10 h 41"/>
              <a:gd name="T62" fmla="*/ 40 w 41"/>
              <a:gd name="T63"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 h="41">
                <a:moveTo>
                  <a:pt x="33" y="18"/>
                </a:moveTo>
                <a:cubicBezTo>
                  <a:pt x="11" y="41"/>
                  <a:pt x="11" y="41"/>
                  <a:pt x="11" y="41"/>
                </a:cubicBezTo>
                <a:cubicBezTo>
                  <a:pt x="0" y="41"/>
                  <a:pt x="0" y="41"/>
                  <a:pt x="0" y="41"/>
                </a:cubicBezTo>
                <a:cubicBezTo>
                  <a:pt x="0" y="29"/>
                  <a:pt x="0" y="29"/>
                  <a:pt x="0" y="29"/>
                </a:cubicBezTo>
                <a:cubicBezTo>
                  <a:pt x="22" y="7"/>
                  <a:pt x="22" y="7"/>
                  <a:pt x="22" y="7"/>
                </a:cubicBezTo>
                <a:lnTo>
                  <a:pt x="33" y="18"/>
                </a:lnTo>
                <a:close/>
                <a:moveTo>
                  <a:pt x="12" y="35"/>
                </a:moveTo>
                <a:cubicBezTo>
                  <a:pt x="6" y="28"/>
                  <a:pt x="6" y="28"/>
                  <a:pt x="6" y="28"/>
                </a:cubicBezTo>
                <a:cubicBezTo>
                  <a:pt x="3" y="31"/>
                  <a:pt x="3" y="31"/>
                  <a:pt x="3" y="31"/>
                </a:cubicBezTo>
                <a:cubicBezTo>
                  <a:pt x="3" y="34"/>
                  <a:pt x="3" y="34"/>
                  <a:pt x="3" y="34"/>
                </a:cubicBezTo>
                <a:cubicBezTo>
                  <a:pt x="7" y="34"/>
                  <a:pt x="7" y="34"/>
                  <a:pt x="7" y="34"/>
                </a:cubicBezTo>
                <a:cubicBezTo>
                  <a:pt x="7" y="37"/>
                  <a:pt x="7" y="37"/>
                  <a:pt x="7" y="37"/>
                </a:cubicBezTo>
                <a:cubicBezTo>
                  <a:pt x="10" y="37"/>
                  <a:pt x="10" y="37"/>
                  <a:pt x="10" y="37"/>
                </a:cubicBezTo>
                <a:lnTo>
                  <a:pt x="12" y="35"/>
                </a:lnTo>
                <a:close/>
                <a:moveTo>
                  <a:pt x="23" y="12"/>
                </a:moveTo>
                <a:cubicBezTo>
                  <a:pt x="23" y="12"/>
                  <a:pt x="23" y="12"/>
                  <a:pt x="23" y="12"/>
                </a:cubicBezTo>
                <a:cubicBezTo>
                  <a:pt x="8" y="26"/>
                  <a:pt x="8" y="26"/>
                  <a:pt x="8" y="26"/>
                </a:cubicBezTo>
                <a:cubicBezTo>
                  <a:pt x="8" y="27"/>
                  <a:pt x="8" y="27"/>
                  <a:pt x="8" y="27"/>
                </a:cubicBezTo>
                <a:cubicBezTo>
                  <a:pt x="8" y="27"/>
                  <a:pt x="8" y="28"/>
                  <a:pt x="9" y="28"/>
                </a:cubicBezTo>
                <a:cubicBezTo>
                  <a:pt x="9" y="28"/>
                  <a:pt x="9" y="27"/>
                  <a:pt x="9" y="27"/>
                </a:cubicBezTo>
                <a:cubicBezTo>
                  <a:pt x="24" y="13"/>
                  <a:pt x="24" y="13"/>
                  <a:pt x="24" y="13"/>
                </a:cubicBezTo>
                <a:cubicBezTo>
                  <a:pt x="24" y="13"/>
                  <a:pt x="24" y="12"/>
                  <a:pt x="24" y="12"/>
                </a:cubicBezTo>
                <a:cubicBezTo>
                  <a:pt x="24" y="12"/>
                  <a:pt x="24" y="12"/>
                  <a:pt x="23" y="12"/>
                </a:cubicBezTo>
                <a:close/>
                <a:moveTo>
                  <a:pt x="40" y="12"/>
                </a:moveTo>
                <a:cubicBezTo>
                  <a:pt x="35" y="17"/>
                  <a:pt x="35" y="17"/>
                  <a:pt x="35" y="17"/>
                </a:cubicBezTo>
                <a:cubicBezTo>
                  <a:pt x="24" y="5"/>
                  <a:pt x="24" y="5"/>
                  <a:pt x="24" y="5"/>
                </a:cubicBezTo>
                <a:cubicBezTo>
                  <a:pt x="29" y="1"/>
                  <a:pt x="29" y="1"/>
                  <a:pt x="29" y="1"/>
                </a:cubicBezTo>
                <a:cubicBezTo>
                  <a:pt x="29" y="0"/>
                  <a:pt x="30" y="0"/>
                  <a:pt x="31" y="0"/>
                </a:cubicBezTo>
                <a:cubicBezTo>
                  <a:pt x="32" y="0"/>
                  <a:pt x="33" y="0"/>
                  <a:pt x="33" y="1"/>
                </a:cubicBezTo>
                <a:cubicBezTo>
                  <a:pt x="40" y="7"/>
                  <a:pt x="40" y="7"/>
                  <a:pt x="40" y="7"/>
                </a:cubicBezTo>
                <a:cubicBezTo>
                  <a:pt x="40" y="8"/>
                  <a:pt x="41" y="9"/>
                  <a:pt x="41" y="10"/>
                </a:cubicBezTo>
                <a:cubicBezTo>
                  <a:pt x="41" y="11"/>
                  <a:pt x="40" y="12"/>
                  <a:pt x="40" y="1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86698" tIns="43349" rIns="86698" bIns="43349" numCol="1" anchor="t" anchorCtr="0" compatLnSpc="1"/>
          <a:lstStyle/>
          <a:p>
            <a:endParaRPr lang="id-ID" sz="1705">
              <a:latin typeface="华文楷体" panose="02010600040101010101" pitchFamily="2" charset="-122"/>
              <a:ea typeface="华文楷体" panose="02010600040101010101" pitchFamily="2" charset="-122"/>
            </a:endParaRPr>
          </a:p>
        </p:txBody>
      </p:sp>
      <p:sp>
        <p:nvSpPr>
          <p:cNvPr id="49" name="Freeform 436"/>
          <p:cNvSpPr>
            <a:spLocks noEditPoints="1"/>
          </p:cNvSpPr>
          <p:nvPr/>
        </p:nvSpPr>
        <p:spPr bwMode="auto">
          <a:xfrm>
            <a:off x="7989740" y="5008140"/>
            <a:ext cx="227067" cy="300082"/>
          </a:xfrm>
          <a:custGeom>
            <a:avLst/>
            <a:gdLst>
              <a:gd name="T0" fmla="*/ 29 w 30"/>
              <a:gd name="T1" fmla="*/ 31 h 44"/>
              <a:gd name="T2" fmla="*/ 17 w 30"/>
              <a:gd name="T3" fmla="*/ 31 h 44"/>
              <a:gd name="T4" fmla="*/ 16 w 30"/>
              <a:gd name="T5" fmla="*/ 43 h 44"/>
              <a:gd name="T6" fmla="*/ 15 w 30"/>
              <a:gd name="T7" fmla="*/ 44 h 44"/>
              <a:gd name="T8" fmla="*/ 15 w 30"/>
              <a:gd name="T9" fmla="*/ 44 h 44"/>
              <a:gd name="T10" fmla="*/ 14 w 30"/>
              <a:gd name="T11" fmla="*/ 44 h 44"/>
              <a:gd name="T12" fmla="*/ 12 w 30"/>
              <a:gd name="T13" fmla="*/ 31 h 44"/>
              <a:gd name="T14" fmla="*/ 1 w 30"/>
              <a:gd name="T15" fmla="*/ 31 h 44"/>
              <a:gd name="T16" fmla="*/ 0 w 30"/>
              <a:gd name="T17" fmla="*/ 29 h 44"/>
              <a:gd name="T18" fmla="*/ 6 w 30"/>
              <a:gd name="T19" fmla="*/ 20 h 44"/>
              <a:gd name="T20" fmla="*/ 6 w 30"/>
              <a:gd name="T21" fmla="*/ 7 h 44"/>
              <a:gd name="T22" fmla="*/ 3 w 30"/>
              <a:gd name="T23" fmla="*/ 3 h 44"/>
              <a:gd name="T24" fmla="*/ 6 w 30"/>
              <a:gd name="T25" fmla="*/ 0 h 44"/>
              <a:gd name="T26" fmla="*/ 24 w 30"/>
              <a:gd name="T27" fmla="*/ 0 h 44"/>
              <a:gd name="T28" fmla="*/ 27 w 30"/>
              <a:gd name="T29" fmla="*/ 3 h 44"/>
              <a:gd name="T30" fmla="*/ 24 w 30"/>
              <a:gd name="T31" fmla="*/ 7 h 44"/>
              <a:gd name="T32" fmla="*/ 24 w 30"/>
              <a:gd name="T33" fmla="*/ 20 h 44"/>
              <a:gd name="T34" fmla="*/ 30 w 30"/>
              <a:gd name="T35" fmla="*/ 29 h 44"/>
              <a:gd name="T36" fmla="*/ 29 w 30"/>
              <a:gd name="T37" fmla="*/ 31 h 44"/>
              <a:gd name="T38" fmla="*/ 12 w 30"/>
              <a:gd name="T39" fmla="*/ 7 h 44"/>
              <a:gd name="T40" fmla="*/ 12 w 30"/>
              <a:gd name="T41" fmla="*/ 7 h 44"/>
              <a:gd name="T42" fmla="*/ 11 w 30"/>
              <a:gd name="T43" fmla="*/ 7 h 44"/>
              <a:gd name="T44" fmla="*/ 11 w 30"/>
              <a:gd name="T45" fmla="*/ 19 h 44"/>
              <a:gd name="T46" fmla="*/ 12 w 30"/>
              <a:gd name="T47" fmla="*/ 20 h 44"/>
              <a:gd name="T48" fmla="*/ 12 w 30"/>
              <a:gd name="T49" fmla="*/ 19 h 44"/>
              <a:gd name="T50" fmla="*/ 12 w 30"/>
              <a:gd name="T51"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 h="44">
                <a:moveTo>
                  <a:pt x="29" y="31"/>
                </a:moveTo>
                <a:cubicBezTo>
                  <a:pt x="17" y="31"/>
                  <a:pt x="17" y="31"/>
                  <a:pt x="17" y="31"/>
                </a:cubicBezTo>
                <a:cubicBezTo>
                  <a:pt x="16" y="43"/>
                  <a:pt x="16" y="43"/>
                  <a:pt x="16" y="43"/>
                </a:cubicBezTo>
                <a:cubicBezTo>
                  <a:pt x="16" y="44"/>
                  <a:pt x="15" y="44"/>
                  <a:pt x="15" y="44"/>
                </a:cubicBezTo>
                <a:cubicBezTo>
                  <a:pt x="15" y="44"/>
                  <a:pt x="15" y="44"/>
                  <a:pt x="15" y="44"/>
                </a:cubicBezTo>
                <a:cubicBezTo>
                  <a:pt x="15" y="44"/>
                  <a:pt x="14" y="44"/>
                  <a:pt x="14" y="44"/>
                </a:cubicBezTo>
                <a:cubicBezTo>
                  <a:pt x="12" y="31"/>
                  <a:pt x="12" y="31"/>
                  <a:pt x="12" y="31"/>
                </a:cubicBezTo>
                <a:cubicBezTo>
                  <a:pt x="1" y="31"/>
                  <a:pt x="1" y="31"/>
                  <a:pt x="1" y="31"/>
                </a:cubicBezTo>
                <a:cubicBezTo>
                  <a:pt x="0" y="31"/>
                  <a:pt x="0" y="30"/>
                  <a:pt x="0" y="29"/>
                </a:cubicBezTo>
                <a:cubicBezTo>
                  <a:pt x="0" y="24"/>
                  <a:pt x="3" y="20"/>
                  <a:pt x="6" y="20"/>
                </a:cubicBezTo>
                <a:cubicBezTo>
                  <a:pt x="6" y="7"/>
                  <a:pt x="6" y="7"/>
                  <a:pt x="6" y="7"/>
                </a:cubicBezTo>
                <a:cubicBezTo>
                  <a:pt x="5" y="7"/>
                  <a:pt x="3" y="5"/>
                  <a:pt x="3" y="3"/>
                </a:cubicBezTo>
                <a:cubicBezTo>
                  <a:pt x="3" y="1"/>
                  <a:pt x="5" y="0"/>
                  <a:pt x="6" y="0"/>
                </a:cubicBezTo>
                <a:cubicBezTo>
                  <a:pt x="24" y="0"/>
                  <a:pt x="24" y="0"/>
                  <a:pt x="24" y="0"/>
                </a:cubicBezTo>
                <a:cubicBezTo>
                  <a:pt x="25" y="0"/>
                  <a:pt x="27" y="1"/>
                  <a:pt x="27" y="3"/>
                </a:cubicBezTo>
                <a:cubicBezTo>
                  <a:pt x="27" y="5"/>
                  <a:pt x="25" y="7"/>
                  <a:pt x="24" y="7"/>
                </a:cubicBezTo>
                <a:cubicBezTo>
                  <a:pt x="24" y="20"/>
                  <a:pt x="24" y="20"/>
                  <a:pt x="24" y="20"/>
                </a:cubicBezTo>
                <a:cubicBezTo>
                  <a:pt x="27" y="20"/>
                  <a:pt x="30" y="24"/>
                  <a:pt x="30" y="29"/>
                </a:cubicBezTo>
                <a:cubicBezTo>
                  <a:pt x="30" y="30"/>
                  <a:pt x="30" y="31"/>
                  <a:pt x="29" y="31"/>
                </a:cubicBezTo>
                <a:close/>
                <a:moveTo>
                  <a:pt x="12" y="7"/>
                </a:moveTo>
                <a:cubicBezTo>
                  <a:pt x="12" y="7"/>
                  <a:pt x="12" y="7"/>
                  <a:pt x="12" y="7"/>
                </a:cubicBezTo>
                <a:cubicBezTo>
                  <a:pt x="11" y="7"/>
                  <a:pt x="11" y="7"/>
                  <a:pt x="11" y="7"/>
                </a:cubicBezTo>
                <a:cubicBezTo>
                  <a:pt x="11" y="19"/>
                  <a:pt x="11" y="19"/>
                  <a:pt x="11" y="19"/>
                </a:cubicBezTo>
                <a:cubicBezTo>
                  <a:pt x="11" y="20"/>
                  <a:pt x="11" y="20"/>
                  <a:pt x="12" y="20"/>
                </a:cubicBezTo>
                <a:cubicBezTo>
                  <a:pt x="12" y="20"/>
                  <a:pt x="12" y="20"/>
                  <a:pt x="12" y="19"/>
                </a:cubicBezTo>
                <a:lnTo>
                  <a:pt x="12" y="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86698" tIns="43349" rIns="86698" bIns="43349" numCol="1" anchor="t" anchorCtr="0" compatLnSpc="1"/>
          <a:lstStyle/>
          <a:p>
            <a:endParaRPr lang="id-ID" sz="1705">
              <a:latin typeface="华文楷体" panose="02010600040101010101" pitchFamily="2" charset="-122"/>
              <a:ea typeface="华文楷体" panose="02010600040101010101" pitchFamily="2" charset="-122"/>
            </a:endParaRPr>
          </a:p>
        </p:txBody>
      </p:sp>
      <p:sp>
        <p:nvSpPr>
          <p:cNvPr id="50" name="矩形 49"/>
          <p:cNvSpPr/>
          <p:nvPr/>
        </p:nvSpPr>
        <p:spPr>
          <a:xfrm>
            <a:off x="1186699" y="2284412"/>
            <a:ext cx="3579331" cy="936860"/>
          </a:xfrm>
          <a:prstGeom prst="rect">
            <a:avLst/>
          </a:prstGeom>
        </p:spPr>
        <p:txBody>
          <a:bodyPr wrap="square">
            <a:spAutoFit/>
          </a:bodyPr>
          <a:lstStyle/>
          <a:p>
            <a:pPr algn="ctr">
              <a:spcAft>
                <a:spcPts val="600"/>
              </a:spcAft>
            </a:pPr>
            <a:r>
              <a:rPr lang="zh-CN" altLang="en-US"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rPr>
              <a:t>专业建设质量亟待提升</a:t>
            </a:r>
            <a:endParaRPr lang="en-US" altLang="zh-CN"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endParaRP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专业设置偏传统，落后行业产业新技术</a:t>
            </a: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专业结构单一，未对接产业链实现多专业融合</a:t>
            </a:r>
            <a:endParaRPr lang="zh-CN" altLang="en-US" sz="1200" dirty="0">
              <a:solidFill>
                <a:srgbClr val="586371"/>
              </a:solidFill>
              <a:latin typeface="Microsoft YaHei" panose="020B0503020204020204" pitchFamily="34" charset="-122"/>
              <a:ea typeface="Microsoft YaHei" panose="020B0503020204020204" pitchFamily="34" charset="-122"/>
            </a:endParaRPr>
          </a:p>
        </p:txBody>
      </p:sp>
      <p:sp>
        <p:nvSpPr>
          <p:cNvPr id="51" name="矩形 50"/>
          <p:cNvSpPr/>
          <p:nvPr/>
        </p:nvSpPr>
        <p:spPr>
          <a:xfrm>
            <a:off x="4294608" y="1144737"/>
            <a:ext cx="3551922" cy="1259255"/>
          </a:xfrm>
          <a:prstGeom prst="rect">
            <a:avLst/>
          </a:prstGeom>
        </p:spPr>
        <p:txBody>
          <a:bodyPr wrap="square">
            <a:spAutoFit/>
          </a:bodyPr>
          <a:lstStyle/>
          <a:p>
            <a:pPr algn="ctr">
              <a:spcAft>
                <a:spcPts val="600"/>
              </a:spcAft>
            </a:pPr>
            <a:r>
              <a:rPr lang="zh-CN" altLang="en-US"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rPr>
              <a:t>人才培养模式亟需创新</a:t>
            </a:r>
            <a:endParaRPr lang="en-US" altLang="zh-CN"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endParaRP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产教融合不深入，人才培养方案、课程体系、方式方法、保障机制缺乏创新，不符合人才培养定位和专业建设新标准</a:t>
            </a:r>
            <a:endParaRPr lang="zh-CN" altLang="en-US" sz="1200" dirty="0">
              <a:solidFill>
                <a:srgbClr val="586371"/>
              </a:solidFill>
              <a:latin typeface="Microsoft YaHei" panose="020B0503020204020204" pitchFamily="34" charset="-122"/>
              <a:ea typeface="Microsoft YaHei" panose="020B0503020204020204" pitchFamily="34" charset="-122"/>
            </a:endParaRPr>
          </a:p>
        </p:txBody>
      </p:sp>
      <p:grpSp>
        <p:nvGrpSpPr>
          <p:cNvPr id="53" name="组合 52"/>
          <p:cNvGrpSpPr/>
          <p:nvPr/>
        </p:nvGrpSpPr>
        <p:grpSpPr>
          <a:xfrm>
            <a:off x="6865841" y="3151167"/>
            <a:ext cx="350076" cy="246833"/>
            <a:chOff x="7339246" y="1487600"/>
            <a:chExt cx="399445" cy="378062"/>
          </a:xfrm>
        </p:grpSpPr>
        <p:sp>
          <p:nvSpPr>
            <p:cNvPr id="54" name="Freeform 364"/>
            <p:cNvSpPr/>
            <p:nvPr/>
          </p:nvSpPr>
          <p:spPr bwMode="auto">
            <a:xfrm>
              <a:off x="7339246" y="1689007"/>
              <a:ext cx="399445" cy="176655"/>
            </a:xfrm>
            <a:custGeom>
              <a:avLst/>
              <a:gdLst>
                <a:gd name="T0" fmla="*/ 222 w 262"/>
                <a:gd name="T1" fmla="*/ 18 h 94"/>
                <a:gd name="T2" fmla="*/ 205 w 262"/>
                <a:gd name="T3" fmla="*/ 18 h 94"/>
                <a:gd name="T4" fmla="*/ 205 w 262"/>
                <a:gd name="T5" fmla="*/ 0 h 94"/>
                <a:gd name="T6" fmla="*/ 57 w 262"/>
                <a:gd name="T7" fmla="*/ 0 h 94"/>
                <a:gd name="T8" fmla="*/ 57 w 262"/>
                <a:gd name="T9" fmla="*/ 18 h 94"/>
                <a:gd name="T10" fmla="*/ 40 w 262"/>
                <a:gd name="T11" fmla="*/ 18 h 94"/>
                <a:gd name="T12" fmla="*/ 40 w 262"/>
                <a:gd name="T13" fmla="*/ 0 h 94"/>
                <a:gd name="T14" fmla="*/ 0 w 262"/>
                <a:gd name="T15" fmla="*/ 0 h 94"/>
                <a:gd name="T16" fmla="*/ 0 w 262"/>
                <a:gd name="T17" fmla="*/ 83 h 94"/>
                <a:gd name="T18" fmla="*/ 11 w 262"/>
                <a:gd name="T19" fmla="*/ 94 h 94"/>
                <a:gd name="T20" fmla="*/ 251 w 262"/>
                <a:gd name="T21" fmla="*/ 94 h 94"/>
                <a:gd name="T22" fmla="*/ 262 w 262"/>
                <a:gd name="T23" fmla="*/ 83 h 94"/>
                <a:gd name="T24" fmla="*/ 262 w 262"/>
                <a:gd name="T25" fmla="*/ 0 h 94"/>
                <a:gd name="T26" fmla="*/ 222 w 262"/>
                <a:gd name="T27" fmla="*/ 0 h 94"/>
                <a:gd name="T28" fmla="*/ 222 w 262"/>
                <a:gd name="T29"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2" h="94">
                  <a:moveTo>
                    <a:pt x="222" y="18"/>
                  </a:moveTo>
                  <a:cubicBezTo>
                    <a:pt x="205" y="18"/>
                    <a:pt x="205" y="18"/>
                    <a:pt x="205" y="18"/>
                  </a:cubicBezTo>
                  <a:cubicBezTo>
                    <a:pt x="205" y="0"/>
                    <a:pt x="205" y="0"/>
                    <a:pt x="205" y="0"/>
                  </a:cubicBezTo>
                  <a:cubicBezTo>
                    <a:pt x="57" y="0"/>
                    <a:pt x="57" y="0"/>
                    <a:pt x="57" y="0"/>
                  </a:cubicBezTo>
                  <a:cubicBezTo>
                    <a:pt x="57" y="18"/>
                    <a:pt x="57" y="18"/>
                    <a:pt x="57" y="18"/>
                  </a:cubicBezTo>
                  <a:cubicBezTo>
                    <a:pt x="40" y="18"/>
                    <a:pt x="40" y="18"/>
                    <a:pt x="40" y="18"/>
                  </a:cubicBezTo>
                  <a:cubicBezTo>
                    <a:pt x="40" y="0"/>
                    <a:pt x="40" y="0"/>
                    <a:pt x="40" y="0"/>
                  </a:cubicBezTo>
                  <a:cubicBezTo>
                    <a:pt x="0" y="0"/>
                    <a:pt x="0" y="0"/>
                    <a:pt x="0" y="0"/>
                  </a:cubicBezTo>
                  <a:cubicBezTo>
                    <a:pt x="0" y="83"/>
                    <a:pt x="0" y="83"/>
                    <a:pt x="0" y="83"/>
                  </a:cubicBezTo>
                  <a:cubicBezTo>
                    <a:pt x="0" y="89"/>
                    <a:pt x="5" y="94"/>
                    <a:pt x="11" y="94"/>
                  </a:cubicBezTo>
                  <a:cubicBezTo>
                    <a:pt x="251" y="94"/>
                    <a:pt x="251" y="94"/>
                    <a:pt x="251" y="94"/>
                  </a:cubicBezTo>
                  <a:cubicBezTo>
                    <a:pt x="258" y="94"/>
                    <a:pt x="262" y="89"/>
                    <a:pt x="262" y="83"/>
                  </a:cubicBezTo>
                  <a:cubicBezTo>
                    <a:pt x="262" y="0"/>
                    <a:pt x="262" y="0"/>
                    <a:pt x="262" y="0"/>
                  </a:cubicBezTo>
                  <a:cubicBezTo>
                    <a:pt x="222" y="0"/>
                    <a:pt x="222" y="0"/>
                    <a:pt x="222" y="0"/>
                  </a:cubicBezTo>
                  <a:lnTo>
                    <a:pt x="222" y="18"/>
                  </a:lnTo>
                  <a:close/>
                </a:path>
              </a:pathLst>
            </a:custGeom>
            <a:solidFill>
              <a:schemeClr val="bg1"/>
            </a:solidFill>
            <a:ln>
              <a:noFill/>
            </a:ln>
          </p:spPr>
          <p:txBody>
            <a:bodyPr vert="horz" wrap="square" lIns="86698" tIns="43349" rIns="86698" bIns="43349" numCol="1" anchor="t" anchorCtr="0" compatLnSpc="1"/>
            <a:lstStyle/>
            <a:p>
              <a:endParaRPr lang="zh-CN" altLang="en-US" sz="1705">
                <a:solidFill>
                  <a:srgbClr val="0070C0"/>
                </a:solidFill>
                <a:latin typeface="华文楷体" panose="02010600040101010101" pitchFamily="2" charset="-122"/>
                <a:ea typeface="华文楷体" panose="02010600040101010101" pitchFamily="2" charset="-122"/>
              </a:endParaRPr>
            </a:p>
          </p:txBody>
        </p:sp>
        <p:sp>
          <p:nvSpPr>
            <p:cNvPr id="55" name="Freeform 365"/>
            <p:cNvSpPr/>
            <p:nvPr/>
          </p:nvSpPr>
          <p:spPr bwMode="auto">
            <a:xfrm>
              <a:off x="7339246" y="1567003"/>
              <a:ext cx="399445" cy="102442"/>
            </a:xfrm>
            <a:custGeom>
              <a:avLst/>
              <a:gdLst>
                <a:gd name="T0" fmla="*/ 251 w 262"/>
                <a:gd name="T1" fmla="*/ 0 h 45"/>
                <a:gd name="T2" fmla="*/ 11 w 262"/>
                <a:gd name="T3" fmla="*/ 0 h 45"/>
                <a:gd name="T4" fmla="*/ 0 w 262"/>
                <a:gd name="T5" fmla="*/ 11 h 45"/>
                <a:gd name="T6" fmla="*/ 0 w 262"/>
                <a:gd name="T7" fmla="*/ 45 h 45"/>
                <a:gd name="T8" fmla="*/ 40 w 262"/>
                <a:gd name="T9" fmla="*/ 45 h 45"/>
                <a:gd name="T10" fmla="*/ 40 w 262"/>
                <a:gd name="T11" fmla="*/ 34 h 45"/>
                <a:gd name="T12" fmla="*/ 57 w 262"/>
                <a:gd name="T13" fmla="*/ 34 h 45"/>
                <a:gd name="T14" fmla="*/ 57 w 262"/>
                <a:gd name="T15" fmla="*/ 45 h 45"/>
                <a:gd name="T16" fmla="*/ 205 w 262"/>
                <a:gd name="T17" fmla="*/ 45 h 45"/>
                <a:gd name="T18" fmla="*/ 205 w 262"/>
                <a:gd name="T19" fmla="*/ 34 h 45"/>
                <a:gd name="T20" fmla="*/ 222 w 262"/>
                <a:gd name="T21" fmla="*/ 34 h 45"/>
                <a:gd name="T22" fmla="*/ 222 w 262"/>
                <a:gd name="T23" fmla="*/ 45 h 45"/>
                <a:gd name="T24" fmla="*/ 262 w 262"/>
                <a:gd name="T25" fmla="*/ 45 h 45"/>
                <a:gd name="T26" fmla="*/ 262 w 262"/>
                <a:gd name="T27" fmla="*/ 11 h 45"/>
                <a:gd name="T28" fmla="*/ 251 w 262"/>
                <a:gd name="T2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2" h="45">
                  <a:moveTo>
                    <a:pt x="251" y="0"/>
                  </a:moveTo>
                  <a:cubicBezTo>
                    <a:pt x="11" y="0"/>
                    <a:pt x="11" y="0"/>
                    <a:pt x="11" y="0"/>
                  </a:cubicBezTo>
                  <a:cubicBezTo>
                    <a:pt x="5" y="0"/>
                    <a:pt x="0" y="5"/>
                    <a:pt x="0" y="11"/>
                  </a:cubicBezTo>
                  <a:cubicBezTo>
                    <a:pt x="0" y="45"/>
                    <a:pt x="0" y="45"/>
                    <a:pt x="0" y="45"/>
                  </a:cubicBezTo>
                  <a:cubicBezTo>
                    <a:pt x="40" y="45"/>
                    <a:pt x="40" y="45"/>
                    <a:pt x="40" y="45"/>
                  </a:cubicBezTo>
                  <a:cubicBezTo>
                    <a:pt x="40" y="34"/>
                    <a:pt x="40" y="34"/>
                    <a:pt x="40" y="34"/>
                  </a:cubicBezTo>
                  <a:cubicBezTo>
                    <a:pt x="57" y="34"/>
                    <a:pt x="57" y="34"/>
                    <a:pt x="57" y="34"/>
                  </a:cubicBezTo>
                  <a:cubicBezTo>
                    <a:pt x="57" y="45"/>
                    <a:pt x="57" y="45"/>
                    <a:pt x="57" y="45"/>
                  </a:cubicBezTo>
                  <a:cubicBezTo>
                    <a:pt x="205" y="45"/>
                    <a:pt x="205" y="45"/>
                    <a:pt x="205" y="45"/>
                  </a:cubicBezTo>
                  <a:cubicBezTo>
                    <a:pt x="205" y="34"/>
                    <a:pt x="205" y="34"/>
                    <a:pt x="205" y="34"/>
                  </a:cubicBezTo>
                  <a:cubicBezTo>
                    <a:pt x="222" y="34"/>
                    <a:pt x="222" y="34"/>
                    <a:pt x="222" y="34"/>
                  </a:cubicBezTo>
                  <a:cubicBezTo>
                    <a:pt x="222" y="45"/>
                    <a:pt x="222" y="45"/>
                    <a:pt x="222" y="45"/>
                  </a:cubicBezTo>
                  <a:cubicBezTo>
                    <a:pt x="262" y="45"/>
                    <a:pt x="262" y="45"/>
                    <a:pt x="262" y="45"/>
                  </a:cubicBezTo>
                  <a:cubicBezTo>
                    <a:pt x="262" y="11"/>
                    <a:pt x="262" y="11"/>
                    <a:pt x="262" y="11"/>
                  </a:cubicBezTo>
                  <a:cubicBezTo>
                    <a:pt x="262" y="5"/>
                    <a:pt x="258" y="0"/>
                    <a:pt x="251" y="0"/>
                  </a:cubicBezTo>
                  <a:close/>
                </a:path>
              </a:pathLst>
            </a:custGeom>
            <a:solidFill>
              <a:schemeClr val="bg1"/>
            </a:solidFill>
            <a:ln>
              <a:noFill/>
            </a:ln>
          </p:spPr>
          <p:txBody>
            <a:bodyPr vert="horz" wrap="square" lIns="86698" tIns="43349" rIns="86698" bIns="43349" numCol="1" anchor="t" anchorCtr="0" compatLnSpc="1"/>
            <a:lstStyle/>
            <a:p>
              <a:endParaRPr lang="zh-CN" altLang="en-US" sz="1705">
                <a:solidFill>
                  <a:srgbClr val="0070C0"/>
                </a:solidFill>
                <a:latin typeface="华文楷体" panose="02010600040101010101" pitchFamily="2" charset="-122"/>
                <a:ea typeface="华文楷体" panose="02010600040101010101" pitchFamily="2" charset="-122"/>
              </a:endParaRPr>
            </a:p>
          </p:txBody>
        </p:sp>
        <p:sp>
          <p:nvSpPr>
            <p:cNvPr id="56" name="Freeform 366"/>
            <p:cNvSpPr/>
            <p:nvPr/>
          </p:nvSpPr>
          <p:spPr bwMode="auto">
            <a:xfrm>
              <a:off x="7443155" y="1487600"/>
              <a:ext cx="215332" cy="79403"/>
            </a:xfrm>
            <a:custGeom>
              <a:avLst/>
              <a:gdLst>
                <a:gd name="T0" fmla="*/ 132 w 132"/>
                <a:gd name="T1" fmla="*/ 63 h 63"/>
                <a:gd name="T2" fmla="*/ 115 w 132"/>
                <a:gd name="T3" fmla="*/ 63 h 63"/>
                <a:gd name="T4" fmla="*/ 115 w 132"/>
                <a:gd name="T5" fmla="*/ 20 h 63"/>
                <a:gd name="T6" fmla="*/ 112 w 132"/>
                <a:gd name="T7" fmla="*/ 17 h 63"/>
                <a:gd name="T8" fmla="*/ 20 w 132"/>
                <a:gd name="T9" fmla="*/ 17 h 63"/>
                <a:gd name="T10" fmla="*/ 18 w 132"/>
                <a:gd name="T11" fmla="*/ 20 h 63"/>
                <a:gd name="T12" fmla="*/ 18 w 132"/>
                <a:gd name="T13" fmla="*/ 63 h 63"/>
                <a:gd name="T14" fmla="*/ 0 w 132"/>
                <a:gd name="T15" fmla="*/ 63 h 63"/>
                <a:gd name="T16" fmla="*/ 0 w 132"/>
                <a:gd name="T17" fmla="*/ 20 h 63"/>
                <a:gd name="T18" fmla="*/ 20 w 132"/>
                <a:gd name="T19" fmla="*/ 0 h 63"/>
                <a:gd name="T20" fmla="*/ 112 w 132"/>
                <a:gd name="T21" fmla="*/ 0 h 63"/>
                <a:gd name="T22" fmla="*/ 132 w 132"/>
                <a:gd name="T23" fmla="*/ 20 h 63"/>
                <a:gd name="T24" fmla="*/ 132 w 132"/>
                <a:gd name="T25"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2" h="63">
                  <a:moveTo>
                    <a:pt x="132" y="63"/>
                  </a:moveTo>
                  <a:cubicBezTo>
                    <a:pt x="115" y="63"/>
                    <a:pt x="115" y="63"/>
                    <a:pt x="115" y="63"/>
                  </a:cubicBezTo>
                  <a:cubicBezTo>
                    <a:pt x="115" y="20"/>
                    <a:pt x="115" y="20"/>
                    <a:pt x="115" y="20"/>
                  </a:cubicBezTo>
                  <a:cubicBezTo>
                    <a:pt x="115" y="18"/>
                    <a:pt x="114" y="17"/>
                    <a:pt x="112" y="17"/>
                  </a:cubicBezTo>
                  <a:cubicBezTo>
                    <a:pt x="20" y="17"/>
                    <a:pt x="20" y="17"/>
                    <a:pt x="20" y="17"/>
                  </a:cubicBezTo>
                  <a:cubicBezTo>
                    <a:pt x="19" y="17"/>
                    <a:pt x="18" y="18"/>
                    <a:pt x="18" y="20"/>
                  </a:cubicBezTo>
                  <a:cubicBezTo>
                    <a:pt x="18" y="63"/>
                    <a:pt x="18" y="63"/>
                    <a:pt x="18" y="63"/>
                  </a:cubicBezTo>
                  <a:cubicBezTo>
                    <a:pt x="0" y="63"/>
                    <a:pt x="0" y="63"/>
                    <a:pt x="0" y="63"/>
                  </a:cubicBezTo>
                  <a:cubicBezTo>
                    <a:pt x="0" y="20"/>
                    <a:pt x="0" y="20"/>
                    <a:pt x="0" y="20"/>
                  </a:cubicBezTo>
                  <a:cubicBezTo>
                    <a:pt x="0" y="9"/>
                    <a:pt x="9" y="0"/>
                    <a:pt x="20" y="0"/>
                  </a:cubicBezTo>
                  <a:cubicBezTo>
                    <a:pt x="112" y="0"/>
                    <a:pt x="112" y="0"/>
                    <a:pt x="112" y="0"/>
                  </a:cubicBezTo>
                  <a:cubicBezTo>
                    <a:pt x="123" y="0"/>
                    <a:pt x="132" y="9"/>
                    <a:pt x="132" y="20"/>
                  </a:cubicBezTo>
                  <a:lnTo>
                    <a:pt x="132" y="63"/>
                  </a:lnTo>
                  <a:close/>
                </a:path>
              </a:pathLst>
            </a:custGeom>
            <a:solidFill>
              <a:schemeClr val="bg1"/>
            </a:solidFill>
            <a:ln>
              <a:noFill/>
            </a:ln>
          </p:spPr>
          <p:txBody>
            <a:bodyPr vert="horz" wrap="square" lIns="86698" tIns="43349" rIns="86698" bIns="43349" numCol="1" anchor="t" anchorCtr="0" compatLnSpc="1"/>
            <a:lstStyle/>
            <a:p>
              <a:endParaRPr lang="zh-CN" altLang="en-US" sz="1705">
                <a:solidFill>
                  <a:srgbClr val="0070C0"/>
                </a:solidFill>
                <a:latin typeface="华文楷体" panose="02010600040101010101" pitchFamily="2" charset="-122"/>
                <a:ea typeface="华文楷体" panose="02010600040101010101" pitchFamily="2" charset="-122"/>
              </a:endParaRPr>
            </a:p>
          </p:txBody>
        </p:sp>
      </p:grpSp>
      <p:sp>
        <p:nvSpPr>
          <p:cNvPr id="60" name="矩形 59"/>
          <p:cNvSpPr/>
          <p:nvPr/>
        </p:nvSpPr>
        <p:spPr>
          <a:xfrm>
            <a:off x="656210" y="3463707"/>
            <a:ext cx="3237353" cy="1259255"/>
          </a:xfrm>
          <a:prstGeom prst="rect">
            <a:avLst/>
          </a:prstGeom>
        </p:spPr>
        <p:txBody>
          <a:bodyPr wrap="square">
            <a:spAutoFit/>
          </a:bodyPr>
          <a:lstStyle/>
          <a:p>
            <a:pPr algn="ctr">
              <a:spcAft>
                <a:spcPts val="600"/>
              </a:spcAft>
            </a:pPr>
            <a:r>
              <a:rPr lang="zh-CN" altLang="en-US"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rPr>
              <a:t>实习实训基地建设偏弱</a:t>
            </a:r>
            <a:endParaRPr lang="en-US" altLang="zh-CN"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endParaRP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实践环境建设以教仪实验室为主</a:t>
            </a: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未构建基于产业需求和创新发展的实践教学和实训实习环境</a:t>
            </a:r>
            <a:endParaRPr lang="zh-CN" altLang="en-US" sz="1200" dirty="0">
              <a:solidFill>
                <a:srgbClr val="586371"/>
              </a:solidFill>
              <a:latin typeface="Microsoft YaHei" panose="020B0503020204020204" pitchFamily="34" charset="-122"/>
              <a:ea typeface="Microsoft YaHei" panose="020B0503020204020204" pitchFamily="34" charset="-122"/>
            </a:endParaRPr>
          </a:p>
        </p:txBody>
      </p:sp>
      <p:sp>
        <p:nvSpPr>
          <p:cNvPr id="61" name="矩形 60"/>
          <p:cNvSpPr/>
          <p:nvPr/>
        </p:nvSpPr>
        <p:spPr>
          <a:xfrm>
            <a:off x="252814" y="4865846"/>
            <a:ext cx="2852025" cy="1259255"/>
          </a:xfrm>
          <a:prstGeom prst="rect">
            <a:avLst/>
          </a:prstGeom>
        </p:spPr>
        <p:txBody>
          <a:bodyPr wrap="square">
            <a:spAutoFit/>
          </a:bodyPr>
          <a:lstStyle/>
          <a:p>
            <a:pPr algn="ctr">
              <a:spcBef>
                <a:spcPct val="0"/>
              </a:spcBef>
              <a:spcAft>
                <a:spcPts val="600"/>
              </a:spcAft>
              <a:buFont typeface="Arial" panose="020B0604020202020204" pitchFamily="34" charset="0"/>
              <a:buNone/>
            </a:pPr>
            <a:r>
              <a:rPr lang="zh-CN" altLang="en-US"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rPr>
              <a:t>教师队伍水平不高</a:t>
            </a:r>
            <a:endParaRPr lang="en-US" altLang="zh-CN"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endParaRP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校企人才双向流动机制不灵活</a:t>
            </a: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教师从高校到高校，不懂产业，不了解行业，缺乏产业工程经验</a:t>
            </a:r>
            <a:endParaRPr lang="zh-CN" altLang="en-US" sz="1200" kern="100" dirty="0">
              <a:solidFill>
                <a:srgbClr val="58637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62" name="矩形 61"/>
          <p:cNvSpPr/>
          <p:nvPr/>
        </p:nvSpPr>
        <p:spPr>
          <a:xfrm>
            <a:off x="7444668" y="2281204"/>
            <a:ext cx="3551922" cy="936860"/>
          </a:xfrm>
          <a:prstGeom prst="rect">
            <a:avLst/>
          </a:prstGeom>
        </p:spPr>
        <p:txBody>
          <a:bodyPr wrap="square">
            <a:spAutoFit/>
          </a:bodyPr>
          <a:lstStyle/>
          <a:p>
            <a:pPr algn="ctr">
              <a:spcAft>
                <a:spcPts val="600"/>
              </a:spcAft>
            </a:pPr>
            <a:r>
              <a:rPr lang="zh-CN" altLang="en-US"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rPr>
              <a:t>校企合作开发课程不足</a:t>
            </a:r>
            <a:endParaRPr lang="en-US" altLang="zh-CN"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endParaRP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行业企业未能深度参与教材编制和课程建设</a:t>
            </a: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缺乏高质量校企合作课程、教材和工程案例集</a:t>
            </a:r>
            <a:endParaRPr lang="zh-CN" altLang="en-US" sz="1200" dirty="0">
              <a:solidFill>
                <a:srgbClr val="586371"/>
              </a:solidFill>
              <a:latin typeface="Microsoft YaHei" panose="020B0503020204020204" pitchFamily="34" charset="-122"/>
              <a:ea typeface="Microsoft YaHei" panose="020B0503020204020204" pitchFamily="34" charset="-122"/>
            </a:endParaRPr>
          </a:p>
        </p:txBody>
      </p:sp>
      <p:sp>
        <p:nvSpPr>
          <p:cNvPr id="63" name="矩形 62"/>
          <p:cNvSpPr/>
          <p:nvPr/>
        </p:nvSpPr>
        <p:spPr>
          <a:xfrm>
            <a:off x="8263164" y="3372782"/>
            <a:ext cx="3551922" cy="1259255"/>
          </a:xfrm>
          <a:prstGeom prst="rect">
            <a:avLst/>
          </a:prstGeom>
        </p:spPr>
        <p:txBody>
          <a:bodyPr wrap="square">
            <a:spAutoFit/>
          </a:bodyPr>
          <a:lstStyle/>
          <a:p>
            <a:pPr algn="ctr">
              <a:spcAft>
                <a:spcPts val="600"/>
              </a:spcAft>
            </a:pPr>
            <a:r>
              <a:rPr lang="zh-CN" altLang="en-US"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rPr>
              <a:t>未搭建产学研服务平台</a:t>
            </a: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校企资源整合差，产业技术创新关键问题协同创新开展不够</a:t>
            </a: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科教不融合，科研与人才培养互动不足</a:t>
            </a:r>
          </a:p>
        </p:txBody>
      </p:sp>
      <p:sp>
        <p:nvSpPr>
          <p:cNvPr id="64" name="矩形 63"/>
          <p:cNvSpPr/>
          <p:nvPr/>
        </p:nvSpPr>
        <p:spPr>
          <a:xfrm>
            <a:off x="8742690" y="4751773"/>
            <a:ext cx="3162617" cy="1536254"/>
          </a:xfrm>
          <a:prstGeom prst="rect">
            <a:avLst/>
          </a:prstGeom>
        </p:spPr>
        <p:txBody>
          <a:bodyPr wrap="square">
            <a:spAutoFit/>
          </a:bodyPr>
          <a:lstStyle/>
          <a:p>
            <a:pPr algn="ctr">
              <a:spcAft>
                <a:spcPts val="600"/>
              </a:spcAft>
            </a:pPr>
            <a:r>
              <a:rPr lang="zh-CN" altLang="en-US"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rPr>
              <a:t>管理机制体制不灵活</a:t>
            </a:r>
            <a:endParaRPr lang="en-US" altLang="zh-CN" sz="1600" b="1" dirty="0">
              <a:solidFill>
                <a:srgbClr val="00A6B2"/>
              </a:solidFill>
              <a:latin typeface="Microsoft YaHei" panose="020B0503020204020204" pitchFamily="34" charset="-122"/>
              <a:ea typeface="Microsoft YaHei" panose="020B0503020204020204" pitchFamily="34" charset="-122"/>
              <a:cs typeface="Arial" panose="020B0604020202020204" pitchFamily="34" charset="0"/>
            </a:endParaRP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政、企、行、校多元主体协同不充分，治理模式单一</a:t>
            </a:r>
          </a:p>
          <a:p>
            <a:pPr marL="214630" indent="-214630">
              <a:lnSpc>
                <a:spcPct val="150000"/>
              </a:lnSpc>
              <a:buClr>
                <a:srgbClr val="586371"/>
              </a:buClr>
              <a:buFont typeface="Wingdings" panose="05000000000000000000" pitchFamily="2" charset="2"/>
              <a:buChar char="p"/>
            </a:pPr>
            <a:r>
              <a:rPr lang="zh-CN" altLang="en-US" sz="1200" dirty="0">
                <a:solidFill>
                  <a:srgbClr val="586371"/>
                </a:solidFill>
                <a:latin typeface="Microsoft YaHei" panose="020B0503020204020204" pitchFamily="34" charset="-122"/>
                <a:ea typeface="Microsoft YaHei" panose="020B0503020204020204" pitchFamily="34" charset="-122"/>
                <a:sym typeface="+mn-ea"/>
              </a:rPr>
              <a:t>教育链、创新链、产业链融合性差，无自我造血功能</a:t>
            </a:r>
          </a:p>
        </p:txBody>
      </p:sp>
      <p:sp>
        <p:nvSpPr>
          <p:cNvPr id="30" name="矩形 29"/>
          <p:cNvSpPr/>
          <p:nvPr/>
        </p:nvSpPr>
        <p:spPr>
          <a:xfrm>
            <a:off x="-3175" y="288925"/>
            <a:ext cx="74613" cy="598488"/>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32" name="矩形 17"/>
          <p:cNvSpPr>
            <a:spLocks noChangeArrowheads="1"/>
          </p:cNvSpPr>
          <p:nvPr/>
        </p:nvSpPr>
        <p:spPr bwMode="auto">
          <a:xfrm>
            <a:off x="239713" y="342900"/>
            <a:ext cx="22240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3.2</a:t>
            </a:r>
            <a:r>
              <a:rPr lang="zh-CN" altLang="en-US" sz="2600" b="1" dirty="0">
                <a:solidFill>
                  <a:srgbClr val="586371"/>
                </a:solidFill>
                <a:latin typeface="微软雅黑" panose="020B0503020204020204" charset="-122"/>
                <a:ea typeface="微软雅黑" panose="020B0503020204020204" charset="-122"/>
              </a:rPr>
              <a:t>行业痛点</a:t>
            </a:r>
          </a:p>
        </p:txBody>
      </p:sp>
      <p:sp>
        <p:nvSpPr>
          <p:cNvPr id="33" name="文本框 32"/>
          <p:cNvSpPr txBox="1">
            <a:spLocks noChangeArrowheads="1"/>
          </p:cNvSpPr>
          <p:nvPr/>
        </p:nvSpPr>
        <p:spPr bwMode="auto">
          <a:xfrm>
            <a:off x="2139282" y="492125"/>
            <a:ext cx="3714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Clr>
                <a:schemeClr val="tx2"/>
              </a:buClr>
              <a:buSzPct val="75000"/>
              <a:buFontTx/>
              <a:buNone/>
            </a:pPr>
            <a:r>
              <a:rPr lang="en-US" altLang="zh-CN" sz="1400" b="1" dirty="0">
                <a:solidFill>
                  <a:srgbClr val="0077AE"/>
                </a:solidFill>
                <a:latin typeface="微软雅黑" panose="020B0503020204020204" charset="-122"/>
                <a:ea typeface="微软雅黑" panose="020B0503020204020204" charset="-122"/>
              </a:rPr>
              <a:t>--</a:t>
            </a:r>
            <a:r>
              <a:rPr lang="zh-CN" altLang="en-US" sz="1400" b="1" dirty="0">
                <a:solidFill>
                  <a:srgbClr val="0077AE"/>
                </a:solidFill>
                <a:latin typeface="微软雅黑" panose="020B0503020204020204" charset="-122"/>
                <a:ea typeface="微软雅黑" panose="020B0503020204020204" charset="-122"/>
              </a:rPr>
              <a:t>应用型高校发展需解决的问题</a:t>
            </a:r>
          </a:p>
        </p:txBody>
      </p:sp>
      <p:sp>
        <p:nvSpPr>
          <p:cNvPr id="34" name="Freeform 383"/>
          <p:cNvSpPr/>
          <p:nvPr/>
        </p:nvSpPr>
        <p:spPr bwMode="auto">
          <a:xfrm>
            <a:off x="3762869" y="4953589"/>
            <a:ext cx="375200" cy="354633"/>
          </a:xfrm>
          <a:custGeom>
            <a:avLst/>
            <a:gdLst>
              <a:gd name="T0" fmla="*/ 164 w 165"/>
              <a:gd name="T1" fmla="*/ 131 h 156"/>
              <a:gd name="T2" fmla="*/ 145 w 165"/>
              <a:gd name="T3" fmla="*/ 119 h 156"/>
              <a:gd name="T4" fmla="*/ 119 w 165"/>
              <a:gd name="T5" fmla="*/ 108 h 156"/>
              <a:gd name="T6" fmla="*/ 112 w 165"/>
              <a:gd name="T7" fmla="*/ 106 h 156"/>
              <a:gd name="T8" fmla="*/ 105 w 165"/>
              <a:gd name="T9" fmla="*/ 94 h 156"/>
              <a:gd name="T10" fmla="*/ 101 w 165"/>
              <a:gd name="T11" fmla="*/ 94 h 156"/>
              <a:gd name="T12" fmla="*/ 105 w 165"/>
              <a:gd name="T13" fmla="*/ 85 h 156"/>
              <a:gd name="T14" fmla="*/ 107 w 165"/>
              <a:gd name="T15" fmla="*/ 74 h 156"/>
              <a:gd name="T16" fmla="*/ 112 w 165"/>
              <a:gd name="T17" fmla="*/ 70 h 156"/>
              <a:gd name="T18" fmla="*/ 114 w 165"/>
              <a:gd name="T19" fmla="*/ 63 h 156"/>
              <a:gd name="T20" fmla="*/ 114 w 165"/>
              <a:gd name="T21" fmla="*/ 51 h 156"/>
              <a:gd name="T22" fmla="*/ 112 w 165"/>
              <a:gd name="T23" fmla="*/ 46 h 156"/>
              <a:gd name="T24" fmla="*/ 113 w 165"/>
              <a:gd name="T25" fmla="*/ 30 h 156"/>
              <a:gd name="T26" fmla="*/ 111 w 165"/>
              <a:gd name="T27" fmla="*/ 19 h 156"/>
              <a:gd name="T28" fmla="*/ 107 w 165"/>
              <a:gd name="T29" fmla="*/ 12 h 156"/>
              <a:gd name="T30" fmla="*/ 102 w 165"/>
              <a:gd name="T31" fmla="*/ 11 h 156"/>
              <a:gd name="T32" fmla="*/ 99 w 165"/>
              <a:gd name="T33" fmla="*/ 8 h 156"/>
              <a:gd name="T34" fmla="*/ 64 w 165"/>
              <a:gd name="T35" fmla="*/ 9 h 156"/>
              <a:gd name="T36" fmla="*/ 51 w 165"/>
              <a:gd name="T37" fmla="*/ 46 h 156"/>
              <a:gd name="T38" fmla="*/ 49 w 165"/>
              <a:gd name="T39" fmla="*/ 53 h 156"/>
              <a:gd name="T40" fmla="*/ 54 w 165"/>
              <a:gd name="T41" fmla="*/ 72 h 156"/>
              <a:gd name="T42" fmla="*/ 58 w 165"/>
              <a:gd name="T43" fmla="*/ 73 h 156"/>
              <a:gd name="T44" fmla="*/ 59 w 165"/>
              <a:gd name="T45" fmla="*/ 86 h 156"/>
              <a:gd name="T46" fmla="*/ 63 w 165"/>
              <a:gd name="T47" fmla="*/ 94 h 156"/>
              <a:gd name="T48" fmla="*/ 60 w 165"/>
              <a:gd name="T49" fmla="*/ 94 h 156"/>
              <a:gd name="T50" fmla="*/ 53 w 165"/>
              <a:gd name="T51" fmla="*/ 106 h 156"/>
              <a:gd name="T52" fmla="*/ 46 w 165"/>
              <a:gd name="T53" fmla="*/ 108 h 156"/>
              <a:gd name="T54" fmla="*/ 20 w 165"/>
              <a:gd name="T55" fmla="*/ 119 h 156"/>
              <a:gd name="T56" fmla="*/ 1 w 165"/>
              <a:gd name="T57" fmla="*/ 131 h 156"/>
              <a:gd name="T58" fmla="*/ 0 w 165"/>
              <a:gd name="T59" fmla="*/ 156 h 156"/>
              <a:gd name="T60" fmla="*/ 72 w 165"/>
              <a:gd name="T61" fmla="*/ 156 h 156"/>
              <a:gd name="T62" fmla="*/ 78 w 165"/>
              <a:gd name="T63" fmla="*/ 120 h 156"/>
              <a:gd name="T64" fmla="*/ 73 w 165"/>
              <a:gd name="T65" fmla="*/ 111 h 156"/>
              <a:gd name="T66" fmla="*/ 83 w 165"/>
              <a:gd name="T67" fmla="*/ 106 h 156"/>
              <a:gd name="T68" fmla="*/ 92 w 165"/>
              <a:gd name="T69" fmla="*/ 111 h 156"/>
              <a:gd name="T70" fmla="*/ 87 w 165"/>
              <a:gd name="T71" fmla="*/ 120 h 156"/>
              <a:gd name="T72" fmla="*/ 96 w 165"/>
              <a:gd name="T73" fmla="*/ 156 h 156"/>
              <a:gd name="T74" fmla="*/ 164 w 165"/>
              <a:gd name="T75" fmla="*/ 156 h 156"/>
              <a:gd name="T76" fmla="*/ 164 w 165"/>
              <a:gd name="T77" fmla="*/ 13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5" h="156">
                <a:moveTo>
                  <a:pt x="164" y="131"/>
                </a:moveTo>
                <a:cubicBezTo>
                  <a:pt x="161" y="123"/>
                  <a:pt x="152" y="122"/>
                  <a:pt x="145" y="119"/>
                </a:cubicBezTo>
                <a:cubicBezTo>
                  <a:pt x="137" y="115"/>
                  <a:pt x="127" y="111"/>
                  <a:pt x="119" y="108"/>
                </a:cubicBezTo>
                <a:cubicBezTo>
                  <a:pt x="117" y="107"/>
                  <a:pt x="114" y="107"/>
                  <a:pt x="112" y="106"/>
                </a:cubicBezTo>
                <a:cubicBezTo>
                  <a:pt x="109" y="104"/>
                  <a:pt x="107" y="98"/>
                  <a:pt x="105" y="94"/>
                </a:cubicBezTo>
                <a:cubicBezTo>
                  <a:pt x="104" y="94"/>
                  <a:pt x="102" y="94"/>
                  <a:pt x="101" y="94"/>
                </a:cubicBezTo>
                <a:cubicBezTo>
                  <a:pt x="101" y="89"/>
                  <a:pt x="104" y="89"/>
                  <a:pt x="105" y="85"/>
                </a:cubicBezTo>
                <a:cubicBezTo>
                  <a:pt x="106" y="81"/>
                  <a:pt x="105" y="77"/>
                  <a:pt x="107" y="74"/>
                </a:cubicBezTo>
                <a:cubicBezTo>
                  <a:pt x="108" y="72"/>
                  <a:pt x="111" y="72"/>
                  <a:pt x="112" y="70"/>
                </a:cubicBezTo>
                <a:cubicBezTo>
                  <a:pt x="113" y="68"/>
                  <a:pt x="114" y="65"/>
                  <a:pt x="114" y="63"/>
                </a:cubicBezTo>
                <a:cubicBezTo>
                  <a:pt x="115" y="60"/>
                  <a:pt x="116" y="55"/>
                  <a:pt x="114" y="51"/>
                </a:cubicBezTo>
                <a:cubicBezTo>
                  <a:pt x="113" y="49"/>
                  <a:pt x="112" y="49"/>
                  <a:pt x="112" y="46"/>
                </a:cubicBezTo>
                <a:cubicBezTo>
                  <a:pt x="111" y="43"/>
                  <a:pt x="113" y="33"/>
                  <a:pt x="113" y="30"/>
                </a:cubicBezTo>
                <a:cubicBezTo>
                  <a:pt x="113" y="25"/>
                  <a:pt x="113" y="24"/>
                  <a:pt x="111" y="19"/>
                </a:cubicBezTo>
                <a:cubicBezTo>
                  <a:pt x="111" y="19"/>
                  <a:pt x="110" y="14"/>
                  <a:pt x="107" y="12"/>
                </a:cubicBezTo>
                <a:cubicBezTo>
                  <a:pt x="102" y="11"/>
                  <a:pt x="102" y="11"/>
                  <a:pt x="102" y="11"/>
                </a:cubicBezTo>
                <a:cubicBezTo>
                  <a:pt x="99" y="8"/>
                  <a:pt x="99" y="8"/>
                  <a:pt x="99" y="8"/>
                </a:cubicBezTo>
                <a:cubicBezTo>
                  <a:pt x="86" y="0"/>
                  <a:pt x="71" y="6"/>
                  <a:pt x="64" y="9"/>
                </a:cubicBezTo>
                <a:cubicBezTo>
                  <a:pt x="53" y="12"/>
                  <a:pt x="46" y="23"/>
                  <a:pt x="51" y="46"/>
                </a:cubicBezTo>
                <a:cubicBezTo>
                  <a:pt x="52" y="49"/>
                  <a:pt x="49" y="51"/>
                  <a:pt x="49" y="53"/>
                </a:cubicBezTo>
                <a:cubicBezTo>
                  <a:pt x="50" y="58"/>
                  <a:pt x="50" y="69"/>
                  <a:pt x="54" y="72"/>
                </a:cubicBezTo>
                <a:cubicBezTo>
                  <a:pt x="54" y="72"/>
                  <a:pt x="58" y="73"/>
                  <a:pt x="58" y="73"/>
                </a:cubicBezTo>
                <a:cubicBezTo>
                  <a:pt x="58" y="77"/>
                  <a:pt x="58" y="82"/>
                  <a:pt x="59" y="86"/>
                </a:cubicBezTo>
                <a:cubicBezTo>
                  <a:pt x="60" y="89"/>
                  <a:pt x="63" y="89"/>
                  <a:pt x="63" y="94"/>
                </a:cubicBezTo>
                <a:cubicBezTo>
                  <a:pt x="60" y="94"/>
                  <a:pt x="60" y="94"/>
                  <a:pt x="60" y="94"/>
                </a:cubicBezTo>
                <a:cubicBezTo>
                  <a:pt x="58" y="98"/>
                  <a:pt x="56" y="104"/>
                  <a:pt x="53" y="106"/>
                </a:cubicBezTo>
                <a:cubicBezTo>
                  <a:pt x="51" y="107"/>
                  <a:pt x="48" y="107"/>
                  <a:pt x="46" y="108"/>
                </a:cubicBezTo>
                <a:cubicBezTo>
                  <a:pt x="38" y="111"/>
                  <a:pt x="28" y="115"/>
                  <a:pt x="20" y="119"/>
                </a:cubicBezTo>
                <a:cubicBezTo>
                  <a:pt x="13" y="122"/>
                  <a:pt x="4" y="123"/>
                  <a:pt x="1" y="131"/>
                </a:cubicBezTo>
                <a:cubicBezTo>
                  <a:pt x="1" y="136"/>
                  <a:pt x="0" y="149"/>
                  <a:pt x="0" y="156"/>
                </a:cubicBezTo>
                <a:cubicBezTo>
                  <a:pt x="72" y="156"/>
                  <a:pt x="72" y="156"/>
                  <a:pt x="72" y="156"/>
                </a:cubicBezTo>
                <a:cubicBezTo>
                  <a:pt x="78" y="120"/>
                  <a:pt x="78" y="120"/>
                  <a:pt x="78" y="120"/>
                </a:cubicBezTo>
                <a:cubicBezTo>
                  <a:pt x="73" y="111"/>
                  <a:pt x="73" y="111"/>
                  <a:pt x="73" y="111"/>
                </a:cubicBezTo>
                <a:cubicBezTo>
                  <a:pt x="83" y="106"/>
                  <a:pt x="83" y="106"/>
                  <a:pt x="83" y="106"/>
                </a:cubicBezTo>
                <a:cubicBezTo>
                  <a:pt x="92" y="111"/>
                  <a:pt x="92" y="111"/>
                  <a:pt x="92" y="111"/>
                </a:cubicBezTo>
                <a:cubicBezTo>
                  <a:pt x="87" y="120"/>
                  <a:pt x="87" y="120"/>
                  <a:pt x="87" y="120"/>
                </a:cubicBezTo>
                <a:cubicBezTo>
                  <a:pt x="96" y="156"/>
                  <a:pt x="96" y="156"/>
                  <a:pt x="96" y="156"/>
                </a:cubicBezTo>
                <a:cubicBezTo>
                  <a:pt x="164" y="156"/>
                  <a:pt x="164" y="156"/>
                  <a:pt x="164" y="156"/>
                </a:cubicBezTo>
                <a:cubicBezTo>
                  <a:pt x="165" y="149"/>
                  <a:pt x="164" y="136"/>
                  <a:pt x="164" y="131"/>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bg1"/>
              </a:solidFill>
            </a:endParaRPr>
          </a:p>
        </p:txBody>
      </p:sp>
      <p:sp>
        <p:nvSpPr>
          <p:cNvPr id="35" name="Freeform 28"/>
          <p:cNvSpPr>
            <a:spLocks noEditPoints="1"/>
          </p:cNvSpPr>
          <p:nvPr/>
        </p:nvSpPr>
        <p:spPr bwMode="auto">
          <a:xfrm>
            <a:off x="4055724" y="3889574"/>
            <a:ext cx="328943" cy="326365"/>
          </a:xfrm>
          <a:custGeom>
            <a:avLst/>
            <a:gdLst>
              <a:gd name="T0" fmla="*/ 132 w 144"/>
              <a:gd name="T1" fmla="*/ 61 h 144"/>
              <a:gd name="T2" fmla="*/ 121 w 144"/>
              <a:gd name="T3" fmla="*/ 46 h 144"/>
              <a:gd name="T4" fmla="*/ 127 w 144"/>
              <a:gd name="T5" fmla="*/ 33 h 144"/>
              <a:gd name="T6" fmla="*/ 119 w 144"/>
              <a:gd name="T7" fmla="*/ 17 h 144"/>
              <a:gd name="T8" fmla="*/ 106 w 144"/>
              <a:gd name="T9" fmla="*/ 22 h 144"/>
              <a:gd name="T10" fmla="*/ 88 w 144"/>
              <a:gd name="T11" fmla="*/ 19 h 144"/>
              <a:gd name="T12" fmla="*/ 83 w 144"/>
              <a:gd name="T13" fmla="*/ 6 h 144"/>
              <a:gd name="T14" fmla="*/ 66 w 144"/>
              <a:gd name="T15" fmla="*/ 0 h 144"/>
              <a:gd name="T16" fmla="*/ 61 w 144"/>
              <a:gd name="T17" fmla="*/ 12 h 144"/>
              <a:gd name="T18" fmla="*/ 46 w 144"/>
              <a:gd name="T19" fmla="*/ 23 h 144"/>
              <a:gd name="T20" fmla="*/ 33 w 144"/>
              <a:gd name="T21" fmla="*/ 17 h 144"/>
              <a:gd name="T22" fmla="*/ 17 w 144"/>
              <a:gd name="T23" fmla="*/ 25 h 144"/>
              <a:gd name="T24" fmla="*/ 22 w 144"/>
              <a:gd name="T25" fmla="*/ 38 h 144"/>
              <a:gd name="T26" fmla="*/ 19 w 144"/>
              <a:gd name="T27" fmla="*/ 56 h 144"/>
              <a:gd name="T28" fmla="*/ 6 w 144"/>
              <a:gd name="T29" fmla="*/ 61 h 144"/>
              <a:gd name="T30" fmla="*/ 0 w 144"/>
              <a:gd name="T31" fmla="*/ 78 h 144"/>
              <a:gd name="T32" fmla="*/ 12 w 144"/>
              <a:gd name="T33" fmla="*/ 83 h 144"/>
              <a:gd name="T34" fmla="*/ 23 w 144"/>
              <a:gd name="T35" fmla="*/ 98 h 144"/>
              <a:gd name="T36" fmla="*/ 17 w 144"/>
              <a:gd name="T37" fmla="*/ 111 h 144"/>
              <a:gd name="T38" fmla="*/ 25 w 144"/>
              <a:gd name="T39" fmla="*/ 127 h 144"/>
              <a:gd name="T40" fmla="*/ 38 w 144"/>
              <a:gd name="T41" fmla="*/ 122 h 144"/>
              <a:gd name="T42" fmla="*/ 56 w 144"/>
              <a:gd name="T43" fmla="*/ 125 h 144"/>
              <a:gd name="T44" fmla="*/ 61 w 144"/>
              <a:gd name="T45" fmla="*/ 138 h 144"/>
              <a:gd name="T46" fmla="*/ 78 w 144"/>
              <a:gd name="T47" fmla="*/ 144 h 144"/>
              <a:gd name="T48" fmla="*/ 83 w 144"/>
              <a:gd name="T49" fmla="*/ 132 h 144"/>
              <a:gd name="T50" fmla="*/ 98 w 144"/>
              <a:gd name="T51" fmla="*/ 121 h 144"/>
              <a:gd name="T52" fmla="*/ 111 w 144"/>
              <a:gd name="T53" fmla="*/ 127 h 144"/>
              <a:gd name="T54" fmla="*/ 127 w 144"/>
              <a:gd name="T55" fmla="*/ 119 h 144"/>
              <a:gd name="T56" fmla="*/ 122 w 144"/>
              <a:gd name="T57" fmla="*/ 106 h 144"/>
              <a:gd name="T58" fmla="*/ 125 w 144"/>
              <a:gd name="T59" fmla="*/ 88 h 144"/>
              <a:gd name="T60" fmla="*/ 138 w 144"/>
              <a:gd name="T61" fmla="*/ 83 h 144"/>
              <a:gd name="T62" fmla="*/ 144 w 144"/>
              <a:gd name="T63" fmla="*/ 66 h 144"/>
              <a:gd name="T64" fmla="*/ 100 w 144"/>
              <a:gd name="T65" fmla="*/ 72 h 144"/>
              <a:gd name="T66" fmla="*/ 44 w 144"/>
              <a:gd name="T67" fmla="*/ 72 h 144"/>
              <a:gd name="T68" fmla="*/ 100 w 144"/>
              <a:gd name="T69" fmla="*/ 7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44">
                <a:moveTo>
                  <a:pt x="138" y="61"/>
                </a:moveTo>
                <a:cubicBezTo>
                  <a:pt x="132" y="61"/>
                  <a:pt x="132" y="61"/>
                  <a:pt x="132" y="61"/>
                </a:cubicBezTo>
                <a:cubicBezTo>
                  <a:pt x="129" y="61"/>
                  <a:pt x="126" y="59"/>
                  <a:pt x="125" y="56"/>
                </a:cubicBezTo>
                <a:cubicBezTo>
                  <a:pt x="121" y="46"/>
                  <a:pt x="121" y="46"/>
                  <a:pt x="121" y="46"/>
                </a:cubicBezTo>
                <a:cubicBezTo>
                  <a:pt x="119" y="44"/>
                  <a:pt x="120" y="40"/>
                  <a:pt x="122" y="38"/>
                </a:cubicBezTo>
                <a:cubicBezTo>
                  <a:pt x="127" y="33"/>
                  <a:pt x="127" y="33"/>
                  <a:pt x="127" y="33"/>
                </a:cubicBezTo>
                <a:cubicBezTo>
                  <a:pt x="129" y="31"/>
                  <a:pt x="129" y="27"/>
                  <a:pt x="127" y="25"/>
                </a:cubicBezTo>
                <a:cubicBezTo>
                  <a:pt x="119" y="17"/>
                  <a:pt x="119" y="17"/>
                  <a:pt x="119" y="17"/>
                </a:cubicBezTo>
                <a:cubicBezTo>
                  <a:pt x="117" y="15"/>
                  <a:pt x="113" y="15"/>
                  <a:pt x="111" y="17"/>
                </a:cubicBezTo>
                <a:cubicBezTo>
                  <a:pt x="106" y="22"/>
                  <a:pt x="106" y="22"/>
                  <a:pt x="106" y="22"/>
                </a:cubicBezTo>
                <a:cubicBezTo>
                  <a:pt x="104" y="24"/>
                  <a:pt x="100" y="25"/>
                  <a:pt x="98" y="23"/>
                </a:cubicBezTo>
                <a:cubicBezTo>
                  <a:pt x="88" y="19"/>
                  <a:pt x="88" y="19"/>
                  <a:pt x="88" y="19"/>
                </a:cubicBezTo>
                <a:cubicBezTo>
                  <a:pt x="85" y="18"/>
                  <a:pt x="83" y="15"/>
                  <a:pt x="83" y="12"/>
                </a:cubicBezTo>
                <a:cubicBezTo>
                  <a:pt x="83" y="6"/>
                  <a:pt x="83" y="6"/>
                  <a:pt x="83" y="6"/>
                </a:cubicBezTo>
                <a:cubicBezTo>
                  <a:pt x="83" y="2"/>
                  <a:pt x="81" y="0"/>
                  <a:pt x="78" y="0"/>
                </a:cubicBezTo>
                <a:cubicBezTo>
                  <a:pt x="66" y="0"/>
                  <a:pt x="66" y="0"/>
                  <a:pt x="66" y="0"/>
                </a:cubicBezTo>
                <a:cubicBezTo>
                  <a:pt x="63" y="0"/>
                  <a:pt x="61" y="2"/>
                  <a:pt x="61" y="6"/>
                </a:cubicBezTo>
                <a:cubicBezTo>
                  <a:pt x="61" y="12"/>
                  <a:pt x="61" y="12"/>
                  <a:pt x="61" y="12"/>
                </a:cubicBezTo>
                <a:cubicBezTo>
                  <a:pt x="61" y="15"/>
                  <a:pt x="59" y="18"/>
                  <a:pt x="56" y="19"/>
                </a:cubicBezTo>
                <a:cubicBezTo>
                  <a:pt x="46" y="23"/>
                  <a:pt x="46" y="23"/>
                  <a:pt x="46" y="23"/>
                </a:cubicBezTo>
                <a:cubicBezTo>
                  <a:pt x="44" y="25"/>
                  <a:pt x="40" y="24"/>
                  <a:pt x="38" y="22"/>
                </a:cubicBezTo>
                <a:cubicBezTo>
                  <a:pt x="33" y="17"/>
                  <a:pt x="33" y="17"/>
                  <a:pt x="33" y="17"/>
                </a:cubicBezTo>
                <a:cubicBezTo>
                  <a:pt x="31" y="15"/>
                  <a:pt x="27" y="15"/>
                  <a:pt x="25" y="17"/>
                </a:cubicBezTo>
                <a:cubicBezTo>
                  <a:pt x="17" y="25"/>
                  <a:pt x="17" y="25"/>
                  <a:pt x="17" y="25"/>
                </a:cubicBezTo>
                <a:cubicBezTo>
                  <a:pt x="15" y="27"/>
                  <a:pt x="15" y="31"/>
                  <a:pt x="17" y="33"/>
                </a:cubicBezTo>
                <a:cubicBezTo>
                  <a:pt x="22" y="38"/>
                  <a:pt x="22" y="38"/>
                  <a:pt x="22" y="38"/>
                </a:cubicBezTo>
                <a:cubicBezTo>
                  <a:pt x="24" y="40"/>
                  <a:pt x="25" y="44"/>
                  <a:pt x="23" y="46"/>
                </a:cubicBezTo>
                <a:cubicBezTo>
                  <a:pt x="19" y="56"/>
                  <a:pt x="19" y="56"/>
                  <a:pt x="19" y="56"/>
                </a:cubicBezTo>
                <a:cubicBezTo>
                  <a:pt x="18" y="59"/>
                  <a:pt x="15" y="61"/>
                  <a:pt x="12" y="61"/>
                </a:cubicBezTo>
                <a:cubicBezTo>
                  <a:pt x="6" y="61"/>
                  <a:pt x="6" y="61"/>
                  <a:pt x="6" y="61"/>
                </a:cubicBezTo>
                <a:cubicBezTo>
                  <a:pt x="2" y="61"/>
                  <a:pt x="0" y="63"/>
                  <a:pt x="0" y="66"/>
                </a:cubicBezTo>
                <a:cubicBezTo>
                  <a:pt x="0" y="78"/>
                  <a:pt x="0" y="78"/>
                  <a:pt x="0" y="78"/>
                </a:cubicBezTo>
                <a:cubicBezTo>
                  <a:pt x="0" y="81"/>
                  <a:pt x="2" y="83"/>
                  <a:pt x="6" y="83"/>
                </a:cubicBezTo>
                <a:cubicBezTo>
                  <a:pt x="12" y="83"/>
                  <a:pt x="12" y="83"/>
                  <a:pt x="12" y="83"/>
                </a:cubicBezTo>
                <a:cubicBezTo>
                  <a:pt x="15" y="83"/>
                  <a:pt x="18" y="85"/>
                  <a:pt x="19" y="88"/>
                </a:cubicBezTo>
                <a:cubicBezTo>
                  <a:pt x="23" y="98"/>
                  <a:pt x="23" y="98"/>
                  <a:pt x="23" y="98"/>
                </a:cubicBezTo>
                <a:cubicBezTo>
                  <a:pt x="25" y="100"/>
                  <a:pt x="24" y="104"/>
                  <a:pt x="22" y="106"/>
                </a:cubicBezTo>
                <a:cubicBezTo>
                  <a:pt x="17" y="111"/>
                  <a:pt x="17" y="111"/>
                  <a:pt x="17" y="111"/>
                </a:cubicBezTo>
                <a:cubicBezTo>
                  <a:pt x="15" y="113"/>
                  <a:pt x="15" y="117"/>
                  <a:pt x="17" y="119"/>
                </a:cubicBezTo>
                <a:cubicBezTo>
                  <a:pt x="25" y="127"/>
                  <a:pt x="25" y="127"/>
                  <a:pt x="25" y="127"/>
                </a:cubicBezTo>
                <a:cubicBezTo>
                  <a:pt x="27" y="129"/>
                  <a:pt x="31" y="129"/>
                  <a:pt x="33" y="127"/>
                </a:cubicBezTo>
                <a:cubicBezTo>
                  <a:pt x="38" y="122"/>
                  <a:pt x="38" y="122"/>
                  <a:pt x="38" y="122"/>
                </a:cubicBezTo>
                <a:cubicBezTo>
                  <a:pt x="40" y="120"/>
                  <a:pt x="44" y="119"/>
                  <a:pt x="46" y="121"/>
                </a:cubicBezTo>
                <a:cubicBezTo>
                  <a:pt x="56" y="125"/>
                  <a:pt x="56" y="125"/>
                  <a:pt x="56" y="125"/>
                </a:cubicBezTo>
                <a:cubicBezTo>
                  <a:pt x="59" y="126"/>
                  <a:pt x="61" y="129"/>
                  <a:pt x="61" y="132"/>
                </a:cubicBezTo>
                <a:cubicBezTo>
                  <a:pt x="61" y="138"/>
                  <a:pt x="61" y="138"/>
                  <a:pt x="61" y="138"/>
                </a:cubicBezTo>
                <a:cubicBezTo>
                  <a:pt x="61" y="142"/>
                  <a:pt x="63" y="144"/>
                  <a:pt x="66" y="144"/>
                </a:cubicBezTo>
                <a:cubicBezTo>
                  <a:pt x="78" y="144"/>
                  <a:pt x="78" y="144"/>
                  <a:pt x="78" y="144"/>
                </a:cubicBezTo>
                <a:cubicBezTo>
                  <a:pt x="81" y="144"/>
                  <a:pt x="83" y="142"/>
                  <a:pt x="83" y="138"/>
                </a:cubicBezTo>
                <a:cubicBezTo>
                  <a:pt x="83" y="132"/>
                  <a:pt x="83" y="132"/>
                  <a:pt x="83" y="132"/>
                </a:cubicBezTo>
                <a:cubicBezTo>
                  <a:pt x="83" y="129"/>
                  <a:pt x="85" y="126"/>
                  <a:pt x="88" y="125"/>
                </a:cubicBezTo>
                <a:cubicBezTo>
                  <a:pt x="98" y="121"/>
                  <a:pt x="98" y="121"/>
                  <a:pt x="98" y="121"/>
                </a:cubicBezTo>
                <a:cubicBezTo>
                  <a:pt x="100" y="119"/>
                  <a:pt x="104" y="120"/>
                  <a:pt x="106" y="122"/>
                </a:cubicBezTo>
                <a:cubicBezTo>
                  <a:pt x="111" y="127"/>
                  <a:pt x="111" y="127"/>
                  <a:pt x="111" y="127"/>
                </a:cubicBezTo>
                <a:cubicBezTo>
                  <a:pt x="113" y="129"/>
                  <a:pt x="117" y="129"/>
                  <a:pt x="119" y="127"/>
                </a:cubicBezTo>
                <a:cubicBezTo>
                  <a:pt x="127" y="119"/>
                  <a:pt x="127" y="119"/>
                  <a:pt x="127" y="119"/>
                </a:cubicBezTo>
                <a:cubicBezTo>
                  <a:pt x="129" y="117"/>
                  <a:pt x="129" y="113"/>
                  <a:pt x="127" y="111"/>
                </a:cubicBezTo>
                <a:cubicBezTo>
                  <a:pt x="122" y="106"/>
                  <a:pt x="122" y="106"/>
                  <a:pt x="122" y="106"/>
                </a:cubicBezTo>
                <a:cubicBezTo>
                  <a:pt x="120" y="104"/>
                  <a:pt x="119" y="100"/>
                  <a:pt x="121" y="98"/>
                </a:cubicBezTo>
                <a:cubicBezTo>
                  <a:pt x="125" y="88"/>
                  <a:pt x="125" y="88"/>
                  <a:pt x="125" y="88"/>
                </a:cubicBezTo>
                <a:cubicBezTo>
                  <a:pt x="126" y="85"/>
                  <a:pt x="129" y="83"/>
                  <a:pt x="132" y="83"/>
                </a:cubicBezTo>
                <a:cubicBezTo>
                  <a:pt x="138" y="83"/>
                  <a:pt x="138" y="83"/>
                  <a:pt x="138" y="83"/>
                </a:cubicBezTo>
                <a:cubicBezTo>
                  <a:pt x="142" y="83"/>
                  <a:pt x="144" y="81"/>
                  <a:pt x="144" y="78"/>
                </a:cubicBezTo>
                <a:cubicBezTo>
                  <a:pt x="144" y="66"/>
                  <a:pt x="144" y="66"/>
                  <a:pt x="144" y="66"/>
                </a:cubicBezTo>
                <a:cubicBezTo>
                  <a:pt x="144" y="63"/>
                  <a:pt x="142" y="61"/>
                  <a:pt x="138" y="61"/>
                </a:cubicBezTo>
                <a:moveTo>
                  <a:pt x="100" y="72"/>
                </a:moveTo>
                <a:cubicBezTo>
                  <a:pt x="100" y="87"/>
                  <a:pt x="87" y="100"/>
                  <a:pt x="72" y="100"/>
                </a:cubicBezTo>
                <a:cubicBezTo>
                  <a:pt x="57" y="100"/>
                  <a:pt x="44" y="87"/>
                  <a:pt x="44" y="72"/>
                </a:cubicBezTo>
                <a:cubicBezTo>
                  <a:pt x="44" y="57"/>
                  <a:pt x="57" y="44"/>
                  <a:pt x="72" y="44"/>
                </a:cubicBezTo>
                <a:cubicBezTo>
                  <a:pt x="87" y="44"/>
                  <a:pt x="100" y="57"/>
                  <a:pt x="100" y="72"/>
                </a:cubicBezTo>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9" name="图形 8" descr="毕业帽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1256" y="2616151"/>
            <a:ext cx="468000" cy="468000"/>
          </a:xfrm>
          <a:prstGeom prst="rect">
            <a:avLst/>
          </a:prstGeom>
        </p:spPr>
      </p:pic>
      <p:grpSp>
        <p:nvGrpSpPr>
          <p:cNvPr id="10" name="组合 9"/>
          <p:cNvGrpSpPr>
            <a:grpSpLocks noChangeAspect="1"/>
          </p:cNvGrpSpPr>
          <p:nvPr/>
        </p:nvGrpSpPr>
        <p:grpSpPr>
          <a:xfrm>
            <a:off x="7643376" y="3967200"/>
            <a:ext cx="288000" cy="277244"/>
            <a:chOff x="1523342" y="1911888"/>
            <a:chExt cx="382587" cy="368300"/>
          </a:xfrm>
          <a:solidFill>
            <a:schemeClr val="bg1"/>
          </a:solidFill>
        </p:grpSpPr>
        <p:sp>
          <p:nvSpPr>
            <p:cNvPr id="37" name="Rectangle 48"/>
            <p:cNvSpPr>
              <a:spLocks noChangeArrowheads="1"/>
            </p:cNvSpPr>
            <p:nvPr/>
          </p:nvSpPr>
          <p:spPr bwMode="auto">
            <a:xfrm>
              <a:off x="1712255" y="1943637"/>
              <a:ext cx="26987" cy="58738"/>
            </a:xfrm>
            <a:prstGeom prst="rect">
              <a:avLst/>
            </a:prstGeom>
            <a:grpFill/>
            <a:ln>
              <a:noFill/>
            </a:ln>
          </p:spPr>
          <p:txBody>
            <a:bodyPr vert="horz" wrap="square" lIns="91440" tIns="45720" rIns="91440" bIns="45720" numCol="1" anchor="t" anchorCtr="0" compatLnSpc="1"/>
            <a:lstStyle/>
            <a:p>
              <a:endParaRPr lang="zh-CN" altLang="en-US">
                <a:solidFill>
                  <a:schemeClr val="accent2"/>
                </a:solidFill>
              </a:endParaRPr>
            </a:p>
          </p:txBody>
        </p:sp>
        <p:sp>
          <p:nvSpPr>
            <p:cNvPr id="38" name="Rectangle 49"/>
            <p:cNvSpPr>
              <a:spLocks noChangeArrowheads="1"/>
            </p:cNvSpPr>
            <p:nvPr/>
          </p:nvSpPr>
          <p:spPr bwMode="auto">
            <a:xfrm>
              <a:off x="1523342" y="2091274"/>
              <a:ext cx="382587" cy="33338"/>
            </a:xfrm>
            <a:prstGeom prst="rect">
              <a:avLst/>
            </a:prstGeom>
            <a:grpFill/>
            <a:ln>
              <a:noFill/>
            </a:ln>
          </p:spPr>
          <p:txBody>
            <a:bodyPr vert="horz" wrap="square" lIns="91440" tIns="45720" rIns="91440" bIns="45720" numCol="1" anchor="t" anchorCtr="0" compatLnSpc="1"/>
            <a:lstStyle/>
            <a:p>
              <a:endParaRPr lang="zh-CN" altLang="en-US">
                <a:solidFill>
                  <a:schemeClr val="accent2"/>
                </a:solidFill>
              </a:endParaRPr>
            </a:p>
          </p:txBody>
        </p:sp>
        <p:sp>
          <p:nvSpPr>
            <p:cNvPr id="39" name="Oval 50"/>
            <p:cNvSpPr>
              <a:spLocks noChangeArrowheads="1"/>
            </p:cNvSpPr>
            <p:nvPr/>
          </p:nvSpPr>
          <p:spPr bwMode="auto">
            <a:xfrm>
              <a:off x="1793217" y="1911888"/>
              <a:ext cx="61912" cy="58738"/>
            </a:xfrm>
            <a:prstGeom prst="ellipse">
              <a:avLst/>
            </a:prstGeom>
            <a:grpFill/>
            <a:ln>
              <a:noFill/>
            </a:ln>
          </p:spPr>
          <p:txBody>
            <a:bodyPr vert="horz" wrap="square" lIns="91440" tIns="45720" rIns="91440" bIns="45720" numCol="1" anchor="t" anchorCtr="0" compatLnSpc="1"/>
            <a:lstStyle/>
            <a:p>
              <a:endParaRPr lang="zh-CN" altLang="en-US">
                <a:solidFill>
                  <a:schemeClr val="accent2"/>
                </a:solidFill>
              </a:endParaRPr>
            </a:p>
          </p:txBody>
        </p:sp>
        <p:sp>
          <p:nvSpPr>
            <p:cNvPr id="40" name="Line 51"/>
            <p:cNvSpPr>
              <a:spLocks noChangeShapeType="1"/>
            </p:cNvSpPr>
            <p:nvPr/>
          </p:nvSpPr>
          <p:spPr bwMode="auto">
            <a:xfrm>
              <a:off x="1823377" y="1942047"/>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2"/>
                </a:solidFill>
              </a:endParaRPr>
            </a:p>
          </p:txBody>
        </p:sp>
        <p:sp>
          <p:nvSpPr>
            <p:cNvPr id="41" name="Line 52"/>
            <p:cNvSpPr>
              <a:spLocks noChangeShapeType="1"/>
            </p:cNvSpPr>
            <p:nvPr/>
          </p:nvSpPr>
          <p:spPr bwMode="auto">
            <a:xfrm>
              <a:off x="1823377" y="1942047"/>
              <a:ext cx="0" cy="0"/>
            </a:xfrm>
            <a:prstGeom prst="lin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schemeClr val="accent2"/>
                </a:solidFill>
              </a:endParaRPr>
            </a:p>
          </p:txBody>
        </p:sp>
        <p:sp>
          <p:nvSpPr>
            <p:cNvPr id="42" name="Freeform 53"/>
            <p:cNvSpPr/>
            <p:nvPr/>
          </p:nvSpPr>
          <p:spPr bwMode="auto">
            <a:xfrm>
              <a:off x="1699554" y="1978563"/>
              <a:ext cx="195262" cy="301625"/>
            </a:xfrm>
            <a:custGeom>
              <a:avLst/>
              <a:gdLst>
                <a:gd name="T0" fmla="*/ 38 w 87"/>
                <a:gd name="T1" fmla="*/ 18 h 134"/>
                <a:gd name="T2" fmla="*/ 38 w 87"/>
                <a:gd name="T3" fmla="*/ 124 h 134"/>
                <a:gd name="T4" fmla="*/ 53 w 87"/>
                <a:gd name="T5" fmla="*/ 124 h 134"/>
                <a:gd name="T6" fmla="*/ 54 w 87"/>
                <a:gd name="T7" fmla="*/ 64 h 134"/>
                <a:gd name="T8" fmla="*/ 57 w 87"/>
                <a:gd name="T9" fmla="*/ 64 h 134"/>
                <a:gd name="T10" fmla="*/ 58 w 87"/>
                <a:gd name="T11" fmla="*/ 124 h 134"/>
                <a:gd name="T12" fmla="*/ 72 w 87"/>
                <a:gd name="T13" fmla="*/ 124 h 134"/>
                <a:gd name="T14" fmla="*/ 72 w 87"/>
                <a:gd name="T15" fmla="*/ 21 h 134"/>
                <a:gd name="T16" fmla="*/ 75 w 87"/>
                <a:gd name="T17" fmla="*/ 21 h 134"/>
                <a:gd name="T18" fmla="*/ 76 w 87"/>
                <a:gd name="T19" fmla="*/ 58 h 134"/>
                <a:gd name="T20" fmla="*/ 87 w 87"/>
                <a:gd name="T21" fmla="*/ 58 h 134"/>
                <a:gd name="T22" fmla="*/ 87 w 87"/>
                <a:gd name="T23" fmla="*/ 17 h 134"/>
                <a:gd name="T24" fmla="*/ 70 w 87"/>
                <a:gd name="T25" fmla="*/ 0 h 134"/>
                <a:gd name="T26" fmla="*/ 55 w 87"/>
                <a:gd name="T27" fmla="*/ 0 h 134"/>
                <a:gd name="T28" fmla="*/ 41 w 87"/>
                <a:gd name="T29" fmla="*/ 0 h 134"/>
                <a:gd name="T30" fmla="*/ 32 w 87"/>
                <a:gd name="T31" fmla="*/ 4 h 134"/>
                <a:gd name="T32" fmla="*/ 6 w 87"/>
                <a:gd name="T33" fmla="*/ 35 h 134"/>
                <a:gd name="T34" fmla="*/ 15 w 87"/>
                <a:gd name="T35" fmla="*/ 43 h 134"/>
                <a:gd name="T36" fmla="*/ 38 w 87"/>
                <a:gd name="T37" fmla="*/ 1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 h="134">
                  <a:moveTo>
                    <a:pt x="38" y="18"/>
                  </a:moveTo>
                  <a:cubicBezTo>
                    <a:pt x="38" y="124"/>
                    <a:pt x="38" y="124"/>
                    <a:pt x="38" y="124"/>
                  </a:cubicBezTo>
                  <a:cubicBezTo>
                    <a:pt x="38" y="134"/>
                    <a:pt x="53" y="134"/>
                    <a:pt x="53" y="124"/>
                  </a:cubicBezTo>
                  <a:cubicBezTo>
                    <a:pt x="54" y="64"/>
                    <a:pt x="54" y="64"/>
                    <a:pt x="54" y="64"/>
                  </a:cubicBezTo>
                  <a:cubicBezTo>
                    <a:pt x="57" y="64"/>
                    <a:pt x="57" y="64"/>
                    <a:pt x="57" y="64"/>
                  </a:cubicBezTo>
                  <a:cubicBezTo>
                    <a:pt x="58" y="124"/>
                    <a:pt x="58" y="124"/>
                    <a:pt x="58" y="124"/>
                  </a:cubicBezTo>
                  <a:cubicBezTo>
                    <a:pt x="58" y="134"/>
                    <a:pt x="72" y="134"/>
                    <a:pt x="72" y="124"/>
                  </a:cubicBezTo>
                  <a:cubicBezTo>
                    <a:pt x="72" y="21"/>
                    <a:pt x="72" y="21"/>
                    <a:pt x="72" y="21"/>
                  </a:cubicBezTo>
                  <a:cubicBezTo>
                    <a:pt x="75" y="21"/>
                    <a:pt x="75" y="21"/>
                    <a:pt x="75" y="21"/>
                  </a:cubicBezTo>
                  <a:cubicBezTo>
                    <a:pt x="76" y="58"/>
                    <a:pt x="76" y="58"/>
                    <a:pt x="76" y="58"/>
                  </a:cubicBezTo>
                  <a:cubicBezTo>
                    <a:pt x="76" y="66"/>
                    <a:pt x="87" y="66"/>
                    <a:pt x="87" y="58"/>
                  </a:cubicBezTo>
                  <a:cubicBezTo>
                    <a:pt x="87" y="17"/>
                    <a:pt x="87" y="17"/>
                    <a:pt x="87" y="17"/>
                  </a:cubicBezTo>
                  <a:cubicBezTo>
                    <a:pt x="87" y="3"/>
                    <a:pt x="83" y="0"/>
                    <a:pt x="70" y="0"/>
                  </a:cubicBezTo>
                  <a:cubicBezTo>
                    <a:pt x="55" y="0"/>
                    <a:pt x="55" y="0"/>
                    <a:pt x="55" y="0"/>
                  </a:cubicBezTo>
                  <a:cubicBezTo>
                    <a:pt x="41" y="0"/>
                    <a:pt x="41" y="0"/>
                    <a:pt x="41" y="0"/>
                  </a:cubicBezTo>
                  <a:cubicBezTo>
                    <a:pt x="35" y="0"/>
                    <a:pt x="33" y="2"/>
                    <a:pt x="32" y="4"/>
                  </a:cubicBezTo>
                  <a:cubicBezTo>
                    <a:pt x="6" y="35"/>
                    <a:pt x="6" y="35"/>
                    <a:pt x="6" y="35"/>
                  </a:cubicBezTo>
                  <a:cubicBezTo>
                    <a:pt x="0" y="41"/>
                    <a:pt x="10" y="49"/>
                    <a:pt x="15" y="43"/>
                  </a:cubicBezTo>
                  <a:lnTo>
                    <a:pt x="38" y="18"/>
                  </a:lnTo>
                  <a:close/>
                </a:path>
              </a:pathLst>
            </a:custGeom>
            <a:grpFill/>
            <a:ln>
              <a:noFill/>
            </a:ln>
          </p:spPr>
          <p:txBody>
            <a:bodyPr vert="horz" wrap="square" lIns="91440" tIns="45720" rIns="91440" bIns="45720" numCol="1" anchor="t" anchorCtr="0" compatLnSpc="1"/>
            <a:lstStyle/>
            <a:p>
              <a:endParaRPr lang="zh-CN" altLang="en-US">
                <a:solidFill>
                  <a:schemeClr val="accent2"/>
                </a:solidFill>
              </a:endParaRPr>
            </a:p>
          </p:txBody>
        </p:sp>
        <p:sp>
          <p:nvSpPr>
            <p:cNvPr id="43" name="Freeform 54"/>
            <p:cNvSpPr>
              <a:spLocks noEditPoints="1"/>
            </p:cNvSpPr>
            <p:nvPr/>
          </p:nvSpPr>
          <p:spPr bwMode="auto">
            <a:xfrm>
              <a:off x="1536043" y="1916650"/>
              <a:ext cx="193675" cy="166688"/>
            </a:xfrm>
            <a:custGeom>
              <a:avLst/>
              <a:gdLst>
                <a:gd name="T0" fmla="*/ 31 w 86"/>
                <a:gd name="T1" fmla="*/ 27 h 74"/>
                <a:gd name="T2" fmla="*/ 44 w 86"/>
                <a:gd name="T3" fmla="*/ 13 h 74"/>
                <a:gd name="T4" fmla="*/ 31 w 86"/>
                <a:gd name="T5" fmla="*/ 0 h 74"/>
                <a:gd name="T6" fmla="*/ 18 w 86"/>
                <a:gd name="T7" fmla="*/ 13 h 74"/>
                <a:gd name="T8" fmla="*/ 31 w 86"/>
                <a:gd name="T9" fmla="*/ 27 h 74"/>
                <a:gd name="T10" fmla="*/ 74 w 86"/>
                <a:gd name="T11" fmla="*/ 38 h 74"/>
                <a:gd name="T12" fmla="*/ 65 w 86"/>
                <a:gd name="T13" fmla="*/ 48 h 74"/>
                <a:gd name="T14" fmla="*/ 61 w 86"/>
                <a:gd name="T15" fmla="*/ 43 h 74"/>
                <a:gd name="T16" fmla="*/ 45 w 86"/>
                <a:gd name="T17" fmla="*/ 29 h 74"/>
                <a:gd name="T18" fmla="*/ 31 w 86"/>
                <a:gd name="T19" fmla="*/ 29 h 74"/>
                <a:gd name="T20" fmla="*/ 17 w 86"/>
                <a:gd name="T21" fmla="*/ 29 h 74"/>
                <a:gd name="T22" fmla="*/ 0 w 86"/>
                <a:gd name="T23" fmla="*/ 47 h 74"/>
                <a:gd name="T24" fmla="*/ 0 w 86"/>
                <a:gd name="T25" fmla="*/ 74 h 74"/>
                <a:gd name="T26" fmla="*/ 11 w 86"/>
                <a:gd name="T27" fmla="*/ 74 h 74"/>
                <a:gd name="T28" fmla="*/ 11 w 86"/>
                <a:gd name="T29" fmla="*/ 50 h 74"/>
                <a:gd name="T30" fmla="*/ 14 w 86"/>
                <a:gd name="T31" fmla="*/ 50 h 74"/>
                <a:gd name="T32" fmla="*/ 14 w 86"/>
                <a:gd name="T33" fmla="*/ 74 h 74"/>
                <a:gd name="T34" fmla="*/ 48 w 86"/>
                <a:gd name="T35" fmla="*/ 74 h 74"/>
                <a:gd name="T36" fmla="*/ 48 w 86"/>
                <a:gd name="T37" fmla="*/ 47 h 74"/>
                <a:gd name="T38" fmla="*/ 57 w 86"/>
                <a:gd name="T39" fmla="*/ 60 h 74"/>
                <a:gd name="T40" fmla="*/ 67 w 86"/>
                <a:gd name="T41" fmla="*/ 62 h 74"/>
                <a:gd name="T42" fmla="*/ 82 w 86"/>
                <a:gd name="T43" fmla="*/ 45 h 74"/>
                <a:gd name="T44" fmla="*/ 74 w 86"/>
                <a:gd name="T45" fmla="*/ 3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 h="74">
                  <a:moveTo>
                    <a:pt x="31" y="27"/>
                  </a:moveTo>
                  <a:cubicBezTo>
                    <a:pt x="38" y="27"/>
                    <a:pt x="44" y="21"/>
                    <a:pt x="44" y="13"/>
                  </a:cubicBezTo>
                  <a:cubicBezTo>
                    <a:pt x="44" y="6"/>
                    <a:pt x="38" y="0"/>
                    <a:pt x="31" y="0"/>
                  </a:cubicBezTo>
                  <a:cubicBezTo>
                    <a:pt x="24" y="0"/>
                    <a:pt x="18" y="6"/>
                    <a:pt x="18" y="13"/>
                  </a:cubicBezTo>
                  <a:cubicBezTo>
                    <a:pt x="18" y="21"/>
                    <a:pt x="24" y="27"/>
                    <a:pt x="31" y="27"/>
                  </a:cubicBezTo>
                  <a:close/>
                  <a:moveTo>
                    <a:pt x="74" y="38"/>
                  </a:moveTo>
                  <a:cubicBezTo>
                    <a:pt x="65" y="48"/>
                    <a:pt x="65" y="48"/>
                    <a:pt x="65" y="48"/>
                  </a:cubicBezTo>
                  <a:cubicBezTo>
                    <a:pt x="65" y="49"/>
                    <a:pt x="62" y="44"/>
                    <a:pt x="61" y="43"/>
                  </a:cubicBezTo>
                  <a:cubicBezTo>
                    <a:pt x="57" y="36"/>
                    <a:pt x="55" y="29"/>
                    <a:pt x="45" y="29"/>
                  </a:cubicBezTo>
                  <a:cubicBezTo>
                    <a:pt x="31" y="29"/>
                    <a:pt x="31" y="29"/>
                    <a:pt x="31" y="29"/>
                  </a:cubicBezTo>
                  <a:cubicBezTo>
                    <a:pt x="17" y="29"/>
                    <a:pt x="17" y="29"/>
                    <a:pt x="17" y="29"/>
                  </a:cubicBezTo>
                  <a:cubicBezTo>
                    <a:pt x="4" y="29"/>
                    <a:pt x="0" y="33"/>
                    <a:pt x="0" y="47"/>
                  </a:cubicBezTo>
                  <a:cubicBezTo>
                    <a:pt x="0" y="74"/>
                    <a:pt x="0" y="74"/>
                    <a:pt x="0" y="74"/>
                  </a:cubicBezTo>
                  <a:cubicBezTo>
                    <a:pt x="11" y="74"/>
                    <a:pt x="11" y="74"/>
                    <a:pt x="11" y="74"/>
                  </a:cubicBezTo>
                  <a:cubicBezTo>
                    <a:pt x="11" y="50"/>
                    <a:pt x="11" y="50"/>
                    <a:pt x="11" y="50"/>
                  </a:cubicBezTo>
                  <a:cubicBezTo>
                    <a:pt x="14" y="50"/>
                    <a:pt x="14" y="50"/>
                    <a:pt x="14" y="50"/>
                  </a:cubicBezTo>
                  <a:cubicBezTo>
                    <a:pt x="14" y="74"/>
                    <a:pt x="14" y="74"/>
                    <a:pt x="14" y="74"/>
                  </a:cubicBezTo>
                  <a:cubicBezTo>
                    <a:pt x="48" y="74"/>
                    <a:pt x="48" y="74"/>
                    <a:pt x="48" y="74"/>
                  </a:cubicBezTo>
                  <a:cubicBezTo>
                    <a:pt x="48" y="47"/>
                    <a:pt x="48" y="47"/>
                    <a:pt x="48" y="47"/>
                  </a:cubicBezTo>
                  <a:cubicBezTo>
                    <a:pt x="48" y="47"/>
                    <a:pt x="55" y="57"/>
                    <a:pt x="57" y="60"/>
                  </a:cubicBezTo>
                  <a:cubicBezTo>
                    <a:pt x="60" y="65"/>
                    <a:pt x="64" y="67"/>
                    <a:pt x="67" y="62"/>
                  </a:cubicBezTo>
                  <a:cubicBezTo>
                    <a:pt x="82" y="45"/>
                    <a:pt x="82" y="45"/>
                    <a:pt x="82" y="45"/>
                  </a:cubicBezTo>
                  <a:cubicBezTo>
                    <a:pt x="86" y="39"/>
                    <a:pt x="78" y="33"/>
                    <a:pt x="74" y="38"/>
                  </a:cubicBezTo>
                  <a:close/>
                </a:path>
              </a:pathLst>
            </a:custGeom>
            <a:grpFill/>
            <a:ln>
              <a:noFill/>
            </a:ln>
          </p:spPr>
          <p:txBody>
            <a:bodyPr vert="horz" wrap="square" lIns="91440" tIns="45720" rIns="91440" bIns="45720" numCol="1" anchor="t" anchorCtr="0" compatLnSpc="1"/>
            <a:lstStyle/>
            <a:p>
              <a:endParaRPr lang="zh-CN" altLang="en-US">
                <a:solidFill>
                  <a:schemeClr val="accent2"/>
                </a:solidFil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65"/>
          <p:cNvSpPr/>
          <p:nvPr/>
        </p:nvSpPr>
        <p:spPr>
          <a:xfrm>
            <a:off x="-3175" y="288925"/>
            <a:ext cx="74613" cy="598488"/>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67" name="矩形 17"/>
          <p:cNvSpPr>
            <a:spLocks noChangeArrowheads="1"/>
          </p:cNvSpPr>
          <p:nvPr/>
        </p:nvSpPr>
        <p:spPr bwMode="auto">
          <a:xfrm>
            <a:off x="239713" y="342900"/>
            <a:ext cx="22240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3.3</a:t>
            </a:r>
            <a:r>
              <a:rPr lang="zh-CN" altLang="en-US" sz="2600" b="1" dirty="0">
                <a:solidFill>
                  <a:srgbClr val="586371"/>
                </a:solidFill>
                <a:latin typeface="微软雅黑" panose="020B0503020204020204" charset="-122"/>
                <a:ea typeface="微软雅黑" panose="020B0503020204020204" charset="-122"/>
              </a:rPr>
              <a:t>产业需求</a:t>
            </a:r>
          </a:p>
        </p:txBody>
      </p:sp>
      <p:sp>
        <p:nvSpPr>
          <p:cNvPr id="45" name="矩形 44"/>
          <p:cNvSpPr/>
          <p:nvPr/>
        </p:nvSpPr>
        <p:spPr>
          <a:xfrm>
            <a:off x="5872452" y="753160"/>
            <a:ext cx="4767840" cy="890693"/>
          </a:xfrm>
          <a:prstGeom prst="rect">
            <a:avLst/>
          </a:prstGeom>
        </p:spPr>
        <p:txBody>
          <a:bodyPr wrap="square">
            <a:spAutoFit/>
          </a:bodyPr>
          <a:lstStyle/>
          <a:p>
            <a:pPr marL="171450" indent="-171450" defTabSz="914400">
              <a:lnSpc>
                <a:spcPct val="150000"/>
              </a:lnSpc>
              <a:buFont typeface="Wingdings" panose="05000000000000000000" pitchFamily="2" charset="2"/>
              <a:buChar char="Ø"/>
            </a:pPr>
            <a:r>
              <a:rPr lang="zh-CN" altLang="en-US" sz="1200" dirty="0">
                <a:solidFill>
                  <a:srgbClr val="586371"/>
                </a:solidFill>
                <a:latin typeface="Microsoft YaHei" panose="020B0503020204020204" pitchFamily="34" charset="-122"/>
                <a:ea typeface="Microsoft YaHei" panose="020B0503020204020204" pitchFamily="34" charset="-122"/>
                <a:cs typeface="+mn-ea"/>
              </a:rPr>
              <a:t>在中美贸易摩擦背景下，突破 “卡脖子”技术势在必行，</a:t>
            </a:r>
            <a:r>
              <a:rPr lang="zh-CN" altLang="en-US" sz="1200" dirty="0">
                <a:solidFill>
                  <a:srgbClr val="0077AE"/>
                </a:solidFill>
                <a:latin typeface="Microsoft YaHei" panose="020B0503020204020204" pitchFamily="34" charset="-122"/>
                <a:ea typeface="Microsoft YaHei" panose="020B0503020204020204" pitchFamily="34" charset="-122"/>
                <a:cs typeface="+mn-ea"/>
              </a:rPr>
              <a:t>促使我方在半导体、通信、计算机等相关高端制造产业的国产替代方面和中国制造</a:t>
            </a:r>
            <a:r>
              <a:rPr lang="en-US" altLang="zh-CN" sz="1200" dirty="0">
                <a:solidFill>
                  <a:srgbClr val="0077AE"/>
                </a:solidFill>
                <a:latin typeface="Microsoft YaHei" panose="020B0503020204020204" pitchFamily="34" charset="-122"/>
                <a:ea typeface="Microsoft YaHei" panose="020B0503020204020204" pitchFamily="34" charset="-122"/>
                <a:cs typeface="+mn-ea"/>
              </a:rPr>
              <a:t>2025</a:t>
            </a:r>
            <a:r>
              <a:rPr lang="zh-CN" altLang="en-US" sz="1200" dirty="0">
                <a:solidFill>
                  <a:srgbClr val="0077AE"/>
                </a:solidFill>
                <a:latin typeface="Microsoft YaHei" panose="020B0503020204020204" pitchFamily="34" charset="-122"/>
                <a:ea typeface="Microsoft YaHei" panose="020B0503020204020204" pitchFamily="34" charset="-122"/>
                <a:cs typeface="+mn-ea"/>
              </a:rPr>
              <a:t>进程加快。</a:t>
            </a:r>
            <a:endParaRPr lang="en-US" altLang="zh-CN" sz="1200" dirty="0">
              <a:solidFill>
                <a:srgbClr val="586371"/>
              </a:solidFill>
              <a:latin typeface="Microsoft YaHei" panose="020B0503020204020204" pitchFamily="34" charset="-122"/>
              <a:ea typeface="Microsoft YaHei" panose="020B0503020204020204" pitchFamily="34" charset="-122"/>
              <a:cs typeface="+mn-ea"/>
              <a:sym typeface="+mn-lt"/>
            </a:endParaRPr>
          </a:p>
        </p:txBody>
      </p:sp>
      <p:sp>
        <p:nvSpPr>
          <p:cNvPr id="11" name="矩形 10"/>
          <p:cNvSpPr/>
          <p:nvPr/>
        </p:nvSpPr>
        <p:spPr>
          <a:xfrm>
            <a:off x="5872451" y="3622248"/>
            <a:ext cx="4767840" cy="1167692"/>
          </a:xfrm>
          <a:prstGeom prst="rect">
            <a:avLst/>
          </a:prstGeom>
        </p:spPr>
        <p:txBody>
          <a:bodyPr wrap="square">
            <a:spAutoFit/>
          </a:bodyPr>
          <a:lstStyle/>
          <a:p>
            <a:pPr marL="171450" indent="-171450" defTabSz="914400">
              <a:lnSpc>
                <a:spcPct val="150000"/>
              </a:lnSpc>
              <a:buFont typeface="Wingdings" panose="05000000000000000000" pitchFamily="2" charset="2"/>
              <a:buChar char="Ø"/>
            </a:pPr>
            <a:r>
              <a:rPr lang="en-US" altLang="zh-CN" sz="1200" dirty="0">
                <a:solidFill>
                  <a:srgbClr val="586371"/>
                </a:solidFill>
                <a:latin typeface="Microsoft YaHei" panose="020B0503020204020204" pitchFamily="34" charset="-122"/>
                <a:ea typeface="Microsoft YaHei" panose="020B0503020204020204" pitchFamily="34" charset="-122"/>
                <a:cs typeface="+mn-ea"/>
              </a:rPr>
              <a:t>《</a:t>
            </a:r>
            <a:r>
              <a:rPr lang="zh-CN" altLang="en-US" sz="1200" dirty="0">
                <a:solidFill>
                  <a:srgbClr val="586371"/>
                </a:solidFill>
                <a:latin typeface="Microsoft YaHei" panose="020B0503020204020204" pitchFamily="34" charset="-122"/>
                <a:ea typeface="Microsoft YaHei" panose="020B0503020204020204" pitchFamily="34" charset="-122"/>
                <a:cs typeface="+mn-ea"/>
              </a:rPr>
              <a:t>中国集成电路产业人才白皮书（</a:t>
            </a:r>
            <a:r>
              <a:rPr lang="en-US" altLang="zh-CN" sz="1200" dirty="0">
                <a:solidFill>
                  <a:srgbClr val="586371"/>
                </a:solidFill>
                <a:latin typeface="Microsoft YaHei" panose="020B0503020204020204" pitchFamily="34" charset="-122"/>
                <a:ea typeface="Microsoft YaHei" panose="020B0503020204020204" pitchFamily="34" charset="-122"/>
                <a:cs typeface="+mn-ea"/>
              </a:rPr>
              <a:t>2019—2020</a:t>
            </a:r>
            <a:r>
              <a:rPr lang="zh-CN" altLang="en-US" sz="1200" dirty="0">
                <a:solidFill>
                  <a:srgbClr val="586371"/>
                </a:solidFill>
                <a:latin typeface="Microsoft YaHei" panose="020B0503020204020204" pitchFamily="34" charset="-122"/>
                <a:ea typeface="Microsoft YaHei" panose="020B0503020204020204" pitchFamily="34" charset="-122"/>
                <a:cs typeface="+mn-ea"/>
              </a:rPr>
              <a:t>年版）</a:t>
            </a:r>
            <a:r>
              <a:rPr lang="en-US" altLang="zh-CN" sz="1200" dirty="0">
                <a:solidFill>
                  <a:srgbClr val="586371"/>
                </a:solidFill>
                <a:latin typeface="Microsoft YaHei" panose="020B0503020204020204" pitchFamily="34" charset="-122"/>
                <a:ea typeface="Microsoft YaHei" panose="020B0503020204020204" pitchFamily="34" charset="-122"/>
                <a:cs typeface="+mn-ea"/>
              </a:rPr>
              <a:t>》</a:t>
            </a:r>
            <a:r>
              <a:rPr lang="zh-CN" altLang="en-US" sz="1200" dirty="0">
                <a:solidFill>
                  <a:srgbClr val="586371"/>
                </a:solidFill>
                <a:latin typeface="Microsoft YaHei" panose="020B0503020204020204" pitchFamily="34" charset="-122"/>
                <a:ea typeface="Microsoft YaHei" panose="020B0503020204020204" pitchFamily="34" charset="-122"/>
                <a:cs typeface="+mn-ea"/>
              </a:rPr>
              <a:t>预测到</a:t>
            </a:r>
            <a:r>
              <a:rPr lang="en-US" altLang="zh-CN" sz="1200" dirty="0">
                <a:solidFill>
                  <a:srgbClr val="586371"/>
                </a:solidFill>
                <a:latin typeface="Microsoft YaHei" panose="020B0503020204020204" pitchFamily="34" charset="-122"/>
                <a:ea typeface="Microsoft YaHei" panose="020B0503020204020204" pitchFamily="34" charset="-122"/>
                <a:cs typeface="+mn-ea"/>
              </a:rPr>
              <a:t>2022</a:t>
            </a:r>
            <a:r>
              <a:rPr lang="zh-CN" altLang="en-US" sz="1200" dirty="0">
                <a:solidFill>
                  <a:srgbClr val="586371"/>
                </a:solidFill>
                <a:latin typeface="Microsoft YaHei" panose="020B0503020204020204" pitchFamily="34" charset="-122"/>
                <a:ea typeface="Microsoft YaHei" panose="020B0503020204020204" pitchFamily="34" charset="-122"/>
                <a:cs typeface="+mn-ea"/>
              </a:rPr>
              <a:t>年全行业人才需求在</a:t>
            </a:r>
            <a:r>
              <a:rPr lang="en-US" altLang="zh-CN" sz="1200" dirty="0">
                <a:solidFill>
                  <a:srgbClr val="0077AE"/>
                </a:solidFill>
                <a:latin typeface="Microsoft YaHei" panose="020B0503020204020204" pitchFamily="34" charset="-122"/>
                <a:ea typeface="Microsoft YaHei" panose="020B0503020204020204" pitchFamily="34" charset="-122"/>
                <a:cs typeface="+mn-ea"/>
              </a:rPr>
              <a:t>74.45</a:t>
            </a:r>
            <a:r>
              <a:rPr lang="zh-CN" altLang="en-US" sz="1200" dirty="0">
                <a:solidFill>
                  <a:srgbClr val="0077AE"/>
                </a:solidFill>
                <a:latin typeface="Microsoft YaHei" panose="020B0503020204020204" pitchFamily="34" charset="-122"/>
                <a:ea typeface="Microsoft YaHei" panose="020B0503020204020204" pitchFamily="34" charset="-122"/>
                <a:cs typeface="+mn-ea"/>
              </a:rPr>
              <a:t>万人</a:t>
            </a:r>
            <a:r>
              <a:rPr lang="zh-CN" altLang="en-US" sz="1200" dirty="0">
                <a:solidFill>
                  <a:srgbClr val="586371"/>
                </a:solidFill>
                <a:latin typeface="Microsoft YaHei" panose="020B0503020204020204" pitchFamily="34" charset="-122"/>
                <a:ea typeface="Microsoft YaHei" panose="020B0503020204020204" pitchFamily="34" charset="-122"/>
                <a:cs typeface="+mn-ea"/>
              </a:rPr>
              <a:t>，人才需求缺口达</a:t>
            </a:r>
            <a:r>
              <a:rPr lang="en-US" altLang="zh-CN" sz="1200" dirty="0">
                <a:solidFill>
                  <a:srgbClr val="0077AE"/>
                </a:solidFill>
                <a:latin typeface="Microsoft YaHei" panose="020B0503020204020204" pitchFamily="34" charset="-122"/>
                <a:ea typeface="Microsoft YaHei" panose="020B0503020204020204" pitchFamily="34" charset="-122"/>
                <a:cs typeface="+mn-ea"/>
              </a:rPr>
              <a:t>34</a:t>
            </a:r>
            <a:r>
              <a:rPr lang="zh-CN" altLang="en-US" sz="1200" dirty="0">
                <a:solidFill>
                  <a:srgbClr val="0077AE"/>
                </a:solidFill>
                <a:latin typeface="Microsoft YaHei" panose="020B0503020204020204" pitchFamily="34" charset="-122"/>
                <a:ea typeface="Microsoft YaHei" panose="020B0503020204020204" pitchFamily="34" charset="-122"/>
                <a:cs typeface="+mn-ea"/>
              </a:rPr>
              <a:t>万人</a:t>
            </a:r>
            <a:r>
              <a:rPr lang="zh-CN" altLang="en-US" sz="1200" dirty="0">
                <a:solidFill>
                  <a:srgbClr val="586371"/>
                </a:solidFill>
                <a:latin typeface="Microsoft YaHei" panose="020B0503020204020204" pitchFamily="34" charset="-122"/>
                <a:ea typeface="Microsoft YaHei" panose="020B0503020204020204" pitchFamily="34" charset="-122"/>
                <a:cs typeface="+mn-ea"/>
              </a:rPr>
              <a:t>以上。</a:t>
            </a:r>
            <a:r>
              <a:rPr lang="zh-CN" altLang="en-US" sz="1200" dirty="0">
                <a:solidFill>
                  <a:srgbClr val="0077AE"/>
                </a:solidFill>
                <a:latin typeface="Microsoft YaHei" panose="020B0503020204020204" pitchFamily="34" charset="-122"/>
                <a:ea typeface="Microsoft YaHei" panose="020B0503020204020204" pitchFamily="34" charset="-122"/>
                <a:cs typeface="+mn-ea"/>
              </a:rPr>
              <a:t>人才问题已经成为制约我国集成电路产业发展尤其是芯片业自主创新发展的瓶颈。</a:t>
            </a:r>
            <a:endParaRPr lang="en-US" altLang="zh-CN" sz="1200" dirty="0">
              <a:solidFill>
                <a:srgbClr val="586371"/>
              </a:solidFill>
              <a:latin typeface="Microsoft YaHei" panose="020B0503020204020204" pitchFamily="34" charset="-122"/>
              <a:ea typeface="Microsoft YaHei" panose="020B0503020204020204" pitchFamily="34" charset="-122"/>
              <a:cs typeface="+mn-ea"/>
            </a:endParaRPr>
          </a:p>
        </p:txBody>
      </p:sp>
      <p:pic>
        <p:nvPicPr>
          <p:cNvPr id="13" name="图片 12"/>
          <p:cNvPicPr>
            <a:picLocks noChangeAspect="1"/>
          </p:cNvPicPr>
          <p:nvPr/>
        </p:nvPicPr>
        <p:blipFill>
          <a:blip r:embed="rId3"/>
          <a:stretch>
            <a:fillRect/>
          </a:stretch>
        </p:blipFill>
        <p:spPr>
          <a:xfrm>
            <a:off x="234329" y="831102"/>
            <a:ext cx="4514629" cy="2477488"/>
          </a:xfrm>
          <a:prstGeom prst="rect">
            <a:avLst/>
          </a:prstGeom>
        </p:spPr>
      </p:pic>
      <p:pic>
        <p:nvPicPr>
          <p:cNvPr id="14" name="图片 13"/>
          <p:cNvPicPr>
            <a:picLocks noChangeAspect="1"/>
          </p:cNvPicPr>
          <p:nvPr/>
        </p:nvPicPr>
        <p:blipFill>
          <a:blip r:embed="rId4"/>
          <a:stretch>
            <a:fillRect/>
          </a:stretch>
        </p:blipFill>
        <p:spPr>
          <a:xfrm>
            <a:off x="234329" y="3429000"/>
            <a:ext cx="4680314" cy="3235197"/>
          </a:xfrm>
          <a:prstGeom prst="rect">
            <a:avLst/>
          </a:prstGeom>
        </p:spPr>
      </p:pic>
      <p:sp>
        <p:nvSpPr>
          <p:cNvPr id="72" name="矩形 71"/>
          <p:cNvSpPr/>
          <p:nvPr/>
        </p:nvSpPr>
        <p:spPr>
          <a:xfrm>
            <a:off x="5872451" y="2585620"/>
            <a:ext cx="4767840" cy="890693"/>
          </a:xfrm>
          <a:prstGeom prst="rect">
            <a:avLst/>
          </a:prstGeom>
        </p:spPr>
        <p:txBody>
          <a:bodyPr wrap="square">
            <a:spAutoFit/>
          </a:bodyPr>
          <a:lstStyle/>
          <a:p>
            <a:pPr marL="171450" indent="-171450" defTabSz="914400">
              <a:lnSpc>
                <a:spcPct val="150000"/>
              </a:lnSpc>
              <a:buFont typeface="Wingdings" panose="05000000000000000000" pitchFamily="2" charset="2"/>
              <a:buChar char="Ø"/>
            </a:pPr>
            <a:r>
              <a:rPr lang="zh-CN" altLang="en-US" sz="1200" dirty="0">
                <a:solidFill>
                  <a:srgbClr val="586371"/>
                </a:solidFill>
                <a:latin typeface="Microsoft YaHei" panose="020B0503020204020204" pitchFamily="34" charset="-122"/>
                <a:ea typeface="Microsoft YaHei" panose="020B0503020204020204" pitchFamily="34" charset="-122"/>
                <a:cs typeface="+mn-ea"/>
              </a:rPr>
              <a:t>我国的模拟集成电路产品约占世界产量的</a:t>
            </a:r>
            <a:r>
              <a:rPr lang="en-US" altLang="zh-CN" sz="1200" dirty="0">
                <a:solidFill>
                  <a:srgbClr val="0077AE"/>
                </a:solidFill>
                <a:latin typeface="Microsoft YaHei" panose="020B0503020204020204" pitchFamily="34" charset="-122"/>
                <a:ea typeface="Microsoft YaHei" panose="020B0503020204020204" pitchFamily="34" charset="-122"/>
                <a:cs typeface="+mn-ea"/>
              </a:rPr>
              <a:t>45%</a:t>
            </a:r>
            <a:r>
              <a:rPr lang="zh-CN" altLang="en-US" sz="1200" dirty="0">
                <a:solidFill>
                  <a:srgbClr val="586371"/>
                </a:solidFill>
                <a:latin typeface="Microsoft YaHei" panose="020B0503020204020204" pitchFamily="34" charset="-122"/>
                <a:ea typeface="Microsoft YaHei" panose="020B0503020204020204" pitchFamily="34" charset="-122"/>
                <a:cs typeface="+mn-ea"/>
              </a:rPr>
              <a:t>，而我国的模拟芯片产量仅占世界份额的</a:t>
            </a:r>
            <a:r>
              <a:rPr lang="en-US" altLang="zh-CN" sz="1200" dirty="0">
                <a:solidFill>
                  <a:srgbClr val="586371"/>
                </a:solidFill>
                <a:latin typeface="Microsoft YaHei" panose="020B0503020204020204" pitchFamily="34" charset="-122"/>
                <a:ea typeface="Microsoft YaHei" panose="020B0503020204020204" pitchFamily="34" charset="-122"/>
                <a:cs typeface="+mn-ea"/>
              </a:rPr>
              <a:t>10%</a:t>
            </a:r>
            <a:r>
              <a:rPr lang="zh-CN" altLang="en-US" sz="1200" dirty="0">
                <a:solidFill>
                  <a:srgbClr val="586371"/>
                </a:solidFill>
                <a:latin typeface="Microsoft YaHei" panose="020B0503020204020204" pitchFamily="34" charset="-122"/>
                <a:ea typeface="Microsoft YaHei" panose="020B0503020204020204" pitchFamily="34" charset="-122"/>
                <a:cs typeface="+mn-ea"/>
              </a:rPr>
              <a:t>左右，模拟芯片国产化率不足</a:t>
            </a:r>
            <a:r>
              <a:rPr lang="en-US" altLang="zh-CN" sz="1200" dirty="0">
                <a:solidFill>
                  <a:srgbClr val="0077AE"/>
                </a:solidFill>
                <a:latin typeface="Microsoft YaHei" panose="020B0503020204020204" pitchFamily="34" charset="-122"/>
                <a:ea typeface="Microsoft YaHei" panose="020B0503020204020204" pitchFamily="34" charset="-122"/>
                <a:cs typeface="+mn-ea"/>
              </a:rPr>
              <a:t>1%</a:t>
            </a:r>
            <a:r>
              <a:rPr lang="zh-CN" altLang="en-US" sz="1200" dirty="0">
                <a:solidFill>
                  <a:srgbClr val="586371"/>
                </a:solidFill>
                <a:latin typeface="Microsoft YaHei" panose="020B0503020204020204" pitchFamily="34" charset="-122"/>
                <a:ea typeface="Microsoft YaHei" panose="020B0503020204020204" pitchFamily="34" charset="-122"/>
                <a:cs typeface="+mn-ea"/>
              </a:rPr>
              <a:t>。中国模拟芯片未来进步空间巨大！</a:t>
            </a:r>
            <a:endParaRPr lang="en-US" altLang="zh-CN" sz="1200" dirty="0">
              <a:solidFill>
                <a:srgbClr val="586371"/>
              </a:solidFill>
              <a:latin typeface="Microsoft YaHei" panose="020B0503020204020204" pitchFamily="34" charset="-122"/>
              <a:ea typeface="Microsoft YaHei" panose="020B0503020204020204" pitchFamily="34" charset="-122"/>
              <a:cs typeface="+mn-ea"/>
              <a:sym typeface="+mn-lt"/>
            </a:endParaRPr>
          </a:p>
        </p:txBody>
      </p:sp>
      <p:sp>
        <p:nvSpPr>
          <p:cNvPr id="16" name="矩形 15"/>
          <p:cNvSpPr/>
          <p:nvPr/>
        </p:nvSpPr>
        <p:spPr>
          <a:xfrm>
            <a:off x="5872451" y="1621959"/>
            <a:ext cx="4767840" cy="890693"/>
          </a:xfrm>
          <a:prstGeom prst="rect">
            <a:avLst/>
          </a:prstGeom>
        </p:spPr>
        <p:txBody>
          <a:bodyPr wrap="square">
            <a:spAutoFit/>
          </a:bodyPr>
          <a:lstStyle/>
          <a:p>
            <a:pPr marL="171450" indent="-171450">
              <a:lnSpc>
                <a:spcPct val="150000"/>
              </a:lnSpc>
              <a:buFont typeface="Wingdings" panose="05000000000000000000" pitchFamily="2" charset="2"/>
              <a:buChar char="Ø"/>
            </a:pPr>
            <a:r>
              <a:rPr lang="zh-CN" altLang="en-US" sz="1200" dirty="0">
                <a:solidFill>
                  <a:srgbClr val="586371"/>
                </a:solidFill>
                <a:latin typeface="Microsoft YaHei" panose="020B0503020204020204" pitchFamily="34" charset="-122"/>
                <a:ea typeface="Microsoft YaHei" panose="020B0503020204020204" pitchFamily="34" charset="-122"/>
                <a:cs typeface="+mn-ea"/>
                <a:sym typeface="+mn-lt"/>
              </a:rPr>
              <a:t>我国集成电路行业市场规模近年来快速增长，</a:t>
            </a:r>
            <a:r>
              <a:rPr lang="en-US" altLang="zh-CN" sz="1200" dirty="0">
                <a:solidFill>
                  <a:srgbClr val="586371"/>
                </a:solidFill>
                <a:latin typeface="Microsoft YaHei" panose="020B0503020204020204" pitchFamily="34" charset="-122"/>
                <a:ea typeface="Microsoft YaHei" panose="020B0503020204020204" pitchFamily="34" charset="-122"/>
                <a:cs typeface="+mn-ea"/>
                <a:sym typeface="+mn-lt"/>
              </a:rPr>
              <a:t>2015</a:t>
            </a:r>
            <a:r>
              <a:rPr lang="zh-CN" altLang="en-US" sz="1200" dirty="0">
                <a:solidFill>
                  <a:srgbClr val="586371"/>
                </a:solidFill>
                <a:latin typeface="Microsoft YaHei" panose="020B0503020204020204" pitchFamily="34" charset="-122"/>
                <a:ea typeface="Microsoft YaHei" panose="020B0503020204020204" pitchFamily="34" charset="-122"/>
                <a:cs typeface="+mn-ea"/>
                <a:sym typeface="+mn-lt"/>
              </a:rPr>
              <a:t>年到</a:t>
            </a:r>
            <a:r>
              <a:rPr lang="en-US" altLang="zh-CN" sz="1200" dirty="0">
                <a:solidFill>
                  <a:srgbClr val="586371"/>
                </a:solidFill>
                <a:latin typeface="Microsoft YaHei" panose="020B0503020204020204" pitchFamily="34" charset="-122"/>
                <a:ea typeface="Microsoft YaHei" panose="020B0503020204020204" pitchFamily="34" charset="-122"/>
                <a:cs typeface="+mn-ea"/>
                <a:sym typeface="+mn-lt"/>
              </a:rPr>
              <a:t>2019</a:t>
            </a:r>
            <a:r>
              <a:rPr lang="zh-CN" altLang="en-US" sz="1200" dirty="0">
                <a:solidFill>
                  <a:srgbClr val="586371"/>
                </a:solidFill>
                <a:latin typeface="Microsoft YaHei" panose="020B0503020204020204" pitchFamily="34" charset="-122"/>
                <a:ea typeface="Microsoft YaHei" panose="020B0503020204020204" pitchFamily="34" charset="-122"/>
                <a:cs typeface="+mn-ea"/>
                <a:sym typeface="+mn-lt"/>
              </a:rPr>
              <a:t>年复合增长率达</a:t>
            </a:r>
            <a:r>
              <a:rPr lang="en-US" altLang="zh-CN" sz="1200" dirty="0">
                <a:solidFill>
                  <a:srgbClr val="0077AE"/>
                </a:solidFill>
                <a:latin typeface="Microsoft YaHei" panose="020B0503020204020204" pitchFamily="34" charset="-122"/>
                <a:ea typeface="Microsoft YaHei" panose="020B0503020204020204" pitchFamily="34" charset="-122"/>
                <a:cs typeface="+mn-ea"/>
                <a:sym typeface="+mn-lt"/>
              </a:rPr>
              <a:t>19.62%</a:t>
            </a:r>
            <a:r>
              <a:rPr lang="zh-CN" altLang="en-US" sz="1200" dirty="0">
                <a:solidFill>
                  <a:srgbClr val="586371"/>
                </a:solidFill>
                <a:latin typeface="Microsoft YaHei" panose="020B0503020204020204" pitchFamily="34" charset="-122"/>
                <a:ea typeface="Microsoft YaHei" panose="020B0503020204020204" pitchFamily="34" charset="-122"/>
                <a:cs typeface="+mn-ea"/>
                <a:sym typeface="+mn-lt"/>
              </a:rPr>
              <a:t>，未来我国集成电路行业的市场规模仍将以较快的速度增长。</a:t>
            </a:r>
            <a:endParaRPr lang="zh-CN" altLang="en-US" sz="1200" dirty="0">
              <a:solidFill>
                <a:srgbClr val="586371"/>
              </a:solidFill>
              <a:latin typeface="Microsoft YaHei" panose="020B0503020204020204" pitchFamily="34" charset="-122"/>
              <a:ea typeface="Microsoft YaHei" panose="020B0503020204020204" pitchFamily="34" charset="-122"/>
              <a:cs typeface="+mn-ea"/>
            </a:endParaRPr>
          </a:p>
        </p:txBody>
      </p:sp>
      <p:sp>
        <p:nvSpPr>
          <p:cNvPr id="18" name="矩形 17"/>
          <p:cNvSpPr/>
          <p:nvPr/>
        </p:nvSpPr>
        <p:spPr>
          <a:xfrm>
            <a:off x="5872451" y="5081809"/>
            <a:ext cx="4767840" cy="1447832"/>
          </a:xfrm>
          <a:prstGeom prst="rect">
            <a:avLst/>
          </a:prstGeom>
        </p:spPr>
        <p:txBody>
          <a:bodyPr wrap="square">
            <a:spAutoFit/>
          </a:bodyPr>
          <a:lstStyle/>
          <a:p>
            <a:pPr marL="171450" indent="-171450" defTabSz="914400">
              <a:lnSpc>
                <a:spcPct val="150000"/>
              </a:lnSpc>
              <a:buFont typeface="Wingdings" panose="05000000000000000000" pitchFamily="2" charset="2"/>
              <a:buChar char="Ø"/>
            </a:pPr>
            <a:r>
              <a:rPr lang="zh-CN" altLang="en-US" sz="1200" dirty="0">
                <a:solidFill>
                  <a:srgbClr val="586371"/>
                </a:solidFill>
                <a:latin typeface="Microsoft YaHei" panose="020B0503020204020204" pitchFamily="34" charset="-122"/>
                <a:ea typeface="Microsoft YaHei" panose="020B0503020204020204" pitchFamily="34" charset="-122"/>
                <a:cs typeface="+mn-ea"/>
              </a:rPr>
              <a:t>白皮书指出，我国集成电路产业存在的问题：</a:t>
            </a:r>
            <a:endParaRPr lang="en-US" altLang="zh-CN" sz="1200" dirty="0">
              <a:solidFill>
                <a:srgbClr val="586371"/>
              </a:solidFill>
              <a:latin typeface="Microsoft YaHei" panose="020B0503020204020204" pitchFamily="34" charset="-122"/>
              <a:ea typeface="Microsoft YaHei" panose="020B0503020204020204" pitchFamily="34" charset="-122"/>
              <a:cs typeface="+mn-ea"/>
            </a:endParaRPr>
          </a:p>
          <a:p>
            <a:pPr marL="171450" indent="-171450" defTabSz="914400">
              <a:lnSpc>
                <a:spcPct val="150000"/>
              </a:lnSpc>
              <a:buFont typeface="Arial" panose="020B0604020202020204" pitchFamily="34" charset="0"/>
              <a:buChar char="•"/>
            </a:pPr>
            <a:r>
              <a:rPr lang="zh-CN" altLang="en-US" sz="1200" dirty="0">
                <a:solidFill>
                  <a:srgbClr val="586371"/>
                </a:solidFill>
                <a:latin typeface="Microsoft YaHei" panose="020B0503020204020204" pitchFamily="34" charset="-122"/>
                <a:ea typeface="Microsoft YaHei" panose="020B0503020204020204" pitchFamily="34" charset="-122"/>
                <a:cs typeface="+mn-ea"/>
              </a:rPr>
              <a:t>我国领军和高端</a:t>
            </a:r>
            <a:r>
              <a:rPr lang="zh-CN" altLang="en-US" sz="1200" dirty="0">
                <a:solidFill>
                  <a:srgbClr val="0077AE"/>
                </a:solidFill>
                <a:latin typeface="Microsoft YaHei" panose="020B0503020204020204" pitchFamily="34" charset="-122"/>
                <a:ea typeface="Microsoft YaHei" panose="020B0503020204020204" pitchFamily="34" charset="-122"/>
                <a:cs typeface="+mn-ea"/>
              </a:rPr>
              <a:t>人才紧缺</a:t>
            </a:r>
            <a:r>
              <a:rPr lang="zh-CN" altLang="en-US" sz="1200" dirty="0">
                <a:solidFill>
                  <a:srgbClr val="586371"/>
                </a:solidFill>
                <a:latin typeface="Microsoft YaHei" panose="020B0503020204020204" pitchFamily="34" charset="-122"/>
                <a:ea typeface="Microsoft YaHei" panose="020B0503020204020204" pitchFamily="34" charset="-122"/>
                <a:cs typeface="+mn-ea"/>
              </a:rPr>
              <a:t>，对人才吸引力不足。</a:t>
            </a:r>
          </a:p>
          <a:p>
            <a:pPr marL="171450" indent="-171450" defTabSz="914400">
              <a:lnSpc>
                <a:spcPct val="150000"/>
              </a:lnSpc>
              <a:buFont typeface="Arial" panose="020B0604020202020204" pitchFamily="34" charset="0"/>
              <a:buChar char="•"/>
            </a:pPr>
            <a:r>
              <a:rPr lang="zh-CN" altLang="en-US" sz="1200" dirty="0">
                <a:solidFill>
                  <a:srgbClr val="586371"/>
                </a:solidFill>
                <a:latin typeface="Microsoft YaHei" panose="020B0503020204020204" pitchFamily="34" charset="-122"/>
                <a:ea typeface="Microsoft YaHei" panose="020B0503020204020204" pitchFamily="34" charset="-122"/>
                <a:cs typeface="+mn-ea"/>
              </a:rPr>
              <a:t>我国</a:t>
            </a:r>
            <a:r>
              <a:rPr lang="zh-CN" altLang="en-US" sz="1200" dirty="0">
                <a:solidFill>
                  <a:srgbClr val="0077AE"/>
                </a:solidFill>
                <a:latin typeface="Microsoft YaHei" panose="020B0503020204020204" pitchFamily="34" charset="-122"/>
                <a:ea typeface="Microsoft YaHei" panose="020B0503020204020204" pitchFamily="34" charset="-122"/>
                <a:cs typeface="+mn-ea"/>
              </a:rPr>
              <a:t>人才培养师资和实训条件支撑不足</a:t>
            </a:r>
            <a:r>
              <a:rPr lang="zh-CN" altLang="en-US" sz="1200" dirty="0">
                <a:solidFill>
                  <a:srgbClr val="586371"/>
                </a:solidFill>
                <a:latin typeface="Microsoft YaHei" panose="020B0503020204020204" pitchFamily="34" charset="-122"/>
                <a:ea typeface="Microsoft YaHei" panose="020B0503020204020204" pitchFamily="34" charset="-122"/>
                <a:cs typeface="+mn-ea"/>
              </a:rPr>
              <a:t>，产教融合有待增强。</a:t>
            </a:r>
          </a:p>
          <a:p>
            <a:pPr marL="171450" indent="-171450" defTabSz="914400">
              <a:lnSpc>
                <a:spcPct val="150000"/>
              </a:lnSpc>
              <a:buFont typeface="Arial" panose="020B0604020202020204" pitchFamily="34" charset="0"/>
              <a:buChar char="•"/>
            </a:pPr>
            <a:r>
              <a:rPr lang="zh-CN" altLang="en-US" sz="1200" dirty="0">
                <a:solidFill>
                  <a:srgbClr val="586371"/>
                </a:solidFill>
                <a:latin typeface="Microsoft YaHei" panose="020B0503020204020204" pitchFamily="34" charset="-122"/>
                <a:ea typeface="Microsoft YaHei" panose="020B0503020204020204" pitchFamily="34" charset="-122"/>
                <a:cs typeface="+mn-ea"/>
              </a:rPr>
              <a:t>我国集成电路企业间挖角现象普遍，导致人才流动频繁。</a:t>
            </a:r>
          </a:p>
          <a:p>
            <a:pPr marL="171450" indent="-171450" defTabSz="914400">
              <a:lnSpc>
                <a:spcPct val="150000"/>
              </a:lnSpc>
              <a:buFont typeface="Arial" panose="020B0604020202020204" pitchFamily="34" charset="0"/>
              <a:buChar char="•"/>
            </a:pPr>
            <a:r>
              <a:rPr lang="zh-CN" altLang="en-US" sz="1200" dirty="0">
                <a:solidFill>
                  <a:srgbClr val="586371"/>
                </a:solidFill>
                <a:latin typeface="Microsoft YaHei" panose="020B0503020204020204" pitchFamily="34" charset="-122"/>
                <a:ea typeface="Microsoft YaHei" panose="020B0503020204020204" pitchFamily="34" charset="-122"/>
                <a:cs typeface="+mn-ea"/>
              </a:rPr>
              <a:t>我国对智力资本的重视程度不足，科研人员活力有待激发。</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3"/>
          <p:cNvSpPr>
            <a:spLocks noChangeArrowheads="1"/>
          </p:cNvSpPr>
          <p:nvPr/>
        </p:nvSpPr>
        <p:spPr bwMode="auto">
          <a:xfrm>
            <a:off x="224433" y="1734700"/>
            <a:ext cx="5994843" cy="4934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2010</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7</a:t>
            </a:r>
            <a:r>
              <a:rPr lang="zh-CN" altLang="en-US" sz="1100" dirty="0">
                <a:solidFill>
                  <a:srgbClr val="586371"/>
                </a:solidFill>
                <a:latin typeface="Microsoft YaHei" panose="020B0503020204020204" pitchFamily="34" charset="-122"/>
                <a:ea typeface="Microsoft YaHei" panose="020B0503020204020204" pitchFamily="34" charset="-122"/>
              </a:rPr>
              <a:t>月，</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国家中长期教育改革和发展规划纲要（</a:t>
            </a:r>
            <a:r>
              <a:rPr lang="en-US" altLang="zh-CN" sz="1100" dirty="0">
                <a:solidFill>
                  <a:srgbClr val="586371"/>
                </a:solidFill>
                <a:latin typeface="Microsoft YaHei" panose="020B0503020204020204" pitchFamily="34" charset="-122"/>
                <a:ea typeface="Microsoft YaHei" panose="020B0503020204020204" pitchFamily="34" charset="-122"/>
              </a:rPr>
              <a:t>2010-2020</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2014</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6</a:t>
            </a:r>
            <a:r>
              <a:rPr lang="zh-CN" altLang="en-US" sz="1100" dirty="0">
                <a:solidFill>
                  <a:srgbClr val="586371"/>
                </a:solidFill>
                <a:latin typeface="Microsoft YaHei" panose="020B0503020204020204" pitchFamily="34" charset="-122"/>
                <a:ea typeface="Microsoft YaHei" panose="020B0503020204020204" pitchFamily="34" charset="-122"/>
              </a:rPr>
              <a:t>月，国务院印发</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国务院关于加快发展现代职业教育的决定</a:t>
            </a:r>
            <a:r>
              <a:rPr lang="en-US" altLang="zh-CN" sz="1100" dirty="0">
                <a:solidFill>
                  <a:srgbClr val="586371"/>
                </a:solidFill>
                <a:latin typeface="Microsoft YaHei" panose="020B0503020204020204" pitchFamily="34" charset="-122"/>
                <a:ea typeface="Microsoft YaHei" panose="020B0503020204020204" pitchFamily="34" charset="-122"/>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2014</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6</a:t>
            </a:r>
            <a:r>
              <a:rPr lang="zh-CN" altLang="en-US" sz="1100" dirty="0">
                <a:solidFill>
                  <a:srgbClr val="586371"/>
                </a:solidFill>
                <a:latin typeface="Microsoft YaHei" panose="020B0503020204020204" pitchFamily="34" charset="-122"/>
                <a:ea typeface="Microsoft YaHei" panose="020B0503020204020204" pitchFamily="34" charset="-122"/>
              </a:rPr>
              <a:t>月，教育部等六部印发</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现代职业教育体系建设规划（</a:t>
            </a:r>
            <a:r>
              <a:rPr lang="en-US" altLang="zh-CN" sz="1100" dirty="0">
                <a:solidFill>
                  <a:srgbClr val="586371"/>
                </a:solidFill>
                <a:latin typeface="Microsoft YaHei" panose="020B0503020204020204" pitchFamily="34" charset="-122"/>
                <a:ea typeface="Microsoft YaHei" panose="020B0503020204020204" pitchFamily="34" charset="-122"/>
              </a:rPr>
              <a:t>2014-2020</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2014</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6</a:t>
            </a:r>
            <a:r>
              <a:rPr lang="zh-CN" altLang="en-US" sz="1100" dirty="0">
                <a:solidFill>
                  <a:srgbClr val="586371"/>
                </a:solidFill>
                <a:latin typeface="Microsoft YaHei" panose="020B0503020204020204" pitchFamily="34" charset="-122"/>
                <a:ea typeface="Microsoft YaHei" panose="020B0503020204020204" pitchFamily="34" charset="-122"/>
              </a:rPr>
              <a:t>月：国务院印发</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国家集成电路产业发展推进纲要</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，加快建设示范性微电子学院。</a:t>
            </a:r>
            <a:endParaRPr lang="en-US" altLang="zh-CN" sz="1100" dirty="0">
              <a:solidFill>
                <a:srgbClr val="586371"/>
              </a:solidFill>
              <a:latin typeface="Microsoft YaHei" panose="020B0503020204020204" pitchFamily="34" charset="-122"/>
              <a:ea typeface="Microsoft YaHei" panose="020B0503020204020204" pitchFamily="34" charset="-122"/>
            </a:endParaRP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2016</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5</a:t>
            </a:r>
            <a:r>
              <a:rPr lang="zh-CN" altLang="en-US" sz="1100" dirty="0">
                <a:solidFill>
                  <a:srgbClr val="586371"/>
                </a:solidFill>
                <a:latin typeface="Microsoft YaHei" panose="020B0503020204020204" pitchFamily="34" charset="-122"/>
                <a:ea typeface="Microsoft YaHei" panose="020B0503020204020204" pitchFamily="34" charset="-122"/>
              </a:rPr>
              <a:t>月：教育部等七部门提出</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关于加强集成电路人才培养的意见</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，推进产学研融合协同育人。</a:t>
            </a:r>
            <a:endParaRPr lang="en-US" altLang="zh-CN" sz="1100" dirty="0">
              <a:solidFill>
                <a:srgbClr val="586371"/>
              </a:solidFill>
              <a:latin typeface="Microsoft YaHei" panose="020B0503020204020204" pitchFamily="34" charset="-122"/>
              <a:ea typeface="Microsoft YaHei" panose="020B0503020204020204" pitchFamily="34" charset="-122"/>
            </a:endParaRP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2017</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11</a:t>
            </a:r>
            <a:r>
              <a:rPr lang="zh-CN" altLang="en-US" sz="1100" dirty="0">
                <a:solidFill>
                  <a:srgbClr val="586371"/>
                </a:solidFill>
                <a:latin typeface="Microsoft YaHei" panose="020B0503020204020204" pitchFamily="34" charset="-122"/>
                <a:ea typeface="Microsoft YaHei" panose="020B0503020204020204" pitchFamily="34" charset="-122"/>
              </a:rPr>
              <a:t>月：十九大报告明确提出“深化产教融合校企合作”</a:t>
            </a:r>
            <a:endParaRPr lang="en-US" altLang="zh-CN" sz="1100" dirty="0">
              <a:solidFill>
                <a:srgbClr val="586371"/>
              </a:solidFill>
              <a:latin typeface="Microsoft YaHei" panose="020B0503020204020204" pitchFamily="34" charset="-122"/>
              <a:ea typeface="Microsoft YaHei" panose="020B0503020204020204" pitchFamily="34" charset="-122"/>
            </a:endParaRP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2017</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12</a:t>
            </a:r>
            <a:r>
              <a:rPr lang="zh-CN" altLang="en-US" sz="1100" dirty="0">
                <a:solidFill>
                  <a:srgbClr val="586371"/>
                </a:solidFill>
                <a:latin typeface="Microsoft YaHei" panose="020B0503020204020204" pitchFamily="34" charset="-122"/>
                <a:ea typeface="Microsoft YaHei" panose="020B0503020204020204" pitchFamily="34" charset="-122"/>
              </a:rPr>
              <a:t>月：国务院颁布</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关于深化产教融合若干意见</a:t>
            </a:r>
            <a:r>
              <a:rPr lang="en-US" altLang="zh-CN" sz="1100" dirty="0">
                <a:solidFill>
                  <a:srgbClr val="586371"/>
                </a:solidFill>
                <a:latin typeface="Microsoft YaHei" panose="020B0503020204020204" pitchFamily="34" charset="-122"/>
                <a:ea typeface="Microsoft YaHei" panose="020B0503020204020204" pitchFamily="34" charset="-122"/>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2018</a:t>
            </a:r>
            <a:r>
              <a:rPr lang="zh-CN" altLang="en-US" sz="1100" dirty="0">
                <a:solidFill>
                  <a:srgbClr val="586371"/>
                </a:solidFill>
                <a:latin typeface="Microsoft YaHei" panose="020B0503020204020204" pitchFamily="34" charset="-122"/>
                <a:ea typeface="Microsoft YaHei" panose="020B0503020204020204" pitchFamily="34" charset="-122"/>
              </a:rPr>
              <a:t>年 </a:t>
            </a:r>
            <a:r>
              <a:rPr lang="en-US" altLang="zh-CN" sz="1100" dirty="0">
                <a:solidFill>
                  <a:srgbClr val="586371"/>
                </a:solidFill>
                <a:latin typeface="Microsoft YaHei" panose="020B0503020204020204" pitchFamily="34" charset="-122"/>
                <a:ea typeface="Microsoft YaHei" panose="020B0503020204020204" pitchFamily="34" charset="-122"/>
              </a:rPr>
              <a:t>1</a:t>
            </a:r>
            <a:r>
              <a:rPr lang="zh-CN" altLang="en-US" sz="1100" dirty="0">
                <a:solidFill>
                  <a:srgbClr val="586371"/>
                </a:solidFill>
                <a:latin typeface="Microsoft YaHei" panose="020B0503020204020204" pitchFamily="34" charset="-122"/>
                <a:ea typeface="Microsoft YaHei" panose="020B0503020204020204" pitchFamily="34" charset="-122"/>
              </a:rPr>
              <a:t>月：教育部联合六部委颁布</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职业学校校企合作促进办法</a:t>
            </a:r>
            <a:r>
              <a:rPr lang="en-US" altLang="zh-CN" sz="1100" dirty="0">
                <a:solidFill>
                  <a:srgbClr val="586371"/>
                </a:solidFill>
                <a:latin typeface="Microsoft YaHei" panose="020B0503020204020204" pitchFamily="34" charset="-122"/>
                <a:ea typeface="Microsoft YaHei" panose="020B0503020204020204" pitchFamily="34" charset="-122"/>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2019</a:t>
            </a:r>
            <a:r>
              <a:rPr lang="zh-CN" altLang="en-US" sz="1100" dirty="0">
                <a:solidFill>
                  <a:srgbClr val="586371"/>
                </a:solidFill>
                <a:latin typeface="Microsoft YaHei" panose="020B0503020204020204" pitchFamily="34" charset="-122"/>
                <a:ea typeface="Microsoft YaHei" panose="020B0503020204020204" pitchFamily="34" charset="-122"/>
              </a:rPr>
              <a:t>年 </a:t>
            </a:r>
            <a:r>
              <a:rPr lang="en-US" altLang="zh-CN" sz="1100" dirty="0">
                <a:solidFill>
                  <a:srgbClr val="586371"/>
                </a:solidFill>
                <a:latin typeface="Microsoft YaHei" panose="020B0503020204020204" pitchFamily="34" charset="-122"/>
                <a:ea typeface="Microsoft YaHei" panose="020B0503020204020204" pitchFamily="34" charset="-122"/>
              </a:rPr>
              <a:t>2</a:t>
            </a:r>
            <a:r>
              <a:rPr lang="zh-CN" altLang="en-US" sz="1100" dirty="0">
                <a:solidFill>
                  <a:srgbClr val="586371"/>
                </a:solidFill>
                <a:latin typeface="Microsoft YaHei" panose="020B0503020204020204" pitchFamily="34" charset="-122"/>
                <a:ea typeface="Microsoft YaHei" panose="020B0503020204020204" pitchFamily="34" charset="-122"/>
              </a:rPr>
              <a:t>月：国务院印发</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国家职业教育改革实施方案</a:t>
            </a:r>
            <a:r>
              <a:rPr lang="en-US" altLang="zh-CN" sz="1100" dirty="0">
                <a:solidFill>
                  <a:srgbClr val="586371"/>
                </a:solidFill>
                <a:latin typeface="Microsoft YaHei" panose="020B0503020204020204" pitchFamily="34" charset="-122"/>
                <a:ea typeface="Microsoft YaHei" panose="020B0503020204020204" pitchFamily="34" charset="-122"/>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2019</a:t>
            </a:r>
            <a:r>
              <a:rPr lang="zh-CN" altLang="en-US" sz="1100" dirty="0">
                <a:solidFill>
                  <a:srgbClr val="586371"/>
                </a:solidFill>
                <a:latin typeface="Microsoft YaHei" panose="020B0503020204020204" pitchFamily="34" charset="-122"/>
                <a:ea typeface="Microsoft YaHei" panose="020B0503020204020204" pitchFamily="34" charset="-122"/>
              </a:rPr>
              <a:t>年 </a:t>
            </a:r>
            <a:r>
              <a:rPr lang="en-US" altLang="zh-CN" sz="1100" dirty="0">
                <a:solidFill>
                  <a:srgbClr val="586371"/>
                </a:solidFill>
                <a:latin typeface="Microsoft YaHei" panose="020B0503020204020204" pitchFamily="34" charset="-122"/>
                <a:ea typeface="Microsoft YaHei" panose="020B0503020204020204" pitchFamily="34" charset="-122"/>
              </a:rPr>
              <a:t>2</a:t>
            </a:r>
            <a:r>
              <a:rPr lang="zh-CN" altLang="en-US" sz="1100" dirty="0">
                <a:solidFill>
                  <a:srgbClr val="586371"/>
                </a:solidFill>
                <a:latin typeface="Microsoft YaHei" panose="020B0503020204020204" pitchFamily="34" charset="-122"/>
                <a:ea typeface="Microsoft YaHei" panose="020B0503020204020204" pitchFamily="34" charset="-122"/>
              </a:rPr>
              <a:t>月：中共中央、国务院印发</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中国教育现代化</a:t>
            </a:r>
            <a:r>
              <a:rPr lang="en-US" altLang="zh-CN" sz="1100" dirty="0">
                <a:solidFill>
                  <a:srgbClr val="586371"/>
                </a:solidFill>
                <a:latin typeface="Microsoft YaHei" panose="020B0503020204020204" pitchFamily="34" charset="-122"/>
                <a:ea typeface="Microsoft YaHei" panose="020B0503020204020204" pitchFamily="34" charset="-122"/>
              </a:rPr>
              <a:t>2035》</a:t>
            </a:r>
          </a:p>
          <a:p>
            <a:pPr marR="19050">
              <a:lnSpc>
                <a:spcPct val="100000"/>
              </a:lnSpc>
              <a:buNone/>
              <a:defRPr/>
            </a:pPr>
            <a:r>
              <a:rPr lang="en-US" altLang="zh-CN" sz="1100" dirty="0">
                <a:solidFill>
                  <a:srgbClr val="586371"/>
                </a:solidFill>
                <a:latin typeface="Microsoft YaHei" panose="020B0503020204020204" pitchFamily="34" charset="-122"/>
                <a:ea typeface="Microsoft YaHei" panose="020B0503020204020204" pitchFamily="34" charset="-122"/>
              </a:rPr>
              <a:t>2020</a:t>
            </a:r>
            <a:r>
              <a:rPr lang="zh-CN" altLang="en-US" sz="1100" dirty="0">
                <a:solidFill>
                  <a:srgbClr val="586371"/>
                </a:solidFill>
                <a:latin typeface="Microsoft YaHei" panose="020B0503020204020204" pitchFamily="34" charset="-122"/>
                <a:ea typeface="Microsoft YaHei" panose="020B0503020204020204" pitchFamily="34" charset="-122"/>
              </a:rPr>
              <a:t>年 </a:t>
            </a:r>
            <a:r>
              <a:rPr lang="en-US" altLang="zh-CN" sz="1100" dirty="0">
                <a:solidFill>
                  <a:srgbClr val="586371"/>
                </a:solidFill>
                <a:latin typeface="Microsoft YaHei" panose="020B0503020204020204" pitchFamily="34" charset="-122"/>
                <a:ea typeface="Microsoft YaHei" panose="020B0503020204020204" pitchFamily="34" charset="-122"/>
              </a:rPr>
              <a:t>8</a:t>
            </a:r>
            <a:r>
              <a:rPr lang="zh-CN" altLang="en-US" sz="1100" dirty="0">
                <a:solidFill>
                  <a:srgbClr val="586371"/>
                </a:solidFill>
                <a:latin typeface="Microsoft YaHei" panose="020B0503020204020204" pitchFamily="34" charset="-122"/>
                <a:ea typeface="Microsoft YaHei" panose="020B0503020204020204" pitchFamily="34" charset="-122"/>
              </a:rPr>
              <a:t>月：</a:t>
            </a:r>
            <a:r>
              <a:rPr lang="zh-CN" altLang="en-US" sz="1100" dirty="0">
                <a:solidFill>
                  <a:srgbClr val="586371"/>
                </a:solidFill>
                <a:latin typeface="Microsoft YaHei" panose="020B0503020204020204" pitchFamily="34" charset="-122"/>
                <a:ea typeface="Microsoft YaHei" panose="020B0503020204020204" pitchFamily="34" charset="-122"/>
                <a:sym typeface="Open Sans Cond Light" charset="0"/>
              </a:rPr>
              <a:t>教育部、工信部印发</a:t>
            </a:r>
            <a:r>
              <a:rPr lang="en-US" altLang="zh-CN" sz="1100" dirty="0">
                <a:solidFill>
                  <a:srgbClr val="586371"/>
                </a:solidFill>
                <a:latin typeface="Microsoft YaHei" panose="020B0503020204020204" pitchFamily="34" charset="-122"/>
                <a:ea typeface="Microsoft YaHei" panose="020B0503020204020204" pitchFamily="34" charset="-122"/>
                <a:sym typeface="Open Sans Cond Light" charset="0"/>
              </a:rPr>
              <a:t>《</a:t>
            </a:r>
            <a:r>
              <a:rPr lang="zh-CN" altLang="en-US" sz="1100" dirty="0">
                <a:solidFill>
                  <a:srgbClr val="586371"/>
                </a:solidFill>
                <a:latin typeface="Microsoft YaHei" panose="020B0503020204020204" pitchFamily="34" charset="-122"/>
                <a:ea typeface="Microsoft YaHei" panose="020B0503020204020204" pitchFamily="34" charset="-122"/>
                <a:sym typeface="Open Sans Cond Light" charset="0"/>
              </a:rPr>
              <a:t>现代产业学院建设指南（试行）</a:t>
            </a:r>
            <a:r>
              <a:rPr lang="en-US" altLang="zh-CN" sz="1100" dirty="0">
                <a:solidFill>
                  <a:srgbClr val="586371"/>
                </a:solidFill>
                <a:latin typeface="Microsoft YaHei" panose="020B0503020204020204" pitchFamily="34" charset="-122"/>
                <a:ea typeface="Microsoft YaHei" panose="020B0503020204020204" pitchFamily="34" charset="-122"/>
                <a:sym typeface="Open Sans Cond Light" charset="0"/>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2020</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8</a:t>
            </a:r>
            <a:r>
              <a:rPr lang="zh-CN" altLang="en-US" sz="1100" dirty="0">
                <a:solidFill>
                  <a:srgbClr val="586371"/>
                </a:solidFill>
                <a:latin typeface="Microsoft YaHei" panose="020B0503020204020204" pitchFamily="34" charset="-122"/>
                <a:ea typeface="Microsoft YaHei" panose="020B0503020204020204" pitchFamily="34" charset="-122"/>
              </a:rPr>
              <a:t>月：国务院印发</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新时期促进集成电路产业和软件产业高质量发展的若干政策</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，鼓励有条件的高校采取与集成电路企业合作的方式，加快推进示范性微电子学院建设。</a:t>
            </a:r>
            <a:endParaRPr lang="en-US" altLang="zh-CN" sz="1100" dirty="0">
              <a:solidFill>
                <a:srgbClr val="586371"/>
              </a:solidFill>
              <a:latin typeface="Microsoft YaHei" panose="020B0503020204020204" pitchFamily="34" charset="-122"/>
              <a:ea typeface="Microsoft YaHei" panose="020B0503020204020204" pitchFamily="34" charset="-122"/>
            </a:endParaRP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2020</a:t>
            </a:r>
            <a:r>
              <a:rPr lang="zh-CN" altLang="en-US" sz="1100" dirty="0">
                <a:solidFill>
                  <a:srgbClr val="586371"/>
                </a:solidFill>
                <a:latin typeface="Microsoft YaHei" panose="020B0503020204020204" pitchFamily="34" charset="-122"/>
                <a:ea typeface="Microsoft YaHei" panose="020B0503020204020204" pitchFamily="34" charset="-122"/>
              </a:rPr>
              <a:t>年 </a:t>
            </a:r>
            <a:r>
              <a:rPr lang="en-US" altLang="zh-CN" sz="1100" dirty="0">
                <a:solidFill>
                  <a:srgbClr val="586371"/>
                </a:solidFill>
                <a:latin typeface="Microsoft YaHei" panose="020B0503020204020204" pitchFamily="34" charset="-122"/>
                <a:ea typeface="Microsoft YaHei" panose="020B0503020204020204" pitchFamily="34" charset="-122"/>
              </a:rPr>
              <a:t>9</a:t>
            </a:r>
            <a:r>
              <a:rPr lang="zh-CN" altLang="en-US" sz="1100" dirty="0">
                <a:solidFill>
                  <a:srgbClr val="586371"/>
                </a:solidFill>
                <a:latin typeface="Microsoft YaHei" panose="020B0503020204020204" pitchFamily="34" charset="-122"/>
                <a:ea typeface="Microsoft YaHei" panose="020B0503020204020204" pitchFamily="34" charset="-122"/>
              </a:rPr>
              <a:t>月：国务院九部委印发</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职业教育提质培优行动计划（</a:t>
            </a:r>
            <a:r>
              <a:rPr lang="en-US" altLang="zh-CN" sz="1100" dirty="0">
                <a:solidFill>
                  <a:srgbClr val="586371"/>
                </a:solidFill>
                <a:latin typeface="Microsoft YaHei" panose="020B0503020204020204" pitchFamily="34" charset="-122"/>
                <a:ea typeface="Microsoft YaHei" panose="020B0503020204020204" pitchFamily="34" charset="-122"/>
              </a:rPr>
              <a:t>2020-2023</a:t>
            </a:r>
            <a:r>
              <a:rPr lang="zh-CN" altLang="en-US" sz="1100" dirty="0">
                <a:solidFill>
                  <a:srgbClr val="586371"/>
                </a:solidFill>
                <a:latin typeface="Microsoft YaHei" panose="020B0503020204020204" pitchFamily="34" charset="-122"/>
                <a:ea typeface="Microsoft YaHei" panose="020B0503020204020204" pitchFamily="34" charset="-122"/>
              </a:rPr>
              <a:t>）</a:t>
            </a:r>
            <a:r>
              <a:rPr lang="en-US" altLang="zh-CN" sz="1100" dirty="0">
                <a:solidFill>
                  <a:srgbClr val="586371"/>
                </a:solidFill>
                <a:latin typeface="Microsoft YaHei" panose="020B0503020204020204" pitchFamily="34" charset="-122"/>
                <a:ea typeface="Microsoft YaHei" panose="020B0503020204020204" pitchFamily="34" charset="-122"/>
              </a:rPr>
              <a:t>》</a:t>
            </a: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2021</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1</a:t>
            </a:r>
            <a:r>
              <a:rPr lang="zh-CN" altLang="en-US" sz="1100" dirty="0">
                <a:solidFill>
                  <a:srgbClr val="586371"/>
                </a:solidFill>
                <a:latin typeface="Microsoft YaHei" panose="020B0503020204020204" pitchFamily="34" charset="-122"/>
                <a:ea typeface="Microsoft YaHei" panose="020B0503020204020204" pitchFamily="34" charset="-122"/>
              </a:rPr>
              <a:t>月：国务院学位委员会、教育部发布</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关于设置“交叉学科”门类、“集成电路科学与工程”和“国家安全学”一级学科的通知</a:t>
            </a:r>
            <a:r>
              <a:rPr lang="en-US" altLang="zh-CN" sz="1100" dirty="0">
                <a:solidFill>
                  <a:srgbClr val="586371"/>
                </a:solidFill>
                <a:latin typeface="Microsoft YaHei" panose="020B0503020204020204" pitchFamily="34" charset="-122"/>
                <a:ea typeface="Microsoft YaHei" panose="020B0503020204020204" pitchFamily="34" charset="-122"/>
              </a:rPr>
              <a:t>》</a:t>
            </a:r>
            <a:r>
              <a:rPr lang="zh-CN" altLang="en-US" sz="1100" dirty="0">
                <a:solidFill>
                  <a:srgbClr val="586371"/>
                </a:solidFill>
                <a:latin typeface="Microsoft YaHei" panose="020B0503020204020204" pitchFamily="34" charset="-122"/>
                <a:ea typeface="Microsoft YaHei" panose="020B0503020204020204" pitchFamily="34" charset="-122"/>
              </a:rPr>
              <a:t>，促进集成电路人才培养。</a:t>
            </a:r>
            <a:endParaRPr lang="en-US" altLang="zh-CN" sz="1100" dirty="0">
              <a:solidFill>
                <a:srgbClr val="586371"/>
              </a:solidFill>
              <a:latin typeface="Microsoft YaHei" panose="020B0503020204020204" pitchFamily="34" charset="-122"/>
              <a:ea typeface="Microsoft YaHei" panose="020B0503020204020204" pitchFamily="34" charset="-122"/>
            </a:endParaRPr>
          </a:p>
          <a:p>
            <a:pPr marR="19050">
              <a:lnSpc>
                <a:spcPct val="100000"/>
              </a:lnSpc>
              <a:buNone/>
            </a:pPr>
            <a:r>
              <a:rPr lang="en-US" altLang="zh-CN" sz="1100" dirty="0">
                <a:solidFill>
                  <a:srgbClr val="586371"/>
                </a:solidFill>
                <a:latin typeface="Microsoft YaHei" panose="020B0503020204020204" pitchFamily="34" charset="-122"/>
                <a:ea typeface="Microsoft YaHei" panose="020B0503020204020204" pitchFamily="34" charset="-122"/>
              </a:rPr>
              <a:t>2021</a:t>
            </a:r>
            <a:r>
              <a:rPr lang="zh-CN" altLang="en-US" sz="1100" dirty="0">
                <a:solidFill>
                  <a:srgbClr val="586371"/>
                </a:solidFill>
                <a:latin typeface="Microsoft YaHei" panose="020B0503020204020204" pitchFamily="34" charset="-122"/>
                <a:ea typeface="Microsoft YaHei" panose="020B0503020204020204" pitchFamily="34" charset="-122"/>
              </a:rPr>
              <a:t>年</a:t>
            </a:r>
            <a:r>
              <a:rPr lang="en-US" altLang="zh-CN" sz="1100" dirty="0">
                <a:solidFill>
                  <a:srgbClr val="586371"/>
                </a:solidFill>
                <a:latin typeface="Microsoft YaHei" panose="020B0503020204020204" pitchFamily="34" charset="-122"/>
                <a:ea typeface="Microsoft YaHei" panose="020B0503020204020204" pitchFamily="34" charset="-122"/>
              </a:rPr>
              <a:t>3</a:t>
            </a:r>
            <a:r>
              <a:rPr lang="zh-CN" altLang="en-US" sz="1100" dirty="0">
                <a:solidFill>
                  <a:srgbClr val="586371"/>
                </a:solidFill>
                <a:latin typeface="Microsoft YaHei" panose="020B0503020204020204" pitchFamily="34" charset="-122"/>
                <a:ea typeface="Microsoft YaHei" panose="020B0503020204020204" pitchFamily="34" charset="-122"/>
              </a:rPr>
              <a:t>月：政府工作报告“增强职业教育适应性，深化产教融合、校企合作”</a:t>
            </a:r>
            <a:endParaRPr lang="en-US" altLang="zh-CN" sz="1100" dirty="0">
              <a:solidFill>
                <a:srgbClr val="586371"/>
              </a:solidFill>
              <a:latin typeface="Microsoft YaHei" panose="020B0503020204020204" pitchFamily="34" charset="-122"/>
              <a:ea typeface="Microsoft YaHei" panose="020B0503020204020204" pitchFamily="34" charset="-122"/>
            </a:endParaRPr>
          </a:p>
        </p:txBody>
      </p:sp>
      <p:sp>
        <p:nvSpPr>
          <p:cNvPr id="10" name="矩形 9"/>
          <p:cNvSpPr/>
          <p:nvPr/>
        </p:nvSpPr>
        <p:spPr>
          <a:xfrm>
            <a:off x="-3175" y="288925"/>
            <a:ext cx="74613" cy="598488"/>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1" name="矩形 17"/>
          <p:cNvSpPr>
            <a:spLocks noChangeArrowheads="1"/>
          </p:cNvSpPr>
          <p:nvPr/>
        </p:nvSpPr>
        <p:spPr bwMode="auto">
          <a:xfrm>
            <a:off x="239713" y="342900"/>
            <a:ext cx="22240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3.4</a:t>
            </a:r>
            <a:r>
              <a:rPr lang="zh-CN" altLang="en-US" sz="2600" b="1" dirty="0">
                <a:solidFill>
                  <a:srgbClr val="586371"/>
                </a:solidFill>
                <a:latin typeface="微软雅黑" panose="020B0503020204020204" charset="-122"/>
                <a:ea typeface="微软雅黑" panose="020B0503020204020204" charset="-122"/>
              </a:rPr>
              <a:t>政策背景</a:t>
            </a:r>
          </a:p>
        </p:txBody>
      </p:sp>
      <p:sp>
        <p:nvSpPr>
          <p:cNvPr id="12" name="文本框 11"/>
          <p:cNvSpPr txBox="1">
            <a:spLocks noChangeArrowheads="1"/>
          </p:cNvSpPr>
          <p:nvPr/>
        </p:nvSpPr>
        <p:spPr bwMode="auto">
          <a:xfrm>
            <a:off x="2139282" y="492125"/>
            <a:ext cx="3714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Clr>
                <a:schemeClr val="tx2"/>
              </a:buClr>
              <a:buSzPct val="75000"/>
              <a:buFontTx/>
              <a:buNone/>
            </a:pPr>
            <a:r>
              <a:rPr lang="en-US" altLang="zh-CN" sz="1400" b="1" dirty="0">
                <a:solidFill>
                  <a:srgbClr val="0277AC"/>
                </a:solidFill>
                <a:latin typeface="微软雅黑" panose="020B0503020204020204" charset="-122"/>
                <a:ea typeface="微软雅黑" panose="020B0503020204020204" charset="-122"/>
              </a:rPr>
              <a:t>--</a:t>
            </a:r>
            <a:r>
              <a:rPr lang="zh-CN" altLang="en-US" sz="1400" b="1" dirty="0">
                <a:solidFill>
                  <a:srgbClr val="0277AC"/>
                </a:solidFill>
                <a:latin typeface="微软雅黑" panose="020B0503020204020204" charset="-122"/>
                <a:ea typeface="微软雅黑" panose="020B0503020204020204" charset="-122"/>
              </a:rPr>
              <a:t>国家发展战略需要</a:t>
            </a:r>
          </a:p>
        </p:txBody>
      </p:sp>
      <p:pic>
        <p:nvPicPr>
          <p:cNvPr id="2" name="图片 1"/>
          <p:cNvPicPr>
            <a:picLocks noChangeAspect="1"/>
          </p:cNvPicPr>
          <p:nvPr/>
        </p:nvPicPr>
        <p:blipFill rotWithShape="1">
          <a:blip r:embed="rId3"/>
          <a:srcRect l="5575" r="3284"/>
          <a:stretch>
            <a:fillRect/>
          </a:stretch>
        </p:blipFill>
        <p:spPr>
          <a:xfrm>
            <a:off x="6372271" y="0"/>
            <a:ext cx="3371185" cy="3633849"/>
          </a:xfrm>
          <a:prstGeom prst="rect">
            <a:avLst/>
          </a:prstGeom>
          <a:ln>
            <a:solidFill>
              <a:srgbClr val="00A6B2"/>
            </a:solidFill>
            <a:prstDash val="sysDot"/>
          </a:ln>
        </p:spPr>
      </p:pic>
      <p:pic>
        <p:nvPicPr>
          <p:cNvPr id="6" name="图片 5"/>
          <p:cNvPicPr>
            <a:picLocks noChangeAspect="1"/>
          </p:cNvPicPr>
          <p:nvPr/>
        </p:nvPicPr>
        <p:blipFill rotWithShape="1">
          <a:blip r:embed="rId4"/>
          <a:srcRect t="1702"/>
          <a:stretch>
            <a:fillRect/>
          </a:stretch>
        </p:blipFill>
        <p:spPr>
          <a:xfrm>
            <a:off x="8920585" y="2704217"/>
            <a:ext cx="3271415" cy="4153783"/>
          </a:xfrm>
          <a:prstGeom prst="rect">
            <a:avLst/>
          </a:prstGeom>
          <a:ln>
            <a:solidFill>
              <a:srgbClr val="00A6B2"/>
            </a:solidFill>
            <a:prstDash val="sysDot"/>
          </a:ln>
        </p:spPr>
      </p:pic>
      <p:sp>
        <p:nvSpPr>
          <p:cNvPr id="4" name="矩形 3"/>
          <p:cNvSpPr/>
          <p:nvPr/>
        </p:nvSpPr>
        <p:spPr>
          <a:xfrm>
            <a:off x="239713" y="1186460"/>
            <a:ext cx="4288353" cy="338554"/>
          </a:xfrm>
          <a:prstGeom prst="rect">
            <a:avLst/>
          </a:prstGeom>
        </p:spPr>
        <p:txBody>
          <a:bodyPr wrap="none">
            <a:spAutoFit/>
          </a:bodyPr>
          <a:lstStyle/>
          <a:p>
            <a:r>
              <a:rPr lang="zh-CN" altLang="en-US" sz="1600" b="1"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职业教育大规模改革与奋进的号角已经吹响！</a:t>
            </a:r>
            <a:endParaRPr lang="zh-CN" altLang="en-US" sz="1600" b="1" dirty="0">
              <a:solidFill>
                <a:srgbClr val="586371"/>
              </a:solidFill>
              <a:latin typeface="Microsoft YaHei" panose="020B0503020204020204" pitchFamily="34" charset="-122"/>
              <a:ea typeface="Microsoft YaHei"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831215" y="740410"/>
            <a:ext cx="4705350" cy="5159375"/>
          </a:xfrm>
          <a:prstGeom prst="rect">
            <a:avLst/>
          </a:prstGeom>
          <a:blipFill>
            <a:blip r:embed="rId7"/>
            <a:srcRect/>
            <a:stretch>
              <a:fillRect l="8" t="-90138" r="-8" b="-89682"/>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rgbClr val="4276AA">
              <a:shade val="50000"/>
            </a:srgbClr>
          </a:lnRef>
          <a:fillRef idx="1">
            <a:srgbClr val="4276AA"/>
          </a:fillRef>
          <a:effectRef idx="0">
            <a:srgbClr val="4276AA"/>
          </a:effectRef>
          <a:fontRef idx="minor">
            <a:srgbClr val="FFFFFF"/>
          </a:fontRef>
        </p:style>
        <p:txBody>
          <a:bodyPr anchor="ctr"/>
          <a:lstStyle/>
          <a:p>
            <a:pPr algn="ctr" eaLnBrk="1" fontAlgn="auto" hangingPunct="1">
              <a:defRPr/>
            </a:pPr>
            <a:endParaRPr noProof="1"/>
          </a:p>
        </p:txBody>
      </p:sp>
      <p:sp>
        <p:nvSpPr>
          <p:cNvPr id="17420" name="矩形 7"/>
          <p:cNvSpPr>
            <a:spLocks noChangeArrowheads="1"/>
          </p:cNvSpPr>
          <p:nvPr>
            <p:custDataLst>
              <p:tags r:id="rId3"/>
            </p:custDataLst>
          </p:nvPr>
        </p:nvSpPr>
        <p:spPr bwMode="auto">
          <a:xfrm>
            <a:off x="4671695" y="2384425"/>
            <a:ext cx="5130800" cy="1871345"/>
          </a:xfrm>
          <a:prstGeom prst="rect">
            <a:avLst/>
          </a:prstGeom>
          <a:solidFill>
            <a:srgbClr val="FFFFFF"/>
          </a:solidFill>
          <a:ln w="57150">
            <a:solidFill>
              <a:srgbClr val="778495">
                <a:alpha val="18823"/>
              </a:srgbClr>
            </a:solidFill>
            <a:miter lim="800000"/>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7421" name="文本框 9"/>
          <p:cNvSpPr txBox="1">
            <a:spLocks noChangeArrowheads="1"/>
          </p:cNvSpPr>
          <p:nvPr>
            <p:custDataLst>
              <p:tags r:id="rId4"/>
            </p:custDataLst>
          </p:nvPr>
        </p:nvSpPr>
        <p:spPr bwMode="auto">
          <a:xfrm>
            <a:off x="4963160" y="3012440"/>
            <a:ext cx="454850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3600" b="1" dirty="0">
                <a:solidFill>
                  <a:srgbClr val="586371"/>
                </a:solidFill>
                <a:latin typeface="微软雅黑" panose="020B0503020204020204" charset="-122"/>
                <a:ea typeface="微软雅黑" panose="020B0503020204020204" charset="-122"/>
                <a:sym typeface="+mn-ea"/>
              </a:rPr>
              <a:t>发展规划</a:t>
            </a:r>
            <a:endParaRPr lang="en-US" altLang="zh-CN" sz="3600" b="1" dirty="0">
              <a:solidFill>
                <a:srgbClr val="586371"/>
              </a:solidFill>
              <a:latin typeface="微软雅黑" panose="020B0503020204020204" charset="-122"/>
              <a:ea typeface="微软雅黑" panose="020B0503020204020204" charset="-122"/>
              <a:sym typeface="+mn-ea"/>
            </a:endParaRPr>
          </a:p>
        </p:txBody>
      </p:sp>
    </p:spTree>
    <p:custDataLst>
      <p:tags r:id="rId1"/>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5298" name="矩形 17"/>
          <p:cNvSpPr>
            <a:spLocks noChangeArrowheads="1"/>
          </p:cNvSpPr>
          <p:nvPr/>
        </p:nvSpPr>
        <p:spPr bwMode="auto">
          <a:xfrm>
            <a:off x="238125" y="342900"/>
            <a:ext cx="22735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4.1</a:t>
            </a:r>
            <a:r>
              <a:rPr lang="zh-CN" altLang="en-US" sz="2600" b="1" dirty="0">
                <a:solidFill>
                  <a:srgbClr val="586371"/>
                </a:solidFill>
                <a:latin typeface="微软雅黑" panose="020B0503020204020204" charset="-122"/>
                <a:ea typeface="微软雅黑" panose="020B0503020204020204" charset="-122"/>
              </a:rPr>
              <a:t>发展规划</a:t>
            </a:r>
          </a:p>
        </p:txBody>
      </p:sp>
      <p:sp>
        <p:nvSpPr>
          <p:cNvPr id="14" name="矩形 13"/>
          <p:cNvSpPr/>
          <p:nvPr/>
        </p:nvSpPr>
        <p:spPr>
          <a:xfrm>
            <a:off x="795" y="1508166"/>
            <a:ext cx="12191205" cy="2196936"/>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zh-CN" altLang="en-US" noProof="1">
              <a:latin typeface="华文楷体" panose="02010600040101010101" pitchFamily="2" charset="-122"/>
              <a:ea typeface="华文楷体" panose="02010600040101010101" pitchFamily="2" charset="-122"/>
            </a:endParaRPr>
          </a:p>
        </p:txBody>
      </p:sp>
      <p:sp>
        <p:nvSpPr>
          <p:cNvPr id="15" name="文本框 2"/>
          <p:cNvSpPr txBox="1">
            <a:spLocks noChangeArrowheads="1"/>
          </p:cNvSpPr>
          <p:nvPr/>
        </p:nvSpPr>
        <p:spPr bwMode="auto">
          <a:xfrm>
            <a:off x="330896" y="2003055"/>
            <a:ext cx="5715000" cy="1550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itchFamily="2" charset="-122"/>
              </a:defRPr>
            </a:lvl1pPr>
            <a:lvl2pPr marL="742950" indent="-285750">
              <a:spcBef>
                <a:spcPct val="20000"/>
              </a:spcBef>
              <a:buChar char="–"/>
              <a:defRPr sz="2800">
                <a:solidFill>
                  <a:schemeClr val="tx1"/>
                </a:solidFill>
                <a:latin typeface="Arial" panose="020B0604020202020204" pitchFamily="34" charset="0"/>
                <a:ea typeface="宋体" pitchFamily="2" charset="-122"/>
              </a:defRPr>
            </a:lvl2pPr>
            <a:lvl3pPr marL="1143000" indent="-228600">
              <a:spcBef>
                <a:spcPct val="20000"/>
              </a:spcBef>
              <a:buChar char="•"/>
              <a:defRPr sz="2400">
                <a:solidFill>
                  <a:schemeClr val="tx1"/>
                </a:solidFill>
                <a:latin typeface="Arial" panose="020B0604020202020204" pitchFamily="34" charset="0"/>
                <a:ea typeface="宋体" pitchFamily="2" charset="-122"/>
              </a:defRPr>
            </a:lvl3pPr>
            <a:lvl4pPr marL="1600200" indent="-228600">
              <a:spcBef>
                <a:spcPct val="20000"/>
              </a:spcBef>
              <a:buChar char="–"/>
              <a:defRPr sz="2000">
                <a:solidFill>
                  <a:schemeClr val="tx1"/>
                </a:solidFill>
                <a:latin typeface="Arial" panose="020B0604020202020204" pitchFamily="34" charset="0"/>
                <a:ea typeface="宋体" pitchFamily="2" charset="-122"/>
              </a:defRPr>
            </a:lvl4pPr>
            <a:lvl5pPr marL="2057400" indent="-228600">
              <a:spcBef>
                <a:spcPct val="20000"/>
              </a:spcBef>
              <a:buChar char="»"/>
              <a:defRPr sz="2000">
                <a:solidFill>
                  <a:schemeClr val="tx1"/>
                </a:solidFill>
                <a:latin typeface="Arial" panose="020B06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itchFamily="2" charset="-122"/>
              </a:defRPr>
            </a:lvl9pPr>
          </a:lstStyle>
          <a:p>
            <a:pPr>
              <a:lnSpc>
                <a:spcPct val="110000"/>
              </a:lnSpc>
              <a:spcBef>
                <a:spcPct val="0"/>
              </a:spcBef>
              <a:buNone/>
            </a:pPr>
            <a:r>
              <a:rPr lang="zh-CN" altLang="en-US" sz="2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总体目标：</a:t>
            </a:r>
            <a:endParaRPr lang="en-US" altLang="zh-CN" sz="2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a:p>
            <a:pPr>
              <a:lnSpc>
                <a:spcPct val="200000"/>
              </a:lnSpc>
              <a:spcBef>
                <a:spcPct val="0"/>
              </a:spcBef>
              <a:buNone/>
            </a:pPr>
            <a:r>
              <a:rPr lang="en-US" altLang="zh-CN" sz="2135"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2022-2024</a:t>
            </a:r>
            <a:r>
              <a:rPr lang="zh-CN" altLang="en-US" sz="2135"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年打造</a:t>
            </a:r>
            <a:r>
              <a:rPr lang="en-US" altLang="zh-CN" sz="2400" b="1" dirty="0">
                <a:solidFill>
                  <a:srgbClr val="FFFF00"/>
                </a:solidFill>
                <a:latin typeface="Microsoft YaHei" panose="020B0503020204020204" pitchFamily="34" charset="-122"/>
                <a:ea typeface="Microsoft YaHei" panose="020B0503020204020204" pitchFamily="34" charset="-122"/>
                <a:sym typeface="Arial" panose="020B0604020202020204" pitchFamily="34" charset="0"/>
              </a:rPr>
              <a:t>100</a:t>
            </a:r>
            <a:r>
              <a:rPr lang="zh-CN" altLang="en-US" sz="2400" b="1" dirty="0">
                <a:solidFill>
                  <a:srgbClr val="FFFF00"/>
                </a:solidFill>
                <a:latin typeface="Microsoft YaHei" panose="020B0503020204020204" pitchFamily="34" charset="-122"/>
                <a:ea typeface="Microsoft YaHei" panose="020B0503020204020204" pitchFamily="34" charset="-122"/>
                <a:sym typeface="Arial" panose="020B0604020202020204" pitchFamily="34" charset="0"/>
              </a:rPr>
              <a:t>所</a:t>
            </a:r>
            <a:r>
              <a:rPr lang="en-US" altLang="zh-CN" sz="2135"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ZX***</a:t>
            </a:r>
            <a:r>
              <a:rPr lang="zh-CN" altLang="en-US" sz="2135"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学院</a:t>
            </a:r>
            <a:endParaRPr lang="en-US" altLang="zh-CN" sz="2135"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a:p>
            <a:pPr>
              <a:lnSpc>
                <a:spcPct val="200000"/>
              </a:lnSpc>
              <a:spcBef>
                <a:spcPct val="0"/>
              </a:spcBef>
              <a:buNone/>
            </a:pPr>
            <a:r>
              <a:rPr lang="en-US" altLang="zh-CN"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2022</a:t>
            </a:r>
            <a:r>
              <a:rPr lang="zh-CN" altLang="en-US"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年新增</a:t>
            </a:r>
            <a:r>
              <a:rPr lang="en-US" altLang="zh-CN"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20</a:t>
            </a:r>
            <a:r>
              <a:rPr lang="zh-CN" altLang="en-US"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所，</a:t>
            </a:r>
            <a:r>
              <a:rPr lang="en-US" altLang="zh-CN"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2023</a:t>
            </a:r>
            <a:r>
              <a:rPr lang="zh-CN" altLang="en-US"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年新增</a:t>
            </a:r>
            <a:r>
              <a:rPr lang="en-US" altLang="zh-CN"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30</a:t>
            </a:r>
            <a:r>
              <a:rPr lang="zh-CN" altLang="en-US"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所，</a:t>
            </a:r>
            <a:r>
              <a:rPr lang="en-US" altLang="zh-CN"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2024</a:t>
            </a:r>
            <a:r>
              <a:rPr lang="zh-CN" altLang="en-US"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年新增</a:t>
            </a:r>
            <a:r>
              <a:rPr lang="en-US" altLang="zh-CN"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50</a:t>
            </a:r>
            <a:r>
              <a:rPr lang="zh-CN" altLang="en-US"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所。</a:t>
            </a:r>
            <a:endParaRPr lang="en-US" altLang="zh-CN" sz="1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3" name="矩形 2"/>
          <p:cNvSpPr/>
          <p:nvPr/>
        </p:nvSpPr>
        <p:spPr>
          <a:xfrm>
            <a:off x="330896" y="4048818"/>
            <a:ext cx="10319039" cy="1895455"/>
          </a:xfrm>
          <a:prstGeom prst="rect">
            <a:avLst/>
          </a:prstGeom>
        </p:spPr>
        <p:txBody>
          <a:bodyPr wrap="square">
            <a:spAutoFit/>
          </a:bodyPr>
          <a:lstStyle/>
          <a:p>
            <a:pPr marL="285750" indent="-285750">
              <a:lnSpc>
                <a:spcPct val="150000"/>
              </a:lnSpc>
              <a:buFont typeface="Wingdings" panose="05000000000000000000" pitchFamily="2" charset="2"/>
              <a:buChar char="p"/>
            </a:pP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面向</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3</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4</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线城市的高职院校及应用型本科院校，围绕集成电路产业的相关专业，提供“好老师、好课程”，让学生享受优质教育资源。</a:t>
            </a:r>
            <a:endPar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endParaRPr>
          </a:p>
          <a:p>
            <a:pPr marL="285750" indent="-285750">
              <a:lnSpc>
                <a:spcPct val="150000"/>
              </a:lnSpc>
              <a:buFont typeface="Wingdings" panose="05000000000000000000" pitchFamily="2" charset="2"/>
              <a:buChar char="p"/>
            </a:pPr>
            <a:endPar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endParaRPr>
          </a:p>
          <a:p>
            <a:pPr marL="285750" indent="-285750">
              <a:lnSpc>
                <a:spcPct val="150000"/>
              </a:lnSpc>
              <a:buFont typeface="Wingdings" panose="05000000000000000000" pitchFamily="2" charset="2"/>
              <a:buChar char="p"/>
            </a:pP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每院校开设</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3-4</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个专业，</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300</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人</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届，教学服务费</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2,000</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元</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人，投入</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60-80</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万</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学院（</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6</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台服务器，</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500-600</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平方面积工位，</a:t>
            </a:r>
            <a:r>
              <a:rPr kumimoji="1" lang="en-US" altLang="zh-CN"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ZX***</a:t>
            </a:r>
            <a:r>
              <a:rPr kumimoji="1" lang="zh-CN" altLang="en-US" sz="16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学院软文化建设。）</a:t>
            </a:r>
          </a:p>
        </p:txBody>
      </p:sp>
      <p:sp>
        <p:nvSpPr>
          <p:cNvPr id="10" name="文本框 16"/>
          <p:cNvSpPr txBox="1">
            <a:spLocks noChangeArrowheads="1"/>
          </p:cNvSpPr>
          <p:nvPr/>
        </p:nvSpPr>
        <p:spPr bwMode="auto">
          <a:xfrm>
            <a:off x="2139282" y="492125"/>
            <a:ext cx="3714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Clr>
                <a:schemeClr val="tx2"/>
              </a:buClr>
              <a:buSzPct val="75000"/>
              <a:buFontTx/>
              <a:buNone/>
            </a:pPr>
            <a:r>
              <a:rPr lang="en-US" altLang="zh-CN" sz="1400" b="1" dirty="0">
                <a:solidFill>
                  <a:srgbClr val="0277AC"/>
                </a:solidFill>
                <a:latin typeface="微软雅黑" panose="020B0503020204020204" charset="-122"/>
                <a:ea typeface="微软雅黑" panose="020B0503020204020204" charset="-122"/>
              </a:rPr>
              <a:t>--</a:t>
            </a:r>
            <a:r>
              <a:rPr lang="zh-CN" altLang="en-US" sz="1400" b="1" dirty="0">
                <a:solidFill>
                  <a:srgbClr val="0277AC"/>
                </a:solidFill>
                <a:latin typeface="微软雅黑" panose="020B0503020204020204" charset="-122"/>
                <a:ea typeface="微软雅黑" panose="020B0503020204020204" charset="-122"/>
              </a:rPr>
              <a:t>发展目标</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5298" name="矩形 17"/>
          <p:cNvSpPr>
            <a:spLocks noChangeArrowheads="1"/>
          </p:cNvSpPr>
          <p:nvPr/>
        </p:nvSpPr>
        <p:spPr bwMode="auto">
          <a:xfrm>
            <a:off x="238125" y="342900"/>
            <a:ext cx="22735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4.2</a:t>
            </a:r>
            <a:r>
              <a:rPr lang="zh-CN" altLang="en-US" sz="2600" b="1" dirty="0">
                <a:solidFill>
                  <a:srgbClr val="586371"/>
                </a:solidFill>
                <a:latin typeface="微软雅黑" panose="020B0503020204020204" charset="-122"/>
                <a:ea typeface="微软雅黑" panose="020B0503020204020204" charset="-122"/>
              </a:rPr>
              <a:t>发展规划</a:t>
            </a:r>
          </a:p>
        </p:txBody>
      </p:sp>
      <p:sp>
        <p:nvSpPr>
          <p:cNvPr id="55300" name="文本框 3"/>
          <p:cNvSpPr txBox="1">
            <a:spLocks noChangeArrowheads="1"/>
          </p:cNvSpPr>
          <p:nvPr/>
        </p:nvSpPr>
        <p:spPr bwMode="auto">
          <a:xfrm>
            <a:off x="859580" y="1050791"/>
            <a:ext cx="16478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en-US" altLang="zh-CN" sz="4000" b="1" dirty="0">
                <a:solidFill>
                  <a:srgbClr val="00A6B2"/>
                </a:solidFill>
                <a:latin typeface="微软雅黑" panose="020B0503020204020204" charset="-122"/>
                <a:ea typeface="微软雅黑" panose="020B0503020204020204" charset="-122"/>
              </a:rPr>
              <a:t>100</a:t>
            </a:r>
            <a:r>
              <a:rPr lang="zh-CN" altLang="en-US" sz="4000" b="1" dirty="0">
                <a:solidFill>
                  <a:srgbClr val="00A6B2"/>
                </a:solidFill>
                <a:latin typeface="微软雅黑" panose="020B0503020204020204" charset="-122"/>
                <a:ea typeface="微软雅黑" panose="020B0503020204020204" charset="-122"/>
              </a:rPr>
              <a:t>所</a:t>
            </a:r>
            <a:endParaRPr lang="en-US" altLang="zh-CN" sz="4000" b="1" dirty="0">
              <a:solidFill>
                <a:srgbClr val="00A6B2"/>
              </a:solidFill>
              <a:latin typeface="微软雅黑" panose="020B0503020204020204" charset="-122"/>
              <a:ea typeface="微软雅黑" panose="020B0503020204020204" charset="-122"/>
            </a:endParaRPr>
          </a:p>
        </p:txBody>
      </p:sp>
      <p:sp>
        <p:nvSpPr>
          <p:cNvPr id="55301" name="文本框 4"/>
          <p:cNvSpPr txBox="1">
            <a:spLocks noChangeArrowheads="1"/>
          </p:cNvSpPr>
          <p:nvPr/>
        </p:nvSpPr>
        <p:spPr bwMode="auto">
          <a:xfrm>
            <a:off x="921492" y="1795329"/>
            <a:ext cx="1524000" cy="338137"/>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en-US" altLang="zh-CN" sz="1600" b="1" dirty="0">
                <a:solidFill>
                  <a:srgbClr val="586371"/>
                </a:solidFill>
                <a:latin typeface="微软雅黑" panose="020B0503020204020204" charset="-122"/>
                <a:ea typeface="微软雅黑" panose="020B0503020204020204" charset="-122"/>
              </a:rPr>
              <a:t>ZX***</a:t>
            </a:r>
            <a:r>
              <a:rPr lang="zh-CN" altLang="en-US" sz="1600" b="1" dirty="0">
                <a:solidFill>
                  <a:srgbClr val="586371"/>
                </a:solidFill>
                <a:latin typeface="微软雅黑" panose="020B0503020204020204" charset="-122"/>
                <a:ea typeface="微软雅黑" panose="020B0503020204020204" charset="-122"/>
              </a:rPr>
              <a:t>学院</a:t>
            </a:r>
          </a:p>
        </p:txBody>
      </p:sp>
      <p:sp>
        <p:nvSpPr>
          <p:cNvPr id="55304" name="文本框 18"/>
          <p:cNvSpPr txBox="1">
            <a:spLocks noChangeArrowheads="1"/>
          </p:cNvSpPr>
          <p:nvPr/>
        </p:nvSpPr>
        <p:spPr bwMode="auto">
          <a:xfrm>
            <a:off x="3760068" y="1050791"/>
            <a:ext cx="19748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en-US" altLang="zh-CN" sz="4000" b="1" dirty="0">
                <a:solidFill>
                  <a:srgbClr val="00A6B2"/>
                </a:solidFill>
                <a:latin typeface="微软雅黑" panose="020B0503020204020204" charset="-122"/>
                <a:ea typeface="微软雅黑" panose="020B0503020204020204" charset="-122"/>
              </a:rPr>
              <a:t>10</a:t>
            </a:r>
            <a:r>
              <a:rPr lang="zh-CN" altLang="en-US" sz="4000" b="1" dirty="0">
                <a:solidFill>
                  <a:srgbClr val="00A6B2"/>
                </a:solidFill>
                <a:latin typeface="微软雅黑" panose="020B0503020204020204" charset="-122"/>
                <a:ea typeface="微软雅黑" panose="020B0503020204020204" charset="-122"/>
              </a:rPr>
              <a:t>万</a:t>
            </a:r>
            <a:r>
              <a:rPr lang="en-US" altLang="zh-CN" sz="4000" b="1" dirty="0">
                <a:solidFill>
                  <a:srgbClr val="00A6B2"/>
                </a:solidFill>
                <a:latin typeface="微软雅黑" panose="020B0503020204020204" charset="-122"/>
                <a:ea typeface="微软雅黑" panose="020B0503020204020204" charset="-122"/>
              </a:rPr>
              <a:t>+</a:t>
            </a:r>
          </a:p>
        </p:txBody>
      </p:sp>
      <p:sp>
        <p:nvSpPr>
          <p:cNvPr id="55305" name="文本框 19"/>
          <p:cNvSpPr txBox="1">
            <a:spLocks noChangeArrowheads="1"/>
          </p:cNvSpPr>
          <p:nvPr/>
        </p:nvSpPr>
        <p:spPr bwMode="auto">
          <a:xfrm>
            <a:off x="3985493" y="1795329"/>
            <a:ext cx="1524000" cy="338137"/>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600" b="1" dirty="0">
                <a:solidFill>
                  <a:srgbClr val="586371"/>
                </a:solidFill>
                <a:latin typeface="微软雅黑" panose="020B0503020204020204" charset="-122"/>
                <a:ea typeface="微软雅黑" panose="020B0503020204020204" charset="-122"/>
              </a:rPr>
              <a:t>学生人数</a:t>
            </a:r>
          </a:p>
        </p:txBody>
      </p:sp>
      <p:sp>
        <p:nvSpPr>
          <p:cNvPr id="55306" name="文本框 20"/>
          <p:cNvSpPr txBox="1">
            <a:spLocks noChangeArrowheads="1"/>
          </p:cNvSpPr>
          <p:nvPr/>
        </p:nvSpPr>
        <p:spPr bwMode="auto">
          <a:xfrm>
            <a:off x="6888237" y="1050791"/>
            <a:ext cx="19748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en-US" altLang="zh-CN" sz="4000" b="1" dirty="0">
                <a:solidFill>
                  <a:srgbClr val="00A6B2"/>
                </a:solidFill>
                <a:latin typeface="微软雅黑" panose="020B0503020204020204" charset="-122"/>
                <a:ea typeface="微软雅黑" panose="020B0503020204020204" charset="-122"/>
              </a:rPr>
              <a:t>1.8</a:t>
            </a:r>
            <a:r>
              <a:rPr lang="zh-CN" altLang="en-US" sz="4000" b="1" dirty="0">
                <a:solidFill>
                  <a:srgbClr val="00A6B2"/>
                </a:solidFill>
                <a:latin typeface="微软雅黑" panose="020B0503020204020204" charset="-122"/>
                <a:ea typeface="微软雅黑" panose="020B0503020204020204" charset="-122"/>
              </a:rPr>
              <a:t>亿</a:t>
            </a:r>
            <a:r>
              <a:rPr lang="en-US" altLang="zh-CN" sz="4000" b="1" dirty="0">
                <a:solidFill>
                  <a:srgbClr val="00A6B2"/>
                </a:solidFill>
                <a:latin typeface="微软雅黑" panose="020B0503020204020204" charset="-122"/>
                <a:ea typeface="微软雅黑" panose="020B0503020204020204" charset="-122"/>
              </a:rPr>
              <a:t>+</a:t>
            </a:r>
            <a:endParaRPr lang="zh-CN" altLang="en-US" sz="4000" b="1" dirty="0">
              <a:solidFill>
                <a:srgbClr val="00A6B2"/>
              </a:solidFill>
              <a:latin typeface="微软雅黑" panose="020B0503020204020204" charset="-122"/>
              <a:ea typeface="微软雅黑" panose="020B0503020204020204" charset="-122"/>
            </a:endParaRPr>
          </a:p>
        </p:txBody>
      </p:sp>
      <p:sp>
        <p:nvSpPr>
          <p:cNvPr id="55307" name="文本框 21"/>
          <p:cNvSpPr txBox="1">
            <a:spLocks noChangeArrowheads="1"/>
          </p:cNvSpPr>
          <p:nvPr/>
        </p:nvSpPr>
        <p:spPr bwMode="auto">
          <a:xfrm>
            <a:off x="7113662" y="1795329"/>
            <a:ext cx="1524000" cy="338554"/>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600" b="1" dirty="0">
                <a:solidFill>
                  <a:srgbClr val="586371"/>
                </a:solidFill>
                <a:latin typeface="微软雅黑" panose="020B0503020204020204" charset="-122"/>
                <a:ea typeface="微软雅黑" panose="020B0503020204020204" charset="-122"/>
              </a:rPr>
              <a:t>稳定期收入</a:t>
            </a:r>
          </a:p>
        </p:txBody>
      </p:sp>
      <p:graphicFrame>
        <p:nvGraphicFramePr>
          <p:cNvPr id="24" name="表格 23"/>
          <p:cNvGraphicFramePr/>
          <p:nvPr/>
        </p:nvGraphicFramePr>
        <p:xfrm>
          <a:off x="275716" y="2351025"/>
          <a:ext cx="11379317" cy="4386660"/>
        </p:xfrm>
        <a:graphic>
          <a:graphicData uri="http://schemas.openxmlformats.org/drawingml/2006/table">
            <a:tbl>
              <a:tblPr firstRow="1" bandRow="1">
                <a:tableStyleId>{5C22544A-7EE6-4342-B048-85BDC9FD1C3A}</a:tableStyleId>
              </a:tblPr>
              <a:tblGrid>
                <a:gridCol w="2150771">
                  <a:extLst>
                    <a:ext uri="{9D8B030D-6E8A-4147-A177-3AD203B41FA5}">
                      <a16:colId xmlns:a16="http://schemas.microsoft.com/office/drawing/2014/main" val="20000"/>
                    </a:ext>
                  </a:extLst>
                </a:gridCol>
                <a:gridCol w="1538091">
                  <a:extLst>
                    <a:ext uri="{9D8B030D-6E8A-4147-A177-3AD203B41FA5}">
                      <a16:colId xmlns:a16="http://schemas.microsoft.com/office/drawing/2014/main" val="20001"/>
                    </a:ext>
                  </a:extLst>
                </a:gridCol>
                <a:gridCol w="1538091">
                  <a:extLst>
                    <a:ext uri="{9D8B030D-6E8A-4147-A177-3AD203B41FA5}">
                      <a16:colId xmlns:a16="http://schemas.microsoft.com/office/drawing/2014/main" val="20002"/>
                    </a:ext>
                  </a:extLst>
                </a:gridCol>
                <a:gridCol w="1538091">
                  <a:extLst>
                    <a:ext uri="{9D8B030D-6E8A-4147-A177-3AD203B41FA5}">
                      <a16:colId xmlns:a16="http://schemas.microsoft.com/office/drawing/2014/main" val="20003"/>
                    </a:ext>
                  </a:extLst>
                </a:gridCol>
                <a:gridCol w="1538091">
                  <a:extLst>
                    <a:ext uri="{9D8B030D-6E8A-4147-A177-3AD203B41FA5}">
                      <a16:colId xmlns:a16="http://schemas.microsoft.com/office/drawing/2014/main" val="20004"/>
                    </a:ext>
                  </a:extLst>
                </a:gridCol>
                <a:gridCol w="1538091">
                  <a:extLst>
                    <a:ext uri="{9D8B030D-6E8A-4147-A177-3AD203B41FA5}">
                      <a16:colId xmlns:a16="http://schemas.microsoft.com/office/drawing/2014/main" val="20005"/>
                    </a:ext>
                  </a:extLst>
                </a:gridCol>
                <a:gridCol w="1538091">
                  <a:extLst>
                    <a:ext uri="{9D8B030D-6E8A-4147-A177-3AD203B41FA5}">
                      <a16:colId xmlns:a16="http://schemas.microsoft.com/office/drawing/2014/main" val="20006"/>
                    </a:ext>
                  </a:extLst>
                </a:gridCol>
              </a:tblGrid>
              <a:tr h="413771">
                <a:tc>
                  <a:txBody>
                    <a:bodyPr/>
                    <a:lstStyle/>
                    <a:p>
                      <a:pPr algn="ctr">
                        <a:buNone/>
                      </a:pPr>
                      <a:r>
                        <a:rPr lang="zh-CN" altLang="en-US" sz="1400" dirty="0">
                          <a:latin typeface="微软雅黑" panose="020B0503020204020204" charset="-122"/>
                          <a:ea typeface="微软雅黑" panose="020B0503020204020204" charset="-122"/>
                        </a:rPr>
                        <a:t>时间</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2022</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2023</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2024</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2025</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2026</a:t>
                      </a:r>
                    </a:p>
                  </a:txBody>
                  <a:tcPr marT="45726" marB="45726" anchor="ctr">
                    <a:lnL>
                      <a:noFill/>
                    </a:lnL>
                    <a:lnR>
                      <a:noFill/>
                    </a:lnR>
                    <a:lnT>
                      <a:noFill/>
                    </a:lnT>
                    <a:lnB>
                      <a:noFill/>
                    </a:lnB>
                    <a:lnTlToBr>
                      <a:noFill/>
                    </a:lnTlToBr>
                    <a:lnBlToTr>
                      <a:noFill/>
                    </a:lnBlToTr>
                    <a:solidFill>
                      <a:srgbClr val="00A6B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400" dirty="0">
                          <a:latin typeface="微软雅黑" panose="020B0503020204020204" charset="-122"/>
                          <a:ea typeface="微软雅黑" panose="020B0503020204020204" charset="-122"/>
                        </a:rPr>
                        <a:t>2027</a:t>
                      </a:r>
                    </a:p>
                  </a:txBody>
                  <a:tcPr marT="45726" marB="45726" anchor="ctr">
                    <a:lnL>
                      <a:noFill/>
                    </a:lnL>
                    <a:lnR>
                      <a:noFill/>
                    </a:lnR>
                    <a:lnT>
                      <a:noFill/>
                    </a:lnT>
                    <a:lnB>
                      <a:noFill/>
                    </a:lnB>
                    <a:lnTlToBr>
                      <a:noFill/>
                    </a:lnTlToBr>
                    <a:lnBlToTr>
                      <a:noFill/>
                    </a:lnBlToTr>
                    <a:solidFill>
                      <a:srgbClr val="00A6B2"/>
                    </a:solidFill>
                  </a:tcPr>
                </a:tc>
                <a:extLst>
                  <a:ext uri="{0D108BD9-81ED-4DB2-BD59-A6C34878D82A}">
                    <a16:rowId xmlns:a16="http://schemas.microsoft.com/office/drawing/2014/main" val="10000"/>
                  </a:ext>
                </a:extLst>
              </a:tr>
              <a:tr h="331115">
                <a:tc>
                  <a:txBody>
                    <a:bodyPr/>
                    <a:lstStyle/>
                    <a:p>
                      <a:pPr marL="0" algn="ctr" defTabSz="914400" rtl="0" eaLnBrk="1"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ZX***</a:t>
                      </a:r>
                      <a:r>
                        <a:rPr lang="zh-CN" altLang="en-US" sz="1400" b="1" kern="1200" dirty="0">
                          <a:solidFill>
                            <a:srgbClr val="586371"/>
                          </a:solidFill>
                          <a:latin typeface="微软雅黑" panose="020B0503020204020204" charset="-122"/>
                          <a:ea typeface="微软雅黑" panose="020B0503020204020204" charset="-122"/>
                          <a:cs typeface="+mn-cs"/>
                        </a:rPr>
                        <a:t>学院数量</a:t>
                      </a:r>
                    </a:p>
                  </a:txBody>
                  <a:tcPr marT="45726" marB="45726"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20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50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1"/>
                  </a:ext>
                </a:extLst>
              </a:tr>
              <a:tr h="331115">
                <a:tc>
                  <a:txBody>
                    <a:bodyPr/>
                    <a:lstStyle/>
                    <a:p>
                      <a:pPr marL="0" algn="ctr" defTabSz="914400" rtl="0" eaLnBrk="1" latinLnBrk="0" hangingPunct="1">
                        <a:buNone/>
                      </a:pPr>
                      <a:r>
                        <a:rPr lang="zh-CN" altLang="en-US" sz="1400" b="1" kern="1200" dirty="0">
                          <a:solidFill>
                            <a:srgbClr val="586371"/>
                          </a:solidFill>
                          <a:latin typeface="微软雅黑" panose="020B0503020204020204" charset="-122"/>
                          <a:ea typeface="微软雅黑" panose="020B0503020204020204" charset="-122"/>
                          <a:cs typeface="+mn-cs"/>
                        </a:rPr>
                        <a:t>在校生人数</a:t>
                      </a:r>
                    </a:p>
                  </a:txBody>
                  <a:tcPr marT="45726" marB="45726"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6,000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21,000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51,000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78,000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97,500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105,000 </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31115">
                <a:tc>
                  <a:txBody>
                    <a:bodyPr/>
                    <a:lstStyle/>
                    <a:p>
                      <a:pPr algn="ctr">
                        <a:buNone/>
                      </a:pPr>
                      <a:r>
                        <a:rPr lang="zh-CN" altLang="en-US" sz="1200" dirty="0">
                          <a:solidFill>
                            <a:srgbClr val="586371"/>
                          </a:solidFill>
                          <a:latin typeface="Microsoft YaHei" panose="020B0503020204020204" pitchFamily="34" charset="-122"/>
                          <a:ea typeface="Microsoft YaHei" panose="020B0503020204020204" pitchFamily="34" charset="-122"/>
                        </a:rPr>
                        <a:t>其中：专科</a:t>
                      </a:r>
                    </a:p>
                  </a:txBody>
                  <a:tcPr marT="45726" marB="45726"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3,000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10,500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25,500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a:solidFill>
                            <a:srgbClr val="586371"/>
                          </a:solidFill>
                          <a:effectLst/>
                          <a:latin typeface="Microsoft YaHei" panose="020B0503020204020204" pitchFamily="34" charset="-122"/>
                          <a:ea typeface="Microsoft YaHei" panose="020B0503020204020204" pitchFamily="34" charset="-122"/>
                        </a:rPr>
                        <a:t>37,500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45,000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45,000 </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330624">
                <a:tc>
                  <a:txBody>
                    <a:bodyPr/>
                    <a:lstStyle/>
                    <a:p>
                      <a:pPr marL="0" algn="ctr" defTabSz="914400" rtl="0" eaLnBrk="1" latinLnBrk="0" hangingPunct="1">
                        <a:buNone/>
                      </a:pPr>
                      <a:r>
                        <a:rPr lang="zh-CN" altLang="en-US" sz="1200" u="none" kern="1200" dirty="0">
                          <a:solidFill>
                            <a:srgbClr val="586371"/>
                          </a:solidFill>
                          <a:latin typeface="Microsoft YaHei" panose="020B0503020204020204" pitchFamily="34" charset="-122"/>
                          <a:ea typeface="Microsoft YaHei" panose="020B0503020204020204" pitchFamily="34" charset="-122"/>
                          <a:cs typeface="+mn-cs"/>
                        </a:rPr>
                        <a:t>         本科</a:t>
                      </a:r>
                    </a:p>
                  </a:txBody>
                  <a:tcPr marT="45726" marB="45726"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3,000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10,500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25,500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40,500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52,500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60,000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1115">
                <a:tc>
                  <a:txBody>
                    <a:bodyPr/>
                    <a:lstStyle/>
                    <a:p>
                      <a:pPr marL="0" algn="ctr" defTabSz="914400" rtl="0" eaLnBrk="1" latinLnBrk="0" hangingPunct="1">
                        <a:buNone/>
                      </a:pPr>
                      <a:r>
                        <a:rPr lang="zh-CN" altLang="en-US" sz="1400" b="1" kern="1200" dirty="0">
                          <a:solidFill>
                            <a:srgbClr val="586371"/>
                          </a:solidFill>
                          <a:latin typeface="Microsoft YaHei" panose="020B0503020204020204" pitchFamily="34" charset="-122"/>
                          <a:ea typeface="Microsoft YaHei" panose="020B0503020204020204" pitchFamily="34" charset="-122"/>
                          <a:cs typeface="+mn-cs"/>
                        </a:rPr>
                        <a:t>收入（万元）</a:t>
                      </a:r>
                      <a:endParaRPr lang="en-US" altLang="zh-CN" sz="1400" b="1" kern="1200" dirty="0">
                        <a:solidFill>
                          <a:srgbClr val="586371"/>
                        </a:solidFill>
                        <a:latin typeface="Microsoft YaHei" panose="020B0503020204020204" pitchFamily="34" charset="-122"/>
                        <a:ea typeface="Microsoft YaHei" panose="020B0503020204020204" pitchFamily="34" charset="-122"/>
                        <a:cs typeface="+mn-cs"/>
                      </a:endParaRPr>
                    </a:p>
                  </a:txBody>
                  <a:tcPr marT="45726" marB="45726"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377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2,075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5,849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11,321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15,943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18,868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5"/>
                  </a:ext>
                </a:extLst>
              </a:tr>
              <a:tr h="331115">
                <a:tc>
                  <a:txBody>
                    <a:bodyPr/>
                    <a:lstStyle/>
                    <a:p>
                      <a:pPr algn="ctr">
                        <a:buNone/>
                      </a:pPr>
                      <a:r>
                        <a:rPr lang="zh-CN" altLang="en-US" sz="1200" dirty="0">
                          <a:solidFill>
                            <a:srgbClr val="586371"/>
                          </a:solidFill>
                          <a:latin typeface="Microsoft YaHei" panose="020B0503020204020204" pitchFamily="34" charset="-122"/>
                          <a:ea typeface="Microsoft YaHei" panose="020B0503020204020204" pitchFamily="34" charset="-122"/>
                        </a:rPr>
                        <a:t>其中：专科</a:t>
                      </a:r>
                    </a:p>
                  </a:txBody>
                  <a:tcPr marT="45726" marB="45726"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189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1,038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2,925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5,566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7,547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a:solidFill>
                            <a:srgbClr val="586371"/>
                          </a:solidFill>
                          <a:effectLst/>
                          <a:latin typeface="Microsoft YaHei" panose="020B0503020204020204" pitchFamily="34" charset="-122"/>
                          <a:ea typeface="Microsoft YaHei" panose="020B0503020204020204" pitchFamily="34" charset="-122"/>
                        </a:rPr>
                        <a:t>8,491 </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6"/>
                  </a:ext>
                </a:extLst>
              </a:tr>
              <a:tr h="331115">
                <a:tc>
                  <a:txBody>
                    <a:bodyPr/>
                    <a:lstStyle/>
                    <a:p>
                      <a:pPr marL="0" algn="ctr" defTabSz="914400" rtl="0" eaLnBrk="1" latinLnBrk="0" hangingPunct="1">
                        <a:buNone/>
                      </a:pPr>
                      <a:r>
                        <a:rPr lang="zh-CN" altLang="en-US" sz="1200" u="none" kern="1200" dirty="0">
                          <a:solidFill>
                            <a:srgbClr val="586371"/>
                          </a:solidFill>
                          <a:latin typeface="Microsoft YaHei" panose="020B0503020204020204" pitchFamily="34" charset="-122"/>
                          <a:ea typeface="Microsoft YaHei" panose="020B0503020204020204" pitchFamily="34" charset="-122"/>
                          <a:cs typeface="+mn-cs"/>
                        </a:rPr>
                        <a:t>         本科</a:t>
                      </a:r>
                    </a:p>
                  </a:txBody>
                  <a:tcPr marT="45726" marB="45726"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189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1,038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2,925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5,755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8,396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10,377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31115">
                <a:tc>
                  <a:txBody>
                    <a:bodyPr/>
                    <a:lstStyle/>
                    <a:p>
                      <a:pPr marL="0" algn="ctr" defTabSz="914400" rtl="0" eaLnBrk="1" latinLnBrk="0" hangingPunct="1">
                        <a:buNone/>
                      </a:pPr>
                      <a:r>
                        <a:rPr lang="zh-CN" altLang="en-US" sz="1400" b="1" kern="1200" dirty="0">
                          <a:solidFill>
                            <a:srgbClr val="586371"/>
                          </a:solidFill>
                          <a:latin typeface="Microsoft YaHei" panose="020B0503020204020204" pitchFamily="34" charset="-122"/>
                          <a:ea typeface="Microsoft YaHei" panose="020B0503020204020204" pitchFamily="34" charset="-122"/>
                          <a:cs typeface="+mn-cs"/>
                        </a:rPr>
                        <a:t>毛利（万元）</a:t>
                      </a:r>
                    </a:p>
                  </a:txBody>
                  <a:tcPr marT="45726" marB="45726"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87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554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1,771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3,771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5,798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7,131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8"/>
                  </a:ext>
                </a:extLst>
              </a:tr>
              <a:tr h="331115">
                <a:tc>
                  <a:txBody>
                    <a:bodyPr/>
                    <a:lstStyle/>
                    <a:p>
                      <a:pPr algn="ctr">
                        <a:buNone/>
                      </a:pPr>
                      <a:r>
                        <a:rPr lang="zh-CN" altLang="en-US" sz="1200" dirty="0">
                          <a:solidFill>
                            <a:srgbClr val="586371"/>
                          </a:solidFill>
                          <a:latin typeface="Microsoft YaHei" panose="020B0503020204020204" pitchFamily="34" charset="-122"/>
                          <a:ea typeface="Microsoft YaHei" panose="020B0503020204020204" pitchFamily="34" charset="-122"/>
                        </a:rPr>
                        <a:t>其中：专科</a:t>
                      </a:r>
                    </a:p>
                  </a:txBody>
                  <a:tcPr marT="45726" marB="45726"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39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256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829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1,740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2,573 </a:t>
                      </a:r>
                    </a:p>
                  </a:txBody>
                  <a:tcPr marL="0" marR="0" marT="0" marB="0" anchor="ctr">
                    <a:lnL>
                      <a:noFill/>
                    </a:lnL>
                    <a:lnR>
                      <a:noFill/>
                    </a:lnR>
                    <a:lnT>
                      <a:noFill/>
                    </a:lnT>
                    <a:lnB>
                      <a:noFill/>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3,009 </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9"/>
                  </a:ext>
                </a:extLst>
              </a:tr>
              <a:tr h="331115">
                <a:tc>
                  <a:txBody>
                    <a:bodyPr/>
                    <a:lstStyle/>
                    <a:p>
                      <a:pPr marL="0" algn="ctr" defTabSz="914400" rtl="0" eaLnBrk="1" latinLnBrk="0" hangingPunct="1">
                        <a:buNone/>
                      </a:pPr>
                      <a:r>
                        <a:rPr lang="zh-CN" altLang="en-US" sz="1200" u="none" kern="1200" dirty="0">
                          <a:solidFill>
                            <a:srgbClr val="586371"/>
                          </a:solidFill>
                          <a:latin typeface="Microsoft YaHei" panose="020B0503020204020204" pitchFamily="34" charset="-122"/>
                          <a:ea typeface="Microsoft YaHei" panose="020B0503020204020204" pitchFamily="34" charset="-122"/>
                          <a:cs typeface="+mn-cs"/>
                        </a:rPr>
                        <a:t>         本科</a:t>
                      </a:r>
                    </a:p>
                  </a:txBody>
                  <a:tcPr marT="45726" marB="45726"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47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298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942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2,031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3,225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fontAlgn="ctr"/>
                      <a:r>
                        <a:rPr lang="en-US" altLang="zh-CN" sz="1200" b="0" i="0" u="none" strike="noStrike" dirty="0">
                          <a:solidFill>
                            <a:srgbClr val="586371"/>
                          </a:solidFill>
                          <a:effectLst/>
                          <a:latin typeface="Microsoft YaHei" panose="020B0503020204020204" pitchFamily="34" charset="-122"/>
                          <a:ea typeface="Microsoft YaHei" panose="020B0503020204020204" pitchFamily="34" charset="-122"/>
                        </a:rPr>
                        <a:t>4,121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331115">
                <a:tc>
                  <a:txBody>
                    <a:bodyPr/>
                    <a:lstStyle/>
                    <a:p>
                      <a:pPr marL="0" algn="ctr" defTabSz="914400" rtl="0" eaLnBrk="1" latinLnBrk="0" hangingPunct="1">
                        <a:buNone/>
                      </a:pPr>
                      <a:r>
                        <a:rPr lang="zh-CN" altLang="en-US" sz="1400" b="1" kern="1200" dirty="0">
                          <a:solidFill>
                            <a:srgbClr val="586371"/>
                          </a:solidFill>
                          <a:latin typeface="Microsoft YaHei" panose="020B0503020204020204" pitchFamily="34" charset="-122"/>
                          <a:ea typeface="Microsoft YaHei" panose="020B0503020204020204" pitchFamily="34" charset="-122"/>
                          <a:cs typeface="+mn-cs"/>
                        </a:rPr>
                        <a:t>销售及管理费用（万元）</a:t>
                      </a:r>
                    </a:p>
                  </a:txBody>
                  <a:tcPr marT="45726" marB="45726"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-400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a:solidFill>
                            <a:srgbClr val="586371"/>
                          </a:solidFill>
                          <a:latin typeface="Microsoft YaHei" panose="020B0503020204020204" pitchFamily="34" charset="-122"/>
                          <a:ea typeface="Microsoft YaHei" panose="020B0503020204020204" pitchFamily="34" charset="-122"/>
                          <a:cs typeface="+mn-cs"/>
                        </a:rPr>
                        <a:t>-550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a:solidFill>
                            <a:srgbClr val="586371"/>
                          </a:solidFill>
                          <a:latin typeface="Microsoft YaHei" panose="020B0503020204020204" pitchFamily="34" charset="-122"/>
                          <a:ea typeface="Microsoft YaHei" panose="020B0503020204020204" pitchFamily="34" charset="-122"/>
                          <a:cs typeface="+mn-cs"/>
                        </a:rPr>
                        <a:t>-850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a:solidFill>
                            <a:srgbClr val="586371"/>
                          </a:solidFill>
                          <a:latin typeface="Microsoft YaHei" panose="020B0503020204020204" pitchFamily="34" charset="-122"/>
                          <a:ea typeface="Microsoft YaHei" panose="020B0503020204020204" pitchFamily="34" charset="-122"/>
                          <a:cs typeface="+mn-cs"/>
                        </a:rPr>
                        <a:t>-1,130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a:solidFill>
                            <a:srgbClr val="586371"/>
                          </a:solidFill>
                          <a:latin typeface="Microsoft YaHei" panose="020B0503020204020204" pitchFamily="34" charset="-122"/>
                          <a:ea typeface="Microsoft YaHei" panose="020B0503020204020204" pitchFamily="34" charset="-122"/>
                          <a:cs typeface="+mn-cs"/>
                        </a:rPr>
                        <a:t>-1,590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-1,890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1"/>
                  </a:ext>
                </a:extLst>
              </a:tr>
              <a:tr h="331115">
                <a:tc>
                  <a:txBody>
                    <a:bodyPr/>
                    <a:lstStyle/>
                    <a:p>
                      <a:pPr marL="0" algn="ctr" defTabSz="914400" rtl="0" eaLnBrk="1" latinLnBrk="0" hangingPunct="1">
                        <a:buNone/>
                      </a:pPr>
                      <a:r>
                        <a:rPr lang="zh-CN" altLang="en-US" sz="1400" b="1" kern="1200" dirty="0">
                          <a:solidFill>
                            <a:srgbClr val="586371"/>
                          </a:solidFill>
                          <a:latin typeface="Microsoft YaHei" panose="020B0503020204020204" pitchFamily="34" charset="-122"/>
                          <a:ea typeface="Microsoft YaHei" panose="020B0503020204020204" pitchFamily="34" charset="-122"/>
                          <a:cs typeface="+mn-cs"/>
                        </a:rPr>
                        <a:t>税前利润（万元）</a:t>
                      </a:r>
                    </a:p>
                  </a:txBody>
                  <a:tcPr marT="45726" marB="45726"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-313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4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921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2,641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4,208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Microsoft YaHei" panose="020B0503020204020204" pitchFamily="34" charset="-122"/>
                          <a:ea typeface="Microsoft YaHei" panose="020B0503020204020204" pitchFamily="34" charset="-122"/>
                          <a:cs typeface="+mn-cs"/>
                        </a:rPr>
                        <a:t>5,241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bl>
          </a:graphicData>
        </a:graphic>
      </p:graphicFrame>
      <p:cxnSp>
        <p:nvCxnSpPr>
          <p:cNvPr id="48" name="直接连接符 47"/>
          <p:cNvCxnSpPr/>
          <p:nvPr/>
        </p:nvCxnSpPr>
        <p:spPr>
          <a:xfrm>
            <a:off x="71438" y="2217007"/>
            <a:ext cx="12203113" cy="0"/>
          </a:xfrm>
          <a:prstGeom prst="line">
            <a:avLst/>
          </a:prstGeom>
          <a:ln>
            <a:solidFill>
              <a:srgbClr val="DADADA"/>
            </a:solidFill>
          </a:ln>
        </p:spPr>
        <p:style>
          <a:lnRef idx="1">
            <a:schemeClr val="accent1"/>
          </a:lnRef>
          <a:fillRef idx="0">
            <a:schemeClr val="accent1"/>
          </a:fillRef>
          <a:effectRef idx="0">
            <a:schemeClr val="accent1"/>
          </a:effectRef>
          <a:fontRef idx="minor">
            <a:schemeClr val="tx1"/>
          </a:fontRef>
        </p:style>
      </p:cxnSp>
      <p:sp>
        <p:nvSpPr>
          <p:cNvPr id="15" name="文本框 16"/>
          <p:cNvSpPr txBox="1">
            <a:spLocks noChangeArrowheads="1"/>
          </p:cNvSpPr>
          <p:nvPr/>
        </p:nvSpPr>
        <p:spPr bwMode="auto">
          <a:xfrm>
            <a:off x="2139282" y="492125"/>
            <a:ext cx="3714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Clr>
                <a:schemeClr val="tx2"/>
              </a:buClr>
              <a:buSzPct val="75000"/>
              <a:buFontTx/>
              <a:buNone/>
            </a:pPr>
            <a:r>
              <a:rPr lang="en-US" altLang="zh-CN" sz="1400" b="1" dirty="0">
                <a:solidFill>
                  <a:srgbClr val="0277AC"/>
                </a:solidFill>
                <a:latin typeface="微软雅黑" panose="020B0503020204020204" charset="-122"/>
                <a:ea typeface="微软雅黑" panose="020B0503020204020204" charset="-122"/>
              </a:rPr>
              <a:t>--</a:t>
            </a:r>
            <a:r>
              <a:rPr lang="zh-CN" altLang="en-US" sz="1400" b="1" dirty="0">
                <a:solidFill>
                  <a:srgbClr val="0277AC"/>
                </a:solidFill>
                <a:latin typeface="微软雅黑" panose="020B0503020204020204" charset="-122"/>
                <a:ea typeface="微软雅黑" panose="020B0503020204020204" charset="-122"/>
              </a:rPr>
              <a:t>收益预测</a:t>
            </a:r>
          </a:p>
        </p:txBody>
      </p:sp>
      <p:sp>
        <p:nvSpPr>
          <p:cNvPr id="16" name="文本框 20"/>
          <p:cNvSpPr txBox="1">
            <a:spLocks noChangeArrowheads="1"/>
          </p:cNvSpPr>
          <p:nvPr/>
        </p:nvSpPr>
        <p:spPr bwMode="auto">
          <a:xfrm>
            <a:off x="9471718" y="1050791"/>
            <a:ext cx="258467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en-US" altLang="zh-CN" sz="4000" b="1" dirty="0">
                <a:solidFill>
                  <a:srgbClr val="00A6B2"/>
                </a:solidFill>
                <a:latin typeface="微软雅黑" panose="020B0503020204020204" charset="-122"/>
                <a:ea typeface="微软雅黑" panose="020B0503020204020204" charset="-122"/>
              </a:rPr>
              <a:t>0.5</a:t>
            </a:r>
            <a:r>
              <a:rPr lang="zh-CN" altLang="en-US" sz="4000" b="1" dirty="0">
                <a:solidFill>
                  <a:srgbClr val="00A6B2"/>
                </a:solidFill>
                <a:latin typeface="微软雅黑" panose="020B0503020204020204" charset="-122"/>
                <a:ea typeface="微软雅黑" panose="020B0503020204020204" charset="-122"/>
              </a:rPr>
              <a:t>亿</a:t>
            </a:r>
            <a:r>
              <a:rPr lang="en-US" altLang="zh-CN" sz="4000" b="1" dirty="0">
                <a:solidFill>
                  <a:srgbClr val="00A6B2"/>
                </a:solidFill>
                <a:latin typeface="微软雅黑" panose="020B0503020204020204" charset="-122"/>
                <a:ea typeface="微软雅黑" panose="020B0503020204020204" charset="-122"/>
              </a:rPr>
              <a:t>+</a:t>
            </a:r>
            <a:endParaRPr lang="zh-CN" altLang="en-US" sz="4000" b="1" dirty="0">
              <a:solidFill>
                <a:srgbClr val="00A6B2"/>
              </a:solidFill>
              <a:latin typeface="微软雅黑" panose="020B0503020204020204" charset="-122"/>
              <a:ea typeface="微软雅黑" panose="020B0503020204020204" charset="-122"/>
            </a:endParaRPr>
          </a:p>
        </p:txBody>
      </p:sp>
      <p:sp>
        <p:nvSpPr>
          <p:cNvPr id="17" name="文本框 21"/>
          <p:cNvSpPr txBox="1">
            <a:spLocks noChangeArrowheads="1"/>
          </p:cNvSpPr>
          <p:nvPr/>
        </p:nvSpPr>
        <p:spPr bwMode="auto">
          <a:xfrm>
            <a:off x="10066866" y="1795329"/>
            <a:ext cx="1524000" cy="338554"/>
          </a:xfrm>
          <a:prstGeom prst="rect">
            <a:avLst/>
          </a:prstGeom>
          <a:solidFill>
            <a:srgbClr val="F8F8F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1600" b="1" dirty="0">
                <a:solidFill>
                  <a:srgbClr val="586371"/>
                </a:solidFill>
                <a:latin typeface="微软雅黑" panose="020B0503020204020204" charset="-122"/>
                <a:ea typeface="微软雅黑" panose="020B0503020204020204" charset="-122"/>
              </a:rPr>
              <a:t>稳定期利润</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5298" name="矩形 17"/>
          <p:cNvSpPr>
            <a:spLocks noChangeArrowheads="1"/>
          </p:cNvSpPr>
          <p:nvPr/>
        </p:nvSpPr>
        <p:spPr bwMode="auto">
          <a:xfrm>
            <a:off x="238125" y="342900"/>
            <a:ext cx="22735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4.3</a:t>
            </a:r>
            <a:r>
              <a:rPr lang="zh-CN" altLang="en-US" sz="2600" b="1" dirty="0">
                <a:solidFill>
                  <a:srgbClr val="586371"/>
                </a:solidFill>
                <a:latin typeface="微软雅黑" panose="020B0503020204020204" charset="-122"/>
                <a:ea typeface="微软雅黑" panose="020B0503020204020204" charset="-122"/>
              </a:rPr>
              <a:t>发展规划</a:t>
            </a:r>
          </a:p>
        </p:txBody>
      </p:sp>
      <p:graphicFrame>
        <p:nvGraphicFramePr>
          <p:cNvPr id="24" name="表格 23"/>
          <p:cNvGraphicFramePr/>
          <p:nvPr/>
        </p:nvGraphicFramePr>
        <p:xfrm>
          <a:off x="406342" y="1614753"/>
          <a:ext cx="11379317" cy="4353660"/>
        </p:xfrm>
        <a:graphic>
          <a:graphicData uri="http://schemas.openxmlformats.org/drawingml/2006/table">
            <a:tbl>
              <a:tblPr firstRow="1" bandRow="1">
                <a:tableStyleId>{5C22544A-7EE6-4342-B048-85BDC9FD1C3A}</a:tableStyleId>
              </a:tblPr>
              <a:tblGrid>
                <a:gridCol w="2150771">
                  <a:extLst>
                    <a:ext uri="{9D8B030D-6E8A-4147-A177-3AD203B41FA5}">
                      <a16:colId xmlns:a16="http://schemas.microsoft.com/office/drawing/2014/main" val="20000"/>
                    </a:ext>
                  </a:extLst>
                </a:gridCol>
                <a:gridCol w="1538091">
                  <a:extLst>
                    <a:ext uri="{9D8B030D-6E8A-4147-A177-3AD203B41FA5}">
                      <a16:colId xmlns:a16="http://schemas.microsoft.com/office/drawing/2014/main" val="20001"/>
                    </a:ext>
                  </a:extLst>
                </a:gridCol>
                <a:gridCol w="1538091">
                  <a:extLst>
                    <a:ext uri="{9D8B030D-6E8A-4147-A177-3AD203B41FA5}">
                      <a16:colId xmlns:a16="http://schemas.microsoft.com/office/drawing/2014/main" val="20002"/>
                    </a:ext>
                  </a:extLst>
                </a:gridCol>
                <a:gridCol w="1538091">
                  <a:extLst>
                    <a:ext uri="{9D8B030D-6E8A-4147-A177-3AD203B41FA5}">
                      <a16:colId xmlns:a16="http://schemas.microsoft.com/office/drawing/2014/main" val="20003"/>
                    </a:ext>
                  </a:extLst>
                </a:gridCol>
                <a:gridCol w="1538091">
                  <a:extLst>
                    <a:ext uri="{9D8B030D-6E8A-4147-A177-3AD203B41FA5}">
                      <a16:colId xmlns:a16="http://schemas.microsoft.com/office/drawing/2014/main" val="20004"/>
                    </a:ext>
                  </a:extLst>
                </a:gridCol>
                <a:gridCol w="1538091">
                  <a:extLst>
                    <a:ext uri="{9D8B030D-6E8A-4147-A177-3AD203B41FA5}">
                      <a16:colId xmlns:a16="http://schemas.microsoft.com/office/drawing/2014/main" val="20005"/>
                    </a:ext>
                  </a:extLst>
                </a:gridCol>
                <a:gridCol w="1538091">
                  <a:extLst>
                    <a:ext uri="{9D8B030D-6E8A-4147-A177-3AD203B41FA5}">
                      <a16:colId xmlns:a16="http://schemas.microsoft.com/office/drawing/2014/main" val="20006"/>
                    </a:ext>
                  </a:extLst>
                </a:gridCol>
              </a:tblGrid>
              <a:tr h="588370">
                <a:tc>
                  <a:txBody>
                    <a:bodyPr/>
                    <a:lstStyle/>
                    <a:p>
                      <a:pPr algn="ctr">
                        <a:buNone/>
                      </a:pPr>
                      <a:r>
                        <a:rPr lang="zh-CN" altLang="en-US" sz="1400" dirty="0">
                          <a:latin typeface="微软雅黑" panose="020B0503020204020204" charset="-122"/>
                          <a:ea typeface="微软雅黑" panose="020B0503020204020204" charset="-122"/>
                        </a:rPr>
                        <a:t>时间</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2022</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2023</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2024</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2025</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2026</a:t>
                      </a:r>
                    </a:p>
                  </a:txBody>
                  <a:tcPr marT="45726" marB="45726" anchor="ctr">
                    <a:lnL>
                      <a:noFill/>
                    </a:lnL>
                    <a:lnR>
                      <a:noFill/>
                    </a:lnR>
                    <a:lnT>
                      <a:noFill/>
                    </a:lnT>
                    <a:lnB>
                      <a:noFill/>
                    </a:lnB>
                    <a:lnTlToBr>
                      <a:noFill/>
                    </a:lnTlToBr>
                    <a:lnBlToTr>
                      <a:noFill/>
                    </a:lnBlToTr>
                    <a:solidFill>
                      <a:srgbClr val="00A6B2"/>
                    </a:solidFill>
                  </a:tcPr>
                </a:tc>
                <a:tc>
                  <a:txBody>
                    <a:bodyPr/>
                    <a:lstStyle/>
                    <a:p>
                      <a:pPr algn="ctr">
                        <a:buNone/>
                      </a:pPr>
                      <a:r>
                        <a:rPr lang="en-US" altLang="zh-CN" sz="1400" dirty="0">
                          <a:latin typeface="微软雅黑" panose="020B0503020204020204" charset="-122"/>
                          <a:ea typeface="微软雅黑" panose="020B0503020204020204" charset="-122"/>
                        </a:rPr>
                        <a:t>2027</a:t>
                      </a:r>
                    </a:p>
                  </a:txBody>
                  <a:tcPr marT="45726" marB="45726" anchor="ctr">
                    <a:lnL>
                      <a:noFill/>
                    </a:lnL>
                    <a:lnR>
                      <a:noFill/>
                    </a:lnR>
                    <a:lnT>
                      <a:noFill/>
                    </a:lnT>
                    <a:lnB>
                      <a:noFill/>
                    </a:lnB>
                    <a:lnTlToBr>
                      <a:noFill/>
                    </a:lnTlToBr>
                    <a:lnBlToTr>
                      <a:noFill/>
                    </a:lnBlToTr>
                    <a:solidFill>
                      <a:srgbClr val="00A6B2"/>
                    </a:solidFill>
                  </a:tcPr>
                </a:tc>
                <a:extLst>
                  <a:ext uri="{0D108BD9-81ED-4DB2-BD59-A6C34878D82A}">
                    <a16:rowId xmlns:a16="http://schemas.microsoft.com/office/drawing/2014/main" val="10000"/>
                  </a:ext>
                </a:extLst>
              </a:tr>
              <a:tr h="470836">
                <a:tc>
                  <a:txBody>
                    <a:bodyPr/>
                    <a:lstStyle/>
                    <a:p>
                      <a:pPr marL="0" algn="ctr" defTabSz="914400" rtl="0" eaLnBrk="1"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ZX***</a:t>
                      </a:r>
                      <a:r>
                        <a:rPr lang="zh-CN" altLang="en-US" sz="1400" b="1" kern="1200" dirty="0">
                          <a:solidFill>
                            <a:srgbClr val="586371"/>
                          </a:solidFill>
                          <a:latin typeface="微软雅黑" panose="020B0503020204020204" charset="-122"/>
                          <a:ea typeface="微软雅黑" panose="020B0503020204020204" charset="-122"/>
                          <a:cs typeface="+mn-cs"/>
                        </a:rPr>
                        <a:t>学院数量</a:t>
                      </a:r>
                    </a:p>
                  </a:txBody>
                  <a:tcPr marT="45726" marB="45726"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20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50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1"/>
                  </a:ext>
                </a:extLst>
              </a:tr>
              <a:tr h="470836">
                <a:tc>
                  <a:txBody>
                    <a:bodyPr/>
                    <a:lstStyle/>
                    <a:p>
                      <a:pPr marL="0" algn="ctr" defTabSz="914400" rtl="0" eaLnBrk="1" latinLnBrk="0" hangingPunct="1">
                        <a:buNone/>
                      </a:pPr>
                      <a:r>
                        <a:rPr lang="zh-CN" altLang="en-US" sz="1400" b="1" kern="1200" dirty="0">
                          <a:solidFill>
                            <a:srgbClr val="586371"/>
                          </a:solidFill>
                          <a:latin typeface="微软雅黑" panose="020B0503020204020204" charset="-122"/>
                          <a:ea typeface="微软雅黑" panose="020B0503020204020204" charset="-122"/>
                          <a:cs typeface="+mn-cs"/>
                        </a:rPr>
                        <a:t>资金流出</a:t>
                      </a:r>
                    </a:p>
                  </a:txBody>
                  <a:tcPr marT="45726" marB="45726"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-2,035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-3,944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-7,998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-8,188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-11,520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-13,628 </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470836">
                <a:tc>
                  <a:txBody>
                    <a:bodyPr/>
                    <a:lstStyle/>
                    <a:p>
                      <a:pPr algn="ctr">
                        <a:buNone/>
                      </a:pPr>
                      <a:r>
                        <a:rPr lang="en-US" altLang="zh-CN" sz="1200" dirty="0">
                          <a:solidFill>
                            <a:srgbClr val="586371"/>
                          </a:solidFill>
                          <a:latin typeface="微软雅黑" panose="020B0503020204020204" charset="-122"/>
                          <a:ea typeface="微软雅黑" panose="020B0503020204020204" charset="-122"/>
                        </a:rPr>
                        <a:t>ZX***</a:t>
                      </a:r>
                      <a:r>
                        <a:rPr lang="zh-CN" altLang="en-US" sz="1200" dirty="0">
                          <a:solidFill>
                            <a:srgbClr val="586371"/>
                          </a:solidFill>
                          <a:latin typeface="微软雅黑" panose="020B0503020204020204" charset="-122"/>
                          <a:ea typeface="微软雅黑" panose="020B0503020204020204" charset="-122"/>
                        </a:rPr>
                        <a:t>学院设施投入</a:t>
                      </a:r>
                    </a:p>
                  </a:txBody>
                  <a:tcPr marT="45726" marB="45726"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-1,400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-2,100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-3,500 </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0</a:t>
                      </a:r>
                    </a:p>
                  </a:txBody>
                  <a:tcPr marL="0" marR="0" marT="0" marB="0" anchor="ctr">
                    <a:lnL>
                      <a:noFill/>
                    </a:lnL>
                    <a:lnR>
                      <a:noFill/>
                    </a:lnR>
                    <a:lnT>
                      <a:noFill/>
                    </a:lnT>
                    <a:lnB>
                      <a:noFill/>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0</a:t>
                      </a:r>
                    </a:p>
                  </a:txBody>
                  <a:tcPr marL="0" marR="0" marT="0" marB="0" anchor="ctr">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470137">
                <a:tc>
                  <a:txBody>
                    <a:bodyPr/>
                    <a:lstStyle/>
                    <a:p>
                      <a:pPr marL="0" algn="ctr" defTabSz="914400" rtl="0" eaLnBrk="1" latinLnBrk="0" hangingPunct="1">
                        <a:buNone/>
                      </a:pPr>
                      <a:r>
                        <a:rPr lang="en-US" altLang="zh-CN" sz="1200" u="none" kern="1200" dirty="0">
                          <a:solidFill>
                            <a:srgbClr val="586371"/>
                          </a:solidFill>
                          <a:latin typeface="微软雅黑" panose="020B0503020204020204" charset="-122"/>
                          <a:ea typeface="微软雅黑" panose="020B0503020204020204" charset="-122"/>
                          <a:cs typeface="+mn-cs"/>
                        </a:rPr>
                        <a:t>ZX***</a:t>
                      </a:r>
                      <a:r>
                        <a:rPr lang="zh-CN" altLang="en-US" sz="1200" u="none" kern="1200" dirty="0">
                          <a:solidFill>
                            <a:srgbClr val="586371"/>
                          </a:solidFill>
                          <a:latin typeface="微软雅黑" panose="020B0503020204020204" charset="-122"/>
                          <a:ea typeface="微软雅黑" panose="020B0503020204020204" charset="-122"/>
                          <a:cs typeface="+mn-cs"/>
                        </a:rPr>
                        <a:t>学院运营成本</a:t>
                      </a:r>
                    </a:p>
                  </a:txBody>
                  <a:tcPr marT="45726" marB="45726"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-235 </a:t>
                      </a:r>
                    </a:p>
                  </a:txBody>
                  <a:tcPr marL="0" marR="0" marT="0"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-1,294 </a:t>
                      </a:r>
                    </a:p>
                  </a:txBody>
                  <a:tcPr marL="0" marR="0" marT="0"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-3,648 </a:t>
                      </a:r>
                    </a:p>
                  </a:txBody>
                  <a:tcPr marL="0" marR="0" marT="0"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-7,058 </a:t>
                      </a:r>
                    </a:p>
                  </a:txBody>
                  <a:tcPr marL="0" marR="0" marT="0"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-9,930 </a:t>
                      </a:r>
                    </a:p>
                  </a:txBody>
                  <a:tcPr marL="0" marR="0" marT="0"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-11,738 </a:t>
                      </a:r>
                    </a:p>
                  </a:txBody>
                  <a:tcPr marL="0" marR="0" marT="0" marB="0" anchor="ctr">
                    <a:lnL>
                      <a:noFill/>
                    </a:lnL>
                    <a:lnR>
                      <a:noFill/>
                    </a:lnR>
                    <a:lnT>
                      <a:noFill/>
                    </a:lnT>
                    <a:lnB w="12700" cap="flat" cmpd="sng" algn="ctr">
                      <a:no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70137">
                <a:tc>
                  <a:txBody>
                    <a:bodyPr/>
                    <a:lstStyle/>
                    <a:p>
                      <a:pPr marL="0" algn="ctr" defTabSz="914400" rtl="0" eaLnBrk="1" latinLnBrk="0" hangingPunct="1">
                        <a:buNone/>
                      </a:pPr>
                      <a:r>
                        <a:rPr lang="zh-CN" altLang="en-US" sz="1200" u="none" kern="1200" dirty="0">
                          <a:solidFill>
                            <a:srgbClr val="586371"/>
                          </a:solidFill>
                          <a:latin typeface="微软雅黑" panose="020B0503020204020204" charset="-122"/>
                          <a:ea typeface="微软雅黑" panose="020B0503020204020204" charset="-122"/>
                          <a:cs typeface="+mn-cs"/>
                        </a:rPr>
                        <a:t>销售及管理费用</a:t>
                      </a:r>
                    </a:p>
                  </a:txBody>
                  <a:tcPr marT="45726" marB="45726"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-400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-550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-850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-1,130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-1,590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-1,890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70836">
                <a:tc>
                  <a:txBody>
                    <a:bodyPr/>
                    <a:lstStyle/>
                    <a:p>
                      <a:pPr marL="0" algn="ctr" defTabSz="914400" rtl="0" eaLnBrk="1" latinLnBrk="0" hangingPunct="1">
                        <a:buNone/>
                      </a:pPr>
                      <a:r>
                        <a:rPr lang="zh-CN" altLang="en-US" sz="1400" b="1" kern="1200" dirty="0">
                          <a:solidFill>
                            <a:srgbClr val="586371"/>
                          </a:solidFill>
                          <a:latin typeface="微软雅黑" panose="020B0503020204020204" charset="-122"/>
                          <a:ea typeface="微软雅黑" panose="020B0503020204020204" charset="-122"/>
                          <a:cs typeface="+mn-cs"/>
                        </a:rPr>
                        <a:t>资金流入</a:t>
                      </a:r>
                      <a:endParaRPr lang="en-US" altLang="zh-CN" sz="1400" b="1" kern="1200" dirty="0">
                        <a:solidFill>
                          <a:srgbClr val="586371"/>
                        </a:solidFill>
                        <a:latin typeface="微软雅黑" panose="020B0503020204020204" charset="-122"/>
                        <a:ea typeface="微软雅黑" panose="020B0503020204020204" charset="-122"/>
                        <a:cs typeface="+mn-cs"/>
                      </a:endParaRPr>
                    </a:p>
                  </a:txBody>
                  <a:tcPr marT="45726" marB="45726"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960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3,600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9,000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14,520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18,720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20,700 </a:t>
                      </a:r>
                    </a:p>
                  </a:txBody>
                  <a:tcPr marL="0" marR="0" marT="0" marB="0" anchor="ctr">
                    <a:lnL>
                      <a:noFill/>
                    </a:lnL>
                    <a:lnR>
                      <a:noFill/>
                    </a:lnR>
                    <a:lnT w="127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6"/>
                  </a:ext>
                </a:extLst>
              </a:tr>
              <a:tr h="470836">
                <a:tc>
                  <a:txBody>
                    <a:bodyPr/>
                    <a:lstStyle/>
                    <a:p>
                      <a:pPr algn="ctr">
                        <a:buNone/>
                      </a:pPr>
                      <a:r>
                        <a:rPr lang="en-US" altLang="zh-CN" sz="1200" dirty="0">
                          <a:solidFill>
                            <a:srgbClr val="586371"/>
                          </a:solidFill>
                          <a:latin typeface="Microsoft YaHei" panose="020B0503020204020204" pitchFamily="34" charset="-122"/>
                          <a:ea typeface="Microsoft YaHei" panose="020B0503020204020204" pitchFamily="34" charset="-122"/>
                        </a:rPr>
                        <a:t>ZX***</a:t>
                      </a:r>
                      <a:r>
                        <a:rPr lang="zh-CN" altLang="en-US" sz="1200" dirty="0">
                          <a:solidFill>
                            <a:srgbClr val="586371"/>
                          </a:solidFill>
                          <a:latin typeface="Microsoft YaHei" panose="020B0503020204020204" pitchFamily="34" charset="-122"/>
                          <a:ea typeface="Microsoft YaHei" panose="020B0503020204020204" pitchFamily="34" charset="-122"/>
                        </a:rPr>
                        <a:t>学院服务回款</a:t>
                      </a:r>
                    </a:p>
                  </a:txBody>
                  <a:tcPr marT="45726" marB="45726"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960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3,600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9,000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14,520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18,720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r>
                        <a:rPr lang="en-US" altLang="zh-CN" sz="1200" b="0" i="0" u="none" strike="noStrike" kern="1200" dirty="0">
                          <a:solidFill>
                            <a:srgbClr val="586371"/>
                          </a:solidFill>
                          <a:effectLst/>
                          <a:latin typeface="Microsoft YaHei" panose="020B0503020204020204" pitchFamily="34" charset="-122"/>
                          <a:ea typeface="Microsoft YaHei" panose="020B0503020204020204" pitchFamily="34" charset="-122"/>
                          <a:cs typeface="+mn-cs"/>
                        </a:rPr>
                        <a:t>20,700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470836">
                <a:tc>
                  <a:txBody>
                    <a:bodyPr/>
                    <a:lstStyle/>
                    <a:p>
                      <a:pPr marL="0" algn="ctr" defTabSz="914400" rtl="0" eaLnBrk="1" latinLnBrk="0" hangingPunct="1">
                        <a:buNone/>
                      </a:pPr>
                      <a:r>
                        <a:rPr lang="zh-CN" altLang="en-US" sz="1400" b="1" kern="1200" dirty="0">
                          <a:solidFill>
                            <a:srgbClr val="586371"/>
                          </a:solidFill>
                          <a:latin typeface="微软雅黑" panose="020B0503020204020204" charset="-122"/>
                          <a:ea typeface="微软雅黑" panose="020B0503020204020204" charset="-122"/>
                          <a:cs typeface="+mn-cs"/>
                        </a:rPr>
                        <a:t>资金净额</a:t>
                      </a:r>
                    </a:p>
                  </a:txBody>
                  <a:tcPr marT="45726" marB="45726"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-1,075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a:solidFill>
                            <a:srgbClr val="586371"/>
                          </a:solidFill>
                          <a:latin typeface="微软雅黑" panose="020B0503020204020204" charset="-122"/>
                          <a:ea typeface="微软雅黑" panose="020B0503020204020204" charset="-122"/>
                          <a:cs typeface="+mn-cs"/>
                        </a:rPr>
                        <a:t>-344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1,002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6,332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7,200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algn="ctr" defTabSz="914400" rtl="0" eaLnBrk="1" fontAlgn="ctr" latinLnBrk="0" hangingPunct="1">
                        <a:buNone/>
                      </a:pPr>
                      <a:r>
                        <a:rPr lang="en-US" altLang="zh-CN" sz="1400" b="1" kern="1200" dirty="0">
                          <a:solidFill>
                            <a:srgbClr val="586371"/>
                          </a:solidFill>
                          <a:latin typeface="微软雅黑" panose="020B0503020204020204" charset="-122"/>
                          <a:ea typeface="微软雅黑" panose="020B0503020204020204" charset="-122"/>
                          <a:cs typeface="+mn-cs"/>
                        </a:rPr>
                        <a:t>7,072 </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sp>
        <p:nvSpPr>
          <p:cNvPr id="15" name="文本框 16"/>
          <p:cNvSpPr txBox="1">
            <a:spLocks noChangeArrowheads="1"/>
          </p:cNvSpPr>
          <p:nvPr/>
        </p:nvSpPr>
        <p:spPr bwMode="auto">
          <a:xfrm>
            <a:off x="2139282" y="492125"/>
            <a:ext cx="37147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Clr>
                <a:schemeClr val="tx2"/>
              </a:buClr>
              <a:buSzPct val="75000"/>
              <a:buFontTx/>
              <a:buNone/>
            </a:pPr>
            <a:r>
              <a:rPr lang="en-US" altLang="zh-CN" sz="1400" b="1" dirty="0">
                <a:solidFill>
                  <a:srgbClr val="0277AC"/>
                </a:solidFill>
                <a:latin typeface="微软雅黑" panose="020B0503020204020204" charset="-122"/>
                <a:ea typeface="微软雅黑" panose="020B0503020204020204" charset="-122"/>
              </a:rPr>
              <a:t>--</a:t>
            </a:r>
            <a:r>
              <a:rPr lang="zh-CN" altLang="en-US" sz="1400" b="1" dirty="0">
                <a:solidFill>
                  <a:srgbClr val="0277AC"/>
                </a:solidFill>
                <a:latin typeface="微软雅黑" panose="020B0503020204020204" charset="-122"/>
                <a:ea typeface="微软雅黑" panose="020B0503020204020204" charset="-122"/>
              </a:rPr>
              <a:t>现金流预测</a:t>
            </a:r>
          </a:p>
        </p:txBody>
      </p:sp>
      <p:sp>
        <p:nvSpPr>
          <p:cNvPr id="18" name="矩形 23"/>
          <p:cNvSpPr>
            <a:spLocks noChangeArrowheads="1"/>
          </p:cNvSpPr>
          <p:nvPr/>
        </p:nvSpPr>
        <p:spPr bwMode="auto">
          <a:xfrm>
            <a:off x="406342" y="5940991"/>
            <a:ext cx="11108748" cy="33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None/>
            </a:pPr>
            <a:r>
              <a:rPr lang="zh-CN" altLang="en-US" sz="1200" dirty="0">
                <a:solidFill>
                  <a:srgbClr val="586371"/>
                </a:solidFill>
                <a:latin typeface="微软雅黑" panose="020B0503020204020204" charset="-122"/>
                <a:ea typeface="微软雅黑" panose="020B0503020204020204" charset="-122"/>
              </a:rPr>
              <a:t>注：</a:t>
            </a:r>
            <a:r>
              <a:rPr lang="en-US" altLang="zh-CN" sz="1200" dirty="0">
                <a:solidFill>
                  <a:srgbClr val="586371"/>
                </a:solidFill>
                <a:latin typeface="微软雅黑" panose="020B0503020204020204" charset="-122"/>
                <a:ea typeface="微软雅黑" panose="020B0503020204020204" charset="-122"/>
              </a:rPr>
              <a:t>ZX***</a:t>
            </a:r>
            <a:r>
              <a:rPr lang="zh-CN" altLang="en-US" sz="1200" dirty="0">
                <a:solidFill>
                  <a:srgbClr val="586371"/>
                </a:solidFill>
                <a:latin typeface="微软雅黑" panose="020B0503020204020204" charset="-122"/>
                <a:ea typeface="微软雅黑" panose="020B0503020204020204" charset="-122"/>
              </a:rPr>
              <a:t>学院服务回款按学年的服务款在当年回款</a:t>
            </a:r>
            <a:r>
              <a:rPr lang="en-US" altLang="zh-CN" sz="1200" dirty="0">
                <a:solidFill>
                  <a:srgbClr val="586371"/>
                </a:solidFill>
                <a:latin typeface="微软雅黑" panose="020B0503020204020204" charset="-122"/>
                <a:ea typeface="微软雅黑" panose="020B0503020204020204" charset="-122"/>
              </a:rPr>
              <a:t>80%</a:t>
            </a:r>
            <a:r>
              <a:rPr lang="zh-CN" altLang="en-US" sz="1200" dirty="0">
                <a:solidFill>
                  <a:srgbClr val="586371"/>
                </a:solidFill>
                <a:latin typeface="微软雅黑" panose="020B0503020204020204" charset="-122"/>
                <a:ea typeface="微软雅黑" panose="020B0503020204020204" charset="-122"/>
              </a:rPr>
              <a:t>，次年回款</a:t>
            </a:r>
            <a:r>
              <a:rPr lang="en-US" altLang="zh-CN" sz="1200" dirty="0">
                <a:solidFill>
                  <a:srgbClr val="586371"/>
                </a:solidFill>
                <a:latin typeface="微软雅黑" panose="020B0503020204020204" charset="-122"/>
                <a:ea typeface="微软雅黑" panose="020B0503020204020204" charset="-122"/>
              </a:rPr>
              <a:t>20%</a:t>
            </a:r>
            <a:r>
              <a:rPr lang="zh-CN" altLang="en-US" sz="1200" dirty="0">
                <a:solidFill>
                  <a:srgbClr val="586371"/>
                </a:solidFill>
                <a:latin typeface="微软雅黑" panose="020B0503020204020204" charset="-122"/>
                <a:ea typeface="微软雅黑" panose="020B0503020204020204" charset="-122"/>
              </a:rPr>
              <a:t>进行测算，一般情况下当年应回款</a:t>
            </a:r>
            <a:r>
              <a:rPr lang="en-US" altLang="zh-CN" sz="1200" dirty="0">
                <a:solidFill>
                  <a:srgbClr val="586371"/>
                </a:solidFill>
                <a:latin typeface="微软雅黑" panose="020B0503020204020204" charset="-122"/>
                <a:ea typeface="微软雅黑" panose="020B0503020204020204" charset="-122"/>
              </a:rPr>
              <a:t>100%</a:t>
            </a:r>
            <a:r>
              <a:rPr lang="zh-CN" altLang="en-US" sz="1200" dirty="0">
                <a:solidFill>
                  <a:srgbClr val="586371"/>
                </a:solidFill>
                <a:latin typeface="微软雅黑" panose="020B0503020204020204" charset="-122"/>
                <a:ea typeface="微软雅黑" panose="020B0503020204020204" charset="-122"/>
              </a:rPr>
              <a:t>，考虑部分学生贷款或欠费问题部分次年回款。</a:t>
            </a:r>
            <a:endParaRPr lang="zh-CN" altLang="zh-CN" sz="1200" dirty="0">
              <a:solidFill>
                <a:srgbClr val="586371"/>
              </a:solidFill>
              <a:latin typeface="微软雅黑" panose="020B0503020204020204" charset="-122"/>
              <a:ea typeface="微软雅黑" panose="020B0503020204020204" charset="-122"/>
            </a:endParaRPr>
          </a:p>
        </p:txBody>
      </p:sp>
      <p:sp>
        <p:nvSpPr>
          <p:cNvPr id="19" name="矩形 23"/>
          <p:cNvSpPr>
            <a:spLocks noChangeArrowheads="1"/>
          </p:cNvSpPr>
          <p:nvPr/>
        </p:nvSpPr>
        <p:spPr bwMode="auto">
          <a:xfrm>
            <a:off x="10878731" y="1278058"/>
            <a:ext cx="1272718" cy="33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None/>
            </a:pPr>
            <a:r>
              <a:rPr lang="zh-CN" altLang="en-US" sz="1200" dirty="0">
                <a:solidFill>
                  <a:srgbClr val="586371"/>
                </a:solidFill>
                <a:latin typeface="微软雅黑" panose="020B0503020204020204" charset="-122"/>
                <a:ea typeface="微软雅黑" panose="020B0503020204020204" charset="-122"/>
              </a:rPr>
              <a:t>单位：万元</a:t>
            </a:r>
            <a:endParaRPr lang="zh-CN" altLang="zh-CN" sz="1200" dirty="0">
              <a:solidFill>
                <a:srgbClr val="586371"/>
              </a:solidFill>
              <a:latin typeface="微软雅黑" panose="020B0503020204020204" charset="-122"/>
              <a:ea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831215" y="740410"/>
            <a:ext cx="4705350" cy="5159375"/>
          </a:xfrm>
          <a:prstGeom prst="rect">
            <a:avLst/>
          </a:prstGeom>
          <a:blipFill>
            <a:blip r:embed="rId7"/>
            <a:srcRect/>
            <a:stretch>
              <a:fillRect l="8" t="-90138" r="-8" b="-89682"/>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rgbClr val="4276AA">
              <a:shade val="50000"/>
            </a:srgbClr>
          </a:lnRef>
          <a:fillRef idx="1">
            <a:srgbClr val="4276AA"/>
          </a:fillRef>
          <a:effectRef idx="0">
            <a:srgbClr val="4276AA"/>
          </a:effectRef>
          <a:fontRef idx="minor">
            <a:srgbClr val="FFFFFF"/>
          </a:fontRef>
        </p:style>
        <p:txBody>
          <a:bodyPr anchor="ctr"/>
          <a:lstStyle/>
          <a:p>
            <a:pPr algn="ctr" eaLnBrk="1" fontAlgn="auto" hangingPunct="1">
              <a:defRPr/>
            </a:pPr>
            <a:endParaRPr noProof="1"/>
          </a:p>
        </p:txBody>
      </p:sp>
      <p:sp>
        <p:nvSpPr>
          <p:cNvPr id="17420" name="矩形 7"/>
          <p:cNvSpPr>
            <a:spLocks noChangeArrowheads="1"/>
          </p:cNvSpPr>
          <p:nvPr>
            <p:custDataLst>
              <p:tags r:id="rId3"/>
            </p:custDataLst>
          </p:nvPr>
        </p:nvSpPr>
        <p:spPr bwMode="auto">
          <a:xfrm>
            <a:off x="4671695" y="2384425"/>
            <a:ext cx="5130800" cy="1871345"/>
          </a:xfrm>
          <a:prstGeom prst="rect">
            <a:avLst/>
          </a:prstGeom>
          <a:solidFill>
            <a:srgbClr val="FFFFFF"/>
          </a:solidFill>
          <a:ln w="57150">
            <a:solidFill>
              <a:srgbClr val="778495">
                <a:alpha val="18823"/>
              </a:srgbClr>
            </a:solidFill>
            <a:miter lim="800000"/>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7421" name="文本框 9"/>
          <p:cNvSpPr txBox="1">
            <a:spLocks noChangeArrowheads="1"/>
          </p:cNvSpPr>
          <p:nvPr>
            <p:custDataLst>
              <p:tags r:id="rId4"/>
            </p:custDataLst>
          </p:nvPr>
        </p:nvSpPr>
        <p:spPr bwMode="auto">
          <a:xfrm>
            <a:off x="4963160" y="3012440"/>
            <a:ext cx="454850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3600" b="1" dirty="0">
                <a:solidFill>
                  <a:srgbClr val="586371"/>
                </a:solidFill>
                <a:latin typeface="微软雅黑" panose="020B0503020204020204" charset="-122"/>
                <a:ea typeface="微软雅黑" panose="020B0503020204020204" charset="-122"/>
                <a:sym typeface="+mn-ea"/>
              </a:rPr>
              <a:t>团队保障</a:t>
            </a:r>
            <a:endParaRPr lang="en-US" altLang="zh-CN" sz="3600" b="1" dirty="0">
              <a:solidFill>
                <a:srgbClr val="586371"/>
              </a:solidFill>
              <a:latin typeface="微软雅黑" panose="020B0503020204020204" charset="-122"/>
              <a:ea typeface="微软雅黑" panose="020B0503020204020204" charset="-122"/>
              <a:sym typeface="+mn-ea"/>
            </a:endParaRPr>
          </a:p>
          <a:p>
            <a:pPr algn="ctr" eaLnBrk="1" hangingPunct="1">
              <a:lnSpc>
                <a:spcPct val="100000"/>
              </a:lnSpc>
              <a:spcBef>
                <a:spcPct val="0"/>
              </a:spcBef>
              <a:buFontTx/>
              <a:buNone/>
            </a:pPr>
            <a:endParaRPr lang="en-US" altLang="zh-CN" sz="3600" b="1" dirty="0">
              <a:solidFill>
                <a:srgbClr val="586371"/>
              </a:solidFill>
              <a:latin typeface="微软雅黑" panose="020B0503020204020204" charset="-122"/>
              <a:ea typeface="微软雅黑" panose="020B0503020204020204" charset="-122"/>
              <a:sym typeface="+mn-ea"/>
            </a:endParaRPr>
          </a:p>
        </p:txBody>
      </p:sp>
      <p:sp>
        <p:nvSpPr>
          <p:cNvPr id="6" name="文本框 5"/>
          <p:cNvSpPr txBox="1"/>
          <p:nvPr/>
        </p:nvSpPr>
        <p:spPr>
          <a:xfrm>
            <a:off x="6338170" y="3553234"/>
            <a:ext cx="2029216" cy="523220"/>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组织架构</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kumimoji="1" lang="zh-CN" altLang="en-US" sz="1400" dirty="0">
                <a:solidFill>
                  <a:srgbClr val="586371"/>
                </a:solidFill>
                <a:latin typeface="Microsoft YaHei" panose="020B0503020204020204" pitchFamily="34" charset="-122"/>
                <a:ea typeface="Microsoft YaHei" panose="020B0503020204020204" pitchFamily="34" charset="-122"/>
              </a:rPr>
              <a:t>团队</a:t>
            </a:r>
            <a:endParaRPr kumimoji="1" lang="en-US" altLang="zh-CN" sz="1400" dirty="0">
              <a:solidFill>
                <a:srgbClr val="586371"/>
              </a:solidFill>
              <a:latin typeface="Microsoft YaHei" panose="020B0503020204020204" pitchFamily="34" charset="-122"/>
              <a:ea typeface="Microsoft YaHei" panose="020B0503020204020204" pitchFamily="34" charset="-122"/>
            </a:endParaRPr>
          </a:p>
        </p:txBody>
      </p:sp>
    </p:spTree>
    <p:custDataLst>
      <p:tags r:id="rId1"/>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17" name="矩形 17"/>
          <p:cNvSpPr>
            <a:spLocks noChangeArrowheads="1"/>
          </p:cNvSpPr>
          <p:nvPr/>
        </p:nvSpPr>
        <p:spPr bwMode="auto">
          <a:xfrm>
            <a:off x="238125" y="342900"/>
            <a:ext cx="22735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5.1</a:t>
            </a:r>
            <a:r>
              <a:rPr lang="zh-CN" altLang="en-US" sz="2600" b="1" dirty="0">
                <a:solidFill>
                  <a:srgbClr val="586371"/>
                </a:solidFill>
                <a:latin typeface="微软雅黑" panose="020B0503020204020204" charset="-122"/>
                <a:ea typeface="微软雅黑" panose="020B0503020204020204" charset="-122"/>
              </a:rPr>
              <a:t>组织架构</a:t>
            </a:r>
          </a:p>
        </p:txBody>
      </p:sp>
      <p:pic>
        <p:nvPicPr>
          <p:cNvPr id="20" name="图片 19"/>
          <p:cNvPicPr>
            <a:picLocks noChangeAspect="1"/>
          </p:cNvPicPr>
          <p:nvPr/>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saturation sat="33000"/>
                    </a14:imgEffect>
                  </a14:imgLayer>
                </a14:imgProps>
              </a:ext>
            </a:extLst>
          </a:blip>
          <a:stretch>
            <a:fillRect/>
          </a:stretch>
        </p:blipFill>
        <p:spPr>
          <a:xfrm>
            <a:off x="1735233" y="835343"/>
            <a:ext cx="8873679" cy="6012790"/>
          </a:xfrm>
          <a:prstGeom prst="rect">
            <a:avLst/>
          </a:prstGeom>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a:grpSpLocks noChangeAspect="1"/>
          </p:cNvGrpSpPr>
          <p:nvPr/>
        </p:nvGrpSpPr>
        <p:grpSpPr>
          <a:xfrm>
            <a:off x="555603" y="1903103"/>
            <a:ext cx="11376000" cy="6681077"/>
            <a:chOff x="-194870" y="1562788"/>
            <a:chExt cx="12564094" cy="7378851"/>
          </a:xfrm>
        </p:grpSpPr>
        <p:grpSp>
          <p:nvGrpSpPr>
            <p:cNvPr id="2" name="组合 1"/>
            <p:cNvGrpSpPr/>
            <p:nvPr/>
          </p:nvGrpSpPr>
          <p:grpSpPr>
            <a:xfrm>
              <a:off x="2628900" y="2007439"/>
              <a:ext cx="6934200" cy="6934200"/>
              <a:chOff x="3433617" y="4020127"/>
              <a:chExt cx="5675746" cy="5675746"/>
            </a:xfrm>
          </p:grpSpPr>
          <p:sp>
            <p:nvSpPr>
              <p:cNvPr id="3" name="椭圆 2"/>
              <p:cNvSpPr/>
              <p:nvPr/>
            </p:nvSpPr>
            <p:spPr>
              <a:xfrm>
                <a:off x="5015345" y="5601855"/>
                <a:ext cx="2512291" cy="2512291"/>
              </a:xfrm>
              <a:prstGeom prst="ellipse">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F3F3F"/>
                  </a:solidFill>
                  <a:effectLst/>
                  <a:uLnTx/>
                  <a:uFillTx/>
                  <a:latin typeface="Microsoft YaHei" panose="020B0503020204020204" pitchFamily="34" charset="-122"/>
                  <a:ea typeface="Microsoft YaHei" panose="020B0503020204020204" pitchFamily="34" charset="-122"/>
                </a:endParaRPr>
              </a:p>
            </p:txBody>
          </p:sp>
          <p:sp>
            <p:nvSpPr>
              <p:cNvPr id="4" name="椭圆 3"/>
              <p:cNvSpPr/>
              <p:nvPr/>
            </p:nvSpPr>
            <p:spPr>
              <a:xfrm>
                <a:off x="3433617" y="4020127"/>
                <a:ext cx="5675746" cy="5675746"/>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F3F3F"/>
                  </a:solidFill>
                  <a:effectLst/>
                  <a:uLnTx/>
                  <a:uFillTx/>
                  <a:latin typeface="Microsoft YaHei" panose="020B0503020204020204" pitchFamily="34" charset="-122"/>
                  <a:ea typeface="Microsoft YaHei" panose="020B0503020204020204" pitchFamily="34" charset="-122"/>
                </a:endParaRPr>
              </a:p>
            </p:txBody>
          </p:sp>
        </p:grpSp>
        <p:grpSp>
          <p:nvGrpSpPr>
            <p:cNvPr id="14" name="组合 13"/>
            <p:cNvGrpSpPr/>
            <p:nvPr/>
          </p:nvGrpSpPr>
          <p:grpSpPr>
            <a:xfrm>
              <a:off x="2500192" y="1562788"/>
              <a:ext cx="7213280" cy="3371539"/>
              <a:chOff x="2671642" y="2428270"/>
              <a:chExt cx="7213280" cy="3371539"/>
            </a:xfrm>
            <a:solidFill>
              <a:schemeClr val="accent2"/>
            </a:solidFill>
          </p:grpSpPr>
          <p:sp>
            <p:nvSpPr>
              <p:cNvPr id="15" name="椭圆 14"/>
              <p:cNvSpPr/>
              <p:nvPr/>
            </p:nvSpPr>
            <p:spPr>
              <a:xfrm rot="1104000">
                <a:off x="2671642" y="4640929"/>
                <a:ext cx="1038155" cy="1038155"/>
              </a:xfrm>
              <a:prstGeom prst="ellipse">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endParaRPr>
              </a:p>
            </p:txBody>
          </p:sp>
          <p:sp>
            <p:nvSpPr>
              <p:cNvPr id="16" name="椭圆 15"/>
              <p:cNvSpPr/>
              <p:nvPr/>
            </p:nvSpPr>
            <p:spPr>
              <a:xfrm rot="1104000">
                <a:off x="3874328" y="3020331"/>
                <a:ext cx="1038155" cy="1038155"/>
              </a:xfrm>
              <a:prstGeom prst="ellipse">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endParaRPr>
              </a:p>
            </p:txBody>
          </p:sp>
          <p:sp>
            <p:nvSpPr>
              <p:cNvPr id="17" name="椭圆 16"/>
              <p:cNvSpPr/>
              <p:nvPr/>
            </p:nvSpPr>
            <p:spPr>
              <a:xfrm rot="1104000">
                <a:off x="5803643" y="2428270"/>
                <a:ext cx="1038155" cy="1038155"/>
              </a:xfrm>
              <a:prstGeom prst="ellipse">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endParaRPr>
              </a:p>
            </p:txBody>
          </p:sp>
          <p:sp>
            <p:nvSpPr>
              <p:cNvPr id="18" name="椭圆 17"/>
              <p:cNvSpPr/>
              <p:nvPr/>
            </p:nvSpPr>
            <p:spPr>
              <a:xfrm rot="1104000">
                <a:off x="7708343" y="3095286"/>
                <a:ext cx="1038155" cy="1038155"/>
              </a:xfrm>
              <a:prstGeom prst="ellipse">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endParaRPr>
              </a:p>
            </p:txBody>
          </p:sp>
          <p:sp>
            <p:nvSpPr>
              <p:cNvPr id="19" name="椭圆 18"/>
              <p:cNvSpPr/>
              <p:nvPr/>
            </p:nvSpPr>
            <p:spPr>
              <a:xfrm rot="1104000">
                <a:off x="8846767" y="4761654"/>
                <a:ext cx="1038155" cy="1038155"/>
              </a:xfrm>
              <a:prstGeom prst="ellipse">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endParaRPr>
              </a:p>
            </p:txBody>
          </p:sp>
        </p:grpSp>
        <p:sp>
          <p:nvSpPr>
            <p:cNvPr id="25" name="文本框 24"/>
            <p:cNvSpPr txBox="1"/>
            <p:nvPr/>
          </p:nvSpPr>
          <p:spPr>
            <a:xfrm>
              <a:off x="5093616" y="4950912"/>
              <a:ext cx="2016862" cy="64584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schemeClr val="bg1"/>
                  </a:solidFill>
                  <a:effectLst/>
                  <a:uLnTx/>
                  <a:uFillTx/>
                  <a:latin typeface="Microsoft YaHei" panose="020B0503020204020204" pitchFamily="34" charset="-122"/>
                  <a:ea typeface="Microsoft YaHei" panose="020B0503020204020204" pitchFamily="34" charset="-122"/>
                  <a:sym typeface="Arial" panose="020B0604020202020204" pitchFamily="34" charset="0"/>
                </a:rPr>
                <a:t>团队保障</a:t>
              </a:r>
            </a:p>
          </p:txBody>
        </p:sp>
        <p:grpSp>
          <p:nvGrpSpPr>
            <p:cNvPr id="26" name="组合 25"/>
            <p:cNvGrpSpPr/>
            <p:nvPr/>
          </p:nvGrpSpPr>
          <p:grpSpPr>
            <a:xfrm>
              <a:off x="-194870" y="4826285"/>
              <a:ext cx="12564094" cy="2201615"/>
              <a:chOff x="-14514" y="5132879"/>
              <a:chExt cx="12264572" cy="1761406"/>
            </a:xfrm>
          </p:grpSpPr>
          <p:sp>
            <p:nvSpPr>
              <p:cNvPr id="27" name="任意多边形: 形状 33"/>
              <p:cNvSpPr/>
              <p:nvPr userDrawn="1"/>
            </p:nvSpPr>
            <p:spPr>
              <a:xfrm>
                <a:off x="-14514" y="5244897"/>
                <a:ext cx="6139543" cy="1649388"/>
              </a:xfrm>
              <a:custGeom>
                <a:avLst/>
                <a:gdLst>
                  <a:gd name="connsiteX0" fmla="*/ 72572 w 6168572"/>
                  <a:gd name="connsiteY0" fmla="*/ 0 h 1582057"/>
                  <a:gd name="connsiteX1" fmla="*/ 1175657 w 6168572"/>
                  <a:gd name="connsiteY1" fmla="*/ 478972 h 1582057"/>
                  <a:gd name="connsiteX2" fmla="*/ 2322286 w 6168572"/>
                  <a:gd name="connsiteY2" fmla="*/ 696686 h 1582057"/>
                  <a:gd name="connsiteX3" fmla="*/ 3788229 w 6168572"/>
                  <a:gd name="connsiteY3" fmla="*/ 522515 h 1582057"/>
                  <a:gd name="connsiteX4" fmla="*/ 4499429 w 6168572"/>
                  <a:gd name="connsiteY4" fmla="*/ 812800 h 1582057"/>
                  <a:gd name="connsiteX5" fmla="*/ 5442857 w 6168572"/>
                  <a:gd name="connsiteY5" fmla="*/ 899886 h 1582057"/>
                  <a:gd name="connsiteX6" fmla="*/ 6168572 w 6168572"/>
                  <a:gd name="connsiteY6" fmla="*/ 1582057 h 1582057"/>
                  <a:gd name="connsiteX7" fmla="*/ 0 w 6168572"/>
                  <a:gd name="connsiteY7" fmla="*/ 1553029 h 1582057"/>
                  <a:gd name="connsiteX8" fmla="*/ 72572 w 6168572"/>
                  <a:gd name="connsiteY8" fmla="*/ 0 h 1582057"/>
                  <a:gd name="connsiteX0-1" fmla="*/ 43544 w 6168572"/>
                  <a:gd name="connsiteY0-2" fmla="*/ 0 h 1582057"/>
                  <a:gd name="connsiteX1-3" fmla="*/ 1175657 w 6168572"/>
                  <a:gd name="connsiteY1-4" fmla="*/ 478972 h 1582057"/>
                  <a:gd name="connsiteX2-5" fmla="*/ 2322286 w 6168572"/>
                  <a:gd name="connsiteY2-6" fmla="*/ 696686 h 1582057"/>
                  <a:gd name="connsiteX3-7" fmla="*/ 3788229 w 6168572"/>
                  <a:gd name="connsiteY3-8" fmla="*/ 522515 h 1582057"/>
                  <a:gd name="connsiteX4-9" fmla="*/ 4499429 w 6168572"/>
                  <a:gd name="connsiteY4-10" fmla="*/ 812800 h 1582057"/>
                  <a:gd name="connsiteX5-11" fmla="*/ 5442857 w 6168572"/>
                  <a:gd name="connsiteY5-12" fmla="*/ 899886 h 1582057"/>
                  <a:gd name="connsiteX6-13" fmla="*/ 6168572 w 6168572"/>
                  <a:gd name="connsiteY6-14" fmla="*/ 1582057 h 1582057"/>
                  <a:gd name="connsiteX7-15" fmla="*/ 0 w 6168572"/>
                  <a:gd name="connsiteY7-16" fmla="*/ 1553029 h 1582057"/>
                  <a:gd name="connsiteX8-17" fmla="*/ 43544 w 6168572"/>
                  <a:gd name="connsiteY8-18" fmla="*/ 0 h 1582057"/>
                  <a:gd name="connsiteX0-19" fmla="*/ 1 w 6125029"/>
                  <a:gd name="connsiteY0-20" fmla="*/ 0 h 1582057"/>
                  <a:gd name="connsiteX1-21" fmla="*/ 1132114 w 6125029"/>
                  <a:gd name="connsiteY1-22" fmla="*/ 478972 h 1582057"/>
                  <a:gd name="connsiteX2-23" fmla="*/ 2278743 w 6125029"/>
                  <a:gd name="connsiteY2-24" fmla="*/ 696686 h 1582057"/>
                  <a:gd name="connsiteX3-25" fmla="*/ 3744686 w 6125029"/>
                  <a:gd name="connsiteY3-26" fmla="*/ 522515 h 1582057"/>
                  <a:gd name="connsiteX4-27" fmla="*/ 4455886 w 6125029"/>
                  <a:gd name="connsiteY4-28" fmla="*/ 812800 h 1582057"/>
                  <a:gd name="connsiteX5-29" fmla="*/ 5399314 w 6125029"/>
                  <a:gd name="connsiteY5-30" fmla="*/ 899886 h 1582057"/>
                  <a:gd name="connsiteX6-31" fmla="*/ 6125029 w 6125029"/>
                  <a:gd name="connsiteY6-32" fmla="*/ 1582057 h 1582057"/>
                  <a:gd name="connsiteX7-33" fmla="*/ 0 w 6125029"/>
                  <a:gd name="connsiteY7-34" fmla="*/ 1524000 h 1582057"/>
                  <a:gd name="connsiteX8-35" fmla="*/ 1 w 6125029"/>
                  <a:gd name="connsiteY8-36" fmla="*/ 0 h 1582057"/>
                  <a:gd name="connsiteX0-37" fmla="*/ 14515 w 6139543"/>
                  <a:gd name="connsiteY0-38" fmla="*/ 0 h 1596571"/>
                  <a:gd name="connsiteX1-39" fmla="*/ 1146628 w 6139543"/>
                  <a:gd name="connsiteY1-40" fmla="*/ 478972 h 1596571"/>
                  <a:gd name="connsiteX2-41" fmla="*/ 2293257 w 6139543"/>
                  <a:gd name="connsiteY2-42" fmla="*/ 696686 h 1596571"/>
                  <a:gd name="connsiteX3-43" fmla="*/ 3759200 w 6139543"/>
                  <a:gd name="connsiteY3-44" fmla="*/ 522515 h 1596571"/>
                  <a:gd name="connsiteX4-45" fmla="*/ 4470400 w 6139543"/>
                  <a:gd name="connsiteY4-46" fmla="*/ 812800 h 1596571"/>
                  <a:gd name="connsiteX5-47" fmla="*/ 5413828 w 6139543"/>
                  <a:gd name="connsiteY5-48" fmla="*/ 899886 h 1596571"/>
                  <a:gd name="connsiteX6-49" fmla="*/ 6139543 w 6139543"/>
                  <a:gd name="connsiteY6-50" fmla="*/ 1582057 h 1596571"/>
                  <a:gd name="connsiteX7-51" fmla="*/ 0 w 6139543"/>
                  <a:gd name="connsiteY7-52" fmla="*/ 1596571 h 1596571"/>
                  <a:gd name="connsiteX8-53" fmla="*/ 14515 w 6139543"/>
                  <a:gd name="connsiteY8-54" fmla="*/ 0 h 1596571"/>
                  <a:gd name="connsiteX0-55" fmla="*/ 14515 w 6139543"/>
                  <a:gd name="connsiteY0-56" fmla="*/ 88176 h 1684747"/>
                  <a:gd name="connsiteX1-57" fmla="*/ 1146628 w 6139543"/>
                  <a:gd name="connsiteY1-58" fmla="*/ 567148 h 1684747"/>
                  <a:gd name="connsiteX2-59" fmla="*/ 2293257 w 6139543"/>
                  <a:gd name="connsiteY2-60" fmla="*/ 784862 h 1684747"/>
                  <a:gd name="connsiteX3-61" fmla="*/ 3759200 w 6139543"/>
                  <a:gd name="connsiteY3-62" fmla="*/ 610691 h 1684747"/>
                  <a:gd name="connsiteX4-63" fmla="*/ 4470400 w 6139543"/>
                  <a:gd name="connsiteY4-64" fmla="*/ 900976 h 1684747"/>
                  <a:gd name="connsiteX5-65" fmla="*/ 5413828 w 6139543"/>
                  <a:gd name="connsiteY5-66" fmla="*/ 988062 h 1684747"/>
                  <a:gd name="connsiteX6-67" fmla="*/ 6139543 w 6139543"/>
                  <a:gd name="connsiteY6-68" fmla="*/ 1670233 h 1684747"/>
                  <a:gd name="connsiteX7-69" fmla="*/ 0 w 6139543"/>
                  <a:gd name="connsiteY7-70" fmla="*/ 1684747 h 1684747"/>
                  <a:gd name="connsiteX8-71" fmla="*/ 14515 w 6139543"/>
                  <a:gd name="connsiteY8-72" fmla="*/ 88176 h 1684747"/>
                  <a:gd name="connsiteX0-73" fmla="*/ 14515 w 6139543"/>
                  <a:gd name="connsiteY0-74" fmla="*/ 112943 h 1709514"/>
                  <a:gd name="connsiteX1-75" fmla="*/ 1146628 w 6139543"/>
                  <a:gd name="connsiteY1-76" fmla="*/ 591915 h 1709514"/>
                  <a:gd name="connsiteX2-77" fmla="*/ 2293257 w 6139543"/>
                  <a:gd name="connsiteY2-78" fmla="*/ 809629 h 1709514"/>
                  <a:gd name="connsiteX3-79" fmla="*/ 3759200 w 6139543"/>
                  <a:gd name="connsiteY3-80" fmla="*/ 635458 h 1709514"/>
                  <a:gd name="connsiteX4-81" fmla="*/ 4470400 w 6139543"/>
                  <a:gd name="connsiteY4-82" fmla="*/ 925743 h 1709514"/>
                  <a:gd name="connsiteX5-83" fmla="*/ 5413828 w 6139543"/>
                  <a:gd name="connsiteY5-84" fmla="*/ 1012829 h 1709514"/>
                  <a:gd name="connsiteX6-85" fmla="*/ 6139543 w 6139543"/>
                  <a:gd name="connsiteY6-86" fmla="*/ 1695000 h 1709514"/>
                  <a:gd name="connsiteX7-87" fmla="*/ 0 w 6139543"/>
                  <a:gd name="connsiteY7-88" fmla="*/ 1709514 h 1709514"/>
                  <a:gd name="connsiteX8-89" fmla="*/ 14515 w 6139543"/>
                  <a:gd name="connsiteY8-90" fmla="*/ 112943 h 1709514"/>
                  <a:gd name="connsiteX0-91" fmla="*/ 14515 w 6139543"/>
                  <a:gd name="connsiteY0-92" fmla="*/ 112943 h 1709514"/>
                  <a:gd name="connsiteX1-93" fmla="*/ 1146628 w 6139543"/>
                  <a:gd name="connsiteY1-94" fmla="*/ 591915 h 1709514"/>
                  <a:gd name="connsiteX2-95" fmla="*/ 2293257 w 6139543"/>
                  <a:gd name="connsiteY2-96" fmla="*/ 809629 h 1709514"/>
                  <a:gd name="connsiteX3-97" fmla="*/ 3759200 w 6139543"/>
                  <a:gd name="connsiteY3-98" fmla="*/ 635458 h 1709514"/>
                  <a:gd name="connsiteX4-99" fmla="*/ 4470400 w 6139543"/>
                  <a:gd name="connsiteY4-100" fmla="*/ 925743 h 1709514"/>
                  <a:gd name="connsiteX5-101" fmla="*/ 5413828 w 6139543"/>
                  <a:gd name="connsiteY5-102" fmla="*/ 1012829 h 1709514"/>
                  <a:gd name="connsiteX6-103" fmla="*/ 6139543 w 6139543"/>
                  <a:gd name="connsiteY6-104" fmla="*/ 1695000 h 1709514"/>
                  <a:gd name="connsiteX7-105" fmla="*/ 0 w 6139543"/>
                  <a:gd name="connsiteY7-106" fmla="*/ 1709514 h 1709514"/>
                  <a:gd name="connsiteX8-107" fmla="*/ 14515 w 6139543"/>
                  <a:gd name="connsiteY8-108" fmla="*/ 112943 h 1709514"/>
                  <a:gd name="connsiteX0-109" fmla="*/ 14515 w 6139543"/>
                  <a:gd name="connsiteY0-110" fmla="*/ 112943 h 1709514"/>
                  <a:gd name="connsiteX1-111" fmla="*/ 1146628 w 6139543"/>
                  <a:gd name="connsiteY1-112" fmla="*/ 591915 h 1709514"/>
                  <a:gd name="connsiteX2-113" fmla="*/ 2293257 w 6139543"/>
                  <a:gd name="connsiteY2-114" fmla="*/ 809629 h 1709514"/>
                  <a:gd name="connsiteX3-115" fmla="*/ 3759200 w 6139543"/>
                  <a:gd name="connsiteY3-116" fmla="*/ 635458 h 1709514"/>
                  <a:gd name="connsiteX4-117" fmla="*/ 4470400 w 6139543"/>
                  <a:gd name="connsiteY4-118" fmla="*/ 925743 h 1709514"/>
                  <a:gd name="connsiteX5-119" fmla="*/ 5413828 w 6139543"/>
                  <a:gd name="connsiteY5-120" fmla="*/ 1012829 h 1709514"/>
                  <a:gd name="connsiteX6-121" fmla="*/ 6139543 w 6139543"/>
                  <a:gd name="connsiteY6-122" fmla="*/ 1695000 h 1709514"/>
                  <a:gd name="connsiteX7-123" fmla="*/ 0 w 6139543"/>
                  <a:gd name="connsiteY7-124" fmla="*/ 1709514 h 1709514"/>
                  <a:gd name="connsiteX8-125" fmla="*/ 14515 w 6139543"/>
                  <a:gd name="connsiteY8-126" fmla="*/ 112943 h 1709514"/>
                  <a:gd name="connsiteX0-127" fmla="*/ 14515 w 6139543"/>
                  <a:gd name="connsiteY0-128" fmla="*/ 112943 h 1709514"/>
                  <a:gd name="connsiteX1-129" fmla="*/ 1146628 w 6139543"/>
                  <a:gd name="connsiteY1-130" fmla="*/ 591915 h 1709514"/>
                  <a:gd name="connsiteX2-131" fmla="*/ 2293257 w 6139543"/>
                  <a:gd name="connsiteY2-132" fmla="*/ 809629 h 1709514"/>
                  <a:gd name="connsiteX3-133" fmla="*/ 3759200 w 6139543"/>
                  <a:gd name="connsiteY3-134" fmla="*/ 635458 h 1709514"/>
                  <a:gd name="connsiteX4-135" fmla="*/ 4470400 w 6139543"/>
                  <a:gd name="connsiteY4-136" fmla="*/ 925743 h 1709514"/>
                  <a:gd name="connsiteX5-137" fmla="*/ 5413828 w 6139543"/>
                  <a:gd name="connsiteY5-138" fmla="*/ 1012829 h 1709514"/>
                  <a:gd name="connsiteX6-139" fmla="*/ 6139543 w 6139543"/>
                  <a:gd name="connsiteY6-140" fmla="*/ 1695000 h 1709514"/>
                  <a:gd name="connsiteX7-141" fmla="*/ 0 w 6139543"/>
                  <a:gd name="connsiteY7-142" fmla="*/ 1709514 h 1709514"/>
                  <a:gd name="connsiteX8-143" fmla="*/ 14515 w 6139543"/>
                  <a:gd name="connsiteY8-144" fmla="*/ 112943 h 1709514"/>
                  <a:gd name="connsiteX0-145" fmla="*/ 14515 w 6139543"/>
                  <a:gd name="connsiteY0-146" fmla="*/ 112943 h 1709514"/>
                  <a:gd name="connsiteX1-147" fmla="*/ 1146628 w 6139543"/>
                  <a:gd name="connsiteY1-148" fmla="*/ 591915 h 1709514"/>
                  <a:gd name="connsiteX2-149" fmla="*/ 2293257 w 6139543"/>
                  <a:gd name="connsiteY2-150" fmla="*/ 809629 h 1709514"/>
                  <a:gd name="connsiteX3-151" fmla="*/ 3759200 w 6139543"/>
                  <a:gd name="connsiteY3-152" fmla="*/ 635458 h 1709514"/>
                  <a:gd name="connsiteX4-153" fmla="*/ 4470400 w 6139543"/>
                  <a:gd name="connsiteY4-154" fmla="*/ 925743 h 1709514"/>
                  <a:gd name="connsiteX5-155" fmla="*/ 5413828 w 6139543"/>
                  <a:gd name="connsiteY5-156" fmla="*/ 1012829 h 1709514"/>
                  <a:gd name="connsiteX6-157" fmla="*/ 6139543 w 6139543"/>
                  <a:gd name="connsiteY6-158" fmla="*/ 1695000 h 1709514"/>
                  <a:gd name="connsiteX7-159" fmla="*/ 0 w 6139543"/>
                  <a:gd name="connsiteY7-160" fmla="*/ 1709514 h 1709514"/>
                  <a:gd name="connsiteX8-161" fmla="*/ 14515 w 6139543"/>
                  <a:gd name="connsiteY8-162" fmla="*/ 112943 h 1709514"/>
                  <a:gd name="connsiteX0-163" fmla="*/ 14515 w 6139543"/>
                  <a:gd name="connsiteY0-164" fmla="*/ 112943 h 1709514"/>
                  <a:gd name="connsiteX1-165" fmla="*/ 1146628 w 6139543"/>
                  <a:gd name="connsiteY1-166" fmla="*/ 591915 h 1709514"/>
                  <a:gd name="connsiteX2-167" fmla="*/ 2293257 w 6139543"/>
                  <a:gd name="connsiteY2-168" fmla="*/ 809629 h 1709514"/>
                  <a:gd name="connsiteX3-169" fmla="*/ 3759200 w 6139543"/>
                  <a:gd name="connsiteY3-170" fmla="*/ 635458 h 1709514"/>
                  <a:gd name="connsiteX4-171" fmla="*/ 4470400 w 6139543"/>
                  <a:gd name="connsiteY4-172" fmla="*/ 925743 h 1709514"/>
                  <a:gd name="connsiteX5-173" fmla="*/ 5413828 w 6139543"/>
                  <a:gd name="connsiteY5-174" fmla="*/ 1012829 h 1709514"/>
                  <a:gd name="connsiteX6-175" fmla="*/ 6139543 w 6139543"/>
                  <a:gd name="connsiteY6-176" fmla="*/ 1695000 h 1709514"/>
                  <a:gd name="connsiteX7-177" fmla="*/ 0 w 6139543"/>
                  <a:gd name="connsiteY7-178" fmla="*/ 1709514 h 1709514"/>
                  <a:gd name="connsiteX8-179" fmla="*/ 14515 w 6139543"/>
                  <a:gd name="connsiteY8-180" fmla="*/ 112943 h 1709514"/>
                  <a:gd name="connsiteX0-181" fmla="*/ 14515 w 6139543"/>
                  <a:gd name="connsiteY0-182" fmla="*/ 112943 h 1709514"/>
                  <a:gd name="connsiteX1-183" fmla="*/ 1146628 w 6139543"/>
                  <a:gd name="connsiteY1-184" fmla="*/ 591915 h 1709514"/>
                  <a:gd name="connsiteX2-185" fmla="*/ 2293257 w 6139543"/>
                  <a:gd name="connsiteY2-186" fmla="*/ 809629 h 1709514"/>
                  <a:gd name="connsiteX3-187" fmla="*/ 3759200 w 6139543"/>
                  <a:gd name="connsiteY3-188" fmla="*/ 635458 h 1709514"/>
                  <a:gd name="connsiteX4-189" fmla="*/ 4470400 w 6139543"/>
                  <a:gd name="connsiteY4-190" fmla="*/ 925743 h 1709514"/>
                  <a:gd name="connsiteX5-191" fmla="*/ 5413828 w 6139543"/>
                  <a:gd name="connsiteY5-192" fmla="*/ 1012829 h 1709514"/>
                  <a:gd name="connsiteX6-193" fmla="*/ 6139543 w 6139543"/>
                  <a:gd name="connsiteY6-194" fmla="*/ 1695000 h 1709514"/>
                  <a:gd name="connsiteX7-195" fmla="*/ 0 w 6139543"/>
                  <a:gd name="connsiteY7-196" fmla="*/ 1709514 h 1709514"/>
                  <a:gd name="connsiteX8-197" fmla="*/ 14515 w 6139543"/>
                  <a:gd name="connsiteY8-198" fmla="*/ 112943 h 1709514"/>
                  <a:gd name="connsiteX0-199" fmla="*/ 14515 w 6139543"/>
                  <a:gd name="connsiteY0-200" fmla="*/ 112943 h 1709514"/>
                  <a:gd name="connsiteX1-201" fmla="*/ 1146628 w 6139543"/>
                  <a:gd name="connsiteY1-202" fmla="*/ 591915 h 1709514"/>
                  <a:gd name="connsiteX2-203" fmla="*/ 2293257 w 6139543"/>
                  <a:gd name="connsiteY2-204" fmla="*/ 809629 h 1709514"/>
                  <a:gd name="connsiteX3-205" fmla="*/ 3759200 w 6139543"/>
                  <a:gd name="connsiteY3-206" fmla="*/ 635458 h 1709514"/>
                  <a:gd name="connsiteX4-207" fmla="*/ 4557486 w 6139543"/>
                  <a:gd name="connsiteY4-208" fmla="*/ 649971 h 1709514"/>
                  <a:gd name="connsiteX5-209" fmla="*/ 5413828 w 6139543"/>
                  <a:gd name="connsiteY5-210" fmla="*/ 1012829 h 1709514"/>
                  <a:gd name="connsiteX6-211" fmla="*/ 6139543 w 6139543"/>
                  <a:gd name="connsiteY6-212" fmla="*/ 1695000 h 1709514"/>
                  <a:gd name="connsiteX7-213" fmla="*/ 0 w 6139543"/>
                  <a:gd name="connsiteY7-214" fmla="*/ 1709514 h 1709514"/>
                  <a:gd name="connsiteX8-215" fmla="*/ 14515 w 6139543"/>
                  <a:gd name="connsiteY8-216" fmla="*/ 112943 h 1709514"/>
                  <a:gd name="connsiteX0-217" fmla="*/ 14515 w 6139543"/>
                  <a:gd name="connsiteY0-218" fmla="*/ 112943 h 1709514"/>
                  <a:gd name="connsiteX1-219" fmla="*/ 1146628 w 6139543"/>
                  <a:gd name="connsiteY1-220" fmla="*/ 591915 h 1709514"/>
                  <a:gd name="connsiteX2-221" fmla="*/ 2293257 w 6139543"/>
                  <a:gd name="connsiteY2-222" fmla="*/ 809629 h 1709514"/>
                  <a:gd name="connsiteX3-223" fmla="*/ 3759200 w 6139543"/>
                  <a:gd name="connsiteY3-224" fmla="*/ 635458 h 1709514"/>
                  <a:gd name="connsiteX4-225" fmla="*/ 4615543 w 6139543"/>
                  <a:gd name="connsiteY4-226" fmla="*/ 446771 h 1709514"/>
                  <a:gd name="connsiteX5-227" fmla="*/ 5413828 w 6139543"/>
                  <a:gd name="connsiteY5-228" fmla="*/ 1012829 h 1709514"/>
                  <a:gd name="connsiteX6-229" fmla="*/ 6139543 w 6139543"/>
                  <a:gd name="connsiteY6-230" fmla="*/ 1695000 h 1709514"/>
                  <a:gd name="connsiteX7-231" fmla="*/ 0 w 6139543"/>
                  <a:gd name="connsiteY7-232" fmla="*/ 1709514 h 1709514"/>
                  <a:gd name="connsiteX8-233" fmla="*/ 14515 w 6139543"/>
                  <a:gd name="connsiteY8-234" fmla="*/ 112943 h 1709514"/>
                  <a:gd name="connsiteX0-235" fmla="*/ 14515 w 6139543"/>
                  <a:gd name="connsiteY0-236" fmla="*/ 112943 h 1709514"/>
                  <a:gd name="connsiteX1-237" fmla="*/ 1146628 w 6139543"/>
                  <a:gd name="connsiteY1-238" fmla="*/ 591915 h 1709514"/>
                  <a:gd name="connsiteX2-239" fmla="*/ 2293257 w 6139543"/>
                  <a:gd name="connsiteY2-240" fmla="*/ 809629 h 1709514"/>
                  <a:gd name="connsiteX3-241" fmla="*/ 3759200 w 6139543"/>
                  <a:gd name="connsiteY3-242" fmla="*/ 635458 h 1709514"/>
                  <a:gd name="connsiteX4-243" fmla="*/ 4775200 w 6139543"/>
                  <a:gd name="connsiteY4-244" fmla="*/ 766086 h 1709514"/>
                  <a:gd name="connsiteX5-245" fmla="*/ 5413828 w 6139543"/>
                  <a:gd name="connsiteY5-246" fmla="*/ 1012829 h 1709514"/>
                  <a:gd name="connsiteX6-247" fmla="*/ 6139543 w 6139543"/>
                  <a:gd name="connsiteY6-248" fmla="*/ 1695000 h 1709514"/>
                  <a:gd name="connsiteX7-249" fmla="*/ 0 w 6139543"/>
                  <a:gd name="connsiteY7-250" fmla="*/ 1709514 h 1709514"/>
                  <a:gd name="connsiteX8-251" fmla="*/ 14515 w 6139543"/>
                  <a:gd name="connsiteY8-252" fmla="*/ 112943 h 1709514"/>
                  <a:gd name="connsiteX0-253" fmla="*/ 14515 w 6139543"/>
                  <a:gd name="connsiteY0-254" fmla="*/ 112943 h 1709514"/>
                  <a:gd name="connsiteX1-255" fmla="*/ 1146628 w 6139543"/>
                  <a:gd name="connsiteY1-256" fmla="*/ 591915 h 1709514"/>
                  <a:gd name="connsiteX2-257" fmla="*/ 2293257 w 6139543"/>
                  <a:gd name="connsiteY2-258" fmla="*/ 809629 h 1709514"/>
                  <a:gd name="connsiteX3-259" fmla="*/ 3759200 w 6139543"/>
                  <a:gd name="connsiteY3-260" fmla="*/ 635458 h 1709514"/>
                  <a:gd name="connsiteX4-261" fmla="*/ 4586514 w 6139543"/>
                  <a:gd name="connsiteY4-262" fmla="*/ 867686 h 1709514"/>
                  <a:gd name="connsiteX5-263" fmla="*/ 5413828 w 6139543"/>
                  <a:gd name="connsiteY5-264" fmla="*/ 1012829 h 1709514"/>
                  <a:gd name="connsiteX6-265" fmla="*/ 6139543 w 6139543"/>
                  <a:gd name="connsiteY6-266" fmla="*/ 1695000 h 1709514"/>
                  <a:gd name="connsiteX7-267" fmla="*/ 0 w 6139543"/>
                  <a:gd name="connsiteY7-268" fmla="*/ 1709514 h 1709514"/>
                  <a:gd name="connsiteX8-269" fmla="*/ 14515 w 6139543"/>
                  <a:gd name="connsiteY8-270" fmla="*/ 112943 h 1709514"/>
                  <a:gd name="connsiteX0-271" fmla="*/ 14515 w 6139543"/>
                  <a:gd name="connsiteY0-272" fmla="*/ 112943 h 1709514"/>
                  <a:gd name="connsiteX1-273" fmla="*/ 1146628 w 6139543"/>
                  <a:gd name="connsiteY1-274" fmla="*/ 591915 h 1709514"/>
                  <a:gd name="connsiteX2-275" fmla="*/ 2293257 w 6139543"/>
                  <a:gd name="connsiteY2-276" fmla="*/ 809629 h 1709514"/>
                  <a:gd name="connsiteX3-277" fmla="*/ 3759200 w 6139543"/>
                  <a:gd name="connsiteY3-278" fmla="*/ 635458 h 1709514"/>
                  <a:gd name="connsiteX4-279" fmla="*/ 4586514 w 6139543"/>
                  <a:gd name="connsiteY4-280" fmla="*/ 867686 h 1709514"/>
                  <a:gd name="connsiteX5-281" fmla="*/ 5413828 w 6139543"/>
                  <a:gd name="connsiteY5-282" fmla="*/ 1012829 h 1709514"/>
                  <a:gd name="connsiteX6-283" fmla="*/ 6139543 w 6139543"/>
                  <a:gd name="connsiteY6-284" fmla="*/ 1695000 h 1709514"/>
                  <a:gd name="connsiteX7-285" fmla="*/ 0 w 6139543"/>
                  <a:gd name="connsiteY7-286" fmla="*/ 1709514 h 1709514"/>
                  <a:gd name="connsiteX8-287" fmla="*/ 14515 w 6139543"/>
                  <a:gd name="connsiteY8-288" fmla="*/ 112943 h 1709514"/>
                  <a:gd name="connsiteX0-289" fmla="*/ 14515 w 6139543"/>
                  <a:gd name="connsiteY0-290" fmla="*/ 112943 h 1709514"/>
                  <a:gd name="connsiteX1-291" fmla="*/ 1146628 w 6139543"/>
                  <a:gd name="connsiteY1-292" fmla="*/ 591915 h 1709514"/>
                  <a:gd name="connsiteX2-293" fmla="*/ 2293257 w 6139543"/>
                  <a:gd name="connsiteY2-294" fmla="*/ 809629 h 1709514"/>
                  <a:gd name="connsiteX3-295" fmla="*/ 3759200 w 6139543"/>
                  <a:gd name="connsiteY3-296" fmla="*/ 635458 h 1709514"/>
                  <a:gd name="connsiteX4-297" fmla="*/ 4586514 w 6139543"/>
                  <a:gd name="connsiteY4-298" fmla="*/ 867686 h 1709514"/>
                  <a:gd name="connsiteX5-299" fmla="*/ 5413828 w 6139543"/>
                  <a:gd name="connsiteY5-300" fmla="*/ 1012829 h 1709514"/>
                  <a:gd name="connsiteX6-301" fmla="*/ 6139543 w 6139543"/>
                  <a:gd name="connsiteY6-302" fmla="*/ 1695000 h 1709514"/>
                  <a:gd name="connsiteX7-303" fmla="*/ 0 w 6139543"/>
                  <a:gd name="connsiteY7-304" fmla="*/ 1709514 h 1709514"/>
                  <a:gd name="connsiteX8-305" fmla="*/ 14515 w 6139543"/>
                  <a:gd name="connsiteY8-306" fmla="*/ 112943 h 1709514"/>
                  <a:gd name="connsiteX0-307" fmla="*/ 14515 w 6139543"/>
                  <a:gd name="connsiteY0-308" fmla="*/ 112943 h 1709514"/>
                  <a:gd name="connsiteX1-309" fmla="*/ 1146628 w 6139543"/>
                  <a:gd name="connsiteY1-310" fmla="*/ 591915 h 1709514"/>
                  <a:gd name="connsiteX2-311" fmla="*/ 2293257 w 6139543"/>
                  <a:gd name="connsiteY2-312" fmla="*/ 809629 h 1709514"/>
                  <a:gd name="connsiteX3-313" fmla="*/ 3759200 w 6139543"/>
                  <a:gd name="connsiteY3-314" fmla="*/ 635458 h 1709514"/>
                  <a:gd name="connsiteX4-315" fmla="*/ 4586514 w 6139543"/>
                  <a:gd name="connsiteY4-316" fmla="*/ 867686 h 1709514"/>
                  <a:gd name="connsiteX5-317" fmla="*/ 5413828 w 6139543"/>
                  <a:gd name="connsiteY5-318" fmla="*/ 1012829 h 1709514"/>
                  <a:gd name="connsiteX6-319" fmla="*/ 6139543 w 6139543"/>
                  <a:gd name="connsiteY6-320" fmla="*/ 1695000 h 1709514"/>
                  <a:gd name="connsiteX7-321" fmla="*/ 0 w 6139543"/>
                  <a:gd name="connsiteY7-322" fmla="*/ 1709514 h 1709514"/>
                  <a:gd name="connsiteX8-323" fmla="*/ 14515 w 6139543"/>
                  <a:gd name="connsiteY8-324" fmla="*/ 112943 h 1709514"/>
                  <a:gd name="connsiteX0-325" fmla="*/ 14515 w 6139543"/>
                  <a:gd name="connsiteY0-326" fmla="*/ 112943 h 1709514"/>
                  <a:gd name="connsiteX1-327" fmla="*/ 1146628 w 6139543"/>
                  <a:gd name="connsiteY1-328" fmla="*/ 591915 h 1709514"/>
                  <a:gd name="connsiteX2-329" fmla="*/ 2293257 w 6139543"/>
                  <a:gd name="connsiteY2-330" fmla="*/ 809629 h 1709514"/>
                  <a:gd name="connsiteX3-331" fmla="*/ 3759200 w 6139543"/>
                  <a:gd name="connsiteY3-332" fmla="*/ 635458 h 1709514"/>
                  <a:gd name="connsiteX4-333" fmla="*/ 4586514 w 6139543"/>
                  <a:gd name="connsiteY4-334" fmla="*/ 867686 h 1709514"/>
                  <a:gd name="connsiteX5-335" fmla="*/ 5413828 w 6139543"/>
                  <a:gd name="connsiteY5-336" fmla="*/ 1012829 h 1709514"/>
                  <a:gd name="connsiteX6-337" fmla="*/ 6139543 w 6139543"/>
                  <a:gd name="connsiteY6-338" fmla="*/ 1695000 h 1709514"/>
                  <a:gd name="connsiteX7-339" fmla="*/ 0 w 6139543"/>
                  <a:gd name="connsiteY7-340" fmla="*/ 1709514 h 1709514"/>
                  <a:gd name="connsiteX8-341" fmla="*/ 14515 w 6139543"/>
                  <a:gd name="connsiteY8-342" fmla="*/ 112943 h 1709514"/>
                  <a:gd name="connsiteX0-343" fmla="*/ 14515 w 6139543"/>
                  <a:gd name="connsiteY0-344" fmla="*/ 112943 h 1709514"/>
                  <a:gd name="connsiteX1-345" fmla="*/ 1146628 w 6139543"/>
                  <a:gd name="connsiteY1-346" fmla="*/ 591915 h 1709514"/>
                  <a:gd name="connsiteX2-347" fmla="*/ 2293257 w 6139543"/>
                  <a:gd name="connsiteY2-348" fmla="*/ 809629 h 1709514"/>
                  <a:gd name="connsiteX3-349" fmla="*/ 3759200 w 6139543"/>
                  <a:gd name="connsiteY3-350" fmla="*/ 635458 h 1709514"/>
                  <a:gd name="connsiteX4-351" fmla="*/ 4586514 w 6139543"/>
                  <a:gd name="connsiteY4-352" fmla="*/ 867686 h 1709514"/>
                  <a:gd name="connsiteX5-353" fmla="*/ 5413828 w 6139543"/>
                  <a:gd name="connsiteY5-354" fmla="*/ 1012829 h 1709514"/>
                  <a:gd name="connsiteX6-355" fmla="*/ 6139543 w 6139543"/>
                  <a:gd name="connsiteY6-356" fmla="*/ 1695000 h 1709514"/>
                  <a:gd name="connsiteX7-357" fmla="*/ 0 w 6139543"/>
                  <a:gd name="connsiteY7-358" fmla="*/ 1709514 h 1709514"/>
                  <a:gd name="connsiteX8-359" fmla="*/ 14515 w 6139543"/>
                  <a:gd name="connsiteY8-360" fmla="*/ 112943 h 1709514"/>
                  <a:gd name="connsiteX0-361" fmla="*/ 14515 w 6139543"/>
                  <a:gd name="connsiteY0-362" fmla="*/ 112943 h 1709514"/>
                  <a:gd name="connsiteX1-363" fmla="*/ 1146628 w 6139543"/>
                  <a:gd name="connsiteY1-364" fmla="*/ 591915 h 1709514"/>
                  <a:gd name="connsiteX2-365" fmla="*/ 2293257 w 6139543"/>
                  <a:gd name="connsiteY2-366" fmla="*/ 809629 h 1709514"/>
                  <a:gd name="connsiteX3-367" fmla="*/ 3759200 w 6139543"/>
                  <a:gd name="connsiteY3-368" fmla="*/ 635458 h 1709514"/>
                  <a:gd name="connsiteX4-369" fmla="*/ 4586514 w 6139543"/>
                  <a:gd name="connsiteY4-370" fmla="*/ 867686 h 1709514"/>
                  <a:gd name="connsiteX5-371" fmla="*/ 5413828 w 6139543"/>
                  <a:gd name="connsiteY5-372" fmla="*/ 1012829 h 1709514"/>
                  <a:gd name="connsiteX6-373" fmla="*/ 6139543 w 6139543"/>
                  <a:gd name="connsiteY6-374" fmla="*/ 1695000 h 1709514"/>
                  <a:gd name="connsiteX7-375" fmla="*/ 0 w 6139543"/>
                  <a:gd name="connsiteY7-376" fmla="*/ 1709514 h 1709514"/>
                  <a:gd name="connsiteX8-377" fmla="*/ 14515 w 6139543"/>
                  <a:gd name="connsiteY8-378" fmla="*/ 112943 h 1709514"/>
                  <a:gd name="connsiteX0-379" fmla="*/ 14515 w 6139543"/>
                  <a:gd name="connsiteY0-380" fmla="*/ 112943 h 1709514"/>
                  <a:gd name="connsiteX1-381" fmla="*/ 1146628 w 6139543"/>
                  <a:gd name="connsiteY1-382" fmla="*/ 591915 h 1709514"/>
                  <a:gd name="connsiteX2-383" fmla="*/ 2293257 w 6139543"/>
                  <a:gd name="connsiteY2-384" fmla="*/ 809629 h 1709514"/>
                  <a:gd name="connsiteX3-385" fmla="*/ 3759200 w 6139543"/>
                  <a:gd name="connsiteY3-386" fmla="*/ 635458 h 1709514"/>
                  <a:gd name="connsiteX4-387" fmla="*/ 4586514 w 6139543"/>
                  <a:gd name="connsiteY4-388" fmla="*/ 867686 h 1709514"/>
                  <a:gd name="connsiteX5-389" fmla="*/ 5413828 w 6139543"/>
                  <a:gd name="connsiteY5-390" fmla="*/ 1012829 h 1709514"/>
                  <a:gd name="connsiteX6-391" fmla="*/ 6139543 w 6139543"/>
                  <a:gd name="connsiteY6-392" fmla="*/ 1695000 h 1709514"/>
                  <a:gd name="connsiteX7-393" fmla="*/ 0 w 6139543"/>
                  <a:gd name="connsiteY7-394" fmla="*/ 1709514 h 1709514"/>
                  <a:gd name="connsiteX8-395" fmla="*/ 14515 w 6139543"/>
                  <a:gd name="connsiteY8-396" fmla="*/ 112943 h 1709514"/>
                  <a:gd name="connsiteX0-397" fmla="*/ 14515 w 6139543"/>
                  <a:gd name="connsiteY0-398" fmla="*/ 112943 h 1709514"/>
                  <a:gd name="connsiteX1-399" fmla="*/ 1146628 w 6139543"/>
                  <a:gd name="connsiteY1-400" fmla="*/ 591915 h 1709514"/>
                  <a:gd name="connsiteX2-401" fmla="*/ 2293257 w 6139543"/>
                  <a:gd name="connsiteY2-402" fmla="*/ 809629 h 1709514"/>
                  <a:gd name="connsiteX3-403" fmla="*/ 3759200 w 6139543"/>
                  <a:gd name="connsiteY3-404" fmla="*/ 635458 h 1709514"/>
                  <a:gd name="connsiteX4-405" fmla="*/ 4586514 w 6139543"/>
                  <a:gd name="connsiteY4-406" fmla="*/ 867686 h 1709514"/>
                  <a:gd name="connsiteX5-407" fmla="*/ 5413828 w 6139543"/>
                  <a:gd name="connsiteY5-408" fmla="*/ 1012829 h 1709514"/>
                  <a:gd name="connsiteX6-409" fmla="*/ 6139543 w 6139543"/>
                  <a:gd name="connsiteY6-410" fmla="*/ 1695000 h 1709514"/>
                  <a:gd name="connsiteX7-411" fmla="*/ 0 w 6139543"/>
                  <a:gd name="connsiteY7-412" fmla="*/ 1709514 h 1709514"/>
                  <a:gd name="connsiteX8-413" fmla="*/ 14515 w 6139543"/>
                  <a:gd name="connsiteY8-414" fmla="*/ 112943 h 1709514"/>
                  <a:gd name="connsiteX0-415" fmla="*/ 29029 w 6139543"/>
                  <a:gd name="connsiteY0-416" fmla="*/ 140109 h 1591537"/>
                  <a:gd name="connsiteX1-417" fmla="*/ 1146628 w 6139543"/>
                  <a:gd name="connsiteY1-418" fmla="*/ 473938 h 1591537"/>
                  <a:gd name="connsiteX2-419" fmla="*/ 2293257 w 6139543"/>
                  <a:gd name="connsiteY2-420" fmla="*/ 691652 h 1591537"/>
                  <a:gd name="connsiteX3-421" fmla="*/ 3759200 w 6139543"/>
                  <a:gd name="connsiteY3-422" fmla="*/ 517481 h 1591537"/>
                  <a:gd name="connsiteX4-423" fmla="*/ 4586514 w 6139543"/>
                  <a:gd name="connsiteY4-424" fmla="*/ 749709 h 1591537"/>
                  <a:gd name="connsiteX5-425" fmla="*/ 5413828 w 6139543"/>
                  <a:gd name="connsiteY5-426" fmla="*/ 894852 h 1591537"/>
                  <a:gd name="connsiteX6-427" fmla="*/ 6139543 w 6139543"/>
                  <a:gd name="connsiteY6-428" fmla="*/ 1577023 h 1591537"/>
                  <a:gd name="connsiteX7-429" fmla="*/ 0 w 6139543"/>
                  <a:gd name="connsiteY7-430" fmla="*/ 1591537 h 1591537"/>
                  <a:gd name="connsiteX8-431" fmla="*/ 29029 w 6139543"/>
                  <a:gd name="connsiteY8-432" fmla="*/ 140109 h 1591537"/>
                  <a:gd name="connsiteX0-433" fmla="*/ 29029 w 6139543"/>
                  <a:gd name="connsiteY0-434" fmla="*/ 197960 h 1649388"/>
                  <a:gd name="connsiteX1-435" fmla="*/ 1146628 w 6139543"/>
                  <a:gd name="connsiteY1-436" fmla="*/ 531789 h 1649388"/>
                  <a:gd name="connsiteX2-437" fmla="*/ 2293257 w 6139543"/>
                  <a:gd name="connsiteY2-438" fmla="*/ 749503 h 1649388"/>
                  <a:gd name="connsiteX3-439" fmla="*/ 3759200 w 6139543"/>
                  <a:gd name="connsiteY3-440" fmla="*/ 575332 h 1649388"/>
                  <a:gd name="connsiteX4-441" fmla="*/ 4586514 w 6139543"/>
                  <a:gd name="connsiteY4-442" fmla="*/ 807560 h 1649388"/>
                  <a:gd name="connsiteX5-443" fmla="*/ 5413828 w 6139543"/>
                  <a:gd name="connsiteY5-444" fmla="*/ 952703 h 1649388"/>
                  <a:gd name="connsiteX6-445" fmla="*/ 6139543 w 6139543"/>
                  <a:gd name="connsiteY6-446" fmla="*/ 1634874 h 1649388"/>
                  <a:gd name="connsiteX7-447" fmla="*/ 0 w 6139543"/>
                  <a:gd name="connsiteY7-448" fmla="*/ 1649388 h 1649388"/>
                  <a:gd name="connsiteX8-449" fmla="*/ 29029 w 6139543"/>
                  <a:gd name="connsiteY8-450" fmla="*/ 197960 h 1649388"/>
                  <a:gd name="connsiteX0-451" fmla="*/ 29029 w 6139543"/>
                  <a:gd name="connsiteY0-452" fmla="*/ 197960 h 1649388"/>
                  <a:gd name="connsiteX1-453" fmla="*/ 1146628 w 6139543"/>
                  <a:gd name="connsiteY1-454" fmla="*/ 531789 h 1649388"/>
                  <a:gd name="connsiteX2-455" fmla="*/ 2293257 w 6139543"/>
                  <a:gd name="connsiteY2-456" fmla="*/ 749503 h 1649388"/>
                  <a:gd name="connsiteX3-457" fmla="*/ 3759200 w 6139543"/>
                  <a:gd name="connsiteY3-458" fmla="*/ 575332 h 1649388"/>
                  <a:gd name="connsiteX4-459" fmla="*/ 4586514 w 6139543"/>
                  <a:gd name="connsiteY4-460" fmla="*/ 807560 h 1649388"/>
                  <a:gd name="connsiteX5-461" fmla="*/ 5413828 w 6139543"/>
                  <a:gd name="connsiteY5-462" fmla="*/ 952703 h 1649388"/>
                  <a:gd name="connsiteX6-463" fmla="*/ 6139543 w 6139543"/>
                  <a:gd name="connsiteY6-464" fmla="*/ 1634874 h 1649388"/>
                  <a:gd name="connsiteX7-465" fmla="*/ 0 w 6139543"/>
                  <a:gd name="connsiteY7-466" fmla="*/ 1649388 h 1649388"/>
                  <a:gd name="connsiteX8-467" fmla="*/ 29029 w 6139543"/>
                  <a:gd name="connsiteY8-468" fmla="*/ 197960 h 16493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6139543" h="1649388">
                    <a:moveTo>
                      <a:pt x="29029" y="197960"/>
                    </a:moveTo>
                    <a:cubicBezTo>
                      <a:pt x="319315" y="-251983"/>
                      <a:pt x="1016000" y="154418"/>
                      <a:pt x="1146628" y="531789"/>
                    </a:cubicBezTo>
                    <a:cubicBezTo>
                      <a:pt x="1514324" y="168932"/>
                      <a:pt x="2230361" y="459217"/>
                      <a:pt x="2293257" y="749503"/>
                    </a:cubicBezTo>
                    <a:cubicBezTo>
                      <a:pt x="2651276" y="459218"/>
                      <a:pt x="3270552" y="299560"/>
                      <a:pt x="3759200" y="575332"/>
                    </a:cubicBezTo>
                    <a:cubicBezTo>
                      <a:pt x="4034971" y="652741"/>
                      <a:pt x="4513943" y="410837"/>
                      <a:pt x="4586514" y="807560"/>
                    </a:cubicBezTo>
                    <a:cubicBezTo>
                      <a:pt x="4963885" y="681769"/>
                      <a:pt x="5181600" y="657579"/>
                      <a:pt x="5413828" y="952703"/>
                    </a:cubicBezTo>
                    <a:cubicBezTo>
                      <a:pt x="5975047" y="860778"/>
                      <a:pt x="5984724" y="1291370"/>
                      <a:pt x="6139543" y="1634874"/>
                    </a:cubicBezTo>
                    <a:lnTo>
                      <a:pt x="0" y="1649388"/>
                    </a:lnTo>
                    <a:cubicBezTo>
                      <a:pt x="0" y="1141388"/>
                      <a:pt x="29029" y="705960"/>
                      <a:pt x="29029" y="197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8" name="任意多边形: 形状 34"/>
              <p:cNvSpPr/>
              <p:nvPr userDrawn="1"/>
            </p:nvSpPr>
            <p:spPr>
              <a:xfrm flipH="1">
                <a:off x="5551037" y="5244897"/>
                <a:ext cx="6684506" cy="1649388"/>
              </a:xfrm>
              <a:custGeom>
                <a:avLst/>
                <a:gdLst>
                  <a:gd name="connsiteX0" fmla="*/ 72572 w 6168572"/>
                  <a:gd name="connsiteY0" fmla="*/ 0 h 1582057"/>
                  <a:gd name="connsiteX1" fmla="*/ 1175657 w 6168572"/>
                  <a:gd name="connsiteY1" fmla="*/ 478972 h 1582057"/>
                  <a:gd name="connsiteX2" fmla="*/ 2322286 w 6168572"/>
                  <a:gd name="connsiteY2" fmla="*/ 696686 h 1582057"/>
                  <a:gd name="connsiteX3" fmla="*/ 3788229 w 6168572"/>
                  <a:gd name="connsiteY3" fmla="*/ 522515 h 1582057"/>
                  <a:gd name="connsiteX4" fmla="*/ 4499429 w 6168572"/>
                  <a:gd name="connsiteY4" fmla="*/ 812800 h 1582057"/>
                  <a:gd name="connsiteX5" fmla="*/ 5442857 w 6168572"/>
                  <a:gd name="connsiteY5" fmla="*/ 899886 h 1582057"/>
                  <a:gd name="connsiteX6" fmla="*/ 6168572 w 6168572"/>
                  <a:gd name="connsiteY6" fmla="*/ 1582057 h 1582057"/>
                  <a:gd name="connsiteX7" fmla="*/ 0 w 6168572"/>
                  <a:gd name="connsiteY7" fmla="*/ 1553029 h 1582057"/>
                  <a:gd name="connsiteX8" fmla="*/ 72572 w 6168572"/>
                  <a:gd name="connsiteY8" fmla="*/ 0 h 1582057"/>
                  <a:gd name="connsiteX0-1" fmla="*/ 43544 w 6168572"/>
                  <a:gd name="connsiteY0-2" fmla="*/ 0 h 1582057"/>
                  <a:gd name="connsiteX1-3" fmla="*/ 1175657 w 6168572"/>
                  <a:gd name="connsiteY1-4" fmla="*/ 478972 h 1582057"/>
                  <a:gd name="connsiteX2-5" fmla="*/ 2322286 w 6168572"/>
                  <a:gd name="connsiteY2-6" fmla="*/ 696686 h 1582057"/>
                  <a:gd name="connsiteX3-7" fmla="*/ 3788229 w 6168572"/>
                  <a:gd name="connsiteY3-8" fmla="*/ 522515 h 1582057"/>
                  <a:gd name="connsiteX4-9" fmla="*/ 4499429 w 6168572"/>
                  <a:gd name="connsiteY4-10" fmla="*/ 812800 h 1582057"/>
                  <a:gd name="connsiteX5-11" fmla="*/ 5442857 w 6168572"/>
                  <a:gd name="connsiteY5-12" fmla="*/ 899886 h 1582057"/>
                  <a:gd name="connsiteX6-13" fmla="*/ 6168572 w 6168572"/>
                  <a:gd name="connsiteY6-14" fmla="*/ 1582057 h 1582057"/>
                  <a:gd name="connsiteX7-15" fmla="*/ 0 w 6168572"/>
                  <a:gd name="connsiteY7-16" fmla="*/ 1553029 h 1582057"/>
                  <a:gd name="connsiteX8-17" fmla="*/ 43544 w 6168572"/>
                  <a:gd name="connsiteY8-18" fmla="*/ 0 h 1582057"/>
                  <a:gd name="connsiteX0-19" fmla="*/ 1 w 6125029"/>
                  <a:gd name="connsiteY0-20" fmla="*/ 0 h 1582057"/>
                  <a:gd name="connsiteX1-21" fmla="*/ 1132114 w 6125029"/>
                  <a:gd name="connsiteY1-22" fmla="*/ 478972 h 1582057"/>
                  <a:gd name="connsiteX2-23" fmla="*/ 2278743 w 6125029"/>
                  <a:gd name="connsiteY2-24" fmla="*/ 696686 h 1582057"/>
                  <a:gd name="connsiteX3-25" fmla="*/ 3744686 w 6125029"/>
                  <a:gd name="connsiteY3-26" fmla="*/ 522515 h 1582057"/>
                  <a:gd name="connsiteX4-27" fmla="*/ 4455886 w 6125029"/>
                  <a:gd name="connsiteY4-28" fmla="*/ 812800 h 1582057"/>
                  <a:gd name="connsiteX5-29" fmla="*/ 5399314 w 6125029"/>
                  <a:gd name="connsiteY5-30" fmla="*/ 899886 h 1582057"/>
                  <a:gd name="connsiteX6-31" fmla="*/ 6125029 w 6125029"/>
                  <a:gd name="connsiteY6-32" fmla="*/ 1582057 h 1582057"/>
                  <a:gd name="connsiteX7-33" fmla="*/ 0 w 6125029"/>
                  <a:gd name="connsiteY7-34" fmla="*/ 1524000 h 1582057"/>
                  <a:gd name="connsiteX8-35" fmla="*/ 1 w 6125029"/>
                  <a:gd name="connsiteY8-36" fmla="*/ 0 h 1582057"/>
                  <a:gd name="connsiteX0-37" fmla="*/ 14515 w 6139543"/>
                  <a:gd name="connsiteY0-38" fmla="*/ 0 h 1596571"/>
                  <a:gd name="connsiteX1-39" fmla="*/ 1146628 w 6139543"/>
                  <a:gd name="connsiteY1-40" fmla="*/ 478972 h 1596571"/>
                  <a:gd name="connsiteX2-41" fmla="*/ 2293257 w 6139543"/>
                  <a:gd name="connsiteY2-42" fmla="*/ 696686 h 1596571"/>
                  <a:gd name="connsiteX3-43" fmla="*/ 3759200 w 6139543"/>
                  <a:gd name="connsiteY3-44" fmla="*/ 522515 h 1596571"/>
                  <a:gd name="connsiteX4-45" fmla="*/ 4470400 w 6139543"/>
                  <a:gd name="connsiteY4-46" fmla="*/ 812800 h 1596571"/>
                  <a:gd name="connsiteX5-47" fmla="*/ 5413828 w 6139543"/>
                  <a:gd name="connsiteY5-48" fmla="*/ 899886 h 1596571"/>
                  <a:gd name="connsiteX6-49" fmla="*/ 6139543 w 6139543"/>
                  <a:gd name="connsiteY6-50" fmla="*/ 1582057 h 1596571"/>
                  <a:gd name="connsiteX7-51" fmla="*/ 0 w 6139543"/>
                  <a:gd name="connsiteY7-52" fmla="*/ 1596571 h 1596571"/>
                  <a:gd name="connsiteX8-53" fmla="*/ 14515 w 6139543"/>
                  <a:gd name="connsiteY8-54" fmla="*/ 0 h 1596571"/>
                  <a:gd name="connsiteX0-55" fmla="*/ 14515 w 6139543"/>
                  <a:gd name="connsiteY0-56" fmla="*/ 88176 h 1684747"/>
                  <a:gd name="connsiteX1-57" fmla="*/ 1146628 w 6139543"/>
                  <a:gd name="connsiteY1-58" fmla="*/ 567148 h 1684747"/>
                  <a:gd name="connsiteX2-59" fmla="*/ 2293257 w 6139543"/>
                  <a:gd name="connsiteY2-60" fmla="*/ 784862 h 1684747"/>
                  <a:gd name="connsiteX3-61" fmla="*/ 3759200 w 6139543"/>
                  <a:gd name="connsiteY3-62" fmla="*/ 610691 h 1684747"/>
                  <a:gd name="connsiteX4-63" fmla="*/ 4470400 w 6139543"/>
                  <a:gd name="connsiteY4-64" fmla="*/ 900976 h 1684747"/>
                  <a:gd name="connsiteX5-65" fmla="*/ 5413828 w 6139543"/>
                  <a:gd name="connsiteY5-66" fmla="*/ 988062 h 1684747"/>
                  <a:gd name="connsiteX6-67" fmla="*/ 6139543 w 6139543"/>
                  <a:gd name="connsiteY6-68" fmla="*/ 1670233 h 1684747"/>
                  <a:gd name="connsiteX7-69" fmla="*/ 0 w 6139543"/>
                  <a:gd name="connsiteY7-70" fmla="*/ 1684747 h 1684747"/>
                  <a:gd name="connsiteX8-71" fmla="*/ 14515 w 6139543"/>
                  <a:gd name="connsiteY8-72" fmla="*/ 88176 h 1684747"/>
                  <a:gd name="connsiteX0-73" fmla="*/ 14515 w 6139543"/>
                  <a:gd name="connsiteY0-74" fmla="*/ 112943 h 1709514"/>
                  <a:gd name="connsiteX1-75" fmla="*/ 1146628 w 6139543"/>
                  <a:gd name="connsiteY1-76" fmla="*/ 591915 h 1709514"/>
                  <a:gd name="connsiteX2-77" fmla="*/ 2293257 w 6139543"/>
                  <a:gd name="connsiteY2-78" fmla="*/ 809629 h 1709514"/>
                  <a:gd name="connsiteX3-79" fmla="*/ 3759200 w 6139543"/>
                  <a:gd name="connsiteY3-80" fmla="*/ 635458 h 1709514"/>
                  <a:gd name="connsiteX4-81" fmla="*/ 4470400 w 6139543"/>
                  <a:gd name="connsiteY4-82" fmla="*/ 925743 h 1709514"/>
                  <a:gd name="connsiteX5-83" fmla="*/ 5413828 w 6139543"/>
                  <a:gd name="connsiteY5-84" fmla="*/ 1012829 h 1709514"/>
                  <a:gd name="connsiteX6-85" fmla="*/ 6139543 w 6139543"/>
                  <a:gd name="connsiteY6-86" fmla="*/ 1695000 h 1709514"/>
                  <a:gd name="connsiteX7-87" fmla="*/ 0 w 6139543"/>
                  <a:gd name="connsiteY7-88" fmla="*/ 1709514 h 1709514"/>
                  <a:gd name="connsiteX8-89" fmla="*/ 14515 w 6139543"/>
                  <a:gd name="connsiteY8-90" fmla="*/ 112943 h 1709514"/>
                  <a:gd name="connsiteX0-91" fmla="*/ 14515 w 6139543"/>
                  <a:gd name="connsiteY0-92" fmla="*/ 112943 h 1709514"/>
                  <a:gd name="connsiteX1-93" fmla="*/ 1146628 w 6139543"/>
                  <a:gd name="connsiteY1-94" fmla="*/ 591915 h 1709514"/>
                  <a:gd name="connsiteX2-95" fmla="*/ 2293257 w 6139543"/>
                  <a:gd name="connsiteY2-96" fmla="*/ 809629 h 1709514"/>
                  <a:gd name="connsiteX3-97" fmla="*/ 3759200 w 6139543"/>
                  <a:gd name="connsiteY3-98" fmla="*/ 635458 h 1709514"/>
                  <a:gd name="connsiteX4-99" fmla="*/ 4470400 w 6139543"/>
                  <a:gd name="connsiteY4-100" fmla="*/ 925743 h 1709514"/>
                  <a:gd name="connsiteX5-101" fmla="*/ 5413828 w 6139543"/>
                  <a:gd name="connsiteY5-102" fmla="*/ 1012829 h 1709514"/>
                  <a:gd name="connsiteX6-103" fmla="*/ 6139543 w 6139543"/>
                  <a:gd name="connsiteY6-104" fmla="*/ 1695000 h 1709514"/>
                  <a:gd name="connsiteX7-105" fmla="*/ 0 w 6139543"/>
                  <a:gd name="connsiteY7-106" fmla="*/ 1709514 h 1709514"/>
                  <a:gd name="connsiteX8-107" fmla="*/ 14515 w 6139543"/>
                  <a:gd name="connsiteY8-108" fmla="*/ 112943 h 1709514"/>
                  <a:gd name="connsiteX0-109" fmla="*/ 14515 w 6139543"/>
                  <a:gd name="connsiteY0-110" fmla="*/ 112943 h 1709514"/>
                  <a:gd name="connsiteX1-111" fmla="*/ 1146628 w 6139543"/>
                  <a:gd name="connsiteY1-112" fmla="*/ 591915 h 1709514"/>
                  <a:gd name="connsiteX2-113" fmla="*/ 2293257 w 6139543"/>
                  <a:gd name="connsiteY2-114" fmla="*/ 809629 h 1709514"/>
                  <a:gd name="connsiteX3-115" fmla="*/ 3759200 w 6139543"/>
                  <a:gd name="connsiteY3-116" fmla="*/ 635458 h 1709514"/>
                  <a:gd name="connsiteX4-117" fmla="*/ 4470400 w 6139543"/>
                  <a:gd name="connsiteY4-118" fmla="*/ 925743 h 1709514"/>
                  <a:gd name="connsiteX5-119" fmla="*/ 5413828 w 6139543"/>
                  <a:gd name="connsiteY5-120" fmla="*/ 1012829 h 1709514"/>
                  <a:gd name="connsiteX6-121" fmla="*/ 6139543 w 6139543"/>
                  <a:gd name="connsiteY6-122" fmla="*/ 1695000 h 1709514"/>
                  <a:gd name="connsiteX7-123" fmla="*/ 0 w 6139543"/>
                  <a:gd name="connsiteY7-124" fmla="*/ 1709514 h 1709514"/>
                  <a:gd name="connsiteX8-125" fmla="*/ 14515 w 6139543"/>
                  <a:gd name="connsiteY8-126" fmla="*/ 112943 h 1709514"/>
                  <a:gd name="connsiteX0-127" fmla="*/ 14515 w 6139543"/>
                  <a:gd name="connsiteY0-128" fmla="*/ 112943 h 1709514"/>
                  <a:gd name="connsiteX1-129" fmla="*/ 1146628 w 6139543"/>
                  <a:gd name="connsiteY1-130" fmla="*/ 591915 h 1709514"/>
                  <a:gd name="connsiteX2-131" fmla="*/ 2293257 w 6139543"/>
                  <a:gd name="connsiteY2-132" fmla="*/ 809629 h 1709514"/>
                  <a:gd name="connsiteX3-133" fmla="*/ 3759200 w 6139543"/>
                  <a:gd name="connsiteY3-134" fmla="*/ 635458 h 1709514"/>
                  <a:gd name="connsiteX4-135" fmla="*/ 4470400 w 6139543"/>
                  <a:gd name="connsiteY4-136" fmla="*/ 925743 h 1709514"/>
                  <a:gd name="connsiteX5-137" fmla="*/ 5413828 w 6139543"/>
                  <a:gd name="connsiteY5-138" fmla="*/ 1012829 h 1709514"/>
                  <a:gd name="connsiteX6-139" fmla="*/ 6139543 w 6139543"/>
                  <a:gd name="connsiteY6-140" fmla="*/ 1695000 h 1709514"/>
                  <a:gd name="connsiteX7-141" fmla="*/ 0 w 6139543"/>
                  <a:gd name="connsiteY7-142" fmla="*/ 1709514 h 1709514"/>
                  <a:gd name="connsiteX8-143" fmla="*/ 14515 w 6139543"/>
                  <a:gd name="connsiteY8-144" fmla="*/ 112943 h 1709514"/>
                  <a:gd name="connsiteX0-145" fmla="*/ 14515 w 6139543"/>
                  <a:gd name="connsiteY0-146" fmla="*/ 112943 h 1709514"/>
                  <a:gd name="connsiteX1-147" fmla="*/ 1146628 w 6139543"/>
                  <a:gd name="connsiteY1-148" fmla="*/ 591915 h 1709514"/>
                  <a:gd name="connsiteX2-149" fmla="*/ 2293257 w 6139543"/>
                  <a:gd name="connsiteY2-150" fmla="*/ 809629 h 1709514"/>
                  <a:gd name="connsiteX3-151" fmla="*/ 3759200 w 6139543"/>
                  <a:gd name="connsiteY3-152" fmla="*/ 635458 h 1709514"/>
                  <a:gd name="connsiteX4-153" fmla="*/ 4470400 w 6139543"/>
                  <a:gd name="connsiteY4-154" fmla="*/ 925743 h 1709514"/>
                  <a:gd name="connsiteX5-155" fmla="*/ 5413828 w 6139543"/>
                  <a:gd name="connsiteY5-156" fmla="*/ 1012829 h 1709514"/>
                  <a:gd name="connsiteX6-157" fmla="*/ 6139543 w 6139543"/>
                  <a:gd name="connsiteY6-158" fmla="*/ 1695000 h 1709514"/>
                  <a:gd name="connsiteX7-159" fmla="*/ 0 w 6139543"/>
                  <a:gd name="connsiteY7-160" fmla="*/ 1709514 h 1709514"/>
                  <a:gd name="connsiteX8-161" fmla="*/ 14515 w 6139543"/>
                  <a:gd name="connsiteY8-162" fmla="*/ 112943 h 1709514"/>
                  <a:gd name="connsiteX0-163" fmla="*/ 14515 w 6139543"/>
                  <a:gd name="connsiteY0-164" fmla="*/ 112943 h 1709514"/>
                  <a:gd name="connsiteX1-165" fmla="*/ 1146628 w 6139543"/>
                  <a:gd name="connsiteY1-166" fmla="*/ 591915 h 1709514"/>
                  <a:gd name="connsiteX2-167" fmla="*/ 2293257 w 6139543"/>
                  <a:gd name="connsiteY2-168" fmla="*/ 809629 h 1709514"/>
                  <a:gd name="connsiteX3-169" fmla="*/ 3759200 w 6139543"/>
                  <a:gd name="connsiteY3-170" fmla="*/ 635458 h 1709514"/>
                  <a:gd name="connsiteX4-171" fmla="*/ 4470400 w 6139543"/>
                  <a:gd name="connsiteY4-172" fmla="*/ 925743 h 1709514"/>
                  <a:gd name="connsiteX5-173" fmla="*/ 5413828 w 6139543"/>
                  <a:gd name="connsiteY5-174" fmla="*/ 1012829 h 1709514"/>
                  <a:gd name="connsiteX6-175" fmla="*/ 6139543 w 6139543"/>
                  <a:gd name="connsiteY6-176" fmla="*/ 1695000 h 1709514"/>
                  <a:gd name="connsiteX7-177" fmla="*/ 0 w 6139543"/>
                  <a:gd name="connsiteY7-178" fmla="*/ 1709514 h 1709514"/>
                  <a:gd name="connsiteX8-179" fmla="*/ 14515 w 6139543"/>
                  <a:gd name="connsiteY8-180" fmla="*/ 112943 h 1709514"/>
                  <a:gd name="connsiteX0-181" fmla="*/ 14515 w 6139543"/>
                  <a:gd name="connsiteY0-182" fmla="*/ 112943 h 1709514"/>
                  <a:gd name="connsiteX1-183" fmla="*/ 1146628 w 6139543"/>
                  <a:gd name="connsiteY1-184" fmla="*/ 591915 h 1709514"/>
                  <a:gd name="connsiteX2-185" fmla="*/ 2293257 w 6139543"/>
                  <a:gd name="connsiteY2-186" fmla="*/ 809629 h 1709514"/>
                  <a:gd name="connsiteX3-187" fmla="*/ 3759200 w 6139543"/>
                  <a:gd name="connsiteY3-188" fmla="*/ 635458 h 1709514"/>
                  <a:gd name="connsiteX4-189" fmla="*/ 4470400 w 6139543"/>
                  <a:gd name="connsiteY4-190" fmla="*/ 925743 h 1709514"/>
                  <a:gd name="connsiteX5-191" fmla="*/ 5413828 w 6139543"/>
                  <a:gd name="connsiteY5-192" fmla="*/ 1012829 h 1709514"/>
                  <a:gd name="connsiteX6-193" fmla="*/ 6139543 w 6139543"/>
                  <a:gd name="connsiteY6-194" fmla="*/ 1695000 h 1709514"/>
                  <a:gd name="connsiteX7-195" fmla="*/ 0 w 6139543"/>
                  <a:gd name="connsiteY7-196" fmla="*/ 1709514 h 1709514"/>
                  <a:gd name="connsiteX8-197" fmla="*/ 14515 w 6139543"/>
                  <a:gd name="connsiteY8-198" fmla="*/ 112943 h 1709514"/>
                  <a:gd name="connsiteX0-199" fmla="*/ 14515 w 6139543"/>
                  <a:gd name="connsiteY0-200" fmla="*/ 112943 h 1709514"/>
                  <a:gd name="connsiteX1-201" fmla="*/ 1146628 w 6139543"/>
                  <a:gd name="connsiteY1-202" fmla="*/ 591915 h 1709514"/>
                  <a:gd name="connsiteX2-203" fmla="*/ 2293257 w 6139543"/>
                  <a:gd name="connsiteY2-204" fmla="*/ 809629 h 1709514"/>
                  <a:gd name="connsiteX3-205" fmla="*/ 3759200 w 6139543"/>
                  <a:gd name="connsiteY3-206" fmla="*/ 635458 h 1709514"/>
                  <a:gd name="connsiteX4-207" fmla="*/ 4557486 w 6139543"/>
                  <a:gd name="connsiteY4-208" fmla="*/ 649971 h 1709514"/>
                  <a:gd name="connsiteX5-209" fmla="*/ 5413828 w 6139543"/>
                  <a:gd name="connsiteY5-210" fmla="*/ 1012829 h 1709514"/>
                  <a:gd name="connsiteX6-211" fmla="*/ 6139543 w 6139543"/>
                  <a:gd name="connsiteY6-212" fmla="*/ 1695000 h 1709514"/>
                  <a:gd name="connsiteX7-213" fmla="*/ 0 w 6139543"/>
                  <a:gd name="connsiteY7-214" fmla="*/ 1709514 h 1709514"/>
                  <a:gd name="connsiteX8-215" fmla="*/ 14515 w 6139543"/>
                  <a:gd name="connsiteY8-216" fmla="*/ 112943 h 1709514"/>
                  <a:gd name="connsiteX0-217" fmla="*/ 14515 w 6139543"/>
                  <a:gd name="connsiteY0-218" fmla="*/ 112943 h 1709514"/>
                  <a:gd name="connsiteX1-219" fmla="*/ 1146628 w 6139543"/>
                  <a:gd name="connsiteY1-220" fmla="*/ 591915 h 1709514"/>
                  <a:gd name="connsiteX2-221" fmla="*/ 2293257 w 6139543"/>
                  <a:gd name="connsiteY2-222" fmla="*/ 809629 h 1709514"/>
                  <a:gd name="connsiteX3-223" fmla="*/ 3759200 w 6139543"/>
                  <a:gd name="connsiteY3-224" fmla="*/ 635458 h 1709514"/>
                  <a:gd name="connsiteX4-225" fmla="*/ 4615543 w 6139543"/>
                  <a:gd name="connsiteY4-226" fmla="*/ 446771 h 1709514"/>
                  <a:gd name="connsiteX5-227" fmla="*/ 5413828 w 6139543"/>
                  <a:gd name="connsiteY5-228" fmla="*/ 1012829 h 1709514"/>
                  <a:gd name="connsiteX6-229" fmla="*/ 6139543 w 6139543"/>
                  <a:gd name="connsiteY6-230" fmla="*/ 1695000 h 1709514"/>
                  <a:gd name="connsiteX7-231" fmla="*/ 0 w 6139543"/>
                  <a:gd name="connsiteY7-232" fmla="*/ 1709514 h 1709514"/>
                  <a:gd name="connsiteX8-233" fmla="*/ 14515 w 6139543"/>
                  <a:gd name="connsiteY8-234" fmla="*/ 112943 h 1709514"/>
                  <a:gd name="connsiteX0-235" fmla="*/ 14515 w 6139543"/>
                  <a:gd name="connsiteY0-236" fmla="*/ 112943 h 1709514"/>
                  <a:gd name="connsiteX1-237" fmla="*/ 1146628 w 6139543"/>
                  <a:gd name="connsiteY1-238" fmla="*/ 591915 h 1709514"/>
                  <a:gd name="connsiteX2-239" fmla="*/ 2293257 w 6139543"/>
                  <a:gd name="connsiteY2-240" fmla="*/ 809629 h 1709514"/>
                  <a:gd name="connsiteX3-241" fmla="*/ 3759200 w 6139543"/>
                  <a:gd name="connsiteY3-242" fmla="*/ 635458 h 1709514"/>
                  <a:gd name="connsiteX4-243" fmla="*/ 4775200 w 6139543"/>
                  <a:gd name="connsiteY4-244" fmla="*/ 766086 h 1709514"/>
                  <a:gd name="connsiteX5-245" fmla="*/ 5413828 w 6139543"/>
                  <a:gd name="connsiteY5-246" fmla="*/ 1012829 h 1709514"/>
                  <a:gd name="connsiteX6-247" fmla="*/ 6139543 w 6139543"/>
                  <a:gd name="connsiteY6-248" fmla="*/ 1695000 h 1709514"/>
                  <a:gd name="connsiteX7-249" fmla="*/ 0 w 6139543"/>
                  <a:gd name="connsiteY7-250" fmla="*/ 1709514 h 1709514"/>
                  <a:gd name="connsiteX8-251" fmla="*/ 14515 w 6139543"/>
                  <a:gd name="connsiteY8-252" fmla="*/ 112943 h 1709514"/>
                  <a:gd name="connsiteX0-253" fmla="*/ 14515 w 6139543"/>
                  <a:gd name="connsiteY0-254" fmla="*/ 112943 h 1709514"/>
                  <a:gd name="connsiteX1-255" fmla="*/ 1146628 w 6139543"/>
                  <a:gd name="connsiteY1-256" fmla="*/ 591915 h 1709514"/>
                  <a:gd name="connsiteX2-257" fmla="*/ 2293257 w 6139543"/>
                  <a:gd name="connsiteY2-258" fmla="*/ 809629 h 1709514"/>
                  <a:gd name="connsiteX3-259" fmla="*/ 3759200 w 6139543"/>
                  <a:gd name="connsiteY3-260" fmla="*/ 635458 h 1709514"/>
                  <a:gd name="connsiteX4-261" fmla="*/ 4586514 w 6139543"/>
                  <a:gd name="connsiteY4-262" fmla="*/ 867686 h 1709514"/>
                  <a:gd name="connsiteX5-263" fmla="*/ 5413828 w 6139543"/>
                  <a:gd name="connsiteY5-264" fmla="*/ 1012829 h 1709514"/>
                  <a:gd name="connsiteX6-265" fmla="*/ 6139543 w 6139543"/>
                  <a:gd name="connsiteY6-266" fmla="*/ 1695000 h 1709514"/>
                  <a:gd name="connsiteX7-267" fmla="*/ 0 w 6139543"/>
                  <a:gd name="connsiteY7-268" fmla="*/ 1709514 h 1709514"/>
                  <a:gd name="connsiteX8-269" fmla="*/ 14515 w 6139543"/>
                  <a:gd name="connsiteY8-270" fmla="*/ 112943 h 1709514"/>
                  <a:gd name="connsiteX0-271" fmla="*/ 14515 w 6139543"/>
                  <a:gd name="connsiteY0-272" fmla="*/ 112943 h 1709514"/>
                  <a:gd name="connsiteX1-273" fmla="*/ 1146628 w 6139543"/>
                  <a:gd name="connsiteY1-274" fmla="*/ 591915 h 1709514"/>
                  <a:gd name="connsiteX2-275" fmla="*/ 2293257 w 6139543"/>
                  <a:gd name="connsiteY2-276" fmla="*/ 809629 h 1709514"/>
                  <a:gd name="connsiteX3-277" fmla="*/ 3759200 w 6139543"/>
                  <a:gd name="connsiteY3-278" fmla="*/ 635458 h 1709514"/>
                  <a:gd name="connsiteX4-279" fmla="*/ 4586514 w 6139543"/>
                  <a:gd name="connsiteY4-280" fmla="*/ 867686 h 1709514"/>
                  <a:gd name="connsiteX5-281" fmla="*/ 5413828 w 6139543"/>
                  <a:gd name="connsiteY5-282" fmla="*/ 1012829 h 1709514"/>
                  <a:gd name="connsiteX6-283" fmla="*/ 6139543 w 6139543"/>
                  <a:gd name="connsiteY6-284" fmla="*/ 1695000 h 1709514"/>
                  <a:gd name="connsiteX7-285" fmla="*/ 0 w 6139543"/>
                  <a:gd name="connsiteY7-286" fmla="*/ 1709514 h 1709514"/>
                  <a:gd name="connsiteX8-287" fmla="*/ 14515 w 6139543"/>
                  <a:gd name="connsiteY8-288" fmla="*/ 112943 h 1709514"/>
                  <a:gd name="connsiteX0-289" fmla="*/ 14515 w 6139543"/>
                  <a:gd name="connsiteY0-290" fmla="*/ 112943 h 1709514"/>
                  <a:gd name="connsiteX1-291" fmla="*/ 1146628 w 6139543"/>
                  <a:gd name="connsiteY1-292" fmla="*/ 591915 h 1709514"/>
                  <a:gd name="connsiteX2-293" fmla="*/ 2293257 w 6139543"/>
                  <a:gd name="connsiteY2-294" fmla="*/ 809629 h 1709514"/>
                  <a:gd name="connsiteX3-295" fmla="*/ 3759200 w 6139543"/>
                  <a:gd name="connsiteY3-296" fmla="*/ 635458 h 1709514"/>
                  <a:gd name="connsiteX4-297" fmla="*/ 4586514 w 6139543"/>
                  <a:gd name="connsiteY4-298" fmla="*/ 867686 h 1709514"/>
                  <a:gd name="connsiteX5-299" fmla="*/ 5413828 w 6139543"/>
                  <a:gd name="connsiteY5-300" fmla="*/ 1012829 h 1709514"/>
                  <a:gd name="connsiteX6-301" fmla="*/ 6139543 w 6139543"/>
                  <a:gd name="connsiteY6-302" fmla="*/ 1695000 h 1709514"/>
                  <a:gd name="connsiteX7-303" fmla="*/ 0 w 6139543"/>
                  <a:gd name="connsiteY7-304" fmla="*/ 1709514 h 1709514"/>
                  <a:gd name="connsiteX8-305" fmla="*/ 14515 w 6139543"/>
                  <a:gd name="connsiteY8-306" fmla="*/ 112943 h 1709514"/>
                  <a:gd name="connsiteX0-307" fmla="*/ 14515 w 6139543"/>
                  <a:gd name="connsiteY0-308" fmla="*/ 112943 h 1709514"/>
                  <a:gd name="connsiteX1-309" fmla="*/ 1146628 w 6139543"/>
                  <a:gd name="connsiteY1-310" fmla="*/ 591915 h 1709514"/>
                  <a:gd name="connsiteX2-311" fmla="*/ 2293257 w 6139543"/>
                  <a:gd name="connsiteY2-312" fmla="*/ 809629 h 1709514"/>
                  <a:gd name="connsiteX3-313" fmla="*/ 3759200 w 6139543"/>
                  <a:gd name="connsiteY3-314" fmla="*/ 635458 h 1709514"/>
                  <a:gd name="connsiteX4-315" fmla="*/ 4586514 w 6139543"/>
                  <a:gd name="connsiteY4-316" fmla="*/ 867686 h 1709514"/>
                  <a:gd name="connsiteX5-317" fmla="*/ 5413828 w 6139543"/>
                  <a:gd name="connsiteY5-318" fmla="*/ 1012829 h 1709514"/>
                  <a:gd name="connsiteX6-319" fmla="*/ 6139543 w 6139543"/>
                  <a:gd name="connsiteY6-320" fmla="*/ 1695000 h 1709514"/>
                  <a:gd name="connsiteX7-321" fmla="*/ 0 w 6139543"/>
                  <a:gd name="connsiteY7-322" fmla="*/ 1709514 h 1709514"/>
                  <a:gd name="connsiteX8-323" fmla="*/ 14515 w 6139543"/>
                  <a:gd name="connsiteY8-324" fmla="*/ 112943 h 1709514"/>
                  <a:gd name="connsiteX0-325" fmla="*/ 14515 w 6139543"/>
                  <a:gd name="connsiteY0-326" fmla="*/ 112943 h 1709514"/>
                  <a:gd name="connsiteX1-327" fmla="*/ 1146628 w 6139543"/>
                  <a:gd name="connsiteY1-328" fmla="*/ 591915 h 1709514"/>
                  <a:gd name="connsiteX2-329" fmla="*/ 2293257 w 6139543"/>
                  <a:gd name="connsiteY2-330" fmla="*/ 809629 h 1709514"/>
                  <a:gd name="connsiteX3-331" fmla="*/ 3759200 w 6139543"/>
                  <a:gd name="connsiteY3-332" fmla="*/ 635458 h 1709514"/>
                  <a:gd name="connsiteX4-333" fmla="*/ 4586514 w 6139543"/>
                  <a:gd name="connsiteY4-334" fmla="*/ 867686 h 1709514"/>
                  <a:gd name="connsiteX5-335" fmla="*/ 5413828 w 6139543"/>
                  <a:gd name="connsiteY5-336" fmla="*/ 1012829 h 1709514"/>
                  <a:gd name="connsiteX6-337" fmla="*/ 6139543 w 6139543"/>
                  <a:gd name="connsiteY6-338" fmla="*/ 1695000 h 1709514"/>
                  <a:gd name="connsiteX7-339" fmla="*/ 0 w 6139543"/>
                  <a:gd name="connsiteY7-340" fmla="*/ 1709514 h 1709514"/>
                  <a:gd name="connsiteX8-341" fmla="*/ 14515 w 6139543"/>
                  <a:gd name="connsiteY8-342" fmla="*/ 112943 h 1709514"/>
                  <a:gd name="connsiteX0-343" fmla="*/ 14515 w 6139543"/>
                  <a:gd name="connsiteY0-344" fmla="*/ 112943 h 1709514"/>
                  <a:gd name="connsiteX1-345" fmla="*/ 1146628 w 6139543"/>
                  <a:gd name="connsiteY1-346" fmla="*/ 591915 h 1709514"/>
                  <a:gd name="connsiteX2-347" fmla="*/ 2293257 w 6139543"/>
                  <a:gd name="connsiteY2-348" fmla="*/ 809629 h 1709514"/>
                  <a:gd name="connsiteX3-349" fmla="*/ 3759200 w 6139543"/>
                  <a:gd name="connsiteY3-350" fmla="*/ 635458 h 1709514"/>
                  <a:gd name="connsiteX4-351" fmla="*/ 4586514 w 6139543"/>
                  <a:gd name="connsiteY4-352" fmla="*/ 867686 h 1709514"/>
                  <a:gd name="connsiteX5-353" fmla="*/ 5413828 w 6139543"/>
                  <a:gd name="connsiteY5-354" fmla="*/ 1012829 h 1709514"/>
                  <a:gd name="connsiteX6-355" fmla="*/ 6139543 w 6139543"/>
                  <a:gd name="connsiteY6-356" fmla="*/ 1695000 h 1709514"/>
                  <a:gd name="connsiteX7-357" fmla="*/ 0 w 6139543"/>
                  <a:gd name="connsiteY7-358" fmla="*/ 1709514 h 1709514"/>
                  <a:gd name="connsiteX8-359" fmla="*/ 14515 w 6139543"/>
                  <a:gd name="connsiteY8-360" fmla="*/ 112943 h 1709514"/>
                  <a:gd name="connsiteX0-361" fmla="*/ 14515 w 6139543"/>
                  <a:gd name="connsiteY0-362" fmla="*/ 112943 h 1709514"/>
                  <a:gd name="connsiteX1-363" fmla="*/ 1146628 w 6139543"/>
                  <a:gd name="connsiteY1-364" fmla="*/ 591915 h 1709514"/>
                  <a:gd name="connsiteX2-365" fmla="*/ 2293257 w 6139543"/>
                  <a:gd name="connsiteY2-366" fmla="*/ 809629 h 1709514"/>
                  <a:gd name="connsiteX3-367" fmla="*/ 3759200 w 6139543"/>
                  <a:gd name="connsiteY3-368" fmla="*/ 635458 h 1709514"/>
                  <a:gd name="connsiteX4-369" fmla="*/ 4586514 w 6139543"/>
                  <a:gd name="connsiteY4-370" fmla="*/ 867686 h 1709514"/>
                  <a:gd name="connsiteX5-371" fmla="*/ 5413828 w 6139543"/>
                  <a:gd name="connsiteY5-372" fmla="*/ 1012829 h 1709514"/>
                  <a:gd name="connsiteX6-373" fmla="*/ 6139543 w 6139543"/>
                  <a:gd name="connsiteY6-374" fmla="*/ 1695000 h 1709514"/>
                  <a:gd name="connsiteX7-375" fmla="*/ 0 w 6139543"/>
                  <a:gd name="connsiteY7-376" fmla="*/ 1709514 h 1709514"/>
                  <a:gd name="connsiteX8-377" fmla="*/ 14515 w 6139543"/>
                  <a:gd name="connsiteY8-378" fmla="*/ 112943 h 1709514"/>
                  <a:gd name="connsiteX0-379" fmla="*/ 14515 w 6139543"/>
                  <a:gd name="connsiteY0-380" fmla="*/ 112943 h 1709514"/>
                  <a:gd name="connsiteX1-381" fmla="*/ 1146628 w 6139543"/>
                  <a:gd name="connsiteY1-382" fmla="*/ 591915 h 1709514"/>
                  <a:gd name="connsiteX2-383" fmla="*/ 2293257 w 6139543"/>
                  <a:gd name="connsiteY2-384" fmla="*/ 809629 h 1709514"/>
                  <a:gd name="connsiteX3-385" fmla="*/ 3759200 w 6139543"/>
                  <a:gd name="connsiteY3-386" fmla="*/ 635458 h 1709514"/>
                  <a:gd name="connsiteX4-387" fmla="*/ 4586514 w 6139543"/>
                  <a:gd name="connsiteY4-388" fmla="*/ 867686 h 1709514"/>
                  <a:gd name="connsiteX5-389" fmla="*/ 5413828 w 6139543"/>
                  <a:gd name="connsiteY5-390" fmla="*/ 1012829 h 1709514"/>
                  <a:gd name="connsiteX6-391" fmla="*/ 6139543 w 6139543"/>
                  <a:gd name="connsiteY6-392" fmla="*/ 1695000 h 1709514"/>
                  <a:gd name="connsiteX7-393" fmla="*/ 0 w 6139543"/>
                  <a:gd name="connsiteY7-394" fmla="*/ 1709514 h 1709514"/>
                  <a:gd name="connsiteX8-395" fmla="*/ 14515 w 6139543"/>
                  <a:gd name="connsiteY8-396" fmla="*/ 112943 h 1709514"/>
                  <a:gd name="connsiteX0-397" fmla="*/ 14515 w 6139543"/>
                  <a:gd name="connsiteY0-398" fmla="*/ 112943 h 1709514"/>
                  <a:gd name="connsiteX1-399" fmla="*/ 1146628 w 6139543"/>
                  <a:gd name="connsiteY1-400" fmla="*/ 591915 h 1709514"/>
                  <a:gd name="connsiteX2-401" fmla="*/ 2293257 w 6139543"/>
                  <a:gd name="connsiteY2-402" fmla="*/ 809629 h 1709514"/>
                  <a:gd name="connsiteX3-403" fmla="*/ 3759200 w 6139543"/>
                  <a:gd name="connsiteY3-404" fmla="*/ 635458 h 1709514"/>
                  <a:gd name="connsiteX4-405" fmla="*/ 4586514 w 6139543"/>
                  <a:gd name="connsiteY4-406" fmla="*/ 867686 h 1709514"/>
                  <a:gd name="connsiteX5-407" fmla="*/ 5413828 w 6139543"/>
                  <a:gd name="connsiteY5-408" fmla="*/ 1012829 h 1709514"/>
                  <a:gd name="connsiteX6-409" fmla="*/ 6139543 w 6139543"/>
                  <a:gd name="connsiteY6-410" fmla="*/ 1695000 h 1709514"/>
                  <a:gd name="connsiteX7-411" fmla="*/ 0 w 6139543"/>
                  <a:gd name="connsiteY7-412" fmla="*/ 1709514 h 1709514"/>
                  <a:gd name="connsiteX8-413" fmla="*/ 14515 w 6139543"/>
                  <a:gd name="connsiteY8-414" fmla="*/ 112943 h 1709514"/>
                  <a:gd name="connsiteX0-415" fmla="*/ 29029 w 6139543"/>
                  <a:gd name="connsiteY0-416" fmla="*/ 140109 h 1591537"/>
                  <a:gd name="connsiteX1-417" fmla="*/ 1146628 w 6139543"/>
                  <a:gd name="connsiteY1-418" fmla="*/ 473938 h 1591537"/>
                  <a:gd name="connsiteX2-419" fmla="*/ 2293257 w 6139543"/>
                  <a:gd name="connsiteY2-420" fmla="*/ 691652 h 1591537"/>
                  <a:gd name="connsiteX3-421" fmla="*/ 3759200 w 6139543"/>
                  <a:gd name="connsiteY3-422" fmla="*/ 517481 h 1591537"/>
                  <a:gd name="connsiteX4-423" fmla="*/ 4586514 w 6139543"/>
                  <a:gd name="connsiteY4-424" fmla="*/ 749709 h 1591537"/>
                  <a:gd name="connsiteX5-425" fmla="*/ 5413828 w 6139543"/>
                  <a:gd name="connsiteY5-426" fmla="*/ 894852 h 1591537"/>
                  <a:gd name="connsiteX6-427" fmla="*/ 6139543 w 6139543"/>
                  <a:gd name="connsiteY6-428" fmla="*/ 1577023 h 1591537"/>
                  <a:gd name="connsiteX7-429" fmla="*/ 0 w 6139543"/>
                  <a:gd name="connsiteY7-430" fmla="*/ 1591537 h 1591537"/>
                  <a:gd name="connsiteX8-431" fmla="*/ 29029 w 6139543"/>
                  <a:gd name="connsiteY8-432" fmla="*/ 140109 h 1591537"/>
                  <a:gd name="connsiteX0-433" fmla="*/ 29029 w 6139543"/>
                  <a:gd name="connsiteY0-434" fmla="*/ 197960 h 1649388"/>
                  <a:gd name="connsiteX1-435" fmla="*/ 1146628 w 6139543"/>
                  <a:gd name="connsiteY1-436" fmla="*/ 531789 h 1649388"/>
                  <a:gd name="connsiteX2-437" fmla="*/ 2293257 w 6139543"/>
                  <a:gd name="connsiteY2-438" fmla="*/ 749503 h 1649388"/>
                  <a:gd name="connsiteX3-439" fmla="*/ 3759200 w 6139543"/>
                  <a:gd name="connsiteY3-440" fmla="*/ 575332 h 1649388"/>
                  <a:gd name="connsiteX4-441" fmla="*/ 4586514 w 6139543"/>
                  <a:gd name="connsiteY4-442" fmla="*/ 807560 h 1649388"/>
                  <a:gd name="connsiteX5-443" fmla="*/ 5413828 w 6139543"/>
                  <a:gd name="connsiteY5-444" fmla="*/ 952703 h 1649388"/>
                  <a:gd name="connsiteX6-445" fmla="*/ 6139543 w 6139543"/>
                  <a:gd name="connsiteY6-446" fmla="*/ 1634874 h 1649388"/>
                  <a:gd name="connsiteX7-447" fmla="*/ 0 w 6139543"/>
                  <a:gd name="connsiteY7-448" fmla="*/ 1649388 h 1649388"/>
                  <a:gd name="connsiteX8-449" fmla="*/ 29029 w 6139543"/>
                  <a:gd name="connsiteY8-450" fmla="*/ 197960 h 1649388"/>
                  <a:gd name="connsiteX0-451" fmla="*/ 29029 w 6139543"/>
                  <a:gd name="connsiteY0-452" fmla="*/ 197960 h 1649388"/>
                  <a:gd name="connsiteX1-453" fmla="*/ 1146628 w 6139543"/>
                  <a:gd name="connsiteY1-454" fmla="*/ 531789 h 1649388"/>
                  <a:gd name="connsiteX2-455" fmla="*/ 2293257 w 6139543"/>
                  <a:gd name="connsiteY2-456" fmla="*/ 749503 h 1649388"/>
                  <a:gd name="connsiteX3-457" fmla="*/ 3759200 w 6139543"/>
                  <a:gd name="connsiteY3-458" fmla="*/ 575332 h 1649388"/>
                  <a:gd name="connsiteX4-459" fmla="*/ 4586514 w 6139543"/>
                  <a:gd name="connsiteY4-460" fmla="*/ 807560 h 1649388"/>
                  <a:gd name="connsiteX5-461" fmla="*/ 5413828 w 6139543"/>
                  <a:gd name="connsiteY5-462" fmla="*/ 952703 h 1649388"/>
                  <a:gd name="connsiteX6-463" fmla="*/ 6139543 w 6139543"/>
                  <a:gd name="connsiteY6-464" fmla="*/ 1634874 h 1649388"/>
                  <a:gd name="connsiteX7-465" fmla="*/ 0 w 6139543"/>
                  <a:gd name="connsiteY7-466" fmla="*/ 1649388 h 1649388"/>
                  <a:gd name="connsiteX8-467" fmla="*/ 29029 w 6139543"/>
                  <a:gd name="connsiteY8-468" fmla="*/ 197960 h 16493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6139543" h="1649388">
                    <a:moveTo>
                      <a:pt x="29029" y="197960"/>
                    </a:moveTo>
                    <a:cubicBezTo>
                      <a:pt x="319315" y="-251983"/>
                      <a:pt x="1016000" y="154418"/>
                      <a:pt x="1146628" y="531789"/>
                    </a:cubicBezTo>
                    <a:cubicBezTo>
                      <a:pt x="1514324" y="168932"/>
                      <a:pt x="2230361" y="459217"/>
                      <a:pt x="2293257" y="749503"/>
                    </a:cubicBezTo>
                    <a:cubicBezTo>
                      <a:pt x="2651276" y="459218"/>
                      <a:pt x="3270552" y="299560"/>
                      <a:pt x="3759200" y="575332"/>
                    </a:cubicBezTo>
                    <a:cubicBezTo>
                      <a:pt x="4034971" y="652741"/>
                      <a:pt x="4513943" y="410837"/>
                      <a:pt x="4586514" y="807560"/>
                    </a:cubicBezTo>
                    <a:cubicBezTo>
                      <a:pt x="4963885" y="681769"/>
                      <a:pt x="5181600" y="657579"/>
                      <a:pt x="5413828" y="952703"/>
                    </a:cubicBezTo>
                    <a:cubicBezTo>
                      <a:pt x="5975047" y="860778"/>
                      <a:pt x="5984724" y="1291370"/>
                      <a:pt x="6139543" y="1634874"/>
                    </a:cubicBezTo>
                    <a:lnTo>
                      <a:pt x="0" y="1649388"/>
                    </a:lnTo>
                    <a:cubicBezTo>
                      <a:pt x="0" y="1141388"/>
                      <a:pt x="29029" y="705960"/>
                      <a:pt x="29029" y="19796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29" name="任意多边形: 形状 35"/>
              <p:cNvSpPr/>
              <p:nvPr userDrawn="1"/>
            </p:nvSpPr>
            <p:spPr>
              <a:xfrm flipH="1">
                <a:off x="6110515" y="5132879"/>
                <a:ext cx="6139543" cy="1649388"/>
              </a:xfrm>
              <a:custGeom>
                <a:avLst/>
                <a:gdLst>
                  <a:gd name="connsiteX0" fmla="*/ 72572 w 6168572"/>
                  <a:gd name="connsiteY0" fmla="*/ 0 h 1582057"/>
                  <a:gd name="connsiteX1" fmla="*/ 1175657 w 6168572"/>
                  <a:gd name="connsiteY1" fmla="*/ 478972 h 1582057"/>
                  <a:gd name="connsiteX2" fmla="*/ 2322286 w 6168572"/>
                  <a:gd name="connsiteY2" fmla="*/ 696686 h 1582057"/>
                  <a:gd name="connsiteX3" fmla="*/ 3788229 w 6168572"/>
                  <a:gd name="connsiteY3" fmla="*/ 522515 h 1582057"/>
                  <a:gd name="connsiteX4" fmla="*/ 4499429 w 6168572"/>
                  <a:gd name="connsiteY4" fmla="*/ 812800 h 1582057"/>
                  <a:gd name="connsiteX5" fmla="*/ 5442857 w 6168572"/>
                  <a:gd name="connsiteY5" fmla="*/ 899886 h 1582057"/>
                  <a:gd name="connsiteX6" fmla="*/ 6168572 w 6168572"/>
                  <a:gd name="connsiteY6" fmla="*/ 1582057 h 1582057"/>
                  <a:gd name="connsiteX7" fmla="*/ 0 w 6168572"/>
                  <a:gd name="connsiteY7" fmla="*/ 1553029 h 1582057"/>
                  <a:gd name="connsiteX8" fmla="*/ 72572 w 6168572"/>
                  <a:gd name="connsiteY8" fmla="*/ 0 h 1582057"/>
                  <a:gd name="connsiteX0-1" fmla="*/ 43544 w 6168572"/>
                  <a:gd name="connsiteY0-2" fmla="*/ 0 h 1582057"/>
                  <a:gd name="connsiteX1-3" fmla="*/ 1175657 w 6168572"/>
                  <a:gd name="connsiteY1-4" fmla="*/ 478972 h 1582057"/>
                  <a:gd name="connsiteX2-5" fmla="*/ 2322286 w 6168572"/>
                  <a:gd name="connsiteY2-6" fmla="*/ 696686 h 1582057"/>
                  <a:gd name="connsiteX3-7" fmla="*/ 3788229 w 6168572"/>
                  <a:gd name="connsiteY3-8" fmla="*/ 522515 h 1582057"/>
                  <a:gd name="connsiteX4-9" fmla="*/ 4499429 w 6168572"/>
                  <a:gd name="connsiteY4-10" fmla="*/ 812800 h 1582057"/>
                  <a:gd name="connsiteX5-11" fmla="*/ 5442857 w 6168572"/>
                  <a:gd name="connsiteY5-12" fmla="*/ 899886 h 1582057"/>
                  <a:gd name="connsiteX6-13" fmla="*/ 6168572 w 6168572"/>
                  <a:gd name="connsiteY6-14" fmla="*/ 1582057 h 1582057"/>
                  <a:gd name="connsiteX7-15" fmla="*/ 0 w 6168572"/>
                  <a:gd name="connsiteY7-16" fmla="*/ 1553029 h 1582057"/>
                  <a:gd name="connsiteX8-17" fmla="*/ 43544 w 6168572"/>
                  <a:gd name="connsiteY8-18" fmla="*/ 0 h 1582057"/>
                  <a:gd name="connsiteX0-19" fmla="*/ 1 w 6125029"/>
                  <a:gd name="connsiteY0-20" fmla="*/ 0 h 1582057"/>
                  <a:gd name="connsiteX1-21" fmla="*/ 1132114 w 6125029"/>
                  <a:gd name="connsiteY1-22" fmla="*/ 478972 h 1582057"/>
                  <a:gd name="connsiteX2-23" fmla="*/ 2278743 w 6125029"/>
                  <a:gd name="connsiteY2-24" fmla="*/ 696686 h 1582057"/>
                  <a:gd name="connsiteX3-25" fmla="*/ 3744686 w 6125029"/>
                  <a:gd name="connsiteY3-26" fmla="*/ 522515 h 1582057"/>
                  <a:gd name="connsiteX4-27" fmla="*/ 4455886 w 6125029"/>
                  <a:gd name="connsiteY4-28" fmla="*/ 812800 h 1582057"/>
                  <a:gd name="connsiteX5-29" fmla="*/ 5399314 w 6125029"/>
                  <a:gd name="connsiteY5-30" fmla="*/ 899886 h 1582057"/>
                  <a:gd name="connsiteX6-31" fmla="*/ 6125029 w 6125029"/>
                  <a:gd name="connsiteY6-32" fmla="*/ 1582057 h 1582057"/>
                  <a:gd name="connsiteX7-33" fmla="*/ 0 w 6125029"/>
                  <a:gd name="connsiteY7-34" fmla="*/ 1524000 h 1582057"/>
                  <a:gd name="connsiteX8-35" fmla="*/ 1 w 6125029"/>
                  <a:gd name="connsiteY8-36" fmla="*/ 0 h 1582057"/>
                  <a:gd name="connsiteX0-37" fmla="*/ 14515 w 6139543"/>
                  <a:gd name="connsiteY0-38" fmla="*/ 0 h 1596571"/>
                  <a:gd name="connsiteX1-39" fmla="*/ 1146628 w 6139543"/>
                  <a:gd name="connsiteY1-40" fmla="*/ 478972 h 1596571"/>
                  <a:gd name="connsiteX2-41" fmla="*/ 2293257 w 6139543"/>
                  <a:gd name="connsiteY2-42" fmla="*/ 696686 h 1596571"/>
                  <a:gd name="connsiteX3-43" fmla="*/ 3759200 w 6139543"/>
                  <a:gd name="connsiteY3-44" fmla="*/ 522515 h 1596571"/>
                  <a:gd name="connsiteX4-45" fmla="*/ 4470400 w 6139543"/>
                  <a:gd name="connsiteY4-46" fmla="*/ 812800 h 1596571"/>
                  <a:gd name="connsiteX5-47" fmla="*/ 5413828 w 6139543"/>
                  <a:gd name="connsiteY5-48" fmla="*/ 899886 h 1596571"/>
                  <a:gd name="connsiteX6-49" fmla="*/ 6139543 w 6139543"/>
                  <a:gd name="connsiteY6-50" fmla="*/ 1582057 h 1596571"/>
                  <a:gd name="connsiteX7-51" fmla="*/ 0 w 6139543"/>
                  <a:gd name="connsiteY7-52" fmla="*/ 1596571 h 1596571"/>
                  <a:gd name="connsiteX8-53" fmla="*/ 14515 w 6139543"/>
                  <a:gd name="connsiteY8-54" fmla="*/ 0 h 1596571"/>
                  <a:gd name="connsiteX0-55" fmla="*/ 14515 w 6139543"/>
                  <a:gd name="connsiteY0-56" fmla="*/ 88176 h 1684747"/>
                  <a:gd name="connsiteX1-57" fmla="*/ 1146628 w 6139543"/>
                  <a:gd name="connsiteY1-58" fmla="*/ 567148 h 1684747"/>
                  <a:gd name="connsiteX2-59" fmla="*/ 2293257 w 6139543"/>
                  <a:gd name="connsiteY2-60" fmla="*/ 784862 h 1684747"/>
                  <a:gd name="connsiteX3-61" fmla="*/ 3759200 w 6139543"/>
                  <a:gd name="connsiteY3-62" fmla="*/ 610691 h 1684747"/>
                  <a:gd name="connsiteX4-63" fmla="*/ 4470400 w 6139543"/>
                  <a:gd name="connsiteY4-64" fmla="*/ 900976 h 1684747"/>
                  <a:gd name="connsiteX5-65" fmla="*/ 5413828 w 6139543"/>
                  <a:gd name="connsiteY5-66" fmla="*/ 988062 h 1684747"/>
                  <a:gd name="connsiteX6-67" fmla="*/ 6139543 w 6139543"/>
                  <a:gd name="connsiteY6-68" fmla="*/ 1670233 h 1684747"/>
                  <a:gd name="connsiteX7-69" fmla="*/ 0 w 6139543"/>
                  <a:gd name="connsiteY7-70" fmla="*/ 1684747 h 1684747"/>
                  <a:gd name="connsiteX8-71" fmla="*/ 14515 w 6139543"/>
                  <a:gd name="connsiteY8-72" fmla="*/ 88176 h 1684747"/>
                  <a:gd name="connsiteX0-73" fmla="*/ 14515 w 6139543"/>
                  <a:gd name="connsiteY0-74" fmla="*/ 112943 h 1709514"/>
                  <a:gd name="connsiteX1-75" fmla="*/ 1146628 w 6139543"/>
                  <a:gd name="connsiteY1-76" fmla="*/ 591915 h 1709514"/>
                  <a:gd name="connsiteX2-77" fmla="*/ 2293257 w 6139543"/>
                  <a:gd name="connsiteY2-78" fmla="*/ 809629 h 1709514"/>
                  <a:gd name="connsiteX3-79" fmla="*/ 3759200 w 6139543"/>
                  <a:gd name="connsiteY3-80" fmla="*/ 635458 h 1709514"/>
                  <a:gd name="connsiteX4-81" fmla="*/ 4470400 w 6139543"/>
                  <a:gd name="connsiteY4-82" fmla="*/ 925743 h 1709514"/>
                  <a:gd name="connsiteX5-83" fmla="*/ 5413828 w 6139543"/>
                  <a:gd name="connsiteY5-84" fmla="*/ 1012829 h 1709514"/>
                  <a:gd name="connsiteX6-85" fmla="*/ 6139543 w 6139543"/>
                  <a:gd name="connsiteY6-86" fmla="*/ 1695000 h 1709514"/>
                  <a:gd name="connsiteX7-87" fmla="*/ 0 w 6139543"/>
                  <a:gd name="connsiteY7-88" fmla="*/ 1709514 h 1709514"/>
                  <a:gd name="connsiteX8-89" fmla="*/ 14515 w 6139543"/>
                  <a:gd name="connsiteY8-90" fmla="*/ 112943 h 1709514"/>
                  <a:gd name="connsiteX0-91" fmla="*/ 14515 w 6139543"/>
                  <a:gd name="connsiteY0-92" fmla="*/ 112943 h 1709514"/>
                  <a:gd name="connsiteX1-93" fmla="*/ 1146628 w 6139543"/>
                  <a:gd name="connsiteY1-94" fmla="*/ 591915 h 1709514"/>
                  <a:gd name="connsiteX2-95" fmla="*/ 2293257 w 6139543"/>
                  <a:gd name="connsiteY2-96" fmla="*/ 809629 h 1709514"/>
                  <a:gd name="connsiteX3-97" fmla="*/ 3759200 w 6139543"/>
                  <a:gd name="connsiteY3-98" fmla="*/ 635458 h 1709514"/>
                  <a:gd name="connsiteX4-99" fmla="*/ 4470400 w 6139543"/>
                  <a:gd name="connsiteY4-100" fmla="*/ 925743 h 1709514"/>
                  <a:gd name="connsiteX5-101" fmla="*/ 5413828 w 6139543"/>
                  <a:gd name="connsiteY5-102" fmla="*/ 1012829 h 1709514"/>
                  <a:gd name="connsiteX6-103" fmla="*/ 6139543 w 6139543"/>
                  <a:gd name="connsiteY6-104" fmla="*/ 1695000 h 1709514"/>
                  <a:gd name="connsiteX7-105" fmla="*/ 0 w 6139543"/>
                  <a:gd name="connsiteY7-106" fmla="*/ 1709514 h 1709514"/>
                  <a:gd name="connsiteX8-107" fmla="*/ 14515 w 6139543"/>
                  <a:gd name="connsiteY8-108" fmla="*/ 112943 h 1709514"/>
                  <a:gd name="connsiteX0-109" fmla="*/ 14515 w 6139543"/>
                  <a:gd name="connsiteY0-110" fmla="*/ 112943 h 1709514"/>
                  <a:gd name="connsiteX1-111" fmla="*/ 1146628 w 6139543"/>
                  <a:gd name="connsiteY1-112" fmla="*/ 591915 h 1709514"/>
                  <a:gd name="connsiteX2-113" fmla="*/ 2293257 w 6139543"/>
                  <a:gd name="connsiteY2-114" fmla="*/ 809629 h 1709514"/>
                  <a:gd name="connsiteX3-115" fmla="*/ 3759200 w 6139543"/>
                  <a:gd name="connsiteY3-116" fmla="*/ 635458 h 1709514"/>
                  <a:gd name="connsiteX4-117" fmla="*/ 4470400 w 6139543"/>
                  <a:gd name="connsiteY4-118" fmla="*/ 925743 h 1709514"/>
                  <a:gd name="connsiteX5-119" fmla="*/ 5413828 w 6139543"/>
                  <a:gd name="connsiteY5-120" fmla="*/ 1012829 h 1709514"/>
                  <a:gd name="connsiteX6-121" fmla="*/ 6139543 w 6139543"/>
                  <a:gd name="connsiteY6-122" fmla="*/ 1695000 h 1709514"/>
                  <a:gd name="connsiteX7-123" fmla="*/ 0 w 6139543"/>
                  <a:gd name="connsiteY7-124" fmla="*/ 1709514 h 1709514"/>
                  <a:gd name="connsiteX8-125" fmla="*/ 14515 w 6139543"/>
                  <a:gd name="connsiteY8-126" fmla="*/ 112943 h 1709514"/>
                  <a:gd name="connsiteX0-127" fmla="*/ 14515 w 6139543"/>
                  <a:gd name="connsiteY0-128" fmla="*/ 112943 h 1709514"/>
                  <a:gd name="connsiteX1-129" fmla="*/ 1146628 w 6139543"/>
                  <a:gd name="connsiteY1-130" fmla="*/ 591915 h 1709514"/>
                  <a:gd name="connsiteX2-131" fmla="*/ 2293257 w 6139543"/>
                  <a:gd name="connsiteY2-132" fmla="*/ 809629 h 1709514"/>
                  <a:gd name="connsiteX3-133" fmla="*/ 3759200 w 6139543"/>
                  <a:gd name="connsiteY3-134" fmla="*/ 635458 h 1709514"/>
                  <a:gd name="connsiteX4-135" fmla="*/ 4470400 w 6139543"/>
                  <a:gd name="connsiteY4-136" fmla="*/ 925743 h 1709514"/>
                  <a:gd name="connsiteX5-137" fmla="*/ 5413828 w 6139543"/>
                  <a:gd name="connsiteY5-138" fmla="*/ 1012829 h 1709514"/>
                  <a:gd name="connsiteX6-139" fmla="*/ 6139543 w 6139543"/>
                  <a:gd name="connsiteY6-140" fmla="*/ 1695000 h 1709514"/>
                  <a:gd name="connsiteX7-141" fmla="*/ 0 w 6139543"/>
                  <a:gd name="connsiteY7-142" fmla="*/ 1709514 h 1709514"/>
                  <a:gd name="connsiteX8-143" fmla="*/ 14515 w 6139543"/>
                  <a:gd name="connsiteY8-144" fmla="*/ 112943 h 1709514"/>
                  <a:gd name="connsiteX0-145" fmla="*/ 14515 w 6139543"/>
                  <a:gd name="connsiteY0-146" fmla="*/ 112943 h 1709514"/>
                  <a:gd name="connsiteX1-147" fmla="*/ 1146628 w 6139543"/>
                  <a:gd name="connsiteY1-148" fmla="*/ 591915 h 1709514"/>
                  <a:gd name="connsiteX2-149" fmla="*/ 2293257 w 6139543"/>
                  <a:gd name="connsiteY2-150" fmla="*/ 809629 h 1709514"/>
                  <a:gd name="connsiteX3-151" fmla="*/ 3759200 w 6139543"/>
                  <a:gd name="connsiteY3-152" fmla="*/ 635458 h 1709514"/>
                  <a:gd name="connsiteX4-153" fmla="*/ 4470400 w 6139543"/>
                  <a:gd name="connsiteY4-154" fmla="*/ 925743 h 1709514"/>
                  <a:gd name="connsiteX5-155" fmla="*/ 5413828 w 6139543"/>
                  <a:gd name="connsiteY5-156" fmla="*/ 1012829 h 1709514"/>
                  <a:gd name="connsiteX6-157" fmla="*/ 6139543 w 6139543"/>
                  <a:gd name="connsiteY6-158" fmla="*/ 1695000 h 1709514"/>
                  <a:gd name="connsiteX7-159" fmla="*/ 0 w 6139543"/>
                  <a:gd name="connsiteY7-160" fmla="*/ 1709514 h 1709514"/>
                  <a:gd name="connsiteX8-161" fmla="*/ 14515 w 6139543"/>
                  <a:gd name="connsiteY8-162" fmla="*/ 112943 h 1709514"/>
                  <a:gd name="connsiteX0-163" fmla="*/ 14515 w 6139543"/>
                  <a:gd name="connsiteY0-164" fmla="*/ 112943 h 1709514"/>
                  <a:gd name="connsiteX1-165" fmla="*/ 1146628 w 6139543"/>
                  <a:gd name="connsiteY1-166" fmla="*/ 591915 h 1709514"/>
                  <a:gd name="connsiteX2-167" fmla="*/ 2293257 w 6139543"/>
                  <a:gd name="connsiteY2-168" fmla="*/ 809629 h 1709514"/>
                  <a:gd name="connsiteX3-169" fmla="*/ 3759200 w 6139543"/>
                  <a:gd name="connsiteY3-170" fmla="*/ 635458 h 1709514"/>
                  <a:gd name="connsiteX4-171" fmla="*/ 4470400 w 6139543"/>
                  <a:gd name="connsiteY4-172" fmla="*/ 925743 h 1709514"/>
                  <a:gd name="connsiteX5-173" fmla="*/ 5413828 w 6139543"/>
                  <a:gd name="connsiteY5-174" fmla="*/ 1012829 h 1709514"/>
                  <a:gd name="connsiteX6-175" fmla="*/ 6139543 w 6139543"/>
                  <a:gd name="connsiteY6-176" fmla="*/ 1695000 h 1709514"/>
                  <a:gd name="connsiteX7-177" fmla="*/ 0 w 6139543"/>
                  <a:gd name="connsiteY7-178" fmla="*/ 1709514 h 1709514"/>
                  <a:gd name="connsiteX8-179" fmla="*/ 14515 w 6139543"/>
                  <a:gd name="connsiteY8-180" fmla="*/ 112943 h 1709514"/>
                  <a:gd name="connsiteX0-181" fmla="*/ 14515 w 6139543"/>
                  <a:gd name="connsiteY0-182" fmla="*/ 112943 h 1709514"/>
                  <a:gd name="connsiteX1-183" fmla="*/ 1146628 w 6139543"/>
                  <a:gd name="connsiteY1-184" fmla="*/ 591915 h 1709514"/>
                  <a:gd name="connsiteX2-185" fmla="*/ 2293257 w 6139543"/>
                  <a:gd name="connsiteY2-186" fmla="*/ 809629 h 1709514"/>
                  <a:gd name="connsiteX3-187" fmla="*/ 3759200 w 6139543"/>
                  <a:gd name="connsiteY3-188" fmla="*/ 635458 h 1709514"/>
                  <a:gd name="connsiteX4-189" fmla="*/ 4470400 w 6139543"/>
                  <a:gd name="connsiteY4-190" fmla="*/ 925743 h 1709514"/>
                  <a:gd name="connsiteX5-191" fmla="*/ 5413828 w 6139543"/>
                  <a:gd name="connsiteY5-192" fmla="*/ 1012829 h 1709514"/>
                  <a:gd name="connsiteX6-193" fmla="*/ 6139543 w 6139543"/>
                  <a:gd name="connsiteY6-194" fmla="*/ 1695000 h 1709514"/>
                  <a:gd name="connsiteX7-195" fmla="*/ 0 w 6139543"/>
                  <a:gd name="connsiteY7-196" fmla="*/ 1709514 h 1709514"/>
                  <a:gd name="connsiteX8-197" fmla="*/ 14515 w 6139543"/>
                  <a:gd name="connsiteY8-198" fmla="*/ 112943 h 1709514"/>
                  <a:gd name="connsiteX0-199" fmla="*/ 14515 w 6139543"/>
                  <a:gd name="connsiteY0-200" fmla="*/ 112943 h 1709514"/>
                  <a:gd name="connsiteX1-201" fmla="*/ 1146628 w 6139543"/>
                  <a:gd name="connsiteY1-202" fmla="*/ 591915 h 1709514"/>
                  <a:gd name="connsiteX2-203" fmla="*/ 2293257 w 6139543"/>
                  <a:gd name="connsiteY2-204" fmla="*/ 809629 h 1709514"/>
                  <a:gd name="connsiteX3-205" fmla="*/ 3759200 w 6139543"/>
                  <a:gd name="connsiteY3-206" fmla="*/ 635458 h 1709514"/>
                  <a:gd name="connsiteX4-207" fmla="*/ 4557486 w 6139543"/>
                  <a:gd name="connsiteY4-208" fmla="*/ 649971 h 1709514"/>
                  <a:gd name="connsiteX5-209" fmla="*/ 5413828 w 6139543"/>
                  <a:gd name="connsiteY5-210" fmla="*/ 1012829 h 1709514"/>
                  <a:gd name="connsiteX6-211" fmla="*/ 6139543 w 6139543"/>
                  <a:gd name="connsiteY6-212" fmla="*/ 1695000 h 1709514"/>
                  <a:gd name="connsiteX7-213" fmla="*/ 0 w 6139543"/>
                  <a:gd name="connsiteY7-214" fmla="*/ 1709514 h 1709514"/>
                  <a:gd name="connsiteX8-215" fmla="*/ 14515 w 6139543"/>
                  <a:gd name="connsiteY8-216" fmla="*/ 112943 h 1709514"/>
                  <a:gd name="connsiteX0-217" fmla="*/ 14515 w 6139543"/>
                  <a:gd name="connsiteY0-218" fmla="*/ 112943 h 1709514"/>
                  <a:gd name="connsiteX1-219" fmla="*/ 1146628 w 6139543"/>
                  <a:gd name="connsiteY1-220" fmla="*/ 591915 h 1709514"/>
                  <a:gd name="connsiteX2-221" fmla="*/ 2293257 w 6139543"/>
                  <a:gd name="connsiteY2-222" fmla="*/ 809629 h 1709514"/>
                  <a:gd name="connsiteX3-223" fmla="*/ 3759200 w 6139543"/>
                  <a:gd name="connsiteY3-224" fmla="*/ 635458 h 1709514"/>
                  <a:gd name="connsiteX4-225" fmla="*/ 4615543 w 6139543"/>
                  <a:gd name="connsiteY4-226" fmla="*/ 446771 h 1709514"/>
                  <a:gd name="connsiteX5-227" fmla="*/ 5413828 w 6139543"/>
                  <a:gd name="connsiteY5-228" fmla="*/ 1012829 h 1709514"/>
                  <a:gd name="connsiteX6-229" fmla="*/ 6139543 w 6139543"/>
                  <a:gd name="connsiteY6-230" fmla="*/ 1695000 h 1709514"/>
                  <a:gd name="connsiteX7-231" fmla="*/ 0 w 6139543"/>
                  <a:gd name="connsiteY7-232" fmla="*/ 1709514 h 1709514"/>
                  <a:gd name="connsiteX8-233" fmla="*/ 14515 w 6139543"/>
                  <a:gd name="connsiteY8-234" fmla="*/ 112943 h 1709514"/>
                  <a:gd name="connsiteX0-235" fmla="*/ 14515 w 6139543"/>
                  <a:gd name="connsiteY0-236" fmla="*/ 112943 h 1709514"/>
                  <a:gd name="connsiteX1-237" fmla="*/ 1146628 w 6139543"/>
                  <a:gd name="connsiteY1-238" fmla="*/ 591915 h 1709514"/>
                  <a:gd name="connsiteX2-239" fmla="*/ 2293257 w 6139543"/>
                  <a:gd name="connsiteY2-240" fmla="*/ 809629 h 1709514"/>
                  <a:gd name="connsiteX3-241" fmla="*/ 3759200 w 6139543"/>
                  <a:gd name="connsiteY3-242" fmla="*/ 635458 h 1709514"/>
                  <a:gd name="connsiteX4-243" fmla="*/ 4775200 w 6139543"/>
                  <a:gd name="connsiteY4-244" fmla="*/ 766086 h 1709514"/>
                  <a:gd name="connsiteX5-245" fmla="*/ 5413828 w 6139543"/>
                  <a:gd name="connsiteY5-246" fmla="*/ 1012829 h 1709514"/>
                  <a:gd name="connsiteX6-247" fmla="*/ 6139543 w 6139543"/>
                  <a:gd name="connsiteY6-248" fmla="*/ 1695000 h 1709514"/>
                  <a:gd name="connsiteX7-249" fmla="*/ 0 w 6139543"/>
                  <a:gd name="connsiteY7-250" fmla="*/ 1709514 h 1709514"/>
                  <a:gd name="connsiteX8-251" fmla="*/ 14515 w 6139543"/>
                  <a:gd name="connsiteY8-252" fmla="*/ 112943 h 1709514"/>
                  <a:gd name="connsiteX0-253" fmla="*/ 14515 w 6139543"/>
                  <a:gd name="connsiteY0-254" fmla="*/ 112943 h 1709514"/>
                  <a:gd name="connsiteX1-255" fmla="*/ 1146628 w 6139543"/>
                  <a:gd name="connsiteY1-256" fmla="*/ 591915 h 1709514"/>
                  <a:gd name="connsiteX2-257" fmla="*/ 2293257 w 6139543"/>
                  <a:gd name="connsiteY2-258" fmla="*/ 809629 h 1709514"/>
                  <a:gd name="connsiteX3-259" fmla="*/ 3759200 w 6139543"/>
                  <a:gd name="connsiteY3-260" fmla="*/ 635458 h 1709514"/>
                  <a:gd name="connsiteX4-261" fmla="*/ 4586514 w 6139543"/>
                  <a:gd name="connsiteY4-262" fmla="*/ 867686 h 1709514"/>
                  <a:gd name="connsiteX5-263" fmla="*/ 5413828 w 6139543"/>
                  <a:gd name="connsiteY5-264" fmla="*/ 1012829 h 1709514"/>
                  <a:gd name="connsiteX6-265" fmla="*/ 6139543 w 6139543"/>
                  <a:gd name="connsiteY6-266" fmla="*/ 1695000 h 1709514"/>
                  <a:gd name="connsiteX7-267" fmla="*/ 0 w 6139543"/>
                  <a:gd name="connsiteY7-268" fmla="*/ 1709514 h 1709514"/>
                  <a:gd name="connsiteX8-269" fmla="*/ 14515 w 6139543"/>
                  <a:gd name="connsiteY8-270" fmla="*/ 112943 h 1709514"/>
                  <a:gd name="connsiteX0-271" fmla="*/ 14515 w 6139543"/>
                  <a:gd name="connsiteY0-272" fmla="*/ 112943 h 1709514"/>
                  <a:gd name="connsiteX1-273" fmla="*/ 1146628 w 6139543"/>
                  <a:gd name="connsiteY1-274" fmla="*/ 591915 h 1709514"/>
                  <a:gd name="connsiteX2-275" fmla="*/ 2293257 w 6139543"/>
                  <a:gd name="connsiteY2-276" fmla="*/ 809629 h 1709514"/>
                  <a:gd name="connsiteX3-277" fmla="*/ 3759200 w 6139543"/>
                  <a:gd name="connsiteY3-278" fmla="*/ 635458 h 1709514"/>
                  <a:gd name="connsiteX4-279" fmla="*/ 4586514 w 6139543"/>
                  <a:gd name="connsiteY4-280" fmla="*/ 867686 h 1709514"/>
                  <a:gd name="connsiteX5-281" fmla="*/ 5413828 w 6139543"/>
                  <a:gd name="connsiteY5-282" fmla="*/ 1012829 h 1709514"/>
                  <a:gd name="connsiteX6-283" fmla="*/ 6139543 w 6139543"/>
                  <a:gd name="connsiteY6-284" fmla="*/ 1695000 h 1709514"/>
                  <a:gd name="connsiteX7-285" fmla="*/ 0 w 6139543"/>
                  <a:gd name="connsiteY7-286" fmla="*/ 1709514 h 1709514"/>
                  <a:gd name="connsiteX8-287" fmla="*/ 14515 w 6139543"/>
                  <a:gd name="connsiteY8-288" fmla="*/ 112943 h 1709514"/>
                  <a:gd name="connsiteX0-289" fmla="*/ 14515 w 6139543"/>
                  <a:gd name="connsiteY0-290" fmla="*/ 112943 h 1709514"/>
                  <a:gd name="connsiteX1-291" fmla="*/ 1146628 w 6139543"/>
                  <a:gd name="connsiteY1-292" fmla="*/ 591915 h 1709514"/>
                  <a:gd name="connsiteX2-293" fmla="*/ 2293257 w 6139543"/>
                  <a:gd name="connsiteY2-294" fmla="*/ 809629 h 1709514"/>
                  <a:gd name="connsiteX3-295" fmla="*/ 3759200 w 6139543"/>
                  <a:gd name="connsiteY3-296" fmla="*/ 635458 h 1709514"/>
                  <a:gd name="connsiteX4-297" fmla="*/ 4586514 w 6139543"/>
                  <a:gd name="connsiteY4-298" fmla="*/ 867686 h 1709514"/>
                  <a:gd name="connsiteX5-299" fmla="*/ 5413828 w 6139543"/>
                  <a:gd name="connsiteY5-300" fmla="*/ 1012829 h 1709514"/>
                  <a:gd name="connsiteX6-301" fmla="*/ 6139543 w 6139543"/>
                  <a:gd name="connsiteY6-302" fmla="*/ 1695000 h 1709514"/>
                  <a:gd name="connsiteX7-303" fmla="*/ 0 w 6139543"/>
                  <a:gd name="connsiteY7-304" fmla="*/ 1709514 h 1709514"/>
                  <a:gd name="connsiteX8-305" fmla="*/ 14515 w 6139543"/>
                  <a:gd name="connsiteY8-306" fmla="*/ 112943 h 1709514"/>
                  <a:gd name="connsiteX0-307" fmla="*/ 14515 w 6139543"/>
                  <a:gd name="connsiteY0-308" fmla="*/ 112943 h 1709514"/>
                  <a:gd name="connsiteX1-309" fmla="*/ 1146628 w 6139543"/>
                  <a:gd name="connsiteY1-310" fmla="*/ 591915 h 1709514"/>
                  <a:gd name="connsiteX2-311" fmla="*/ 2293257 w 6139543"/>
                  <a:gd name="connsiteY2-312" fmla="*/ 809629 h 1709514"/>
                  <a:gd name="connsiteX3-313" fmla="*/ 3759200 w 6139543"/>
                  <a:gd name="connsiteY3-314" fmla="*/ 635458 h 1709514"/>
                  <a:gd name="connsiteX4-315" fmla="*/ 4586514 w 6139543"/>
                  <a:gd name="connsiteY4-316" fmla="*/ 867686 h 1709514"/>
                  <a:gd name="connsiteX5-317" fmla="*/ 5413828 w 6139543"/>
                  <a:gd name="connsiteY5-318" fmla="*/ 1012829 h 1709514"/>
                  <a:gd name="connsiteX6-319" fmla="*/ 6139543 w 6139543"/>
                  <a:gd name="connsiteY6-320" fmla="*/ 1695000 h 1709514"/>
                  <a:gd name="connsiteX7-321" fmla="*/ 0 w 6139543"/>
                  <a:gd name="connsiteY7-322" fmla="*/ 1709514 h 1709514"/>
                  <a:gd name="connsiteX8-323" fmla="*/ 14515 w 6139543"/>
                  <a:gd name="connsiteY8-324" fmla="*/ 112943 h 1709514"/>
                  <a:gd name="connsiteX0-325" fmla="*/ 14515 w 6139543"/>
                  <a:gd name="connsiteY0-326" fmla="*/ 112943 h 1709514"/>
                  <a:gd name="connsiteX1-327" fmla="*/ 1146628 w 6139543"/>
                  <a:gd name="connsiteY1-328" fmla="*/ 591915 h 1709514"/>
                  <a:gd name="connsiteX2-329" fmla="*/ 2293257 w 6139543"/>
                  <a:gd name="connsiteY2-330" fmla="*/ 809629 h 1709514"/>
                  <a:gd name="connsiteX3-331" fmla="*/ 3759200 w 6139543"/>
                  <a:gd name="connsiteY3-332" fmla="*/ 635458 h 1709514"/>
                  <a:gd name="connsiteX4-333" fmla="*/ 4586514 w 6139543"/>
                  <a:gd name="connsiteY4-334" fmla="*/ 867686 h 1709514"/>
                  <a:gd name="connsiteX5-335" fmla="*/ 5413828 w 6139543"/>
                  <a:gd name="connsiteY5-336" fmla="*/ 1012829 h 1709514"/>
                  <a:gd name="connsiteX6-337" fmla="*/ 6139543 w 6139543"/>
                  <a:gd name="connsiteY6-338" fmla="*/ 1695000 h 1709514"/>
                  <a:gd name="connsiteX7-339" fmla="*/ 0 w 6139543"/>
                  <a:gd name="connsiteY7-340" fmla="*/ 1709514 h 1709514"/>
                  <a:gd name="connsiteX8-341" fmla="*/ 14515 w 6139543"/>
                  <a:gd name="connsiteY8-342" fmla="*/ 112943 h 1709514"/>
                  <a:gd name="connsiteX0-343" fmla="*/ 14515 w 6139543"/>
                  <a:gd name="connsiteY0-344" fmla="*/ 112943 h 1709514"/>
                  <a:gd name="connsiteX1-345" fmla="*/ 1146628 w 6139543"/>
                  <a:gd name="connsiteY1-346" fmla="*/ 591915 h 1709514"/>
                  <a:gd name="connsiteX2-347" fmla="*/ 2293257 w 6139543"/>
                  <a:gd name="connsiteY2-348" fmla="*/ 809629 h 1709514"/>
                  <a:gd name="connsiteX3-349" fmla="*/ 3759200 w 6139543"/>
                  <a:gd name="connsiteY3-350" fmla="*/ 635458 h 1709514"/>
                  <a:gd name="connsiteX4-351" fmla="*/ 4586514 w 6139543"/>
                  <a:gd name="connsiteY4-352" fmla="*/ 867686 h 1709514"/>
                  <a:gd name="connsiteX5-353" fmla="*/ 5413828 w 6139543"/>
                  <a:gd name="connsiteY5-354" fmla="*/ 1012829 h 1709514"/>
                  <a:gd name="connsiteX6-355" fmla="*/ 6139543 w 6139543"/>
                  <a:gd name="connsiteY6-356" fmla="*/ 1695000 h 1709514"/>
                  <a:gd name="connsiteX7-357" fmla="*/ 0 w 6139543"/>
                  <a:gd name="connsiteY7-358" fmla="*/ 1709514 h 1709514"/>
                  <a:gd name="connsiteX8-359" fmla="*/ 14515 w 6139543"/>
                  <a:gd name="connsiteY8-360" fmla="*/ 112943 h 1709514"/>
                  <a:gd name="connsiteX0-361" fmla="*/ 14515 w 6139543"/>
                  <a:gd name="connsiteY0-362" fmla="*/ 112943 h 1709514"/>
                  <a:gd name="connsiteX1-363" fmla="*/ 1146628 w 6139543"/>
                  <a:gd name="connsiteY1-364" fmla="*/ 591915 h 1709514"/>
                  <a:gd name="connsiteX2-365" fmla="*/ 2293257 w 6139543"/>
                  <a:gd name="connsiteY2-366" fmla="*/ 809629 h 1709514"/>
                  <a:gd name="connsiteX3-367" fmla="*/ 3759200 w 6139543"/>
                  <a:gd name="connsiteY3-368" fmla="*/ 635458 h 1709514"/>
                  <a:gd name="connsiteX4-369" fmla="*/ 4586514 w 6139543"/>
                  <a:gd name="connsiteY4-370" fmla="*/ 867686 h 1709514"/>
                  <a:gd name="connsiteX5-371" fmla="*/ 5413828 w 6139543"/>
                  <a:gd name="connsiteY5-372" fmla="*/ 1012829 h 1709514"/>
                  <a:gd name="connsiteX6-373" fmla="*/ 6139543 w 6139543"/>
                  <a:gd name="connsiteY6-374" fmla="*/ 1695000 h 1709514"/>
                  <a:gd name="connsiteX7-375" fmla="*/ 0 w 6139543"/>
                  <a:gd name="connsiteY7-376" fmla="*/ 1709514 h 1709514"/>
                  <a:gd name="connsiteX8-377" fmla="*/ 14515 w 6139543"/>
                  <a:gd name="connsiteY8-378" fmla="*/ 112943 h 1709514"/>
                  <a:gd name="connsiteX0-379" fmla="*/ 14515 w 6139543"/>
                  <a:gd name="connsiteY0-380" fmla="*/ 112943 h 1709514"/>
                  <a:gd name="connsiteX1-381" fmla="*/ 1146628 w 6139543"/>
                  <a:gd name="connsiteY1-382" fmla="*/ 591915 h 1709514"/>
                  <a:gd name="connsiteX2-383" fmla="*/ 2293257 w 6139543"/>
                  <a:gd name="connsiteY2-384" fmla="*/ 809629 h 1709514"/>
                  <a:gd name="connsiteX3-385" fmla="*/ 3759200 w 6139543"/>
                  <a:gd name="connsiteY3-386" fmla="*/ 635458 h 1709514"/>
                  <a:gd name="connsiteX4-387" fmla="*/ 4586514 w 6139543"/>
                  <a:gd name="connsiteY4-388" fmla="*/ 867686 h 1709514"/>
                  <a:gd name="connsiteX5-389" fmla="*/ 5413828 w 6139543"/>
                  <a:gd name="connsiteY5-390" fmla="*/ 1012829 h 1709514"/>
                  <a:gd name="connsiteX6-391" fmla="*/ 6139543 w 6139543"/>
                  <a:gd name="connsiteY6-392" fmla="*/ 1695000 h 1709514"/>
                  <a:gd name="connsiteX7-393" fmla="*/ 0 w 6139543"/>
                  <a:gd name="connsiteY7-394" fmla="*/ 1709514 h 1709514"/>
                  <a:gd name="connsiteX8-395" fmla="*/ 14515 w 6139543"/>
                  <a:gd name="connsiteY8-396" fmla="*/ 112943 h 1709514"/>
                  <a:gd name="connsiteX0-397" fmla="*/ 14515 w 6139543"/>
                  <a:gd name="connsiteY0-398" fmla="*/ 112943 h 1709514"/>
                  <a:gd name="connsiteX1-399" fmla="*/ 1146628 w 6139543"/>
                  <a:gd name="connsiteY1-400" fmla="*/ 591915 h 1709514"/>
                  <a:gd name="connsiteX2-401" fmla="*/ 2293257 w 6139543"/>
                  <a:gd name="connsiteY2-402" fmla="*/ 809629 h 1709514"/>
                  <a:gd name="connsiteX3-403" fmla="*/ 3759200 w 6139543"/>
                  <a:gd name="connsiteY3-404" fmla="*/ 635458 h 1709514"/>
                  <a:gd name="connsiteX4-405" fmla="*/ 4586514 w 6139543"/>
                  <a:gd name="connsiteY4-406" fmla="*/ 867686 h 1709514"/>
                  <a:gd name="connsiteX5-407" fmla="*/ 5413828 w 6139543"/>
                  <a:gd name="connsiteY5-408" fmla="*/ 1012829 h 1709514"/>
                  <a:gd name="connsiteX6-409" fmla="*/ 6139543 w 6139543"/>
                  <a:gd name="connsiteY6-410" fmla="*/ 1695000 h 1709514"/>
                  <a:gd name="connsiteX7-411" fmla="*/ 0 w 6139543"/>
                  <a:gd name="connsiteY7-412" fmla="*/ 1709514 h 1709514"/>
                  <a:gd name="connsiteX8-413" fmla="*/ 14515 w 6139543"/>
                  <a:gd name="connsiteY8-414" fmla="*/ 112943 h 1709514"/>
                  <a:gd name="connsiteX0-415" fmla="*/ 29029 w 6139543"/>
                  <a:gd name="connsiteY0-416" fmla="*/ 140109 h 1591537"/>
                  <a:gd name="connsiteX1-417" fmla="*/ 1146628 w 6139543"/>
                  <a:gd name="connsiteY1-418" fmla="*/ 473938 h 1591537"/>
                  <a:gd name="connsiteX2-419" fmla="*/ 2293257 w 6139543"/>
                  <a:gd name="connsiteY2-420" fmla="*/ 691652 h 1591537"/>
                  <a:gd name="connsiteX3-421" fmla="*/ 3759200 w 6139543"/>
                  <a:gd name="connsiteY3-422" fmla="*/ 517481 h 1591537"/>
                  <a:gd name="connsiteX4-423" fmla="*/ 4586514 w 6139543"/>
                  <a:gd name="connsiteY4-424" fmla="*/ 749709 h 1591537"/>
                  <a:gd name="connsiteX5-425" fmla="*/ 5413828 w 6139543"/>
                  <a:gd name="connsiteY5-426" fmla="*/ 894852 h 1591537"/>
                  <a:gd name="connsiteX6-427" fmla="*/ 6139543 w 6139543"/>
                  <a:gd name="connsiteY6-428" fmla="*/ 1577023 h 1591537"/>
                  <a:gd name="connsiteX7-429" fmla="*/ 0 w 6139543"/>
                  <a:gd name="connsiteY7-430" fmla="*/ 1591537 h 1591537"/>
                  <a:gd name="connsiteX8-431" fmla="*/ 29029 w 6139543"/>
                  <a:gd name="connsiteY8-432" fmla="*/ 140109 h 1591537"/>
                  <a:gd name="connsiteX0-433" fmla="*/ 29029 w 6139543"/>
                  <a:gd name="connsiteY0-434" fmla="*/ 197960 h 1649388"/>
                  <a:gd name="connsiteX1-435" fmla="*/ 1146628 w 6139543"/>
                  <a:gd name="connsiteY1-436" fmla="*/ 531789 h 1649388"/>
                  <a:gd name="connsiteX2-437" fmla="*/ 2293257 w 6139543"/>
                  <a:gd name="connsiteY2-438" fmla="*/ 749503 h 1649388"/>
                  <a:gd name="connsiteX3-439" fmla="*/ 3759200 w 6139543"/>
                  <a:gd name="connsiteY3-440" fmla="*/ 575332 h 1649388"/>
                  <a:gd name="connsiteX4-441" fmla="*/ 4586514 w 6139543"/>
                  <a:gd name="connsiteY4-442" fmla="*/ 807560 h 1649388"/>
                  <a:gd name="connsiteX5-443" fmla="*/ 5413828 w 6139543"/>
                  <a:gd name="connsiteY5-444" fmla="*/ 952703 h 1649388"/>
                  <a:gd name="connsiteX6-445" fmla="*/ 6139543 w 6139543"/>
                  <a:gd name="connsiteY6-446" fmla="*/ 1634874 h 1649388"/>
                  <a:gd name="connsiteX7-447" fmla="*/ 0 w 6139543"/>
                  <a:gd name="connsiteY7-448" fmla="*/ 1649388 h 1649388"/>
                  <a:gd name="connsiteX8-449" fmla="*/ 29029 w 6139543"/>
                  <a:gd name="connsiteY8-450" fmla="*/ 197960 h 1649388"/>
                  <a:gd name="connsiteX0-451" fmla="*/ 29029 w 6139543"/>
                  <a:gd name="connsiteY0-452" fmla="*/ 197960 h 1649388"/>
                  <a:gd name="connsiteX1-453" fmla="*/ 1146628 w 6139543"/>
                  <a:gd name="connsiteY1-454" fmla="*/ 531789 h 1649388"/>
                  <a:gd name="connsiteX2-455" fmla="*/ 2293257 w 6139543"/>
                  <a:gd name="connsiteY2-456" fmla="*/ 749503 h 1649388"/>
                  <a:gd name="connsiteX3-457" fmla="*/ 3759200 w 6139543"/>
                  <a:gd name="connsiteY3-458" fmla="*/ 575332 h 1649388"/>
                  <a:gd name="connsiteX4-459" fmla="*/ 4586514 w 6139543"/>
                  <a:gd name="connsiteY4-460" fmla="*/ 807560 h 1649388"/>
                  <a:gd name="connsiteX5-461" fmla="*/ 5413828 w 6139543"/>
                  <a:gd name="connsiteY5-462" fmla="*/ 952703 h 1649388"/>
                  <a:gd name="connsiteX6-463" fmla="*/ 6139543 w 6139543"/>
                  <a:gd name="connsiteY6-464" fmla="*/ 1634874 h 1649388"/>
                  <a:gd name="connsiteX7-465" fmla="*/ 0 w 6139543"/>
                  <a:gd name="connsiteY7-466" fmla="*/ 1649388 h 1649388"/>
                  <a:gd name="connsiteX8-467" fmla="*/ 29029 w 6139543"/>
                  <a:gd name="connsiteY8-468" fmla="*/ 197960 h 16493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6139543" h="1649388">
                    <a:moveTo>
                      <a:pt x="29029" y="197960"/>
                    </a:moveTo>
                    <a:cubicBezTo>
                      <a:pt x="319315" y="-251983"/>
                      <a:pt x="1016000" y="154418"/>
                      <a:pt x="1146628" y="531789"/>
                    </a:cubicBezTo>
                    <a:cubicBezTo>
                      <a:pt x="1514324" y="168932"/>
                      <a:pt x="2230361" y="459217"/>
                      <a:pt x="2293257" y="749503"/>
                    </a:cubicBezTo>
                    <a:cubicBezTo>
                      <a:pt x="2651276" y="459218"/>
                      <a:pt x="3270552" y="299560"/>
                      <a:pt x="3759200" y="575332"/>
                    </a:cubicBezTo>
                    <a:cubicBezTo>
                      <a:pt x="4034971" y="652741"/>
                      <a:pt x="4513943" y="410837"/>
                      <a:pt x="4586514" y="807560"/>
                    </a:cubicBezTo>
                    <a:cubicBezTo>
                      <a:pt x="4963885" y="681769"/>
                      <a:pt x="5181600" y="657579"/>
                      <a:pt x="5413828" y="952703"/>
                    </a:cubicBezTo>
                    <a:cubicBezTo>
                      <a:pt x="5975047" y="860778"/>
                      <a:pt x="5984724" y="1291370"/>
                      <a:pt x="6139543" y="1634874"/>
                    </a:cubicBezTo>
                    <a:lnTo>
                      <a:pt x="0" y="1649388"/>
                    </a:lnTo>
                    <a:cubicBezTo>
                      <a:pt x="0" y="1141388"/>
                      <a:pt x="29029" y="705960"/>
                      <a:pt x="29029" y="19796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crosoft YaHei" panose="020B0503020204020204" pitchFamily="34" charset="-122"/>
                  <a:ea typeface="Microsoft YaHei" panose="020B0503020204020204" pitchFamily="34" charset="-122"/>
                </a:endParaRPr>
              </a:p>
            </p:txBody>
          </p:sp>
          <p:sp>
            <p:nvSpPr>
              <p:cNvPr id="30" name="任意多边形: 形状 36"/>
              <p:cNvSpPr/>
              <p:nvPr userDrawn="1"/>
            </p:nvSpPr>
            <p:spPr>
              <a:xfrm>
                <a:off x="-14514" y="5167314"/>
                <a:ext cx="5048955" cy="1140530"/>
              </a:xfrm>
              <a:custGeom>
                <a:avLst/>
                <a:gdLst>
                  <a:gd name="connsiteX0" fmla="*/ 72572 w 6168572"/>
                  <a:gd name="connsiteY0" fmla="*/ 0 h 1582057"/>
                  <a:gd name="connsiteX1" fmla="*/ 1175657 w 6168572"/>
                  <a:gd name="connsiteY1" fmla="*/ 478972 h 1582057"/>
                  <a:gd name="connsiteX2" fmla="*/ 2322286 w 6168572"/>
                  <a:gd name="connsiteY2" fmla="*/ 696686 h 1582057"/>
                  <a:gd name="connsiteX3" fmla="*/ 3788229 w 6168572"/>
                  <a:gd name="connsiteY3" fmla="*/ 522515 h 1582057"/>
                  <a:gd name="connsiteX4" fmla="*/ 4499429 w 6168572"/>
                  <a:gd name="connsiteY4" fmla="*/ 812800 h 1582057"/>
                  <a:gd name="connsiteX5" fmla="*/ 5442857 w 6168572"/>
                  <a:gd name="connsiteY5" fmla="*/ 899886 h 1582057"/>
                  <a:gd name="connsiteX6" fmla="*/ 6168572 w 6168572"/>
                  <a:gd name="connsiteY6" fmla="*/ 1582057 h 1582057"/>
                  <a:gd name="connsiteX7" fmla="*/ 0 w 6168572"/>
                  <a:gd name="connsiteY7" fmla="*/ 1553029 h 1582057"/>
                  <a:gd name="connsiteX8" fmla="*/ 72572 w 6168572"/>
                  <a:gd name="connsiteY8" fmla="*/ 0 h 1582057"/>
                  <a:gd name="connsiteX0-1" fmla="*/ 43544 w 6168572"/>
                  <a:gd name="connsiteY0-2" fmla="*/ 0 h 1582057"/>
                  <a:gd name="connsiteX1-3" fmla="*/ 1175657 w 6168572"/>
                  <a:gd name="connsiteY1-4" fmla="*/ 478972 h 1582057"/>
                  <a:gd name="connsiteX2-5" fmla="*/ 2322286 w 6168572"/>
                  <a:gd name="connsiteY2-6" fmla="*/ 696686 h 1582057"/>
                  <a:gd name="connsiteX3-7" fmla="*/ 3788229 w 6168572"/>
                  <a:gd name="connsiteY3-8" fmla="*/ 522515 h 1582057"/>
                  <a:gd name="connsiteX4-9" fmla="*/ 4499429 w 6168572"/>
                  <a:gd name="connsiteY4-10" fmla="*/ 812800 h 1582057"/>
                  <a:gd name="connsiteX5-11" fmla="*/ 5442857 w 6168572"/>
                  <a:gd name="connsiteY5-12" fmla="*/ 899886 h 1582057"/>
                  <a:gd name="connsiteX6-13" fmla="*/ 6168572 w 6168572"/>
                  <a:gd name="connsiteY6-14" fmla="*/ 1582057 h 1582057"/>
                  <a:gd name="connsiteX7-15" fmla="*/ 0 w 6168572"/>
                  <a:gd name="connsiteY7-16" fmla="*/ 1553029 h 1582057"/>
                  <a:gd name="connsiteX8-17" fmla="*/ 43544 w 6168572"/>
                  <a:gd name="connsiteY8-18" fmla="*/ 0 h 1582057"/>
                  <a:gd name="connsiteX0-19" fmla="*/ 1 w 6125029"/>
                  <a:gd name="connsiteY0-20" fmla="*/ 0 h 1582057"/>
                  <a:gd name="connsiteX1-21" fmla="*/ 1132114 w 6125029"/>
                  <a:gd name="connsiteY1-22" fmla="*/ 478972 h 1582057"/>
                  <a:gd name="connsiteX2-23" fmla="*/ 2278743 w 6125029"/>
                  <a:gd name="connsiteY2-24" fmla="*/ 696686 h 1582057"/>
                  <a:gd name="connsiteX3-25" fmla="*/ 3744686 w 6125029"/>
                  <a:gd name="connsiteY3-26" fmla="*/ 522515 h 1582057"/>
                  <a:gd name="connsiteX4-27" fmla="*/ 4455886 w 6125029"/>
                  <a:gd name="connsiteY4-28" fmla="*/ 812800 h 1582057"/>
                  <a:gd name="connsiteX5-29" fmla="*/ 5399314 w 6125029"/>
                  <a:gd name="connsiteY5-30" fmla="*/ 899886 h 1582057"/>
                  <a:gd name="connsiteX6-31" fmla="*/ 6125029 w 6125029"/>
                  <a:gd name="connsiteY6-32" fmla="*/ 1582057 h 1582057"/>
                  <a:gd name="connsiteX7-33" fmla="*/ 0 w 6125029"/>
                  <a:gd name="connsiteY7-34" fmla="*/ 1524000 h 1582057"/>
                  <a:gd name="connsiteX8-35" fmla="*/ 1 w 6125029"/>
                  <a:gd name="connsiteY8-36" fmla="*/ 0 h 1582057"/>
                  <a:gd name="connsiteX0-37" fmla="*/ 14515 w 6139543"/>
                  <a:gd name="connsiteY0-38" fmla="*/ 0 h 1596571"/>
                  <a:gd name="connsiteX1-39" fmla="*/ 1146628 w 6139543"/>
                  <a:gd name="connsiteY1-40" fmla="*/ 478972 h 1596571"/>
                  <a:gd name="connsiteX2-41" fmla="*/ 2293257 w 6139543"/>
                  <a:gd name="connsiteY2-42" fmla="*/ 696686 h 1596571"/>
                  <a:gd name="connsiteX3-43" fmla="*/ 3759200 w 6139543"/>
                  <a:gd name="connsiteY3-44" fmla="*/ 522515 h 1596571"/>
                  <a:gd name="connsiteX4-45" fmla="*/ 4470400 w 6139543"/>
                  <a:gd name="connsiteY4-46" fmla="*/ 812800 h 1596571"/>
                  <a:gd name="connsiteX5-47" fmla="*/ 5413828 w 6139543"/>
                  <a:gd name="connsiteY5-48" fmla="*/ 899886 h 1596571"/>
                  <a:gd name="connsiteX6-49" fmla="*/ 6139543 w 6139543"/>
                  <a:gd name="connsiteY6-50" fmla="*/ 1582057 h 1596571"/>
                  <a:gd name="connsiteX7-51" fmla="*/ 0 w 6139543"/>
                  <a:gd name="connsiteY7-52" fmla="*/ 1596571 h 1596571"/>
                  <a:gd name="connsiteX8-53" fmla="*/ 14515 w 6139543"/>
                  <a:gd name="connsiteY8-54" fmla="*/ 0 h 1596571"/>
                  <a:gd name="connsiteX0-55" fmla="*/ 14515 w 6139543"/>
                  <a:gd name="connsiteY0-56" fmla="*/ 88176 h 1684747"/>
                  <a:gd name="connsiteX1-57" fmla="*/ 1146628 w 6139543"/>
                  <a:gd name="connsiteY1-58" fmla="*/ 567148 h 1684747"/>
                  <a:gd name="connsiteX2-59" fmla="*/ 2293257 w 6139543"/>
                  <a:gd name="connsiteY2-60" fmla="*/ 784862 h 1684747"/>
                  <a:gd name="connsiteX3-61" fmla="*/ 3759200 w 6139543"/>
                  <a:gd name="connsiteY3-62" fmla="*/ 610691 h 1684747"/>
                  <a:gd name="connsiteX4-63" fmla="*/ 4470400 w 6139543"/>
                  <a:gd name="connsiteY4-64" fmla="*/ 900976 h 1684747"/>
                  <a:gd name="connsiteX5-65" fmla="*/ 5413828 w 6139543"/>
                  <a:gd name="connsiteY5-66" fmla="*/ 988062 h 1684747"/>
                  <a:gd name="connsiteX6-67" fmla="*/ 6139543 w 6139543"/>
                  <a:gd name="connsiteY6-68" fmla="*/ 1670233 h 1684747"/>
                  <a:gd name="connsiteX7-69" fmla="*/ 0 w 6139543"/>
                  <a:gd name="connsiteY7-70" fmla="*/ 1684747 h 1684747"/>
                  <a:gd name="connsiteX8-71" fmla="*/ 14515 w 6139543"/>
                  <a:gd name="connsiteY8-72" fmla="*/ 88176 h 1684747"/>
                  <a:gd name="connsiteX0-73" fmla="*/ 14515 w 6139543"/>
                  <a:gd name="connsiteY0-74" fmla="*/ 112943 h 1709514"/>
                  <a:gd name="connsiteX1-75" fmla="*/ 1146628 w 6139543"/>
                  <a:gd name="connsiteY1-76" fmla="*/ 591915 h 1709514"/>
                  <a:gd name="connsiteX2-77" fmla="*/ 2293257 w 6139543"/>
                  <a:gd name="connsiteY2-78" fmla="*/ 809629 h 1709514"/>
                  <a:gd name="connsiteX3-79" fmla="*/ 3759200 w 6139543"/>
                  <a:gd name="connsiteY3-80" fmla="*/ 635458 h 1709514"/>
                  <a:gd name="connsiteX4-81" fmla="*/ 4470400 w 6139543"/>
                  <a:gd name="connsiteY4-82" fmla="*/ 925743 h 1709514"/>
                  <a:gd name="connsiteX5-83" fmla="*/ 5413828 w 6139543"/>
                  <a:gd name="connsiteY5-84" fmla="*/ 1012829 h 1709514"/>
                  <a:gd name="connsiteX6-85" fmla="*/ 6139543 w 6139543"/>
                  <a:gd name="connsiteY6-86" fmla="*/ 1695000 h 1709514"/>
                  <a:gd name="connsiteX7-87" fmla="*/ 0 w 6139543"/>
                  <a:gd name="connsiteY7-88" fmla="*/ 1709514 h 1709514"/>
                  <a:gd name="connsiteX8-89" fmla="*/ 14515 w 6139543"/>
                  <a:gd name="connsiteY8-90" fmla="*/ 112943 h 1709514"/>
                  <a:gd name="connsiteX0-91" fmla="*/ 14515 w 6139543"/>
                  <a:gd name="connsiteY0-92" fmla="*/ 112943 h 1709514"/>
                  <a:gd name="connsiteX1-93" fmla="*/ 1146628 w 6139543"/>
                  <a:gd name="connsiteY1-94" fmla="*/ 591915 h 1709514"/>
                  <a:gd name="connsiteX2-95" fmla="*/ 2293257 w 6139543"/>
                  <a:gd name="connsiteY2-96" fmla="*/ 809629 h 1709514"/>
                  <a:gd name="connsiteX3-97" fmla="*/ 3759200 w 6139543"/>
                  <a:gd name="connsiteY3-98" fmla="*/ 635458 h 1709514"/>
                  <a:gd name="connsiteX4-99" fmla="*/ 4470400 w 6139543"/>
                  <a:gd name="connsiteY4-100" fmla="*/ 925743 h 1709514"/>
                  <a:gd name="connsiteX5-101" fmla="*/ 5413828 w 6139543"/>
                  <a:gd name="connsiteY5-102" fmla="*/ 1012829 h 1709514"/>
                  <a:gd name="connsiteX6-103" fmla="*/ 6139543 w 6139543"/>
                  <a:gd name="connsiteY6-104" fmla="*/ 1695000 h 1709514"/>
                  <a:gd name="connsiteX7-105" fmla="*/ 0 w 6139543"/>
                  <a:gd name="connsiteY7-106" fmla="*/ 1709514 h 1709514"/>
                  <a:gd name="connsiteX8-107" fmla="*/ 14515 w 6139543"/>
                  <a:gd name="connsiteY8-108" fmla="*/ 112943 h 1709514"/>
                  <a:gd name="connsiteX0-109" fmla="*/ 14515 w 6139543"/>
                  <a:gd name="connsiteY0-110" fmla="*/ 112943 h 1709514"/>
                  <a:gd name="connsiteX1-111" fmla="*/ 1146628 w 6139543"/>
                  <a:gd name="connsiteY1-112" fmla="*/ 591915 h 1709514"/>
                  <a:gd name="connsiteX2-113" fmla="*/ 2293257 w 6139543"/>
                  <a:gd name="connsiteY2-114" fmla="*/ 809629 h 1709514"/>
                  <a:gd name="connsiteX3-115" fmla="*/ 3759200 w 6139543"/>
                  <a:gd name="connsiteY3-116" fmla="*/ 635458 h 1709514"/>
                  <a:gd name="connsiteX4-117" fmla="*/ 4470400 w 6139543"/>
                  <a:gd name="connsiteY4-118" fmla="*/ 925743 h 1709514"/>
                  <a:gd name="connsiteX5-119" fmla="*/ 5413828 w 6139543"/>
                  <a:gd name="connsiteY5-120" fmla="*/ 1012829 h 1709514"/>
                  <a:gd name="connsiteX6-121" fmla="*/ 6139543 w 6139543"/>
                  <a:gd name="connsiteY6-122" fmla="*/ 1695000 h 1709514"/>
                  <a:gd name="connsiteX7-123" fmla="*/ 0 w 6139543"/>
                  <a:gd name="connsiteY7-124" fmla="*/ 1709514 h 1709514"/>
                  <a:gd name="connsiteX8-125" fmla="*/ 14515 w 6139543"/>
                  <a:gd name="connsiteY8-126" fmla="*/ 112943 h 1709514"/>
                  <a:gd name="connsiteX0-127" fmla="*/ 14515 w 6139543"/>
                  <a:gd name="connsiteY0-128" fmla="*/ 112943 h 1709514"/>
                  <a:gd name="connsiteX1-129" fmla="*/ 1146628 w 6139543"/>
                  <a:gd name="connsiteY1-130" fmla="*/ 591915 h 1709514"/>
                  <a:gd name="connsiteX2-131" fmla="*/ 2293257 w 6139543"/>
                  <a:gd name="connsiteY2-132" fmla="*/ 809629 h 1709514"/>
                  <a:gd name="connsiteX3-133" fmla="*/ 3759200 w 6139543"/>
                  <a:gd name="connsiteY3-134" fmla="*/ 635458 h 1709514"/>
                  <a:gd name="connsiteX4-135" fmla="*/ 4470400 w 6139543"/>
                  <a:gd name="connsiteY4-136" fmla="*/ 925743 h 1709514"/>
                  <a:gd name="connsiteX5-137" fmla="*/ 5413828 w 6139543"/>
                  <a:gd name="connsiteY5-138" fmla="*/ 1012829 h 1709514"/>
                  <a:gd name="connsiteX6-139" fmla="*/ 6139543 w 6139543"/>
                  <a:gd name="connsiteY6-140" fmla="*/ 1695000 h 1709514"/>
                  <a:gd name="connsiteX7-141" fmla="*/ 0 w 6139543"/>
                  <a:gd name="connsiteY7-142" fmla="*/ 1709514 h 1709514"/>
                  <a:gd name="connsiteX8-143" fmla="*/ 14515 w 6139543"/>
                  <a:gd name="connsiteY8-144" fmla="*/ 112943 h 1709514"/>
                  <a:gd name="connsiteX0-145" fmla="*/ 14515 w 6139543"/>
                  <a:gd name="connsiteY0-146" fmla="*/ 112943 h 1709514"/>
                  <a:gd name="connsiteX1-147" fmla="*/ 1146628 w 6139543"/>
                  <a:gd name="connsiteY1-148" fmla="*/ 591915 h 1709514"/>
                  <a:gd name="connsiteX2-149" fmla="*/ 2293257 w 6139543"/>
                  <a:gd name="connsiteY2-150" fmla="*/ 809629 h 1709514"/>
                  <a:gd name="connsiteX3-151" fmla="*/ 3759200 w 6139543"/>
                  <a:gd name="connsiteY3-152" fmla="*/ 635458 h 1709514"/>
                  <a:gd name="connsiteX4-153" fmla="*/ 4470400 w 6139543"/>
                  <a:gd name="connsiteY4-154" fmla="*/ 925743 h 1709514"/>
                  <a:gd name="connsiteX5-155" fmla="*/ 5413828 w 6139543"/>
                  <a:gd name="connsiteY5-156" fmla="*/ 1012829 h 1709514"/>
                  <a:gd name="connsiteX6-157" fmla="*/ 6139543 w 6139543"/>
                  <a:gd name="connsiteY6-158" fmla="*/ 1695000 h 1709514"/>
                  <a:gd name="connsiteX7-159" fmla="*/ 0 w 6139543"/>
                  <a:gd name="connsiteY7-160" fmla="*/ 1709514 h 1709514"/>
                  <a:gd name="connsiteX8-161" fmla="*/ 14515 w 6139543"/>
                  <a:gd name="connsiteY8-162" fmla="*/ 112943 h 1709514"/>
                  <a:gd name="connsiteX0-163" fmla="*/ 14515 w 6139543"/>
                  <a:gd name="connsiteY0-164" fmla="*/ 112943 h 1709514"/>
                  <a:gd name="connsiteX1-165" fmla="*/ 1146628 w 6139543"/>
                  <a:gd name="connsiteY1-166" fmla="*/ 591915 h 1709514"/>
                  <a:gd name="connsiteX2-167" fmla="*/ 2293257 w 6139543"/>
                  <a:gd name="connsiteY2-168" fmla="*/ 809629 h 1709514"/>
                  <a:gd name="connsiteX3-169" fmla="*/ 3759200 w 6139543"/>
                  <a:gd name="connsiteY3-170" fmla="*/ 635458 h 1709514"/>
                  <a:gd name="connsiteX4-171" fmla="*/ 4470400 w 6139543"/>
                  <a:gd name="connsiteY4-172" fmla="*/ 925743 h 1709514"/>
                  <a:gd name="connsiteX5-173" fmla="*/ 5413828 w 6139543"/>
                  <a:gd name="connsiteY5-174" fmla="*/ 1012829 h 1709514"/>
                  <a:gd name="connsiteX6-175" fmla="*/ 6139543 w 6139543"/>
                  <a:gd name="connsiteY6-176" fmla="*/ 1695000 h 1709514"/>
                  <a:gd name="connsiteX7-177" fmla="*/ 0 w 6139543"/>
                  <a:gd name="connsiteY7-178" fmla="*/ 1709514 h 1709514"/>
                  <a:gd name="connsiteX8-179" fmla="*/ 14515 w 6139543"/>
                  <a:gd name="connsiteY8-180" fmla="*/ 112943 h 1709514"/>
                  <a:gd name="connsiteX0-181" fmla="*/ 14515 w 6139543"/>
                  <a:gd name="connsiteY0-182" fmla="*/ 112943 h 1709514"/>
                  <a:gd name="connsiteX1-183" fmla="*/ 1146628 w 6139543"/>
                  <a:gd name="connsiteY1-184" fmla="*/ 591915 h 1709514"/>
                  <a:gd name="connsiteX2-185" fmla="*/ 2293257 w 6139543"/>
                  <a:gd name="connsiteY2-186" fmla="*/ 809629 h 1709514"/>
                  <a:gd name="connsiteX3-187" fmla="*/ 3759200 w 6139543"/>
                  <a:gd name="connsiteY3-188" fmla="*/ 635458 h 1709514"/>
                  <a:gd name="connsiteX4-189" fmla="*/ 4470400 w 6139543"/>
                  <a:gd name="connsiteY4-190" fmla="*/ 925743 h 1709514"/>
                  <a:gd name="connsiteX5-191" fmla="*/ 5413828 w 6139543"/>
                  <a:gd name="connsiteY5-192" fmla="*/ 1012829 h 1709514"/>
                  <a:gd name="connsiteX6-193" fmla="*/ 6139543 w 6139543"/>
                  <a:gd name="connsiteY6-194" fmla="*/ 1695000 h 1709514"/>
                  <a:gd name="connsiteX7-195" fmla="*/ 0 w 6139543"/>
                  <a:gd name="connsiteY7-196" fmla="*/ 1709514 h 1709514"/>
                  <a:gd name="connsiteX8-197" fmla="*/ 14515 w 6139543"/>
                  <a:gd name="connsiteY8-198" fmla="*/ 112943 h 1709514"/>
                  <a:gd name="connsiteX0-199" fmla="*/ 14515 w 6139543"/>
                  <a:gd name="connsiteY0-200" fmla="*/ 112943 h 1709514"/>
                  <a:gd name="connsiteX1-201" fmla="*/ 1146628 w 6139543"/>
                  <a:gd name="connsiteY1-202" fmla="*/ 591915 h 1709514"/>
                  <a:gd name="connsiteX2-203" fmla="*/ 2293257 w 6139543"/>
                  <a:gd name="connsiteY2-204" fmla="*/ 809629 h 1709514"/>
                  <a:gd name="connsiteX3-205" fmla="*/ 3759200 w 6139543"/>
                  <a:gd name="connsiteY3-206" fmla="*/ 635458 h 1709514"/>
                  <a:gd name="connsiteX4-207" fmla="*/ 4557486 w 6139543"/>
                  <a:gd name="connsiteY4-208" fmla="*/ 649971 h 1709514"/>
                  <a:gd name="connsiteX5-209" fmla="*/ 5413828 w 6139543"/>
                  <a:gd name="connsiteY5-210" fmla="*/ 1012829 h 1709514"/>
                  <a:gd name="connsiteX6-211" fmla="*/ 6139543 w 6139543"/>
                  <a:gd name="connsiteY6-212" fmla="*/ 1695000 h 1709514"/>
                  <a:gd name="connsiteX7-213" fmla="*/ 0 w 6139543"/>
                  <a:gd name="connsiteY7-214" fmla="*/ 1709514 h 1709514"/>
                  <a:gd name="connsiteX8-215" fmla="*/ 14515 w 6139543"/>
                  <a:gd name="connsiteY8-216" fmla="*/ 112943 h 1709514"/>
                  <a:gd name="connsiteX0-217" fmla="*/ 14515 w 6139543"/>
                  <a:gd name="connsiteY0-218" fmla="*/ 112943 h 1709514"/>
                  <a:gd name="connsiteX1-219" fmla="*/ 1146628 w 6139543"/>
                  <a:gd name="connsiteY1-220" fmla="*/ 591915 h 1709514"/>
                  <a:gd name="connsiteX2-221" fmla="*/ 2293257 w 6139543"/>
                  <a:gd name="connsiteY2-222" fmla="*/ 809629 h 1709514"/>
                  <a:gd name="connsiteX3-223" fmla="*/ 3759200 w 6139543"/>
                  <a:gd name="connsiteY3-224" fmla="*/ 635458 h 1709514"/>
                  <a:gd name="connsiteX4-225" fmla="*/ 4615543 w 6139543"/>
                  <a:gd name="connsiteY4-226" fmla="*/ 446771 h 1709514"/>
                  <a:gd name="connsiteX5-227" fmla="*/ 5413828 w 6139543"/>
                  <a:gd name="connsiteY5-228" fmla="*/ 1012829 h 1709514"/>
                  <a:gd name="connsiteX6-229" fmla="*/ 6139543 w 6139543"/>
                  <a:gd name="connsiteY6-230" fmla="*/ 1695000 h 1709514"/>
                  <a:gd name="connsiteX7-231" fmla="*/ 0 w 6139543"/>
                  <a:gd name="connsiteY7-232" fmla="*/ 1709514 h 1709514"/>
                  <a:gd name="connsiteX8-233" fmla="*/ 14515 w 6139543"/>
                  <a:gd name="connsiteY8-234" fmla="*/ 112943 h 1709514"/>
                  <a:gd name="connsiteX0-235" fmla="*/ 14515 w 6139543"/>
                  <a:gd name="connsiteY0-236" fmla="*/ 112943 h 1709514"/>
                  <a:gd name="connsiteX1-237" fmla="*/ 1146628 w 6139543"/>
                  <a:gd name="connsiteY1-238" fmla="*/ 591915 h 1709514"/>
                  <a:gd name="connsiteX2-239" fmla="*/ 2293257 w 6139543"/>
                  <a:gd name="connsiteY2-240" fmla="*/ 809629 h 1709514"/>
                  <a:gd name="connsiteX3-241" fmla="*/ 3759200 w 6139543"/>
                  <a:gd name="connsiteY3-242" fmla="*/ 635458 h 1709514"/>
                  <a:gd name="connsiteX4-243" fmla="*/ 4775200 w 6139543"/>
                  <a:gd name="connsiteY4-244" fmla="*/ 766086 h 1709514"/>
                  <a:gd name="connsiteX5-245" fmla="*/ 5413828 w 6139543"/>
                  <a:gd name="connsiteY5-246" fmla="*/ 1012829 h 1709514"/>
                  <a:gd name="connsiteX6-247" fmla="*/ 6139543 w 6139543"/>
                  <a:gd name="connsiteY6-248" fmla="*/ 1695000 h 1709514"/>
                  <a:gd name="connsiteX7-249" fmla="*/ 0 w 6139543"/>
                  <a:gd name="connsiteY7-250" fmla="*/ 1709514 h 1709514"/>
                  <a:gd name="connsiteX8-251" fmla="*/ 14515 w 6139543"/>
                  <a:gd name="connsiteY8-252" fmla="*/ 112943 h 1709514"/>
                  <a:gd name="connsiteX0-253" fmla="*/ 14515 w 6139543"/>
                  <a:gd name="connsiteY0-254" fmla="*/ 112943 h 1709514"/>
                  <a:gd name="connsiteX1-255" fmla="*/ 1146628 w 6139543"/>
                  <a:gd name="connsiteY1-256" fmla="*/ 591915 h 1709514"/>
                  <a:gd name="connsiteX2-257" fmla="*/ 2293257 w 6139543"/>
                  <a:gd name="connsiteY2-258" fmla="*/ 809629 h 1709514"/>
                  <a:gd name="connsiteX3-259" fmla="*/ 3759200 w 6139543"/>
                  <a:gd name="connsiteY3-260" fmla="*/ 635458 h 1709514"/>
                  <a:gd name="connsiteX4-261" fmla="*/ 4586514 w 6139543"/>
                  <a:gd name="connsiteY4-262" fmla="*/ 867686 h 1709514"/>
                  <a:gd name="connsiteX5-263" fmla="*/ 5413828 w 6139543"/>
                  <a:gd name="connsiteY5-264" fmla="*/ 1012829 h 1709514"/>
                  <a:gd name="connsiteX6-265" fmla="*/ 6139543 w 6139543"/>
                  <a:gd name="connsiteY6-266" fmla="*/ 1695000 h 1709514"/>
                  <a:gd name="connsiteX7-267" fmla="*/ 0 w 6139543"/>
                  <a:gd name="connsiteY7-268" fmla="*/ 1709514 h 1709514"/>
                  <a:gd name="connsiteX8-269" fmla="*/ 14515 w 6139543"/>
                  <a:gd name="connsiteY8-270" fmla="*/ 112943 h 1709514"/>
                  <a:gd name="connsiteX0-271" fmla="*/ 14515 w 6139543"/>
                  <a:gd name="connsiteY0-272" fmla="*/ 112943 h 1709514"/>
                  <a:gd name="connsiteX1-273" fmla="*/ 1146628 w 6139543"/>
                  <a:gd name="connsiteY1-274" fmla="*/ 591915 h 1709514"/>
                  <a:gd name="connsiteX2-275" fmla="*/ 2293257 w 6139543"/>
                  <a:gd name="connsiteY2-276" fmla="*/ 809629 h 1709514"/>
                  <a:gd name="connsiteX3-277" fmla="*/ 3759200 w 6139543"/>
                  <a:gd name="connsiteY3-278" fmla="*/ 635458 h 1709514"/>
                  <a:gd name="connsiteX4-279" fmla="*/ 4586514 w 6139543"/>
                  <a:gd name="connsiteY4-280" fmla="*/ 867686 h 1709514"/>
                  <a:gd name="connsiteX5-281" fmla="*/ 5413828 w 6139543"/>
                  <a:gd name="connsiteY5-282" fmla="*/ 1012829 h 1709514"/>
                  <a:gd name="connsiteX6-283" fmla="*/ 6139543 w 6139543"/>
                  <a:gd name="connsiteY6-284" fmla="*/ 1695000 h 1709514"/>
                  <a:gd name="connsiteX7-285" fmla="*/ 0 w 6139543"/>
                  <a:gd name="connsiteY7-286" fmla="*/ 1709514 h 1709514"/>
                  <a:gd name="connsiteX8-287" fmla="*/ 14515 w 6139543"/>
                  <a:gd name="connsiteY8-288" fmla="*/ 112943 h 1709514"/>
                  <a:gd name="connsiteX0-289" fmla="*/ 14515 w 6139543"/>
                  <a:gd name="connsiteY0-290" fmla="*/ 112943 h 1709514"/>
                  <a:gd name="connsiteX1-291" fmla="*/ 1146628 w 6139543"/>
                  <a:gd name="connsiteY1-292" fmla="*/ 591915 h 1709514"/>
                  <a:gd name="connsiteX2-293" fmla="*/ 2293257 w 6139543"/>
                  <a:gd name="connsiteY2-294" fmla="*/ 809629 h 1709514"/>
                  <a:gd name="connsiteX3-295" fmla="*/ 3759200 w 6139543"/>
                  <a:gd name="connsiteY3-296" fmla="*/ 635458 h 1709514"/>
                  <a:gd name="connsiteX4-297" fmla="*/ 4586514 w 6139543"/>
                  <a:gd name="connsiteY4-298" fmla="*/ 867686 h 1709514"/>
                  <a:gd name="connsiteX5-299" fmla="*/ 5413828 w 6139543"/>
                  <a:gd name="connsiteY5-300" fmla="*/ 1012829 h 1709514"/>
                  <a:gd name="connsiteX6-301" fmla="*/ 6139543 w 6139543"/>
                  <a:gd name="connsiteY6-302" fmla="*/ 1695000 h 1709514"/>
                  <a:gd name="connsiteX7-303" fmla="*/ 0 w 6139543"/>
                  <a:gd name="connsiteY7-304" fmla="*/ 1709514 h 1709514"/>
                  <a:gd name="connsiteX8-305" fmla="*/ 14515 w 6139543"/>
                  <a:gd name="connsiteY8-306" fmla="*/ 112943 h 1709514"/>
                  <a:gd name="connsiteX0-307" fmla="*/ 14515 w 6139543"/>
                  <a:gd name="connsiteY0-308" fmla="*/ 112943 h 1709514"/>
                  <a:gd name="connsiteX1-309" fmla="*/ 1146628 w 6139543"/>
                  <a:gd name="connsiteY1-310" fmla="*/ 591915 h 1709514"/>
                  <a:gd name="connsiteX2-311" fmla="*/ 2293257 w 6139543"/>
                  <a:gd name="connsiteY2-312" fmla="*/ 809629 h 1709514"/>
                  <a:gd name="connsiteX3-313" fmla="*/ 3759200 w 6139543"/>
                  <a:gd name="connsiteY3-314" fmla="*/ 635458 h 1709514"/>
                  <a:gd name="connsiteX4-315" fmla="*/ 4586514 w 6139543"/>
                  <a:gd name="connsiteY4-316" fmla="*/ 867686 h 1709514"/>
                  <a:gd name="connsiteX5-317" fmla="*/ 5413828 w 6139543"/>
                  <a:gd name="connsiteY5-318" fmla="*/ 1012829 h 1709514"/>
                  <a:gd name="connsiteX6-319" fmla="*/ 6139543 w 6139543"/>
                  <a:gd name="connsiteY6-320" fmla="*/ 1695000 h 1709514"/>
                  <a:gd name="connsiteX7-321" fmla="*/ 0 w 6139543"/>
                  <a:gd name="connsiteY7-322" fmla="*/ 1709514 h 1709514"/>
                  <a:gd name="connsiteX8-323" fmla="*/ 14515 w 6139543"/>
                  <a:gd name="connsiteY8-324" fmla="*/ 112943 h 1709514"/>
                  <a:gd name="connsiteX0-325" fmla="*/ 14515 w 6139543"/>
                  <a:gd name="connsiteY0-326" fmla="*/ 112943 h 1709514"/>
                  <a:gd name="connsiteX1-327" fmla="*/ 1146628 w 6139543"/>
                  <a:gd name="connsiteY1-328" fmla="*/ 591915 h 1709514"/>
                  <a:gd name="connsiteX2-329" fmla="*/ 2293257 w 6139543"/>
                  <a:gd name="connsiteY2-330" fmla="*/ 809629 h 1709514"/>
                  <a:gd name="connsiteX3-331" fmla="*/ 3759200 w 6139543"/>
                  <a:gd name="connsiteY3-332" fmla="*/ 635458 h 1709514"/>
                  <a:gd name="connsiteX4-333" fmla="*/ 4586514 w 6139543"/>
                  <a:gd name="connsiteY4-334" fmla="*/ 867686 h 1709514"/>
                  <a:gd name="connsiteX5-335" fmla="*/ 5413828 w 6139543"/>
                  <a:gd name="connsiteY5-336" fmla="*/ 1012829 h 1709514"/>
                  <a:gd name="connsiteX6-337" fmla="*/ 6139543 w 6139543"/>
                  <a:gd name="connsiteY6-338" fmla="*/ 1695000 h 1709514"/>
                  <a:gd name="connsiteX7-339" fmla="*/ 0 w 6139543"/>
                  <a:gd name="connsiteY7-340" fmla="*/ 1709514 h 1709514"/>
                  <a:gd name="connsiteX8-341" fmla="*/ 14515 w 6139543"/>
                  <a:gd name="connsiteY8-342" fmla="*/ 112943 h 1709514"/>
                  <a:gd name="connsiteX0-343" fmla="*/ 14515 w 6139543"/>
                  <a:gd name="connsiteY0-344" fmla="*/ 112943 h 1709514"/>
                  <a:gd name="connsiteX1-345" fmla="*/ 1146628 w 6139543"/>
                  <a:gd name="connsiteY1-346" fmla="*/ 591915 h 1709514"/>
                  <a:gd name="connsiteX2-347" fmla="*/ 2293257 w 6139543"/>
                  <a:gd name="connsiteY2-348" fmla="*/ 809629 h 1709514"/>
                  <a:gd name="connsiteX3-349" fmla="*/ 3759200 w 6139543"/>
                  <a:gd name="connsiteY3-350" fmla="*/ 635458 h 1709514"/>
                  <a:gd name="connsiteX4-351" fmla="*/ 4586514 w 6139543"/>
                  <a:gd name="connsiteY4-352" fmla="*/ 867686 h 1709514"/>
                  <a:gd name="connsiteX5-353" fmla="*/ 5413828 w 6139543"/>
                  <a:gd name="connsiteY5-354" fmla="*/ 1012829 h 1709514"/>
                  <a:gd name="connsiteX6-355" fmla="*/ 6139543 w 6139543"/>
                  <a:gd name="connsiteY6-356" fmla="*/ 1695000 h 1709514"/>
                  <a:gd name="connsiteX7-357" fmla="*/ 0 w 6139543"/>
                  <a:gd name="connsiteY7-358" fmla="*/ 1709514 h 1709514"/>
                  <a:gd name="connsiteX8-359" fmla="*/ 14515 w 6139543"/>
                  <a:gd name="connsiteY8-360" fmla="*/ 112943 h 1709514"/>
                  <a:gd name="connsiteX0-361" fmla="*/ 14515 w 6139543"/>
                  <a:gd name="connsiteY0-362" fmla="*/ 112943 h 1709514"/>
                  <a:gd name="connsiteX1-363" fmla="*/ 1146628 w 6139543"/>
                  <a:gd name="connsiteY1-364" fmla="*/ 591915 h 1709514"/>
                  <a:gd name="connsiteX2-365" fmla="*/ 2293257 w 6139543"/>
                  <a:gd name="connsiteY2-366" fmla="*/ 809629 h 1709514"/>
                  <a:gd name="connsiteX3-367" fmla="*/ 3759200 w 6139543"/>
                  <a:gd name="connsiteY3-368" fmla="*/ 635458 h 1709514"/>
                  <a:gd name="connsiteX4-369" fmla="*/ 4586514 w 6139543"/>
                  <a:gd name="connsiteY4-370" fmla="*/ 867686 h 1709514"/>
                  <a:gd name="connsiteX5-371" fmla="*/ 5413828 w 6139543"/>
                  <a:gd name="connsiteY5-372" fmla="*/ 1012829 h 1709514"/>
                  <a:gd name="connsiteX6-373" fmla="*/ 6139543 w 6139543"/>
                  <a:gd name="connsiteY6-374" fmla="*/ 1695000 h 1709514"/>
                  <a:gd name="connsiteX7-375" fmla="*/ 0 w 6139543"/>
                  <a:gd name="connsiteY7-376" fmla="*/ 1709514 h 1709514"/>
                  <a:gd name="connsiteX8-377" fmla="*/ 14515 w 6139543"/>
                  <a:gd name="connsiteY8-378" fmla="*/ 112943 h 1709514"/>
                  <a:gd name="connsiteX0-379" fmla="*/ 14515 w 6139543"/>
                  <a:gd name="connsiteY0-380" fmla="*/ 112943 h 1709514"/>
                  <a:gd name="connsiteX1-381" fmla="*/ 1146628 w 6139543"/>
                  <a:gd name="connsiteY1-382" fmla="*/ 591915 h 1709514"/>
                  <a:gd name="connsiteX2-383" fmla="*/ 2293257 w 6139543"/>
                  <a:gd name="connsiteY2-384" fmla="*/ 809629 h 1709514"/>
                  <a:gd name="connsiteX3-385" fmla="*/ 3759200 w 6139543"/>
                  <a:gd name="connsiteY3-386" fmla="*/ 635458 h 1709514"/>
                  <a:gd name="connsiteX4-387" fmla="*/ 4586514 w 6139543"/>
                  <a:gd name="connsiteY4-388" fmla="*/ 867686 h 1709514"/>
                  <a:gd name="connsiteX5-389" fmla="*/ 5413828 w 6139543"/>
                  <a:gd name="connsiteY5-390" fmla="*/ 1012829 h 1709514"/>
                  <a:gd name="connsiteX6-391" fmla="*/ 6139543 w 6139543"/>
                  <a:gd name="connsiteY6-392" fmla="*/ 1695000 h 1709514"/>
                  <a:gd name="connsiteX7-393" fmla="*/ 0 w 6139543"/>
                  <a:gd name="connsiteY7-394" fmla="*/ 1709514 h 1709514"/>
                  <a:gd name="connsiteX8-395" fmla="*/ 14515 w 6139543"/>
                  <a:gd name="connsiteY8-396" fmla="*/ 112943 h 1709514"/>
                  <a:gd name="connsiteX0-397" fmla="*/ 14515 w 6139543"/>
                  <a:gd name="connsiteY0-398" fmla="*/ 112943 h 1709514"/>
                  <a:gd name="connsiteX1-399" fmla="*/ 1146628 w 6139543"/>
                  <a:gd name="connsiteY1-400" fmla="*/ 591915 h 1709514"/>
                  <a:gd name="connsiteX2-401" fmla="*/ 2293257 w 6139543"/>
                  <a:gd name="connsiteY2-402" fmla="*/ 809629 h 1709514"/>
                  <a:gd name="connsiteX3-403" fmla="*/ 3759200 w 6139543"/>
                  <a:gd name="connsiteY3-404" fmla="*/ 635458 h 1709514"/>
                  <a:gd name="connsiteX4-405" fmla="*/ 4586514 w 6139543"/>
                  <a:gd name="connsiteY4-406" fmla="*/ 867686 h 1709514"/>
                  <a:gd name="connsiteX5-407" fmla="*/ 5413828 w 6139543"/>
                  <a:gd name="connsiteY5-408" fmla="*/ 1012829 h 1709514"/>
                  <a:gd name="connsiteX6-409" fmla="*/ 6139543 w 6139543"/>
                  <a:gd name="connsiteY6-410" fmla="*/ 1695000 h 1709514"/>
                  <a:gd name="connsiteX7-411" fmla="*/ 0 w 6139543"/>
                  <a:gd name="connsiteY7-412" fmla="*/ 1709514 h 1709514"/>
                  <a:gd name="connsiteX8-413" fmla="*/ 14515 w 6139543"/>
                  <a:gd name="connsiteY8-414" fmla="*/ 112943 h 1709514"/>
                  <a:gd name="connsiteX0-415" fmla="*/ 29029 w 6139543"/>
                  <a:gd name="connsiteY0-416" fmla="*/ 140109 h 1591537"/>
                  <a:gd name="connsiteX1-417" fmla="*/ 1146628 w 6139543"/>
                  <a:gd name="connsiteY1-418" fmla="*/ 473938 h 1591537"/>
                  <a:gd name="connsiteX2-419" fmla="*/ 2293257 w 6139543"/>
                  <a:gd name="connsiteY2-420" fmla="*/ 691652 h 1591537"/>
                  <a:gd name="connsiteX3-421" fmla="*/ 3759200 w 6139543"/>
                  <a:gd name="connsiteY3-422" fmla="*/ 517481 h 1591537"/>
                  <a:gd name="connsiteX4-423" fmla="*/ 4586514 w 6139543"/>
                  <a:gd name="connsiteY4-424" fmla="*/ 749709 h 1591537"/>
                  <a:gd name="connsiteX5-425" fmla="*/ 5413828 w 6139543"/>
                  <a:gd name="connsiteY5-426" fmla="*/ 894852 h 1591537"/>
                  <a:gd name="connsiteX6-427" fmla="*/ 6139543 w 6139543"/>
                  <a:gd name="connsiteY6-428" fmla="*/ 1577023 h 1591537"/>
                  <a:gd name="connsiteX7-429" fmla="*/ 0 w 6139543"/>
                  <a:gd name="connsiteY7-430" fmla="*/ 1591537 h 1591537"/>
                  <a:gd name="connsiteX8-431" fmla="*/ 29029 w 6139543"/>
                  <a:gd name="connsiteY8-432" fmla="*/ 140109 h 1591537"/>
                  <a:gd name="connsiteX0-433" fmla="*/ 29029 w 6139543"/>
                  <a:gd name="connsiteY0-434" fmla="*/ 197960 h 1649388"/>
                  <a:gd name="connsiteX1-435" fmla="*/ 1146628 w 6139543"/>
                  <a:gd name="connsiteY1-436" fmla="*/ 531789 h 1649388"/>
                  <a:gd name="connsiteX2-437" fmla="*/ 2293257 w 6139543"/>
                  <a:gd name="connsiteY2-438" fmla="*/ 749503 h 1649388"/>
                  <a:gd name="connsiteX3-439" fmla="*/ 3759200 w 6139543"/>
                  <a:gd name="connsiteY3-440" fmla="*/ 575332 h 1649388"/>
                  <a:gd name="connsiteX4-441" fmla="*/ 4586514 w 6139543"/>
                  <a:gd name="connsiteY4-442" fmla="*/ 807560 h 1649388"/>
                  <a:gd name="connsiteX5-443" fmla="*/ 5413828 w 6139543"/>
                  <a:gd name="connsiteY5-444" fmla="*/ 952703 h 1649388"/>
                  <a:gd name="connsiteX6-445" fmla="*/ 6139543 w 6139543"/>
                  <a:gd name="connsiteY6-446" fmla="*/ 1634874 h 1649388"/>
                  <a:gd name="connsiteX7-447" fmla="*/ 0 w 6139543"/>
                  <a:gd name="connsiteY7-448" fmla="*/ 1649388 h 1649388"/>
                  <a:gd name="connsiteX8-449" fmla="*/ 29029 w 6139543"/>
                  <a:gd name="connsiteY8-450" fmla="*/ 197960 h 1649388"/>
                  <a:gd name="connsiteX0-451" fmla="*/ 29029 w 6139543"/>
                  <a:gd name="connsiteY0-452" fmla="*/ 197960 h 1649388"/>
                  <a:gd name="connsiteX1-453" fmla="*/ 1146628 w 6139543"/>
                  <a:gd name="connsiteY1-454" fmla="*/ 531789 h 1649388"/>
                  <a:gd name="connsiteX2-455" fmla="*/ 2293257 w 6139543"/>
                  <a:gd name="connsiteY2-456" fmla="*/ 749503 h 1649388"/>
                  <a:gd name="connsiteX3-457" fmla="*/ 3759200 w 6139543"/>
                  <a:gd name="connsiteY3-458" fmla="*/ 575332 h 1649388"/>
                  <a:gd name="connsiteX4-459" fmla="*/ 4586514 w 6139543"/>
                  <a:gd name="connsiteY4-460" fmla="*/ 807560 h 1649388"/>
                  <a:gd name="connsiteX5-461" fmla="*/ 5413828 w 6139543"/>
                  <a:gd name="connsiteY5-462" fmla="*/ 952703 h 1649388"/>
                  <a:gd name="connsiteX6-463" fmla="*/ 6139543 w 6139543"/>
                  <a:gd name="connsiteY6-464" fmla="*/ 1634874 h 1649388"/>
                  <a:gd name="connsiteX7-465" fmla="*/ 0 w 6139543"/>
                  <a:gd name="connsiteY7-466" fmla="*/ 1649388 h 1649388"/>
                  <a:gd name="connsiteX8-467" fmla="*/ 29029 w 6139543"/>
                  <a:gd name="connsiteY8-468" fmla="*/ 197960 h 16493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6139543" h="1649388">
                    <a:moveTo>
                      <a:pt x="29029" y="197960"/>
                    </a:moveTo>
                    <a:cubicBezTo>
                      <a:pt x="319315" y="-251983"/>
                      <a:pt x="1016000" y="154418"/>
                      <a:pt x="1146628" y="531789"/>
                    </a:cubicBezTo>
                    <a:cubicBezTo>
                      <a:pt x="1514324" y="168932"/>
                      <a:pt x="2230361" y="459217"/>
                      <a:pt x="2293257" y="749503"/>
                    </a:cubicBezTo>
                    <a:cubicBezTo>
                      <a:pt x="2651276" y="459218"/>
                      <a:pt x="3270552" y="299560"/>
                      <a:pt x="3759200" y="575332"/>
                    </a:cubicBezTo>
                    <a:cubicBezTo>
                      <a:pt x="4034971" y="652741"/>
                      <a:pt x="4513943" y="410837"/>
                      <a:pt x="4586514" y="807560"/>
                    </a:cubicBezTo>
                    <a:cubicBezTo>
                      <a:pt x="4963885" y="681769"/>
                      <a:pt x="5181600" y="657579"/>
                      <a:pt x="5413828" y="952703"/>
                    </a:cubicBezTo>
                    <a:cubicBezTo>
                      <a:pt x="5975047" y="860778"/>
                      <a:pt x="5984724" y="1291370"/>
                      <a:pt x="6139543" y="1634874"/>
                    </a:cubicBezTo>
                    <a:lnTo>
                      <a:pt x="0" y="1649388"/>
                    </a:lnTo>
                    <a:cubicBezTo>
                      <a:pt x="0" y="1141388"/>
                      <a:pt x="29029" y="705960"/>
                      <a:pt x="29029" y="19796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icrosoft YaHei" panose="020B0503020204020204" pitchFamily="34" charset="-122"/>
                  <a:ea typeface="Microsoft YaHei" panose="020B0503020204020204" pitchFamily="34" charset="-122"/>
                </a:endParaRPr>
              </a:p>
            </p:txBody>
          </p:sp>
        </p:grpSp>
      </p:grpSp>
      <p:sp>
        <p:nvSpPr>
          <p:cNvPr id="32" name="矩形 31"/>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latin typeface="Microsoft YaHei" panose="020B0503020204020204" pitchFamily="34" charset="-122"/>
              <a:ea typeface="Microsoft YaHei" panose="020B0503020204020204" pitchFamily="34" charset="-122"/>
            </a:endParaRPr>
          </a:p>
        </p:txBody>
      </p:sp>
      <p:sp>
        <p:nvSpPr>
          <p:cNvPr id="33" name="矩形 17"/>
          <p:cNvSpPr>
            <a:spLocks noChangeArrowheads="1"/>
          </p:cNvSpPr>
          <p:nvPr/>
        </p:nvSpPr>
        <p:spPr bwMode="auto">
          <a:xfrm>
            <a:off x="238125" y="342900"/>
            <a:ext cx="22735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Microsoft YaHei" panose="020B0503020204020204" pitchFamily="34" charset="-122"/>
                <a:ea typeface="Microsoft YaHei" panose="020B0503020204020204" pitchFamily="34" charset="-122"/>
              </a:rPr>
              <a:t>5.2</a:t>
            </a:r>
            <a:r>
              <a:rPr lang="zh-CN" altLang="en-US" sz="2600" b="1" dirty="0">
                <a:solidFill>
                  <a:srgbClr val="586371"/>
                </a:solidFill>
                <a:latin typeface="Microsoft YaHei" panose="020B0503020204020204" pitchFamily="34" charset="-122"/>
                <a:ea typeface="Microsoft YaHei" panose="020B0503020204020204" pitchFamily="34" charset="-122"/>
              </a:rPr>
              <a:t>团队保障</a:t>
            </a:r>
          </a:p>
        </p:txBody>
      </p:sp>
      <p:grpSp>
        <p:nvGrpSpPr>
          <p:cNvPr id="41" name="îsḻîďè"/>
          <p:cNvGrpSpPr/>
          <p:nvPr/>
        </p:nvGrpSpPr>
        <p:grpSpPr>
          <a:xfrm>
            <a:off x="318674" y="3897647"/>
            <a:ext cx="2550454" cy="1285873"/>
            <a:chOff x="673100" y="4252778"/>
            <a:chExt cx="2387009" cy="1285873"/>
          </a:xfrm>
        </p:grpSpPr>
        <p:sp>
          <p:nvSpPr>
            <p:cNvPr id="42" name="íṩ1îďe"/>
            <p:cNvSpPr/>
            <p:nvPr/>
          </p:nvSpPr>
          <p:spPr bwMode="auto">
            <a:xfrm>
              <a:off x="673100" y="4707959"/>
              <a:ext cx="2387009" cy="83069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建设了一支既有产业技术又有教学经验并有志于投入教学事业的研发团队。研发团队既能将产业端真实项目、技术和标准融入专业课程建设， 又能研发出从教学的角度满足高校需求的课程资源，为培养对接产业、对标岗位的高素质人才保驾护航</a:t>
              </a:r>
            </a:p>
          </p:txBody>
        </p:sp>
        <p:sp>
          <p:nvSpPr>
            <p:cNvPr id="43" name="ïSļîdé"/>
            <p:cNvSpPr txBox="1"/>
            <p:nvPr/>
          </p:nvSpPr>
          <p:spPr bwMode="auto">
            <a:xfrm>
              <a:off x="673100" y="4252778"/>
              <a:ext cx="2387009"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b="1" dirty="0">
                  <a:solidFill>
                    <a:srgbClr val="00A6B2"/>
                  </a:solidFill>
                  <a:latin typeface="Microsoft YaHei" panose="020B0503020204020204" pitchFamily="34" charset="-122"/>
                  <a:ea typeface="Microsoft YaHei" panose="020B0503020204020204" pitchFamily="34" charset="-122"/>
                </a:rPr>
                <a:t>研发团队</a:t>
              </a:r>
            </a:p>
          </p:txBody>
        </p:sp>
      </p:grpSp>
      <p:sp>
        <p:nvSpPr>
          <p:cNvPr id="44" name="íṩ1îďe"/>
          <p:cNvSpPr/>
          <p:nvPr/>
        </p:nvSpPr>
        <p:spPr bwMode="auto">
          <a:xfrm>
            <a:off x="911615" y="2222824"/>
            <a:ext cx="3065701" cy="83069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建设了一支具有经营意识、项目管理能力的招生、教学、就业、运营管理经验的学院交付团队。团队各组成岗位都有明确的岗位职责和 KPI 考核指标，团队成员通过合 理分工和密切协作，共同实施高绩效的交付工作。</a:t>
            </a:r>
          </a:p>
        </p:txBody>
      </p:sp>
      <p:sp>
        <p:nvSpPr>
          <p:cNvPr id="45" name="ïSļîdé"/>
          <p:cNvSpPr txBox="1"/>
          <p:nvPr/>
        </p:nvSpPr>
        <p:spPr bwMode="auto">
          <a:xfrm>
            <a:off x="1169238" y="1773640"/>
            <a:ext cx="2550454"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b="1" dirty="0">
                <a:solidFill>
                  <a:srgbClr val="00A6B2"/>
                </a:solidFill>
                <a:latin typeface="Microsoft YaHei" panose="020B0503020204020204" pitchFamily="34" charset="-122"/>
                <a:ea typeface="Microsoft YaHei" panose="020B0503020204020204" pitchFamily="34" charset="-122"/>
              </a:rPr>
              <a:t>交付团队</a:t>
            </a:r>
          </a:p>
        </p:txBody>
      </p:sp>
      <p:grpSp>
        <p:nvGrpSpPr>
          <p:cNvPr id="46" name="îsḻîďè"/>
          <p:cNvGrpSpPr/>
          <p:nvPr/>
        </p:nvGrpSpPr>
        <p:grpSpPr>
          <a:xfrm>
            <a:off x="5055300" y="589121"/>
            <a:ext cx="2806410" cy="1285873"/>
            <a:chOff x="673100" y="4252778"/>
            <a:chExt cx="2626562" cy="1285873"/>
          </a:xfrm>
        </p:grpSpPr>
        <p:sp>
          <p:nvSpPr>
            <p:cNvPr id="47" name="íṩ1îďe"/>
            <p:cNvSpPr/>
            <p:nvPr/>
          </p:nvSpPr>
          <p:spPr bwMode="auto">
            <a:xfrm>
              <a:off x="673100" y="4707959"/>
              <a:ext cx="2626562" cy="83069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具有丰富的民办</a:t>
              </a:r>
              <a:r>
                <a:rPr lang="en-US" altLang="zh-CN"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a:t>
              </a: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公办产业学院项目合作谈判经验，深刻理解</a:t>
              </a: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sym typeface="+mn-ea"/>
                </a:rPr>
                <a:t>产教融合人才培养模式，</a:t>
              </a: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以及政府共建基地经验的营销团队</a:t>
              </a:r>
              <a:r>
                <a:rPr lang="zh-CN" altLang="en-US" sz="12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a:t>
              </a:r>
            </a:p>
          </p:txBody>
        </p:sp>
        <p:sp>
          <p:nvSpPr>
            <p:cNvPr id="48" name="ïSļîdé"/>
            <p:cNvSpPr txBox="1"/>
            <p:nvPr/>
          </p:nvSpPr>
          <p:spPr bwMode="auto">
            <a:xfrm>
              <a:off x="673100" y="4252778"/>
              <a:ext cx="2387009"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b="1" dirty="0">
                  <a:solidFill>
                    <a:srgbClr val="00A6B2"/>
                  </a:solidFill>
                  <a:latin typeface="Microsoft YaHei" panose="020B0503020204020204" pitchFamily="34" charset="-122"/>
                  <a:ea typeface="Microsoft YaHei" panose="020B0503020204020204" pitchFamily="34" charset="-122"/>
                </a:rPr>
                <a:t>营销团队</a:t>
              </a:r>
            </a:p>
          </p:txBody>
        </p:sp>
      </p:grpSp>
      <p:grpSp>
        <p:nvGrpSpPr>
          <p:cNvPr id="49" name="îsḻîďè"/>
          <p:cNvGrpSpPr/>
          <p:nvPr/>
        </p:nvGrpSpPr>
        <p:grpSpPr>
          <a:xfrm>
            <a:off x="8827466" y="1760627"/>
            <a:ext cx="2822926" cy="2411730"/>
            <a:chOff x="673100" y="4252778"/>
            <a:chExt cx="2642020" cy="2411730"/>
          </a:xfrm>
        </p:grpSpPr>
        <p:sp>
          <p:nvSpPr>
            <p:cNvPr id="50" name="íṩ1îďe"/>
            <p:cNvSpPr/>
            <p:nvPr/>
          </p:nvSpPr>
          <p:spPr bwMode="auto">
            <a:xfrm>
              <a:off x="673100" y="4708073"/>
              <a:ext cx="2642020" cy="195643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会同教育专家、教学名师、行业专家、技术专家和咨询专家， 构建了产业学院专家团队及管理机制，为供产业技术标准、用人标准、 专业建设、教学管理、师资培养、国际交流、创新创业等咨询和服务。</a:t>
              </a:r>
            </a:p>
          </p:txBody>
        </p:sp>
        <p:sp>
          <p:nvSpPr>
            <p:cNvPr id="51" name="ïSļîdé"/>
            <p:cNvSpPr txBox="1"/>
            <p:nvPr/>
          </p:nvSpPr>
          <p:spPr bwMode="auto">
            <a:xfrm>
              <a:off x="673100" y="4252778"/>
              <a:ext cx="2387009"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b="1" dirty="0">
                  <a:solidFill>
                    <a:srgbClr val="00A6B2"/>
                  </a:solidFill>
                  <a:latin typeface="Microsoft YaHei" panose="020B0503020204020204" pitchFamily="34" charset="-122"/>
                  <a:ea typeface="Microsoft YaHei" panose="020B0503020204020204" pitchFamily="34" charset="-122"/>
                </a:rPr>
                <a:t>专家团队</a:t>
              </a:r>
            </a:p>
          </p:txBody>
        </p:sp>
      </p:grpSp>
      <p:grpSp>
        <p:nvGrpSpPr>
          <p:cNvPr id="52" name="îsḻîďè"/>
          <p:cNvGrpSpPr/>
          <p:nvPr/>
        </p:nvGrpSpPr>
        <p:grpSpPr>
          <a:xfrm>
            <a:off x="9641546" y="4055771"/>
            <a:ext cx="2550454" cy="1285873"/>
            <a:chOff x="673100" y="4252778"/>
            <a:chExt cx="2387009" cy="1285873"/>
          </a:xfrm>
        </p:grpSpPr>
        <p:sp>
          <p:nvSpPr>
            <p:cNvPr id="53" name="íṩ1îďe"/>
            <p:cNvSpPr/>
            <p:nvPr/>
          </p:nvSpPr>
          <p:spPr bwMode="auto">
            <a:xfrm>
              <a:off x="673100" y="4707959"/>
              <a:ext cx="2387009" cy="83069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solidFill>
                    <a:srgbClr val="586371"/>
                  </a:solidFill>
                  <a:latin typeface="Microsoft YaHei" panose="020B0503020204020204" pitchFamily="34" charset="-122"/>
                  <a:ea typeface="Microsoft YaHei" panose="020B0503020204020204" pitchFamily="34" charset="-122"/>
                  <a:cs typeface="华文楷体" panose="02010600040101010101" pitchFamily="2" charset="-122"/>
                </a:rPr>
                <a:t>知识和能力结构合理、具有完整育人功能 的合作式“双师双能型”教学团队。</a:t>
              </a:r>
            </a:p>
          </p:txBody>
        </p:sp>
        <p:sp>
          <p:nvSpPr>
            <p:cNvPr id="54" name="ïSļîdé"/>
            <p:cNvSpPr txBox="1"/>
            <p:nvPr/>
          </p:nvSpPr>
          <p:spPr bwMode="auto">
            <a:xfrm>
              <a:off x="673100" y="4252778"/>
              <a:ext cx="2387009"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20000"/>
                </a:lnSpc>
                <a:spcBef>
                  <a:spcPct val="0"/>
                </a:spcBef>
              </a:pPr>
              <a:r>
                <a:rPr lang="zh-CN" altLang="en-US" b="1" dirty="0">
                  <a:solidFill>
                    <a:srgbClr val="00A6B2"/>
                  </a:solidFill>
                  <a:latin typeface="Microsoft YaHei" panose="020B0503020204020204" pitchFamily="34" charset="-122"/>
                  <a:ea typeface="Microsoft YaHei" panose="020B0503020204020204" pitchFamily="34" charset="-122"/>
                </a:rPr>
                <a:t>双师型教师队伍</a:t>
              </a:r>
            </a:p>
          </p:txBody>
        </p:sp>
      </p:grpSp>
      <p:pic>
        <p:nvPicPr>
          <p:cNvPr id="10" name="图形 9" descr="研究 纯色填充"/>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18271" y="4016515"/>
            <a:ext cx="720000" cy="720000"/>
          </a:xfrm>
          <a:prstGeom prst="rect">
            <a:avLst/>
          </a:prstGeom>
        </p:spPr>
      </p:pic>
      <p:pic>
        <p:nvPicPr>
          <p:cNvPr id="56" name="图形 55" descr="打开的书 纯色填充"/>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78688" y="2607411"/>
            <a:ext cx="720000" cy="720000"/>
          </a:xfrm>
          <a:prstGeom prst="rect">
            <a:avLst/>
          </a:prstGeom>
        </p:spPr>
      </p:pic>
      <p:pic>
        <p:nvPicPr>
          <p:cNvPr id="58" name="图形 57" descr="教室 纯色填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42834" y="4131779"/>
            <a:ext cx="648000" cy="648000"/>
          </a:xfrm>
          <a:prstGeom prst="rect">
            <a:avLst/>
          </a:prstGeom>
        </p:spPr>
      </p:pic>
      <p:pic>
        <p:nvPicPr>
          <p:cNvPr id="60" name="图形 59" descr="业务增长 纯色填充"/>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09394" y="2513167"/>
            <a:ext cx="792000" cy="792000"/>
          </a:xfrm>
          <a:prstGeom prst="rect">
            <a:avLst/>
          </a:prstGeom>
        </p:spPr>
      </p:pic>
      <p:pic>
        <p:nvPicPr>
          <p:cNvPr id="62" name="图形 61" descr="握手 纯色填充"/>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23636" y="2013838"/>
            <a:ext cx="756000" cy="75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831215" y="740410"/>
            <a:ext cx="4705350" cy="5159375"/>
          </a:xfrm>
          <a:prstGeom prst="rect">
            <a:avLst/>
          </a:prstGeom>
          <a:blipFill>
            <a:blip r:embed="rId7"/>
            <a:srcRect/>
            <a:stretch>
              <a:fillRect l="8" t="-90138" r="-8" b="-89682"/>
            </a:stretch>
          </a:blipFill>
          <a:ln w="12700" cap="flat" cmpd="sng" algn="ctr">
            <a:noFill/>
            <a:prstDash val="solid"/>
            <a:miter lim="800000"/>
          </a:ln>
          <a:effectLst/>
          <a:extLst>
            <a:ext uri="{91240B29-F687-4F45-9708-019B960494DF}">
              <a14:hiddenLine xmlns:a14="http://schemas.microsoft.com/office/drawing/2010/main" w="12700">
                <a:solidFill>
                  <a:srgbClr val="D1DADD"/>
                </a:solidFill>
                <a:prstDash val="solid"/>
                <a:miter lim="800000"/>
                <a:headEnd/>
                <a:tailEnd/>
              </a14:hiddenLine>
            </a:ext>
          </a:extLst>
        </p:spPr>
        <p:style>
          <a:lnRef idx="2">
            <a:srgbClr val="4276AA">
              <a:shade val="50000"/>
            </a:srgbClr>
          </a:lnRef>
          <a:fillRef idx="1">
            <a:srgbClr val="4276AA"/>
          </a:fillRef>
          <a:effectRef idx="0">
            <a:srgbClr val="4276AA"/>
          </a:effectRef>
          <a:fontRef idx="minor">
            <a:srgbClr val="FFFFFF"/>
          </a:fontRef>
        </p:style>
        <p:txBody>
          <a:bodyPr anchor="ctr"/>
          <a:lstStyle/>
          <a:p>
            <a:pPr algn="ctr" eaLnBrk="1" fontAlgn="auto" hangingPunct="1">
              <a:defRPr/>
            </a:pPr>
            <a:endParaRPr noProof="1"/>
          </a:p>
        </p:txBody>
      </p:sp>
      <p:sp>
        <p:nvSpPr>
          <p:cNvPr id="17420" name="矩形 7"/>
          <p:cNvSpPr>
            <a:spLocks noChangeArrowheads="1"/>
          </p:cNvSpPr>
          <p:nvPr>
            <p:custDataLst>
              <p:tags r:id="rId3"/>
            </p:custDataLst>
          </p:nvPr>
        </p:nvSpPr>
        <p:spPr bwMode="auto">
          <a:xfrm>
            <a:off x="4671695" y="2384425"/>
            <a:ext cx="5130800" cy="1871345"/>
          </a:xfrm>
          <a:prstGeom prst="rect">
            <a:avLst/>
          </a:prstGeom>
          <a:solidFill>
            <a:srgbClr val="FFFFFF"/>
          </a:solidFill>
          <a:ln w="57150">
            <a:solidFill>
              <a:srgbClr val="778495">
                <a:alpha val="18823"/>
              </a:srgbClr>
            </a:solidFill>
            <a:miter lim="800000"/>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endParaRPr lang="zh-CN" altLang="zh-CN" sz="1800"/>
          </a:p>
        </p:txBody>
      </p:sp>
      <p:sp>
        <p:nvSpPr>
          <p:cNvPr id="17421" name="文本框 9"/>
          <p:cNvSpPr txBox="1">
            <a:spLocks noChangeArrowheads="1"/>
          </p:cNvSpPr>
          <p:nvPr>
            <p:custDataLst>
              <p:tags r:id="rId4"/>
            </p:custDataLst>
          </p:nvPr>
        </p:nvSpPr>
        <p:spPr bwMode="auto">
          <a:xfrm>
            <a:off x="4963160" y="3012440"/>
            <a:ext cx="454850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ctr" eaLnBrk="1" hangingPunct="1">
              <a:lnSpc>
                <a:spcPct val="100000"/>
              </a:lnSpc>
              <a:spcBef>
                <a:spcPct val="0"/>
              </a:spcBef>
              <a:buFontTx/>
              <a:buNone/>
            </a:pPr>
            <a:r>
              <a:rPr lang="zh-CN" altLang="en-US" sz="3600" b="1" dirty="0">
                <a:solidFill>
                  <a:srgbClr val="586371"/>
                </a:solidFill>
                <a:latin typeface="微软雅黑" panose="020B0503020204020204" charset="-122"/>
                <a:ea typeface="微软雅黑" panose="020B0503020204020204" charset="-122"/>
                <a:sym typeface="+mn-ea"/>
              </a:rPr>
              <a:t>风险控制</a:t>
            </a:r>
            <a:endParaRPr lang="en-US" altLang="zh-CN" sz="3600" b="1" dirty="0">
              <a:solidFill>
                <a:srgbClr val="586371"/>
              </a:solidFill>
              <a:latin typeface="微软雅黑" panose="020B0503020204020204" charset="-122"/>
              <a:ea typeface="微软雅黑" panose="020B0503020204020204" charset="-122"/>
              <a:sym typeface="+mn-ea"/>
            </a:endParaRPr>
          </a:p>
        </p:txBody>
      </p:sp>
    </p:spTree>
    <p:custDataLst>
      <p:tags r:id="rId1"/>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138"/>
          <p:cNvSpPr/>
          <p:nvPr/>
        </p:nvSpPr>
        <p:spPr bwMode="auto">
          <a:xfrm>
            <a:off x="5892056" y="1070916"/>
            <a:ext cx="305987" cy="1178140"/>
          </a:xfrm>
          <a:custGeom>
            <a:avLst/>
            <a:gdLst>
              <a:gd name="T0" fmla="*/ 161 w 161"/>
              <a:gd name="T1" fmla="*/ 438 h 619"/>
              <a:gd name="T2" fmla="*/ 161 w 161"/>
              <a:gd name="T3" fmla="*/ 51 h 619"/>
              <a:gd name="T4" fmla="*/ 110 w 161"/>
              <a:gd name="T5" fmla="*/ 0 h 619"/>
              <a:gd name="T6" fmla="*/ 51 w 161"/>
              <a:gd name="T7" fmla="*/ 0 h 619"/>
              <a:gd name="T8" fmla="*/ 0 w 161"/>
              <a:gd name="T9" fmla="*/ 51 h 619"/>
              <a:gd name="T10" fmla="*/ 0 w 161"/>
              <a:gd name="T11" fmla="*/ 619 h 619"/>
              <a:gd name="T12" fmla="*/ 161 w 161"/>
              <a:gd name="T13" fmla="*/ 438 h 619"/>
            </a:gdLst>
            <a:ahLst/>
            <a:cxnLst>
              <a:cxn ang="0">
                <a:pos x="T0" y="T1"/>
              </a:cxn>
              <a:cxn ang="0">
                <a:pos x="T2" y="T3"/>
              </a:cxn>
              <a:cxn ang="0">
                <a:pos x="T4" y="T5"/>
              </a:cxn>
              <a:cxn ang="0">
                <a:pos x="T6" y="T7"/>
              </a:cxn>
              <a:cxn ang="0">
                <a:pos x="T8" y="T9"/>
              </a:cxn>
              <a:cxn ang="0">
                <a:pos x="T10" y="T11"/>
              </a:cxn>
              <a:cxn ang="0">
                <a:pos x="T12" y="T13"/>
              </a:cxn>
            </a:cxnLst>
            <a:rect l="0" t="0" r="r" b="b"/>
            <a:pathLst>
              <a:path w="161" h="619">
                <a:moveTo>
                  <a:pt x="161" y="438"/>
                </a:moveTo>
                <a:cubicBezTo>
                  <a:pt x="161" y="51"/>
                  <a:pt x="161" y="51"/>
                  <a:pt x="161" y="51"/>
                </a:cubicBezTo>
                <a:cubicBezTo>
                  <a:pt x="161" y="23"/>
                  <a:pt x="138" y="0"/>
                  <a:pt x="110" y="0"/>
                </a:cubicBezTo>
                <a:cubicBezTo>
                  <a:pt x="51" y="0"/>
                  <a:pt x="51" y="0"/>
                  <a:pt x="51" y="0"/>
                </a:cubicBezTo>
                <a:cubicBezTo>
                  <a:pt x="23" y="0"/>
                  <a:pt x="0" y="23"/>
                  <a:pt x="0" y="51"/>
                </a:cubicBezTo>
                <a:cubicBezTo>
                  <a:pt x="0" y="619"/>
                  <a:pt x="0" y="619"/>
                  <a:pt x="0" y="619"/>
                </a:cubicBezTo>
                <a:cubicBezTo>
                  <a:pt x="9" y="561"/>
                  <a:pt x="53" y="461"/>
                  <a:pt x="161" y="438"/>
                </a:cubicBezTo>
                <a:close/>
              </a:path>
            </a:pathLst>
          </a:custGeom>
          <a:solidFill>
            <a:srgbClr val="00A6B2"/>
          </a:solidFill>
          <a:ln>
            <a:noFill/>
          </a:ln>
        </p:spPr>
        <p:txBody>
          <a:bodyPr/>
          <a:lstStyle/>
          <a:p>
            <a:endParaRPr lang="zh-CN" altLang="en-US" sz="2135" dirty="0">
              <a:solidFill>
                <a:srgbClr val="080808"/>
              </a:solidFill>
            </a:endParaRPr>
          </a:p>
        </p:txBody>
      </p:sp>
      <p:sp>
        <p:nvSpPr>
          <p:cNvPr id="4" name="Freeform 140"/>
          <p:cNvSpPr/>
          <p:nvPr/>
        </p:nvSpPr>
        <p:spPr bwMode="auto">
          <a:xfrm>
            <a:off x="5892056" y="4685957"/>
            <a:ext cx="2000824" cy="1654527"/>
          </a:xfrm>
          <a:custGeom>
            <a:avLst/>
            <a:gdLst>
              <a:gd name="T0" fmla="*/ 1004 w 1051"/>
              <a:gd name="T1" fmla="*/ 0 h 869"/>
              <a:gd name="T2" fmla="*/ 218 w 1051"/>
              <a:gd name="T3" fmla="*/ 0 h 869"/>
              <a:gd name="T4" fmla="*/ 161 w 1051"/>
              <a:gd name="T5" fmla="*/ 5 h 869"/>
              <a:gd name="T6" fmla="*/ 0 w 1051"/>
              <a:gd name="T7" fmla="*/ 186 h 869"/>
              <a:gd name="T8" fmla="*/ 0 w 1051"/>
              <a:gd name="T9" fmla="*/ 201 h 869"/>
              <a:gd name="T10" fmla="*/ 0 w 1051"/>
              <a:gd name="T11" fmla="*/ 818 h 869"/>
              <a:gd name="T12" fmla="*/ 51 w 1051"/>
              <a:gd name="T13" fmla="*/ 869 h 869"/>
              <a:gd name="T14" fmla="*/ 110 w 1051"/>
              <a:gd name="T15" fmla="*/ 869 h 869"/>
              <a:gd name="T16" fmla="*/ 161 w 1051"/>
              <a:gd name="T17" fmla="*/ 818 h 869"/>
              <a:gd name="T18" fmla="*/ 161 w 1051"/>
              <a:gd name="T19" fmla="*/ 101 h 869"/>
              <a:gd name="T20" fmla="*/ 214 w 1051"/>
              <a:gd name="T21" fmla="*/ 92 h 869"/>
              <a:gd name="T22" fmla="*/ 1005 w 1051"/>
              <a:gd name="T23" fmla="*/ 92 h 869"/>
              <a:gd name="T24" fmla="*/ 1051 w 1051"/>
              <a:gd name="T25" fmla="*/ 46 h 869"/>
              <a:gd name="T26" fmla="*/ 1004 w 1051"/>
              <a:gd name="T27" fmla="*/ 0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51" h="869">
                <a:moveTo>
                  <a:pt x="1004" y="0"/>
                </a:moveTo>
                <a:cubicBezTo>
                  <a:pt x="998" y="1"/>
                  <a:pt x="364" y="6"/>
                  <a:pt x="218" y="0"/>
                </a:cubicBezTo>
                <a:cubicBezTo>
                  <a:pt x="197" y="0"/>
                  <a:pt x="178" y="2"/>
                  <a:pt x="161" y="5"/>
                </a:cubicBezTo>
                <a:cubicBezTo>
                  <a:pt x="53" y="28"/>
                  <a:pt x="9" y="127"/>
                  <a:pt x="0" y="186"/>
                </a:cubicBezTo>
                <a:cubicBezTo>
                  <a:pt x="0" y="201"/>
                  <a:pt x="0" y="201"/>
                  <a:pt x="0" y="201"/>
                </a:cubicBezTo>
                <a:cubicBezTo>
                  <a:pt x="0" y="818"/>
                  <a:pt x="0" y="818"/>
                  <a:pt x="0" y="818"/>
                </a:cubicBezTo>
                <a:cubicBezTo>
                  <a:pt x="0" y="846"/>
                  <a:pt x="23" y="869"/>
                  <a:pt x="51" y="869"/>
                </a:cubicBezTo>
                <a:cubicBezTo>
                  <a:pt x="110" y="869"/>
                  <a:pt x="110" y="869"/>
                  <a:pt x="110" y="869"/>
                </a:cubicBezTo>
                <a:cubicBezTo>
                  <a:pt x="138" y="869"/>
                  <a:pt x="161" y="846"/>
                  <a:pt x="161" y="818"/>
                </a:cubicBezTo>
                <a:cubicBezTo>
                  <a:pt x="161" y="101"/>
                  <a:pt x="161" y="101"/>
                  <a:pt x="161" y="101"/>
                </a:cubicBezTo>
                <a:cubicBezTo>
                  <a:pt x="176" y="95"/>
                  <a:pt x="193" y="92"/>
                  <a:pt x="214" y="92"/>
                </a:cubicBezTo>
                <a:cubicBezTo>
                  <a:pt x="363" y="98"/>
                  <a:pt x="979" y="93"/>
                  <a:pt x="1005" y="92"/>
                </a:cubicBezTo>
                <a:cubicBezTo>
                  <a:pt x="1030" y="92"/>
                  <a:pt x="1051" y="71"/>
                  <a:pt x="1051" y="46"/>
                </a:cubicBezTo>
                <a:cubicBezTo>
                  <a:pt x="1050" y="21"/>
                  <a:pt x="1030" y="1"/>
                  <a:pt x="1004" y="0"/>
                </a:cubicBezTo>
                <a:close/>
              </a:path>
            </a:pathLst>
          </a:custGeom>
          <a:solidFill>
            <a:srgbClr val="21798F"/>
          </a:solidFill>
          <a:ln>
            <a:noFill/>
          </a:ln>
        </p:spPr>
        <p:txBody>
          <a:bodyPr/>
          <a:lstStyle/>
          <a:p>
            <a:endParaRPr lang="zh-CN" altLang="en-US" sz="2135" dirty="0">
              <a:solidFill>
                <a:srgbClr val="080808"/>
              </a:solidFill>
            </a:endParaRPr>
          </a:p>
        </p:txBody>
      </p:sp>
      <p:sp>
        <p:nvSpPr>
          <p:cNvPr id="5" name="Freeform 141"/>
          <p:cNvSpPr/>
          <p:nvPr/>
        </p:nvSpPr>
        <p:spPr bwMode="auto">
          <a:xfrm>
            <a:off x="6003824" y="3786319"/>
            <a:ext cx="1832" cy="27484"/>
          </a:xfrm>
          <a:custGeom>
            <a:avLst/>
            <a:gdLst>
              <a:gd name="T0" fmla="*/ 1 w 1"/>
              <a:gd name="T1" fmla="*/ 2 h 15"/>
              <a:gd name="T2" fmla="*/ 0 w 1"/>
              <a:gd name="T3" fmla="*/ 0 h 15"/>
              <a:gd name="T4" fmla="*/ 0 w 1"/>
              <a:gd name="T5" fmla="*/ 15 h 15"/>
              <a:gd name="T6" fmla="*/ 1 w 1"/>
              <a:gd name="T7" fmla="*/ 2 h 15"/>
            </a:gdLst>
            <a:ahLst/>
            <a:cxnLst>
              <a:cxn ang="0">
                <a:pos x="T0" y="T1"/>
              </a:cxn>
              <a:cxn ang="0">
                <a:pos x="T2" y="T3"/>
              </a:cxn>
              <a:cxn ang="0">
                <a:pos x="T4" y="T5"/>
              </a:cxn>
              <a:cxn ang="0">
                <a:pos x="T6" y="T7"/>
              </a:cxn>
            </a:cxnLst>
            <a:rect l="0" t="0" r="r" b="b"/>
            <a:pathLst>
              <a:path w="1" h="15">
                <a:moveTo>
                  <a:pt x="1" y="2"/>
                </a:moveTo>
                <a:cubicBezTo>
                  <a:pt x="0" y="1"/>
                  <a:pt x="0" y="0"/>
                  <a:pt x="0" y="0"/>
                </a:cubicBezTo>
                <a:cubicBezTo>
                  <a:pt x="0" y="15"/>
                  <a:pt x="0" y="15"/>
                  <a:pt x="0" y="15"/>
                </a:cubicBezTo>
                <a:cubicBezTo>
                  <a:pt x="1" y="11"/>
                  <a:pt x="1" y="6"/>
                  <a:pt x="1" y="2"/>
                </a:cubicBezTo>
                <a:close/>
              </a:path>
            </a:pathLst>
          </a:custGeom>
          <a:solidFill>
            <a:srgbClr val="FFD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a:solidFill>
                <a:srgbClr val="080808"/>
              </a:solidFill>
            </a:endParaRPr>
          </a:p>
        </p:txBody>
      </p:sp>
      <p:sp>
        <p:nvSpPr>
          <p:cNvPr id="6" name="Freeform 142"/>
          <p:cNvSpPr/>
          <p:nvPr/>
        </p:nvSpPr>
        <p:spPr bwMode="auto">
          <a:xfrm>
            <a:off x="4199052" y="3372229"/>
            <a:ext cx="1998991" cy="1667353"/>
          </a:xfrm>
          <a:custGeom>
            <a:avLst/>
            <a:gdLst>
              <a:gd name="T0" fmla="*/ 889 w 1050"/>
              <a:gd name="T1" fmla="*/ 6 h 876"/>
              <a:gd name="T2" fmla="*/ 833 w 1050"/>
              <a:gd name="T3" fmla="*/ 1 h 876"/>
              <a:gd name="T4" fmla="*/ 46 w 1050"/>
              <a:gd name="T5" fmla="*/ 1 h 876"/>
              <a:gd name="T6" fmla="*/ 0 w 1050"/>
              <a:gd name="T7" fmla="*/ 47 h 876"/>
              <a:gd name="T8" fmla="*/ 46 w 1050"/>
              <a:gd name="T9" fmla="*/ 93 h 876"/>
              <a:gd name="T10" fmla="*/ 836 w 1050"/>
              <a:gd name="T11" fmla="*/ 93 h 876"/>
              <a:gd name="T12" fmla="*/ 889 w 1050"/>
              <a:gd name="T13" fmla="*/ 102 h 876"/>
              <a:gd name="T14" fmla="*/ 889 w 1050"/>
              <a:gd name="T15" fmla="*/ 876 h 876"/>
              <a:gd name="T16" fmla="*/ 1050 w 1050"/>
              <a:gd name="T17" fmla="*/ 695 h 876"/>
              <a:gd name="T18" fmla="*/ 1050 w 1050"/>
              <a:gd name="T19" fmla="*/ 202 h 876"/>
              <a:gd name="T20" fmla="*/ 1050 w 1050"/>
              <a:gd name="T21" fmla="*/ 186 h 876"/>
              <a:gd name="T22" fmla="*/ 889 w 1050"/>
              <a:gd name="T23" fmla="*/ 6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0" h="876">
                <a:moveTo>
                  <a:pt x="889" y="6"/>
                </a:moveTo>
                <a:cubicBezTo>
                  <a:pt x="872" y="2"/>
                  <a:pt x="853" y="0"/>
                  <a:pt x="833" y="1"/>
                </a:cubicBezTo>
                <a:cubicBezTo>
                  <a:pt x="687" y="6"/>
                  <a:pt x="53" y="1"/>
                  <a:pt x="46" y="1"/>
                </a:cubicBezTo>
                <a:cubicBezTo>
                  <a:pt x="21" y="1"/>
                  <a:pt x="0" y="21"/>
                  <a:pt x="0" y="47"/>
                </a:cubicBezTo>
                <a:cubicBezTo>
                  <a:pt x="0" y="72"/>
                  <a:pt x="20" y="93"/>
                  <a:pt x="46" y="93"/>
                </a:cubicBezTo>
                <a:cubicBezTo>
                  <a:pt x="72" y="93"/>
                  <a:pt x="688" y="98"/>
                  <a:pt x="836" y="93"/>
                </a:cubicBezTo>
                <a:cubicBezTo>
                  <a:pt x="857" y="92"/>
                  <a:pt x="875" y="96"/>
                  <a:pt x="889" y="102"/>
                </a:cubicBezTo>
                <a:cubicBezTo>
                  <a:pt x="889" y="876"/>
                  <a:pt x="889" y="876"/>
                  <a:pt x="889" y="876"/>
                </a:cubicBezTo>
                <a:cubicBezTo>
                  <a:pt x="898" y="817"/>
                  <a:pt x="942" y="718"/>
                  <a:pt x="1050" y="695"/>
                </a:cubicBezTo>
                <a:cubicBezTo>
                  <a:pt x="1050" y="202"/>
                  <a:pt x="1050" y="202"/>
                  <a:pt x="1050" y="202"/>
                </a:cubicBezTo>
                <a:cubicBezTo>
                  <a:pt x="1050" y="186"/>
                  <a:pt x="1050" y="186"/>
                  <a:pt x="1050" y="186"/>
                </a:cubicBezTo>
                <a:cubicBezTo>
                  <a:pt x="1041" y="128"/>
                  <a:pt x="997" y="29"/>
                  <a:pt x="889" y="6"/>
                </a:cubicBezTo>
                <a:close/>
              </a:path>
            </a:pathLst>
          </a:custGeom>
          <a:solidFill>
            <a:srgbClr val="00A6B2"/>
          </a:solidFill>
          <a:ln>
            <a:noFill/>
          </a:ln>
        </p:spPr>
        <p:txBody>
          <a:bodyPr/>
          <a:lstStyle/>
          <a:p>
            <a:endParaRPr lang="zh-CN" altLang="en-US" sz="2135" dirty="0">
              <a:solidFill>
                <a:srgbClr val="080808"/>
              </a:solidFill>
            </a:endParaRPr>
          </a:p>
        </p:txBody>
      </p:sp>
      <p:sp>
        <p:nvSpPr>
          <p:cNvPr id="7" name="Freeform 143"/>
          <p:cNvSpPr/>
          <p:nvPr/>
        </p:nvSpPr>
        <p:spPr bwMode="auto">
          <a:xfrm>
            <a:off x="5892056" y="1893599"/>
            <a:ext cx="2000824" cy="1832256"/>
          </a:xfrm>
          <a:custGeom>
            <a:avLst/>
            <a:gdLst>
              <a:gd name="T0" fmla="*/ 1004 w 1051"/>
              <a:gd name="T1" fmla="*/ 1 h 963"/>
              <a:gd name="T2" fmla="*/ 218 w 1051"/>
              <a:gd name="T3" fmla="*/ 1 h 963"/>
              <a:gd name="T4" fmla="*/ 161 w 1051"/>
              <a:gd name="T5" fmla="*/ 6 h 963"/>
              <a:gd name="T6" fmla="*/ 0 w 1051"/>
              <a:gd name="T7" fmla="*/ 187 h 963"/>
              <a:gd name="T8" fmla="*/ 0 w 1051"/>
              <a:gd name="T9" fmla="*/ 201 h 963"/>
              <a:gd name="T10" fmla="*/ 0 w 1051"/>
              <a:gd name="T11" fmla="*/ 783 h 963"/>
              <a:gd name="T12" fmla="*/ 161 w 1051"/>
              <a:gd name="T13" fmla="*/ 963 h 963"/>
              <a:gd name="T14" fmla="*/ 161 w 1051"/>
              <a:gd name="T15" fmla="*/ 102 h 963"/>
              <a:gd name="T16" fmla="*/ 214 w 1051"/>
              <a:gd name="T17" fmla="*/ 93 h 963"/>
              <a:gd name="T18" fmla="*/ 1005 w 1051"/>
              <a:gd name="T19" fmla="*/ 93 h 963"/>
              <a:gd name="T20" fmla="*/ 1051 w 1051"/>
              <a:gd name="T21" fmla="*/ 46 h 963"/>
              <a:gd name="T22" fmla="*/ 1004 w 1051"/>
              <a:gd name="T23" fmla="*/ 1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51" h="963">
                <a:moveTo>
                  <a:pt x="1004" y="1"/>
                </a:moveTo>
                <a:cubicBezTo>
                  <a:pt x="998" y="1"/>
                  <a:pt x="364" y="6"/>
                  <a:pt x="218" y="1"/>
                </a:cubicBezTo>
                <a:cubicBezTo>
                  <a:pt x="197" y="0"/>
                  <a:pt x="178" y="2"/>
                  <a:pt x="161" y="6"/>
                </a:cubicBezTo>
                <a:cubicBezTo>
                  <a:pt x="53" y="29"/>
                  <a:pt x="9" y="129"/>
                  <a:pt x="0" y="187"/>
                </a:cubicBezTo>
                <a:cubicBezTo>
                  <a:pt x="0" y="201"/>
                  <a:pt x="0" y="201"/>
                  <a:pt x="0" y="201"/>
                </a:cubicBezTo>
                <a:cubicBezTo>
                  <a:pt x="0" y="783"/>
                  <a:pt x="0" y="783"/>
                  <a:pt x="0" y="783"/>
                </a:cubicBezTo>
                <a:cubicBezTo>
                  <a:pt x="108" y="806"/>
                  <a:pt x="152" y="905"/>
                  <a:pt x="161" y="963"/>
                </a:cubicBezTo>
                <a:cubicBezTo>
                  <a:pt x="161" y="102"/>
                  <a:pt x="161" y="102"/>
                  <a:pt x="161" y="102"/>
                </a:cubicBezTo>
                <a:cubicBezTo>
                  <a:pt x="176" y="96"/>
                  <a:pt x="193" y="92"/>
                  <a:pt x="214" y="93"/>
                </a:cubicBezTo>
                <a:cubicBezTo>
                  <a:pt x="363" y="98"/>
                  <a:pt x="979" y="93"/>
                  <a:pt x="1005" y="93"/>
                </a:cubicBezTo>
                <a:cubicBezTo>
                  <a:pt x="1031" y="93"/>
                  <a:pt x="1051" y="72"/>
                  <a:pt x="1051" y="46"/>
                </a:cubicBezTo>
                <a:cubicBezTo>
                  <a:pt x="1051" y="21"/>
                  <a:pt x="1030" y="1"/>
                  <a:pt x="1004" y="1"/>
                </a:cubicBezTo>
                <a:close/>
              </a:path>
            </a:pathLst>
          </a:custGeom>
          <a:solidFill>
            <a:srgbClr val="21798F"/>
          </a:solidFill>
          <a:ln>
            <a:noFill/>
          </a:ln>
        </p:spPr>
        <p:txBody>
          <a:bodyPr/>
          <a:lstStyle/>
          <a:p>
            <a:endParaRPr lang="zh-CN" altLang="en-US" sz="2135" dirty="0">
              <a:solidFill>
                <a:srgbClr val="080808"/>
              </a:solidFill>
            </a:endParaRPr>
          </a:p>
        </p:txBody>
      </p:sp>
      <p:sp>
        <p:nvSpPr>
          <p:cNvPr id="8" name="TextBox 7"/>
          <p:cNvSpPr txBox="1"/>
          <p:nvPr/>
        </p:nvSpPr>
        <p:spPr bwMode="auto">
          <a:xfrm>
            <a:off x="8218918" y="1570324"/>
            <a:ext cx="1261884" cy="369332"/>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anose="020B0503020204020204" charset="-122"/>
                <a:ea typeface="微软雅黑" panose="020B0503020204020204" charset="-122"/>
                <a:cs typeface="Arial" panose="020B0604020202020204" pitchFamily="34" charset="0"/>
              </a:defRPr>
            </a:lvl1pPr>
          </a:lstStyle>
          <a:p>
            <a:pPr algn="l"/>
            <a:r>
              <a:rPr lang="zh-CN" altLang="en-US" sz="1800" b="1" dirty="0">
                <a:solidFill>
                  <a:schemeClr val="bg1">
                    <a:lumMod val="50000"/>
                  </a:schemeClr>
                </a:solidFill>
              </a:rPr>
              <a:t>风控机制</a:t>
            </a:r>
          </a:p>
        </p:txBody>
      </p:sp>
      <p:sp>
        <p:nvSpPr>
          <p:cNvPr id="9" name="矩形 1"/>
          <p:cNvSpPr>
            <a:spLocks noChangeArrowheads="1"/>
          </p:cNvSpPr>
          <p:nvPr/>
        </p:nvSpPr>
        <p:spPr bwMode="auto">
          <a:xfrm>
            <a:off x="8218918" y="1908879"/>
            <a:ext cx="2946039" cy="890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通过设立合资公司，承担有限责任。</a:t>
            </a:r>
            <a:endParaRPr lang="en-US" altLang="zh-CN" sz="120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a:p>
            <a:pP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对合作院校提前尽调，标准化投前投后管理。</a:t>
            </a:r>
          </a:p>
        </p:txBody>
      </p:sp>
      <p:sp>
        <p:nvSpPr>
          <p:cNvPr id="10" name="TextBox 9"/>
          <p:cNvSpPr txBox="1"/>
          <p:nvPr/>
        </p:nvSpPr>
        <p:spPr bwMode="auto">
          <a:xfrm>
            <a:off x="2083081" y="3287105"/>
            <a:ext cx="1800494" cy="369332"/>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anose="020B0503020204020204" charset="-122"/>
                <a:ea typeface="微软雅黑" panose="020B0503020204020204" charset="-122"/>
                <a:cs typeface="Arial" panose="020B0604020202020204" pitchFamily="34" charset="0"/>
              </a:defRPr>
            </a:lvl1pPr>
          </a:lstStyle>
          <a:p>
            <a:r>
              <a:rPr lang="zh-CN" altLang="en-US" sz="1800" b="1" dirty="0">
                <a:solidFill>
                  <a:schemeClr val="bg1">
                    <a:lumMod val="50000"/>
                  </a:schemeClr>
                </a:solidFill>
              </a:rPr>
              <a:t>经营风险控制</a:t>
            </a:r>
          </a:p>
        </p:txBody>
      </p:sp>
      <p:sp>
        <p:nvSpPr>
          <p:cNvPr id="11" name="矩形 1"/>
          <p:cNvSpPr>
            <a:spLocks noChangeArrowheads="1"/>
          </p:cNvSpPr>
          <p:nvPr/>
        </p:nvSpPr>
        <p:spPr bwMode="auto">
          <a:xfrm>
            <a:off x="-154188" y="3702931"/>
            <a:ext cx="4297436"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暂无政策风险（政策大力支持）</a:t>
            </a:r>
            <a:endParaRPr lang="en-US" altLang="zh-CN" sz="120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a:p>
            <a:pPr algn="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运营风险低（鼎利教育多年成功的教育经验及运营能力）</a:t>
            </a:r>
            <a:endParaRPr lang="en-US" altLang="zh-CN" sz="120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a:p>
            <a:pPr algn="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团队风险较低（师资储备资源池，及时对接新成立的学院）</a:t>
            </a:r>
            <a:endParaRPr lang="en-US" altLang="zh-CN" sz="120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a:p>
            <a:pPr algn="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财务风险低，协议签订后再进行资源投入</a:t>
            </a:r>
          </a:p>
        </p:txBody>
      </p:sp>
      <p:sp>
        <p:nvSpPr>
          <p:cNvPr id="12" name="TextBox 11"/>
          <p:cNvSpPr txBox="1"/>
          <p:nvPr/>
        </p:nvSpPr>
        <p:spPr bwMode="auto">
          <a:xfrm>
            <a:off x="8218918" y="4501291"/>
            <a:ext cx="2069797" cy="369332"/>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anose="020B0503020204020204" charset="-122"/>
                <a:ea typeface="微软雅黑" panose="020B0503020204020204" charset="-122"/>
                <a:cs typeface="Arial" panose="020B0604020202020204" pitchFamily="34" charset="0"/>
              </a:defRPr>
            </a:lvl1pPr>
          </a:lstStyle>
          <a:p>
            <a:r>
              <a:rPr lang="zh-CN" altLang="en-US" sz="1800" b="1" dirty="0">
                <a:solidFill>
                  <a:schemeClr val="bg1">
                    <a:lumMod val="50000"/>
                  </a:schemeClr>
                </a:solidFill>
              </a:rPr>
              <a:t>投入与退出机制</a:t>
            </a:r>
          </a:p>
        </p:txBody>
      </p:sp>
      <p:sp>
        <p:nvSpPr>
          <p:cNvPr id="14" name="椭圆 13"/>
          <p:cNvSpPr/>
          <p:nvPr/>
        </p:nvSpPr>
        <p:spPr>
          <a:xfrm>
            <a:off x="7453938" y="4401093"/>
            <a:ext cx="714840" cy="714840"/>
          </a:xfrm>
          <a:prstGeom prst="ellipse">
            <a:avLst/>
          </a:prstGeom>
          <a:solidFill>
            <a:srgbClr val="21798F"/>
          </a:solidFill>
          <a:ln>
            <a:noFill/>
          </a:ln>
        </p:spPr>
        <p:txBody>
          <a:bodyPr/>
          <a:lstStyle/>
          <a:p>
            <a:endParaRPr lang="zh-CN" altLang="en-US" sz="2135" dirty="0">
              <a:solidFill>
                <a:srgbClr val="080808"/>
              </a:solidFill>
            </a:endParaRPr>
          </a:p>
        </p:txBody>
      </p:sp>
      <p:sp>
        <p:nvSpPr>
          <p:cNvPr id="15" name="椭圆 14"/>
          <p:cNvSpPr/>
          <p:nvPr/>
        </p:nvSpPr>
        <p:spPr>
          <a:xfrm>
            <a:off x="7453938" y="1640960"/>
            <a:ext cx="714840" cy="714840"/>
          </a:xfrm>
          <a:prstGeom prst="ellipse">
            <a:avLst/>
          </a:prstGeom>
          <a:solidFill>
            <a:srgbClr val="21798F"/>
          </a:solidFill>
          <a:ln>
            <a:noFill/>
          </a:ln>
        </p:spPr>
        <p:txBody>
          <a:bodyPr/>
          <a:lstStyle/>
          <a:p>
            <a:endParaRPr lang="zh-CN" altLang="en-US" sz="2135" dirty="0">
              <a:solidFill>
                <a:srgbClr val="080808"/>
              </a:solidFill>
            </a:endParaRPr>
          </a:p>
        </p:txBody>
      </p:sp>
      <p:sp>
        <p:nvSpPr>
          <p:cNvPr id="16" name="椭圆 15"/>
          <p:cNvSpPr/>
          <p:nvPr/>
        </p:nvSpPr>
        <p:spPr>
          <a:xfrm>
            <a:off x="3841632" y="3098963"/>
            <a:ext cx="714840" cy="714840"/>
          </a:xfrm>
          <a:prstGeom prst="ellipse">
            <a:avLst/>
          </a:prstGeom>
          <a:solidFill>
            <a:srgbClr val="00A6B2"/>
          </a:solidFill>
          <a:ln>
            <a:noFill/>
          </a:ln>
        </p:spPr>
        <p:txBody>
          <a:bodyPr/>
          <a:lstStyle/>
          <a:p>
            <a:endParaRPr lang="zh-CN" altLang="en-US" sz="2135" dirty="0">
              <a:solidFill>
                <a:srgbClr val="080808"/>
              </a:solidFill>
            </a:endParaRPr>
          </a:p>
        </p:txBody>
      </p:sp>
      <p:sp>
        <p:nvSpPr>
          <p:cNvPr id="17" name="TextBox 682"/>
          <p:cNvSpPr txBox="1"/>
          <p:nvPr/>
        </p:nvSpPr>
        <p:spPr>
          <a:xfrm>
            <a:off x="7590622" y="1734928"/>
            <a:ext cx="413896" cy="502767"/>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2665" dirty="0"/>
              <a:t>C</a:t>
            </a:r>
            <a:endParaRPr lang="zh-CN" altLang="en-US" sz="2665" dirty="0"/>
          </a:p>
        </p:txBody>
      </p:sp>
      <p:sp>
        <p:nvSpPr>
          <p:cNvPr id="18" name="TextBox 682"/>
          <p:cNvSpPr txBox="1"/>
          <p:nvPr/>
        </p:nvSpPr>
        <p:spPr>
          <a:xfrm>
            <a:off x="7585012" y="4506103"/>
            <a:ext cx="425116" cy="502767"/>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2665" dirty="0"/>
              <a:t>A</a:t>
            </a:r>
            <a:endParaRPr lang="zh-CN" altLang="en-US" sz="2665" dirty="0"/>
          </a:p>
        </p:txBody>
      </p:sp>
      <p:sp>
        <p:nvSpPr>
          <p:cNvPr id="19" name="TextBox 682"/>
          <p:cNvSpPr txBox="1"/>
          <p:nvPr/>
        </p:nvSpPr>
        <p:spPr>
          <a:xfrm>
            <a:off x="4005069" y="3196216"/>
            <a:ext cx="399468" cy="502767"/>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pPr algn="ctr"/>
            <a:r>
              <a:rPr lang="en-US" altLang="zh-CN" sz="2665" dirty="0"/>
              <a:t>B</a:t>
            </a:r>
            <a:endParaRPr lang="zh-CN" altLang="en-US" sz="2665" dirty="0"/>
          </a:p>
        </p:txBody>
      </p:sp>
      <p:sp>
        <p:nvSpPr>
          <p:cNvPr id="21" name="矩形 20"/>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22" name="矩形 17"/>
          <p:cNvSpPr>
            <a:spLocks noChangeArrowheads="1"/>
          </p:cNvSpPr>
          <p:nvPr/>
        </p:nvSpPr>
        <p:spPr bwMode="auto">
          <a:xfrm>
            <a:off x="238125" y="342900"/>
            <a:ext cx="227358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en-US" altLang="zh-CN" sz="2600" b="1" dirty="0">
                <a:solidFill>
                  <a:srgbClr val="586371"/>
                </a:solidFill>
                <a:latin typeface="微软雅黑" panose="020B0503020204020204" charset="-122"/>
                <a:ea typeface="微软雅黑" panose="020B0503020204020204" charset="-122"/>
              </a:rPr>
              <a:t>6.1</a:t>
            </a:r>
            <a:r>
              <a:rPr lang="zh-CN" altLang="en-US" sz="2600" b="1" dirty="0">
                <a:solidFill>
                  <a:srgbClr val="586371"/>
                </a:solidFill>
                <a:latin typeface="微软雅黑" panose="020B0503020204020204" charset="-122"/>
                <a:ea typeface="微软雅黑" panose="020B0503020204020204" charset="-122"/>
              </a:rPr>
              <a:t>风险控制</a:t>
            </a:r>
          </a:p>
        </p:txBody>
      </p:sp>
      <p:sp>
        <p:nvSpPr>
          <p:cNvPr id="25" name="矩形 1"/>
          <p:cNvSpPr>
            <a:spLocks noChangeArrowheads="1"/>
          </p:cNvSpPr>
          <p:nvPr/>
        </p:nvSpPr>
        <p:spPr bwMode="auto">
          <a:xfrm>
            <a:off x="8224582" y="5039582"/>
            <a:ext cx="2940375" cy="1167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如成立合资公司，双方根据持股比例进行投入，退出则通过股权转让方式退出。</a:t>
            </a:r>
            <a:endParaRPr lang="en-US" altLang="zh-CN" sz="1200" dirty="0">
              <a:solidFill>
                <a:schemeClr val="bg1">
                  <a:lumMod val="50000"/>
                </a:schemeClr>
              </a:solidFill>
              <a:latin typeface="微软雅黑" panose="020B0503020204020204" charset="-122"/>
              <a:ea typeface="微软雅黑" panose="020B0503020204020204" charset="-122"/>
              <a:sym typeface="微软雅黑" panose="020B0503020204020204" charset="-122"/>
            </a:endParaRPr>
          </a:p>
          <a:p>
            <a:pPr>
              <a:lnSpc>
                <a:spcPct val="150000"/>
              </a:lnSpc>
            </a:pPr>
            <a:r>
              <a:rPr lang="zh-CN" altLang="en-US" sz="1200" dirty="0">
                <a:solidFill>
                  <a:schemeClr val="bg1">
                    <a:lumMod val="50000"/>
                  </a:schemeClr>
                </a:solidFill>
                <a:latin typeface="微软雅黑" panose="020B0503020204020204" charset="-122"/>
                <a:ea typeface="微软雅黑" panose="020B0503020204020204" charset="-122"/>
                <a:sym typeface="微软雅黑" panose="020B0503020204020204" charset="-122"/>
              </a:rPr>
              <a:t>如不成立合资公司，开展三方合作，根据与院校签订的协议保障投入和退出。</a:t>
            </a:r>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175" y="288925"/>
            <a:ext cx="74613" cy="596900"/>
          </a:xfrm>
          <a:prstGeom prst="rect">
            <a:avLst/>
          </a:pr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55298" name="矩形 17"/>
          <p:cNvSpPr>
            <a:spLocks noChangeArrowheads="1"/>
          </p:cNvSpPr>
          <p:nvPr/>
        </p:nvSpPr>
        <p:spPr bwMode="auto">
          <a:xfrm>
            <a:off x="238125" y="342900"/>
            <a:ext cx="25779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Tx/>
              <a:buNone/>
            </a:pPr>
            <a:r>
              <a:rPr lang="zh-CN" altLang="en-US" sz="2600" b="1" dirty="0">
                <a:solidFill>
                  <a:srgbClr val="586371"/>
                </a:solidFill>
                <a:latin typeface="微软雅黑" panose="020B0503020204020204" charset="-122"/>
                <a:ea typeface="微软雅黑" panose="020B0503020204020204" charset="-122"/>
              </a:rPr>
              <a:t>附：推进计划</a:t>
            </a:r>
          </a:p>
        </p:txBody>
      </p:sp>
      <p:sp>
        <p:nvSpPr>
          <p:cNvPr id="15" name="Freeform 11"/>
          <p:cNvSpPr/>
          <p:nvPr/>
        </p:nvSpPr>
        <p:spPr bwMode="auto">
          <a:xfrm>
            <a:off x="5374217" y="4385884"/>
            <a:ext cx="1873251" cy="2480733"/>
          </a:xfrm>
          <a:custGeom>
            <a:avLst/>
            <a:gdLst/>
            <a:ahLst/>
            <a:cxnLst>
              <a:cxn ang="0">
                <a:pos x="885" y="361"/>
              </a:cxn>
              <a:cxn ang="0">
                <a:pos x="840" y="315"/>
              </a:cxn>
              <a:cxn ang="0">
                <a:pos x="379" y="777"/>
              </a:cxn>
              <a:cxn ang="0">
                <a:pos x="379" y="1172"/>
              </a:cxn>
              <a:cxn ang="0">
                <a:pos x="0" y="1172"/>
              </a:cxn>
              <a:cxn ang="0">
                <a:pos x="0" y="620"/>
              </a:cxn>
              <a:cxn ang="0">
                <a:pos x="572" y="49"/>
              </a:cxn>
              <a:cxn ang="0">
                <a:pos x="523" y="0"/>
              </a:cxn>
              <a:cxn ang="0">
                <a:pos x="885" y="0"/>
              </a:cxn>
              <a:cxn ang="0">
                <a:pos x="885" y="361"/>
              </a:cxn>
            </a:cxnLst>
            <a:rect l="0" t="0" r="r" b="b"/>
            <a:pathLst>
              <a:path w="885" h="1172">
                <a:moveTo>
                  <a:pt x="885" y="361"/>
                </a:moveTo>
                <a:lnTo>
                  <a:pt x="840" y="315"/>
                </a:lnTo>
                <a:lnTo>
                  <a:pt x="379" y="777"/>
                </a:lnTo>
                <a:lnTo>
                  <a:pt x="379" y="1172"/>
                </a:lnTo>
                <a:lnTo>
                  <a:pt x="0" y="1172"/>
                </a:lnTo>
                <a:lnTo>
                  <a:pt x="0" y="620"/>
                </a:lnTo>
                <a:lnTo>
                  <a:pt x="572" y="49"/>
                </a:lnTo>
                <a:lnTo>
                  <a:pt x="523" y="0"/>
                </a:lnTo>
                <a:lnTo>
                  <a:pt x="885" y="0"/>
                </a:lnTo>
                <a:lnTo>
                  <a:pt x="885" y="361"/>
                </a:lnTo>
                <a:close/>
              </a:path>
            </a:pathLst>
          </a:custGeom>
          <a:solidFill>
            <a:srgbClr val="00A6B2"/>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prstClr val="white"/>
              </a:solidFill>
              <a:latin typeface="微软雅黑" panose="020B0503020204020204" charset="-122"/>
              <a:ea typeface="微软雅黑" panose="020B0503020204020204" charset="-122"/>
            </a:endParaRPr>
          </a:p>
        </p:txBody>
      </p:sp>
      <p:sp>
        <p:nvSpPr>
          <p:cNvPr id="16" name="Freeform 12"/>
          <p:cNvSpPr/>
          <p:nvPr/>
        </p:nvSpPr>
        <p:spPr bwMode="auto">
          <a:xfrm>
            <a:off x="4948767" y="1475468"/>
            <a:ext cx="1540933" cy="1591733"/>
          </a:xfrm>
          <a:custGeom>
            <a:avLst/>
            <a:gdLst/>
            <a:ahLst/>
            <a:cxnLst>
              <a:cxn ang="0">
                <a:pos x="313" y="41"/>
              </a:cxn>
              <a:cxn ang="0">
                <a:pos x="709" y="437"/>
              </a:cxn>
              <a:cxn ang="0">
                <a:pos x="682" y="463"/>
              </a:cxn>
              <a:cxn ang="0">
                <a:pos x="728" y="509"/>
              </a:cxn>
              <a:cxn ang="0">
                <a:pos x="483" y="752"/>
              </a:cxn>
              <a:cxn ang="0">
                <a:pos x="41" y="312"/>
              </a:cxn>
              <a:cxn ang="0">
                <a:pos x="0" y="352"/>
              </a:cxn>
              <a:cxn ang="0">
                <a:pos x="0" y="0"/>
              </a:cxn>
              <a:cxn ang="0">
                <a:pos x="349" y="0"/>
              </a:cxn>
              <a:cxn ang="0">
                <a:pos x="313" y="41"/>
              </a:cxn>
            </a:cxnLst>
            <a:rect l="0" t="0" r="r" b="b"/>
            <a:pathLst>
              <a:path w="728" h="752">
                <a:moveTo>
                  <a:pt x="313" y="41"/>
                </a:moveTo>
                <a:lnTo>
                  <a:pt x="709" y="437"/>
                </a:lnTo>
                <a:lnTo>
                  <a:pt x="682" y="463"/>
                </a:lnTo>
                <a:lnTo>
                  <a:pt x="728" y="509"/>
                </a:lnTo>
                <a:lnTo>
                  <a:pt x="483" y="752"/>
                </a:lnTo>
                <a:lnTo>
                  <a:pt x="41" y="312"/>
                </a:lnTo>
                <a:lnTo>
                  <a:pt x="0" y="352"/>
                </a:lnTo>
                <a:lnTo>
                  <a:pt x="0" y="0"/>
                </a:lnTo>
                <a:lnTo>
                  <a:pt x="349" y="0"/>
                </a:lnTo>
                <a:lnTo>
                  <a:pt x="313" y="41"/>
                </a:lnTo>
                <a:close/>
              </a:path>
            </a:pathLst>
          </a:custGeom>
          <a:solidFill>
            <a:srgbClr val="21798F"/>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dirty="0">
              <a:solidFill>
                <a:prstClr val="white"/>
              </a:solidFill>
              <a:highlight>
                <a:srgbClr val="21798F"/>
              </a:highlight>
              <a:latin typeface="微软雅黑" panose="020B0503020204020204" charset="-122"/>
              <a:ea typeface="微软雅黑" panose="020B0503020204020204" charset="-122"/>
            </a:endParaRPr>
          </a:p>
        </p:txBody>
      </p:sp>
      <p:sp>
        <p:nvSpPr>
          <p:cNvPr id="17" name="Freeform 13"/>
          <p:cNvSpPr/>
          <p:nvPr/>
        </p:nvSpPr>
        <p:spPr bwMode="auto">
          <a:xfrm>
            <a:off x="4944534" y="3416453"/>
            <a:ext cx="1555751" cy="1604433"/>
          </a:xfrm>
          <a:custGeom>
            <a:avLst/>
            <a:gdLst/>
            <a:ahLst/>
            <a:cxnLst>
              <a:cxn ang="0">
                <a:pos x="316" y="49"/>
              </a:cxn>
              <a:cxn ang="0">
                <a:pos x="711" y="442"/>
              </a:cxn>
              <a:cxn ang="0">
                <a:pos x="686" y="465"/>
              </a:cxn>
              <a:cxn ang="0">
                <a:pos x="735" y="514"/>
              </a:cxn>
              <a:cxn ang="0">
                <a:pos x="493" y="758"/>
              </a:cxn>
              <a:cxn ang="0">
                <a:pos x="49" y="316"/>
              </a:cxn>
              <a:cxn ang="0">
                <a:pos x="0" y="363"/>
              </a:cxn>
              <a:cxn ang="0">
                <a:pos x="0" y="0"/>
              </a:cxn>
              <a:cxn ang="0">
                <a:pos x="364" y="0"/>
              </a:cxn>
              <a:cxn ang="0">
                <a:pos x="316" y="49"/>
              </a:cxn>
            </a:cxnLst>
            <a:rect l="0" t="0" r="r" b="b"/>
            <a:pathLst>
              <a:path w="735" h="758">
                <a:moveTo>
                  <a:pt x="316" y="49"/>
                </a:moveTo>
                <a:lnTo>
                  <a:pt x="711" y="442"/>
                </a:lnTo>
                <a:lnTo>
                  <a:pt x="686" y="465"/>
                </a:lnTo>
                <a:lnTo>
                  <a:pt x="735" y="514"/>
                </a:lnTo>
                <a:lnTo>
                  <a:pt x="493" y="758"/>
                </a:lnTo>
                <a:lnTo>
                  <a:pt x="49" y="316"/>
                </a:lnTo>
                <a:lnTo>
                  <a:pt x="0" y="363"/>
                </a:lnTo>
                <a:lnTo>
                  <a:pt x="0" y="0"/>
                </a:lnTo>
                <a:lnTo>
                  <a:pt x="364" y="0"/>
                </a:lnTo>
                <a:lnTo>
                  <a:pt x="316" y="49"/>
                </a:lnTo>
                <a:close/>
              </a:path>
            </a:pathLst>
          </a:custGeom>
          <a:solidFill>
            <a:srgbClr val="21798F"/>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prstClr val="white"/>
              </a:solidFill>
              <a:latin typeface="微软雅黑" panose="020B0503020204020204" charset="-122"/>
              <a:ea typeface="微软雅黑" panose="020B0503020204020204" charset="-122"/>
            </a:endParaRPr>
          </a:p>
        </p:txBody>
      </p:sp>
      <p:sp>
        <p:nvSpPr>
          <p:cNvPr id="18" name="Freeform 14"/>
          <p:cNvSpPr/>
          <p:nvPr/>
        </p:nvSpPr>
        <p:spPr bwMode="auto">
          <a:xfrm>
            <a:off x="5706534" y="2455484"/>
            <a:ext cx="1540933" cy="1581149"/>
          </a:xfrm>
          <a:custGeom>
            <a:avLst/>
            <a:gdLst/>
            <a:ahLst/>
            <a:cxnLst>
              <a:cxn ang="0">
                <a:pos x="728" y="350"/>
              </a:cxn>
              <a:cxn ang="0">
                <a:pos x="684" y="306"/>
              </a:cxn>
              <a:cxn ang="0">
                <a:pos x="241" y="747"/>
              </a:cxn>
              <a:cxn ang="0">
                <a:pos x="0" y="507"/>
              </a:cxn>
              <a:cxn ang="0">
                <a:pos x="42" y="460"/>
              </a:cxn>
              <a:cxn ang="0">
                <a:pos x="21" y="439"/>
              </a:cxn>
              <a:cxn ang="0">
                <a:pos x="419" y="42"/>
              </a:cxn>
              <a:cxn ang="0">
                <a:pos x="377" y="0"/>
              </a:cxn>
              <a:cxn ang="0">
                <a:pos x="728" y="0"/>
              </a:cxn>
              <a:cxn ang="0">
                <a:pos x="728" y="350"/>
              </a:cxn>
            </a:cxnLst>
            <a:rect l="0" t="0" r="r" b="b"/>
            <a:pathLst>
              <a:path w="728" h="747">
                <a:moveTo>
                  <a:pt x="728" y="350"/>
                </a:moveTo>
                <a:lnTo>
                  <a:pt x="684" y="306"/>
                </a:lnTo>
                <a:lnTo>
                  <a:pt x="241" y="747"/>
                </a:lnTo>
                <a:lnTo>
                  <a:pt x="0" y="507"/>
                </a:lnTo>
                <a:lnTo>
                  <a:pt x="42" y="460"/>
                </a:lnTo>
                <a:lnTo>
                  <a:pt x="21" y="439"/>
                </a:lnTo>
                <a:lnTo>
                  <a:pt x="419" y="42"/>
                </a:lnTo>
                <a:lnTo>
                  <a:pt x="377" y="0"/>
                </a:lnTo>
                <a:lnTo>
                  <a:pt x="728" y="0"/>
                </a:lnTo>
                <a:lnTo>
                  <a:pt x="728" y="350"/>
                </a:lnTo>
                <a:close/>
              </a:path>
            </a:pathLst>
          </a:custGeom>
          <a:solidFill>
            <a:srgbClr val="00A6B2"/>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prstClr val="white"/>
              </a:solidFill>
              <a:latin typeface="微软雅黑" panose="020B0503020204020204" charset="-122"/>
              <a:ea typeface="微软雅黑" panose="020B0503020204020204" charset="-122"/>
            </a:endParaRPr>
          </a:p>
        </p:txBody>
      </p:sp>
      <p:sp>
        <p:nvSpPr>
          <p:cNvPr id="19" name="Text Placeholder 3"/>
          <p:cNvSpPr txBox="1"/>
          <p:nvPr/>
        </p:nvSpPr>
        <p:spPr>
          <a:xfrm rot="19086412">
            <a:off x="6668553" y="4665959"/>
            <a:ext cx="294953" cy="28732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200" eaLnBrk="1" fontAlgn="auto" hangingPunct="1">
              <a:spcBef>
                <a:spcPct val="20000"/>
              </a:spcBef>
              <a:spcAft>
                <a:spcPts val="0"/>
              </a:spcAft>
              <a:defRPr/>
            </a:pPr>
            <a:r>
              <a:rPr lang="en-US" sz="1865" dirty="0">
                <a:solidFill>
                  <a:prstClr val="white"/>
                </a:solidFill>
                <a:latin typeface="微软雅黑" panose="020B0503020204020204" charset="-122"/>
                <a:ea typeface="微软雅黑" panose="020B0503020204020204" charset="-122"/>
              </a:rPr>
              <a:t>01</a:t>
            </a:r>
          </a:p>
        </p:txBody>
      </p:sp>
      <p:sp>
        <p:nvSpPr>
          <p:cNvPr id="20" name="Text Placeholder 3"/>
          <p:cNvSpPr txBox="1"/>
          <p:nvPr/>
        </p:nvSpPr>
        <p:spPr>
          <a:xfrm rot="2817072">
            <a:off x="5196261" y="3655224"/>
            <a:ext cx="294953" cy="28732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200" eaLnBrk="1" fontAlgn="auto" hangingPunct="1">
              <a:spcBef>
                <a:spcPct val="20000"/>
              </a:spcBef>
              <a:spcAft>
                <a:spcPts val="0"/>
              </a:spcAft>
              <a:defRPr/>
            </a:pPr>
            <a:r>
              <a:rPr lang="en-US" sz="1865" dirty="0">
                <a:solidFill>
                  <a:prstClr val="white"/>
                </a:solidFill>
                <a:latin typeface="微软雅黑" panose="020B0503020204020204" charset="-122"/>
                <a:ea typeface="微软雅黑" panose="020B0503020204020204" charset="-122"/>
              </a:rPr>
              <a:t>02</a:t>
            </a:r>
          </a:p>
        </p:txBody>
      </p:sp>
      <p:sp>
        <p:nvSpPr>
          <p:cNvPr id="21" name="Text Placeholder 3"/>
          <p:cNvSpPr txBox="1"/>
          <p:nvPr/>
        </p:nvSpPr>
        <p:spPr>
          <a:xfrm rot="18997969">
            <a:off x="6648801" y="2722065"/>
            <a:ext cx="294953" cy="28732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200" eaLnBrk="1" fontAlgn="auto" hangingPunct="1">
              <a:spcBef>
                <a:spcPct val="20000"/>
              </a:spcBef>
              <a:spcAft>
                <a:spcPts val="0"/>
              </a:spcAft>
              <a:defRPr/>
            </a:pPr>
            <a:r>
              <a:rPr lang="en-US" sz="1865" dirty="0">
                <a:solidFill>
                  <a:prstClr val="white"/>
                </a:solidFill>
                <a:latin typeface="微软雅黑" panose="020B0503020204020204" charset="-122"/>
                <a:ea typeface="微软雅黑" panose="020B0503020204020204" charset="-122"/>
              </a:rPr>
              <a:t>03</a:t>
            </a:r>
          </a:p>
        </p:txBody>
      </p:sp>
      <p:sp>
        <p:nvSpPr>
          <p:cNvPr id="22" name="Text Placeholder 3"/>
          <p:cNvSpPr txBox="1"/>
          <p:nvPr/>
        </p:nvSpPr>
        <p:spPr>
          <a:xfrm rot="2817072">
            <a:off x="5216582" y="1748840"/>
            <a:ext cx="294953" cy="287323"/>
          </a:xfrm>
          <a:prstGeom prst="rect">
            <a:avLst/>
          </a:prstGeom>
        </p:spPr>
        <p:txBody>
          <a:bodyPr wrap="none" lIns="0" tIns="0" rIns="0" bIns="0" anchor="b">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defTabSz="1219200" eaLnBrk="1" fontAlgn="auto" hangingPunct="1">
              <a:spcBef>
                <a:spcPct val="20000"/>
              </a:spcBef>
              <a:spcAft>
                <a:spcPts val="0"/>
              </a:spcAft>
              <a:defRPr/>
            </a:pPr>
            <a:r>
              <a:rPr lang="en-US" sz="1865" dirty="0">
                <a:solidFill>
                  <a:prstClr val="white"/>
                </a:solidFill>
                <a:latin typeface="微软雅黑" panose="020B0503020204020204" charset="-122"/>
                <a:ea typeface="微软雅黑" panose="020B0503020204020204" charset="-122"/>
              </a:rPr>
              <a:t>04</a:t>
            </a:r>
          </a:p>
        </p:txBody>
      </p:sp>
      <p:sp>
        <p:nvSpPr>
          <p:cNvPr id="23" name="Rectangle 23"/>
          <p:cNvSpPr/>
          <p:nvPr/>
        </p:nvSpPr>
        <p:spPr>
          <a:xfrm rot="18897855">
            <a:off x="5826201" y="3265930"/>
            <a:ext cx="1029128" cy="205121"/>
          </a:xfrm>
          <a:prstGeom prst="rect">
            <a:avLst/>
          </a:prstGeom>
        </p:spPr>
        <p:txBody>
          <a:bodyPr wrap="none" lIns="0" tIns="0" rIns="0" bIns="0">
            <a:spAutoFit/>
          </a:bodyPr>
          <a:lstStyle/>
          <a:p>
            <a:pPr defTabSz="1219200" eaLnBrk="1" fontAlgn="auto" hangingPunct="1">
              <a:spcBef>
                <a:spcPts val="0"/>
              </a:spcBef>
              <a:spcAft>
                <a:spcPts val="0"/>
              </a:spcAft>
              <a:defRPr/>
            </a:pPr>
            <a:r>
              <a:rPr lang="zh-CN" altLang="en-US" sz="1335" dirty="0">
                <a:solidFill>
                  <a:prstClr val="white"/>
                </a:solidFill>
                <a:latin typeface="微软雅黑" panose="020B0503020204020204" charset="-122"/>
                <a:ea typeface="微软雅黑" panose="020B0503020204020204" charset="-122"/>
              </a:rPr>
              <a:t>合作协议签订</a:t>
            </a:r>
          </a:p>
        </p:txBody>
      </p:sp>
      <p:sp>
        <p:nvSpPr>
          <p:cNvPr id="25" name="Rectangle 26"/>
          <p:cNvSpPr/>
          <p:nvPr/>
        </p:nvSpPr>
        <p:spPr>
          <a:xfrm rot="2726022">
            <a:off x="5499261" y="2281540"/>
            <a:ext cx="686085" cy="205121"/>
          </a:xfrm>
          <a:prstGeom prst="rect">
            <a:avLst/>
          </a:prstGeom>
        </p:spPr>
        <p:txBody>
          <a:bodyPr wrap="none" lIns="0" tIns="0" rIns="0" bIns="0">
            <a:spAutoFit/>
          </a:bodyPr>
          <a:lstStyle/>
          <a:p>
            <a:pPr defTabSz="1219200" eaLnBrk="1" fontAlgn="auto" hangingPunct="1">
              <a:spcBef>
                <a:spcPts val="0"/>
              </a:spcBef>
              <a:spcAft>
                <a:spcPts val="0"/>
              </a:spcAft>
              <a:defRPr/>
            </a:pPr>
            <a:r>
              <a:rPr lang="zh-CN" altLang="en-US" sz="1335" dirty="0">
                <a:solidFill>
                  <a:prstClr val="white"/>
                </a:solidFill>
                <a:latin typeface="微软雅黑" panose="020B0503020204020204" charset="-122"/>
                <a:ea typeface="微软雅黑" panose="020B0503020204020204" charset="-122"/>
              </a:rPr>
              <a:t>合作实施</a:t>
            </a:r>
          </a:p>
        </p:txBody>
      </p:sp>
      <p:sp>
        <p:nvSpPr>
          <p:cNvPr id="26" name="Rectangle 27"/>
          <p:cNvSpPr/>
          <p:nvPr/>
        </p:nvSpPr>
        <p:spPr>
          <a:xfrm rot="2786029">
            <a:off x="5314041" y="4218665"/>
            <a:ext cx="1029128" cy="205121"/>
          </a:xfrm>
          <a:prstGeom prst="rect">
            <a:avLst/>
          </a:prstGeom>
        </p:spPr>
        <p:txBody>
          <a:bodyPr wrap="none" lIns="0" tIns="0" rIns="0" bIns="0">
            <a:spAutoFit/>
          </a:bodyPr>
          <a:lstStyle/>
          <a:p>
            <a:pPr defTabSz="1219200" eaLnBrk="1" fontAlgn="auto" hangingPunct="1">
              <a:spcBef>
                <a:spcPts val="0"/>
              </a:spcBef>
              <a:spcAft>
                <a:spcPts val="0"/>
              </a:spcAft>
              <a:defRPr/>
            </a:pPr>
            <a:r>
              <a:rPr lang="zh-CN" altLang="en-US" sz="1335" dirty="0">
                <a:solidFill>
                  <a:prstClr val="white"/>
                </a:solidFill>
                <a:latin typeface="微软雅黑" panose="020B0503020204020204" charset="-122"/>
                <a:ea typeface="微软雅黑" panose="020B0503020204020204" charset="-122"/>
              </a:rPr>
              <a:t>合作模式确认</a:t>
            </a:r>
          </a:p>
        </p:txBody>
      </p:sp>
      <p:sp>
        <p:nvSpPr>
          <p:cNvPr id="27" name="Rectangle 28"/>
          <p:cNvSpPr/>
          <p:nvPr/>
        </p:nvSpPr>
        <p:spPr>
          <a:xfrm rot="18897855">
            <a:off x="5838900" y="5186164"/>
            <a:ext cx="1029128" cy="205121"/>
          </a:xfrm>
          <a:prstGeom prst="rect">
            <a:avLst/>
          </a:prstGeom>
        </p:spPr>
        <p:txBody>
          <a:bodyPr wrap="none" lIns="0" tIns="0" rIns="0" bIns="0">
            <a:spAutoFit/>
          </a:bodyPr>
          <a:lstStyle/>
          <a:p>
            <a:pPr defTabSz="1219200" eaLnBrk="1" fontAlgn="auto" hangingPunct="1">
              <a:spcBef>
                <a:spcPts val="0"/>
              </a:spcBef>
              <a:spcAft>
                <a:spcPts val="0"/>
              </a:spcAft>
              <a:defRPr/>
            </a:pPr>
            <a:r>
              <a:rPr lang="zh-CN" altLang="en-US" sz="1335" dirty="0">
                <a:solidFill>
                  <a:prstClr val="white"/>
                </a:solidFill>
                <a:latin typeface="微软雅黑" panose="020B0503020204020204" charset="-122"/>
                <a:ea typeface="微软雅黑" panose="020B0503020204020204" charset="-122"/>
              </a:rPr>
              <a:t>合作意向确认</a:t>
            </a:r>
          </a:p>
        </p:txBody>
      </p:sp>
      <p:sp>
        <p:nvSpPr>
          <p:cNvPr id="28" name="Freeform 100"/>
          <p:cNvSpPr>
            <a:spLocks noEditPoints="1"/>
          </p:cNvSpPr>
          <p:nvPr/>
        </p:nvSpPr>
        <p:spPr bwMode="auto">
          <a:xfrm>
            <a:off x="5521176" y="6248933"/>
            <a:ext cx="511715" cy="490540"/>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prstClr val="white"/>
              </a:solidFill>
              <a:latin typeface="微软雅黑" panose="020B0503020204020204" charset="-122"/>
              <a:ea typeface="微软雅黑" panose="020B0503020204020204" charset="-122"/>
            </a:endParaRPr>
          </a:p>
        </p:txBody>
      </p:sp>
      <p:sp>
        <p:nvSpPr>
          <p:cNvPr id="29" name="Freeform 187"/>
          <p:cNvSpPr>
            <a:spLocks noEditPoints="1"/>
          </p:cNvSpPr>
          <p:nvPr/>
        </p:nvSpPr>
        <p:spPr bwMode="auto">
          <a:xfrm>
            <a:off x="7380593" y="4445707"/>
            <a:ext cx="580319" cy="375036"/>
          </a:xfrm>
          <a:custGeom>
            <a:avLst/>
            <a:gdLst/>
            <a:ahLst/>
            <a:cxnLst>
              <a:cxn ang="0">
                <a:pos x="68" y="25"/>
              </a:cxn>
              <a:cxn ang="0">
                <a:pos x="34" y="44"/>
              </a:cxn>
              <a:cxn ang="0">
                <a:pos x="1" y="25"/>
              </a:cxn>
              <a:cxn ang="0">
                <a:pos x="0" y="22"/>
              </a:cxn>
              <a:cxn ang="0">
                <a:pos x="1" y="20"/>
              </a:cxn>
              <a:cxn ang="0">
                <a:pos x="34" y="0"/>
              </a:cxn>
              <a:cxn ang="0">
                <a:pos x="68" y="20"/>
              </a:cxn>
              <a:cxn ang="0">
                <a:pos x="68" y="22"/>
              </a:cxn>
              <a:cxn ang="0">
                <a:pos x="68" y="25"/>
              </a:cxn>
              <a:cxn ang="0">
                <a:pos x="49" y="9"/>
              </a:cxn>
              <a:cxn ang="0">
                <a:pos x="51" y="17"/>
              </a:cxn>
              <a:cxn ang="0">
                <a:pos x="34" y="34"/>
              </a:cxn>
              <a:cxn ang="0">
                <a:pos x="17" y="17"/>
              </a:cxn>
              <a:cxn ang="0">
                <a:pos x="20" y="9"/>
              </a:cxn>
              <a:cxn ang="0">
                <a:pos x="5" y="22"/>
              </a:cxn>
              <a:cxn ang="0">
                <a:pos x="34" y="39"/>
              </a:cxn>
              <a:cxn ang="0">
                <a:pos x="64" y="22"/>
              </a:cxn>
              <a:cxn ang="0">
                <a:pos x="49" y="9"/>
              </a:cxn>
              <a:cxn ang="0">
                <a:pos x="34" y="6"/>
              </a:cxn>
              <a:cxn ang="0">
                <a:pos x="23" y="17"/>
              </a:cxn>
              <a:cxn ang="0">
                <a:pos x="25" y="19"/>
              </a:cxn>
              <a:cxn ang="0">
                <a:pos x="27" y="17"/>
              </a:cxn>
              <a:cxn ang="0">
                <a:pos x="34" y="9"/>
              </a:cxn>
              <a:cxn ang="0">
                <a:pos x="36" y="8"/>
              </a:cxn>
              <a:cxn ang="0">
                <a:pos x="34" y="6"/>
              </a:cxn>
            </a:cxnLst>
            <a:rect l="0" t="0" r="r" b="b"/>
            <a:pathLst>
              <a:path w="68" h="44">
                <a:moveTo>
                  <a:pt x="68" y="25"/>
                </a:moveTo>
                <a:cubicBezTo>
                  <a:pt x="61" y="36"/>
                  <a:pt x="48" y="44"/>
                  <a:pt x="34" y="44"/>
                </a:cubicBezTo>
                <a:cubicBezTo>
                  <a:pt x="21" y="44"/>
                  <a:pt x="8" y="36"/>
                  <a:pt x="1" y="25"/>
                </a:cubicBezTo>
                <a:cubicBezTo>
                  <a:pt x="1" y="24"/>
                  <a:pt x="0" y="23"/>
                  <a:pt x="0" y="22"/>
                </a:cubicBezTo>
                <a:cubicBezTo>
                  <a:pt x="0" y="21"/>
                  <a:pt x="1" y="20"/>
                  <a:pt x="1" y="20"/>
                </a:cubicBezTo>
                <a:cubicBezTo>
                  <a:pt x="8" y="8"/>
                  <a:pt x="21" y="0"/>
                  <a:pt x="34" y="0"/>
                </a:cubicBezTo>
                <a:cubicBezTo>
                  <a:pt x="48" y="0"/>
                  <a:pt x="61" y="8"/>
                  <a:pt x="68" y="20"/>
                </a:cubicBezTo>
                <a:cubicBezTo>
                  <a:pt x="68" y="20"/>
                  <a:pt x="68" y="21"/>
                  <a:pt x="68" y="22"/>
                </a:cubicBezTo>
                <a:cubicBezTo>
                  <a:pt x="68" y="23"/>
                  <a:pt x="68" y="24"/>
                  <a:pt x="68" y="25"/>
                </a:cubicBezTo>
                <a:close/>
                <a:moveTo>
                  <a:pt x="49" y="9"/>
                </a:moveTo>
                <a:cubicBezTo>
                  <a:pt x="51" y="11"/>
                  <a:pt x="51" y="14"/>
                  <a:pt x="51" y="17"/>
                </a:cubicBezTo>
                <a:cubicBezTo>
                  <a:pt x="51" y="27"/>
                  <a:pt x="44" y="34"/>
                  <a:pt x="34" y="34"/>
                </a:cubicBezTo>
                <a:cubicBezTo>
                  <a:pt x="25" y="34"/>
                  <a:pt x="17" y="27"/>
                  <a:pt x="17" y="17"/>
                </a:cubicBezTo>
                <a:cubicBezTo>
                  <a:pt x="17" y="14"/>
                  <a:pt x="18" y="11"/>
                  <a:pt x="20" y="9"/>
                </a:cubicBezTo>
                <a:cubicBezTo>
                  <a:pt x="14" y="12"/>
                  <a:pt x="9" y="17"/>
                  <a:pt x="5" y="22"/>
                </a:cubicBezTo>
                <a:cubicBezTo>
                  <a:pt x="12" y="32"/>
                  <a:pt x="22" y="39"/>
                  <a:pt x="34" y="39"/>
                </a:cubicBezTo>
                <a:cubicBezTo>
                  <a:pt x="47" y="39"/>
                  <a:pt x="57" y="32"/>
                  <a:pt x="64" y="22"/>
                </a:cubicBezTo>
                <a:cubicBezTo>
                  <a:pt x="60" y="17"/>
                  <a:pt x="55" y="12"/>
                  <a:pt x="49" y="9"/>
                </a:cubicBezTo>
                <a:close/>
                <a:moveTo>
                  <a:pt x="34" y="6"/>
                </a:moveTo>
                <a:cubicBezTo>
                  <a:pt x="28" y="6"/>
                  <a:pt x="23" y="11"/>
                  <a:pt x="23" y="17"/>
                </a:cubicBezTo>
                <a:cubicBezTo>
                  <a:pt x="23" y="18"/>
                  <a:pt x="24" y="19"/>
                  <a:pt x="25" y="19"/>
                </a:cubicBezTo>
                <a:cubicBezTo>
                  <a:pt x="26" y="19"/>
                  <a:pt x="27" y="18"/>
                  <a:pt x="27" y="17"/>
                </a:cubicBezTo>
                <a:cubicBezTo>
                  <a:pt x="27" y="13"/>
                  <a:pt x="30" y="9"/>
                  <a:pt x="34" y="9"/>
                </a:cubicBezTo>
                <a:cubicBezTo>
                  <a:pt x="35" y="9"/>
                  <a:pt x="36" y="9"/>
                  <a:pt x="36" y="8"/>
                </a:cubicBezTo>
                <a:cubicBezTo>
                  <a:pt x="36" y="7"/>
                  <a:pt x="35" y="6"/>
                  <a:pt x="34" y="6"/>
                </a:cubicBezTo>
                <a:close/>
              </a:path>
            </a:pathLst>
          </a:custGeom>
          <a:solidFill>
            <a:srgbClr val="00A6B2"/>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srgbClr val="464646"/>
              </a:solidFill>
              <a:latin typeface="微软雅黑" panose="020B0503020204020204" charset="-122"/>
              <a:ea typeface="微软雅黑" panose="020B0503020204020204" charset="-122"/>
            </a:endParaRPr>
          </a:p>
        </p:txBody>
      </p:sp>
      <p:sp>
        <p:nvSpPr>
          <p:cNvPr id="30" name="Freeform 52"/>
          <p:cNvSpPr>
            <a:spLocks noEditPoints="1"/>
          </p:cNvSpPr>
          <p:nvPr/>
        </p:nvSpPr>
        <p:spPr bwMode="auto">
          <a:xfrm>
            <a:off x="4308606" y="3465587"/>
            <a:ext cx="558447" cy="558447"/>
          </a:xfrm>
          <a:custGeom>
            <a:avLst/>
            <a:gdLst/>
            <a:ahLst/>
            <a:cxnLst>
              <a:cxn ang="0">
                <a:pos x="27" y="55"/>
              </a:cxn>
              <a:cxn ang="0">
                <a:pos x="0" y="27"/>
              </a:cxn>
              <a:cxn ang="0">
                <a:pos x="27" y="0"/>
              </a:cxn>
              <a:cxn ang="0">
                <a:pos x="55" y="27"/>
              </a:cxn>
              <a:cxn ang="0">
                <a:pos x="27" y="55"/>
              </a:cxn>
              <a:cxn ang="0">
                <a:pos x="27" y="8"/>
              </a:cxn>
              <a:cxn ang="0">
                <a:pos x="8" y="27"/>
              </a:cxn>
              <a:cxn ang="0">
                <a:pos x="27" y="47"/>
              </a:cxn>
              <a:cxn ang="0">
                <a:pos x="47" y="27"/>
              </a:cxn>
              <a:cxn ang="0">
                <a:pos x="27" y="8"/>
              </a:cxn>
              <a:cxn ang="0">
                <a:pos x="32" y="31"/>
              </a:cxn>
              <a:cxn ang="0">
                <a:pos x="31" y="32"/>
              </a:cxn>
              <a:cxn ang="0">
                <a:pos x="19" y="32"/>
              </a:cxn>
              <a:cxn ang="0">
                <a:pos x="18" y="31"/>
              </a:cxn>
              <a:cxn ang="0">
                <a:pos x="18" y="28"/>
              </a:cxn>
              <a:cxn ang="0">
                <a:pos x="19" y="27"/>
              </a:cxn>
              <a:cxn ang="0">
                <a:pos x="27" y="27"/>
              </a:cxn>
              <a:cxn ang="0">
                <a:pos x="27" y="15"/>
              </a:cxn>
              <a:cxn ang="0">
                <a:pos x="28" y="14"/>
              </a:cxn>
              <a:cxn ang="0">
                <a:pos x="31" y="14"/>
              </a:cxn>
              <a:cxn ang="0">
                <a:pos x="32" y="15"/>
              </a:cxn>
              <a:cxn ang="0">
                <a:pos x="32" y="31"/>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27" y="8"/>
                </a:moveTo>
                <a:cubicBezTo>
                  <a:pt x="16" y="8"/>
                  <a:pt x="8" y="17"/>
                  <a:pt x="8" y="27"/>
                </a:cubicBezTo>
                <a:cubicBezTo>
                  <a:pt x="8" y="38"/>
                  <a:pt x="16" y="47"/>
                  <a:pt x="27" y="47"/>
                </a:cubicBezTo>
                <a:cubicBezTo>
                  <a:pt x="38" y="47"/>
                  <a:pt x="47" y="38"/>
                  <a:pt x="47" y="27"/>
                </a:cubicBezTo>
                <a:cubicBezTo>
                  <a:pt x="47" y="17"/>
                  <a:pt x="38" y="8"/>
                  <a:pt x="27" y="8"/>
                </a:cubicBezTo>
                <a:close/>
                <a:moveTo>
                  <a:pt x="32" y="31"/>
                </a:moveTo>
                <a:cubicBezTo>
                  <a:pt x="32" y="31"/>
                  <a:pt x="31" y="32"/>
                  <a:pt x="31" y="32"/>
                </a:cubicBezTo>
                <a:cubicBezTo>
                  <a:pt x="19" y="32"/>
                  <a:pt x="19" y="32"/>
                  <a:pt x="19" y="32"/>
                </a:cubicBezTo>
                <a:cubicBezTo>
                  <a:pt x="19" y="32"/>
                  <a:pt x="18" y="31"/>
                  <a:pt x="18" y="31"/>
                </a:cubicBezTo>
                <a:cubicBezTo>
                  <a:pt x="18" y="28"/>
                  <a:pt x="18" y="28"/>
                  <a:pt x="18" y="28"/>
                </a:cubicBezTo>
                <a:cubicBezTo>
                  <a:pt x="18" y="28"/>
                  <a:pt x="19" y="27"/>
                  <a:pt x="19" y="27"/>
                </a:cubicBezTo>
                <a:cubicBezTo>
                  <a:pt x="27" y="27"/>
                  <a:pt x="27" y="27"/>
                  <a:pt x="27" y="27"/>
                </a:cubicBezTo>
                <a:cubicBezTo>
                  <a:pt x="27" y="15"/>
                  <a:pt x="27" y="15"/>
                  <a:pt x="27" y="15"/>
                </a:cubicBezTo>
                <a:cubicBezTo>
                  <a:pt x="27" y="14"/>
                  <a:pt x="28" y="14"/>
                  <a:pt x="28" y="14"/>
                </a:cubicBezTo>
                <a:cubicBezTo>
                  <a:pt x="31" y="14"/>
                  <a:pt x="31" y="14"/>
                  <a:pt x="31" y="14"/>
                </a:cubicBezTo>
                <a:cubicBezTo>
                  <a:pt x="31" y="14"/>
                  <a:pt x="32" y="14"/>
                  <a:pt x="32" y="15"/>
                </a:cubicBezTo>
                <a:lnTo>
                  <a:pt x="32" y="31"/>
                </a:lnTo>
                <a:close/>
              </a:path>
            </a:pathLst>
          </a:custGeom>
          <a:solidFill>
            <a:srgbClr val="21798F"/>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srgbClr val="464646"/>
              </a:solidFill>
              <a:latin typeface="微软雅黑" panose="020B0503020204020204" charset="-122"/>
              <a:ea typeface="微软雅黑" panose="020B0503020204020204" charset="-122"/>
            </a:endParaRPr>
          </a:p>
        </p:txBody>
      </p:sp>
      <p:sp>
        <p:nvSpPr>
          <p:cNvPr id="31" name="Freeform 51"/>
          <p:cNvSpPr>
            <a:spLocks noEditPoints="1"/>
          </p:cNvSpPr>
          <p:nvPr/>
        </p:nvSpPr>
        <p:spPr bwMode="auto">
          <a:xfrm>
            <a:off x="7346965" y="2382490"/>
            <a:ext cx="481521" cy="681703"/>
          </a:xfrm>
          <a:custGeom>
            <a:avLst/>
            <a:gdLst/>
            <a:ahLst/>
            <a:cxnLst>
              <a:cxn ang="0">
                <a:pos x="30" y="24"/>
              </a:cxn>
              <a:cxn ang="0">
                <a:pos x="30" y="54"/>
              </a:cxn>
              <a:cxn ang="0">
                <a:pos x="26" y="58"/>
              </a:cxn>
              <a:cxn ang="0">
                <a:pos x="22" y="54"/>
              </a:cxn>
              <a:cxn ang="0">
                <a:pos x="22" y="40"/>
              </a:cxn>
              <a:cxn ang="0">
                <a:pos x="19" y="40"/>
              </a:cxn>
              <a:cxn ang="0">
                <a:pos x="19" y="54"/>
              </a:cxn>
              <a:cxn ang="0">
                <a:pos x="15" y="58"/>
              </a:cxn>
              <a:cxn ang="0">
                <a:pos x="11" y="54"/>
              </a:cxn>
              <a:cxn ang="0">
                <a:pos x="11" y="24"/>
              </a:cxn>
              <a:cxn ang="0">
                <a:pos x="1" y="14"/>
              </a:cxn>
              <a:cxn ang="0">
                <a:pos x="1" y="9"/>
              </a:cxn>
              <a:cxn ang="0">
                <a:pos x="6" y="9"/>
              </a:cxn>
              <a:cxn ang="0">
                <a:pos x="14" y="17"/>
              </a:cxn>
              <a:cxn ang="0">
                <a:pos x="27" y="17"/>
              </a:cxn>
              <a:cxn ang="0">
                <a:pos x="35" y="9"/>
              </a:cxn>
              <a:cxn ang="0">
                <a:pos x="40" y="9"/>
              </a:cxn>
              <a:cxn ang="0">
                <a:pos x="40" y="14"/>
              </a:cxn>
              <a:cxn ang="0">
                <a:pos x="30" y="24"/>
              </a:cxn>
              <a:cxn ang="0">
                <a:pos x="21" y="16"/>
              </a:cxn>
              <a:cxn ang="0">
                <a:pos x="13" y="8"/>
              </a:cxn>
              <a:cxn ang="0">
                <a:pos x="21" y="0"/>
              </a:cxn>
              <a:cxn ang="0">
                <a:pos x="29" y="8"/>
              </a:cxn>
              <a:cxn ang="0">
                <a:pos x="21" y="16"/>
              </a:cxn>
            </a:cxnLst>
            <a:rect l="0" t="0" r="r" b="b"/>
            <a:pathLst>
              <a:path w="41" h="58">
                <a:moveTo>
                  <a:pt x="30" y="24"/>
                </a:moveTo>
                <a:cubicBezTo>
                  <a:pt x="30" y="54"/>
                  <a:pt x="30" y="54"/>
                  <a:pt x="30" y="54"/>
                </a:cubicBezTo>
                <a:cubicBezTo>
                  <a:pt x="30" y="56"/>
                  <a:pt x="28" y="58"/>
                  <a:pt x="26" y="58"/>
                </a:cubicBezTo>
                <a:cubicBezTo>
                  <a:pt x="24" y="58"/>
                  <a:pt x="22" y="56"/>
                  <a:pt x="22" y="54"/>
                </a:cubicBezTo>
                <a:cubicBezTo>
                  <a:pt x="22" y="40"/>
                  <a:pt x="22" y="40"/>
                  <a:pt x="22" y="40"/>
                </a:cubicBezTo>
                <a:cubicBezTo>
                  <a:pt x="19" y="40"/>
                  <a:pt x="19" y="40"/>
                  <a:pt x="19" y="40"/>
                </a:cubicBezTo>
                <a:cubicBezTo>
                  <a:pt x="19" y="54"/>
                  <a:pt x="19" y="54"/>
                  <a:pt x="19" y="54"/>
                </a:cubicBezTo>
                <a:cubicBezTo>
                  <a:pt x="19" y="56"/>
                  <a:pt x="18" y="58"/>
                  <a:pt x="15" y="58"/>
                </a:cubicBezTo>
                <a:cubicBezTo>
                  <a:pt x="13" y="58"/>
                  <a:pt x="11" y="56"/>
                  <a:pt x="11" y="54"/>
                </a:cubicBezTo>
                <a:cubicBezTo>
                  <a:pt x="11" y="24"/>
                  <a:pt x="11" y="24"/>
                  <a:pt x="11" y="24"/>
                </a:cubicBezTo>
                <a:cubicBezTo>
                  <a:pt x="1" y="14"/>
                  <a:pt x="1" y="14"/>
                  <a:pt x="1" y="14"/>
                </a:cubicBezTo>
                <a:cubicBezTo>
                  <a:pt x="0" y="13"/>
                  <a:pt x="0" y="10"/>
                  <a:pt x="1" y="9"/>
                </a:cubicBezTo>
                <a:cubicBezTo>
                  <a:pt x="2" y="8"/>
                  <a:pt x="5" y="8"/>
                  <a:pt x="6" y="9"/>
                </a:cubicBezTo>
                <a:cubicBezTo>
                  <a:pt x="14" y="17"/>
                  <a:pt x="14" y="17"/>
                  <a:pt x="14" y="17"/>
                </a:cubicBezTo>
                <a:cubicBezTo>
                  <a:pt x="27" y="17"/>
                  <a:pt x="27" y="17"/>
                  <a:pt x="27" y="17"/>
                </a:cubicBezTo>
                <a:cubicBezTo>
                  <a:pt x="35" y="9"/>
                  <a:pt x="35" y="9"/>
                  <a:pt x="35" y="9"/>
                </a:cubicBezTo>
                <a:cubicBezTo>
                  <a:pt x="37" y="8"/>
                  <a:pt x="39" y="8"/>
                  <a:pt x="40" y="9"/>
                </a:cubicBezTo>
                <a:cubicBezTo>
                  <a:pt x="41" y="10"/>
                  <a:pt x="41" y="13"/>
                  <a:pt x="40" y="14"/>
                </a:cubicBezTo>
                <a:lnTo>
                  <a:pt x="30" y="24"/>
                </a:lnTo>
                <a:close/>
                <a:moveTo>
                  <a:pt x="21" y="16"/>
                </a:moveTo>
                <a:cubicBezTo>
                  <a:pt x="16" y="16"/>
                  <a:pt x="13" y="12"/>
                  <a:pt x="13" y="8"/>
                </a:cubicBezTo>
                <a:cubicBezTo>
                  <a:pt x="13" y="4"/>
                  <a:pt x="16" y="0"/>
                  <a:pt x="21" y="0"/>
                </a:cubicBezTo>
                <a:cubicBezTo>
                  <a:pt x="25" y="0"/>
                  <a:pt x="29" y="4"/>
                  <a:pt x="29" y="8"/>
                </a:cubicBezTo>
                <a:cubicBezTo>
                  <a:pt x="29" y="12"/>
                  <a:pt x="25" y="16"/>
                  <a:pt x="21" y="16"/>
                </a:cubicBezTo>
                <a:close/>
              </a:path>
            </a:pathLst>
          </a:custGeom>
          <a:solidFill>
            <a:srgbClr val="00A6B2"/>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srgbClr val="464646"/>
              </a:solidFill>
              <a:latin typeface="微软雅黑" panose="020B0503020204020204" charset="-122"/>
              <a:ea typeface="微软雅黑" panose="020B0503020204020204" charset="-122"/>
            </a:endParaRPr>
          </a:p>
        </p:txBody>
      </p:sp>
      <p:sp>
        <p:nvSpPr>
          <p:cNvPr id="32" name="Freeform 152"/>
          <p:cNvSpPr>
            <a:spLocks noEditPoints="1"/>
          </p:cNvSpPr>
          <p:nvPr/>
        </p:nvSpPr>
        <p:spPr bwMode="auto">
          <a:xfrm>
            <a:off x="4288344" y="1536166"/>
            <a:ext cx="529296" cy="489141"/>
          </a:xfrm>
          <a:custGeom>
            <a:avLst/>
            <a:gdLst/>
            <a:ahLst/>
            <a:cxnLst>
              <a:cxn ang="0">
                <a:pos x="67" y="20"/>
              </a:cxn>
              <a:cxn ang="0">
                <a:pos x="46" y="36"/>
              </a:cxn>
              <a:cxn ang="0">
                <a:pos x="42" y="40"/>
              </a:cxn>
              <a:cxn ang="0">
                <a:pos x="39" y="47"/>
              </a:cxn>
              <a:cxn ang="0">
                <a:pos x="44" y="52"/>
              </a:cxn>
              <a:cxn ang="0">
                <a:pos x="52" y="58"/>
              </a:cxn>
              <a:cxn ang="0">
                <a:pos x="52" y="61"/>
              </a:cxn>
              <a:cxn ang="0">
                <a:pos x="51" y="62"/>
              </a:cxn>
              <a:cxn ang="0">
                <a:pos x="17" y="62"/>
              </a:cxn>
              <a:cxn ang="0">
                <a:pos x="16" y="61"/>
              </a:cxn>
              <a:cxn ang="0">
                <a:pos x="16" y="58"/>
              </a:cxn>
              <a:cxn ang="0">
                <a:pos x="24" y="52"/>
              </a:cxn>
              <a:cxn ang="0">
                <a:pos x="29" y="47"/>
              </a:cxn>
              <a:cxn ang="0">
                <a:pos x="26" y="40"/>
              </a:cxn>
              <a:cxn ang="0">
                <a:pos x="22" y="36"/>
              </a:cxn>
              <a:cxn ang="0">
                <a:pos x="0" y="20"/>
              </a:cxn>
              <a:cxn ang="0">
                <a:pos x="0" y="15"/>
              </a:cxn>
              <a:cxn ang="0">
                <a:pos x="4" y="11"/>
              </a:cxn>
              <a:cxn ang="0">
                <a:pos x="16" y="11"/>
              </a:cxn>
              <a:cxn ang="0">
                <a:pos x="16" y="7"/>
              </a:cxn>
              <a:cxn ang="0">
                <a:pos x="22" y="0"/>
              </a:cxn>
              <a:cxn ang="0">
                <a:pos x="45" y="0"/>
              </a:cxn>
              <a:cxn ang="0">
                <a:pos x="52" y="7"/>
              </a:cxn>
              <a:cxn ang="0">
                <a:pos x="52" y="11"/>
              </a:cxn>
              <a:cxn ang="0">
                <a:pos x="63" y="11"/>
              </a:cxn>
              <a:cxn ang="0">
                <a:pos x="67" y="15"/>
              </a:cxn>
              <a:cxn ang="0">
                <a:pos x="67" y="20"/>
              </a:cxn>
              <a:cxn ang="0">
                <a:pos x="16" y="16"/>
              </a:cxn>
              <a:cxn ang="0">
                <a:pos x="6" y="16"/>
              </a:cxn>
              <a:cxn ang="0">
                <a:pos x="6" y="20"/>
              </a:cxn>
              <a:cxn ang="0">
                <a:pos x="19" y="31"/>
              </a:cxn>
              <a:cxn ang="0">
                <a:pos x="16" y="16"/>
              </a:cxn>
              <a:cxn ang="0">
                <a:pos x="62" y="16"/>
              </a:cxn>
              <a:cxn ang="0">
                <a:pos x="52" y="16"/>
              </a:cxn>
              <a:cxn ang="0">
                <a:pos x="49" y="31"/>
              </a:cxn>
              <a:cxn ang="0">
                <a:pos x="62" y="20"/>
              </a:cxn>
              <a:cxn ang="0">
                <a:pos x="62" y="16"/>
              </a:cxn>
            </a:cxnLst>
            <a:rect l="0" t="0" r="r" b="b"/>
            <a:pathLst>
              <a:path w="67" h="62">
                <a:moveTo>
                  <a:pt x="67" y="20"/>
                </a:moveTo>
                <a:cubicBezTo>
                  <a:pt x="67" y="27"/>
                  <a:pt x="58" y="36"/>
                  <a:pt x="46" y="36"/>
                </a:cubicBezTo>
                <a:cubicBezTo>
                  <a:pt x="44" y="38"/>
                  <a:pt x="42" y="40"/>
                  <a:pt x="42" y="40"/>
                </a:cubicBezTo>
                <a:cubicBezTo>
                  <a:pt x="40" y="42"/>
                  <a:pt x="39" y="44"/>
                  <a:pt x="39" y="47"/>
                </a:cubicBezTo>
                <a:cubicBezTo>
                  <a:pt x="39" y="49"/>
                  <a:pt x="40" y="52"/>
                  <a:pt x="44" y="52"/>
                </a:cubicBezTo>
                <a:cubicBezTo>
                  <a:pt x="48" y="52"/>
                  <a:pt x="52" y="54"/>
                  <a:pt x="52" y="58"/>
                </a:cubicBezTo>
                <a:cubicBezTo>
                  <a:pt x="52" y="61"/>
                  <a:pt x="52" y="61"/>
                  <a:pt x="52" y="61"/>
                </a:cubicBezTo>
                <a:cubicBezTo>
                  <a:pt x="52" y="62"/>
                  <a:pt x="51" y="62"/>
                  <a:pt x="51" y="62"/>
                </a:cubicBezTo>
                <a:cubicBezTo>
                  <a:pt x="17" y="62"/>
                  <a:pt x="17" y="62"/>
                  <a:pt x="17" y="62"/>
                </a:cubicBezTo>
                <a:cubicBezTo>
                  <a:pt x="16" y="62"/>
                  <a:pt x="16" y="62"/>
                  <a:pt x="16" y="61"/>
                </a:cubicBezTo>
                <a:cubicBezTo>
                  <a:pt x="16" y="58"/>
                  <a:pt x="16" y="58"/>
                  <a:pt x="16" y="58"/>
                </a:cubicBezTo>
                <a:cubicBezTo>
                  <a:pt x="16" y="54"/>
                  <a:pt x="20" y="52"/>
                  <a:pt x="24" y="52"/>
                </a:cubicBezTo>
                <a:cubicBezTo>
                  <a:pt x="27" y="52"/>
                  <a:pt x="29" y="49"/>
                  <a:pt x="29" y="47"/>
                </a:cubicBezTo>
                <a:cubicBezTo>
                  <a:pt x="29" y="44"/>
                  <a:pt x="28" y="42"/>
                  <a:pt x="26" y="40"/>
                </a:cubicBezTo>
                <a:cubicBezTo>
                  <a:pt x="25" y="40"/>
                  <a:pt x="24" y="38"/>
                  <a:pt x="22" y="36"/>
                </a:cubicBezTo>
                <a:cubicBezTo>
                  <a:pt x="10" y="36"/>
                  <a:pt x="0" y="27"/>
                  <a:pt x="0" y="20"/>
                </a:cubicBezTo>
                <a:cubicBezTo>
                  <a:pt x="0" y="15"/>
                  <a:pt x="0" y="15"/>
                  <a:pt x="0" y="15"/>
                </a:cubicBezTo>
                <a:cubicBezTo>
                  <a:pt x="0" y="12"/>
                  <a:pt x="2" y="11"/>
                  <a:pt x="4" y="11"/>
                </a:cubicBezTo>
                <a:cubicBezTo>
                  <a:pt x="16" y="11"/>
                  <a:pt x="16" y="11"/>
                  <a:pt x="16" y="11"/>
                </a:cubicBezTo>
                <a:cubicBezTo>
                  <a:pt x="16" y="7"/>
                  <a:pt x="16" y="7"/>
                  <a:pt x="16" y="7"/>
                </a:cubicBezTo>
                <a:cubicBezTo>
                  <a:pt x="16" y="3"/>
                  <a:pt x="19" y="0"/>
                  <a:pt x="22" y="0"/>
                </a:cubicBezTo>
                <a:cubicBezTo>
                  <a:pt x="45" y="0"/>
                  <a:pt x="45" y="0"/>
                  <a:pt x="45" y="0"/>
                </a:cubicBezTo>
                <a:cubicBezTo>
                  <a:pt x="49" y="0"/>
                  <a:pt x="52" y="3"/>
                  <a:pt x="52" y="7"/>
                </a:cubicBezTo>
                <a:cubicBezTo>
                  <a:pt x="52" y="11"/>
                  <a:pt x="52" y="11"/>
                  <a:pt x="52" y="11"/>
                </a:cubicBezTo>
                <a:cubicBezTo>
                  <a:pt x="63" y="11"/>
                  <a:pt x="63" y="11"/>
                  <a:pt x="63" y="11"/>
                </a:cubicBezTo>
                <a:cubicBezTo>
                  <a:pt x="66" y="11"/>
                  <a:pt x="67" y="12"/>
                  <a:pt x="67" y="15"/>
                </a:cubicBezTo>
                <a:lnTo>
                  <a:pt x="67" y="20"/>
                </a:lnTo>
                <a:close/>
                <a:moveTo>
                  <a:pt x="16" y="16"/>
                </a:moveTo>
                <a:cubicBezTo>
                  <a:pt x="6" y="16"/>
                  <a:pt x="6" y="16"/>
                  <a:pt x="6" y="16"/>
                </a:cubicBezTo>
                <a:cubicBezTo>
                  <a:pt x="6" y="20"/>
                  <a:pt x="6" y="20"/>
                  <a:pt x="6" y="20"/>
                </a:cubicBezTo>
                <a:cubicBezTo>
                  <a:pt x="6" y="24"/>
                  <a:pt x="11" y="29"/>
                  <a:pt x="19" y="31"/>
                </a:cubicBezTo>
                <a:cubicBezTo>
                  <a:pt x="17" y="27"/>
                  <a:pt x="16" y="22"/>
                  <a:pt x="16" y="16"/>
                </a:cubicBezTo>
                <a:close/>
                <a:moveTo>
                  <a:pt x="62" y="16"/>
                </a:moveTo>
                <a:cubicBezTo>
                  <a:pt x="52" y="16"/>
                  <a:pt x="52" y="16"/>
                  <a:pt x="52" y="16"/>
                </a:cubicBezTo>
                <a:cubicBezTo>
                  <a:pt x="52" y="22"/>
                  <a:pt x="51" y="27"/>
                  <a:pt x="49" y="31"/>
                </a:cubicBezTo>
                <a:cubicBezTo>
                  <a:pt x="57" y="29"/>
                  <a:pt x="62" y="24"/>
                  <a:pt x="62" y="20"/>
                </a:cubicBezTo>
                <a:lnTo>
                  <a:pt x="62" y="16"/>
                </a:lnTo>
                <a:close/>
              </a:path>
            </a:pathLst>
          </a:custGeom>
          <a:solidFill>
            <a:srgbClr val="21798F"/>
          </a:solidFill>
          <a:ln w="9525">
            <a:noFill/>
            <a:round/>
          </a:ln>
        </p:spPr>
        <p:txBody>
          <a:bodyPr vert="horz" wrap="square" lIns="121908" tIns="60953" rIns="121908" bIns="60953" numCol="1" anchor="t" anchorCtr="0" compatLnSpc="1"/>
          <a:lstStyle/>
          <a:p>
            <a:pPr defTabSz="1219200" eaLnBrk="1" fontAlgn="auto" hangingPunct="1">
              <a:spcBef>
                <a:spcPts val="0"/>
              </a:spcBef>
              <a:spcAft>
                <a:spcPts val="0"/>
              </a:spcAft>
              <a:defRPr/>
            </a:pPr>
            <a:endParaRPr lang="en-US" sz="2400">
              <a:solidFill>
                <a:srgbClr val="464646"/>
              </a:solidFill>
              <a:latin typeface="微软雅黑" panose="020B0503020204020204" charset="-122"/>
              <a:ea typeface="微软雅黑" panose="020B0503020204020204" charset="-122"/>
            </a:endParaRPr>
          </a:p>
        </p:txBody>
      </p:sp>
      <p:sp>
        <p:nvSpPr>
          <p:cNvPr id="33" name="TextBox 37"/>
          <p:cNvSpPr txBox="1"/>
          <p:nvPr/>
        </p:nvSpPr>
        <p:spPr>
          <a:xfrm>
            <a:off x="8144665" y="4660627"/>
            <a:ext cx="1983083" cy="164212"/>
          </a:xfrm>
          <a:prstGeom prst="rect">
            <a:avLst/>
          </a:prstGeom>
          <a:noFill/>
        </p:spPr>
        <p:txBody>
          <a:bodyPr wrap="square" lIns="0" tIns="0" rIns="0" bIns="0" rtlCol="0">
            <a:spAutoFit/>
          </a:bodyPr>
          <a:lstStyle/>
          <a:p>
            <a:pPr defTabSz="1216660" eaLnBrk="1" fontAlgn="auto" hangingPunct="1">
              <a:spcBef>
                <a:spcPct val="20000"/>
              </a:spcBef>
              <a:spcAft>
                <a:spcPts val="0"/>
              </a:spcAft>
              <a:defRPr/>
            </a:pPr>
            <a:r>
              <a:rPr lang="zh-CN" altLang="en-US" sz="1065" dirty="0">
                <a:solidFill>
                  <a:srgbClr val="464646"/>
                </a:solidFill>
                <a:latin typeface="微软雅黑" panose="020B0503020204020204" charset="-122"/>
                <a:ea typeface="微软雅黑" panose="020B0503020204020204" charset="-122"/>
                <a:cs typeface="+mn-ea"/>
                <a:sym typeface="Arial" panose="020B0604020202020204" pitchFamily="34" charset="0"/>
              </a:rPr>
              <a:t>双方沟通确认合作意向。</a:t>
            </a:r>
            <a:endParaRPr lang="en-US" altLang="zh-CN" sz="1065" dirty="0">
              <a:solidFill>
                <a:srgbClr val="464646"/>
              </a:solidFill>
              <a:latin typeface="微软雅黑" panose="020B0503020204020204" charset="-122"/>
              <a:ea typeface="微软雅黑" panose="020B0503020204020204" charset="-122"/>
              <a:cs typeface="+mn-ea"/>
              <a:sym typeface="Arial" panose="020B0604020202020204" pitchFamily="34" charset="0"/>
            </a:endParaRPr>
          </a:p>
        </p:txBody>
      </p:sp>
      <p:sp>
        <p:nvSpPr>
          <p:cNvPr id="34" name="Rectangle 38"/>
          <p:cNvSpPr/>
          <p:nvPr/>
        </p:nvSpPr>
        <p:spPr>
          <a:xfrm>
            <a:off x="8144664" y="4381021"/>
            <a:ext cx="1043555" cy="246221"/>
          </a:xfrm>
          <a:prstGeom prst="rect">
            <a:avLst/>
          </a:prstGeom>
        </p:spPr>
        <p:txBody>
          <a:bodyPr wrap="none" lIns="0" tIns="0" rIns="0" bIns="0">
            <a:spAutoFit/>
          </a:bodyPr>
          <a:lstStyle/>
          <a:p>
            <a:pPr defTabSz="1219200" eaLnBrk="1" fontAlgn="auto" hangingPunct="1">
              <a:spcBef>
                <a:spcPts val="0"/>
              </a:spcBef>
              <a:spcAft>
                <a:spcPts val="0"/>
              </a:spcAft>
              <a:defRPr/>
            </a:pPr>
            <a:r>
              <a:rPr lang="en-US" altLang="zh-CN" sz="1600" b="1" dirty="0">
                <a:solidFill>
                  <a:srgbClr val="00A6B2"/>
                </a:solidFill>
                <a:latin typeface="微软雅黑" panose="020B0503020204020204" charset="-122"/>
                <a:ea typeface="微软雅黑" panose="020B0503020204020204" charset="-122"/>
              </a:rPr>
              <a:t>2021</a:t>
            </a:r>
            <a:r>
              <a:rPr lang="zh-CN" altLang="en-US" sz="1600" b="1" dirty="0">
                <a:solidFill>
                  <a:srgbClr val="00A6B2"/>
                </a:solidFill>
                <a:latin typeface="微软雅黑" panose="020B0503020204020204" charset="-122"/>
                <a:ea typeface="微软雅黑" panose="020B0503020204020204" charset="-122"/>
              </a:rPr>
              <a:t>年</a:t>
            </a:r>
            <a:r>
              <a:rPr lang="en-US" altLang="zh-CN" sz="1600" b="1" dirty="0">
                <a:solidFill>
                  <a:srgbClr val="00A6B2"/>
                </a:solidFill>
                <a:latin typeface="微软雅黑" panose="020B0503020204020204" charset="-122"/>
                <a:ea typeface="微软雅黑" panose="020B0503020204020204" charset="-122"/>
              </a:rPr>
              <a:t>3</a:t>
            </a:r>
            <a:r>
              <a:rPr lang="zh-CN" altLang="en-US" sz="1600" b="1" dirty="0">
                <a:solidFill>
                  <a:srgbClr val="00A6B2"/>
                </a:solidFill>
                <a:latin typeface="微软雅黑" panose="020B0503020204020204" charset="-122"/>
                <a:ea typeface="微软雅黑" panose="020B0503020204020204" charset="-122"/>
              </a:rPr>
              <a:t>月</a:t>
            </a:r>
          </a:p>
        </p:txBody>
      </p:sp>
      <p:sp>
        <p:nvSpPr>
          <p:cNvPr id="35" name="TextBox 40"/>
          <p:cNvSpPr txBox="1"/>
          <p:nvPr/>
        </p:nvSpPr>
        <p:spPr>
          <a:xfrm>
            <a:off x="8144668" y="2555623"/>
            <a:ext cx="1983081" cy="328423"/>
          </a:xfrm>
          <a:prstGeom prst="rect">
            <a:avLst/>
          </a:prstGeom>
          <a:noFill/>
        </p:spPr>
        <p:txBody>
          <a:bodyPr wrap="square" lIns="0" tIns="0" rIns="0" bIns="0" rtlCol="0">
            <a:spAutoFit/>
          </a:bodyPr>
          <a:lstStyle/>
          <a:p>
            <a:pPr defTabSz="1216660" eaLnBrk="1" fontAlgn="auto" hangingPunct="1">
              <a:spcBef>
                <a:spcPct val="20000"/>
              </a:spcBef>
              <a:spcAft>
                <a:spcPts val="0"/>
              </a:spcAft>
              <a:defRPr/>
            </a:pPr>
            <a:r>
              <a:rPr lang="zh-CN" altLang="en-US" sz="1065" dirty="0">
                <a:solidFill>
                  <a:srgbClr val="464646"/>
                </a:solidFill>
                <a:latin typeface="微软雅黑" panose="020B0503020204020204" charset="-122"/>
                <a:ea typeface="微软雅黑" panose="020B0503020204020204" charset="-122"/>
                <a:cs typeface="+mn-ea"/>
                <a:sym typeface="Arial" panose="020B0604020202020204" pitchFamily="34" charset="0"/>
              </a:rPr>
              <a:t>针对双方的合作细节进行沟通确认，并推动正式协议的签订。</a:t>
            </a:r>
            <a:endParaRPr lang="en-US" altLang="zh-CN" sz="1065" dirty="0">
              <a:solidFill>
                <a:srgbClr val="464646"/>
              </a:solidFill>
              <a:latin typeface="微软雅黑" panose="020B0503020204020204" charset="-122"/>
              <a:ea typeface="微软雅黑" panose="020B0503020204020204" charset="-122"/>
              <a:cs typeface="+mn-ea"/>
              <a:sym typeface="Arial" panose="020B0604020202020204" pitchFamily="34" charset="0"/>
            </a:endParaRPr>
          </a:p>
        </p:txBody>
      </p:sp>
      <p:sp>
        <p:nvSpPr>
          <p:cNvPr id="36" name="Rectangle 41"/>
          <p:cNvSpPr/>
          <p:nvPr/>
        </p:nvSpPr>
        <p:spPr>
          <a:xfrm>
            <a:off x="8144664" y="2263318"/>
            <a:ext cx="1453924" cy="246221"/>
          </a:xfrm>
          <a:prstGeom prst="rect">
            <a:avLst/>
          </a:prstGeom>
        </p:spPr>
        <p:txBody>
          <a:bodyPr wrap="none" lIns="0" tIns="0" rIns="0" bIns="0">
            <a:spAutoFit/>
          </a:bodyPr>
          <a:lstStyle/>
          <a:p>
            <a:pPr defTabSz="1219200" eaLnBrk="1" fontAlgn="auto" hangingPunct="1">
              <a:spcBef>
                <a:spcPts val="0"/>
              </a:spcBef>
              <a:spcAft>
                <a:spcPts val="0"/>
              </a:spcAft>
              <a:defRPr/>
            </a:pPr>
            <a:r>
              <a:rPr lang="en-US" altLang="zh-CN" sz="1600" b="1" dirty="0">
                <a:solidFill>
                  <a:srgbClr val="00A6B2"/>
                </a:solidFill>
                <a:latin typeface="微软雅黑" panose="020B0503020204020204" charset="-122"/>
                <a:ea typeface="微软雅黑" panose="020B0503020204020204" charset="-122"/>
              </a:rPr>
              <a:t>2021</a:t>
            </a:r>
            <a:r>
              <a:rPr lang="zh-CN" altLang="en-US" sz="1600" b="1" dirty="0">
                <a:solidFill>
                  <a:srgbClr val="00A6B2"/>
                </a:solidFill>
                <a:latin typeface="微软雅黑" panose="020B0503020204020204" charset="-122"/>
                <a:ea typeface="微软雅黑" panose="020B0503020204020204" charset="-122"/>
              </a:rPr>
              <a:t>年</a:t>
            </a:r>
            <a:r>
              <a:rPr lang="en-US" altLang="zh-CN" sz="1600" b="1" dirty="0">
                <a:solidFill>
                  <a:srgbClr val="00A6B2"/>
                </a:solidFill>
                <a:latin typeface="微软雅黑" panose="020B0503020204020204" charset="-122"/>
                <a:ea typeface="微软雅黑" panose="020B0503020204020204" charset="-122"/>
              </a:rPr>
              <a:t>5</a:t>
            </a:r>
            <a:r>
              <a:rPr lang="zh-CN" altLang="en-US" sz="1600" b="1" dirty="0">
                <a:solidFill>
                  <a:srgbClr val="00A6B2"/>
                </a:solidFill>
                <a:latin typeface="微软雅黑" panose="020B0503020204020204" charset="-122"/>
                <a:ea typeface="微软雅黑" panose="020B0503020204020204" charset="-122"/>
              </a:rPr>
              <a:t>月上旬</a:t>
            </a:r>
          </a:p>
        </p:txBody>
      </p:sp>
      <p:sp>
        <p:nvSpPr>
          <p:cNvPr id="37" name="TextBox 43"/>
          <p:cNvSpPr txBox="1"/>
          <p:nvPr/>
        </p:nvSpPr>
        <p:spPr>
          <a:xfrm>
            <a:off x="2160247" y="3581542"/>
            <a:ext cx="1787005" cy="492635"/>
          </a:xfrm>
          <a:prstGeom prst="rect">
            <a:avLst/>
          </a:prstGeom>
          <a:noFill/>
        </p:spPr>
        <p:txBody>
          <a:bodyPr wrap="square" lIns="0" tIns="0" rIns="0" bIns="0" rtlCol="0">
            <a:spAutoFit/>
          </a:bodyPr>
          <a:lstStyle/>
          <a:p>
            <a:pPr algn="r" defTabSz="1216660" eaLnBrk="1" fontAlgn="auto" hangingPunct="1">
              <a:spcBef>
                <a:spcPct val="20000"/>
              </a:spcBef>
              <a:spcAft>
                <a:spcPts val="0"/>
              </a:spcAft>
              <a:defRPr/>
            </a:pPr>
            <a:r>
              <a:rPr lang="zh-CN" altLang="en-US" sz="1065" dirty="0">
                <a:solidFill>
                  <a:srgbClr val="464646"/>
                </a:solidFill>
                <a:latin typeface="微软雅黑" panose="020B0503020204020204" charset="-122"/>
                <a:ea typeface="微软雅黑" panose="020B0503020204020204" charset="-122"/>
                <a:cs typeface="+mn-ea"/>
                <a:sym typeface="Arial" panose="020B0604020202020204" pitchFamily="34" charset="0"/>
              </a:rPr>
              <a:t>双方洽谈并确认合作方式（如是否成立合资公司等） ， 签订战略合作协议。</a:t>
            </a:r>
            <a:endParaRPr lang="en-US" altLang="zh-CN" sz="1065" dirty="0">
              <a:solidFill>
                <a:srgbClr val="464646"/>
              </a:solidFill>
              <a:latin typeface="微软雅黑" panose="020B0503020204020204" charset="-122"/>
              <a:ea typeface="微软雅黑" panose="020B0503020204020204" charset="-122"/>
              <a:cs typeface="+mn-ea"/>
              <a:sym typeface="Arial" panose="020B0604020202020204" pitchFamily="34" charset="0"/>
            </a:endParaRPr>
          </a:p>
        </p:txBody>
      </p:sp>
      <p:sp>
        <p:nvSpPr>
          <p:cNvPr id="38" name="Rectangle 44"/>
          <p:cNvSpPr/>
          <p:nvPr/>
        </p:nvSpPr>
        <p:spPr>
          <a:xfrm>
            <a:off x="2694911" y="3327337"/>
            <a:ext cx="1043555" cy="246221"/>
          </a:xfrm>
          <a:prstGeom prst="rect">
            <a:avLst/>
          </a:prstGeom>
        </p:spPr>
        <p:txBody>
          <a:bodyPr wrap="none" lIns="0" tIns="0" rIns="0" bIns="0">
            <a:spAutoFit/>
          </a:bodyPr>
          <a:lstStyle/>
          <a:p>
            <a:pPr defTabSz="1219200" eaLnBrk="1" fontAlgn="auto" hangingPunct="1">
              <a:spcBef>
                <a:spcPts val="0"/>
              </a:spcBef>
              <a:spcAft>
                <a:spcPts val="0"/>
              </a:spcAft>
              <a:defRPr/>
            </a:pPr>
            <a:r>
              <a:rPr lang="en-US" altLang="zh-CN" sz="1600" b="1" dirty="0">
                <a:solidFill>
                  <a:srgbClr val="21798F"/>
                </a:solidFill>
                <a:latin typeface="微软雅黑" panose="020B0503020204020204" charset="-122"/>
                <a:ea typeface="微软雅黑" panose="020B0503020204020204" charset="-122"/>
              </a:rPr>
              <a:t>2021</a:t>
            </a:r>
            <a:r>
              <a:rPr lang="zh-CN" altLang="en-US" sz="1600" b="1" dirty="0">
                <a:solidFill>
                  <a:srgbClr val="21798F"/>
                </a:solidFill>
                <a:latin typeface="微软雅黑" panose="020B0503020204020204" charset="-122"/>
                <a:ea typeface="微软雅黑" panose="020B0503020204020204" charset="-122"/>
              </a:rPr>
              <a:t>年</a:t>
            </a:r>
            <a:r>
              <a:rPr lang="en-US" altLang="zh-CN" sz="1600" b="1" dirty="0">
                <a:solidFill>
                  <a:srgbClr val="21798F"/>
                </a:solidFill>
                <a:latin typeface="微软雅黑" panose="020B0503020204020204" charset="-122"/>
                <a:ea typeface="微软雅黑" panose="020B0503020204020204" charset="-122"/>
              </a:rPr>
              <a:t>4</a:t>
            </a:r>
            <a:r>
              <a:rPr lang="zh-CN" altLang="en-US" sz="1600" b="1" dirty="0">
                <a:solidFill>
                  <a:srgbClr val="21798F"/>
                </a:solidFill>
                <a:latin typeface="微软雅黑" panose="020B0503020204020204" charset="-122"/>
                <a:ea typeface="微软雅黑" panose="020B0503020204020204" charset="-122"/>
              </a:rPr>
              <a:t>月</a:t>
            </a:r>
          </a:p>
        </p:txBody>
      </p:sp>
      <p:sp>
        <p:nvSpPr>
          <p:cNvPr id="39" name="TextBox 46"/>
          <p:cNvSpPr txBox="1"/>
          <p:nvPr/>
        </p:nvSpPr>
        <p:spPr>
          <a:xfrm>
            <a:off x="1891430" y="1623053"/>
            <a:ext cx="2011887" cy="492635"/>
          </a:xfrm>
          <a:prstGeom prst="rect">
            <a:avLst/>
          </a:prstGeom>
          <a:noFill/>
        </p:spPr>
        <p:txBody>
          <a:bodyPr wrap="square" lIns="0" tIns="0" rIns="0" bIns="0" rtlCol="0">
            <a:spAutoFit/>
          </a:bodyPr>
          <a:lstStyle/>
          <a:p>
            <a:pPr algn="r" defTabSz="1216660" eaLnBrk="1" fontAlgn="auto" hangingPunct="1">
              <a:spcBef>
                <a:spcPct val="20000"/>
              </a:spcBef>
              <a:spcAft>
                <a:spcPts val="0"/>
              </a:spcAft>
              <a:defRPr/>
            </a:pPr>
            <a:r>
              <a:rPr lang="zh-CN" altLang="en-US" sz="1065" dirty="0">
                <a:solidFill>
                  <a:srgbClr val="464646"/>
                </a:solidFill>
                <a:latin typeface="微软雅黑" panose="020B0503020204020204" charset="-122"/>
                <a:ea typeface="微软雅黑" panose="020B0503020204020204" charset="-122"/>
                <a:cs typeface="+mn-ea"/>
                <a:sym typeface="Arial" panose="020B0604020202020204" pitchFamily="34" charset="0"/>
              </a:rPr>
              <a:t>正式协议签订后，根据协议约定双方履行相应的权利和义务，如双方分工合作拓展</a:t>
            </a:r>
            <a:r>
              <a:rPr lang="en-US" altLang="zh-CN" sz="1065" dirty="0">
                <a:solidFill>
                  <a:srgbClr val="464646"/>
                </a:solidFill>
                <a:latin typeface="微软雅黑" panose="020B0503020204020204" charset="-122"/>
                <a:ea typeface="微软雅黑" panose="020B0503020204020204" charset="-122"/>
                <a:cs typeface="+mn-ea"/>
                <a:sym typeface="Arial" panose="020B0604020202020204" pitchFamily="34" charset="0"/>
              </a:rPr>
              <a:t>ZX***</a:t>
            </a:r>
            <a:r>
              <a:rPr lang="zh-CN" altLang="en-US" sz="1065" dirty="0">
                <a:solidFill>
                  <a:srgbClr val="464646"/>
                </a:solidFill>
                <a:latin typeface="微软雅黑" panose="020B0503020204020204" charset="-122"/>
                <a:ea typeface="微软雅黑" panose="020B0503020204020204" charset="-122"/>
                <a:cs typeface="+mn-ea"/>
                <a:sym typeface="Arial" panose="020B0604020202020204" pitchFamily="34" charset="0"/>
              </a:rPr>
              <a:t>学院等。</a:t>
            </a:r>
            <a:endParaRPr lang="en-US" altLang="zh-CN" sz="1065" dirty="0">
              <a:solidFill>
                <a:srgbClr val="464646"/>
              </a:solidFill>
              <a:latin typeface="微软雅黑" panose="020B0503020204020204" charset="-122"/>
              <a:ea typeface="微软雅黑" panose="020B0503020204020204" charset="-122"/>
              <a:cs typeface="+mn-ea"/>
              <a:sym typeface="Arial" panose="020B0604020202020204" pitchFamily="34" charset="0"/>
            </a:endParaRPr>
          </a:p>
        </p:txBody>
      </p:sp>
      <p:sp>
        <p:nvSpPr>
          <p:cNvPr id="40" name="Rectangle 47"/>
          <p:cNvSpPr/>
          <p:nvPr/>
        </p:nvSpPr>
        <p:spPr>
          <a:xfrm>
            <a:off x="2449393" y="1376832"/>
            <a:ext cx="1453924" cy="246221"/>
          </a:xfrm>
          <a:prstGeom prst="rect">
            <a:avLst/>
          </a:prstGeom>
        </p:spPr>
        <p:txBody>
          <a:bodyPr wrap="none" lIns="0" tIns="0" rIns="0" bIns="0">
            <a:spAutoFit/>
          </a:bodyPr>
          <a:lstStyle/>
          <a:p>
            <a:pPr defTabSz="1219200" eaLnBrk="1" fontAlgn="auto" hangingPunct="1">
              <a:spcBef>
                <a:spcPts val="0"/>
              </a:spcBef>
              <a:spcAft>
                <a:spcPts val="0"/>
              </a:spcAft>
              <a:defRPr/>
            </a:pPr>
            <a:r>
              <a:rPr lang="en-US" altLang="zh-CN" sz="1600" b="1" dirty="0">
                <a:solidFill>
                  <a:srgbClr val="21798F"/>
                </a:solidFill>
                <a:latin typeface="微软雅黑" panose="020B0503020204020204" charset="-122"/>
                <a:ea typeface="微软雅黑" panose="020B0503020204020204" charset="-122"/>
              </a:rPr>
              <a:t>2021</a:t>
            </a:r>
            <a:r>
              <a:rPr lang="zh-CN" altLang="en-US" sz="1600" b="1" dirty="0">
                <a:solidFill>
                  <a:srgbClr val="21798F"/>
                </a:solidFill>
                <a:latin typeface="微软雅黑" panose="020B0503020204020204" charset="-122"/>
                <a:ea typeface="微软雅黑" panose="020B0503020204020204" charset="-122"/>
              </a:rPr>
              <a:t>年</a:t>
            </a:r>
            <a:r>
              <a:rPr lang="en-US" altLang="zh-CN" sz="1600" b="1" dirty="0">
                <a:solidFill>
                  <a:srgbClr val="21798F"/>
                </a:solidFill>
                <a:latin typeface="微软雅黑" panose="020B0503020204020204" charset="-122"/>
                <a:ea typeface="微软雅黑" panose="020B0503020204020204" charset="-122"/>
              </a:rPr>
              <a:t>5</a:t>
            </a:r>
            <a:r>
              <a:rPr lang="zh-CN" altLang="en-US" sz="1600" b="1" dirty="0">
                <a:solidFill>
                  <a:srgbClr val="21798F"/>
                </a:solidFill>
                <a:latin typeface="微软雅黑" panose="020B0503020204020204" charset="-122"/>
                <a:ea typeface="微软雅黑" panose="020B0503020204020204" charset="-122"/>
              </a:rPr>
              <a:t>月下旬</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7" name="图片 1" descr="logo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925" y="285750"/>
            <a:ext cx="273367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任意多边形 2"/>
          <p:cNvSpPr/>
          <p:nvPr/>
        </p:nvSpPr>
        <p:spPr>
          <a:xfrm>
            <a:off x="0" y="4291013"/>
            <a:ext cx="12192000" cy="2566987"/>
          </a:xfrm>
          <a:custGeom>
            <a:avLst/>
            <a:gdLst>
              <a:gd name="connsiteX0" fmla="*/ 11384766 w 12180888"/>
              <a:gd name="connsiteY0" fmla="*/ 558 h 3855634"/>
              <a:gd name="connsiteX1" fmla="*/ 11883117 w 12180888"/>
              <a:gd name="connsiteY1" fmla="*/ 84640 h 3855634"/>
              <a:gd name="connsiteX2" fmla="*/ 12151747 w 12180888"/>
              <a:gd name="connsiteY2" fmla="*/ 228155 h 3855634"/>
              <a:gd name="connsiteX3" fmla="*/ 12180888 w 12180888"/>
              <a:gd name="connsiteY3" fmla="*/ 250330 h 3855634"/>
              <a:gd name="connsiteX4" fmla="*/ 12180888 w 12180888"/>
              <a:gd name="connsiteY4" fmla="*/ 3855634 h 3855634"/>
              <a:gd name="connsiteX5" fmla="*/ 0 w 12180888"/>
              <a:gd name="connsiteY5" fmla="*/ 3855634 h 3855634"/>
              <a:gd name="connsiteX6" fmla="*/ 0 w 12180888"/>
              <a:gd name="connsiteY6" fmla="*/ 30851 h 3855634"/>
              <a:gd name="connsiteX7" fmla="*/ 75683 w 12180888"/>
              <a:gd name="connsiteY7" fmla="*/ 113066 h 3855634"/>
              <a:gd name="connsiteX8" fmla="*/ 3566431 w 12180888"/>
              <a:gd name="connsiteY8" fmla="*/ 2000526 h 3855634"/>
              <a:gd name="connsiteX9" fmla="*/ 11384766 w 12180888"/>
              <a:gd name="connsiteY9" fmla="*/ 558 h 3855634"/>
              <a:gd name="connsiteX0-1" fmla="*/ 11384766 w 12180888"/>
              <a:gd name="connsiteY0-2" fmla="*/ 558 h 3855634"/>
              <a:gd name="connsiteX1-3" fmla="*/ 11883117 w 12180888"/>
              <a:gd name="connsiteY1-4" fmla="*/ 84640 h 3855634"/>
              <a:gd name="connsiteX2-5" fmla="*/ 12151747 w 12180888"/>
              <a:gd name="connsiteY2-6" fmla="*/ 228155 h 3855634"/>
              <a:gd name="connsiteX3-7" fmla="*/ 12180888 w 12180888"/>
              <a:gd name="connsiteY3-8" fmla="*/ 250330 h 3855634"/>
              <a:gd name="connsiteX4-9" fmla="*/ 12180888 w 12180888"/>
              <a:gd name="connsiteY4-10" fmla="*/ 3855634 h 3855634"/>
              <a:gd name="connsiteX5-11" fmla="*/ 0 w 12180888"/>
              <a:gd name="connsiteY5-12" fmla="*/ 3855634 h 3855634"/>
              <a:gd name="connsiteX6-13" fmla="*/ 0 w 12180888"/>
              <a:gd name="connsiteY6-14" fmla="*/ 30851 h 3855634"/>
              <a:gd name="connsiteX7-15" fmla="*/ 75683 w 12180888"/>
              <a:gd name="connsiteY7-16" fmla="*/ 113066 h 3855634"/>
              <a:gd name="connsiteX8-17" fmla="*/ 3623581 w 12180888"/>
              <a:gd name="connsiteY8-18" fmla="*/ 2000526 h 3855634"/>
              <a:gd name="connsiteX9-19" fmla="*/ 11384766 w 12180888"/>
              <a:gd name="connsiteY9-20" fmla="*/ 558 h 385563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2180888" h="3855634">
                <a:moveTo>
                  <a:pt x="11384766" y="558"/>
                </a:moveTo>
                <a:cubicBezTo>
                  <a:pt x="11577172" y="4629"/>
                  <a:pt x="11745005" y="31119"/>
                  <a:pt x="11883117" y="84640"/>
                </a:cubicBezTo>
                <a:cubicBezTo>
                  <a:pt x="11975192" y="120321"/>
                  <a:pt x="12064905" y="168655"/>
                  <a:pt x="12151747" y="228155"/>
                </a:cubicBezTo>
                <a:lnTo>
                  <a:pt x="12180888" y="250330"/>
                </a:lnTo>
                <a:lnTo>
                  <a:pt x="12180888" y="3855634"/>
                </a:lnTo>
                <a:lnTo>
                  <a:pt x="0" y="3855634"/>
                </a:lnTo>
                <a:lnTo>
                  <a:pt x="0" y="30851"/>
                </a:lnTo>
                <a:lnTo>
                  <a:pt x="75683" y="113066"/>
                </a:lnTo>
                <a:cubicBezTo>
                  <a:pt x="722636" y="833767"/>
                  <a:pt x="1759120" y="2126605"/>
                  <a:pt x="3623581" y="2000526"/>
                </a:cubicBezTo>
                <a:cubicBezTo>
                  <a:pt x="5425894" y="2016763"/>
                  <a:pt x="9524845" y="-38796"/>
                  <a:pt x="11384766" y="558"/>
                </a:cubicBezTo>
                <a:close/>
              </a:path>
            </a:pathLst>
          </a:cu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sp>
        <p:nvSpPr>
          <p:cNvPr id="4" name="任意多边形 3"/>
          <p:cNvSpPr/>
          <p:nvPr/>
        </p:nvSpPr>
        <p:spPr>
          <a:xfrm>
            <a:off x="0" y="4695825"/>
            <a:ext cx="12192000" cy="2162175"/>
          </a:xfrm>
          <a:custGeom>
            <a:avLst/>
            <a:gdLst>
              <a:gd name="connsiteX0" fmla="*/ 10546202 w 12192000"/>
              <a:gd name="connsiteY0" fmla="*/ 1691 h 5489848"/>
              <a:gd name="connsiteX1" fmla="*/ 12192000 w 12192000"/>
              <a:gd name="connsiteY1" fmla="*/ 478400 h 5489848"/>
              <a:gd name="connsiteX2" fmla="*/ 12192000 w 12192000"/>
              <a:gd name="connsiteY2" fmla="*/ 4597219 h 5489848"/>
              <a:gd name="connsiteX3" fmla="*/ 12192000 w 12192000"/>
              <a:gd name="connsiteY3" fmla="*/ 5089610 h 5489848"/>
              <a:gd name="connsiteX4" fmla="*/ 12192000 w 12192000"/>
              <a:gd name="connsiteY4" fmla="*/ 5489848 h 5489848"/>
              <a:gd name="connsiteX5" fmla="*/ 0 w 12192000"/>
              <a:gd name="connsiteY5" fmla="*/ 5489848 h 5489848"/>
              <a:gd name="connsiteX6" fmla="*/ 0 w 12192000"/>
              <a:gd name="connsiteY6" fmla="*/ 5089610 h 5489848"/>
              <a:gd name="connsiteX7" fmla="*/ 0 w 12192000"/>
              <a:gd name="connsiteY7" fmla="*/ 4597219 h 5489848"/>
              <a:gd name="connsiteX8" fmla="*/ 0 w 12192000"/>
              <a:gd name="connsiteY8" fmla="*/ 2682188 h 5489848"/>
              <a:gd name="connsiteX9" fmla="*/ 8170 w 12192000"/>
              <a:gd name="connsiteY9" fmla="*/ 2685871 h 5489848"/>
              <a:gd name="connsiteX10" fmla="*/ 5281664 w 12192000"/>
              <a:gd name="connsiteY10" fmla="*/ 2575011 h 5489848"/>
              <a:gd name="connsiteX11" fmla="*/ 10277317 w 12192000"/>
              <a:gd name="connsiteY11" fmla="*/ 3261 h 5489848"/>
              <a:gd name="connsiteX12" fmla="*/ 10546202 w 12192000"/>
              <a:gd name="connsiteY12" fmla="*/ 1691 h 5489848"/>
              <a:gd name="connsiteX0-1" fmla="*/ 10546202 w 12192000"/>
              <a:gd name="connsiteY0-2" fmla="*/ 1691 h 5489848"/>
              <a:gd name="connsiteX1-3" fmla="*/ 12192000 w 12192000"/>
              <a:gd name="connsiteY1-4" fmla="*/ 478400 h 5489848"/>
              <a:gd name="connsiteX2-5" fmla="*/ 12192000 w 12192000"/>
              <a:gd name="connsiteY2-6" fmla="*/ 4597219 h 5489848"/>
              <a:gd name="connsiteX3-7" fmla="*/ 12192000 w 12192000"/>
              <a:gd name="connsiteY3-8" fmla="*/ 5089610 h 5489848"/>
              <a:gd name="connsiteX4-9" fmla="*/ 12192000 w 12192000"/>
              <a:gd name="connsiteY4-10" fmla="*/ 5489848 h 5489848"/>
              <a:gd name="connsiteX5-11" fmla="*/ 0 w 12192000"/>
              <a:gd name="connsiteY5-12" fmla="*/ 5489848 h 5489848"/>
              <a:gd name="connsiteX6-13" fmla="*/ 0 w 12192000"/>
              <a:gd name="connsiteY6-14" fmla="*/ 5089610 h 5489848"/>
              <a:gd name="connsiteX7-15" fmla="*/ 0 w 12192000"/>
              <a:gd name="connsiteY7-16" fmla="*/ 4597219 h 5489848"/>
              <a:gd name="connsiteX8-17" fmla="*/ 0 w 12192000"/>
              <a:gd name="connsiteY8-18" fmla="*/ 2682188 h 5489848"/>
              <a:gd name="connsiteX9-19" fmla="*/ 8170 w 12192000"/>
              <a:gd name="connsiteY9-20" fmla="*/ 2685871 h 5489848"/>
              <a:gd name="connsiteX10-21" fmla="*/ 5281664 w 12192000"/>
              <a:gd name="connsiteY10-22" fmla="*/ 2575011 h 5489848"/>
              <a:gd name="connsiteX11-23" fmla="*/ 10277317 w 12192000"/>
              <a:gd name="connsiteY11-24" fmla="*/ 3261 h 5489848"/>
              <a:gd name="connsiteX12-25" fmla="*/ 10546202 w 12192000"/>
              <a:gd name="connsiteY12-26" fmla="*/ 1691 h 5489848"/>
              <a:gd name="connsiteX0-27" fmla="*/ 10277317 w 12192000"/>
              <a:gd name="connsiteY0-28" fmla="*/ 205108 h 5691695"/>
              <a:gd name="connsiteX1-29" fmla="*/ 12192000 w 12192000"/>
              <a:gd name="connsiteY1-30" fmla="*/ 680247 h 5691695"/>
              <a:gd name="connsiteX2-31" fmla="*/ 12192000 w 12192000"/>
              <a:gd name="connsiteY2-32" fmla="*/ 4799066 h 5691695"/>
              <a:gd name="connsiteX3-33" fmla="*/ 12192000 w 12192000"/>
              <a:gd name="connsiteY3-34" fmla="*/ 5291457 h 5691695"/>
              <a:gd name="connsiteX4-35" fmla="*/ 12192000 w 12192000"/>
              <a:gd name="connsiteY4-36" fmla="*/ 5691695 h 5691695"/>
              <a:gd name="connsiteX5-37" fmla="*/ 0 w 12192000"/>
              <a:gd name="connsiteY5-38" fmla="*/ 5691695 h 5691695"/>
              <a:gd name="connsiteX6-39" fmla="*/ 0 w 12192000"/>
              <a:gd name="connsiteY6-40" fmla="*/ 5291457 h 5691695"/>
              <a:gd name="connsiteX7-41" fmla="*/ 0 w 12192000"/>
              <a:gd name="connsiteY7-42" fmla="*/ 4799066 h 5691695"/>
              <a:gd name="connsiteX8-43" fmla="*/ 0 w 12192000"/>
              <a:gd name="connsiteY8-44" fmla="*/ 2884035 h 5691695"/>
              <a:gd name="connsiteX9-45" fmla="*/ 8170 w 12192000"/>
              <a:gd name="connsiteY9-46" fmla="*/ 2887718 h 5691695"/>
              <a:gd name="connsiteX10-47" fmla="*/ 5281664 w 12192000"/>
              <a:gd name="connsiteY10-48" fmla="*/ 2776858 h 5691695"/>
              <a:gd name="connsiteX11-49" fmla="*/ 10277317 w 12192000"/>
              <a:gd name="connsiteY11-50" fmla="*/ 205108 h 5691695"/>
              <a:gd name="connsiteX0-51" fmla="*/ 10277317 w 12192000"/>
              <a:gd name="connsiteY0-52" fmla="*/ 72889 h 5559476"/>
              <a:gd name="connsiteX1-53" fmla="*/ 12192000 w 12192000"/>
              <a:gd name="connsiteY1-54" fmla="*/ 548028 h 5559476"/>
              <a:gd name="connsiteX2-55" fmla="*/ 12192000 w 12192000"/>
              <a:gd name="connsiteY2-56" fmla="*/ 4666847 h 5559476"/>
              <a:gd name="connsiteX3-57" fmla="*/ 12192000 w 12192000"/>
              <a:gd name="connsiteY3-58" fmla="*/ 5159238 h 5559476"/>
              <a:gd name="connsiteX4-59" fmla="*/ 12192000 w 12192000"/>
              <a:gd name="connsiteY4-60" fmla="*/ 5559476 h 5559476"/>
              <a:gd name="connsiteX5-61" fmla="*/ 0 w 12192000"/>
              <a:gd name="connsiteY5-62" fmla="*/ 5559476 h 5559476"/>
              <a:gd name="connsiteX6-63" fmla="*/ 0 w 12192000"/>
              <a:gd name="connsiteY6-64" fmla="*/ 5159238 h 5559476"/>
              <a:gd name="connsiteX7-65" fmla="*/ 0 w 12192000"/>
              <a:gd name="connsiteY7-66" fmla="*/ 4666847 h 5559476"/>
              <a:gd name="connsiteX8-67" fmla="*/ 0 w 12192000"/>
              <a:gd name="connsiteY8-68" fmla="*/ 2751816 h 5559476"/>
              <a:gd name="connsiteX9-69" fmla="*/ 8170 w 12192000"/>
              <a:gd name="connsiteY9-70" fmla="*/ 2755499 h 5559476"/>
              <a:gd name="connsiteX10-71" fmla="*/ 5281664 w 12192000"/>
              <a:gd name="connsiteY10-72" fmla="*/ 2644639 h 5559476"/>
              <a:gd name="connsiteX11-73" fmla="*/ 10277317 w 12192000"/>
              <a:gd name="connsiteY11-74" fmla="*/ 72889 h 5559476"/>
              <a:gd name="connsiteX0-75" fmla="*/ 10277317 w 12192000"/>
              <a:gd name="connsiteY0-76" fmla="*/ 6856 h 5493443"/>
              <a:gd name="connsiteX1-77" fmla="*/ 12192000 w 12192000"/>
              <a:gd name="connsiteY1-78" fmla="*/ 481995 h 5493443"/>
              <a:gd name="connsiteX2-79" fmla="*/ 12192000 w 12192000"/>
              <a:gd name="connsiteY2-80" fmla="*/ 4600814 h 5493443"/>
              <a:gd name="connsiteX3-81" fmla="*/ 12192000 w 12192000"/>
              <a:gd name="connsiteY3-82" fmla="*/ 5093205 h 5493443"/>
              <a:gd name="connsiteX4-83" fmla="*/ 12192000 w 12192000"/>
              <a:gd name="connsiteY4-84" fmla="*/ 5493443 h 5493443"/>
              <a:gd name="connsiteX5-85" fmla="*/ 0 w 12192000"/>
              <a:gd name="connsiteY5-86" fmla="*/ 5493443 h 5493443"/>
              <a:gd name="connsiteX6-87" fmla="*/ 0 w 12192000"/>
              <a:gd name="connsiteY6-88" fmla="*/ 5093205 h 5493443"/>
              <a:gd name="connsiteX7-89" fmla="*/ 0 w 12192000"/>
              <a:gd name="connsiteY7-90" fmla="*/ 4600814 h 5493443"/>
              <a:gd name="connsiteX8-91" fmla="*/ 0 w 12192000"/>
              <a:gd name="connsiteY8-92" fmla="*/ 2685783 h 5493443"/>
              <a:gd name="connsiteX9-93" fmla="*/ 8170 w 12192000"/>
              <a:gd name="connsiteY9-94" fmla="*/ 2689466 h 5493443"/>
              <a:gd name="connsiteX10-95" fmla="*/ 5281664 w 12192000"/>
              <a:gd name="connsiteY10-96" fmla="*/ 2578606 h 5493443"/>
              <a:gd name="connsiteX11-97" fmla="*/ 10277317 w 12192000"/>
              <a:gd name="connsiteY11-98" fmla="*/ 6856 h 54934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12192000" h="5493443">
                <a:moveTo>
                  <a:pt x="10277317" y="6856"/>
                </a:moveTo>
                <a:cubicBezTo>
                  <a:pt x="10804926" y="-37779"/>
                  <a:pt x="11713229" y="137250"/>
                  <a:pt x="12192000" y="481995"/>
                </a:cubicBezTo>
                <a:lnTo>
                  <a:pt x="12192000" y="4600814"/>
                </a:lnTo>
                <a:lnTo>
                  <a:pt x="12192000" y="5093205"/>
                </a:lnTo>
                <a:lnTo>
                  <a:pt x="12192000" y="5493443"/>
                </a:lnTo>
                <a:lnTo>
                  <a:pt x="0" y="5493443"/>
                </a:lnTo>
                <a:lnTo>
                  <a:pt x="0" y="5093205"/>
                </a:lnTo>
                <a:lnTo>
                  <a:pt x="0" y="4600814"/>
                </a:lnTo>
                <a:lnTo>
                  <a:pt x="0" y="2685783"/>
                </a:lnTo>
                <a:lnTo>
                  <a:pt x="8170" y="2689466"/>
                </a:lnTo>
                <a:cubicBezTo>
                  <a:pt x="521356" y="2935109"/>
                  <a:pt x="2391921" y="4180467"/>
                  <a:pt x="5281664" y="2578606"/>
                </a:cubicBezTo>
                <a:cubicBezTo>
                  <a:pt x="6711290" y="1659217"/>
                  <a:pt x="9060183" y="51306"/>
                  <a:pt x="10277317" y="6856"/>
                </a:cubicBezTo>
                <a:close/>
              </a:path>
            </a:pathLst>
          </a:custGeom>
          <a:solidFill>
            <a:srgbClr val="00A6B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defRPr/>
            </a:pPr>
            <a:endParaRPr lang="zh-CN" altLang="en-US" noProof="1"/>
          </a:p>
        </p:txBody>
      </p:sp>
      <p:pic>
        <p:nvPicPr>
          <p:cNvPr id="60421" name="图片 4"/>
          <p:cNvPicPr>
            <a:picLocks noChangeAspect="1" noChangeArrowheads="1"/>
          </p:cNvPicPr>
          <p:nvPr/>
        </p:nvPicPr>
        <p:blipFill>
          <a:blip r:embed="rId3">
            <a:grayscl/>
            <a:lum bright="6000"/>
            <a:extLst>
              <a:ext uri="{28A0092B-C50C-407E-A947-70E740481C1C}">
                <a14:useLocalDpi xmlns:a14="http://schemas.microsoft.com/office/drawing/2010/main" val="0"/>
              </a:ext>
            </a:extLst>
          </a:blip>
          <a:srcRect l="22122" r="5852"/>
          <a:stretch>
            <a:fillRect/>
          </a:stretch>
        </p:blipFill>
        <p:spPr bwMode="auto">
          <a:xfrm flipH="1">
            <a:off x="0" y="149225"/>
            <a:ext cx="5640388" cy="670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图片 5"/>
          <p:cNvPicPr>
            <a:picLocks noChangeAspect="1" noChangeArrowheads="1"/>
          </p:cNvPicPr>
          <p:nvPr/>
        </p:nvPicPr>
        <p:blipFill>
          <a:blip r:embed="rId3">
            <a:grayscl/>
            <a:extLst>
              <a:ext uri="{28A0092B-C50C-407E-A947-70E740481C1C}">
                <a14:useLocalDpi xmlns:a14="http://schemas.microsoft.com/office/drawing/2010/main" val="0"/>
              </a:ext>
            </a:extLst>
          </a:blip>
          <a:srcRect l="3780" t="20255" r="72226" b="62067"/>
          <a:stretch>
            <a:fillRect/>
          </a:stretch>
        </p:blipFill>
        <p:spPr bwMode="auto">
          <a:xfrm flipH="1">
            <a:off x="3617913" y="-307975"/>
            <a:ext cx="1878012"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7747" y="5776912"/>
            <a:ext cx="2807003" cy="5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1"/>
          <p:cNvSpPr txBox="1">
            <a:spLocks noChangeArrowheads="1"/>
          </p:cNvSpPr>
          <p:nvPr/>
        </p:nvSpPr>
        <p:spPr bwMode="auto">
          <a:xfrm>
            <a:off x="6174581" y="1583532"/>
            <a:ext cx="5483225"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itchFamily="2" charset="-122"/>
              </a:defRPr>
            </a:lvl9pPr>
          </a:lstStyle>
          <a:p>
            <a:pPr algn="r" eaLnBrk="1" hangingPunct="1">
              <a:lnSpc>
                <a:spcPct val="100000"/>
              </a:lnSpc>
              <a:spcBef>
                <a:spcPct val="0"/>
              </a:spcBef>
              <a:buFontTx/>
              <a:buNone/>
            </a:pPr>
            <a:r>
              <a:rPr lang="zh-CN" altLang="en-US" sz="4400" b="1" dirty="0">
                <a:solidFill>
                  <a:srgbClr val="00A6B2"/>
                </a:solidFill>
                <a:latin typeface="微软雅黑" panose="020B0503020204020204" charset="-122"/>
                <a:ea typeface="微软雅黑" panose="020B0503020204020204" charset="-122"/>
                <a:sym typeface="宋体" pitchFamily="2" charset="-122"/>
              </a:rPr>
              <a:t>中国现代职业教育</a:t>
            </a:r>
          </a:p>
          <a:p>
            <a:pPr algn="r" eaLnBrk="1" hangingPunct="1">
              <a:lnSpc>
                <a:spcPct val="100000"/>
              </a:lnSpc>
              <a:spcBef>
                <a:spcPct val="0"/>
              </a:spcBef>
              <a:buFontTx/>
              <a:buNone/>
            </a:pPr>
            <a:r>
              <a:rPr lang="zh-CN" altLang="en-US" sz="4400" b="1" dirty="0">
                <a:solidFill>
                  <a:srgbClr val="00A6B2"/>
                </a:solidFill>
                <a:latin typeface="微软雅黑" panose="020B0503020204020204" charset="-122"/>
                <a:ea typeface="微软雅黑" panose="020B0503020204020204" charset="-122"/>
                <a:sym typeface="宋体" pitchFamily="2" charset="-122"/>
              </a:rPr>
              <a:t>改革与创新的领导者</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INDEX" val="20186031"/>
  <p:tag name="KSO_WM_TAG_VERSION" val="1.0"/>
  <p:tag name="KSO_WM_SLIDE_INDEX" val="2"/>
  <p:tag name="KSO_WM_SLIDE_ITEM_CNT" val="4"/>
  <p:tag name="KSO_WM_SLIDE_LAYOUT" val="l_a_d_g"/>
  <p:tag name="KSO_WM_SLIDE_LAYOUT_CNT" val="1_1_1_1"/>
  <p:tag name="KSO_WM_SLIDE_TYPE" val="contents"/>
  <p:tag name="KSO_WM_SLIDE_SUBTYPE" val="diag"/>
  <p:tag name="KSO_WM_BEAUTIFY_FLAG" val="#wm#"/>
  <p:tag name="KSO_WM_TEMPLATE_CATEGORY" val="diagram"/>
  <p:tag name="KSO_WM_SLIDE_ID" val="diagram20186031_2"/>
  <p:tag name="KSO_WM_DIAGRAM_GROUP_CODE" val="l1-1"/>
</p:tagLst>
</file>

<file path=ppt/tags/tag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d"/>
  <p:tag name="KSO_WM_UNIT_INDEX" val="1"/>
  <p:tag name="KSO_WM_UNIT_ID" val="diagram20186031_2*d*1"/>
  <p:tag name="KSO_WM_UNIT_LAYERLEVEL" val="1"/>
  <p:tag name="KSO_WM_UNIT_VALUE" val="690*2983"/>
  <p:tag name="KSO_WM_UNIT_HIGHLIGHT" val="0"/>
  <p:tag name="KSO_WM_UNIT_COMPATIBLE" val="0"/>
  <p:tag name="KSO_WM_UNIT_CLEAR" val="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i"/>
  <p:tag name="KSO_WM_UNIT_INDEX" val="1_3_1"/>
  <p:tag name="KSO_WM_UNIT_ID" val="diagram20186031_2*l_h_i*1_3_1"/>
  <p:tag name="KSO_WM_UNIT_LAYERLEVEL" val="1_1_1"/>
  <p:tag name="KSO_WM_BEAUTIFY_FLAG" val="#wm#"/>
  <p:tag name="KSO_WM_DIAGRAM_GROUP_CODE" val="l1-1"/>
  <p:tag name="KSO_WM_UNIT_FILL_FORE_SCHEMECOLOR_INDEX" val="7"/>
  <p:tag name="KSO_WM_UNIT_FILL_TYPE" val="1"/>
  <p:tag name="KSO_WM_UNIT_TEXT_FILL_FORE_SCHEMECOLOR_INDEX" val="14"/>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f"/>
  <p:tag name="KSO_WM_UNIT_INDEX" val="1_3_1"/>
  <p:tag name="KSO_WM_UNIT_ID" val="diagram20186031_2*l_h_f*1_3_1"/>
  <p:tag name="KSO_WM_UNIT_LAYERLEVEL" val="1_1_1"/>
  <p:tag name="KSO_WM_UNIT_VALUE" val="8"/>
  <p:tag name="KSO_WM_UNIT_HIGHLIGHT" val="0"/>
  <p:tag name="KSO_WM_UNIT_COMPATIBLE" val="0"/>
  <p:tag name="KSO_WM_UNIT_CLEAR" val="0"/>
  <p:tag name="KSO_WM_BEAUTIFY_FLAG" val="#wm#"/>
  <p:tag name="KSO_WM_DIAGRAM_GROUP_CODE" val="l1-1"/>
  <p:tag name="KSO_WM_UNIT_PRESET_TEXT" val="标题文本预设"/>
  <p:tag name="KSO_WM_UNIT_TEXT_FILL_FORE_SCHEMECOLOR_INDEX" val="7"/>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i"/>
  <p:tag name="KSO_WM_UNIT_INDEX" val="1_1_1"/>
  <p:tag name="KSO_WM_UNIT_ID" val="diagram20186031_2*l_h_i*1_1_1"/>
  <p:tag name="KSO_WM_UNIT_LAYERLEVEL" val="1_1_1"/>
  <p:tag name="KSO_WM_BEAUTIFY_FLAG" val="#wm#"/>
  <p:tag name="KSO_WM_DIAGRAM_GROUP_CODE" val="l1-1"/>
  <p:tag name="KSO_WM_UNIT_FILL_FORE_SCHEMECOLOR_INDEX" val="5"/>
  <p:tag name="KSO_WM_UNIT_FILL_TYPE" val="1"/>
  <p:tag name="KSO_WM_UNIT_TEXT_FILL_FORE_SCHEMECOLOR_INDEX" val="14"/>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f"/>
  <p:tag name="KSO_WM_UNIT_INDEX" val="1_1_1"/>
  <p:tag name="KSO_WM_UNIT_ID" val="diagram20186031_2*l_h_f*1_1_1"/>
  <p:tag name="KSO_WM_UNIT_LAYERLEVEL" val="1_1_1"/>
  <p:tag name="KSO_WM_UNIT_VALUE" val="8"/>
  <p:tag name="KSO_WM_UNIT_HIGHLIGHT" val="0"/>
  <p:tag name="KSO_WM_UNIT_COMPATIBLE" val="0"/>
  <p:tag name="KSO_WM_UNIT_CLEAR" val="0"/>
  <p:tag name="KSO_WM_BEAUTIFY_FLAG" val="#wm#"/>
  <p:tag name="KSO_WM_DIAGRAM_GROUP_CODE" val="l1-1"/>
  <p:tag name="KSO_WM_UNIT_PRESET_TEXT" val="标题文本预设"/>
  <p:tag name="KSO_WM_UNIT_TEXT_FILL_FORE_SCHEMECOLOR_INDEX" val="5"/>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i"/>
  <p:tag name="KSO_WM_UNIT_INDEX" val="1_1"/>
  <p:tag name="KSO_WM_UNIT_ID" val="diagram20186031_2*l_i*1_1"/>
  <p:tag name="KSO_WM_UNIT_LAYERLEVEL" val="1_1"/>
  <p:tag name="KSO_WM_BEAUTIFY_FLAG" val="#wm#"/>
  <p:tag name="KSO_WM_DIAGRAM_GROUP_CODE" val="l1-1"/>
  <p:tag name="KSO_WM_UNIT_FILL_FORE_SCHEMECOLOR_INDEX" val="14"/>
  <p:tag name="KSO_WM_UNIT_FILL_TYPE" val="1"/>
  <p:tag name="KSO_WM_UNIT_LINE_FORE_SCHEMECOLOR_INDEX" val="15"/>
  <p:tag name="KSO_WM_UNIT_LINE_FILL_TYPE" val="2"/>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a"/>
  <p:tag name="KSO_WM_UNIT_INDEX" val="1"/>
  <p:tag name="KSO_WM_UNIT_ID" val="diagram20186031_2*a*1"/>
  <p:tag name="KSO_WM_UNIT_LAYERLEVEL" val="1"/>
  <p:tag name="KSO_WM_UNIT_ISCONTENTSTITLE" val="1"/>
  <p:tag name="KSO_WM_UNIT_VALUE" val="2"/>
  <p:tag name="KSO_WM_UNIT_HIGHLIGHT" val="0"/>
  <p:tag name="KSO_WM_UNIT_COMPATIBLE" val="0"/>
  <p:tag name="KSO_WM_UNIT_CLEAR" val="0"/>
  <p:tag name="KSO_WM_BEAUTIFY_FLAG" val="#wm#"/>
  <p:tag name="KSO_WM_UNIT_PRESET_TEXT" val="目录"/>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g"/>
  <p:tag name="KSO_WM_UNIT_INDEX" val="1"/>
  <p:tag name="KSO_WM_UNIT_ID" val="diagram20186031_2*g*1"/>
  <p:tag name="KSO_WM_UNIT_LAYERLEVEL" val="1"/>
  <p:tag name="KSO_WM_UNIT_VALUE" val="16"/>
  <p:tag name="KSO_WM_UNIT_HIGHLIGHT" val="0"/>
  <p:tag name="KSO_WM_UNIT_COMPATIBLE" val="1"/>
  <p:tag name="KSO_WM_UNIT_CLEAR" val="0"/>
  <p:tag name="KSO_WM_UNIT_RELATE_UNITID" val="diagram20186031_2*a*1"/>
  <p:tag name="KSO_WM_BEAUTIFY_FLAG" val="#wm#"/>
  <p:tag name="KSO_WM_UNIT_PRESET_TEXT" val="CONTENTS"/>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i"/>
  <p:tag name="KSO_WM_UNIT_INDEX" val="1_3_1"/>
  <p:tag name="KSO_WM_UNIT_ID" val="diagram20186031_2*l_h_i*1_3_1"/>
  <p:tag name="KSO_WM_UNIT_LAYERLEVEL" val="1_1_1"/>
  <p:tag name="KSO_WM_BEAUTIFY_FLAG" val="#wm#"/>
  <p:tag name="KSO_WM_DIAGRAM_GROUP_CODE" val="l1-1"/>
  <p:tag name="KSO_WM_UNIT_FILL_FORE_SCHEMECOLOR_INDEX" val="7"/>
  <p:tag name="KSO_WM_UNIT_FILL_TYPE" val="1"/>
  <p:tag name="KSO_WM_UNIT_TEXT_FILL_FORE_SCHEMECOLOR_INDEX" val="14"/>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f"/>
  <p:tag name="KSO_WM_UNIT_INDEX" val="1_3_1"/>
  <p:tag name="KSO_WM_UNIT_ID" val="diagram20186031_2*l_h_f*1_3_1"/>
  <p:tag name="KSO_WM_UNIT_LAYERLEVEL" val="1_1_1"/>
  <p:tag name="KSO_WM_UNIT_VALUE" val="8"/>
  <p:tag name="KSO_WM_UNIT_HIGHLIGHT" val="0"/>
  <p:tag name="KSO_WM_UNIT_COMPATIBLE" val="0"/>
  <p:tag name="KSO_WM_UNIT_CLEAR" val="0"/>
  <p:tag name="KSO_WM_BEAUTIFY_FLAG" val="#wm#"/>
  <p:tag name="KSO_WM_DIAGRAM_GROUP_CODE" val="l1-1"/>
  <p:tag name="KSO_WM_UNIT_PRESET_TEXT" val="标题文本预设"/>
  <p:tag name="KSO_WM_UNIT_TEXT_FILL_FORE_SCHEMECOLOR_INDEX" val="7"/>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i"/>
  <p:tag name="KSO_WM_UNIT_INDEX" val="1_3_1"/>
  <p:tag name="KSO_WM_UNIT_ID" val="diagram20186031_2*l_h_i*1_3_1"/>
  <p:tag name="KSO_WM_UNIT_LAYERLEVEL" val="1_1_1"/>
  <p:tag name="KSO_WM_BEAUTIFY_FLAG" val="#wm#"/>
  <p:tag name="KSO_WM_DIAGRAM_GROUP_CODE" val="l1-1"/>
  <p:tag name="KSO_WM_UNIT_FILL_FORE_SCHEMECOLOR_INDEX" val="7"/>
  <p:tag name="KSO_WM_UNIT_FILL_TYPE" val="1"/>
  <p:tag name="KSO_WM_UNIT_TEXT_FILL_FORE_SCHEMECOLOR_INDEX" val="14"/>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f"/>
  <p:tag name="KSO_WM_UNIT_INDEX" val="1_3_1"/>
  <p:tag name="KSO_WM_UNIT_ID" val="diagram20186031_2*l_h_f*1_3_1"/>
  <p:tag name="KSO_WM_UNIT_LAYERLEVEL" val="1_1_1"/>
  <p:tag name="KSO_WM_UNIT_VALUE" val="8"/>
  <p:tag name="KSO_WM_UNIT_HIGHLIGHT" val="0"/>
  <p:tag name="KSO_WM_UNIT_COMPATIBLE" val="0"/>
  <p:tag name="KSO_WM_UNIT_CLEAR" val="0"/>
  <p:tag name="KSO_WM_BEAUTIFY_FLAG" val="#wm#"/>
  <p:tag name="KSO_WM_DIAGRAM_GROUP_CODE" val="l1-1"/>
  <p:tag name="KSO_WM_UNIT_PRESET_TEXT" val="标题文本预设"/>
  <p:tag name="KSO_WM_UNIT_TEXT_FILL_FORE_SCHEMECOLOR_INDEX" val="7"/>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i"/>
  <p:tag name="KSO_WM_UNIT_INDEX" val="1_3_1"/>
  <p:tag name="KSO_WM_UNIT_ID" val="diagram20186031_2*l_h_i*1_3_1"/>
  <p:tag name="KSO_WM_UNIT_LAYERLEVEL" val="1_1_1"/>
  <p:tag name="KSO_WM_BEAUTIFY_FLAG" val="#wm#"/>
  <p:tag name="KSO_WM_DIAGRAM_GROUP_CODE" val="l1-1"/>
  <p:tag name="KSO_WM_UNIT_FILL_FORE_SCHEMECOLOR_INDEX" val="7"/>
  <p:tag name="KSO_WM_UNIT_FILL_TYPE" val="1"/>
  <p:tag name="KSO_WM_UNIT_TEXT_FILL_FORE_SCHEMECOLOR_INDEX" val="14"/>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f"/>
  <p:tag name="KSO_WM_UNIT_INDEX" val="1_3_1"/>
  <p:tag name="KSO_WM_UNIT_ID" val="diagram20186031_2*l_h_f*1_3_1"/>
  <p:tag name="KSO_WM_UNIT_LAYERLEVEL" val="1_1_1"/>
  <p:tag name="KSO_WM_UNIT_VALUE" val="8"/>
  <p:tag name="KSO_WM_UNIT_HIGHLIGHT" val="0"/>
  <p:tag name="KSO_WM_UNIT_COMPATIBLE" val="0"/>
  <p:tag name="KSO_WM_UNIT_CLEAR" val="0"/>
  <p:tag name="KSO_WM_BEAUTIFY_FLAG" val="#wm#"/>
  <p:tag name="KSO_WM_DIAGRAM_GROUP_CODE" val="l1-1"/>
  <p:tag name="KSO_WM_UNIT_PRESET_TEXT" val="标题文本预设"/>
  <p:tag name="KSO_WM_UNIT_TEXT_FILL_FORE_SCHEMECOLOR_INDEX" val="7"/>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i"/>
  <p:tag name="KSO_WM_UNIT_INDEX" val="1_3_1"/>
  <p:tag name="KSO_WM_UNIT_ID" val="diagram20186031_2*l_h_i*1_3_1"/>
  <p:tag name="KSO_WM_UNIT_LAYERLEVEL" val="1_1_1"/>
  <p:tag name="KSO_WM_BEAUTIFY_FLAG" val="#wm#"/>
  <p:tag name="KSO_WM_DIAGRAM_GROUP_CODE" val="l1-1"/>
  <p:tag name="KSO_WM_UNIT_FILL_FORE_SCHEMECOLOR_INDEX" val="7"/>
  <p:tag name="KSO_WM_UNIT_FILL_TYPE" val="1"/>
  <p:tag name="KSO_WM_UNIT_TEXT_FILL_FORE_SCHEMECOLOR_INDEX" val="14"/>
  <p:tag name="KSO_WM_UNIT_TEXT_FILL_TYPE" val="1"/>
  <p:tag name="KSO_WM_UNIT_USESOURCEFORMAT_APPLY" val="1"/>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h_f"/>
  <p:tag name="KSO_WM_UNIT_INDEX" val="1_3_1"/>
  <p:tag name="KSO_WM_UNIT_ID" val="diagram20186031_2*l_h_f*1_3_1"/>
  <p:tag name="KSO_WM_UNIT_LAYERLEVEL" val="1_1_1"/>
  <p:tag name="KSO_WM_UNIT_VALUE" val="8"/>
  <p:tag name="KSO_WM_UNIT_HIGHLIGHT" val="0"/>
  <p:tag name="KSO_WM_UNIT_COMPATIBLE" val="0"/>
  <p:tag name="KSO_WM_UNIT_CLEAR" val="0"/>
  <p:tag name="KSO_WM_BEAUTIFY_FLAG" val="#wm#"/>
  <p:tag name="KSO_WM_DIAGRAM_GROUP_CODE" val="l1-1"/>
  <p:tag name="KSO_WM_UNIT_PRESET_TEXT" val="标题文本预设"/>
  <p:tag name="KSO_WM_UNIT_TEXT_FILL_FORE_SCHEMECOLOR_INDEX" val="7"/>
  <p:tag name="KSO_WM_UNIT_TEXT_FILL_TYPE" val="1"/>
  <p:tag name="KSO_WM_UNIT_USESOURCEFORMAT_APPLY" val="1"/>
</p:tagLst>
</file>

<file path=ppt/tags/tag18.xml><?xml version="1.0" encoding="utf-8"?>
<p:tagLst xmlns:a="http://schemas.openxmlformats.org/drawingml/2006/main" xmlns:r="http://schemas.openxmlformats.org/officeDocument/2006/relationships" xmlns:p="http://schemas.openxmlformats.org/presentationml/2006/main">
  <p:tag name="KSO_WM_TEMPLATE_INDEX" val="20186031"/>
  <p:tag name="KSO_WM_TAG_VERSION" val="1.0"/>
  <p:tag name="KSO_WM_SLIDE_INDEX" val="2"/>
  <p:tag name="KSO_WM_SLIDE_ITEM_CNT" val="4"/>
  <p:tag name="KSO_WM_SLIDE_LAYOUT" val="l_a_d_g"/>
  <p:tag name="KSO_WM_SLIDE_LAYOUT_CNT" val="1_1_1_1"/>
  <p:tag name="KSO_WM_SLIDE_TYPE" val="contents"/>
  <p:tag name="KSO_WM_SLIDE_SUBTYPE" val="diag"/>
  <p:tag name="KSO_WM_BEAUTIFY_FLAG" val="#wm#"/>
  <p:tag name="KSO_WM_TEMPLATE_CATEGORY" val="diagram"/>
  <p:tag name="KSO_WM_SLIDE_ID" val="diagram20186031_2"/>
  <p:tag name="KSO_WM_DIAGRAM_GROUP_CODE" val="l1-1"/>
</p:tagLst>
</file>

<file path=ppt/tags/tag1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d"/>
  <p:tag name="KSO_WM_UNIT_INDEX" val="1"/>
  <p:tag name="KSO_WM_UNIT_ID" val="diagram20186031_2*d*1"/>
  <p:tag name="KSO_WM_UNIT_LAYERLEVEL" val="1"/>
  <p:tag name="KSO_WM_UNIT_VALUE" val="690*2983"/>
  <p:tag name="KSO_WM_UNIT_HIGHLIGHT" val="0"/>
  <p:tag name="KSO_WM_UNIT_COMPATIBLE" val="0"/>
  <p:tag name="KSO_WM_UNIT_CLEAR" val="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i"/>
  <p:tag name="KSO_WM_UNIT_INDEX" val="1_1"/>
  <p:tag name="KSO_WM_UNIT_ID" val="diagram20186031_2*l_i*1_1"/>
  <p:tag name="KSO_WM_UNIT_LAYERLEVEL" val="1_1"/>
  <p:tag name="KSO_WM_BEAUTIFY_FLAG" val="#wm#"/>
  <p:tag name="KSO_WM_DIAGRAM_GROUP_CODE" val="l1-1"/>
  <p:tag name="KSO_WM_UNIT_FILL_FORE_SCHEMECOLOR_INDEX" val="14"/>
  <p:tag name="KSO_WM_UNIT_FILL_TYPE" val="1"/>
  <p:tag name="KSO_WM_UNIT_LINE_FORE_SCHEMECOLOR_INDEX" val="15"/>
  <p:tag name="KSO_WM_UNIT_LINE_FILL_TYPE" val="2"/>
  <p:tag name="KSO_WM_UNIT_TEXT_FILL_FORE_SCHEMECOLOR_INDEX" val="13"/>
  <p:tag name="KSO_WM_UNIT_TEXT_FILL_TYPE" val="1"/>
  <p:tag name="KSO_WM_UNIT_USESOURCEFORMAT_APPLY" val="1"/>
</p:tagLst>
</file>

<file path=ppt/tags/tag2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a"/>
  <p:tag name="KSO_WM_UNIT_INDEX" val="1"/>
  <p:tag name="KSO_WM_UNIT_ID" val="diagram20186031_2*a*1"/>
  <p:tag name="KSO_WM_UNIT_LAYERLEVEL" val="1"/>
  <p:tag name="KSO_WM_UNIT_ISCONTENTSTITLE" val="1"/>
  <p:tag name="KSO_WM_UNIT_VALUE" val="2"/>
  <p:tag name="KSO_WM_UNIT_HIGHLIGHT" val="0"/>
  <p:tag name="KSO_WM_UNIT_COMPATIBLE" val="0"/>
  <p:tag name="KSO_WM_UNIT_CLEAR" val="0"/>
  <p:tag name="KSO_WM_BEAUTIFY_FLAG" val="#wm#"/>
  <p:tag name="KSO_WM_UNIT_PRESET_TEXT" val="目录"/>
</p:tagLst>
</file>

<file path=ppt/tags/tag22.xml><?xml version="1.0" encoding="utf-8"?>
<p:tagLst xmlns:a="http://schemas.openxmlformats.org/drawingml/2006/main" xmlns:r="http://schemas.openxmlformats.org/officeDocument/2006/relationships" xmlns:p="http://schemas.openxmlformats.org/presentationml/2006/main">
  <p:tag name="KSO_WM_TEMPLATE_INDEX" val="20186031"/>
  <p:tag name="KSO_WM_TAG_VERSION" val="1.0"/>
  <p:tag name="KSO_WM_SLIDE_INDEX" val="2"/>
  <p:tag name="KSO_WM_SLIDE_ITEM_CNT" val="4"/>
  <p:tag name="KSO_WM_SLIDE_LAYOUT" val="l_a_d_g"/>
  <p:tag name="KSO_WM_SLIDE_LAYOUT_CNT" val="1_1_1_1"/>
  <p:tag name="KSO_WM_SLIDE_TYPE" val="contents"/>
  <p:tag name="KSO_WM_SLIDE_SUBTYPE" val="diag"/>
  <p:tag name="KSO_WM_BEAUTIFY_FLAG" val="#wm#"/>
  <p:tag name="KSO_WM_TEMPLATE_CATEGORY" val="diagram"/>
  <p:tag name="KSO_WM_SLIDE_ID" val="diagram20186031_2"/>
  <p:tag name="KSO_WM_DIAGRAM_GROUP_CODE" val="l1-1"/>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d"/>
  <p:tag name="KSO_WM_UNIT_INDEX" val="1"/>
  <p:tag name="KSO_WM_UNIT_ID" val="diagram20186031_2*d*1"/>
  <p:tag name="KSO_WM_UNIT_LAYERLEVEL" val="1"/>
  <p:tag name="KSO_WM_UNIT_VALUE" val="690*2983"/>
  <p:tag name="KSO_WM_UNIT_HIGHLIGHT" val="0"/>
  <p:tag name="KSO_WM_UNIT_COMPATIBLE" val="0"/>
  <p:tag name="KSO_WM_UNIT_CLEAR" val="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i"/>
  <p:tag name="KSO_WM_UNIT_INDEX" val="1_1"/>
  <p:tag name="KSO_WM_UNIT_ID" val="diagram20186031_2*l_i*1_1"/>
  <p:tag name="KSO_WM_UNIT_LAYERLEVEL" val="1_1"/>
  <p:tag name="KSO_WM_BEAUTIFY_FLAG" val="#wm#"/>
  <p:tag name="KSO_WM_DIAGRAM_GROUP_CODE" val="l1-1"/>
  <p:tag name="KSO_WM_UNIT_FILL_FORE_SCHEMECOLOR_INDEX" val="14"/>
  <p:tag name="KSO_WM_UNIT_FILL_TYPE" val="1"/>
  <p:tag name="KSO_WM_UNIT_LINE_FORE_SCHEMECOLOR_INDEX" val="15"/>
  <p:tag name="KSO_WM_UNIT_LINE_FILL_TYPE" val="2"/>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a"/>
  <p:tag name="KSO_WM_UNIT_INDEX" val="1"/>
  <p:tag name="KSO_WM_UNIT_ID" val="diagram20186031_2*a*1"/>
  <p:tag name="KSO_WM_UNIT_LAYERLEVEL" val="1"/>
  <p:tag name="KSO_WM_UNIT_ISCONTENTSTITLE" val="1"/>
  <p:tag name="KSO_WM_UNIT_VALUE" val="2"/>
  <p:tag name="KSO_WM_UNIT_HIGHLIGHT" val="0"/>
  <p:tag name="KSO_WM_UNIT_COMPATIBLE" val="0"/>
  <p:tag name="KSO_WM_UNIT_CLEAR" val="0"/>
  <p:tag name="KSO_WM_BEAUTIFY_FLAG" val="#wm#"/>
  <p:tag name="KSO_WM_UNIT_PRESET_TEXT" val="目录"/>
</p:tagLst>
</file>

<file path=ppt/tags/tag26.xml><?xml version="1.0" encoding="utf-8"?>
<p:tagLst xmlns:a="http://schemas.openxmlformats.org/drawingml/2006/main" xmlns:r="http://schemas.openxmlformats.org/officeDocument/2006/relationships" xmlns:p="http://schemas.openxmlformats.org/presentationml/2006/main">
  <p:tag name="KSO_WM_SLIDE_MODEL_TYPE" val="numdgm"/>
</p:tagLst>
</file>

<file path=ppt/tags/tag27.xml><?xml version="1.0" encoding="utf-8"?>
<p:tagLst xmlns:a="http://schemas.openxmlformats.org/drawingml/2006/main" xmlns:r="http://schemas.openxmlformats.org/officeDocument/2006/relationships" xmlns:p="http://schemas.openxmlformats.org/presentationml/2006/main">
  <p:tag name="KSO_WM_TEMPLATE_INDEX" val="20186031"/>
  <p:tag name="KSO_WM_TAG_VERSION" val="1.0"/>
  <p:tag name="KSO_WM_SLIDE_INDEX" val="2"/>
  <p:tag name="KSO_WM_SLIDE_ITEM_CNT" val="4"/>
  <p:tag name="KSO_WM_SLIDE_LAYOUT" val="l_a_d_g"/>
  <p:tag name="KSO_WM_SLIDE_LAYOUT_CNT" val="1_1_1_1"/>
  <p:tag name="KSO_WM_SLIDE_TYPE" val="contents"/>
  <p:tag name="KSO_WM_SLIDE_SUBTYPE" val="diag"/>
  <p:tag name="KSO_WM_BEAUTIFY_FLAG" val="#wm#"/>
  <p:tag name="KSO_WM_TEMPLATE_CATEGORY" val="diagram"/>
  <p:tag name="KSO_WM_SLIDE_ID" val="diagram20186031_2"/>
  <p:tag name="KSO_WM_DIAGRAM_GROUP_CODE" val="l1-1"/>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d"/>
  <p:tag name="KSO_WM_UNIT_INDEX" val="1"/>
  <p:tag name="KSO_WM_UNIT_ID" val="diagram20186031_2*d*1"/>
  <p:tag name="KSO_WM_UNIT_LAYERLEVEL" val="1"/>
  <p:tag name="KSO_WM_UNIT_VALUE" val="690*2983"/>
  <p:tag name="KSO_WM_UNIT_HIGHLIGHT" val="0"/>
  <p:tag name="KSO_WM_UNIT_COMPATIBLE" val="0"/>
  <p:tag name="KSO_WM_UNIT_CLEAR" val="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i"/>
  <p:tag name="KSO_WM_UNIT_INDEX" val="1_1"/>
  <p:tag name="KSO_WM_UNIT_ID" val="diagram20186031_2*l_i*1_1"/>
  <p:tag name="KSO_WM_UNIT_LAYERLEVEL" val="1_1"/>
  <p:tag name="KSO_WM_BEAUTIFY_FLAG" val="#wm#"/>
  <p:tag name="KSO_WM_DIAGRAM_GROUP_CODE" val="l1-1"/>
  <p:tag name="KSO_WM_UNIT_FILL_FORE_SCHEMECOLOR_INDEX" val="14"/>
  <p:tag name="KSO_WM_UNIT_FILL_TYPE" val="1"/>
  <p:tag name="KSO_WM_UNIT_LINE_FORE_SCHEMECOLOR_INDEX" val="15"/>
  <p:tag name="KSO_WM_UNIT_LINE_FILL_TYPE" val="2"/>
  <p:tag name="KSO_WM_UNIT_TEXT_FILL_FORE_SCHEMECOLOR_INDEX" val="13"/>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a"/>
  <p:tag name="KSO_WM_UNIT_INDEX" val="1"/>
  <p:tag name="KSO_WM_UNIT_ID" val="diagram20186031_2*a*1"/>
  <p:tag name="KSO_WM_UNIT_LAYERLEVEL" val="1"/>
  <p:tag name="KSO_WM_UNIT_ISCONTENTSTITLE" val="1"/>
  <p:tag name="KSO_WM_UNIT_VALUE" val="2"/>
  <p:tag name="KSO_WM_UNIT_HIGHLIGHT" val="0"/>
  <p:tag name="KSO_WM_UNIT_COMPATIBLE" val="0"/>
  <p:tag name="KSO_WM_UNIT_CLEAR" val="0"/>
  <p:tag name="KSO_WM_BEAUTIFY_FLAG" val="#wm#"/>
  <p:tag name="KSO_WM_UNIT_PRESET_TEXT" val="目录"/>
</p:tagLst>
</file>

<file path=ppt/tags/tag31.xml><?xml version="1.0" encoding="utf-8"?>
<p:tagLst xmlns:a="http://schemas.openxmlformats.org/drawingml/2006/main" xmlns:r="http://schemas.openxmlformats.org/officeDocument/2006/relationships" xmlns:p="http://schemas.openxmlformats.org/presentationml/2006/main">
  <p:tag name="MH_TYPE" val="#NeiR#"/>
  <p:tag name="MH_NUMBER" val="3"/>
  <p:tag name="MH_CATEGORY" val="#BingLLB#"/>
  <p:tag name="MH_LAYOUT" val="SubTitle"/>
  <p:tag name="MH" val="20151007232237"/>
  <p:tag name="MH_LIBRARY" val="GRAPHIC"/>
</p:tagLst>
</file>

<file path=ppt/tags/tag32.xml><?xml version="1.0" encoding="utf-8"?>
<p:tagLst xmlns:a="http://schemas.openxmlformats.org/drawingml/2006/main" xmlns:r="http://schemas.openxmlformats.org/officeDocument/2006/relationships" xmlns:p="http://schemas.openxmlformats.org/presentationml/2006/main">
  <p:tag name="KSO_WM_TEMPLATE_INDEX" val="20186031"/>
  <p:tag name="KSO_WM_TAG_VERSION" val="1.0"/>
  <p:tag name="KSO_WM_SLIDE_INDEX" val="2"/>
  <p:tag name="KSO_WM_SLIDE_ITEM_CNT" val="4"/>
  <p:tag name="KSO_WM_SLIDE_LAYOUT" val="l_a_d_g"/>
  <p:tag name="KSO_WM_SLIDE_LAYOUT_CNT" val="1_1_1_1"/>
  <p:tag name="KSO_WM_SLIDE_TYPE" val="contents"/>
  <p:tag name="KSO_WM_SLIDE_SUBTYPE" val="diag"/>
  <p:tag name="KSO_WM_BEAUTIFY_FLAG" val="#wm#"/>
  <p:tag name="KSO_WM_TEMPLATE_CATEGORY" val="diagram"/>
  <p:tag name="KSO_WM_SLIDE_ID" val="diagram20186031_2"/>
  <p:tag name="KSO_WM_DIAGRAM_GROUP_CODE" val="l1-1"/>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d"/>
  <p:tag name="KSO_WM_UNIT_INDEX" val="1"/>
  <p:tag name="KSO_WM_UNIT_ID" val="diagram20186031_2*d*1"/>
  <p:tag name="KSO_WM_UNIT_LAYERLEVEL" val="1"/>
  <p:tag name="KSO_WM_UNIT_VALUE" val="690*2983"/>
  <p:tag name="KSO_WM_UNIT_HIGHLIGHT" val="0"/>
  <p:tag name="KSO_WM_UNIT_COMPATIBLE" val="0"/>
  <p:tag name="KSO_WM_UNIT_CLEAR" val="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i"/>
  <p:tag name="KSO_WM_UNIT_INDEX" val="1_1"/>
  <p:tag name="KSO_WM_UNIT_ID" val="diagram20186031_2*l_i*1_1"/>
  <p:tag name="KSO_WM_UNIT_LAYERLEVEL" val="1_1"/>
  <p:tag name="KSO_WM_BEAUTIFY_FLAG" val="#wm#"/>
  <p:tag name="KSO_WM_DIAGRAM_GROUP_CODE" val="l1-1"/>
  <p:tag name="KSO_WM_UNIT_FILL_FORE_SCHEMECOLOR_INDEX" val="14"/>
  <p:tag name="KSO_WM_UNIT_FILL_TYPE" val="1"/>
  <p:tag name="KSO_WM_UNIT_LINE_FORE_SCHEMECOLOR_INDEX" val="15"/>
  <p:tag name="KSO_WM_UNIT_LINE_FILL_TYPE" val="2"/>
  <p:tag name="KSO_WM_UNIT_TEXT_FILL_FORE_SCHEMECOLOR_INDEX" val="13"/>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a"/>
  <p:tag name="KSO_WM_UNIT_INDEX" val="1"/>
  <p:tag name="KSO_WM_UNIT_ID" val="diagram20186031_2*a*1"/>
  <p:tag name="KSO_WM_UNIT_LAYERLEVEL" val="1"/>
  <p:tag name="KSO_WM_UNIT_ISCONTENTSTITLE" val="1"/>
  <p:tag name="KSO_WM_UNIT_VALUE" val="2"/>
  <p:tag name="KSO_WM_UNIT_HIGHLIGHT" val="0"/>
  <p:tag name="KSO_WM_UNIT_COMPATIBLE" val="0"/>
  <p:tag name="KSO_WM_UNIT_CLEAR" val="0"/>
  <p:tag name="KSO_WM_BEAUTIFY_FLAG" val="#wm#"/>
  <p:tag name="KSO_WM_UNIT_PRESET_TEXT" val="目录"/>
</p:tagLst>
</file>

<file path=ppt/tags/tag36.xml><?xml version="1.0" encoding="utf-8"?>
<p:tagLst xmlns:a="http://schemas.openxmlformats.org/drawingml/2006/main" xmlns:r="http://schemas.openxmlformats.org/officeDocument/2006/relationships" xmlns:p="http://schemas.openxmlformats.org/presentationml/2006/main">
  <p:tag name="KSO_WM_TEMPLATE_INDEX" val="20186031"/>
  <p:tag name="KSO_WM_TAG_VERSION" val="1.0"/>
  <p:tag name="KSO_WM_SLIDE_INDEX" val="2"/>
  <p:tag name="KSO_WM_SLIDE_ITEM_CNT" val="4"/>
  <p:tag name="KSO_WM_SLIDE_LAYOUT" val="l_a_d_g"/>
  <p:tag name="KSO_WM_SLIDE_LAYOUT_CNT" val="1_1_1_1"/>
  <p:tag name="KSO_WM_SLIDE_TYPE" val="contents"/>
  <p:tag name="KSO_WM_SLIDE_SUBTYPE" val="diag"/>
  <p:tag name="KSO_WM_BEAUTIFY_FLAG" val="#wm#"/>
  <p:tag name="KSO_WM_TEMPLATE_CATEGORY" val="diagram"/>
  <p:tag name="KSO_WM_SLIDE_ID" val="diagram20186031_2"/>
  <p:tag name="KSO_WM_DIAGRAM_GROUP_CODE" val="l1-1"/>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d"/>
  <p:tag name="KSO_WM_UNIT_INDEX" val="1"/>
  <p:tag name="KSO_WM_UNIT_ID" val="diagram20186031_2*d*1"/>
  <p:tag name="KSO_WM_UNIT_LAYERLEVEL" val="1"/>
  <p:tag name="KSO_WM_UNIT_VALUE" val="690*2983"/>
  <p:tag name="KSO_WM_UNIT_HIGHLIGHT" val="0"/>
  <p:tag name="KSO_WM_UNIT_COMPATIBLE" val="0"/>
  <p:tag name="KSO_WM_UNIT_CLEAR" val="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i"/>
  <p:tag name="KSO_WM_UNIT_INDEX" val="1_1"/>
  <p:tag name="KSO_WM_UNIT_ID" val="diagram20186031_2*l_i*1_1"/>
  <p:tag name="KSO_WM_UNIT_LAYERLEVEL" val="1_1"/>
  <p:tag name="KSO_WM_BEAUTIFY_FLAG" val="#wm#"/>
  <p:tag name="KSO_WM_DIAGRAM_GROUP_CODE" val="l1-1"/>
  <p:tag name="KSO_WM_UNIT_FILL_FORE_SCHEMECOLOR_INDEX" val="14"/>
  <p:tag name="KSO_WM_UNIT_FILL_TYPE" val="1"/>
  <p:tag name="KSO_WM_UNIT_LINE_FORE_SCHEMECOLOR_INDEX" val="15"/>
  <p:tag name="KSO_WM_UNIT_LINE_FILL_TYPE" val="2"/>
  <p:tag name="KSO_WM_UNIT_TEXT_FILL_FORE_SCHEMECOLOR_INDEX" val="13"/>
  <p:tag name="KSO_WM_UNIT_TEXT_FILL_TYPE" val="1"/>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a"/>
  <p:tag name="KSO_WM_UNIT_INDEX" val="1"/>
  <p:tag name="KSO_WM_UNIT_ID" val="diagram20186031_2*a*1"/>
  <p:tag name="KSO_WM_UNIT_LAYERLEVEL" val="1"/>
  <p:tag name="KSO_WM_UNIT_ISCONTENTSTITLE" val="1"/>
  <p:tag name="KSO_WM_UNIT_VALUE" val="2"/>
  <p:tag name="KSO_WM_UNIT_HIGHLIGHT" val="0"/>
  <p:tag name="KSO_WM_UNIT_COMPATIBLE" val="0"/>
  <p:tag name="KSO_WM_UNIT_CLEAR" val="0"/>
  <p:tag name="KSO_WM_BEAUTIFY_FLAG" val="#wm#"/>
  <p:tag name="KSO_WM_UNIT_PRESET_TEXT" val="目录"/>
</p:tagLst>
</file>

<file path=ppt/tags/tag40.xml><?xml version="1.0" encoding="utf-8"?>
<p:tagLst xmlns:a="http://schemas.openxmlformats.org/drawingml/2006/main" xmlns:r="http://schemas.openxmlformats.org/officeDocument/2006/relationships" xmlns:p="http://schemas.openxmlformats.org/presentationml/2006/main">
  <p:tag name="KSO_WM_TEMPLATE_INDEX" val="20186031"/>
  <p:tag name="KSO_WM_TAG_VERSION" val="1.0"/>
  <p:tag name="KSO_WM_SLIDE_INDEX" val="2"/>
  <p:tag name="KSO_WM_SLIDE_ITEM_CNT" val="4"/>
  <p:tag name="KSO_WM_SLIDE_LAYOUT" val="l_a_d_g"/>
  <p:tag name="KSO_WM_SLIDE_LAYOUT_CNT" val="1_1_1_1"/>
  <p:tag name="KSO_WM_SLIDE_TYPE" val="contents"/>
  <p:tag name="KSO_WM_SLIDE_SUBTYPE" val="diag"/>
  <p:tag name="KSO_WM_BEAUTIFY_FLAG" val="#wm#"/>
  <p:tag name="KSO_WM_TEMPLATE_CATEGORY" val="diagram"/>
  <p:tag name="KSO_WM_SLIDE_ID" val="diagram20186031_2"/>
  <p:tag name="KSO_WM_DIAGRAM_GROUP_CODE" val="l1-1"/>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d"/>
  <p:tag name="KSO_WM_UNIT_INDEX" val="1"/>
  <p:tag name="KSO_WM_UNIT_ID" val="diagram20186031_2*d*1"/>
  <p:tag name="KSO_WM_UNIT_LAYERLEVEL" val="1"/>
  <p:tag name="KSO_WM_UNIT_VALUE" val="690*2983"/>
  <p:tag name="KSO_WM_UNIT_HIGHLIGHT" val="0"/>
  <p:tag name="KSO_WM_UNIT_COMPATIBLE" val="0"/>
  <p:tag name="KSO_WM_UNIT_CLEAR" val="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l_i"/>
  <p:tag name="KSO_WM_UNIT_INDEX" val="1_1"/>
  <p:tag name="KSO_WM_UNIT_ID" val="diagram20186031_2*l_i*1_1"/>
  <p:tag name="KSO_WM_UNIT_LAYERLEVEL" val="1_1"/>
  <p:tag name="KSO_WM_BEAUTIFY_FLAG" val="#wm#"/>
  <p:tag name="KSO_WM_DIAGRAM_GROUP_CODE" val="l1-1"/>
  <p:tag name="KSO_WM_UNIT_FILL_FORE_SCHEMECOLOR_INDEX" val="14"/>
  <p:tag name="KSO_WM_UNIT_FILL_TYPE" val="1"/>
  <p:tag name="KSO_WM_UNIT_LINE_FORE_SCHEMECOLOR_INDEX" val="15"/>
  <p:tag name="KSO_WM_UNIT_LINE_FILL_TYPE" val="2"/>
  <p:tag name="KSO_WM_UNIT_TEXT_FILL_FORE_SCHEMECOLOR_INDEX" val="13"/>
  <p:tag name="KSO_WM_UNIT_TEX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20186031"/>
  <p:tag name="KSO_WM_TAG_VERSION" val="1.0"/>
  <p:tag name="KSO_WM_UNIT_TYPE" val="a"/>
  <p:tag name="KSO_WM_UNIT_INDEX" val="1"/>
  <p:tag name="KSO_WM_UNIT_ID" val="diagram20186031_2*a*1"/>
  <p:tag name="KSO_WM_UNIT_LAYERLEVEL" val="1"/>
  <p:tag name="KSO_WM_UNIT_ISCONTENTSTITLE" val="1"/>
  <p:tag name="KSO_WM_UNIT_VALUE" val="2"/>
  <p:tag name="KSO_WM_UNIT_HIGHLIGHT" val="0"/>
  <p:tag name="KSO_WM_UNIT_COMPATIBLE" val="0"/>
  <p:tag name="KSO_WM_UNIT_CLEAR" val="0"/>
  <p:tag name="KSO_WM_BEAUTIFY_FLAG" val="#wm#"/>
  <p:tag name="KSO_WM_UNIT_PRESET_TEXT" val="目录"/>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4423</Words>
  <Application>Microsoft Office PowerPoint</Application>
  <PresentationFormat>Widescreen</PresentationFormat>
  <Paragraphs>415</Paragraphs>
  <Slides>25</Slides>
  <Notes>19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方正中等线简体</vt:lpstr>
      <vt:lpstr>华文楷体</vt:lpstr>
      <vt:lpstr>楷体</vt:lpstr>
      <vt:lpstr>微软雅黑</vt:lpstr>
      <vt:lpstr>微软雅黑</vt:lpstr>
      <vt:lpstr>Arial</vt:lpstr>
      <vt:lpstr>Calibri</vt:lpstr>
      <vt:lpstr>Calibri Light</vt:lpstr>
      <vt:lpstr>Wingdings</vt:lpstr>
      <vt:lpstr>webwppDefTheme</vt:lpstr>
      <vt:lpstr>Office 主题</vt:lpstr>
      <vt:lpstr>ZX***学院项目商业计划书</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大瞬学院项目商业计划书</dc:title>
  <dc:creator>Administrator</dc:creator>
  <cp:lastModifiedBy>Sunny Mao(CD)</cp:lastModifiedBy>
  <cp:revision>2</cp:revision>
  <cp:lastPrinted>2021-03-26T06:03:10Z</cp:lastPrinted>
  <dcterms:created xsi:type="dcterms:W3CDTF">2021-03-26T06:03:10Z</dcterms:created>
  <dcterms:modified xsi:type="dcterms:W3CDTF">2021-03-31T01:51:32Z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