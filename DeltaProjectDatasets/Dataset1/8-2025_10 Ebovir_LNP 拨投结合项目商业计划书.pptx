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media/image17.jpg" ContentType="image/pn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1162" r:id="rId5"/>
    <p:sldId id="1163" r:id="rId6"/>
    <p:sldId id="288" r:id="rId7"/>
    <p:sldId id="294" r:id="rId8"/>
    <p:sldId id="1170" r:id="rId9"/>
    <p:sldId id="1167" r:id="rId10"/>
    <p:sldId id="1140" r:id="rId11"/>
    <p:sldId id="1165" r:id="rId12"/>
    <p:sldId id="1166" r:id="rId13"/>
    <p:sldId id="1172" r:id="rId14"/>
    <p:sldId id="1144" r:id="rId15"/>
    <p:sldId id="268" r:id="rId16"/>
    <p:sldId id="308" r:id="rId17"/>
    <p:sldId id="276" r:id="rId18"/>
    <p:sldId id="315" r:id="rId19"/>
    <p:sldId id="1169" r:id="rId20"/>
    <p:sldId id="316" r:id="rId21"/>
    <p:sldId id="312" r:id="rId22"/>
    <p:sldId id="313" r:id="rId23"/>
    <p:sldId id="1142" r:id="rId24"/>
    <p:sldId id="1143" r:id="rId25"/>
    <p:sldId id="1147" r:id="rId26"/>
    <p:sldId id="285" r:id="rId27"/>
    <p:sldId id="314" r:id="rId28"/>
    <p:sldId id="1155" r:id="rId29"/>
    <p:sldId id="1152" r:id="rId30"/>
    <p:sldId id="1150" r:id="rId31"/>
    <p:sldId id="1151" r:id="rId32"/>
    <p:sldId id="1149" r:id="rId33"/>
    <p:sldId id="1153" r:id="rId34"/>
    <p:sldId id="1148" r:id="rId35"/>
    <p:sldId id="1168" r:id="rId36"/>
    <p:sldId id="1161" r:id="rId37"/>
    <p:sldId id="1145" r:id="rId38"/>
    <p:sldId id="1156" r:id="rId39"/>
    <p:sldId id="311" r:id="rId40"/>
    <p:sldId id="1154" r:id="rId41"/>
    <p:sldId id="293" r:id="rId42"/>
    <p:sldId id="1157" r:id="rId43"/>
    <p:sldId id="1158" r:id="rId44"/>
    <p:sldId id="1159" r:id="rId45"/>
    <p:sldId id="1160" r:id="rId46"/>
    <p:sldId id="301" r:id="rId47"/>
    <p:sldId id="307" r:id="rId48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0917E-6E50-FF48-AD86-37CED5062815}" v="79" dt="2025-01-24T08:33:53.9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2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9A262-EAD4-457B-B154-B43DC0D8508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08CDE6C-B62A-413D-8E82-251D67E10AFB}">
      <dgm:prSet/>
      <dgm:spPr/>
      <dgm:t>
        <a:bodyPr/>
        <a:lstStyle/>
        <a:p>
          <a:r>
            <a:rPr lang="en-CA" b="1"/>
            <a:t>Cystic Fibrosis (CF)</a:t>
          </a:r>
          <a:r>
            <a:rPr lang="en-CA"/>
            <a:t>: </a:t>
          </a:r>
          <a:r>
            <a:rPr lang="en-CA" b="1"/>
            <a:t>mRNA Therapy (MRT5005)</a:t>
          </a:r>
          <a:r>
            <a:rPr lang="en-CA"/>
            <a:t> by Translate Bio </a:t>
          </a:r>
          <a:endParaRPr lang="en-US"/>
        </a:p>
      </dgm:t>
    </dgm:pt>
    <dgm:pt modelId="{1F5E7E46-D0DD-4083-BBFF-789DA5744AA4}" type="parTrans" cxnId="{0976D1A9-599A-42F9-B412-EC53C39A7B55}">
      <dgm:prSet/>
      <dgm:spPr/>
      <dgm:t>
        <a:bodyPr/>
        <a:lstStyle/>
        <a:p>
          <a:endParaRPr lang="en-US"/>
        </a:p>
      </dgm:t>
    </dgm:pt>
    <dgm:pt modelId="{EBE07B0A-72F2-4B32-853E-68BFB0C96FCF}" type="sibTrans" cxnId="{0976D1A9-599A-42F9-B412-EC53C39A7B55}">
      <dgm:prSet/>
      <dgm:spPr/>
      <dgm:t>
        <a:bodyPr/>
        <a:lstStyle/>
        <a:p>
          <a:endParaRPr lang="en-US"/>
        </a:p>
      </dgm:t>
    </dgm:pt>
    <dgm:pt modelId="{C77D7EF1-9D47-4528-AF3A-3CB229E65A4F}">
      <dgm:prSet/>
      <dgm:spPr/>
      <dgm:t>
        <a:bodyPr/>
        <a:lstStyle/>
        <a:p>
          <a:r>
            <a:rPr lang="en-CA"/>
            <a:t>Idiopathic </a:t>
          </a:r>
          <a:r>
            <a:rPr lang="en-CA" b="1"/>
            <a:t>Pulmonary Fibrosis (IPF)</a:t>
          </a:r>
          <a:r>
            <a:rPr lang="en-CA"/>
            <a:t>: </a:t>
          </a:r>
          <a:r>
            <a:rPr lang="en-CA" b="1" err="1"/>
            <a:t>Ofev</a:t>
          </a:r>
          <a:r>
            <a:rPr lang="en-CA" b="1"/>
            <a:t> (</a:t>
          </a:r>
          <a:r>
            <a:rPr lang="en-CA" b="1" err="1"/>
            <a:t>nintedanib</a:t>
          </a:r>
          <a:r>
            <a:rPr lang="en-CA" b="1"/>
            <a:t>)</a:t>
          </a:r>
          <a:r>
            <a:rPr lang="en-CA"/>
            <a:t> and </a:t>
          </a:r>
          <a:r>
            <a:rPr lang="en-CA" b="1"/>
            <a:t>Esbriet (pirfenidone) </a:t>
          </a:r>
          <a:endParaRPr lang="en-US"/>
        </a:p>
      </dgm:t>
    </dgm:pt>
    <dgm:pt modelId="{5462A3B5-2878-4082-977D-AE03C780BBEC}" type="parTrans" cxnId="{AF3FFA2C-E258-42FB-B8BB-EC7DABF57D1C}">
      <dgm:prSet/>
      <dgm:spPr/>
      <dgm:t>
        <a:bodyPr/>
        <a:lstStyle/>
        <a:p>
          <a:endParaRPr lang="en-US"/>
        </a:p>
      </dgm:t>
    </dgm:pt>
    <dgm:pt modelId="{407FB9A0-B591-482F-BA98-6EDC80970548}" type="sibTrans" cxnId="{AF3FFA2C-E258-42FB-B8BB-EC7DABF57D1C}">
      <dgm:prSet/>
      <dgm:spPr/>
      <dgm:t>
        <a:bodyPr/>
        <a:lstStyle/>
        <a:p>
          <a:endParaRPr lang="en-US"/>
        </a:p>
      </dgm:t>
    </dgm:pt>
    <dgm:pt modelId="{EDE19959-81E6-4503-BBCD-C5871E0313E3}">
      <dgm:prSet/>
      <dgm:spPr/>
      <dgm:t>
        <a:bodyPr/>
        <a:lstStyle/>
        <a:p>
          <a:r>
            <a:rPr lang="en-CA" b="1"/>
            <a:t>Viral Infections (RSV)</a:t>
          </a:r>
          <a:r>
            <a:rPr lang="en-CA"/>
            <a:t>:- </a:t>
          </a:r>
          <a:r>
            <a:rPr lang="en-CA" b="1"/>
            <a:t>ALN-RSV01</a:t>
          </a:r>
          <a:r>
            <a:rPr lang="en-CA"/>
            <a:t> (siRNA), a Phase II trial for RSV infection in lung transplant patients</a:t>
          </a:r>
          <a:endParaRPr lang="en-US"/>
        </a:p>
      </dgm:t>
    </dgm:pt>
    <dgm:pt modelId="{FC4E16A8-939B-4BD1-96B0-896BAE834E3D}" type="parTrans" cxnId="{1781698A-8296-456A-9523-03A99E5ECC10}">
      <dgm:prSet/>
      <dgm:spPr/>
      <dgm:t>
        <a:bodyPr/>
        <a:lstStyle/>
        <a:p>
          <a:endParaRPr lang="en-US"/>
        </a:p>
      </dgm:t>
    </dgm:pt>
    <dgm:pt modelId="{317AC24C-973E-41E5-8321-DD6A7491EC77}" type="sibTrans" cxnId="{1781698A-8296-456A-9523-03A99E5ECC10}">
      <dgm:prSet/>
      <dgm:spPr/>
      <dgm:t>
        <a:bodyPr/>
        <a:lstStyle/>
        <a:p>
          <a:endParaRPr lang="en-US"/>
        </a:p>
      </dgm:t>
    </dgm:pt>
    <dgm:pt modelId="{2179A394-69B2-4D6F-B02D-33FC0E790466}">
      <dgm:prSet/>
      <dgm:spPr/>
      <dgm:t>
        <a:bodyPr/>
        <a:lstStyle/>
        <a:p>
          <a:r>
            <a:rPr lang="en-CA"/>
            <a:t>non-small cell lung cancer (NSCLC) and small cell lung cancer (SCLC): </a:t>
          </a:r>
          <a:endParaRPr lang="en-US"/>
        </a:p>
      </dgm:t>
    </dgm:pt>
    <dgm:pt modelId="{D7F52BE9-23BA-495B-AB99-6C67E00240A9}" type="parTrans" cxnId="{C3E9C1FD-409E-44CE-A659-7A91C87C3623}">
      <dgm:prSet/>
      <dgm:spPr/>
      <dgm:t>
        <a:bodyPr/>
        <a:lstStyle/>
        <a:p>
          <a:endParaRPr lang="en-US"/>
        </a:p>
      </dgm:t>
    </dgm:pt>
    <dgm:pt modelId="{044697D5-C568-4C68-8229-0D82CAB3ADF6}" type="sibTrans" cxnId="{C3E9C1FD-409E-44CE-A659-7A91C87C3623}">
      <dgm:prSet/>
      <dgm:spPr/>
      <dgm:t>
        <a:bodyPr/>
        <a:lstStyle/>
        <a:p>
          <a:endParaRPr lang="en-US"/>
        </a:p>
      </dgm:t>
    </dgm:pt>
    <dgm:pt modelId="{1A4CC63A-A00F-8848-8A80-D4177B58F5EB}" type="pres">
      <dgm:prSet presAssocID="{27C9A262-EAD4-457B-B154-B43DC0D8508E}" presName="linear" presStyleCnt="0">
        <dgm:presLayoutVars>
          <dgm:animLvl val="lvl"/>
          <dgm:resizeHandles val="exact"/>
        </dgm:presLayoutVars>
      </dgm:prSet>
      <dgm:spPr/>
    </dgm:pt>
    <dgm:pt modelId="{7AB6B348-E58A-C14E-BE4D-A64FC05375F4}" type="pres">
      <dgm:prSet presAssocID="{008CDE6C-B62A-413D-8E82-251D67E10AF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2B47BA-39BE-CA49-8C69-C1BB4D8000A4}" type="pres">
      <dgm:prSet presAssocID="{EBE07B0A-72F2-4B32-853E-68BFB0C96FCF}" presName="spacer" presStyleCnt="0"/>
      <dgm:spPr/>
    </dgm:pt>
    <dgm:pt modelId="{131A0751-5434-3D4D-A8DF-63EF9CDCFC33}" type="pres">
      <dgm:prSet presAssocID="{C77D7EF1-9D47-4528-AF3A-3CB229E65A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D38ACB7-8621-6F44-971C-053D6C74C74E}" type="pres">
      <dgm:prSet presAssocID="{407FB9A0-B591-482F-BA98-6EDC80970548}" presName="spacer" presStyleCnt="0"/>
      <dgm:spPr/>
    </dgm:pt>
    <dgm:pt modelId="{8F93466D-6903-DB48-AA55-A155ADE2538C}" type="pres">
      <dgm:prSet presAssocID="{EDE19959-81E6-4503-BBCD-C5871E0313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B15148E-3E46-814E-A709-430C25279B9F}" type="pres">
      <dgm:prSet presAssocID="{317AC24C-973E-41E5-8321-DD6A7491EC77}" presName="spacer" presStyleCnt="0"/>
      <dgm:spPr/>
    </dgm:pt>
    <dgm:pt modelId="{14A1482E-C269-1148-9CF9-3C5BC4D93E78}" type="pres">
      <dgm:prSet presAssocID="{2179A394-69B2-4D6F-B02D-33FC0E79046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372E102-0FF1-F84E-8F5E-2A3785B6C7AD}" type="presOf" srcId="{EDE19959-81E6-4503-BBCD-C5871E0313E3}" destId="{8F93466D-6903-DB48-AA55-A155ADE2538C}" srcOrd="0" destOrd="0" presId="urn:microsoft.com/office/officeart/2005/8/layout/vList2"/>
    <dgm:cxn modelId="{AF3FFA2C-E258-42FB-B8BB-EC7DABF57D1C}" srcId="{27C9A262-EAD4-457B-B154-B43DC0D8508E}" destId="{C77D7EF1-9D47-4528-AF3A-3CB229E65A4F}" srcOrd="1" destOrd="0" parTransId="{5462A3B5-2878-4082-977D-AE03C780BBEC}" sibTransId="{407FB9A0-B591-482F-BA98-6EDC80970548}"/>
    <dgm:cxn modelId="{F15ABE3E-C8E3-8744-897F-8A7CEDE853C5}" type="presOf" srcId="{27C9A262-EAD4-457B-B154-B43DC0D8508E}" destId="{1A4CC63A-A00F-8848-8A80-D4177B58F5EB}" srcOrd="0" destOrd="0" presId="urn:microsoft.com/office/officeart/2005/8/layout/vList2"/>
    <dgm:cxn modelId="{E64F7157-E2D4-494B-9778-1800B6E779D5}" type="presOf" srcId="{008CDE6C-B62A-413D-8E82-251D67E10AFB}" destId="{7AB6B348-E58A-C14E-BE4D-A64FC05375F4}" srcOrd="0" destOrd="0" presId="urn:microsoft.com/office/officeart/2005/8/layout/vList2"/>
    <dgm:cxn modelId="{1781698A-8296-456A-9523-03A99E5ECC10}" srcId="{27C9A262-EAD4-457B-B154-B43DC0D8508E}" destId="{EDE19959-81E6-4503-BBCD-C5871E0313E3}" srcOrd="2" destOrd="0" parTransId="{FC4E16A8-939B-4BD1-96B0-896BAE834E3D}" sibTransId="{317AC24C-973E-41E5-8321-DD6A7491EC77}"/>
    <dgm:cxn modelId="{DE6FCC94-36F4-684C-97E3-31E2FEA47415}" type="presOf" srcId="{C77D7EF1-9D47-4528-AF3A-3CB229E65A4F}" destId="{131A0751-5434-3D4D-A8DF-63EF9CDCFC33}" srcOrd="0" destOrd="0" presId="urn:microsoft.com/office/officeart/2005/8/layout/vList2"/>
    <dgm:cxn modelId="{0976D1A9-599A-42F9-B412-EC53C39A7B55}" srcId="{27C9A262-EAD4-457B-B154-B43DC0D8508E}" destId="{008CDE6C-B62A-413D-8E82-251D67E10AFB}" srcOrd="0" destOrd="0" parTransId="{1F5E7E46-D0DD-4083-BBFF-789DA5744AA4}" sibTransId="{EBE07B0A-72F2-4B32-853E-68BFB0C96FCF}"/>
    <dgm:cxn modelId="{19C8FFB7-D1FD-FD48-8C7E-F5C3F8061780}" type="presOf" srcId="{2179A394-69B2-4D6F-B02D-33FC0E790466}" destId="{14A1482E-C269-1148-9CF9-3C5BC4D93E78}" srcOrd="0" destOrd="0" presId="urn:microsoft.com/office/officeart/2005/8/layout/vList2"/>
    <dgm:cxn modelId="{C3E9C1FD-409E-44CE-A659-7A91C87C3623}" srcId="{27C9A262-EAD4-457B-B154-B43DC0D8508E}" destId="{2179A394-69B2-4D6F-B02D-33FC0E790466}" srcOrd="3" destOrd="0" parTransId="{D7F52BE9-23BA-495B-AB99-6C67E00240A9}" sibTransId="{044697D5-C568-4C68-8229-0D82CAB3ADF6}"/>
    <dgm:cxn modelId="{FA0C4F7B-071D-D84F-9E82-3A53C6D0064E}" type="presParOf" srcId="{1A4CC63A-A00F-8848-8A80-D4177B58F5EB}" destId="{7AB6B348-E58A-C14E-BE4D-A64FC05375F4}" srcOrd="0" destOrd="0" presId="urn:microsoft.com/office/officeart/2005/8/layout/vList2"/>
    <dgm:cxn modelId="{7EA11307-F556-B648-B683-CB1A70F4323C}" type="presParOf" srcId="{1A4CC63A-A00F-8848-8A80-D4177B58F5EB}" destId="{1F2B47BA-39BE-CA49-8C69-C1BB4D8000A4}" srcOrd="1" destOrd="0" presId="urn:microsoft.com/office/officeart/2005/8/layout/vList2"/>
    <dgm:cxn modelId="{85FE0A7F-AD80-FE44-8223-2C3420C851D9}" type="presParOf" srcId="{1A4CC63A-A00F-8848-8A80-D4177B58F5EB}" destId="{131A0751-5434-3D4D-A8DF-63EF9CDCFC33}" srcOrd="2" destOrd="0" presId="urn:microsoft.com/office/officeart/2005/8/layout/vList2"/>
    <dgm:cxn modelId="{F4032FBE-F65F-C342-BDE1-28DEE794ACF0}" type="presParOf" srcId="{1A4CC63A-A00F-8848-8A80-D4177B58F5EB}" destId="{4D38ACB7-8621-6F44-971C-053D6C74C74E}" srcOrd="3" destOrd="0" presId="urn:microsoft.com/office/officeart/2005/8/layout/vList2"/>
    <dgm:cxn modelId="{59F4C894-545A-F74F-923C-2447C19CCF7C}" type="presParOf" srcId="{1A4CC63A-A00F-8848-8A80-D4177B58F5EB}" destId="{8F93466D-6903-DB48-AA55-A155ADE2538C}" srcOrd="4" destOrd="0" presId="urn:microsoft.com/office/officeart/2005/8/layout/vList2"/>
    <dgm:cxn modelId="{234482BD-1B1C-1843-8879-ACE4E45BBB17}" type="presParOf" srcId="{1A4CC63A-A00F-8848-8A80-D4177B58F5EB}" destId="{3B15148E-3E46-814E-A709-430C25279B9F}" srcOrd="5" destOrd="0" presId="urn:microsoft.com/office/officeart/2005/8/layout/vList2"/>
    <dgm:cxn modelId="{D2EECA36-8FC5-4F4C-9647-4292098D0A8B}" type="presParOf" srcId="{1A4CC63A-A00F-8848-8A80-D4177B58F5EB}" destId="{14A1482E-C269-1148-9CF9-3C5BC4D93E7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6B348-E58A-C14E-BE4D-A64FC05375F4}">
      <dsp:nvSpPr>
        <dsp:cNvPr id="0" name=""/>
        <dsp:cNvSpPr/>
      </dsp:nvSpPr>
      <dsp:spPr>
        <a:xfrm>
          <a:off x="0" y="713840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kern="1200"/>
            <a:t>Cystic Fibrosis (CF)</a:t>
          </a:r>
          <a:r>
            <a:rPr lang="en-CA" sz="2400" kern="1200"/>
            <a:t>: </a:t>
          </a:r>
          <a:r>
            <a:rPr lang="en-CA" sz="2400" b="1" kern="1200"/>
            <a:t>mRNA Therapy (MRT5005)</a:t>
          </a:r>
          <a:r>
            <a:rPr lang="en-CA" sz="2400" kern="1200"/>
            <a:t> by Translate Bio </a:t>
          </a:r>
          <a:endParaRPr lang="en-US" sz="2400" kern="1200"/>
        </a:p>
      </dsp:txBody>
      <dsp:txXfrm>
        <a:off x="46606" y="760446"/>
        <a:ext cx="6573621" cy="861507"/>
      </dsp:txXfrm>
    </dsp:sp>
    <dsp:sp modelId="{131A0751-5434-3D4D-A8DF-63EF9CDCFC33}">
      <dsp:nvSpPr>
        <dsp:cNvPr id="0" name=""/>
        <dsp:cNvSpPr/>
      </dsp:nvSpPr>
      <dsp:spPr>
        <a:xfrm>
          <a:off x="0" y="1737680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Idiopathic </a:t>
          </a:r>
          <a:r>
            <a:rPr lang="en-CA" sz="2400" b="1" kern="1200"/>
            <a:t>Pulmonary Fibrosis (IPF)</a:t>
          </a:r>
          <a:r>
            <a:rPr lang="en-CA" sz="2400" kern="1200"/>
            <a:t>: </a:t>
          </a:r>
          <a:r>
            <a:rPr lang="en-CA" sz="2400" b="1" kern="1200" err="1"/>
            <a:t>Ofev</a:t>
          </a:r>
          <a:r>
            <a:rPr lang="en-CA" sz="2400" b="1" kern="1200"/>
            <a:t> (</a:t>
          </a:r>
          <a:r>
            <a:rPr lang="en-CA" sz="2400" b="1" kern="1200" err="1"/>
            <a:t>nintedanib</a:t>
          </a:r>
          <a:r>
            <a:rPr lang="en-CA" sz="2400" b="1" kern="1200"/>
            <a:t>)</a:t>
          </a:r>
          <a:r>
            <a:rPr lang="en-CA" sz="2400" kern="1200"/>
            <a:t> and </a:t>
          </a:r>
          <a:r>
            <a:rPr lang="en-CA" sz="2400" b="1" kern="1200"/>
            <a:t>Esbriet (pirfenidone) </a:t>
          </a:r>
          <a:endParaRPr lang="en-US" sz="2400" kern="1200"/>
        </a:p>
      </dsp:txBody>
      <dsp:txXfrm>
        <a:off x="46606" y="1784286"/>
        <a:ext cx="6573621" cy="861507"/>
      </dsp:txXfrm>
    </dsp:sp>
    <dsp:sp modelId="{8F93466D-6903-DB48-AA55-A155ADE2538C}">
      <dsp:nvSpPr>
        <dsp:cNvPr id="0" name=""/>
        <dsp:cNvSpPr/>
      </dsp:nvSpPr>
      <dsp:spPr>
        <a:xfrm>
          <a:off x="0" y="2761519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kern="1200"/>
            <a:t>Viral Infections (RSV)</a:t>
          </a:r>
          <a:r>
            <a:rPr lang="en-CA" sz="2400" kern="1200"/>
            <a:t>:- </a:t>
          </a:r>
          <a:r>
            <a:rPr lang="en-CA" sz="2400" b="1" kern="1200"/>
            <a:t>ALN-RSV01</a:t>
          </a:r>
          <a:r>
            <a:rPr lang="en-CA" sz="2400" kern="1200"/>
            <a:t> (siRNA), a Phase II trial for RSV infection in lung transplant patients</a:t>
          </a:r>
          <a:endParaRPr lang="en-US" sz="2400" kern="1200"/>
        </a:p>
      </dsp:txBody>
      <dsp:txXfrm>
        <a:off x="46606" y="2808125"/>
        <a:ext cx="6573621" cy="861507"/>
      </dsp:txXfrm>
    </dsp:sp>
    <dsp:sp modelId="{14A1482E-C269-1148-9CF9-3C5BC4D93E78}">
      <dsp:nvSpPr>
        <dsp:cNvPr id="0" name=""/>
        <dsp:cNvSpPr/>
      </dsp:nvSpPr>
      <dsp:spPr>
        <a:xfrm>
          <a:off x="0" y="3785359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non-small cell lung cancer (NSCLC) and small cell lung cancer (SCLC): </a:t>
          </a:r>
          <a:endParaRPr lang="en-US" sz="2400" kern="1200"/>
        </a:p>
      </dsp:txBody>
      <dsp:txXfrm>
        <a:off x="46606" y="3831965"/>
        <a:ext cx="6573621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8377E-1FEA-4BD7-AA89-10BEB6E61D00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6D715-C4B3-4A2F-8DBC-B8A294AEA5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60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6D715-C4B3-4A2F-8DBC-B8A294AEA58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969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6D715-C4B3-4A2F-8DBC-B8A294AEA58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770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98965-63D8-4A9D-BD03-B7E8CCC1A78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1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7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4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30352F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ECD018-4AD3-4E31-A3B2-334B163CE603}"/>
              </a:ext>
            </a:extLst>
          </p:cNvPr>
          <p:cNvGrpSpPr/>
          <p:nvPr userDrawn="1"/>
        </p:nvGrpSpPr>
        <p:grpSpPr>
          <a:xfrm>
            <a:off x="286385" y="706120"/>
            <a:ext cx="11492865" cy="81280"/>
            <a:chOff x="534" y="2078"/>
            <a:chExt cx="11338" cy="128"/>
          </a:xfrm>
        </p:grpSpPr>
        <p:cxnSp>
          <p:nvCxnSpPr>
            <p:cNvPr id="8" name="直接连接符 7" descr="e7d195523061f1c0deeec63e560781cfd59afb0ea006f2a87ABB68BF51EA6619813959095094C18C62A12F549504892A4AAA8C1554C6663626E05CA27F281A14E6983772AFC3FB97135759321DEA3D70145073B7709DEAFA256CD57602346C569CD03E8246D33DA545568EA98FB062D63F616CDCDDC7C308D5561BD508072CED46FA16A315624C7F2FF57E77E923953F">
              <a:extLst>
                <a:ext uri="{FF2B5EF4-FFF2-40B4-BE49-F238E27FC236}">
                  <a16:creationId xmlns:a16="http://schemas.microsoft.com/office/drawing/2014/main" id="{4494FFC3-7197-420B-9FD9-23D151320093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flipH="1">
              <a:off x="534" y="2078"/>
              <a:ext cx="11339" cy="0"/>
            </a:xfrm>
            <a:prstGeom prst="line">
              <a:avLst/>
            </a:prstGeom>
            <a:ln w="12700">
              <a:solidFill>
                <a:srgbClr val="53728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 descr="e7d195523061f1c0deeec63e560781cfd59afb0ea006f2a87ABB68BF51EA6619813959095094C18C62A12F549504892A4AAA8C1554C6663626E05CA27F281A14E6983772AFC3FB97135759321DEA3D70145073B7709DEAFA256CD57602346C569CD03E8246D33DA545568EA98FB062D63F616CDCDDC7C308D5561BD508072CED46FA16A315624C7F2FF57E77E923953F">
              <a:extLst>
                <a:ext uri="{FF2B5EF4-FFF2-40B4-BE49-F238E27FC236}">
                  <a16:creationId xmlns:a16="http://schemas.microsoft.com/office/drawing/2014/main" id="{CDA6C806-FDCC-44DA-9A7C-074557A4415C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flipH="1">
              <a:off x="534" y="2206"/>
              <a:ext cx="11339" cy="0"/>
            </a:xfrm>
            <a:prstGeom prst="line">
              <a:avLst/>
            </a:prstGeom>
            <a:ln w="38100">
              <a:solidFill>
                <a:srgbClr val="12406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0852D03-C8DD-4A6E-B300-773A9C258E21}"/>
              </a:ext>
            </a:extLst>
          </p:cNvPr>
          <p:cNvGrpSpPr/>
          <p:nvPr userDrawn="1"/>
        </p:nvGrpSpPr>
        <p:grpSpPr>
          <a:xfrm>
            <a:off x="286385" y="706120"/>
            <a:ext cx="11492865" cy="81280"/>
            <a:chOff x="534" y="2078"/>
            <a:chExt cx="11338" cy="128"/>
          </a:xfrm>
        </p:grpSpPr>
        <p:cxnSp>
          <p:nvCxnSpPr>
            <p:cNvPr id="9" name="直接连接符 8" descr="e7d195523061f1c0deeec63e560781cfd59afb0ea006f2a87ABB68BF51EA6619813959095094C18C62A12F549504892A4AAA8C1554C6663626E05CA27F281A14E6983772AFC3FB97135759321DEA3D70145073B7709DEAFA256CD57602346C569CD03E8246D33DA545568EA98FB062D63F616CDCDDC7C308D5561BD508072CED46FA16A315624C7F2FF57E77E923953F">
              <a:extLst>
                <a:ext uri="{FF2B5EF4-FFF2-40B4-BE49-F238E27FC236}">
                  <a16:creationId xmlns:a16="http://schemas.microsoft.com/office/drawing/2014/main" id="{10AE02CA-66E1-47DA-81F4-AE4C04CF7CF9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flipH="1">
              <a:off x="534" y="2078"/>
              <a:ext cx="11339" cy="0"/>
            </a:xfrm>
            <a:prstGeom prst="line">
              <a:avLst/>
            </a:prstGeom>
            <a:ln w="12700">
              <a:solidFill>
                <a:srgbClr val="53728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 descr="e7d195523061f1c0deeec63e560781cfd59afb0ea006f2a87ABB68BF51EA6619813959095094C18C62A12F549504892A4AAA8C1554C6663626E05CA27F281A14E6983772AFC3FB97135759321DEA3D70145073B7709DEAFA256CD57602346C569CD03E8246D33DA545568EA98FB062D63F616CDCDDC7C308D5561BD508072CED46FA16A315624C7F2FF57E77E923953F">
              <a:extLst>
                <a:ext uri="{FF2B5EF4-FFF2-40B4-BE49-F238E27FC236}">
                  <a16:creationId xmlns:a16="http://schemas.microsoft.com/office/drawing/2014/main" id="{B7524DE3-ADE6-47FF-9408-7C47AABE587E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flipH="1">
              <a:off x="534" y="2206"/>
              <a:ext cx="11339" cy="0"/>
            </a:xfrm>
            <a:prstGeom prst="line">
              <a:avLst/>
            </a:prstGeom>
            <a:ln w="38100">
              <a:solidFill>
                <a:srgbClr val="12406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29647A4B-90CF-4CC8-96FF-D43188CC2449}"/>
              </a:ext>
            </a:extLst>
          </p:cNvPr>
          <p:cNvGrpSpPr/>
          <p:nvPr userDrawn="1"/>
        </p:nvGrpSpPr>
        <p:grpSpPr>
          <a:xfrm>
            <a:off x="286385" y="706120"/>
            <a:ext cx="11492865" cy="81280"/>
            <a:chOff x="534" y="2078"/>
            <a:chExt cx="11338" cy="128"/>
          </a:xfrm>
        </p:grpSpPr>
        <p:cxnSp>
          <p:nvCxnSpPr>
            <p:cNvPr id="7" name="直接连接符 6" descr="e7d195523061f1c0deeec63e560781cfd59afb0ea006f2a87ABB68BF51EA6619813959095094C18C62A12F549504892A4AAA8C1554C6663626E05CA27F281A14E6983772AFC3FB97135759321DEA3D70145073B7709DEAFA256CD57602346C569CD03E8246D33DA545568EA98FB062D63F616CDCDDC7C308D5561BD508072CED46FA16A315624C7F2FF57E77E923953F">
              <a:extLst>
                <a:ext uri="{FF2B5EF4-FFF2-40B4-BE49-F238E27FC236}">
                  <a16:creationId xmlns:a16="http://schemas.microsoft.com/office/drawing/2014/main" id="{AE32DE45-CF20-4D68-93FF-ED27F1E0A4B8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flipH="1">
              <a:off x="534" y="2078"/>
              <a:ext cx="11339" cy="0"/>
            </a:xfrm>
            <a:prstGeom prst="line">
              <a:avLst/>
            </a:prstGeom>
            <a:ln w="12700">
              <a:solidFill>
                <a:srgbClr val="53728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 descr="e7d195523061f1c0deeec63e560781cfd59afb0ea006f2a87ABB68BF51EA6619813959095094C18C62A12F549504892A4AAA8C1554C6663626E05CA27F281A14E6983772AFC3FB97135759321DEA3D70145073B7709DEAFA256CD57602346C569CD03E8246D33DA545568EA98FB062D63F616CDCDDC7C308D5561BD508072CED46FA16A315624C7F2FF57E77E923953F">
              <a:extLst>
                <a:ext uri="{FF2B5EF4-FFF2-40B4-BE49-F238E27FC236}">
                  <a16:creationId xmlns:a16="http://schemas.microsoft.com/office/drawing/2014/main" id="{E61C18EC-5116-4000-897B-0330DBB1BE8A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flipH="1">
              <a:off x="534" y="2206"/>
              <a:ext cx="11339" cy="0"/>
            </a:xfrm>
            <a:prstGeom prst="line">
              <a:avLst/>
            </a:prstGeom>
            <a:ln w="38100">
              <a:solidFill>
                <a:srgbClr val="12406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7A978C37-0384-4CF1-8E62-31D85305DC3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286385" y="99060"/>
            <a:ext cx="7194550" cy="58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endParaRPr lang="zh-CN" altLang="en-US" sz="28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563868" y="0"/>
            <a:ext cx="5632703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364479" y="0"/>
            <a:ext cx="3634739" cy="5620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402579" y="1321306"/>
            <a:ext cx="3602735" cy="55366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7409688" y="0"/>
            <a:ext cx="1590040" cy="3382010"/>
          </a:xfrm>
          <a:custGeom>
            <a:avLst/>
            <a:gdLst/>
            <a:ahLst/>
            <a:cxnLst/>
            <a:rect l="l" t="t" r="r" b="b"/>
            <a:pathLst>
              <a:path w="1590040" h="3382010">
                <a:moveTo>
                  <a:pt x="67182" y="0"/>
                </a:moveTo>
                <a:lnTo>
                  <a:pt x="0" y="0"/>
                </a:lnTo>
                <a:lnTo>
                  <a:pt x="1531492" y="3381755"/>
                </a:lnTo>
                <a:lnTo>
                  <a:pt x="1589531" y="3362705"/>
                </a:lnTo>
                <a:lnTo>
                  <a:pt x="67182" y="0"/>
                </a:lnTo>
                <a:close/>
              </a:path>
            </a:pathLst>
          </a:custGeom>
          <a:solidFill>
            <a:srgbClr val="CA09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5303520" y="4895088"/>
            <a:ext cx="923925" cy="1963420"/>
          </a:xfrm>
          <a:custGeom>
            <a:avLst/>
            <a:gdLst/>
            <a:ahLst/>
            <a:cxnLst/>
            <a:rect l="l" t="t" r="r" b="b"/>
            <a:pathLst>
              <a:path w="923925" h="1963420">
                <a:moveTo>
                  <a:pt x="889253" y="0"/>
                </a:moveTo>
                <a:lnTo>
                  <a:pt x="0" y="1962911"/>
                </a:lnTo>
                <a:lnTo>
                  <a:pt x="38988" y="1962911"/>
                </a:lnTo>
                <a:lnTo>
                  <a:pt x="923543" y="10668"/>
                </a:lnTo>
                <a:lnTo>
                  <a:pt x="889253" y="0"/>
                </a:lnTo>
                <a:close/>
              </a:path>
            </a:pathLst>
          </a:custGeom>
          <a:solidFill>
            <a:srgbClr val="CA09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E6C1-133D-A3C6-0797-BC221338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AFF2C-C36C-A97F-22B9-6DFC53863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E8688-9B19-C4A5-E906-E4A6AB2EB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D5BAE-4FA5-6944-81AD-5FC38435A195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E04D0-0ED8-2E5F-75E1-97D168A0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0515D-0DD7-DE69-4248-61DA9BFF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C64B-02AA-AE4A-9AB6-88FAC08AE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8388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3559-5DCC-4BC8-8479-5AD8548DC68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96ED-BC52-4E7F-910D-143F3D9F3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92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5910" y="161293"/>
            <a:ext cx="10981385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2800" b="1" i="0">
                <a:solidFill>
                  <a:srgbClr val="30352F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1784" y="1263372"/>
            <a:ext cx="11174780" cy="3941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30352F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547ED44-0BB2-414F-9BE2-D70B5DA038DC}"/>
              </a:ext>
            </a:extLst>
          </p:cNvPr>
          <p:cNvGrpSpPr/>
          <p:nvPr userDrawn="1"/>
        </p:nvGrpSpPr>
        <p:grpSpPr>
          <a:xfrm>
            <a:off x="286385" y="706120"/>
            <a:ext cx="11492865" cy="81280"/>
            <a:chOff x="534" y="2078"/>
            <a:chExt cx="11338" cy="128"/>
          </a:xfrm>
        </p:grpSpPr>
        <p:cxnSp>
          <p:nvCxnSpPr>
            <p:cNvPr id="11" name="直接连接符 10" descr="e7d195523061f1c0deeec63e560781cfd59afb0ea006f2a87ABB68BF51EA6619813959095094C18C62A12F549504892A4AAA8C1554C6663626E05CA27F281A14E6983772AFC3FB97135759321DEA3D70145073B7709DEAFA256CD57602346C569CD03E8246D33DA545568EA98FB062D63F616CDCDDC7C308D5561BD508072CED46FA16A315624C7F2FF57E77E923953F">
              <a:extLst>
                <a:ext uri="{FF2B5EF4-FFF2-40B4-BE49-F238E27FC236}">
                  <a16:creationId xmlns:a16="http://schemas.microsoft.com/office/drawing/2014/main" id="{D572C48E-3C3E-49B4-93C9-74CA167F6BF9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 flipH="1">
              <a:off x="534" y="2078"/>
              <a:ext cx="11339" cy="0"/>
            </a:xfrm>
            <a:prstGeom prst="line">
              <a:avLst/>
            </a:prstGeom>
            <a:ln w="12700">
              <a:solidFill>
                <a:srgbClr val="53728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 descr="e7d195523061f1c0deeec63e560781cfd59afb0ea006f2a87ABB68BF51EA6619813959095094C18C62A12F549504892A4AAA8C1554C6663626E05CA27F281A14E6983772AFC3FB97135759321DEA3D70145073B7709DEAFA256CD57602346C569CD03E8246D33DA545568EA98FB062D63F616CDCDDC7C308D5561BD508072CED46FA16A315624C7F2FF57E77E923953F">
              <a:extLst>
                <a:ext uri="{FF2B5EF4-FFF2-40B4-BE49-F238E27FC236}">
                  <a16:creationId xmlns:a16="http://schemas.microsoft.com/office/drawing/2014/main" id="{AC0ACEE8-C2B2-4892-A294-524DE8890979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>
            <a:xfrm flipH="1">
              <a:off x="534" y="2206"/>
              <a:ext cx="11339" cy="0"/>
            </a:xfrm>
            <a:prstGeom prst="line">
              <a:avLst/>
            </a:prstGeom>
            <a:ln w="38100">
              <a:solidFill>
                <a:srgbClr val="12406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bovir.ca/about-us/?utm_source=chatgpt.com" TargetMode="External"/><Relationship Id="rId2" Type="http://schemas.openxmlformats.org/officeDocument/2006/relationships/hyperlink" Target="https://www.frontiersin.org/research-topics/66565/host-dynamics-and-immune-evasion-delineating-the-influence-of-rna-and-dna-viruses/overview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cgill.ca/dna-to-rna/funded-projects/research-motion?utm_source=chatgpt.com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8901"/>
            <a:ext cx="12196571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0" y="1438553"/>
            <a:ext cx="12192000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TW" altLang="en-US" sz="4000" spc="-5" dirty="0">
                <a:solidFill>
                  <a:schemeClr val="tx2">
                    <a:lumMod val="60000"/>
                    <a:lumOff val="40000"/>
                  </a:schemeClr>
                </a:solidFill>
                <a:ea typeface="微软雅黑"/>
              </a:rPr>
              <a:t>肺靶向</a:t>
            </a:r>
            <a:r>
              <a:rPr lang="en-US" sz="4000" spc="-5" dirty="0">
                <a:solidFill>
                  <a:schemeClr val="tx2">
                    <a:lumMod val="60000"/>
                    <a:lumOff val="40000"/>
                  </a:schemeClr>
                </a:solidFill>
                <a:ea typeface="微软雅黑"/>
              </a:rPr>
              <a:t>LNP</a:t>
            </a:r>
            <a:r>
              <a:rPr lang="zh-TW" altLang="en-US" sz="4000" spc="-5" dirty="0">
                <a:solidFill>
                  <a:schemeClr val="tx2">
                    <a:lumMod val="60000"/>
                    <a:lumOff val="40000"/>
                  </a:schemeClr>
                </a:solidFill>
                <a:ea typeface="微软雅黑"/>
              </a:rPr>
              <a:t>基因药物递送平台</a:t>
            </a:r>
            <a:br>
              <a:rPr lang="zh-TW" altLang="en-US" sz="4000" spc="-5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sz="4000" spc="-5" dirty="0">
                <a:solidFill>
                  <a:schemeClr val="tx2">
                    <a:lumMod val="60000"/>
                    <a:lumOff val="40000"/>
                  </a:schemeClr>
                </a:solidFill>
                <a:ea typeface="微软雅黑"/>
              </a:rPr>
              <a:t>项目商业计划书</a:t>
            </a:r>
            <a:br>
              <a:rPr lang="zh-TW" altLang="en-US" sz="4000" spc="-5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sz="4000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ptos"/>
              </a:rPr>
              <a:t>Lung</a:t>
            </a:r>
            <a:r>
              <a:rPr lang="en-US" altLang="zh-CN" sz="4000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egoe UI"/>
                <a:ea typeface="Aptos" panose="020B0004020202020204" pitchFamily="34" charset="0"/>
              </a:rPr>
              <a:t> </a:t>
            </a:r>
            <a:r>
              <a:rPr lang="en-US" sz="4000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ptos"/>
              </a:rPr>
              <a:t>Targeted</a:t>
            </a:r>
            <a:r>
              <a:rPr lang="en-US" altLang="zh-CN" sz="4000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Segoe UI"/>
                <a:ea typeface="Aptos" panose="020B0004020202020204" pitchFamily="34" charset="0"/>
              </a:rPr>
              <a:t> </a:t>
            </a:r>
            <a:r>
              <a:rPr lang="en-US" sz="4000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ptos"/>
              </a:rPr>
              <a:t>Stable Lipid Nanoparticles For Enhanced Gene Delivery</a:t>
            </a:r>
            <a:r>
              <a:rPr lang="en-US" altLang="zh-CN" sz="4000" b="0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ptos"/>
                <a:ea typeface="宋体"/>
              </a:rPr>
              <a:t> System</a:t>
            </a:r>
            <a:br>
              <a:rPr lang="en-US" altLang="zh-CN" sz="4000" spc="-5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sz="4000" spc="-5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3722115" y="1328928"/>
            <a:ext cx="583565" cy="585470"/>
          </a:xfrm>
          <a:custGeom>
            <a:avLst/>
            <a:gdLst/>
            <a:ahLst/>
            <a:cxnLst/>
            <a:rect l="l" t="t" r="r" b="b"/>
            <a:pathLst>
              <a:path w="583564" h="585469">
                <a:moveTo>
                  <a:pt x="0" y="559562"/>
                </a:moveTo>
                <a:lnTo>
                  <a:pt x="77" y="566191"/>
                </a:lnTo>
                <a:lnTo>
                  <a:pt x="8728" y="576171"/>
                </a:lnTo>
                <a:lnTo>
                  <a:pt x="20421" y="582807"/>
                </a:lnTo>
                <a:lnTo>
                  <a:pt x="34289" y="585215"/>
                </a:lnTo>
                <a:lnTo>
                  <a:pt x="549211" y="584855"/>
                </a:lnTo>
                <a:lnTo>
                  <a:pt x="562546" y="580444"/>
                </a:lnTo>
                <a:lnTo>
                  <a:pt x="573332" y="571830"/>
                </a:lnTo>
                <a:lnTo>
                  <a:pt x="580377" y="560324"/>
                </a:lnTo>
                <a:lnTo>
                  <a:pt x="4317" y="560324"/>
                </a:lnTo>
                <a:lnTo>
                  <a:pt x="0" y="559562"/>
                </a:lnTo>
                <a:close/>
              </a:path>
              <a:path w="583564" h="585469">
                <a:moveTo>
                  <a:pt x="556132" y="0"/>
                </a:moveTo>
                <a:lnTo>
                  <a:pt x="557529" y="3555"/>
                </a:lnTo>
                <a:lnTo>
                  <a:pt x="558291" y="7874"/>
                </a:lnTo>
                <a:lnTo>
                  <a:pt x="557761" y="526974"/>
                </a:lnTo>
                <a:lnTo>
                  <a:pt x="553073" y="540187"/>
                </a:lnTo>
                <a:lnTo>
                  <a:pt x="544307" y="550762"/>
                </a:lnTo>
                <a:lnTo>
                  <a:pt x="532400" y="557780"/>
                </a:lnTo>
                <a:lnTo>
                  <a:pt x="518287" y="560324"/>
                </a:lnTo>
                <a:lnTo>
                  <a:pt x="580377" y="560324"/>
                </a:lnTo>
                <a:lnTo>
                  <a:pt x="580551" y="560039"/>
                </a:lnTo>
                <a:lnTo>
                  <a:pt x="583184" y="546100"/>
                </a:lnTo>
                <a:lnTo>
                  <a:pt x="582249" y="28584"/>
                </a:lnTo>
                <a:lnTo>
                  <a:pt x="577020" y="16133"/>
                </a:lnTo>
                <a:lnTo>
                  <a:pt x="568006" y="6264"/>
                </a:lnTo>
                <a:lnTo>
                  <a:pt x="556132" y="0"/>
                </a:lnTo>
                <a:close/>
              </a:path>
            </a:pathLst>
          </a:custGeom>
          <a:solidFill>
            <a:srgbClr val="28424F"/>
          </a:solidFill>
        </p:spPr>
        <p:txBody>
          <a:bodyPr wrap="square" lIns="0" tIns="0" rIns="0" bIns="0" rtlCol="0"/>
          <a:lstStyle/>
          <a:p>
            <a:endParaRPr>
              <a:highlight>
                <a:srgbClr val="0000FF"/>
              </a:highlight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22115" y="2046732"/>
            <a:ext cx="583565" cy="585470"/>
          </a:xfrm>
          <a:custGeom>
            <a:avLst/>
            <a:gdLst/>
            <a:ahLst/>
            <a:cxnLst/>
            <a:rect l="l" t="t" r="r" b="b"/>
            <a:pathLst>
              <a:path w="583564" h="585469">
                <a:moveTo>
                  <a:pt x="0" y="559562"/>
                </a:moveTo>
                <a:lnTo>
                  <a:pt x="77" y="566191"/>
                </a:lnTo>
                <a:lnTo>
                  <a:pt x="8728" y="576171"/>
                </a:lnTo>
                <a:lnTo>
                  <a:pt x="20421" y="582807"/>
                </a:lnTo>
                <a:lnTo>
                  <a:pt x="34289" y="585216"/>
                </a:lnTo>
                <a:lnTo>
                  <a:pt x="549211" y="584869"/>
                </a:lnTo>
                <a:lnTo>
                  <a:pt x="562546" y="580598"/>
                </a:lnTo>
                <a:lnTo>
                  <a:pt x="573332" y="572137"/>
                </a:lnTo>
                <a:lnTo>
                  <a:pt x="580556" y="560324"/>
                </a:lnTo>
                <a:lnTo>
                  <a:pt x="4317" y="560324"/>
                </a:lnTo>
                <a:lnTo>
                  <a:pt x="0" y="559562"/>
                </a:lnTo>
                <a:close/>
              </a:path>
              <a:path w="583564" h="585469">
                <a:moveTo>
                  <a:pt x="556132" y="0"/>
                </a:moveTo>
                <a:lnTo>
                  <a:pt x="557529" y="4318"/>
                </a:lnTo>
                <a:lnTo>
                  <a:pt x="558291" y="8509"/>
                </a:lnTo>
                <a:lnTo>
                  <a:pt x="557847" y="526998"/>
                </a:lnTo>
                <a:lnTo>
                  <a:pt x="553269" y="540081"/>
                </a:lnTo>
                <a:lnTo>
                  <a:pt x="544508" y="550661"/>
                </a:lnTo>
                <a:lnTo>
                  <a:pt x="532526" y="557742"/>
                </a:lnTo>
                <a:lnTo>
                  <a:pt x="518287" y="560324"/>
                </a:lnTo>
                <a:lnTo>
                  <a:pt x="580556" y="560324"/>
                </a:lnTo>
                <a:lnTo>
                  <a:pt x="583184" y="546100"/>
                </a:lnTo>
                <a:lnTo>
                  <a:pt x="582124" y="28763"/>
                </a:lnTo>
                <a:lnTo>
                  <a:pt x="576826" y="16472"/>
                </a:lnTo>
                <a:lnTo>
                  <a:pt x="567865" y="6604"/>
                </a:lnTo>
                <a:lnTo>
                  <a:pt x="556132" y="0"/>
                </a:lnTo>
                <a:close/>
              </a:path>
            </a:pathLst>
          </a:custGeom>
          <a:solidFill>
            <a:srgbClr val="284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22115" y="2766060"/>
            <a:ext cx="583565" cy="586740"/>
          </a:xfrm>
          <a:custGeom>
            <a:avLst/>
            <a:gdLst/>
            <a:ahLst/>
            <a:cxnLst/>
            <a:rect l="l" t="t" r="r" b="b"/>
            <a:pathLst>
              <a:path w="583564" h="586739">
                <a:moveTo>
                  <a:pt x="0" y="561085"/>
                </a:moveTo>
                <a:lnTo>
                  <a:pt x="77" y="567715"/>
                </a:lnTo>
                <a:lnTo>
                  <a:pt x="8728" y="577695"/>
                </a:lnTo>
                <a:lnTo>
                  <a:pt x="20421" y="584331"/>
                </a:lnTo>
                <a:lnTo>
                  <a:pt x="34289" y="586739"/>
                </a:lnTo>
                <a:lnTo>
                  <a:pt x="549303" y="586366"/>
                </a:lnTo>
                <a:lnTo>
                  <a:pt x="562606" y="581932"/>
                </a:lnTo>
                <a:lnTo>
                  <a:pt x="573362" y="573300"/>
                </a:lnTo>
                <a:lnTo>
                  <a:pt x="580338" y="561847"/>
                </a:lnTo>
                <a:lnTo>
                  <a:pt x="4317" y="561847"/>
                </a:lnTo>
                <a:lnTo>
                  <a:pt x="0" y="561085"/>
                </a:lnTo>
                <a:close/>
              </a:path>
              <a:path w="583564" h="586739">
                <a:moveTo>
                  <a:pt x="556132" y="0"/>
                </a:moveTo>
                <a:lnTo>
                  <a:pt x="557529" y="3555"/>
                </a:lnTo>
                <a:lnTo>
                  <a:pt x="558291" y="7873"/>
                </a:lnTo>
                <a:lnTo>
                  <a:pt x="557746" y="528465"/>
                </a:lnTo>
                <a:lnTo>
                  <a:pt x="553040" y="541673"/>
                </a:lnTo>
                <a:lnTo>
                  <a:pt x="544274" y="552261"/>
                </a:lnTo>
                <a:lnTo>
                  <a:pt x="532379" y="559296"/>
                </a:lnTo>
                <a:lnTo>
                  <a:pt x="518287" y="561847"/>
                </a:lnTo>
                <a:lnTo>
                  <a:pt x="580338" y="561847"/>
                </a:lnTo>
                <a:lnTo>
                  <a:pt x="580559" y="561484"/>
                </a:lnTo>
                <a:lnTo>
                  <a:pt x="583184" y="547496"/>
                </a:lnTo>
                <a:lnTo>
                  <a:pt x="582228" y="28567"/>
                </a:lnTo>
                <a:lnTo>
                  <a:pt x="576988" y="16104"/>
                </a:lnTo>
                <a:lnTo>
                  <a:pt x="567983" y="6248"/>
                </a:lnTo>
                <a:lnTo>
                  <a:pt x="556132" y="0"/>
                </a:lnTo>
                <a:close/>
              </a:path>
            </a:pathLst>
          </a:custGeom>
          <a:solidFill>
            <a:srgbClr val="284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5800" y="1295400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4746752" y="0"/>
                </a:moveTo>
                <a:lnTo>
                  <a:pt x="50291" y="0"/>
                </a:lnTo>
                <a:lnTo>
                  <a:pt x="45800" y="251"/>
                </a:lnTo>
                <a:lnTo>
                  <a:pt x="13300" y="20454"/>
                </a:lnTo>
                <a:lnTo>
                  <a:pt x="0" y="62991"/>
                </a:lnTo>
                <a:lnTo>
                  <a:pt x="199" y="541545"/>
                </a:lnTo>
                <a:lnTo>
                  <a:pt x="16288" y="582225"/>
                </a:lnTo>
                <a:lnTo>
                  <a:pt x="50291" y="598931"/>
                </a:lnTo>
                <a:lnTo>
                  <a:pt x="4751628" y="598645"/>
                </a:lnTo>
                <a:lnTo>
                  <a:pt x="4784295" y="578344"/>
                </a:lnTo>
                <a:lnTo>
                  <a:pt x="4797552" y="535939"/>
                </a:lnTo>
                <a:lnTo>
                  <a:pt x="4797324" y="57009"/>
                </a:lnTo>
                <a:lnTo>
                  <a:pt x="4781082" y="16585"/>
                </a:lnTo>
                <a:lnTo>
                  <a:pt x="4746752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95800" y="1295400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50291" y="0"/>
                </a:moveTo>
                <a:lnTo>
                  <a:pt x="4746752" y="0"/>
                </a:lnTo>
                <a:lnTo>
                  <a:pt x="4759547" y="2015"/>
                </a:lnTo>
                <a:lnTo>
                  <a:pt x="4789032" y="28102"/>
                </a:lnTo>
                <a:lnTo>
                  <a:pt x="4797552" y="535939"/>
                </a:lnTo>
                <a:lnTo>
                  <a:pt x="4795947" y="551666"/>
                </a:lnTo>
                <a:lnTo>
                  <a:pt x="4775036" y="588258"/>
                </a:lnTo>
                <a:lnTo>
                  <a:pt x="50291" y="598931"/>
                </a:lnTo>
                <a:lnTo>
                  <a:pt x="37652" y="596900"/>
                </a:lnTo>
                <a:lnTo>
                  <a:pt x="8386" y="570629"/>
                </a:lnTo>
                <a:lnTo>
                  <a:pt x="0" y="62991"/>
                </a:lnTo>
                <a:lnTo>
                  <a:pt x="1614" y="47205"/>
                </a:lnTo>
                <a:lnTo>
                  <a:pt x="22549" y="10539"/>
                </a:lnTo>
                <a:lnTo>
                  <a:pt x="50291" y="0"/>
                </a:lnTo>
                <a:close/>
              </a:path>
            </a:pathLst>
          </a:custGeom>
          <a:ln w="9143">
            <a:solidFill>
              <a:srgbClr val="9A9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5800" y="2033016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4746752" y="0"/>
                </a:moveTo>
                <a:lnTo>
                  <a:pt x="50291" y="0"/>
                </a:lnTo>
                <a:lnTo>
                  <a:pt x="45800" y="251"/>
                </a:lnTo>
                <a:lnTo>
                  <a:pt x="13300" y="20454"/>
                </a:lnTo>
                <a:lnTo>
                  <a:pt x="0" y="62991"/>
                </a:lnTo>
                <a:lnTo>
                  <a:pt x="199" y="541545"/>
                </a:lnTo>
                <a:lnTo>
                  <a:pt x="16288" y="582225"/>
                </a:lnTo>
                <a:lnTo>
                  <a:pt x="50291" y="598932"/>
                </a:lnTo>
                <a:lnTo>
                  <a:pt x="4751628" y="598645"/>
                </a:lnTo>
                <a:lnTo>
                  <a:pt x="4784295" y="578344"/>
                </a:lnTo>
                <a:lnTo>
                  <a:pt x="4797552" y="535939"/>
                </a:lnTo>
                <a:lnTo>
                  <a:pt x="4797324" y="57009"/>
                </a:lnTo>
                <a:lnTo>
                  <a:pt x="4781082" y="16585"/>
                </a:lnTo>
                <a:lnTo>
                  <a:pt x="4746752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95800" y="2033016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50291" y="0"/>
                </a:moveTo>
                <a:lnTo>
                  <a:pt x="4746752" y="0"/>
                </a:lnTo>
                <a:lnTo>
                  <a:pt x="4759547" y="2015"/>
                </a:lnTo>
                <a:lnTo>
                  <a:pt x="4789032" y="28102"/>
                </a:lnTo>
                <a:lnTo>
                  <a:pt x="4797552" y="535939"/>
                </a:lnTo>
                <a:lnTo>
                  <a:pt x="4795947" y="551666"/>
                </a:lnTo>
                <a:lnTo>
                  <a:pt x="4775036" y="588258"/>
                </a:lnTo>
                <a:lnTo>
                  <a:pt x="50291" y="598932"/>
                </a:lnTo>
                <a:lnTo>
                  <a:pt x="37652" y="596900"/>
                </a:lnTo>
                <a:lnTo>
                  <a:pt x="8386" y="570629"/>
                </a:lnTo>
                <a:lnTo>
                  <a:pt x="0" y="62991"/>
                </a:lnTo>
                <a:lnTo>
                  <a:pt x="1614" y="47205"/>
                </a:lnTo>
                <a:lnTo>
                  <a:pt x="22549" y="10539"/>
                </a:lnTo>
                <a:lnTo>
                  <a:pt x="50291" y="0"/>
                </a:lnTo>
                <a:close/>
              </a:path>
            </a:pathLst>
          </a:custGeom>
          <a:ln w="9144">
            <a:solidFill>
              <a:srgbClr val="9A9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5800" y="2734055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4746752" y="0"/>
                </a:moveTo>
                <a:lnTo>
                  <a:pt x="50291" y="0"/>
                </a:lnTo>
                <a:lnTo>
                  <a:pt x="45800" y="250"/>
                </a:lnTo>
                <a:lnTo>
                  <a:pt x="13300" y="20404"/>
                </a:lnTo>
                <a:lnTo>
                  <a:pt x="0" y="62992"/>
                </a:lnTo>
                <a:lnTo>
                  <a:pt x="199" y="541564"/>
                </a:lnTo>
                <a:lnTo>
                  <a:pt x="16288" y="582269"/>
                </a:lnTo>
                <a:lnTo>
                  <a:pt x="50291" y="598932"/>
                </a:lnTo>
                <a:lnTo>
                  <a:pt x="4751628" y="598646"/>
                </a:lnTo>
                <a:lnTo>
                  <a:pt x="4784295" y="578395"/>
                </a:lnTo>
                <a:lnTo>
                  <a:pt x="4797552" y="535939"/>
                </a:lnTo>
                <a:lnTo>
                  <a:pt x="4797324" y="56989"/>
                </a:lnTo>
                <a:lnTo>
                  <a:pt x="4781082" y="16540"/>
                </a:lnTo>
                <a:lnTo>
                  <a:pt x="4746752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95800" y="2734055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50291" y="0"/>
                </a:moveTo>
                <a:lnTo>
                  <a:pt x="4746752" y="0"/>
                </a:lnTo>
                <a:lnTo>
                  <a:pt x="4759547" y="2007"/>
                </a:lnTo>
                <a:lnTo>
                  <a:pt x="4789032" y="28046"/>
                </a:lnTo>
                <a:lnTo>
                  <a:pt x="4797552" y="535939"/>
                </a:lnTo>
                <a:lnTo>
                  <a:pt x="4795947" y="551709"/>
                </a:lnTo>
                <a:lnTo>
                  <a:pt x="4775036" y="588292"/>
                </a:lnTo>
                <a:lnTo>
                  <a:pt x="50291" y="598932"/>
                </a:lnTo>
                <a:lnTo>
                  <a:pt x="37652" y="596908"/>
                </a:lnTo>
                <a:lnTo>
                  <a:pt x="8386" y="570685"/>
                </a:lnTo>
                <a:lnTo>
                  <a:pt x="0" y="62992"/>
                </a:lnTo>
                <a:lnTo>
                  <a:pt x="1614" y="47162"/>
                </a:lnTo>
                <a:lnTo>
                  <a:pt x="22549" y="10506"/>
                </a:lnTo>
                <a:lnTo>
                  <a:pt x="50291" y="0"/>
                </a:lnTo>
                <a:close/>
              </a:path>
            </a:pathLst>
          </a:custGeom>
          <a:ln w="9144">
            <a:solidFill>
              <a:srgbClr val="9A9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08766" y="2817526"/>
            <a:ext cx="3620834" cy="399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4"/>
              </a:lnSpc>
            </a:pPr>
            <a:r>
              <a:rPr sz="2200" spc="-5" err="1">
                <a:solidFill>
                  <a:srgbClr val="30352F"/>
                </a:solidFill>
                <a:latin typeface="微软雅黑"/>
                <a:cs typeface="微软雅黑"/>
              </a:rPr>
              <a:t>项目概述</a:t>
            </a:r>
            <a:r>
              <a:rPr lang="zh-CN" altLang="en-US" sz="2200" spc="-5">
                <a:solidFill>
                  <a:srgbClr val="30352F"/>
                </a:solidFill>
                <a:latin typeface="微软雅黑"/>
                <a:cs typeface="微软雅黑"/>
              </a:rPr>
              <a:t> </a:t>
            </a:r>
            <a:r>
              <a:rPr lang="en-CA" sz="2200" b="1"/>
              <a:t>Overview</a:t>
            </a:r>
          </a:p>
        </p:txBody>
      </p:sp>
      <p:sp>
        <p:nvSpPr>
          <p:cNvPr id="20" name="object 20"/>
          <p:cNvSpPr/>
          <p:nvPr/>
        </p:nvSpPr>
        <p:spPr>
          <a:xfrm>
            <a:off x="972311" y="2336292"/>
            <a:ext cx="894715" cy="410209"/>
          </a:xfrm>
          <a:custGeom>
            <a:avLst/>
            <a:gdLst/>
            <a:ahLst/>
            <a:cxnLst/>
            <a:rect l="l" t="t" r="r" b="b"/>
            <a:pathLst>
              <a:path w="894714" h="410210">
                <a:moveTo>
                  <a:pt x="432053" y="5969"/>
                </a:moveTo>
                <a:lnTo>
                  <a:pt x="33096" y="5969"/>
                </a:lnTo>
                <a:lnTo>
                  <a:pt x="0" y="405638"/>
                </a:lnTo>
                <a:lnTo>
                  <a:pt x="281787" y="405638"/>
                </a:lnTo>
                <a:lnTo>
                  <a:pt x="315722" y="351917"/>
                </a:lnTo>
                <a:lnTo>
                  <a:pt x="91668" y="351917"/>
                </a:lnTo>
                <a:lnTo>
                  <a:pt x="96761" y="291211"/>
                </a:lnTo>
                <a:lnTo>
                  <a:pt x="407762" y="291211"/>
                </a:lnTo>
                <a:lnTo>
                  <a:pt x="412337" y="237490"/>
                </a:lnTo>
                <a:lnTo>
                  <a:pt x="101003" y="237490"/>
                </a:lnTo>
                <a:lnTo>
                  <a:pt x="106095" y="173355"/>
                </a:lnTo>
                <a:lnTo>
                  <a:pt x="417799" y="173355"/>
                </a:lnTo>
                <a:lnTo>
                  <a:pt x="422385" y="119507"/>
                </a:lnTo>
                <a:lnTo>
                  <a:pt x="111188" y="119507"/>
                </a:lnTo>
                <a:lnTo>
                  <a:pt x="116281" y="58928"/>
                </a:lnTo>
                <a:lnTo>
                  <a:pt x="427543" y="58928"/>
                </a:lnTo>
                <a:lnTo>
                  <a:pt x="432053" y="5969"/>
                </a:lnTo>
                <a:close/>
              </a:path>
              <a:path w="894714" h="410210">
                <a:moveTo>
                  <a:pt x="407762" y="291211"/>
                </a:moveTo>
                <a:lnTo>
                  <a:pt x="320801" y="291211"/>
                </a:lnTo>
                <a:lnTo>
                  <a:pt x="315722" y="351917"/>
                </a:lnTo>
                <a:lnTo>
                  <a:pt x="310641" y="405638"/>
                </a:lnTo>
                <a:lnTo>
                  <a:pt x="398018" y="405638"/>
                </a:lnTo>
                <a:lnTo>
                  <a:pt x="407762" y="291211"/>
                </a:lnTo>
                <a:close/>
              </a:path>
              <a:path w="894714" h="410210">
                <a:moveTo>
                  <a:pt x="417799" y="173355"/>
                </a:moveTo>
                <a:lnTo>
                  <a:pt x="330200" y="173355"/>
                </a:lnTo>
                <a:lnTo>
                  <a:pt x="325119" y="237490"/>
                </a:lnTo>
                <a:lnTo>
                  <a:pt x="412337" y="237490"/>
                </a:lnTo>
                <a:lnTo>
                  <a:pt x="417799" y="173355"/>
                </a:lnTo>
                <a:close/>
              </a:path>
              <a:path w="894714" h="410210">
                <a:moveTo>
                  <a:pt x="427543" y="58928"/>
                </a:moveTo>
                <a:lnTo>
                  <a:pt x="340359" y="58928"/>
                </a:lnTo>
                <a:lnTo>
                  <a:pt x="335279" y="119507"/>
                </a:lnTo>
                <a:lnTo>
                  <a:pt x="422385" y="119507"/>
                </a:lnTo>
                <a:lnTo>
                  <a:pt x="427543" y="58928"/>
                </a:lnTo>
                <a:close/>
              </a:path>
              <a:path w="894714" h="410210">
                <a:moveTo>
                  <a:pt x="716407" y="192150"/>
                </a:moveTo>
                <a:lnTo>
                  <a:pt x="628904" y="192150"/>
                </a:lnTo>
                <a:lnTo>
                  <a:pt x="615315" y="361315"/>
                </a:lnTo>
                <a:lnTo>
                  <a:pt x="577976" y="361315"/>
                </a:lnTo>
                <a:lnTo>
                  <a:pt x="589915" y="409956"/>
                </a:lnTo>
                <a:lnTo>
                  <a:pt x="698500" y="409956"/>
                </a:lnTo>
                <a:lnTo>
                  <a:pt x="708660" y="287020"/>
                </a:lnTo>
                <a:lnTo>
                  <a:pt x="828272" y="287020"/>
                </a:lnTo>
                <a:lnTo>
                  <a:pt x="850905" y="251968"/>
                </a:lnTo>
                <a:lnTo>
                  <a:pt x="767333" y="251968"/>
                </a:lnTo>
                <a:lnTo>
                  <a:pt x="751205" y="229743"/>
                </a:lnTo>
                <a:lnTo>
                  <a:pt x="713739" y="229743"/>
                </a:lnTo>
                <a:lnTo>
                  <a:pt x="716407" y="192150"/>
                </a:lnTo>
                <a:close/>
              </a:path>
              <a:path w="894714" h="410210">
                <a:moveTo>
                  <a:pt x="586485" y="307467"/>
                </a:moveTo>
                <a:lnTo>
                  <a:pt x="504951" y="307467"/>
                </a:lnTo>
                <a:lnTo>
                  <a:pt x="462534" y="366395"/>
                </a:lnTo>
                <a:lnTo>
                  <a:pt x="444753" y="366395"/>
                </a:lnTo>
                <a:lnTo>
                  <a:pt x="454913" y="403987"/>
                </a:lnTo>
                <a:lnTo>
                  <a:pt x="518541" y="403987"/>
                </a:lnTo>
                <a:lnTo>
                  <a:pt x="586485" y="307467"/>
                </a:lnTo>
                <a:close/>
              </a:path>
              <a:path w="894714" h="410210">
                <a:moveTo>
                  <a:pt x="828272" y="287020"/>
                </a:moveTo>
                <a:lnTo>
                  <a:pt x="708660" y="287020"/>
                </a:lnTo>
                <a:lnTo>
                  <a:pt x="789305" y="403987"/>
                </a:lnTo>
                <a:lnTo>
                  <a:pt x="853058" y="403987"/>
                </a:lnTo>
                <a:lnTo>
                  <a:pt x="869188" y="366395"/>
                </a:lnTo>
                <a:lnTo>
                  <a:pt x="851281" y="366395"/>
                </a:lnTo>
                <a:lnTo>
                  <a:pt x="796925" y="292100"/>
                </a:lnTo>
                <a:lnTo>
                  <a:pt x="824992" y="292100"/>
                </a:lnTo>
                <a:lnTo>
                  <a:pt x="828272" y="287020"/>
                </a:lnTo>
                <a:close/>
              </a:path>
              <a:path w="894714" h="410210">
                <a:moveTo>
                  <a:pt x="559307" y="204978"/>
                </a:moveTo>
                <a:lnTo>
                  <a:pt x="477900" y="204978"/>
                </a:lnTo>
                <a:lnTo>
                  <a:pt x="517778" y="288671"/>
                </a:lnTo>
                <a:lnTo>
                  <a:pt x="577976" y="288671"/>
                </a:lnTo>
                <a:lnTo>
                  <a:pt x="593216" y="251079"/>
                </a:lnTo>
                <a:lnTo>
                  <a:pt x="583057" y="251079"/>
                </a:lnTo>
                <a:lnTo>
                  <a:pt x="559307" y="204978"/>
                </a:lnTo>
                <a:close/>
              </a:path>
              <a:path w="894714" h="410210">
                <a:moveTo>
                  <a:pt x="878458" y="209296"/>
                </a:moveTo>
                <a:lnTo>
                  <a:pt x="796925" y="209296"/>
                </a:lnTo>
                <a:lnTo>
                  <a:pt x="767333" y="251968"/>
                </a:lnTo>
                <a:lnTo>
                  <a:pt x="850905" y="251968"/>
                </a:lnTo>
                <a:lnTo>
                  <a:pt x="878458" y="209296"/>
                </a:lnTo>
                <a:close/>
              </a:path>
              <a:path w="894714" h="410210">
                <a:moveTo>
                  <a:pt x="894588" y="141732"/>
                </a:moveTo>
                <a:lnTo>
                  <a:pt x="460882" y="141732"/>
                </a:lnTo>
                <a:lnTo>
                  <a:pt x="456691" y="192150"/>
                </a:lnTo>
                <a:lnTo>
                  <a:pt x="890396" y="192150"/>
                </a:lnTo>
                <a:lnTo>
                  <a:pt x="894588" y="141732"/>
                </a:lnTo>
                <a:close/>
              </a:path>
              <a:path w="894714" h="410210">
                <a:moveTo>
                  <a:pt x="866520" y="0"/>
                </a:moveTo>
                <a:lnTo>
                  <a:pt x="501650" y="0"/>
                </a:lnTo>
                <a:lnTo>
                  <a:pt x="497331" y="50419"/>
                </a:lnTo>
                <a:lnTo>
                  <a:pt x="778256" y="50419"/>
                </a:lnTo>
                <a:lnTo>
                  <a:pt x="776605" y="71755"/>
                </a:lnTo>
                <a:lnTo>
                  <a:pt x="505841" y="71755"/>
                </a:lnTo>
                <a:lnTo>
                  <a:pt x="501650" y="122936"/>
                </a:lnTo>
                <a:lnTo>
                  <a:pt x="772413" y="122936"/>
                </a:lnTo>
                <a:lnTo>
                  <a:pt x="770636" y="141732"/>
                </a:lnTo>
                <a:lnTo>
                  <a:pt x="854710" y="141732"/>
                </a:lnTo>
                <a:lnTo>
                  <a:pt x="866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4047" y="2808854"/>
            <a:ext cx="1003300" cy="189230"/>
          </a:xfrm>
          <a:custGeom>
            <a:avLst/>
            <a:gdLst/>
            <a:ahLst/>
            <a:cxnLst/>
            <a:rect l="l" t="t" r="r" b="b"/>
            <a:pathLst>
              <a:path w="1003300" h="189230">
                <a:moveTo>
                  <a:pt x="86338" y="0"/>
                </a:moveTo>
                <a:lnTo>
                  <a:pt x="40974" y="16098"/>
                </a:lnTo>
                <a:lnTo>
                  <a:pt x="11524" y="59022"/>
                </a:lnTo>
                <a:lnTo>
                  <a:pt x="0" y="110565"/>
                </a:lnTo>
                <a:lnTo>
                  <a:pt x="1253" y="126159"/>
                </a:lnTo>
                <a:lnTo>
                  <a:pt x="15577" y="162401"/>
                </a:lnTo>
                <a:lnTo>
                  <a:pt x="62584" y="186269"/>
                </a:lnTo>
                <a:lnTo>
                  <a:pt x="79903" y="187893"/>
                </a:lnTo>
                <a:lnTo>
                  <a:pt x="92962" y="185001"/>
                </a:lnTo>
                <a:lnTo>
                  <a:pt x="104861" y="180215"/>
                </a:lnTo>
                <a:lnTo>
                  <a:pt x="115600" y="173543"/>
                </a:lnTo>
                <a:lnTo>
                  <a:pt x="119692" y="169890"/>
                </a:lnTo>
                <a:lnTo>
                  <a:pt x="58558" y="169890"/>
                </a:lnTo>
                <a:lnTo>
                  <a:pt x="47641" y="165630"/>
                </a:lnTo>
                <a:lnTo>
                  <a:pt x="22762" y="124700"/>
                </a:lnTo>
                <a:lnTo>
                  <a:pt x="21321" y="108127"/>
                </a:lnTo>
                <a:lnTo>
                  <a:pt x="21823" y="88870"/>
                </a:lnTo>
                <a:lnTo>
                  <a:pt x="37808" y="48421"/>
                </a:lnTo>
                <a:lnTo>
                  <a:pt x="79986" y="21180"/>
                </a:lnTo>
                <a:lnTo>
                  <a:pt x="94985" y="19169"/>
                </a:lnTo>
                <a:lnTo>
                  <a:pt x="132927" y="19169"/>
                </a:lnTo>
                <a:lnTo>
                  <a:pt x="124554" y="11627"/>
                </a:lnTo>
                <a:lnTo>
                  <a:pt x="113467" y="5412"/>
                </a:lnTo>
                <a:lnTo>
                  <a:pt x="100737" y="1530"/>
                </a:lnTo>
                <a:lnTo>
                  <a:pt x="86338" y="0"/>
                </a:lnTo>
                <a:close/>
              </a:path>
              <a:path w="1003300" h="189230">
                <a:moveTo>
                  <a:pt x="125739" y="122177"/>
                </a:moveTo>
                <a:lnTo>
                  <a:pt x="99418" y="160656"/>
                </a:lnTo>
                <a:lnTo>
                  <a:pt x="58558" y="169890"/>
                </a:lnTo>
                <a:lnTo>
                  <a:pt x="119692" y="169890"/>
                </a:lnTo>
                <a:lnTo>
                  <a:pt x="125180" y="164992"/>
                </a:lnTo>
                <a:lnTo>
                  <a:pt x="133600" y="154570"/>
                </a:lnTo>
                <a:lnTo>
                  <a:pt x="140861" y="142286"/>
                </a:lnTo>
                <a:lnTo>
                  <a:pt x="146961" y="128146"/>
                </a:lnTo>
                <a:lnTo>
                  <a:pt x="125739" y="122177"/>
                </a:lnTo>
                <a:close/>
              </a:path>
              <a:path w="1003300" h="189230">
                <a:moveTo>
                  <a:pt x="132927" y="19169"/>
                </a:moveTo>
                <a:lnTo>
                  <a:pt x="94985" y="19169"/>
                </a:lnTo>
                <a:lnTo>
                  <a:pt x="106611" y="23959"/>
                </a:lnTo>
                <a:lnTo>
                  <a:pt x="116353" y="32067"/>
                </a:lnTo>
                <a:lnTo>
                  <a:pt x="124163" y="43445"/>
                </a:lnTo>
                <a:lnTo>
                  <a:pt x="129994" y="58042"/>
                </a:lnTo>
                <a:lnTo>
                  <a:pt x="148214" y="44084"/>
                </a:lnTo>
                <a:lnTo>
                  <a:pt x="141893" y="30971"/>
                </a:lnTo>
                <a:lnTo>
                  <a:pt x="134023" y="20157"/>
                </a:lnTo>
                <a:lnTo>
                  <a:pt x="132927" y="19169"/>
                </a:lnTo>
                <a:close/>
              </a:path>
              <a:path w="1003300" h="189230">
                <a:moveTo>
                  <a:pt x="234576" y="50099"/>
                </a:moveTo>
                <a:lnTo>
                  <a:pt x="195269" y="73312"/>
                </a:lnTo>
                <a:lnTo>
                  <a:pt x="179381" y="116869"/>
                </a:lnTo>
                <a:lnTo>
                  <a:pt x="176675" y="137141"/>
                </a:lnTo>
                <a:lnTo>
                  <a:pt x="179028" y="152090"/>
                </a:lnTo>
                <a:lnTo>
                  <a:pt x="212967" y="186511"/>
                </a:lnTo>
                <a:lnTo>
                  <a:pt x="227581" y="188852"/>
                </a:lnTo>
                <a:lnTo>
                  <a:pt x="238037" y="187955"/>
                </a:lnTo>
                <a:lnTo>
                  <a:pt x="250466" y="184767"/>
                </a:lnTo>
                <a:lnTo>
                  <a:pt x="261290" y="179235"/>
                </a:lnTo>
                <a:lnTo>
                  <a:pt x="267971" y="173476"/>
                </a:lnTo>
                <a:lnTo>
                  <a:pt x="229024" y="173476"/>
                </a:lnTo>
                <a:lnTo>
                  <a:pt x="217583" y="171514"/>
                </a:lnTo>
                <a:lnTo>
                  <a:pt x="208557" y="166428"/>
                </a:lnTo>
                <a:lnTo>
                  <a:pt x="201972" y="157919"/>
                </a:lnTo>
                <a:lnTo>
                  <a:pt x="197855" y="145687"/>
                </a:lnTo>
                <a:lnTo>
                  <a:pt x="196232" y="129431"/>
                </a:lnTo>
                <a:lnTo>
                  <a:pt x="197129" y="108852"/>
                </a:lnTo>
                <a:lnTo>
                  <a:pt x="216682" y="72326"/>
                </a:lnTo>
                <a:lnTo>
                  <a:pt x="240319" y="64900"/>
                </a:lnTo>
                <a:lnTo>
                  <a:pt x="276661" y="64900"/>
                </a:lnTo>
                <a:lnTo>
                  <a:pt x="274717" y="62644"/>
                </a:lnTo>
                <a:lnTo>
                  <a:pt x="264180" y="55980"/>
                </a:lnTo>
                <a:lnTo>
                  <a:pt x="250843" y="51795"/>
                </a:lnTo>
                <a:lnTo>
                  <a:pt x="234576" y="50099"/>
                </a:lnTo>
                <a:close/>
              </a:path>
              <a:path w="1003300" h="189230">
                <a:moveTo>
                  <a:pt x="276661" y="64900"/>
                </a:moveTo>
                <a:lnTo>
                  <a:pt x="240319" y="64900"/>
                </a:lnTo>
                <a:lnTo>
                  <a:pt x="247910" y="66460"/>
                </a:lnTo>
                <a:lnTo>
                  <a:pt x="257246" y="71368"/>
                </a:lnTo>
                <a:lnTo>
                  <a:pt x="264190" y="79621"/>
                </a:lnTo>
                <a:lnTo>
                  <a:pt x="268735" y="91506"/>
                </a:lnTo>
                <a:lnTo>
                  <a:pt x="270870" y="107308"/>
                </a:lnTo>
                <a:lnTo>
                  <a:pt x="270587" y="127314"/>
                </a:lnTo>
                <a:lnTo>
                  <a:pt x="252075" y="165514"/>
                </a:lnTo>
                <a:lnTo>
                  <a:pt x="229024" y="173476"/>
                </a:lnTo>
                <a:lnTo>
                  <a:pt x="267971" y="173476"/>
                </a:lnTo>
                <a:lnTo>
                  <a:pt x="288596" y="132209"/>
                </a:lnTo>
                <a:lnTo>
                  <a:pt x="291440" y="113865"/>
                </a:lnTo>
                <a:lnTo>
                  <a:pt x="290815" y="97396"/>
                </a:lnTo>
                <a:lnTo>
                  <a:pt x="287905" y="83362"/>
                </a:lnTo>
                <a:lnTo>
                  <a:pt x="282582" y="71775"/>
                </a:lnTo>
                <a:lnTo>
                  <a:pt x="276661" y="64900"/>
                </a:lnTo>
                <a:close/>
              </a:path>
              <a:path w="1003300" h="189230">
                <a:moveTo>
                  <a:pt x="352307" y="52073"/>
                </a:moveTo>
                <a:lnTo>
                  <a:pt x="334527" y="52073"/>
                </a:lnTo>
                <a:lnTo>
                  <a:pt x="320938" y="185423"/>
                </a:lnTo>
                <a:lnTo>
                  <a:pt x="338718" y="184534"/>
                </a:lnTo>
                <a:lnTo>
                  <a:pt x="350275" y="92464"/>
                </a:lnTo>
                <a:lnTo>
                  <a:pt x="356499" y="81673"/>
                </a:lnTo>
                <a:lnTo>
                  <a:pt x="365911" y="73694"/>
                </a:lnTo>
                <a:lnTo>
                  <a:pt x="370885" y="71758"/>
                </a:lnTo>
                <a:lnTo>
                  <a:pt x="349767" y="71758"/>
                </a:lnTo>
                <a:lnTo>
                  <a:pt x="352307" y="52073"/>
                </a:lnTo>
                <a:close/>
              </a:path>
              <a:path w="1003300" h="189230">
                <a:moveTo>
                  <a:pt x="424535" y="66516"/>
                </a:moveTo>
                <a:lnTo>
                  <a:pt x="396130" y="66516"/>
                </a:lnTo>
                <a:lnTo>
                  <a:pt x="405659" y="73185"/>
                </a:lnTo>
                <a:lnTo>
                  <a:pt x="410883" y="85121"/>
                </a:lnTo>
                <a:lnTo>
                  <a:pt x="411743" y="102492"/>
                </a:lnTo>
                <a:lnTo>
                  <a:pt x="403234" y="184534"/>
                </a:lnTo>
                <a:lnTo>
                  <a:pt x="421141" y="184534"/>
                </a:lnTo>
                <a:lnTo>
                  <a:pt x="429523" y="99952"/>
                </a:lnTo>
                <a:lnTo>
                  <a:pt x="429930" y="84538"/>
                </a:lnTo>
                <a:lnTo>
                  <a:pt x="427475" y="71639"/>
                </a:lnTo>
                <a:lnTo>
                  <a:pt x="424535" y="66516"/>
                </a:lnTo>
                <a:close/>
              </a:path>
              <a:path w="1003300" h="189230">
                <a:moveTo>
                  <a:pt x="381631" y="49897"/>
                </a:moveTo>
                <a:lnTo>
                  <a:pt x="369655" y="54318"/>
                </a:lnTo>
                <a:lnTo>
                  <a:pt x="359021" y="61697"/>
                </a:lnTo>
                <a:lnTo>
                  <a:pt x="349767" y="71758"/>
                </a:lnTo>
                <a:lnTo>
                  <a:pt x="370885" y="71758"/>
                </a:lnTo>
                <a:lnTo>
                  <a:pt x="378970" y="68612"/>
                </a:lnTo>
                <a:lnTo>
                  <a:pt x="396130" y="66516"/>
                </a:lnTo>
                <a:lnTo>
                  <a:pt x="424535" y="66516"/>
                </a:lnTo>
                <a:lnTo>
                  <a:pt x="421758" y="61689"/>
                </a:lnTo>
                <a:lnTo>
                  <a:pt x="412460" y="54741"/>
                </a:lnTo>
                <a:lnTo>
                  <a:pt x="399197" y="50798"/>
                </a:lnTo>
                <a:lnTo>
                  <a:pt x="381631" y="49897"/>
                </a:lnTo>
                <a:close/>
              </a:path>
              <a:path w="1003300" h="189230">
                <a:moveTo>
                  <a:pt x="497468" y="68329"/>
                </a:moveTo>
                <a:lnTo>
                  <a:pt x="479688" y="68329"/>
                </a:lnTo>
                <a:lnTo>
                  <a:pt x="470798" y="162204"/>
                </a:lnTo>
                <a:lnTo>
                  <a:pt x="472635" y="176671"/>
                </a:lnTo>
                <a:lnTo>
                  <a:pt x="480174" y="184950"/>
                </a:lnTo>
                <a:lnTo>
                  <a:pt x="493277" y="187201"/>
                </a:lnTo>
                <a:lnTo>
                  <a:pt x="500008" y="187201"/>
                </a:lnTo>
                <a:lnTo>
                  <a:pt x="506739" y="186312"/>
                </a:lnTo>
                <a:lnTo>
                  <a:pt x="512708" y="183772"/>
                </a:lnTo>
                <a:lnTo>
                  <a:pt x="510576" y="175136"/>
                </a:lnTo>
                <a:lnTo>
                  <a:pt x="491499" y="175136"/>
                </a:lnTo>
                <a:lnTo>
                  <a:pt x="487308" y="170056"/>
                </a:lnTo>
                <a:lnTo>
                  <a:pt x="488959" y="158118"/>
                </a:lnTo>
                <a:lnTo>
                  <a:pt x="497468" y="68329"/>
                </a:lnTo>
                <a:close/>
              </a:path>
              <a:path w="1003300" h="189230">
                <a:moveTo>
                  <a:pt x="510168" y="173485"/>
                </a:moveTo>
                <a:lnTo>
                  <a:pt x="506739" y="174374"/>
                </a:lnTo>
                <a:lnTo>
                  <a:pt x="500897" y="174374"/>
                </a:lnTo>
                <a:lnTo>
                  <a:pt x="491499" y="175136"/>
                </a:lnTo>
                <a:lnTo>
                  <a:pt x="510576" y="175136"/>
                </a:lnTo>
                <a:lnTo>
                  <a:pt x="510168" y="173485"/>
                </a:lnTo>
                <a:close/>
              </a:path>
              <a:path w="1003300" h="189230">
                <a:moveTo>
                  <a:pt x="522106" y="52073"/>
                </a:moveTo>
                <a:lnTo>
                  <a:pt x="465210" y="52073"/>
                </a:lnTo>
                <a:lnTo>
                  <a:pt x="463559" y="68329"/>
                </a:lnTo>
                <a:lnTo>
                  <a:pt x="520328" y="68329"/>
                </a:lnTo>
                <a:lnTo>
                  <a:pt x="522106" y="52073"/>
                </a:lnTo>
                <a:close/>
              </a:path>
              <a:path w="1003300" h="189230">
                <a:moveTo>
                  <a:pt x="504199" y="5845"/>
                </a:moveTo>
                <a:lnTo>
                  <a:pt x="485530" y="16132"/>
                </a:lnTo>
                <a:lnTo>
                  <a:pt x="481339" y="52073"/>
                </a:lnTo>
                <a:lnTo>
                  <a:pt x="499119" y="52073"/>
                </a:lnTo>
                <a:lnTo>
                  <a:pt x="504199" y="5845"/>
                </a:lnTo>
                <a:close/>
              </a:path>
              <a:path w="1003300" h="189230">
                <a:moveTo>
                  <a:pt x="605185" y="49577"/>
                </a:moveTo>
                <a:lnTo>
                  <a:pt x="562058" y="69985"/>
                </a:lnTo>
                <a:lnTo>
                  <a:pt x="544238" y="110179"/>
                </a:lnTo>
                <a:lnTo>
                  <a:pt x="541150" y="128758"/>
                </a:lnTo>
                <a:lnTo>
                  <a:pt x="542043" y="143979"/>
                </a:lnTo>
                <a:lnTo>
                  <a:pt x="570492" y="182410"/>
                </a:lnTo>
                <a:lnTo>
                  <a:pt x="601496" y="188423"/>
                </a:lnTo>
                <a:lnTo>
                  <a:pt x="615191" y="185704"/>
                </a:lnTo>
                <a:lnTo>
                  <a:pt x="626903" y="180431"/>
                </a:lnTo>
                <a:lnTo>
                  <a:pt x="636719" y="172547"/>
                </a:lnTo>
                <a:lnTo>
                  <a:pt x="637900" y="170990"/>
                </a:lnTo>
                <a:lnTo>
                  <a:pt x="583777" y="170990"/>
                </a:lnTo>
                <a:lnTo>
                  <a:pt x="572671" y="165431"/>
                </a:lnTo>
                <a:lnTo>
                  <a:pt x="565041" y="156034"/>
                </a:lnTo>
                <a:lnTo>
                  <a:pt x="560886" y="142769"/>
                </a:lnTo>
                <a:lnTo>
                  <a:pt x="560206" y="125606"/>
                </a:lnTo>
                <a:lnTo>
                  <a:pt x="653551" y="125606"/>
                </a:lnTo>
                <a:lnTo>
                  <a:pt x="653551" y="124717"/>
                </a:lnTo>
                <a:lnTo>
                  <a:pt x="654440" y="123066"/>
                </a:lnTo>
                <a:lnTo>
                  <a:pt x="654591" y="118186"/>
                </a:lnTo>
                <a:lnTo>
                  <a:pt x="654600" y="108461"/>
                </a:lnTo>
                <a:lnTo>
                  <a:pt x="562746" y="108461"/>
                </a:lnTo>
                <a:lnTo>
                  <a:pt x="566064" y="95621"/>
                </a:lnTo>
                <a:lnTo>
                  <a:pt x="572229" y="84034"/>
                </a:lnTo>
                <a:lnTo>
                  <a:pt x="581244" y="75402"/>
                </a:lnTo>
                <a:lnTo>
                  <a:pt x="593390" y="69706"/>
                </a:lnTo>
                <a:lnTo>
                  <a:pt x="608944" y="66928"/>
                </a:lnTo>
                <a:lnTo>
                  <a:pt x="643533" y="66928"/>
                </a:lnTo>
                <a:lnTo>
                  <a:pt x="640597" y="62817"/>
                </a:lnTo>
                <a:lnTo>
                  <a:pt x="631190" y="55677"/>
                </a:lnTo>
                <a:lnTo>
                  <a:pt x="619391" y="51257"/>
                </a:lnTo>
                <a:lnTo>
                  <a:pt x="605185" y="49577"/>
                </a:lnTo>
                <a:close/>
              </a:path>
              <a:path w="1003300" h="189230">
                <a:moveTo>
                  <a:pt x="632342" y="143513"/>
                </a:moveTo>
                <a:lnTo>
                  <a:pt x="600802" y="170450"/>
                </a:lnTo>
                <a:lnTo>
                  <a:pt x="583777" y="170990"/>
                </a:lnTo>
                <a:lnTo>
                  <a:pt x="637900" y="170990"/>
                </a:lnTo>
                <a:lnTo>
                  <a:pt x="644726" y="161996"/>
                </a:lnTo>
                <a:lnTo>
                  <a:pt x="651011" y="148720"/>
                </a:lnTo>
                <a:lnTo>
                  <a:pt x="632342" y="143513"/>
                </a:lnTo>
                <a:close/>
              </a:path>
              <a:path w="1003300" h="189230">
                <a:moveTo>
                  <a:pt x="643533" y="66928"/>
                </a:moveTo>
                <a:lnTo>
                  <a:pt x="608944" y="66928"/>
                </a:lnTo>
                <a:lnTo>
                  <a:pt x="621670" y="71023"/>
                </a:lnTo>
                <a:lnTo>
                  <a:pt x="630357" y="79387"/>
                </a:lnTo>
                <a:lnTo>
                  <a:pt x="635045" y="91905"/>
                </a:lnTo>
                <a:lnTo>
                  <a:pt x="635771" y="108461"/>
                </a:lnTo>
                <a:lnTo>
                  <a:pt x="654600" y="108461"/>
                </a:lnTo>
                <a:lnTo>
                  <a:pt x="654608" y="100362"/>
                </a:lnTo>
                <a:lnTo>
                  <a:pt x="652291" y="85179"/>
                </a:lnTo>
                <a:lnTo>
                  <a:pt x="647626" y="72657"/>
                </a:lnTo>
                <a:lnTo>
                  <a:pt x="643533" y="66928"/>
                </a:lnTo>
                <a:close/>
              </a:path>
              <a:path w="1003300" h="189230">
                <a:moveTo>
                  <a:pt x="714765" y="52073"/>
                </a:moveTo>
                <a:lnTo>
                  <a:pt x="697747" y="52073"/>
                </a:lnTo>
                <a:lnTo>
                  <a:pt x="684158" y="185423"/>
                </a:lnTo>
                <a:lnTo>
                  <a:pt x="701938" y="184534"/>
                </a:lnTo>
                <a:lnTo>
                  <a:pt x="713204" y="91986"/>
                </a:lnTo>
                <a:lnTo>
                  <a:pt x="719563" y="81396"/>
                </a:lnTo>
                <a:lnTo>
                  <a:pt x="728974" y="73565"/>
                </a:lnTo>
                <a:lnTo>
                  <a:pt x="733704" y="71758"/>
                </a:lnTo>
                <a:lnTo>
                  <a:pt x="712987" y="71758"/>
                </a:lnTo>
                <a:lnTo>
                  <a:pt x="714765" y="52073"/>
                </a:lnTo>
                <a:close/>
              </a:path>
              <a:path w="1003300" h="189230">
                <a:moveTo>
                  <a:pt x="787773" y="66516"/>
                </a:moveTo>
                <a:lnTo>
                  <a:pt x="759350" y="66516"/>
                </a:lnTo>
                <a:lnTo>
                  <a:pt x="768879" y="73185"/>
                </a:lnTo>
                <a:lnTo>
                  <a:pt x="774103" y="85121"/>
                </a:lnTo>
                <a:lnTo>
                  <a:pt x="774963" y="102492"/>
                </a:lnTo>
                <a:lnTo>
                  <a:pt x="766454" y="184534"/>
                </a:lnTo>
                <a:lnTo>
                  <a:pt x="784361" y="184534"/>
                </a:lnTo>
                <a:lnTo>
                  <a:pt x="792743" y="99952"/>
                </a:lnTo>
                <a:lnTo>
                  <a:pt x="793164" y="84750"/>
                </a:lnTo>
                <a:lnTo>
                  <a:pt x="790743" y="71758"/>
                </a:lnTo>
                <a:lnTo>
                  <a:pt x="787773" y="66516"/>
                </a:lnTo>
                <a:close/>
              </a:path>
              <a:path w="1003300" h="189230">
                <a:moveTo>
                  <a:pt x="745031" y="49761"/>
                </a:moveTo>
                <a:lnTo>
                  <a:pt x="733113" y="54127"/>
                </a:lnTo>
                <a:lnTo>
                  <a:pt x="722394" y="61547"/>
                </a:lnTo>
                <a:lnTo>
                  <a:pt x="712987" y="71758"/>
                </a:lnTo>
                <a:lnTo>
                  <a:pt x="733704" y="71758"/>
                </a:lnTo>
                <a:lnTo>
                  <a:pt x="742035" y="68577"/>
                </a:lnTo>
                <a:lnTo>
                  <a:pt x="759350" y="66516"/>
                </a:lnTo>
                <a:lnTo>
                  <a:pt x="787773" y="66516"/>
                </a:lnTo>
                <a:lnTo>
                  <a:pt x="785077" y="61756"/>
                </a:lnTo>
                <a:lnTo>
                  <a:pt x="775799" y="54734"/>
                </a:lnTo>
                <a:lnTo>
                  <a:pt x="762566" y="50727"/>
                </a:lnTo>
                <a:lnTo>
                  <a:pt x="745031" y="49761"/>
                </a:lnTo>
                <a:close/>
              </a:path>
              <a:path w="1003300" h="189230">
                <a:moveTo>
                  <a:pt x="860688" y="68329"/>
                </a:moveTo>
                <a:lnTo>
                  <a:pt x="842908" y="68329"/>
                </a:lnTo>
                <a:lnTo>
                  <a:pt x="834018" y="162204"/>
                </a:lnTo>
                <a:lnTo>
                  <a:pt x="835855" y="176671"/>
                </a:lnTo>
                <a:lnTo>
                  <a:pt x="843394" y="184950"/>
                </a:lnTo>
                <a:lnTo>
                  <a:pt x="856497" y="187201"/>
                </a:lnTo>
                <a:lnTo>
                  <a:pt x="863228" y="187201"/>
                </a:lnTo>
                <a:lnTo>
                  <a:pt x="869959" y="186312"/>
                </a:lnTo>
                <a:lnTo>
                  <a:pt x="875928" y="183772"/>
                </a:lnTo>
                <a:lnTo>
                  <a:pt x="873796" y="175136"/>
                </a:lnTo>
                <a:lnTo>
                  <a:pt x="853957" y="175136"/>
                </a:lnTo>
                <a:lnTo>
                  <a:pt x="850528" y="170056"/>
                </a:lnTo>
                <a:lnTo>
                  <a:pt x="852179" y="158118"/>
                </a:lnTo>
                <a:lnTo>
                  <a:pt x="860688" y="68329"/>
                </a:lnTo>
                <a:close/>
              </a:path>
              <a:path w="1003300" h="189230">
                <a:moveTo>
                  <a:pt x="873388" y="173485"/>
                </a:moveTo>
                <a:lnTo>
                  <a:pt x="869959" y="174374"/>
                </a:lnTo>
                <a:lnTo>
                  <a:pt x="864117" y="174374"/>
                </a:lnTo>
                <a:lnTo>
                  <a:pt x="853957" y="175136"/>
                </a:lnTo>
                <a:lnTo>
                  <a:pt x="873796" y="175136"/>
                </a:lnTo>
                <a:lnTo>
                  <a:pt x="873388" y="173485"/>
                </a:lnTo>
                <a:close/>
              </a:path>
              <a:path w="1003300" h="189230">
                <a:moveTo>
                  <a:pt x="885326" y="52073"/>
                </a:moveTo>
                <a:lnTo>
                  <a:pt x="827541" y="52073"/>
                </a:lnTo>
                <a:lnTo>
                  <a:pt x="826779" y="68329"/>
                </a:lnTo>
                <a:lnTo>
                  <a:pt x="883548" y="68329"/>
                </a:lnTo>
                <a:lnTo>
                  <a:pt x="885326" y="52073"/>
                </a:lnTo>
                <a:close/>
              </a:path>
              <a:path w="1003300" h="189230">
                <a:moveTo>
                  <a:pt x="866657" y="5845"/>
                </a:moveTo>
                <a:lnTo>
                  <a:pt x="847988" y="16132"/>
                </a:lnTo>
                <a:lnTo>
                  <a:pt x="844559" y="52073"/>
                </a:lnTo>
                <a:lnTo>
                  <a:pt x="862339" y="52073"/>
                </a:lnTo>
                <a:lnTo>
                  <a:pt x="866657" y="5845"/>
                </a:lnTo>
                <a:close/>
              </a:path>
              <a:path w="1003300" h="189230">
                <a:moveTo>
                  <a:pt x="900566" y="148720"/>
                </a:moveTo>
                <a:lnTo>
                  <a:pt x="904249" y="163653"/>
                </a:lnTo>
                <a:lnTo>
                  <a:pt x="911065" y="175046"/>
                </a:lnTo>
                <a:lnTo>
                  <a:pt x="920968" y="182985"/>
                </a:lnTo>
                <a:lnTo>
                  <a:pt x="933914" y="187553"/>
                </a:lnTo>
                <a:lnTo>
                  <a:pt x="954835" y="186696"/>
                </a:lnTo>
                <a:lnTo>
                  <a:pt x="971384" y="183743"/>
                </a:lnTo>
                <a:lnTo>
                  <a:pt x="983938" y="178730"/>
                </a:lnTo>
                <a:lnTo>
                  <a:pt x="991088" y="173096"/>
                </a:lnTo>
                <a:lnTo>
                  <a:pt x="957190" y="173096"/>
                </a:lnTo>
                <a:lnTo>
                  <a:pt x="940396" y="171881"/>
                </a:lnTo>
                <a:lnTo>
                  <a:pt x="928825" y="166385"/>
                </a:lnTo>
                <a:lnTo>
                  <a:pt x="921711" y="156731"/>
                </a:lnTo>
                <a:lnTo>
                  <a:pt x="900566" y="148720"/>
                </a:lnTo>
                <a:close/>
              </a:path>
              <a:path w="1003300" h="189230">
                <a:moveTo>
                  <a:pt x="966684" y="48923"/>
                </a:moveTo>
                <a:lnTo>
                  <a:pt x="924045" y="61776"/>
                </a:lnTo>
                <a:lnTo>
                  <a:pt x="911995" y="96447"/>
                </a:lnTo>
                <a:lnTo>
                  <a:pt x="915623" y="107094"/>
                </a:lnTo>
                <a:lnTo>
                  <a:pt x="923266" y="115531"/>
                </a:lnTo>
                <a:lnTo>
                  <a:pt x="934840" y="121698"/>
                </a:lnTo>
                <a:lnTo>
                  <a:pt x="950315" y="125685"/>
                </a:lnTo>
                <a:lnTo>
                  <a:pt x="968033" y="130658"/>
                </a:lnTo>
                <a:lnTo>
                  <a:pt x="979024" y="137277"/>
                </a:lnTo>
                <a:lnTo>
                  <a:pt x="983694" y="145862"/>
                </a:lnTo>
                <a:lnTo>
                  <a:pt x="979340" y="160228"/>
                </a:lnTo>
                <a:lnTo>
                  <a:pt x="970540" y="169090"/>
                </a:lnTo>
                <a:lnTo>
                  <a:pt x="957190" y="173096"/>
                </a:lnTo>
                <a:lnTo>
                  <a:pt x="991088" y="173096"/>
                </a:lnTo>
                <a:lnTo>
                  <a:pt x="992871" y="171690"/>
                </a:lnTo>
                <a:lnTo>
                  <a:pt x="998561" y="162658"/>
                </a:lnTo>
                <a:lnTo>
                  <a:pt x="1001383" y="151668"/>
                </a:lnTo>
                <a:lnTo>
                  <a:pt x="1001467" y="139087"/>
                </a:lnTo>
                <a:lnTo>
                  <a:pt x="997437" y="128612"/>
                </a:lnTo>
                <a:lnTo>
                  <a:pt x="989344" y="120186"/>
                </a:lnTo>
                <a:lnTo>
                  <a:pt x="977237" y="113753"/>
                </a:lnTo>
                <a:lnTo>
                  <a:pt x="955662" y="108065"/>
                </a:lnTo>
                <a:lnTo>
                  <a:pt x="941349" y="102398"/>
                </a:lnTo>
                <a:lnTo>
                  <a:pt x="933221" y="96447"/>
                </a:lnTo>
                <a:lnTo>
                  <a:pt x="930202" y="89907"/>
                </a:lnTo>
                <a:lnTo>
                  <a:pt x="935352" y="76385"/>
                </a:lnTo>
                <a:lnTo>
                  <a:pt x="945267" y="68575"/>
                </a:lnTo>
                <a:lnTo>
                  <a:pt x="998902" y="68475"/>
                </a:lnTo>
                <a:lnTo>
                  <a:pt x="992404" y="59125"/>
                </a:lnTo>
                <a:lnTo>
                  <a:pt x="981391" y="52200"/>
                </a:lnTo>
                <a:lnTo>
                  <a:pt x="966684" y="48923"/>
                </a:lnTo>
                <a:close/>
              </a:path>
              <a:path w="1003300" h="189230">
                <a:moveTo>
                  <a:pt x="998902" y="68475"/>
                </a:moveTo>
                <a:lnTo>
                  <a:pt x="964387" y="68475"/>
                </a:lnTo>
                <a:lnTo>
                  <a:pt x="976321" y="72667"/>
                </a:lnTo>
                <a:lnTo>
                  <a:pt x="982638" y="80906"/>
                </a:lnTo>
                <a:lnTo>
                  <a:pt x="984640" y="89665"/>
                </a:lnTo>
                <a:lnTo>
                  <a:pt x="1003309" y="83696"/>
                </a:lnTo>
                <a:lnTo>
                  <a:pt x="999713" y="69641"/>
                </a:lnTo>
                <a:lnTo>
                  <a:pt x="998902" y="68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38879" y="3506724"/>
            <a:ext cx="583565" cy="586740"/>
          </a:xfrm>
          <a:custGeom>
            <a:avLst/>
            <a:gdLst/>
            <a:ahLst/>
            <a:cxnLst/>
            <a:rect l="l" t="t" r="r" b="b"/>
            <a:pathLst>
              <a:path w="583564" h="586739">
                <a:moveTo>
                  <a:pt x="0" y="561085"/>
                </a:moveTo>
                <a:lnTo>
                  <a:pt x="77" y="567715"/>
                </a:lnTo>
                <a:lnTo>
                  <a:pt x="8728" y="577695"/>
                </a:lnTo>
                <a:lnTo>
                  <a:pt x="20421" y="584331"/>
                </a:lnTo>
                <a:lnTo>
                  <a:pt x="34289" y="586739"/>
                </a:lnTo>
                <a:lnTo>
                  <a:pt x="549303" y="586366"/>
                </a:lnTo>
                <a:lnTo>
                  <a:pt x="562606" y="581932"/>
                </a:lnTo>
                <a:lnTo>
                  <a:pt x="573362" y="573300"/>
                </a:lnTo>
                <a:lnTo>
                  <a:pt x="580338" y="561847"/>
                </a:lnTo>
                <a:lnTo>
                  <a:pt x="4317" y="561847"/>
                </a:lnTo>
                <a:lnTo>
                  <a:pt x="0" y="561085"/>
                </a:lnTo>
                <a:close/>
              </a:path>
              <a:path w="583564" h="586739">
                <a:moveTo>
                  <a:pt x="556133" y="0"/>
                </a:moveTo>
                <a:lnTo>
                  <a:pt x="557529" y="3555"/>
                </a:lnTo>
                <a:lnTo>
                  <a:pt x="558291" y="7873"/>
                </a:lnTo>
                <a:lnTo>
                  <a:pt x="557746" y="528465"/>
                </a:lnTo>
                <a:lnTo>
                  <a:pt x="553040" y="541673"/>
                </a:lnTo>
                <a:lnTo>
                  <a:pt x="544274" y="552261"/>
                </a:lnTo>
                <a:lnTo>
                  <a:pt x="532379" y="559296"/>
                </a:lnTo>
                <a:lnTo>
                  <a:pt x="518287" y="561847"/>
                </a:lnTo>
                <a:lnTo>
                  <a:pt x="580338" y="561847"/>
                </a:lnTo>
                <a:lnTo>
                  <a:pt x="580559" y="561484"/>
                </a:lnTo>
                <a:lnTo>
                  <a:pt x="583184" y="547496"/>
                </a:lnTo>
                <a:lnTo>
                  <a:pt x="582228" y="28567"/>
                </a:lnTo>
                <a:lnTo>
                  <a:pt x="576988" y="16104"/>
                </a:lnTo>
                <a:lnTo>
                  <a:pt x="567983" y="6248"/>
                </a:lnTo>
                <a:lnTo>
                  <a:pt x="556133" y="0"/>
                </a:lnTo>
                <a:close/>
              </a:path>
            </a:pathLst>
          </a:custGeom>
          <a:solidFill>
            <a:srgbClr val="284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04944" y="3506724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4746752" y="0"/>
                </a:moveTo>
                <a:lnTo>
                  <a:pt x="50291" y="0"/>
                </a:lnTo>
                <a:lnTo>
                  <a:pt x="45800" y="250"/>
                </a:lnTo>
                <a:lnTo>
                  <a:pt x="13300" y="20404"/>
                </a:lnTo>
                <a:lnTo>
                  <a:pt x="0" y="62991"/>
                </a:lnTo>
                <a:lnTo>
                  <a:pt x="199" y="541564"/>
                </a:lnTo>
                <a:lnTo>
                  <a:pt x="16288" y="582269"/>
                </a:lnTo>
                <a:lnTo>
                  <a:pt x="50291" y="598931"/>
                </a:lnTo>
                <a:lnTo>
                  <a:pt x="4751628" y="598646"/>
                </a:lnTo>
                <a:lnTo>
                  <a:pt x="4784295" y="578395"/>
                </a:lnTo>
                <a:lnTo>
                  <a:pt x="4797552" y="535939"/>
                </a:lnTo>
                <a:lnTo>
                  <a:pt x="4797324" y="56989"/>
                </a:lnTo>
                <a:lnTo>
                  <a:pt x="4781082" y="16540"/>
                </a:lnTo>
                <a:lnTo>
                  <a:pt x="4746752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04944" y="3506724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50291" y="0"/>
                </a:moveTo>
                <a:lnTo>
                  <a:pt x="4746752" y="0"/>
                </a:lnTo>
                <a:lnTo>
                  <a:pt x="4759547" y="2007"/>
                </a:lnTo>
                <a:lnTo>
                  <a:pt x="4789032" y="28046"/>
                </a:lnTo>
                <a:lnTo>
                  <a:pt x="4797552" y="535939"/>
                </a:lnTo>
                <a:lnTo>
                  <a:pt x="4795947" y="551709"/>
                </a:lnTo>
                <a:lnTo>
                  <a:pt x="4775036" y="588292"/>
                </a:lnTo>
                <a:lnTo>
                  <a:pt x="50291" y="598931"/>
                </a:lnTo>
                <a:lnTo>
                  <a:pt x="37652" y="596908"/>
                </a:lnTo>
                <a:lnTo>
                  <a:pt x="8386" y="570685"/>
                </a:lnTo>
                <a:lnTo>
                  <a:pt x="0" y="62991"/>
                </a:lnTo>
                <a:lnTo>
                  <a:pt x="1614" y="47162"/>
                </a:lnTo>
                <a:lnTo>
                  <a:pt x="22549" y="10506"/>
                </a:lnTo>
                <a:lnTo>
                  <a:pt x="50291" y="0"/>
                </a:lnTo>
                <a:close/>
              </a:path>
            </a:pathLst>
          </a:custGeom>
          <a:ln w="9144">
            <a:solidFill>
              <a:srgbClr val="9A9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608766" y="2174789"/>
            <a:ext cx="365722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-5" err="1">
                <a:solidFill>
                  <a:srgbClr val="30352F"/>
                </a:solidFill>
                <a:latin typeface="微软雅黑"/>
                <a:cs typeface="微软雅黑"/>
              </a:rPr>
              <a:t>市场分析</a:t>
            </a:r>
            <a:r>
              <a:rPr lang="zh-CN" altLang="en-US" sz="2200" spc="-5">
                <a:solidFill>
                  <a:srgbClr val="30352F"/>
                </a:solidFill>
                <a:latin typeface="微软雅黑"/>
                <a:cs typeface="微软雅黑"/>
              </a:rPr>
              <a:t> </a:t>
            </a:r>
            <a:r>
              <a:rPr lang="en-CA" sz="2200" b="1"/>
              <a:t>Market Analysis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616649" y="3609594"/>
            <a:ext cx="3230048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-5" err="1">
                <a:solidFill>
                  <a:srgbClr val="30352F"/>
                </a:solidFill>
                <a:latin typeface="微软雅黑"/>
                <a:cs typeface="微软雅黑"/>
              </a:rPr>
              <a:t>项目团队</a:t>
            </a:r>
            <a:r>
              <a:rPr lang="zh-CN" altLang="en-US" sz="2200" spc="-5">
                <a:solidFill>
                  <a:srgbClr val="30352F"/>
                </a:solidFill>
                <a:latin typeface="微软雅黑"/>
                <a:cs typeface="微软雅黑"/>
              </a:rPr>
              <a:t> </a:t>
            </a:r>
            <a:r>
              <a:rPr lang="en-CA" sz="2200" b="1"/>
              <a:t>Team</a:t>
            </a:r>
          </a:p>
          <a:p>
            <a:pPr marL="12700">
              <a:lnSpc>
                <a:spcPct val="100000"/>
              </a:lnSpc>
            </a:pPr>
            <a:endParaRPr sz="2200">
              <a:latin typeface="微软雅黑"/>
              <a:cs typeface="微软雅黑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761740" y="4319016"/>
            <a:ext cx="583565" cy="586740"/>
          </a:xfrm>
          <a:custGeom>
            <a:avLst/>
            <a:gdLst/>
            <a:ahLst/>
            <a:cxnLst/>
            <a:rect l="l" t="t" r="r" b="b"/>
            <a:pathLst>
              <a:path w="583564" h="586739">
                <a:moveTo>
                  <a:pt x="0" y="561086"/>
                </a:moveTo>
                <a:lnTo>
                  <a:pt x="77" y="567715"/>
                </a:lnTo>
                <a:lnTo>
                  <a:pt x="8728" y="577695"/>
                </a:lnTo>
                <a:lnTo>
                  <a:pt x="20421" y="584331"/>
                </a:lnTo>
                <a:lnTo>
                  <a:pt x="34289" y="586739"/>
                </a:lnTo>
                <a:lnTo>
                  <a:pt x="549303" y="586366"/>
                </a:lnTo>
                <a:lnTo>
                  <a:pt x="562606" y="581932"/>
                </a:lnTo>
                <a:lnTo>
                  <a:pt x="573362" y="573300"/>
                </a:lnTo>
                <a:lnTo>
                  <a:pt x="580338" y="561848"/>
                </a:lnTo>
                <a:lnTo>
                  <a:pt x="4317" y="561848"/>
                </a:lnTo>
                <a:lnTo>
                  <a:pt x="0" y="561086"/>
                </a:lnTo>
                <a:close/>
              </a:path>
              <a:path w="583564" h="586739">
                <a:moveTo>
                  <a:pt x="556132" y="0"/>
                </a:moveTo>
                <a:lnTo>
                  <a:pt x="557529" y="3556"/>
                </a:lnTo>
                <a:lnTo>
                  <a:pt x="558291" y="7874"/>
                </a:lnTo>
                <a:lnTo>
                  <a:pt x="557746" y="528465"/>
                </a:lnTo>
                <a:lnTo>
                  <a:pt x="553040" y="541673"/>
                </a:lnTo>
                <a:lnTo>
                  <a:pt x="544274" y="552261"/>
                </a:lnTo>
                <a:lnTo>
                  <a:pt x="532379" y="559296"/>
                </a:lnTo>
                <a:lnTo>
                  <a:pt x="518287" y="561848"/>
                </a:lnTo>
                <a:lnTo>
                  <a:pt x="580338" y="561848"/>
                </a:lnTo>
                <a:lnTo>
                  <a:pt x="580559" y="561484"/>
                </a:lnTo>
                <a:lnTo>
                  <a:pt x="583183" y="547497"/>
                </a:lnTo>
                <a:lnTo>
                  <a:pt x="582228" y="28567"/>
                </a:lnTo>
                <a:lnTo>
                  <a:pt x="576988" y="16104"/>
                </a:lnTo>
                <a:lnTo>
                  <a:pt x="567983" y="6248"/>
                </a:lnTo>
                <a:lnTo>
                  <a:pt x="556132" y="0"/>
                </a:lnTo>
                <a:close/>
              </a:path>
            </a:pathLst>
          </a:custGeom>
          <a:solidFill>
            <a:srgbClr val="284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27803" y="4319016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4746752" y="0"/>
                </a:moveTo>
                <a:lnTo>
                  <a:pt x="50291" y="0"/>
                </a:lnTo>
                <a:lnTo>
                  <a:pt x="45800" y="250"/>
                </a:lnTo>
                <a:lnTo>
                  <a:pt x="13300" y="20404"/>
                </a:lnTo>
                <a:lnTo>
                  <a:pt x="0" y="62992"/>
                </a:lnTo>
                <a:lnTo>
                  <a:pt x="199" y="541564"/>
                </a:lnTo>
                <a:lnTo>
                  <a:pt x="16288" y="582269"/>
                </a:lnTo>
                <a:lnTo>
                  <a:pt x="50291" y="598932"/>
                </a:lnTo>
                <a:lnTo>
                  <a:pt x="4751628" y="598646"/>
                </a:lnTo>
                <a:lnTo>
                  <a:pt x="4784295" y="578395"/>
                </a:lnTo>
                <a:lnTo>
                  <a:pt x="4797552" y="535939"/>
                </a:lnTo>
                <a:lnTo>
                  <a:pt x="4797324" y="56989"/>
                </a:lnTo>
                <a:lnTo>
                  <a:pt x="4781082" y="16540"/>
                </a:lnTo>
                <a:lnTo>
                  <a:pt x="4746752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27803" y="4319016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50291" y="0"/>
                </a:moveTo>
                <a:lnTo>
                  <a:pt x="4746752" y="0"/>
                </a:lnTo>
                <a:lnTo>
                  <a:pt x="4759547" y="2007"/>
                </a:lnTo>
                <a:lnTo>
                  <a:pt x="4789032" y="28046"/>
                </a:lnTo>
                <a:lnTo>
                  <a:pt x="4797552" y="535939"/>
                </a:lnTo>
                <a:lnTo>
                  <a:pt x="4795947" y="551709"/>
                </a:lnTo>
                <a:lnTo>
                  <a:pt x="4775036" y="588292"/>
                </a:lnTo>
                <a:lnTo>
                  <a:pt x="50291" y="598932"/>
                </a:lnTo>
                <a:lnTo>
                  <a:pt x="37652" y="596908"/>
                </a:lnTo>
                <a:lnTo>
                  <a:pt x="8386" y="570685"/>
                </a:lnTo>
                <a:lnTo>
                  <a:pt x="0" y="62992"/>
                </a:lnTo>
                <a:lnTo>
                  <a:pt x="1614" y="47162"/>
                </a:lnTo>
                <a:lnTo>
                  <a:pt x="22549" y="10506"/>
                </a:lnTo>
                <a:lnTo>
                  <a:pt x="50291" y="0"/>
                </a:lnTo>
                <a:close/>
              </a:path>
            </a:pathLst>
          </a:custGeom>
          <a:ln w="9143">
            <a:solidFill>
              <a:srgbClr val="9A9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648579" y="4458038"/>
            <a:ext cx="434104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err="1">
                <a:solidFill>
                  <a:srgbClr val="30352F"/>
                </a:solidFill>
                <a:latin typeface="微软雅黑"/>
                <a:cs typeface="微软雅黑"/>
              </a:rPr>
              <a:t>实施计划</a:t>
            </a:r>
            <a:r>
              <a:rPr lang="zh-CN" altLang="en-US" sz="2200" spc="-5">
                <a:solidFill>
                  <a:srgbClr val="30352F"/>
                </a:solidFill>
                <a:latin typeface="微软雅黑"/>
                <a:cs typeface="微软雅黑"/>
              </a:rPr>
              <a:t> </a:t>
            </a:r>
            <a:r>
              <a:rPr lang="en-CA" sz="2400"/>
              <a:t>Implementation </a:t>
            </a:r>
            <a:r>
              <a:rPr lang="en-US" altLang="zh-CN" sz="2200" spc="-5">
                <a:solidFill>
                  <a:srgbClr val="30352F"/>
                </a:solidFill>
                <a:latin typeface="微软雅黑"/>
                <a:cs typeface="微软雅黑"/>
              </a:rPr>
              <a:t>Plan</a:t>
            </a:r>
            <a:r>
              <a:rPr lang="zh-CN" altLang="en-US" sz="2200" spc="-5">
                <a:solidFill>
                  <a:srgbClr val="30352F"/>
                </a:solidFill>
                <a:latin typeface="微软雅黑"/>
                <a:cs typeface="微软雅黑"/>
              </a:rPr>
              <a:t> 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66311" y="5116068"/>
            <a:ext cx="583565" cy="586740"/>
          </a:xfrm>
          <a:custGeom>
            <a:avLst/>
            <a:gdLst/>
            <a:ahLst/>
            <a:cxnLst/>
            <a:rect l="l" t="t" r="r" b="b"/>
            <a:pathLst>
              <a:path w="583564" h="586739">
                <a:moveTo>
                  <a:pt x="0" y="561073"/>
                </a:moveTo>
                <a:lnTo>
                  <a:pt x="86" y="567720"/>
                </a:lnTo>
                <a:lnTo>
                  <a:pt x="8737" y="577707"/>
                </a:lnTo>
                <a:lnTo>
                  <a:pt x="20427" y="584337"/>
                </a:lnTo>
                <a:lnTo>
                  <a:pt x="34290" y="586740"/>
                </a:lnTo>
                <a:lnTo>
                  <a:pt x="549285" y="586368"/>
                </a:lnTo>
                <a:lnTo>
                  <a:pt x="562594" y="581931"/>
                </a:lnTo>
                <a:lnTo>
                  <a:pt x="573356" y="573295"/>
                </a:lnTo>
                <a:lnTo>
                  <a:pt x="580375" y="561784"/>
                </a:lnTo>
                <a:lnTo>
                  <a:pt x="4318" y="561784"/>
                </a:lnTo>
                <a:lnTo>
                  <a:pt x="0" y="561073"/>
                </a:lnTo>
                <a:close/>
              </a:path>
              <a:path w="583564" h="586739">
                <a:moveTo>
                  <a:pt x="556133" y="0"/>
                </a:moveTo>
                <a:lnTo>
                  <a:pt x="557530" y="3556"/>
                </a:lnTo>
                <a:lnTo>
                  <a:pt x="558292" y="7874"/>
                </a:lnTo>
                <a:lnTo>
                  <a:pt x="557757" y="528424"/>
                </a:lnTo>
                <a:lnTo>
                  <a:pt x="553063" y="541636"/>
                </a:lnTo>
                <a:lnTo>
                  <a:pt x="544298" y="552215"/>
                </a:lnTo>
                <a:lnTo>
                  <a:pt x="532394" y="559238"/>
                </a:lnTo>
                <a:lnTo>
                  <a:pt x="518287" y="561784"/>
                </a:lnTo>
                <a:lnTo>
                  <a:pt x="580375" y="561784"/>
                </a:lnTo>
                <a:lnTo>
                  <a:pt x="580558" y="561484"/>
                </a:lnTo>
                <a:lnTo>
                  <a:pt x="583184" y="547522"/>
                </a:lnTo>
                <a:lnTo>
                  <a:pt x="582228" y="28567"/>
                </a:lnTo>
                <a:lnTo>
                  <a:pt x="576988" y="16104"/>
                </a:lnTo>
                <a:lnTo>
                  <a:pt x="567983" y="6248"/>
                </a:lnTo>
                <a:lnTo>
                  <a:pt x="556133" y="0"/>
                </a:lnTo>
                <a:close/>
              </a:path>
            </a:pathLst>
          </a:custGeom>
          <a:solidFill>
            <a:srgbClr val="284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32376" y="5116068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4746752" y="0"/>
                </a:moveTo>
                <a:lnTo>
                  <a:pt x="50291" y="0"/>
                </a:lnTo>
                <a:lnTo>
                  <a:pt x="45800" y="250"/>
                </a:lnTo>
                <a:lnTo>
                  <a:pt x="13300" y="20404"/>
                </a:lnTo>
                <a:lnTo>
                  <a:pt x="0" y="62992"/>
                </a:lnTo>
                <a:lnTo>
                  <a:pt x="196" y="541554"/>
                </a:lnTo>
                <a:lnTo>
                  <a:pt x="16275" y="582246"/>
                </a:lnTo>
                <a:lnTo>
                  <a:pt x="50291" y="598932"/>
                </a:lnTo>
                <a:lnTo>
                  <a:pt x="4751590" y="598650"/>
                </a:lnTo>
                <a:lnTo>
                  <a:pt x="4784283" y="578403"/>
                </a:lnTo>
                <a:lnTo>
                  <a:pt x="4797552" y="535990"/>
                </a:lnTo>
                <a:lnTo>
                  <a:pt x="4797324" y="56989"/>
                </a:lnTo>
                <a:lnTo>
                  <a:pt x="4781082" y="16540"/>
                </a:lnTo>
                <a:lnTo>
                  <a:pt x="4746752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532376" y="5116068"/>
            <a:ext cx="4798060" cy="599440"/>
          </a:xfrm>
          <a:custGeom>
            <a:avLst/>
            <a:gdLst/>
            <a:ahLst/>
            <a:cxnLst/>
            <a:rect l="l" t="t" r="r" b="b"/>
            <a:pathLst>
              <a:path w="4798059" h="599439">
                <a:moveTo>
                  <a:pt x="50291" y="0"/>
                </a:moveTo>
                <a:lnTo>
                  <a:pt x="4746752" y="0"/>
                </a:lnTo>
                <a:lnTo>
                  <a:pt x="4759547" y="2007"/>
                </a:lnTo>
                <a:lnTo>
                  <a:pt x="4789032" y="28046"/>
                </a:lnTo>
                <a:lnTo>
                  <a:pt x="4797552" y="535990"/>
                </a:lnTo>
                <a:lnTo>
                  <a:pt x="4795945" y="551734"/>
                </a:lnTo>
                <a:lnTo>
                  <a:pt x="4775016" y="588301"/>
                </a:lnTo>
                <a:lnTo>
                  <a:pt x="50291" y="598932"/>
                </a:lnTo>
                <a:lnTo>
                  <a:pt x="37646" y="596904"/>
                </a:lnTo>
                <a:lnTo>
                  <a:pt x="8373" y="570656"/>
                </a:lnTo>
                <a:lnTo>
                  <a:pt x="0" y="62992"/>
                </a:lnTo>
                <a:lnTo>
                  <a:pt x="1614" y="47162"/>
                </a:lnTo>
                <a:lnTo>
                  <a:pt x="22549" y="10506"/>
                </a:lnTo>
                <a:lnTo>
                  <a:pt x="50291" y="0"/>
                </a:lnTo>
                <a:close/>
              </a:path>
            </a:pathLst>
          </a:custGeom>
          <a:ln w="9143">
            <a:solidFill>
              <a:srgbClr val="9A9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843273" y="1379968"/>
            <a:ext cx="274955" cy="4288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">
              <a:lnSpc>
                <a:spcPct val="100000"/>
              </a:lnSpc>
            </a:pPr>
            <a:r>
              <a:rPr sz="3200">
                <a:solidFill>
                  <a:srgbClr val="0070C0"/>
                </a:solidFill>
                <a:latin typeface="Times New Roman"/>
                <a:cs typeface="Times New Roman"/>
              </a:rPr>
              <a:t>1</a:t>
            </a:r>
          </a:p>
          <a:p>
            <a:pPr marL="35560">
              <a:lnSpc>
                <a:spcPct val="100000"/>
              </a:lnSpc>
              <a:spcBef>
                <a:spcPts val="1695"/>
              </a:spcBef>
            </a:pPr>
            <a:r>
              <a:rPr sz="3200">
                <a:solidFill>
                  <a:srgbClr val="0070C0"/>
                </a:solidFill>
                <a:latin typeface="Times New Roman"/>
                <a:cs typeface="Times New Roman"/>
              </a:rPr>
              <a:t>2</a:t>
            </a: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3200">
                <a:solidFill>
                  <a:srgbClr val="0070C0"/>
                </a:solidFill>
                <a:latin typeface="Times New Roman"/>
                <a:cs typeface="Times New Roman"/>
              </a:rPr>
              <a:t>3</a:t>
            </a:r>
          </a:p>
          <a:p>
            <a:pPr marL="30480">
              <a:lnSpc>
                <a:spcPct val="100000"/>
              </a:lnSpc>
              <a:spcBef>
                <a:spcPts val="1989"/>
              </a:spcBef>
            </a:pPr>
            <a:r>
              <a:rPr sz="3200">
                <a:solidFill>
                  <a:srgbClr val="0070C0"/>
                </a:solidFill>
                <a:latin typeface="Times New Roman"/>
                <a:cs typeface="Times New Roman"/>
              </a:rPr>
              <a:t>4</a:t>
            </a:r>
          </a:p>
          <a:p>
            <a:pPr marL="52705">
              <a:lnSpc>
                <a:spcPct val="100000"/>
              </a:lnSpc>
              <a:spcBef>
                <a:spcPts val="2555"/>
              </a:spcBef>
            </a:pPr>
            <a:r>
              <a:rPr sz="3200">
                <a:solidFill>
                  <a:srgbClr val="0070C0"/>
                </a:solidFill>
                <a:latin typeface="Times New Roman"/>
                <a:cs typeface="Times New Roman"/>
              </a:rPr>
              <a:t>5</a:t>
            </a:r>
          </a:p>
          <a:p>
            <a:pPr marL="58419">
              <a:lnSpc>
                <a:spcPct val="100000"/>
              </a:lnSpc>
              <a:spcBef>
                <a:spcPts val="2440"/>
              </a:spcBef>
            </a:pPr>
            <a:r>
              <a:rPr sz="3200">
                <a:solidFill>
                  <a:srgbClr val="0070C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730877" y="5209138"/>
            <a:ext cx="2511425" cy="338554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/>
          <a:lstStyle>
            <a:defPPr>
              <a:defRPr lang="zh-CN"/>
            </a:defPPr>
          </a:lstStyle>
          <a:p>
            <a:r>
              <a:rPr lang="zh-TW" altLang="en-US" sz="2200"/>
              <a:t>风险分析</a:t>
            </a:r>
            <a:r>
              <a:rPr lang="zh-CN" altLang="en-US" sz="2200"/>
              <a:t> </a:t>
            </a:r>
            <a:endParaRPr sz="2200"/>
          </a:p>
        </p:txBody>
      </p:sp>
      <p:sp>
        <p:nvSpPr>
          <p:cNvPr id="39" name="object 39"/>
          <p:cNvSpPr txBox="1">
            <a:spLocks noGrp="1"/>
          </p:cNvSpPr>
          <p:nvPr>
            <p:ph type="title" idx="4294967295"/>
          </p:nvPr>
        </p:nvSpPr>
        <p:spPr>
          <a:xfrm>
            <a:off x="4608766" y="1378518"/>
            <a:ext cx="4590415" cy="394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4"/>
              </a:lnSpc>
            </a:pPr>
            <a:r>
              <a:rPr sz="2200" b="0" spc="-5" err="1">
                <a:latin typeface="微软雅黑"/>
                <a:cs typeface="微软雅黑"/>
              </a:rPr>
              <a:t>项目背景</a:t>
            </a:r>
            <a:r>
              <a:rPr lang="zh-CN" altLang="en-US" sz="2200" b="0" spc="-5">
                <a:latin typeface="微软雅黑"/>
                <a:cs typeface="微软雅黑"/>
              </a:rPr>
              <a:t> </a:t>
            </a:r>
            <a:r>
              <a:rPr lang="en-CA" sz="2200" b="1"/>
              <a:t>Background</a:t>
            </a:r>
            <a:endParaRPr sz="2200" b="0" spc="-5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2406522" y="2324576"/>
            <a:ext cx="9404478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spc="-5" err="1"/>
              <a:t>项目背景</a:t>
            </a:r>
            <a:r>
              <a:rPr lang="zh-CN" altLang="en-US" sz="4200" spc="-5"/>
              <a:t> </a:t>
            </a:r>
            <a:r>
              <a:rPr lang="en-CA" sz="4200" b="1"/>
              <a:t>Background</a:t>
            </a:r>
            <a:endParaRPr sz="4200"/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2E94B0EE-F5F1-D8EE-D0A7-BD23729A7721}"/>
              </a:ext>
            </a:extLst>
          </p:cNvPr>
          <p:cNvSpPr txBox="1"/>
          <p:nvPr/>
        </p:nvSpPr>
        <p:spPr>
          <a:xfrm>
            <a:off x="1089960" y="1659285"/>
            <a:ext cx="755650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11500" b="1" spc="-5">
                <a:solidFill>
                  <a:schemeClr val="accent1"/>
                </a:solidFill>
                <a:latin typeface="Times New Roman"/>
                <a:cs typeface="Times New Roman"/>
              </a:rPr>
              <a:t>1</a:t>
            </a:r>
            <a:endParaRPr sz="115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60F3-C236-2C16-A427-7DF53B37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C7D617-5E21-58B9-E053-74A069B1184F}"/>
              </a:ext>
            </a:extLst>
          </p:cNvPr>
          <p:cNvSpPr txBox="1"/>
          <p:nvPr/>
        </p:nvSpPr>
        <p:spPr>
          <a:xfrm>
            <a:off x="609600" y="838200"/>
            <a:ext cx="10287000" cy="54508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>
                <a:ea typeface="新細明體"/>
              </a:rPr>
              <a:t>行业现状 </a:t>
            </a:r>
            <a:r>
              <a:rPr lang="en-US" altLang="zh-TW" b="1">
                <a:ea typeface="新細明體"/>
              </a:rPr>
              <a:t>(</a:t>
            </a:r>
            <a:r>
              <a:rPr lang="en-CA" b="1"/>
              <a:t>Industry Overview)</a:t>
            </a:r>
            <a:r>
              <a:rPr lang="en-CA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/>
              <a:t>RNA</a:t>
            </a:r>
            <a:r>
              <a:rPr lang="zh-TW" altLang="en-US">
                <a:ea typeface="新細明體"/>
              </a:rPr>
              <a:t>和</a:t>
            </a:r>
            <a:r>
              <a:rPr lang="en-CA"/>
              <a:t>LNP</a:t>
            </a:r>
            <a:r>
              <a:rPr lang="zh-TW" altLang="en-US">
                <a:ea typeface="新細明體"/>
              </a:rPr>
              <a:t>技术的快速发展已成为基因治疗、疫苗和抗疫病治疗的核心推动力。</a:t>
            </a:r>
            <a:endParaRPr lang="zh-TW" altLang="en-US">
              <a:ea typeface="新細明體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lang="en-CA"/>
              <a:t>     RNA and LNP technologies are rapidly becoming key drivers of gene therapy, vaccine development, and antiviral treatments.</a:t>
            </a:r>
            <a:endParaRPr lang="en-CA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CA" b="1">
                <a:solidFill>
                  <a:srgbClr val="FF0000"/>
                </a:solidFill>
                <a:ea typeface="新細明體"/>
              </a:rPr>
              <a:t>肺靶向</a:t>
            </a:r>
            <a:r>
              <a:rPr lang="zh-TW" altLang="en-US" b="1">
                <a:solidFill>
                  <a:srgbClr val="FF0000"/>
                </a:solidFill>
                <a:ea typeface="新細明體"/>
              </a:rPr>
              <a:t>递送技术痛点与机会 </a:t>
            </a:r>
            <a:r>
              <a:rPr lang="en-US" altLang="zh-TW" b="1">
                <a:solidFill>
                  <a:srgbClr val="FF0000"/>
                </a:solidFill>
                <a:ea typeface="新細明體"/>
              </a:rPr>
              <a:t>(</a:t>
            </a:r>
            <a:r>
              <a:rPr lang="en-CA" b="1">
                <a:solidFill>
                  <a:srgbClr val="FF0000"/>
                </a:solidFill>
              </a:rPr>
              <a:t>Problems and Opportunities)</a:t>
            </a:r>
            <a:r>
              <a:rPr lang="en-CA">
                <a:solidFill>
                  <a:srgbClr val="FF0000"/>
                </a:solidFill>
              </a:rPr>
              <a:t>:</a:t>
            </a:r>
            <a:endParaRPr lang="en-CA">
              <a:solidFill>
                <a:srgbClr val="FF0000"/>
              </a:solidFill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>
                <a:ea typeface="新細明體"/>
              </a:rPr>
              <a:t>当前市场对高</a:t>
            </a:r>
            <a:r>
              <a:rPr lang="zh-TW" altLang="en-US">
                <a:solidFill>
                  <a:srgbClr val="FF0000"/>
                </a:solidFill>
                <a:ea typeface="新細明體"/>
              </a:rPr>
              <a:t>稳定性、</a:t>
            </a:r>
            <a:r>
              <a:rPr lang="zh-TW" altLang="en-US" b="1">
                <a:solidFill>
                  <a:srgbClr val="FF0000"/>
                </a:solidFill>
                <a:ea typeface="新細明體"/>
              </a:rPr>
              <a:t>精准</a:t>
            </a:r>
            <a:r>
              <a:rPr lang="zh-TW" altLang="en-US">
                <a:solidFill>
                  <a:srgbClr val="FF0000"/>
                </a:solidFill>
                <a:ea typeface="新細明體"/>
              </a:rPr>
              <a:t>传递</a:t>
            </a:r>
            <a:r>
              <a:rPr lang="zh-TW" altLang="en-US">
                <a:ea typeface="新細明體"/>
              </a:rPr>
              <a:t>的</a:t>
            </a:r>
            <a:r>
              <a:rPr lang="en-CA"/>
              <a:t>RNA</a:t>
            </a:r>
            <a:r>
              <a:rPr lang="zh-TW" altLang="en-US">
                <a:ea typeface="新細明體"/>
              </a:rPr>
              <a:t>传送系统需求激增。</a:t>
            </a:r>
            <a:endParaRPr lang="zh-TW" altLang="en-US">
              <a:ea typeface="新細明體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lang="en-CA"/>
              <a:t>     There is a surging market demand for highly stable and precise RNA delivery systems.</a:t>
            </a:r>
            <a:endParaRPr lang="en-CA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>
                <a:ea typeface="新細明體"/>
              </a:rPr>
              <a:t>冷链物流成本高，限制了传统</a:t>
            </a:r>
            <a:r>
              <a:rPr lang="en-CA"/>
              <a:t>LNP</a:t>
            </a:r>
            <a:r>
              <a:rPr lang="zh-TW" altLang="en-US">
                <a:ea typeface="新細明體"/>
              </a:rPr>
              <a:t>产品的市场普及。</a:t>
            </a:r>
            <a:endParaRPr lang="zh-TW" altLang="en-US">
              <a:ea typeface="新細明體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lang="en-CA"/>
              <a:t>     High cold-chain logistics costs hinder the market penetration of traditional LNP products.</a:t>
            </a:r>
            <a:endParaRPr lang="en-CA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>
                <a:ea typeface="新細明體"/>
              </a:rPr>
              <a:t>我们技术解决方案 </a:t>
            </a:r>
            <a:r>
              <a:rPr lang="en-US" altLang="zh-TW" b="1">
                <a:ea typeface="新細明體"/>
              </a:rPr>
              <a:t>(</a:t>
            </a:r>
            <a:r>
              <a:rPr lang="en-CA" b="1"/>
              <a:t>Our Solution)</a:t>
            </a:r>
            <a:r>
              <a:rPr lang="en-CA"/>
              <a:t>:</a:t>
            </a:r>
            <a:endParaRPr lang="en-CA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>
                <a:ea typeface="新細明體"/>
              </a:rPr>
              <a:t>利用</a:t>
            </a:r>
            <a:r>
              <a:rPr lang="en-CA" err="1"/>
              <a:t>Ebovir</a:t>
            </a:r>
            <a:r>
              <a:rPr lang="zh-TW" altLang="en-US">
                <a:ea typeface="新細明體"/>
              </a:rPr>
              <a:t>的专利技术（如</a:t>
            </a:r>
            <a:r>
              <a:rPr lang="zh-TW" altLang="en-US">
                <a:solidFill>
                  <a:srgbClr val="FF0000"/>
                </a:solidFill>
                <a:ea typeface="新細明體"/>
              </a:rPr>
              <a:t>肺靶向非低温稳定脂质纳米颗粒</a:t>
            </a:r>
            <a:r>
              <a:rPr lang="zh-TW" altLang="en-US">
                <a:ea typeface="新細明體"/>
              </a:rPr>
              <a:t>），提供更高效、更稳定的精准递送解决方案</a:t>
            </a:r>
            <a:r>
              <a:rPr lang="zh-CN" altLang="en-US">
                <a:ea typeface="新細明體"/>
                <a:cs typeface="Calibri"/>
              </a:rPr>
              <a:t> </a:t>
            </a:r>
            <a:r>
              <a:rPr lang="en-CA" altLang="zh-CN">
                <a:ea typeface="新細明體"/>
                <a:cs typeface="Calibri"/>
              </a:rPr>
              <a:t> </a:t>
            </a:r>
            <a:r>
              <a:rPr lang="en-CA"/>
              <a:t>Leveraging </a:t>
            </a:r>
            <a:r>
              <a:rPr lang="en-CA" err="1"/>
              <a:t>Ebovir’s</a:t>
            </a:r>
            <a:r>
              <a:rPr lang="en-CA"/>
              <a:t> patented technology (e.g., lung-targeted stable lipid nanoparticles) to provide more efficient and stable delivery solutions.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6A7CF2-AF47-03BD-27ED-9B1DEEAA9D53}"/>
              </a:ext>
            </a:extLst>
          </p:cNvPr>
          <p:cNvSpPr txBox="1"/>
          <p:nvPr/>
        </p:nvSpPr>
        <p:spPr>
          <a:xfrm>
            <a:off x="381000" y="22860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200" b="1"/>
              <a:t>项目背景 </a:t>
            </a:r>
            <a:r>
              <a:rPr lang="en-US" altLang="zh-TW" sz="2200" b="1"/>
              <a:t>(</a:t>
            </a:r>
            <a:r>
              <a:rPr lang="en-CA" sz="2200" b="1"/>
              <a:t>Project Background)</a:t>
            </a:r>
          </a:p>
        </p:txBody>
      </p:sp>
    </p:spTree>
    <p:extLst>
      <p:ext uri="{BB962C8B-B14F-4D97-AF65-F5344CB8AC3E}">
        <p14:creationId xmlns:p14="http://schemas.microsoft.com/office/powerpoint/2010/main" val="2204632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29C00-B196-B2F0-9312-50682768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3777DC-BE54-400B-D6A7-D7EA993299F7}"/>
              </a:ext>
            </a:extLst>
          </p:cNvPr>
          <p:cNvSpPr txBox="1"/>
          <p:nvPr/>
        </p:nvSpPr>
        <p:spPr>
          <a:xfrm>
            <a:off x="2668675" y="1348765"/>
            <a:ext cx="6407523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CA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targeted Broad spectrum antiviral RNA/LNP Therapy</a:t>
            </a:r>
            <a:endParaRPr lang="en-US" altLang="zh-CN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9D0E869C-E2D5-1BB0-AE5D-656FFB6C5806}"/>
              </a:ext>
            </a:extLst>
          </p:cNvPr>
          <p:cNvSpPr txBox="1">
            <a:spLocks/>
          </p:cNvSpPr>
          <p:nvPr/>
        </p:nvSpPr>
        <p:spPr>
          <a:xfrm>
            <a:off x="352296" y="146953"/>
            <a:ext cx="1117478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200" b="1" i="0">
                <a:solidFill>
                  <a:srgbClr val="30352F"/>
                </a:solidFill>
                <a:latin typeface="Microsoft JhengHei"/>
                <a:ea typeface="+mn-ea"/>
                <a:cs typeface="Microsoft JhengHe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kern="0" dirty="0">
                <a:ea typeface="新細明體"/>
              </a:rPr>
              <a:t>我们技术解决方案</a:t>
            </a:r>
            <a:r>
              <a:rPr lang="en-US" altLang="zh-TW" kern="0" dirty="0">
                <a:ea typeface="新細明體"/>
              </a:rPr>
              <a:t> </a:t>
            </a:r>
            <a:r>
              <a:rPr lang="zh-TW" altLang="en-US" kern="0" dirty="0">
                <a:ea typeface="新細明體"/>
              </a:rPr>
              <a:t>管线</a:t>
            </a:r>
            <a:r>
              <a:rPr lang="zh-TW" altLang="en-CA" kern="0" dirty="0">
                <a:ea typeface="新細明體"/>
              </a:rPr>
              <a:t>案例</a:t>
            </a:r>
            <a:r>
              <a:rPr lang="zh-CN" altLang="en-US" kern="0" dirty="0">
                <a:ea typeface="新細明體"/>
              </a:rPr>
              <a:t> 一</a:t>
            </a:r>
            <a:r>
              <a:rPr lang="zh-TW" altLang="en-US" kern="0" dirty="0">
                <a:ea typeface="新細明體"/>
              </a:rPr>
              <a:t> </a:t>
            </a:r>
            <a:r>
              <a:rPr lang="en-US" altLang="zh-TW" kern="0" dirty="0">
                <a:ea typeface="新細明體"/>
              </a:rPr>
              <a:t>(</a:t>
            </a:r>
            <a:r>
              <a:rPr lang="en-CA" kern="0" dirty="0"/>
              <a:t>Our Solution</a:t>
            </a:r>
            <a:r>
              <a:rPr lang="zh-CN" altLang="en-US" kern="0" dirty="0"/>
              <a:t> </a:t>
            </a:r>
            <a:r>
              <a:rPr lang="en-US" altLang="zh-CN" kern="0" dirty="0"/>
              <a:t>Case:</a:t>
            </a:r>
            <a:r>
              <a:rPr lang="zh-CN" altLang="en-US" kern="0" dirty="0"/>
              <a:t> </a:t>
            </a:r>
            <a:r>
              <a:rPr lang="en-US" altLang="zh-CN" kern="0" dirty="0"/>
              <a:t>pipeline</a:t>
            </a:r>
            <a:r>
              <a:rPr lang="zh-CN" altLang="en-US" kern="0" dirty="0"/>
              <a:t> </a:t>
            </a:r>
            <a:r>
              <a:rPr lang="en-US" altLang="zh-CN" kern="0" dirty="0"/>
              <a:t>1</a:t>
            </a:r>
            <a:r>
              <a:rPr lang="zh-CN" altLang="en-US" kern="0" dirty="0"/>
              <a:t> </a:t>
            </a:r>
            <a:r>
              <a:rPr lang="en-CA" kern="0" dirty="0"/>
              <a:t>)</a:t>
            </a:r>
            <a:endParaRPr lang="en-CA" kern="0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4895A-F8C7-82B0-FBE5-CE5898E55954}"/>
              </a:ext>
            </a:extLst>
          </p:cNvPr>
          <p:cNvSpPr txBox="1"/>
          <p:nvPr/>
        </p:nvSpPr>
        <p:spPr>
          <a:xfrm>
            <a:off x="3454371" y="916394"/>
            <a:ext cx="405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精准肺靶向小核酸RNA广谱抗病毒递送</a:t>
            </a:r>
            <a:endParaRPr lang="en-US" b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4A1B08-C061-51D4-883B-C30015125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0" y="1748875"/>
            <a:ext cx="2743200" cy="1079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0593CF-4B98-930D-5FE1-8D2D39554426}"/>
              </a:ext>
            </a:extLst>
          </p:cNvPr>
          <p:cNvSpPr txBox="1"/>
          <p:nvPr/>
        </p:nvSpPr>
        <p:spPr>
          <a:xfrm>
            <a:off x="198913" y="3012243"/>
            <a:ext cx="6097978" cy="3916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500"/>
              </a:spcAft>
            </a:pPr>
            <a:r>
              <a:rPr lang="en-CA" b="1" i="0" dirty="0">
                <a:effectLst/>
                <a:latin typeface="Noto Sans" panose="020B0502040504020204" pitchFamily="34" charset="0"/>
              </a:rPr>
              <a:t>Prioritizing diseases for research and development in emergency contexts</a:t>
            </a:r>
            <a:r>
              <a:rPr lang="en-US" altLang="zh-CN" b="1" i="0" dirty="0">
                <a:effectLst/>
                <a:latin typeface="Noto Sans" panose="020B0502040504020204" pitchFamily="34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COVID-19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Crimean-Congo haemorrhagic fever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0313B"/>
                </a:solidFill>
                <a:effectLst/>
                <a:highlight>
                  <a:srgbClr val="FFFF00"/>
                </a:highlight>
                <a:latin typeface="Noto Sans" panose="020B0502040504020204" pitchFamily="34" charset="0"/>
              </a:rPr>
              <a:t>Ebola</a:t>
            </a: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 virus disease and Marburg virus disease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Lassa fever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Middle East respiratory syndrome coronavirus (</a:t>
            </a:r>
            <a:r>
              <a:rPr lang="en-CA" b="0" i="0" dirty="0">
                <a:solidFill>
                  <a:srgbClr val="20313B"/>
                </a:solidFill>
                <a:effectLst/>
                <a:highlight>
                  <a:srgbClr val="FFFF00"/>
                </a:highlight>
                <a:latin typeface="Noto Sans" panose="020B0502040504020204" pitchFamily="34" charset="0"/>
              </a:rPr>
              <a:t>MERS-</a:t>
            </a:r>
            <a:r>
              <a:rPr lang="en-CA" b="0" i="0" dirty="0" err="1">
                <a:solidFill>
                  <a:srgbClr val="20313B"/>
                </a:solidFill>
                <a:effectLst/>
                <a:highlight>
                  <a:srgbClr val="FFFF00"/>
                </a:highlight>
                <a:latin typeface="Noto Sans" panose="020B0502040504020204" pitchFamily="34" charset="0"/>
              </a:rPr>
              <a:t>CoV</a:t>
            </a: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) and Severe Acute Respiratory Syndrome (SARS)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Nipah and henipaviral diseases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Rift Valley fever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Zika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“</a:t>
            </a:r>
            <a:r>
              <a:rPr lang="en-CA" b="0" i="0" dirty="0">
                <a:solidFill>
                  <a:srgbClr val="20313B"/>
                </a:solidFill>
                <a:effectLst/>
                <a:highlight>
                  <a:srgbClr val="FFFF00"/>
                </a:highlight>
                <a:latin typeface="Noto Sans" panose="020B0502040504020204" pitchFamily="34" charset="0"/>
              </a:rPr>
              <a:t>Disease X</a:t>
            </a:r>
            <a:r>
              <a:rPr lang="en-CA" b="0" i="0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”</a:t>
            </a:r>
            <a:r>
              <a:rPr lang="en-CA" b="0" i="1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*</a:t>
            </a:r>
          </a:p>
          <a:p>
            <a:pPr algn="l"/>
            <a:r>
              <a:rPr lang="en-CA" sz="1000" b="0" i="1" dirty="0">
                <a:solidFill>
                  <a:srgbClr val="20313B"/>
                </a:solidFill>
                <a:effectLst/>
                <a:latin typeface="Noto Sans" panose="020B0502040504020204" pitchFamily="34" charset="0"/>
              </a:rPr>
              <a:t>* Disease X represents the knowledge that a serious international epidemic could be caused by a pathogen currently unknown to cause human disease. </a:t>
            </a:r>
            <a:endParaRPr lang="en-CA" sz="1000" b="0" i="0" dirty="0">
              <a:solidFill>
                <a:srgbClr val="20313B"/>
              </a:solidFill>
              <a:effectLst/>
              <a:latin typeface="Noto Sans" panose="020B05020405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BE86F0-5E63-7CEA-73EB-C8CC42544A29}"/>
              </a:ext>
            </a:extLst>
          </p:cNvPr>
          <p:cNvSpPr/>
          <p:nvPr/>
        </p:nvSpPr>
        <p:spPr>
          <a:xfrm>
            <a:off x="6723855" y="1905045"/>
            <a:ext cx="1569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中国</a:t>
            </a:r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8B803D-DFB4-3624-41D4-DFB7C91D6C92}"/>
              </a:ext>
            </a:extLst>
          </p:cNvPr>
          <p:cNvCxnSpPr/>
          <p:nvPr/>
        </p:nvCxnSpPr>
        <p:spPr>
          <a:xfrm>
            <a:off x="6296891" y="1918894"/>
            <a:ext cx="0" cy="43631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F70849-45C3-5344-FCB0-4E496CED383C}"/>
              </a:ext>
            </a:extLst>
          </p:cNvPr>
          <p:cNvSpPr txBox="1"/>
          <p:nvPr/>
        </p:nvSpPr>
        <p:spPr>
          <a:xfrm>
            <a:off x="6494815" y="3105834"/>
            <a:ext cx="54982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急需如埃博拉</a:t>
            </a:r>
            <a:r>
              <a:rPr lang="zh-CN" altLang="en-US" dirty="0"/>
              <a:t>、新冠、</a:t>
            </a:r>
            <a:r>
              <a:rPr lang="en-US" altLang="zh-CN" dirty="0"/>
              <a:t>Mers</a:t>
            </a:r>
            <a:r>
              <a:rPr lang="zh-CN" altLang="en-US" dirty="0"/>
              <a:t>、</a:t>
            </a:r>
            <a:r>
              <a:rPr lang="en-US" altLang="zh-CN" dirty="0"/>
              <a:t>Sars</a:t>
            </a:r>
            <a:r>
              <a:rPr lang="zh-CN" altLang="en-US" dirty="0"/>
              <a:t>以及其他流感或新发未知高风险病原或高致死率的人畜共患病</a:t>
            </a:r>
            <a:endParaRPr lang="en-CA" altLang="zh-CN" dirty="0"/>
          </a:p>
          <a:p>
            <a:r>
              <a:rPr lang="en-US" dirty="0"/>
              <a:t>Ebola</a:t>
            </a:r>
            <a:r>
              <a:rPr lang="en-US" altLang="zh-CN" dirty="0"/>
              <a:t>,</a:t>
            </a:r>
          </a:p>
          <a:p>
            <a:r>
              <a:rPr lang="en-US" dirty="0"/>
              <a:t>COIVD</a:t>
            </a:r>
            <a:r>
              <a:rPr lang="en-US" altLang="zh-CN" dirty="0"/>
              <a:t>9</a:t>
            </a:r>
          </a:p>
          <a:p>
            <a:r>
              <a:rPr lang="en-US" dirty="0"/>
              <a:t>MERS</a:t>
            </a:r>
          </a:p>
          <a:p>
            <a:r>
              <a:rPr lang="en-US" dirty="0"/>
              <a:t>SARS</a:t>
            </a:r>
          </a:p>
          <a:p>
            <a:r>
              <a:rPr lang="en-US" dirty="0"/>
              <a:t>H</a:t>
            </a:r>
            <a:r>
              <a:rPr lang="en-US" altLang="zh-CN" dirty="0"/>
              <a:t>1N1</a:t>
            </a:r>
          </a:p>
          <a:p>
            <a:r>
              <a:rPr lang="en-US" altLang="zh-CN" dirty="0"/>
              <a:t>RSV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7190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7255" y="425308"/>
            <a:ext cx="268608" cy="354365"/>
            <a:chOff x="5771895" y="1185259"/>
            <a:chExt cx="648213" cy="855165"/>
          </a:xfrm>
          <a:solidFill>
            <a:schemeClr val="bg1">
              <a:lumMod val="8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" name="矩形 2"/>
            <p:cNvSpPr/>
            <p:nvPr/>
          </p:nvSpPr>
          <p:spPr>
            <a:xfrm rot="2700000">
              <a:off x="5771897" y="1392213"/>
              <a:ext cx="648211" cy="648211"/>
            </a:xfrm>
            <a:prstGeom prst="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5771895" y="1185259"/>
              <a:ext cx="648212" cy="64821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任意多边形 24"/>
          <p:cNvSpPr/>
          <p:nvPr/>
        </p:nvSpPr>
        <p:spPr>
          <a:xfrm>
            <a:off x="885825" y="361950"/>
            <a:ext cx="6160770" cy="520700"/>
          </a:xfrm>
          <a:custGeom>
            <a:avLst/>
            <a:gdLst>
              <a:gd name="connsiteX0" fmla="*/ 98297 w 589768"/>
              <a:gd name="connsiteY0" fmla="*/ 0 h 5346192"/>
              <a:gd name="connsiteX1" fmla="*/ 491471 w 589768"/>
              <a:gd name="connsiteY1" fmla="*/ 0 h 5346192"/>
              <a:gd name="connsiteX2" fmla="*/ 589768 w 589768"/>
              <a:gd name="connsiteY2" fmla="*/ 98297 h 5346192"/>
              <a:gd name="connsiteX3" fmla="*/ 589768 w 589768"/>
              <a:gd name="connsiteY3" fmla="*/ 5346192 h 5346192"/>
              <a:gd name="connsiteX4" fmla="*/ 589768 w 589768"/>
              <a:gd name="connsiteY4" fmla="*/ 5346192 h 5346192"/>
              <a:gd name="connsiteX5" fmla="*/ 0 w 589768"/>
              <a:gd name="connsiteY5" fmla="*/ 5346192 h 5346192"/>
              <a:gd name="connsiteX6" fmla="*/ 0 w 589768"/>
              <a:gd name="connsiteY6" fmla="*/ 5346192 h 5346192"/>
              <a:gd name="connsiteX7" fmla="*/ 0 w 589768"/>
              <a:gd name="connsiteY7" fmla="*/ 98297 h 5346192"/>
              <a:gd name="connsiteX8" fmla="*/ 98297 w 589768"/>
              <a:gd name="connsiteY8" fmla="*/ 0 h 534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9768" h="5346192">
                <a:moveTo>
                  <a:pt x="589768" y="891056"/>
                </a:moveTo>
                <a:lnTo>
                  <a:pt x="589768" y="4455136"/>
                </a:lnTo>
                <a:cubicBezTo>
                  <a:pt x="589768" y="4947251"/>
                  <a:pt x="584913" y="5346187"/>
                  <a:pt x="578924" y="5346187"/>
                </a:cubicBezTo>
                <a:lnTo>
                  <a:pt x="0" y="5346187"/>
                </a:lnTo>
                <a:lnTo>
                  <a:pt x="0" y="5346187"/>
                </a:lnTo>
                <a:lnTo>
                  <a:pt x="0" y="5"/>
                </a:lnTo>
                <a:lnTo>
                  <a:pt x="0" y="5"/>
                </a:lnTo>
                <a:lnTo>
                  <a:pt x="578924" y="5"/>
                </a:lnTo>
                <a:cubicBezTo>
                  <a:pt x="584913" y="5"/>
                  <a:pt x="589768" y="398941"/>
                  <a:pt x="589768" y="891056"/>
                </a:cubicBez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0" tIns="152615" rIns="276440" bIns="152615" numCol="1" spcCol="1270" anchor="ctr" anchorCtr="0">
            <a:noAutofit/>
          </a:bodyPr>
          <a:lstStyle/>
          <a:p>
            <a:pPr marL="0" lvl="1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spc="300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先天免疫中的病毒识别和抗病毒反应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051" y="998827"/>
            <a:ext cx="6564312" cy="558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eft Brace 4"/>
          <p:cNvSpPr/>
          <p:nvPr/>
        </p:nvSpPr>
        <p:spPr>
          <a:xfrm>
            <a:off x="2742392" y="1199153"/>
            <a:ext cx="399011" cy="75003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图片 21" descr="默认标题__2025-02-26+00_38_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465" y="0"/>
            <a:ext cx="2541905" cy="1412240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2026920" y="2116455"/>
            <a:ext cx="2647315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effectLst/>
                <a:sym typeface="+mn-ea"/>
              </a:rPr>
              <a:t>（</a:t>
            </a:r>
            <a:r>
              <a:rPr lang="en-CA" sz="1200" b="1" dirty="0">
                <a:effectLst/>
                <a:sym typeface="+mn-ea"/>
              </a:rPr>
              <a:t>Retinoic acid-inducible gene-I</a:t>
            </a:r>
            <a:r>
              <a:rPr lang="zh-CN" altLang="en-US" sz="1200" b="1" dirty="0">
                <a:effectLst/>
                <a:sym typeface="+mn-ea"/>
              </a:rPr>
              <a:t>）</a:t>
            </a:r>
          </a:p>
          <a:p>
            <a:pPr algn="ctr"/>
            <a:r>
              <a:rPr lang="en-CA" sz="1200" b="1" dirty="0">
                <a:effectLst/>
                <a:sym typeface="+mn-lt"/>
              </a:rPr>
              <a:t>维甲酸诱导基因I</a:t>
            </a:r>
          </a:p>
        </p:txBody>
      </p:sp>
      <p:sp>
        <p:nvSpPr>
          <p:cNvPr id="12" name="TextBox 3"/>
          <p:cNvSpPr txBox="1"/>
          <p:nvPr/>
        </p:nvSpPr>
        <p:spPr>
          <a:xfrm>
            <a:off x="395148" y="1412218"/>
            <a:ext cx="212153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b="1" dirty="0">
                <a:effectLst/>
              </a:rPr>
              <a:t>RLRs (RIG-I like receptors)</a:t>
            </a:r>
          </a:p>
        </p:txBody>
      </p:sp>
      <p:sp>
        <p:nvSpPr>
          <p:cNvPr id="15" name="TextBox 19"/>
          <p:cNvSpPr txBox="1"/>
          <p:nvPr/>
        </p:nvSpPr>
        <p:spPr>
          <a:xfrm>
            <a:off x="9099735" y="6312888"/>
            <a:ext cx="385743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Front Immunol . 2017 Jan 3;7:662.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7255" y="425308"/>
            <a:ext cx="268608" cy="354365"/>
            <a:chOff x="5771895" y="1185259"/>
            <a:chExt cx="648213" cy="855165"/>
          </a:xfrm>
          <a:solidFill>
            <a:schemeClr val="bg1">
              <a:lumMod val="8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" name="矩形 2"/>
            <p:cNvSpPr/>
            <p:nvPr/>
          </p:nvSpPr>
          <p:spPr>
            <a:xfrm rot="2700000">
              <a:off x="5771897" y="1392213"/>
              <a:ext cx="648211" cy="648211"/>
            </a:xfrm>
            <a:prstGeom prst="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5771895" y="1185259"/>
              <a:ext cx="648212" cy="64821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任意多边形 24"/>
          <p:cNvSpPr/>
          <p:nvPr/>
        </p:nvSpPr>
        <p:spPr>
          <a:xfrm>
            <a:off x="885825" y="361950"/>
            <a:ext cx="6672580" cy="520700"/>
          </a:xfrm>
          <a:custGeom>
            <a:avLst/>
            <a:gdLst>
              <a:gd name="connsiteX0" fmla="*/ 98297 w 589768"/>
              <a:gd name="connsiteY0" fmla="*/ 0 h 5346192"/>
              <a:gd name="connsiteX1" fmla="*/ 491471 w 589768"/>
              <a:gd name="connsiteY1" fmla="*/ 0 h 5346192"/>
              <a:gd name="connsiteX2" fmla="*/ 589768 w 589768"/>
              <a:gd name="connsiteY2" fmla="*/ 98297 h 5346192"/>
              <a:gd name="connsiteX3" fmla="*/ 589768 w 589768"/>
              <a:gd name="connsiteY3" fmla="*/ 5346192 h 5346192"/>
              <a:gd name="connsiteX4" fmla="*/ 589768 w 589768"/>
              <a:gd name="connsiteY4" fmla="*/ 5346192 h 5346192"/>
              <a:gd name="connsiteX5" fmla="*/ 0 w 589768"/>
              <a:gd name="connsiteY5" fmla="*/ 5346192 h 5346192"/>
              <a:gd name="connsiteX6" fmla="*/ 0 w 589768"/>
              <a:gd name="connsiteY6" fmla="*/ 5346192 h 5346192"/>
              <a:gd name="connsiteX7" fmla="*/ 0 w 589768"/>
              <a:gd name="connsiteY7" fmla="*/ 98297 h 5346192"/>
              <a:gd name="connsiteX8" fmla="*/ 98297 w 589768"/>
              <a:gd name="connsiteY8" fmla="*/ 0 h 534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9768" h="5346192">
                <a:moveTo>
                  <a:pt x="589768" y="891056"/>
                </a:moveTo>
                <a:lnTo>
                  <a:pt x="589768" y="4455136"/>
                </a:lnTo>
                <a:cubicBezTo>
                  <a:pt x="589768" y="4947251"/>
                  <a:pt x="584913" y="5346187"/>
                  <a:pt x="578924" y="5346187"/>
                </a:cubicBezTo>
                <a:lnTo>
                  <a:pt x="0" y="5346187"/>
                </a:lnTo>
                <a:lnTo>
                  <a:pt x="0" y="5346187"/>
                </a:lnTo>
                <a:lnTo>
                  <a:pt x="0" y="5"/>
                </a:lnTo>
                <a:lnTo>
                  <a:pt x="0" y="5"/>
                </a:lnTo>
                <a:lnTo>
                  <a:pt x="578924" y="5"/>
                </a:lnTo>
                <a:cubicBezTo>
                  <a:pt x="584913" y="5"/>
                  <a:pt x="589768" y="398941"/>
                  <a:pt x="589768" y="891056"/>
                </a:cubicBezTo>
                <a:close/>
              </a:path>
            </a:pathLst>
          </a:custGeom>
          <a:noFill/>
          <a:ln>
            <a:noFill/>
          </a:ln>
          <a:effectLst/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0" tIns="152615" rIns="276440" bIns="152615" numCol="1" spcCol="1270" anchor="ctr" anchorCtr="0">
            <a:noAutofit/>
          </a:bodyPr>
          <a:lstStyle/>
          <a:p>
            <a:pPr marL="0" lvl="1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en-US" altLang="zh-CN" sz="2400" b="1" spc="300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AI</a:t>
            </a:r>
            <a:r>
              <a:rPr lang="zh-CN" altLang="en-US" sz="2400" b="1" spc="300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模型筛选改进精准肺靶向小核酸</a:t>
            </a:r>
            <a:r>
              <a:rPr lang="en-US" altLang="zh-CN" sz="2400" b="1" spc="300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RNA,</a:t>
            </a:r>
            <a:r>
              <a:rPr lang="zh-CN" altLang="en-US" sz="2400" b="1" spc="300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增效广谱抗病毒递送</a:t>
            </a:r>
          </a:p>
        </p:txBody>
      </p:sp>
      <p:pic>
        <p:nvPicPr>
          <p:cNvPr id="22" name="图片 21" descr="默认标题__2025-02-26+00_38_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465" y="0"/>
            <a:ext cx="2541905" cy="1412240"/>
          </a:xfrm>
          <a:prstGeom prst="rect">
            <a:avLst/>
          </a:prstGeom>
        </p:spPr>
      </p:pic>
      <p:sp>
        <p:nvSpPr>
          <p:cNvPr id="8" name="Rectangle 4"/>
          <p:cNvSpPr/>
          <p:nvPr/>
        </p:nvSpPr>
        <p:spPr>
          <a:xfrm>
            <a:off x="4606290" y="4721543"/>
            <a:ext cx="300038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"/>
          <p:cNvSpPr txBox="1"/>
          <p:nvPr/>
        </p:nvSpPr>
        <p:spPr>
          <a:xfrm>
            <a:off x="4697321" y="1218010"/>
            <a:ext cx="236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tx2"/>
                </a:solidFill>
              </a:rPr>
              <a:t>AI+核酸设计技术路线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828307" y="4381329"/>
            <a:ext cx="25584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模式识别受体（</a:t>
            </a:r>
            <a:r>
              <a:rPr lang="en-CA" sz="900" dirty="0"/>
              <a:t>PRR）</a:t>
            </a:r>
            <a:r>
              <a:rPr lang="en-US" altLang="zh-CN" sz="900" dirty="0"/>
              <a:t>:RIG-I,</a:t>
            </a:r>
            <a:r>
              <a:rPr lang="zh-CN" altLang="en-US" sz="900" dirty="0"/>
              <a:t> </a:t>
            </a:r>
            <a:r>
              <a:rPr lang="en-US" altLang="zh-CN" sz="900" dirty="0"/>
              <a:t>MDA5,</a:t>
            </a:r>
            <a:r>
              <a:rPr lang="en-CA" sz="900" dirty="0"/>
              <a:t> TLR3/7等</a:t>
            </a:r>
            <a:r>
              <a:rPr lang="zh-CN" altLang="en-US" sz="900" dirty="0"/>
              <a:t> </a:t>
            </a:r>
            <a:endParaRPr lang="en-US" sz="900" dirty="0"/>
          </a:p>
        </p:txBody>
      </p:sp>
      <p:pic>
        <p:nvPicPr>
          <p:cNvPr id="15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732" y="1930337"/>
            <a:ext cx="2438400" cy="544749"/>
          </a:xfrm>
          <a:prstGeom prst="rect">
            <a:avLst/>
          </a:prstGeom>
        </p:spPr>
      </p:pic>
      <p:pic>
        <p:nvPicPr>
          <p:cNvPr id="18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390" y="3090699"/>
            <a:ext cx="2438400" cy="596900"/>
          </a:xfrm>
          <a:prstGeom prst="rect">
            <a:avLst/>
          </a:prstGeom>
        </p:spPr>
      </p:pic>
      <p:sp>
        <p:nvSpPr>
          <p:cNvPr id="28" name="TextBox 16"/>
          <p:cNvSpPr txBox="1"/>
          <p:nvPr/>
        </p:nvSpPr>
        <p:spPr>
          <a:xfrm>
            <a:off x="1457914" y="3673729"/>
            <a:ext cx="2832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确定</a:t>
            </a:r>
            <a:r>
              <a:rPr lang="en-CA" sz="900" dirty="0" err="1"/>
              <a:t>pppRNA</a:t>
            </a:r>
            <a:r>
              <a:rPr lang="zh-CN" altLang="en-US" sz="900" dirty="0"/>
              <a:t>在体内关键的干扰</a:t>
            </a:r>
            <a:r>
              <a:rPr lang="en-US" altLang="zh-CN" sz="900" dirty="0"/>
              <a:t>/</a:t>
            </a:r>
            <a:r>
              <a:rPr lang="zh-CN" altLang="en-US" sz="900" dirty="0"/>
              <a:t>发夹</a:t>
            </a:r>
            <a:r>
              <a:rPr lang="en-US" altLang="zh-CN" sz="900" dirty="0"/>
              <a:t>/</a:t>
            </a:r>
            <a:r>
              <a:rPr lang="zh-CN" altLang="en-US" sz="900" dirty="0"/>
              <a:t>双链区是否稳定</a:t>
            </a:r>
            <a:endParaRPr lang="en-CA" altLang="zh-CN" sz="900" dirty="0"/>
          </a:p>
          <a:p>
            <a:pPr algn="ctr"/>
            <a:r>
              <a:rPr lang="zh-CN" altLang="en-US" sz="900" dirty="0"/>
              <a:t>是否利于</a:t>
            </a:r>
            <a:r>
              <a:rPr lang="en-CA" sz="900" dirty="0"/>
              <a:t>RPRR</a:t>
            </a:r>
            <a:r>
              <a:rPr lang="zh-CN" altLang="en-US" sz="900" dirty="0"/>
              <a:t>识别</a:t>
            </a:r>
            <a:endParaRPr lang="en-US" sz="900" dirty="0"/>
          </a:p>
        </p:txBody>
      </p:sp>
      <p:sp>
        <p:nvSpPr>
          <p:cNvPr id="29" name="TextBox 18"/>
          <p:cNvSpPr txBox="1"/>
          <p:nvPr/>
        </p:nvSpPr>
        <p:spPr>
          <a:xfrm>
            <a:off x="1890646" y="2487380"/>
            <a:ext cx="2037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自由能最小化进行二级结构预测</a:t>
            </a:r>
            <a:endParaRPr lang="en-US" sz="900" dirty="0"/>
          </a:p>
        </p:txBody>
      </p:sp>
      <p:pic>
        <p:nvPicPr>
          <p:cNvPr id="3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732" y="4462700"/>
            <a:ext cx="1676400" cy="533400"/>
          </a:xfrm>
          <a:prstGeom prst="rect">
            <a:avLst/>
          </a:prstGeom>
        </p:spPr>
      </p:pic>
      <p:sp>
        <p:nvSpPr>
          <p:cNvPr id="31" name="TextBox 20"/>
          <p:cNvSpPr txBox="1"/>
          <p:nvPr/>
        </p:nvSpPr>
        <p:spPr>
          <a:xfrm>
            <a:off x="1642584" y="4953198"/>
            <a:ext cx="243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针对重点候选序列进行更细粒度验证，确保其空间构象利于</a:t>
            </a:r>
            <a:r>
              <a:rPr lang="en-US" altLang="zh-CN" sz="900" dirty="0"/>
              <a:t>5’</a:t>
            </a:r>
            <a:r>
              <a:rPr lang="zh-CN" altLang="en-US" sz="900" dirty="0"/>
              <a:t>端区域暴露、利于</a:t>
            </a:r>
            <a:r>
              <a:rPr lang="en-CA" altLang="zh-CN" sz="900" dirty="0"/>
              <a:t>PRR</a:t>
            </a:r>
            <a:r>
              <a:rPr lang="zh-CN" altLang="en-US" sz="900" dirty="0"/>
              <a:t>结合</a:t>
            </a:r>
            <a:endParaRPr lang="en-US" sz="900" dirty="0"/>
          </a:p>
        </p:txBody>
      </p:sp>
      <p:sp>
        <p:nvSpPr>
          <p:cNvPr id="32" name="TextBox 21"/>
          <p:cNvSpPr txBox="1"/>
          <p:nvPr/>
        </p:nvSpPr>
        <p:spPr>
          <a:xfrm>
            <a:off x="1668371" y="5757247"/>
            <a:ext cx="2411750" cy="369332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Generative Design</a:t>
            </a:r>
            <a:r>
              <a:rPr lang="en-US" altLang="zh-CN" dirty="0">
                <a:solidFill>
                  <a:schemeClr val="bg1"/>
                </a:solidFill>
              </a:rPr>
              <a:t>/RNN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TextBox 22"/>
          <p:cNvSpPr txBox="1"/>
          <p:nvPr/>
        </p:nvSpPr>
        <p:spPr>
          <a:xfrm>
            <a:off x="1259013" y="6241613"/>
            <a:ext cx="33009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在庞大的序列空间中自动探索并生成潜在高效免疫激动剂候选</a:t>
            </a:r>
            <a:endParaRPr lang="en-US" sz="900" dirty="0"/>
          </a:p>
        </p:txBody>
      </p:sp>
      <p:cxnSp>
        <p:nvCxnSpPr>
          <p:cNvPr id="34" name="Straight Arrow Connector 24"/>
          <p:cNvCxnSpPr/>
          <p:nvPr/>
        </p:nvCxnSpPr>
        <p:spPr>
          <a:xfrm>
            <a:off x="2833392" y="2718212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25"/>
          <p:cNvCxnSpPr/>
          <p:nvPr/>
        </p:nvCxnSpPr>
        <p:spPr>
          <a:xfrm>
            <a:off x="2854682" y="4029277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26"/>
          <p:cNvCxnSpPr/>
          <p:nvPr/>
        </p:nvCxnSpPr>
        <p:spPr>
          <a:xfrm>
            <a:off x="2836006" y="5322530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28"/>
          <p:cNvCxnSpPr>
            <a:stCxn id="32" idx="1"/>
            <a:endCxn id="15" idx="1"/>
          </p:cNvCxnSpPr>
          <p:nvPr/>
        </p:nvCxnSpPr>
        <p:spPr>
          <a:xfrm rot="10800000">
            <a:off x="1611733" y="2202713"/>
            <a:ext cx="56639" cy="3739201"/>
          </a:xfrm>
          <a:prstGeom prst="bentConnector3">
            <a:avLst>
              <a:gd name="adj1" fmla="val 5036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463" y="3756741"/>
            <a:ext cx="2157505" cy="599948"/>
          </a:xfrm>
          <a:prstGeom prst="rect">
            <a:avLst/>
          </a:prstGeom>
        </p:spPr>
      </p:pic>
      <p:cxnSp>
        <p:nvCxnSpPr>
          <p:cNvPr id="39" name="Elbow Connector 31"/>
          <p:cNvCxnSpPr>
            <a:stCxn id="15" idx="3"/>
            <a:endCxn id="32" idx="3"/>
          </p:cNvCxnSpPr>
          <p:nvPr/>
        </p:nvCxnSpPr>
        <p:spPr>
          <a:xfrm>
            <a:off x="4050132" y="2202712"/>
            <a:ext cx="29989" cy="3739201"/>
          </a:xfrm>
          <a:prstGeom prst="bentConnector3">
            <a:avLst>
              <a:gd name="adj1" fmla="val 86228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4"/>
          <p:cNvSpPr txBox="1"/>
          <p:nvPr/>
        </p:nvSpPr>
        <p:spPr>
          <a:xfrm>
            <a:off x="7491473" y="2751754"/>
            <a:ext cx="332815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多细胞模型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  <a:r>
              <a:rPr lang="zh-CN" altLang="en-US" dirty="0">
                <a:solidFill>
                  <a:schemeClr val="bg1"/>
                </a:solidFill>
              </a:rPr>
              <a:t>肺类器官 机制验证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TextBox 35"/>
          <p:cNvSpPr txBox="1"/>
          <p:nvPr/>
        </p:nvSpPr>
        <p:spPr>
          <a:xfrm>
            <a:off x="7491473" y="1946611"/>
            <a:ext cx="203132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多受体共激活预测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TextBox 37"/>
          <p:cNvSpPr txBox="1"/>
          <p:nvPr/>
        </p:nvSpPr>
        <p:spPr>
          <a:xfrm>
            <a:off x="7491473" y="3556897"/>
            <a:ext cx="229855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肺靶向递送系统设计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TextBox 38"/>
          <p:cNvSpPr txBox="1"/>
          <p:nvPr/>
        </p:nvSpPr>
        <p:spPr>
          <a:xfrm>
            <a:off x="7491473" y="4362040"/>
            <a:ext cx="133882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成药性评估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4" name="TextBox 39"/>
          <p:cNvSpPr txBox="1"/>
          <p:nvPr/>
        </p:nvSpPr>
        <p:spPr>
          <a:xfrm>
            <a:off x="7491473" y="5167183"/>
            <a:ext cx="2121093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体内试验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  <a:r>
              <a:rPr lang="zh-CN" altLang="en-US" dirty="0">
                <a:solidFill>
                  <a:schemeClr val="bg1"/>
                </a:solidFill>
              </a:rPr>
              <a:t>剂量优化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5" name="Straight Arrow Connector 43"/>
          <p:cNvCxnSpPr/>
          <p:nvPr/>
        </p:nvCxnSpPr>
        <p:spPr>
          <a:xfrm>
            <a:off x="4283809" y="4056715"/>
            <a:ext cx="6305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491473" y="5972325"/>
            <a:ext cx="3275256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攻毒试验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  <a:r>
              <a:rPr lang="zh-CN" altLang="en-US" dirty="0">
                <a:solidFill>
                  <a:schemeClr val="bg1"/>
                </a:solidFill>
              </a:rPr>
              <a:t>广谱抗病毒活性验证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7491473" y="2347605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491473" y="3152748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1473" y="3957891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7491473" y="4763034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491473" y="5568177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38" idx="3"/>
            <a:endCxn id="41" idx="1"/>
          </p:cNvCxnSpPr>
          <p:nvPr/>
        </p:nvCxnSpPr>
        <p:spPr>
          <a:xfrm flipV="1">
            <a:off x="7059968" y="2131277"/>
            <a:ext cx="431505" cy="19254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"/>
          <p:cNvCxnSpPr>
            <a:stCxn id="44" idx="1"/>
          </p:cNvCxnSpPr>
          <p:nvPr/>
        </p:nvCxnSpPr>
        <p:spPr>
          <a:xfrm rot="10800000" flipV="1">
            <a:off x="4290579" y="5351848"/>
            <a:ext cx="3200894" cy="5888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098B6FE-8059-22D3-0313-1AF599B66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493" y="15745"/>
            <a:ext cx="9144000" cy="673078"/>
          </a:xfrm>
        </p:spPr>
        <p:txBody>
          <a:bodyPr/>
          <a:lstStyle/>
          <a:p>
            <a:r>
              <a:rPr lang="en-US" dirty="0" err="1"/>
              <a:t>肺靶向LNP关键PCT专利成分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AE57D-BD2E-56EB-DC32-3D460A00F584}"/>
              </a:ext>
            </a:extLst>
          </p:cNvPr>
          <p:cNvSpPr txBox="1"/>
          <p:nvPr/>
        </p:nvSpPr>
        <p:spPr>
          <a:xfrm rot="10800000" flipV="1">
            <a:off x="1484416" y="6241521"/>
            <a:ext cx="954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Scheme 1.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Advanced LNPs with enhanced stability and responsive cargo release for gene delivery. </a:t>
            </a:r>
            <a:endParaRPr lang="en-CA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A0E70-407D-4D6F-5D29-542272B3D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720" y="1385383"/>
            <a:ext cx="6079512" cy="491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694870-CAD6-25DA-FCAD-F17E6EDD9C04}"/>
              </a:ext>
            </a:extLst>
          </p:cNvPr>
          <p:cNvSpPr txBox="1"/>
          <p:nvPr/>
        </p:nvSpPr>
        <p:spPr>
          <a:xfrm>
            <a:off x="641268" y="1237473"/>
            <a:ext cx="892133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激发先天免疫通路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病毒类的SSL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-RNA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常被视为天然免疫系统开关的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RIG-I（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视黄酸诱导基因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I）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等模式识别受体（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PRRs）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的强力激动剂，可触发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I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型干扰素和其他细胞因子释放，形成广谱的抗病毒状态。</a:t>
            </a: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广谱适用性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理论上可用于多种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RNA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病毒类疾病（如冠状病毒、流感病毒、亨尼帕病毒、肠道病毒等）以及部分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DNA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病毒的早期控制（通过干扰素等途径）。</a:t>
            </a: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应用方式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预防层面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：在高暴露风险人群中，短期激发机体广谱抗病毒状态；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治疗层面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：联合抗病毒特异性药物（抗体、抗病毒小分子）或干扰素治疗，以期缩短病毒清除时间、降低重症率和死亡率。</a:t>
            </a: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挑战与限制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安全性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：过度激活免疫系统可能造成细胞因子风暴等副作用，需要精确剂量和靶向性。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递送系统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：如何将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RNA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高效递送到靶细胞或靶组织，并避免在体内被快速降解，是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RNA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药物共同面临的难题。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66B9A-D72A-7D60-89DE-0D22B804F0A6}"/>
              </a:ext>
            </a:extLst>
          </p:cNvPr>
          <p:cNvSpPr txBox="1"/>
          <p:nvPr/>
        </p:nvSpPr>
        <p:spPr>
          <a:xfrm>
            <a:off x="571731" y="868141"/>
            <a:ext cx="5524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tx2">
                    <a:lumMod val="75000"/>
                  </a:schemeClr>
                </a:solidFill>
              </a:rPr>
              <a:t>SSL-RNA</a:t>
            </a:r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</a:rPr>
              <a:t>/LNP</a:t>
            </a:r>
            <a:r>
              <a:rPr lang="en-CA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在病毒传染病预防和治疗中的潜在价值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696B6178-5A1F-1B34-C3F2-542F33718F5A}"/>
              </a:ext>
            </a:extLst>
          </p:cNvPr>
          <p:cNvSpPr txBox="1">
            <a:spLocks/>
          </p:cNvSpPr>
          <p:nvPr/>
        </p:nvSpPr>
        <p:spPr>
          <a:xfrm>
            <a:off x="352296" y="146953"/>
            <a:ext cx="1117478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200" b="1" i="0">
                <a:solidFill>
                  <a:srgbClr val="30352F"/>
                </a:solidFill>
                <a:latin typeface="Microsoft JhengHei"/>
                <a:ea typeface="+mn-ea"/>
                <a:cs typeface="Microsoft JhengHe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肺靶向应用方案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管线</a:t>
            </a:r>
            <a:r>
              <a:rPr lang="zh-TW" altLang="en-CA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案例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一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(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Our Solution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Case: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pipeline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n-CA" kern="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1603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C08037-1D6F-924D-D6D3-00E0F2BF0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6" y="1949005"/>
            <a:ext cx="5839850" cy="1869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7CBC42-4273-A610-87C6-78C7EE7EA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23" y="4326613"/>
            <a:ext cx="4439356" cy="20648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3624BF-194D-5920-6448-D7D5710728D2}"/>
              </a:ext>
            </a:extLst>
          </p:cNvPr>
          <p:cNvSpPr txBox="1"/>
          <p:nvPr/>
        </p:nvSpPr>
        <p:spPr>
          <a:xfrm>
            <a:off x="2668673" y="1209183"/>
            <a:ext cx="6305701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CA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targeted Broad spectrum antiviral RNA/LNP Therapy</a:t>
            </a:r>
            <a:endParaRPr lang="en-US" altLang="zh-CN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7AF729-BA58-8A41-6B4F-629174F175C9}"/>
              </a:ext>
            </a:extLst>
          </p:cNvPr>
          <p:cNvSpPr txBox="1"/>
          <p:nvPr/>
        </p:nvSpPr>
        <p:spPr>
          <a:xfrm>
            <a:off x="0" y="1498978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Fig.</a:t>
            </a:r>
            <a:r>
              <a:rPr lang="zh-CN" altLang="en-US"/>
              <a:t> 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52D9D-67ED-B348-8115-0B13526ACE0C}"/>
              </a:ext>
            </a:extLst>
          </p:cNvPr>
          <p:cNvSpPr txBox="1"/>
          <p:nvPr/>
        </p:nvSpPr>
        <p:spPr>
          <a:xfrm>
            <a:off x="-56874" y="3888659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Fig</a:t>
            </a:r>
            <a:r>
              <a:rPr lang="en-CA"/>
              <a:t>.</a:t>
            </a:r>
            <a:r>
              <a:rPr lang="zh-CN" altLang="en-US"/>
              <a:t> 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DE354-C356-75F0-6CFA-0F385CC4B520}"/>
              </a:ext>
            </a:extLst>
          </p:cNvPr>
          <p:cNvSpPr txBox="1"/>
          <p:nvPr/>
        </p:nvSpPr>
        <p:spPr>
          <a:xfrm>
            <a:off x="3794367" y="890291"/>
            <a:ext cx="405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精准肺靶向小核酸RNA广谱抗病毒递送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25435-B435-09E7-6886-2D3CC2FFDF8F}"/>
              </a:ext>
            </a:extLst>
          </p:cNvPr>
          <p:cNvSpPr txBox="1"/>
          <p:nvPr/>
        </p:nvSpPr>
        <p:spPr>
          <a:xfrm>
            <a:off x="5550359" y="4926423"/>
            <a:ext cx="2108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*</a:t>
            </a:r>
            <a:r>
              <a:rPr lang="en-US" sz="2000" dirty="0" err="1"/>
              <a:t>精准肺靶向递送</a:t>
            </a:r>
            <a:endParaRPr lang="en-US" sz="20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2D6BB456-E904-143D-12EC-51B654BEF1D5}"/>
              </a:ext>
            </a:extLst>
          </p:cNvPr>
          <p:cNvSpPr txBox="1">
            <a:spLocks/>
          </p:cNvSpPr>
          <p:nvPr/>
        </p:nvSpPr>
        <p:spPr>
          <a:xfrm>
            <a:off x="352296" y="146953"/>
            <a:ext cx="1117478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200" b="1" i="0">
                <a:solidFill>
                  <a:srgbClr val="30352F"/>
                </a:solidFill>
                <a:latin typeface="Microsoft JhengHei"/>
                <a:ea typeface="+mn-ea"/>
                <a:cs typeface="Microsoft JhengHe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肺靶向应用方案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管线</a:t>
            </a:r>
            <a:r>
              <a:rPr lang="zh-TW" altLang="en-CA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案例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一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(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Our Solution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Case: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pipeline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n-CA" kern="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985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DD4B-B187-BDBA-89DA-E70A7927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1F3C988-FD31-121F-1CD5-9168DB21C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87" y="2245634"/>
            <a:ext cx="4964171" cy="1808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86969B-8D7A-1BA3-87F0-C83D3CC46083}"/>
              </a:ext>
            </a:extLst>
          </p:cNvPr>
          <p:cNvSpPr txBox="1"/>
          <p:nvPr/>
        </p:nvSpPr>
        <p:spPr>
          <a:xfrm>
            <a:off x="2668673" y="1209183"/>
            <a:ext cx="6305701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CA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targeted Broad spectrum antiviral RNA/LNP Therapy</a:t>
            </a:r>
            <a:endParaRPr lang="en-US" altLang="zh-CN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B62E4-5B59-2DC8-9583-AF18F56549E2}"/>
              </a:ext>
            </a:extLst>
          </p:cNvPr>
          <p:cNvSpPr txBox="1"/>
          <p:nvPr/>
        </p:nvSpPr>
        <p:spPr>
          <a:xfrm>
            <a:off x="0" y="1752227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B6D6E-015B-1938-DEAF-82AEC0574478}"/>
              </a:ext>
            </a:extLst>
          </p:cNvPr>
          <p:cNvSpPr txBox="1"/>
          <p:nvPr/>
        </p:nvSpPr>
        <p:spPr>
          <a:xfrm>
            <a:off x="3794367" y="890291"/>
            <a:ext cx="405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精准肺靶向小核酸RNA广谱抗病毒递送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EA69E5-3177-F51B-85F9-D8BC00BECD7F}"/>
              </a:ext>
            </a:extLst>
          </p:cNvPr>
          <p:cNvSpPr txBox="1"/>
          <p:nvPr/>
        </p:nvSpPr>
        <p:spPr>
          <a:xfrm>
            <a:off x="186587" y="4612366"/>
            <a:ext cx="484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*微量短期有效抑制</a:t>
            </a:r>
            <a:r>
              <a:rPr lang="zh-CN" altLang="en-CA" dirty="0"/>
              <a:t>流感</a:t>
            </a:r>
            <a:r>
              <a:rPr lang="zh-CN" altLang="en-US" dirty="0"/>
              <a:t>病毒和阻止肺炎发生</a:t>
            </a:r>
            <a:endParaRPr lang="en-US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84D487D-5E7E-0407-0C9E-18A0DC8A1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722" y="1660099"/>
            <a:ext cx="4585606" cy="505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EE5B8C30-9CD1-DC15-51F5-67DD0BCDEF4E}"/>
              </a:ext>
            </a:extLst>
          </p:cNvPr>
          <p:cNvSpPr txBox="1">
            <a:spLocks/>
          </p:cNvSpPr>
          <p:nvPr/>
        </p:nvSpPr>
        <p:spPr>
          <a:xfrm>
            <a:off x="352296" y="146953"/>
            <a:ext cx="1117478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200" b="1" i="0">
                <a:solidFill>
                  <a:srgbClr val="30352F"/>
                </a:solidFill>
                <a:latin typeface="Microsoft JhengHei"/>
                <a:ea typeface="+mn-ea"/>
                <a:cs typeface="Microsoft JhengHe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肺靶向应用方案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管线</a:t>
            </a:r>
            <a:r>
              <a:rPr lang="zh-TW" altLang="en-CA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案例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一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(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Our Solution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Case: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pipeline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n-CA" kern="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4384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1F518-D69E-C36A-CE54-3D6FC3FA1F15}"/>
              </a:ext>
            </a:extLst>
          </p:cNvPr>
          <p:cNvSpPr/>
          <p:nvPr/>
        </p:nvSpPr>
        <p:spPr>
          <a:xfrm>
            <a:off x="5014913" y="157163"/>
            <a:ext cx="385762" cy="171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02259E-FA6C-3770-0E8C-A230F80802F1}"/>
              </a:ext>
            </a:extLst>
          </p:cNvPr>
          <p:cNvSpPr/>
          <p:nvPr/>
        </p:nvSpPr>
        <p:spPr>
          <a:xfrm>
            <a:off x="4086225" y="5043488"/>
            <a:ext cx="300038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70046A-4256-0699-1F9D-43CB95FDA57B}"/>
              </a:ext>
            </a:extLst>
          </p:cNvPr>
          <p:cNvSpPr/>
          <p:nvPr/>
        </p:nvSpPr>
        <p:spPr>
          <a:xfrm>
            <a:off x="7829550" y="157163"/>
            <a:ext cx="357188" cy="171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9DF94E-FF78-6041-1209-7E4326F7A0D1}"/>
              </a:ext>
            </a:extLst>
          </p:cNvPr>
          <p:cNvSpPr txBox="1"/>
          <p:nvPr/>
        </p:nvSpPr>
        <p:spPr>
          <a:xfrm>
            <a:off x="378934" y="1372028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</a:t>
            </a:r>
            <a:r>
              <a:rPr lang="en-CA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p:pic>
        <p:nvPicPr>
          <p:cNvPr id="3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D5B29AF6-8F51-91C0-6C24-ED463A185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668"/>
          <a:stretch/>
        </p:blipFill>
        <p:spPr>
          <a:xfrm>
            <a:off x="2213307" y="1671637"/>
            <a:ext cx="7028250" cy="398575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6830C0-C64B-979F-8176-E2E153841D71}"/>
              </a:ext>
            </a:extLst>
          </p:cNvPr>
          <p:cNvSpPr txBox="1"/>
          <p:nvPr/>
        </p:nvSpPr>
        <p:spPr>
          <a:xfrm>
            <a:off x="1369621" y="1372028"/>
            <a:ext cx="995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Anti-RSV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810123-E932-4053-AD02-E1AE5EA9FA63}"/>
              </a:ext>
            </a:extLst>
          </p:cNvPr>
          <p:cNvSpPr txBox="1"/>
          <p:nvPr/>
        </p:nvSpPr>
        <p:spPr>
          <a:xfrm>
            <a:off x="2466649" y="6096782"/>
            <a:ext cx="484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*微量短期有效抑制</a:t>
            </a:r>
            <a:r>
              <a:rPr lang="zh-CN" altLang="en-CA" dirty="0"/>
              <a:t>流感</a:t>
            </a:r>
            <a:r>
              <a:rPr lang="zh-CN" altLang="en-US" dirty="0"/>
              <a:t>病毒和阻止肺炎发生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5CDE9-E5F1-62BB-F03C-980BF8B4CC0B}"/>
              </a:ext>
            </a:extLst>
          </p:cNvPr>
          <p:cNvSpPr txBox="1"/>
          <p:nvPr/>
        </p:nvSpPr>
        <p:spPr>
          <a:xfrm>
            <a:off x="2668673" y="1209183"/>
            <a:ext cx="6305701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CA" sz="20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targeted Broad spectrum antiviral RNA/LNP Therapy</a:t>
            </a:r>
            <a:endParaRPr lang="en-US" altLang="zh-CN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A4E053-DC7D-D656-537E-B4312A6A7DDF}"/>
              </a:ext>
            </a:extLst>
          </p:cNvPr>
          <p:cNvSpPr txBox="1"/>
          <p:nvPr/>
        </p:nvSpPr>
        <p:spPr>
          <a:xfrm>
            <a:off x="3794367" y="890291"/>
            <a:ext cx="405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精准肺靶向小核酸RNA广谱抗病毒递送</a:t>
            </a:r>
            <a:endParaRPr lang="en-US" b="1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C0686C9-9E23-FC50-7C7F-1BA14AD613B9}"/>
              </a:ext>
            </a:extLst>
          </p:cNvPr>
          <p:cNvSpPr txBox="1">
            <a:spLocks/>
          </p:cNvSpPr>
          <p:nvPr/>
        </p:nvSpPr>
        <p:spPr>
          <a:xfrm>
            <a:off x="352296" y="146953"/>
            <a:ext cx="1117478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200" b="1" i="0">
                <a:solidFill>
                  <a:srgbClr val="30352F"/>
                </a:solidFill>
                <a:latin typeface="Microsoft JhengHei"/>
                <a:ea typeface="+mn-ea"/>
                <a:cs typeface="Microsoft JhengHe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肺靶向应用方案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管线</a:t>
            </a:r>
            <a:r>
              <a:rPr lang="zh-TW" altLang="en-CA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案例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一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(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Our Solution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Case: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pipeline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n-CA" kern="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3530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C808-6175-7454-555C-210F6353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ED4FDD-5CD9-03A5-9F7D-B788C3EB25B7}"/>
              </a:ext>
            </a:extLst>
          </p:cNvPr>
          <p:cNvSpPr/>
          <p:nvPr/>
        </p:nvSpPr>
        <p:spPr>
          <a:xfrm>
            <a:off x="5014913" y="157163"/>
            <a:ext cx="385762" cy="171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9DCCE6-C7AD-9A35-9F1C-A278144DCBF4}"/>
              </a:ext>
            </a:extLst>
          </p:cNvPr>
          <p:cNvSpPr/>
          <p:nvPr/>
        </p:nvSpPr>
        <p:spPr>
          <a:xfrm>
            <a:off x="4086225" y="5043488"/>
            <a:ext cx="300038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9EF99B-9E1A-DB7D-3872-30E7698143FC}"/>
              </a:ext>
            </a:extLst>
          </p:cNvPr>
          <p:cNvSpPr/>
          <p:nvPr/>
        </p:nvSpPr>
        <p:spPr>
          <a:xfrm>
            <a:off x="7829550" y="157163"/>
            <a:ext cx="357188" cy="171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D53CA-1E08-2C11-CE8D-19723FBA0DBD}"/>
              </a:ext>
            </a:extLst>
          </p:cNvPr>
          <p:cNvSpPr txBox="1"/>
          <p:nvPr/>
        </p:nvSpPr>
        <p:spPr>
          <a:xfrm>
            <a:off x="473936" y="1539955"/>
            <a:ext cx="236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tx2"/>
                </a:solidFill>
              </a:rPr>
              <a:t>AI+核酸设计技术路线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ABEB46-AC9B-3731-EB19-1C1D961DC417}"/>
              </a:ext>
            </a:extLst>
          </p:cNvPr>
          <p:cNvSpPr txBox="1"/>
          <p:nvPr/>
        </p:nvSpPr>
        <p:spPr>
          <a:xfrm>
            <a:off x="2668673" y="874713"/>
            <a:ext cx="6187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tx2"/>
                </a:solidFill>
              </a:rPr>
              <a:t>AI模型筛选改进精准肺靶向小核酸RNA</a:t>
            </a:r>
            <a:r>
              <a:rPr lang="en-US" altLang="zh-CN" b="1" dirty="0">
                <a:solidFill>
                  <a:schemeClr val="tx2"/>
                </a:solidFill>
              </a:rPr>
              <a:t>,</a:t>
            </a:r>
            <a:r>
              <a:rPr lang="zh-CN" altLang="en-US" b="1" dirty="0">
                <a:solidFill>
                  <a:schemeClr val="tx2"/>
                </a:solidFill>
              </a:rPr>
              <a:t>增效</a:t>
            </a:r>
            <a:r>
              <a:rPr lang="en-US" b="1" dirty="0" err="1">
                <a:solidFill>
                  <a:schemeClr val="tx2"/>
                </a:solidFill>
              </a:rPr>
              <a:t>广谱抗病毒递送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DDCABB6-CACE-5EC9-CAF7-EFB9A9CBBD31}"/>
              </a:ext>
            </a:extLst>
          </p:cNvPr>
          <p:cNvSpPr txBox="1">
            <a:spLocks/>
          </p:cNvSpPr>
          <p:nvPr/>
        </p:nvSpPr>
        <p:spPr>
          <a:xfrm>
            <a:off x="352296" y="146953"/>
            <a:ext cx="1117478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200" b="1" i="0">
                <a:solidFill>
                  <a:srgbClr val="30352F"/>
                </a:solidFill>
                <a:latin typeface="Microsoft JhengHei"/>
                <a:ea typeface="+mn-ea"/>
                <a:cs typeface="Microsoft JhengHe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肺靶向应用方案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管线</a:t>
            </a:r>
            <a:r>
              <a:rPr lang="zh-TW" altLang="en-CA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案例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一</a:t>
            </a:r>
            <a:r>
              <a:rPr lang="zh-TW" altLang="en-US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 </a:t>
            </a:r>
            <a:r>
              <a:rPr lang="en-US" altLang="zh-TW" kern="0" dirty="0">
                <a:solidFill>
                  <a:schemeClr val="tx2">
                    <a:lumMod val="75000"/>
                  </a:schemeClr>
                </a:solidFill>
                <a:ea typeface="新細明體"/>
              </a:rPr>
              <a:t>(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Our Solution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Case: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pipeline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kern="0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zh-CN" altLang="en-US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kern="0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n-CA" kern="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61CBA-2D91-6A1B-CC13-6AC8C539ADB4}"/>
              </a:ext>
            </a:extLst>
          </p:cNvPr>
          <p:cNvSpPr txBox="1"/>
          <p:nvPr/>
        </p:nvSpPr>
        <p:spPr>
          <a:xfrm>
            <a:off x="4308242" y="4703274"/>
            <a:ext cx="25584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模式识别受体（</a:t>
            </a:r>
            <a:r>
              <a:rPr lang="en-CA" sz="900" dirty="0"/>
              <a:t>PRR）</a:t>
            </a:r>
            <a:r>
              <a:rPr lang="en-US" altLang="zh-CN" sz="900" dirty="0"/>
              <a:t>:RIG-I,</a:t>
            </a:r>
            <a:r>
              <a:rPr lang="zh-CN" altLang="en-US" sz="900" dirty="0"/>
              <a:t> </a:t>
            </a:r>
            <a:r>
              <a:rPr lang="en-US" altLang="zh-CN" sz="900" dirty="0"/>
              <a:t>MDA5,</a:t>
            </a:r>
            <a:r>
              <a:rPr lang="en-CA" sz="900" dirty="0"/>
              <a:t> TLR3/7等</a:t>
            </a:r>
            <a:r>
              <a:rPr lang="zh-CN" altLang="en-US" sz="900" dirty="0"/>
              <a:t> 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8C0692-41CC-DDC8-BAD7-4724B55E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67" y="2252282"/>
            <a:ext cx="2438400" cy="5447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E265B4-9448-8D95-5500-FA281526F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3412644"/>
            <a:ext cx="2438400" cy="596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5F6F8E3-123A-3F03-BDE2-5FF96DA5A041}"/>
              </a:ext>
            </a:extLst>
          </p:cNvPr>
          <p:cNvSpPr txBox="1"/>
          <p:nvPr/>
        </p:nvSpPr>
        <p:spPr>
          <a:xfrm>
            <a:off x="937849" y="3995674"/>
            <a:ext cx="2832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确定</a:t>
            </a:r>
            <a:r>
              <a:rPr lang="en-CA" sz="900" dirty="0" err="1"/>
              <a:t>pppRNA</a:t>
            </a:r>
            <a:r>
              <a:rPr lang="zh-CN" altLang="en-US" sz="900" dirty="0"/>
              <a:t>在体内关键的干扰</a:t>
            </a:r>
            <a:r>
              <a:rPr lang="en-US" altLang="zh-CN" sz="900" dirty="0"/>
              <a:t>/</a:t>
            </a:r>
            <a:r>
              <a:rPr lang="zh-CN" altLang="en-US" sz="900" dirty="0"/>
              <a:t>发夹</a:t>
            </a:r>
            <a:r>
              <a:rPr lang="en-US" altLang="zh-CN" sz="900" dirty="0"/>
              <a:t>/</a:t>
            </a:r>
            <a:r>
              <a:rPr lang="zh-CN" altLang="en-US" sz="900" dirty="0"/>
              <a:t>双链区是否稳定</a:t>
            </a:r>
            <a:endParaRPr lang="en-CA" altLang="zh-CN" sz="900" dirty="0"/>
          </a:p>
          <a:p>
            <a:pPr algn="ctr"/>
            <a:r>
              <a:rPr lang="zh-CN" altLang="en-US" sz="900" dirty="0"/>
              <a:t>是否利于</a:t>
            </a:r>
            <a:r>
              <a:rPr lang="en-CA" sz="900" dirty="0"/>
              <a:t>RPRR</a:t>
            </a:r>
            <a:r>
              <a:rPr lang="zh-CN" altLang="en-US" sz="900" dirty="0"/>
              <a:t>识别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217A48-BBE2-AD60-FB9B-0F87FA956118}"/>
              </a:ext>
            </a:extLst>
          </p:cNvPr>
          <p:cNvSpPr txBox="1"/>
          <p:nvPr/>
        </p:nvSpPr>
        <p:spPr>
          <a:xfrm>
            <a:off x="1370581" y="2809325"/>
            <a:ext cx="2037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自由能最小化进行二级结构预测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9C1E45-08CD-376D-44CA-29B7D72FC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667" y="4784645"/>
            <a:ext cx="1676400" cy="533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98D596C-93C6-084D-5E2C-22AD61F91CBA}"/>
              </a:ext>
            </a:extLst>
          </p:cNvPr>
          <p:cNvSpPr txBox="1"/>
          <p:nvPr/>
        </p:nvSpPr>
        <p:spPr>
          <a:xfrm>
            <a:off x="1122519" y="5275143"/>
            <a:ext cx="243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针对重点候选序列进行更细粒度验证，确保其空间构象利于</a:t>
            </a:r>
            <a:r>
              <a:rPr lang="en-US" altLang="zh-CN" sz="900" dirty="0"/>
              <a:t>5’</a:t>
            </a:r>
            <a:r>
              <a:rPr lang="zh-CN" altLang="en-US" sz="900" dirty="0"/>
              <a:t>端区域暴露、利于</a:t>
            </a:r>
            <a:r>
              <a:rPr lang="en-CA" altLang="zh-CN" sz="900" dirty="0"/>
              <a:t>PRR</a:t>
            </a:r>
            <a:r>
              <a:rPr lang="zh-CN" altLang="en-US" sz="900" dirty="0"/>
              <a:t>结合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93D49C-19E9-4EA6-2AEA-82CCB59E30AC}"/>
              </a:ext>
            </a:extLst>
          </p:cNvPr>
          <p:cNvSpPr txBox="1"/>
          <p:nvPr/>
        </p:nvSpPr>
        <p:spPr>
          <a:xfrm>
            <a:off x="1148306" y="6079192"/>
            <a:ext cx="2411750" cy="369332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Generative Design</a:t>
            </a:r>
            <a:r>
              <a:rPr lang="en-US" altLang="zh-CN" dirty="0">
                <a:solidFill>
                  <a:schemeClr val="bg1"/>
                </a:solidFill>
              </a:rPr>
              <a:t>/RNN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33619-A1A1-5B3E-21BD-9D1AA728C551}"/>
              </a:ext>
            </a:extLst>
          </p:cNvPr>
          <p:cNvSpPr txBox="1"/>
          <p:nvPr/>
        </p:nvSpPr>
        <p:spPr>
          <a:xfrm>
            <a:off x="738948" y="6563558"/>
            <a:ext cx="33009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在庞大的序列空间中自动探索并生成潜在高效免疫激动剂候选</a:t>
            </a:r>
            <a:endParaRPr lang="en-US" sz="9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C147B7-EFE6-6363-EDCB-104D14400ACE}"/>
              </a:ext>
            </a:extLst>
          </p:cNvPr>
          <p:cNvCxnSpPr>
            <a:cxnSpLocks/>
          </p:cNvCxnSpPr>
          <p:nvPr/>
        </p:nvCxnSpPr>
        <p:spPr>
          <a:xfrm>
            <a:off x="2313327" y="3040157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70AC28-25F7-07A7-4B23-DEAA355FD0C0}"/>
              </a:ext>
            </a:extLst>
          </p:cNvPr>
          <p:cNvCxnSpPr/>
          <p:nvPr/>
        </p:nvCxnSpPr>
        <p:spPr>
          <a:xfrm>
            <a:off x="2334617" y="4351222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9CD152-59C0-246D-A1BE-5FE52C46D8DA}"/>
              </a:ext>
            </a:extLst>
          </p:cNvPr>
          <p:cNvCxnSpPr/>
          <p:nvPr/>
        </p:nvCxnSpPr>
        <p:spPr>
          <a:xfrm>
            <a:off x="2315941" y="5644475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6BF8B0DF-90C6-BE74-A6C0-1DB6648E957A}"/>
              </a:ext>
            </a:extLst>
          </p:cNvPr>
          <p:cNvCxnSpPr>
            <a:stCxn id="22" idx="1"/>
            <a:endCxn id="14" idx="1"/>
          </p:cNvCxnSpPr>
          <p:nvPr/>
        </p:nvCxnSpPr>
        <p:spPr>
          <a:xfrm rot="10800000">
            <a:off x="1091668" y="2524658"/>
            <a:ext cx="56639" cy="3739201"/>
          </a:xfrm>
          <a:prstGeom prst="bentConnector3">
            <a:avLst>
              <a:gd name="adj1" fmla="val 5036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A080F3A1-35CE-FC89-58C2-0B46722CD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398" y="4078686"/>
            <a:ext cx="2157505" cy="599948"/>
          </a:xfrm>
          <a:prstGeom prst="rect">
            <a:avLst/>
          </a:prstGeom>
        </p:spPr>
      </p:pic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51615EC0-6BF7-CDB5-23B3-7B0496EF2D94}"/>
              </a:ext>
            </a:extLst>
          </p:cNvPr>
          <p:cNvCxnSpPr>
            <a:stCxn id="14" idx="3"/>
            <a:endCxn id="22" idx="3"/>
          </p:cNvCxnSpPr>
          <p:nvPr/>
        </p:nvCxnSpPr>
        <p:spPr>
          <a:xfrm>
            <a:off x="3530067" y="2524657"/>
            <a:ext cx="29989" cy="3739201"/>
          </a:xfrm>
          <a:prstGeom prst="bentConnector3">
            <a:avLst>
              <a:gd name="adj1" fmla="val 86228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85B2137-9E15-5EFE-B4D7-797FB5E3D9EF}"/>
              </a:ext>
            </a:extLst>
          </p:cNvPr>
          <p:cNvSpPr txBox="1"/>
          <p:nvPr/>
        </p:nvSpPr>
        <p:spPr>
          <a:xfrm>
            <a:off x="6971408" y="3073699"/>
            <a:ext cx="332815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多细胞模型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  <a:r>
              <a:rPr lang="zh-CN" altLang="en-US" dirty="0">
                <a:solidFill>
                  <a:schemeClr val="bg1"/>
                </a:solidFill>
              </a:rPr>
              <a:t>肺类器官 机制验证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3041E3-9318-2692-1392-CE1BF63B3C22}"/>
              </a:ext>
            </a:extLst>
          </p:cNvPr>
          <p:cNvSpPr txBox="1"/>
          <p:nvPr/>
        </p:nvSpPr>
        <p:spPr>
          <a:xfrm>
            <a:off x="6971408" y="2268556"/>
            <a:ext cx="203132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多受体共激活预测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B1AEBE-2594-F556-054A-B97277A5790A}"/>
              </a:ext>
            </a:extLst>
          </p:cNvPr>
          <p:cNvSpPr txBox="1"/>
          <p:nvPr/>
        </p:nvSpPr>
        <p:spPr>
          <a:xfrm>
            <a:off x="6971408" y="3878842"/>
            <a:ext cx="229855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肺靶向递送系统设计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1B60E4-3F35-4152-C588-83028A912357}"/>
              </a:ext>
            </a:extLst>
          </p:cNvPr>
          <p:cNvSpPr txBox="1"/>
          <p:nvPr/>
        </p:nvSpPr>
        <p:spPr>
          <a:xfrm>
            <a:off x="6971408" y="4683985"/>
            <a:ext cx="133882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成药性评估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7C72EF-329F-2397-8F3F-A283349F1DC7}"/>
              </a:ext>
            </a:extLst>
          </p:cNvPr>
          <p:cNvSpPr txBox="1"/>
          <p:nvPr/>
        </p:nvSpPr>
        <p:spPr>
          <a:xfrm>
            <a:off x="6971408" y="5489128"/>
            <a:ext cx="2121093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体内试验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  <a:r>
              <a:rPr lang="zh-CN" altLang="en-US" dirty="0">
                <a:solidFill>
                  <a:schemeClr val="bg1"/>
                </a:solidFill>
              </a:rPr>
              <a:t>剂量优化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820DB0A-7D0D-A20E-6A9F-FB60E172894E}"/>
              </a:ext>
            </a:extLst>
          </p:cNvPr>
          <p:cNvCxnSpPr>
            <a:cxnSpLocks/>
          </p:cNvCxnSpPr>
          <p:nvPr/>
        </p:nvCxnSpPr>
        <p:spPr>
          <a:xfrm>
            <a:off x="3763744" y="4378660"/>
            <a:ext cx="6305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7901E7F-89FF-BB9E-B881-B3DEA0E49643}"/>
              </a:ext>
            </a:extLst>
          </p:cNvPr>
          <p:cNvSpPr txBox="1"/>
          <p:nvPr/>
        </p:nvSpPr>
        <p:spPr>
          <a:xfrm>
            <a:off x="6971408" y="6294270"/>
            <a:ext cx="3275256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攻毒试验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  <a:r>
              <a:rPr lang="zh-CN" altLang="en-US" dirty="0">
                <a:solidFill>
                  <a:schemeClr val="bg1"/>
                </a:solidFill>
              </a:rPr>
              <a:t>广谱抗病毒活性验证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2F2FBC7-BABD-9DEF-CAD1-79D2DE5EE86D}"/>
              </a:ext>
            </a:extLst>
          </p:cNvPr>
          <p:cNvCxnSpPr>
            <a:cxnSpLocks/>
          </p:cNvCxnSpPr>
          <p:nvPr/>
        </p:nvCxnSpPr>
        <p:spPr>
          <a:xfrm>
            <a:off x="6971408" y="2669550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CF7F236-60E3-DBA7-2824-F2ED4BD79EC7}"/>
              </a:ext>
            </a:extLst>
          </p:cNvPr>
          <p:cNvCxnSpPr>
            <a:cxnSpLocks/>
          </p:cNvCxnSpPr>
          <p:nvPr/>
        </p:nvCxnSpPr>
        <p:spPr>
          <a:xfrm>
            <a:off x="6971408" y="3474693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2A75D01-ABD0-0A2E-A4AB-40CA4A65E7C2}"/>
              </a:ext>
            </a:extLst>
          </p:cNvPr>
          <p:cNvCxnSpPr>
            <a:cxnSpLocks/>
          </p:cNvCxnSpPr>
          <p:nvPr/>
        </p:nvCxnSpPr>
        <p:spPr>
          <a:xfrm>
            <a:off x="6971408" y="4279836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90EB487-DADD-ADE2-5F37-880900F78A70}"/>
              </a:ext>
            </a:extLst>
          </p:cNvPr>
          <p:cNvCxnSpPr>
            <a:cxnSpLocks/>
          </p:cNvCxnSpPr>
          <p:nvPr/>
        </p:nvCxnSpPr>
        <p:spPr>
          <a:xfrm>
            <a:off x="6971408" y="5084979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E604245-7DE6-6234-76DF-12087070497A}"/>
              </a:ext>
            </a:extLst>
          </p:cNvPr>
          <p:cNvCxnSpPr>
            <a:cxnSpLocks/>
          </p:cNvCxnSpPr>
          <p:nvPr/>
        </p:nvCxnSpPr>
        <p:spPr>
          <a:xfrm>
            <a:off x="6971408" y="5890122"/>
            <a:ext cx="0" cy="37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0DB8E82A-58CA-52E1-821D-230A1A2ACD1F}"/>
              </a:ext>
            </a:extLst>
          </p:cNvPr>
          <p:cNvCxnSpPr>
            <a:stCxn id="30" idx="3"/>
            <a:endCxn id="36" idx="1"/>
          </p:cNvCxnSpPr>
          <p:nvPr/>
        </p:nvCxnSpPr>
        <p:spPr>
          <a:xfrm flipV="1">
            <a:off x="6539903" y="2453222"/>
            <a:ext cx="431505" cy="19254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805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26B07D-BF6E-4EC3-7A03-09829BA57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031" y="178851"/>
            <a:ext cx="11174780" cy="677108"/>
          </a:xfrm>
        </p:spPr>
        <p:txBody>
          <a:bodyPr/>
          <a:lstStyle/>
          <a:p>
            <a:r>
              <a:rPr lang="zh-TW" altLang="en-US" b="1">
                <a:ea typeface="新細明體"/>
              </a:rPr>
              <a:t>我们技术解决方案</a:t>
            </a:r>
            <a:r>
              <a:rPr lang="zh-TW" altLang="en-CA">
                <a:ea typeface="新細明體"/>
              </a:rPr>
              <a:t>案例</a:t>
            </a:r>
            <a:r>
              <a:rPr lang="zh-CN" altLang="en-US">
                <a:ea typeface="新細明體"/>
              </a:rPr>
              <a:t> 二</a:t>
            </a:r>
            <a:r>
              <a:rPr lang="zh-TW" altLang="en-US" b="1">
                <a:ea typeface="新細明體"/>
              </a:rPr>
              <a:t> </a:t>
            </a:r>
            <a:r>
              <a:rPr lang="en-US" altLang="zh-TW" b="1">
                <a:ea typeface="新細明體"/>
              </a:rPr>
              <a:t>(</a:t>
            </a:r>
            <a:r>
              <a:rPr lang="en-CA" b="1"/>
              <a:t>Our Solution</a:t>
            </a:r>
            <a:r>
              <a:rPr lang="zh-CN" altLang="en-US" b="1"/>
              <a:t> </a:t>
            </a:r>
            <a:r>
              <a:rPr lang="en-US" altLang="zh-CN" b="1"/>
              <a:t>Case2</a:t>
            </a:r>
            <a:r>
              <a:rPr lang="en-CA" b="1"/>
              <a:t>)</a:t>
            </a:r>
            <a:r>
              <a:rPr lang="en-CA"/>
              <a:t>:</a:t>
            </a:r>
            <a:endParaRPr lang="en-CA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85903-C1CA-749B-1817-41854058273B}"/>
              </a:ext>
            </a:extLst>
          </p:cNvPr>
          <p:cNvSpPr txBox="1"/>
          <p:nvPr/>
        </p:nvSpPr>
        <p:spPr>
          <a:xfrm>
            <a:off x="203421" y="1095153"/>
            <a:ext cx="11302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/>
              <a:t>肺癌治疗项目：肺靶向脂质纳米颗粒结合专一抗体 </a:t>
            </a:r>
            <a:r>
              <a:rPr lang="en-CA" b="1"/>
              <a:t>single-chain variable fragment (</a:t>
            </a:r>
            <a:r>
              <a:rPr lang="en-CA" b="1" err="1"/>
              <a:t>scFV</a:t>
            </a:r>
            <a:r>
              <a:rPr lang="en-CA" b="1"/>
              <a:t>) </a:t>
            </a:r>
            <a:r>
              <a:rPr lang="zh-TW" altLang="en-US" b="1"/>
              <a:t>技术用于肺癌药物递送</a:t>
            </a:r>
          </a:p>
          <a:p>
            <a:r>
              <a:rPr lang="en-CA" b="1"/>
              <a:t>Lung cancer therapeutic project: Lung-targeted lipid nanoparticles (LNP) integrated with specific antibody </a:t>
            </a:r>
            <a:r>
              <a:rPr lang="en-CA" b="1" err="1"/>
              <a:t>scFV</a:t>
            </a:r>
            <a:r>
              <a:rPr lang="en-CA" b="1"/>
              <a:t> technology for precision drug delivery in lung cancer.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0B038-6A48-0E1F-6FD5-43058405EAE9}"/>
              </a:ext>
            </a:extLst>
          </p:cNvPr>
          <p:cNvSpPr txBox="1"/>
          <p:nvPr/>
        </p:nvSpPr>
        <p:spPr>
          <a:xfrm>
            <a:off x="203421" y="2114728"/>
            <a:ext cx="11907063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b="1"/>
              <a:t>技术亮点 </a:t>
            </a:r>
            <a:r>
              <a:rPr lang="en-US" altLang="zh-TW" b="1"/>
              <a:t>(</a:t>
            </a:r>
            <a:r>
              <a:rPr lang="en-CA" b="1"/>
              <a:t>Key Highlights):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TW" altLang="en-US" b="1"/>
              <a:t>专一性递送</a:t>
            </a:r>
            <a:r>
              <a:rPr lang="zh-TW" altLang="en-US"/>
              <a:t>：通过将肺靶向的脂质纳米颗粒 </a:t>
            </a:r>
            <a:r>
              <a:rPr lang="en-US" altLang="zh-TW"/>
              <a:t>(</a:t>
            </a:r>
            <a:r>
              <a:rPr lang="en-CA"/>
              <a:t>LNP) </a:t>
            </a:r>
            <a:r>
              <a:rPr lang="zh-TW" altLang="en-US"/>
              <a:t>与针对纤维连接蛋白的单链可变片段抗体 </a:t>
            </a:r>
            <a:r>
              <a:rPr lang="en-US" altLang="zh-TW"/>
              <a:t>(</a:t>
            </a:r>
            <a:r>
              <a:rPr lang="en-CA" err="1"/>
              <a:t>scFV</a:t>
            </a:r>
            <a:r>
              <a:rPr lang="en-CA"/>
              <a:t>) </a:t>
            </a:r>
            <a:r>
              <a:rPr lang="zh-TW" altLang="en-US"/>
              <a:t>技术结合，实现药物的精准递送至肺癌细胞。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TW" altLang="en-US" b="1"/>
              <a:t>高效性与稳定性</a:t>
            </a:r>
            <a:r>
              <a:rPr lang="zh-TW" altLang="en-US"/>
              <a:t>：集成 </a:t>
            </a:r>
            <a:r>
              <a:rPr lang="en-CA"/>
              <a:t>LNP </a:t>
            </a:r>
            <a:r>
              <a:rPr lang="zh-TW" altLang="en-US"/>
              <a:t>的稳定性和抗体的靶向性，减少药物在系统性循环中的损耗，提高治疗效率。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TW" altLang="en-US" b="1"/>
              <a:t>降低副作用</a:t>
            </a:r>
            <a:r>
              <a:rPr lang="zh-TW" altLang="en-US"/>
              <a:t>：通过药物的高选择性递送，降低对正常细胞的影响，显著减少副作用风险。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TW" altLang="en-US" b="1"/>
              <a:t>潜在适应症</a:t>
            </a:r>
            <a:r>
              <a:rPr lang="zh-TW" altLang="en-US"/>
              <a:t>：专注于肺癌的精准治疗，同时探索对肺纤维化及其他相关疾病的可能性。</a:t>
            </a:r>
          </a:p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4E91A-3CFD-5665-AA57-D6CE5A602CCA}"/>
              </a:ext>
            </a:extLst>
          </p:cNvPr>
          <p:cNvSpPr txBox="1"/>
          <p:nvPr/>
        </p:nvSpPr>
        <p:spPr>
          <a:xfrm>
            <a:off x="203421" y="4897712"/>
            <a:ext cx="111322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/>
              <a:t>目标成果 </a:t>
            </a:r>
            <a:r>
              <a:rPr lang="en-US" altLang="zh-TW" b="1"/>
              <a:t>(</a:t>
            </a:r>
            <a:r>
              <a:rPr lang="en-CA" b="1"/>
              <a:t>Expected Outcomes):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/>
              <a:t>临床优势</a:t>
            </a:r>
            <a:r>
              <a:rPr lang="zh-TW" altLang="en-US"/>
              <a:t>：提升肺癌治疗效果，为患者提供更安全、更高效的治疗方案。</a:t>
            </a:r>
            <a:br>
              <a:rPr lang="zh-TW" altLang="en-US"/>
            </a:br>
            <a:r>
              <a:rPr lang="zh-CN" altLang="en-US" b="1"/>
              <a:t> </a:t>
            </a:r>
            <a:endParaRPr lang="en-CA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/>
              <a:t>技术推广</a:t>
            </a:r>
            <a:r>
              <a:rPr lang="zh-TW" altLang="en-US"/>
              <a:t>：为精准医疗和纳米技术在癌症治疗领域的应用树立新标杆。</a:t>
            </a:r>
            <a:br>
              <a:rPr lang="zh-TW" altLang="en-US"/>
            </a:br>
            <a:r>
              <a:rPr lang="zh-CN" altLang="en-US" b="1"/>
              <a:t>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593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89960" y="1659285"/>
            <a:ext cx="755650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0" b="1" spc="-5">
                <a:solidFill>
                  <a:schemeClr val="accent1"/>
                </a:solidFill>
                <a:latin typeface="Times New Roman"/>
                <a:cs typeface="Times New Roman"/>
              </a:rPr>
              <a:t>2</a:t>
            </a:r>
            <a:endParaRPr sz="115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2406522" y="2324576"/>
            <a:ext cx="9556878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spc="-5" err="1"/>
              <a:t>项目概述</a:t>
            </a:r>
            <a:r>
              <a:rPr lang="en-CA" sz="4200" b="1"/>
              <a:t> Project Overview</a:t>
            </a:r>
            <a:endParaRPr sz="4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CF0BAF-C199-A15A-DB8D-7BC34F1466E5}"/>
              </a:ext>
            </a:extLst>
          </p:cNvPr>
          <p:cNvSpPr txBox="1"/>
          <p:nvPr/>
        </p:nvSpPr>
        <p:spPr>
          <a:xfrm>
            <a:off x="609600" y="1169470"/>
            <a:ext cx="9220200" cy="58663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a typeface="新細明體"/>
              </a:rPr>
              <a:t>核心技术 </a:t>
            </a:r>
            <a:r>
              <a:rPr lang="en-US" altLang="zh-TW" b="1" dirty="0">
                <a:ea typeface="新細明體"/>
              </a:rPr>
              <a:t>(</a:t>
            </a:r>
            <a:r>
              <a:rPr lang="en-CA" b="1" dirty="0"/>
              <a:t>Core Technology)</a:t>
            </a:r>
            <a:r>
              <a:rPr lang="en-CA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a typeface="新細明體"/>
              </a:rPr>
              <a:t>主题关键词 </a:t>
            </a:r>
            <a:r>
              <a:rPr lang="en-US" altLang="zh-TW" b="1" dirty="0">
                <a:ea typeface="新細明體"/>
              </a:rPr>
              <a:t>(</a:t>
            </a:r>
            <a:r>
              <a:rPr lang="en-CA" b="1" dirty="0"/>
              <a:t>Key Features)</a:t>
            </a:r>
            <a:r>
              <a:rPr lang="en-CA" dirty="0"/>
              <a:t>: </a:t>
            </a:r>
            <a:r>
              <a:rPr lang="zh-TW" altLang="en-US" dirty="0">
                <a:ea typeface="新細明體"/>
              </a:rPr>
              <a:t>肺靶向、</a:t>
            </a:r>
            <a:r>
              <a:rPr lang="zh-TW" altLang="en-CA" dirty="0">
                <a:ea typeface="新細明體"/>
              </a:rPr>
              <a:t>非低温</a:t>
            </a:r>
            <a:r>
              <a:rPr lang="zh-TW" altLang="en-US" dirty="0">
                <a:ea typeface="新細明體"/>
              </a:rPr>
              <a:t>稳定性、</a:t>
            </a:r>
            <a:r>
              <a:rPr lang="en-CA" dirty="0"/>
              <a:t>RNA/DNA</a:t>
            </a:r>
            <a:r>
              <a:rPr lang="zh-TW" altLang="en-US" dirty="0">
                <a:ea typeface="新細明體"/>
              </a:rPr>
              <a:t>递送、控释系统。</a:t>
            </a:r>
            <a:endParaRPr lang="zh-TW" altLang="en-US" dirty="0">
              <a:ea typeface="新細明體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Keywords: Lung-targeted delivery, stability, RNA/DNA delivery, controlled release system.</a:t>
            </a:r>
            <a:endParaRPr lang="en-CA" dirty="0">
              <a:ea typeface="Calibri"/>
              <a:cs typeface="Calibri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b="1" dirty="0" err="1">
                <a:solidFill>
                  <a:srgbClr val="FF0000"/>
                </a:solidFill>
                <a:latin typeface="Aptos"/>
              </a:rPr>
              <a:t>北美PCT专利</a:t>
            </a:r>
            <a:r>
              <a:rPr lang="en-US" sz="1800" b="1" i="0" u="none" strike="noStrike" dirty="0" err="1">
                <a:solidFill>
                  <a:srgbClr val="FF0000"/>
                </a:solidFill>
                <a:effectLst/>
                <a:latin typeface="Aptos"/>
              </a:rPr>
              <a:t>Patent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FF0000"/>
              </a:solidFill>
              <a:effectLst/>
              <a:latin typeface="Aptos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-Lung</a:t>
            </a:r>
            <a:r>
              <a:rPr lang="zh-CN" sz="1800" b="0" i="0" u="none" strike="noStrike" dirty="0">
                <a:solidFill>
                  <a:srgbClr val="FF0000"/>
                </a:solidFill>
                <a:effectLst/>
                <a:latin typeface="Segoe UI"/>
                <a:ea typeface="Aptos" panose="020B0004020202020204" pitchFamily="34" charset="0"/>
                <a:cs typeface="Segoe UI"/>
              </a:rPr>
              <a:t> 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targeted</a:t>
            </a:r>
            <a:r>
              <a:rPr lang="zh-CN" sz="1800" b="0" i="0" u="none" strike="noStrike" dirty="0">
                <a:solidFill>
                  <a:srgbClr val="FF0000"/>
                </a:solidFill>
                <a:effectLst/>
                <a:latin typeface="Segoe UI"/>
                <a:ea typeface="Aptos" panose="020B0004020202020204" pitchFamily="34" charset="0"/>
                <a:cs typeface="Segoe UI"/>
              </a:rPr>
              <a:t> 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Stable lipid nanoparticles for enhanced gene delivery</a:t>
            </a:r>
            <a:r>
              <a:rPr lang="zh-CN" altLang="en-US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 </a:t>
            </a:r>
            <a:r>
              <a:rPr lang="en-US" altLang="zh-CN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(</a:t>
            </a:r>
            <a:r>
              <a:rPr lang="zh-CN" altLang="en-US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涉及小</a:t>
            </a:r>
            <a:r>
              <a:rPr lang="en-US" altLang="zh-CN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RNA</a:t>
            </a:r>
            <a:r>
              <a:rPr lang="zh-CN" altLang="en-US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序列、</a:t>
            </a:r>
            <a:r>
              <a:rPr lang="en-US" altLang="zh-CN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LNP</a:t>
            </a:r>
            <a:r>
              <a:rPr lang="zh-CN" altLang="en-US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脂质新成分以及包裹工艺等</a:t>
            </a:r>
            <a:r>
              <a:rPr lang="en-US" altLang="zh-CN" sz="1800" b="0" i="0" u="none" strike="noStrike" dirty="0">
                <a:solidFill>
                  <a:srgbClr val="FF0000"/>
                </a:solidFill>
                <a:effectLst/>
                <a:latin typeface="Aptos"/>
              </a:rPr>
              <a:t>)</a:t>
            </a:r>
            <a:endParaRPr lang="en-CA" dirty="0">
              <a:latin typeface="Aptos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a typeface="新細明體"/>
              </a:rPr>
              <a:t>应用范围 </a:t>
            </a:r>
            <a:r>
              <a:rPr lang="en-US" altLang="zh-TW" b="1" dirty="0">
                <a:ea typeface="新細明體"/>
              </a:rPr>
              <a:t>(</a:t>
            </a:r>
            <a:r>
              <a:rPr lang="en-CA" b="1" dirty="0"/>
              <a:t>Applications)</a:t>
            </a:r>
            <a:r>
              <a:rPr lang="en-CA" dirty="0"/>
              <a:t>:</a:t>
            </a:r>
            <a:endParaRPr lang="en-CA" dirty="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ea typeface="新細明體"/>
              </a:rPr>
              <a:t>基因治疗、疫苗开发、抗病毒病疗法和癌症治疗</a:t>
            </a:r>
            <a:endParaRPr lang="zh-TW" altLang="en-US" dirty="0">
              <a:ea typeface="新細明體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Gene therapy, vaccine development, antiviral treatments, and cancer therapies.</a:t>
            </a:r>
            <a:endParaRPr lang="en-CA" dirty="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a typeface="新細明體"/>
              </a:rPr>
              <a:t>项目愿景 </a:t>
            </a:r>
            <a:r>
              <a:rPr lang="en-US" altLang="zh-TW" b="1" dirty="0">
                <a:ea typeface="新細明體"/>
              </a:rPr>
              <a:t>(</a:t>
            </a:r>
            <a:r>
              <a:rPr lang="en-CA" b="1" dirty="0"/>
              <a:t>Project Vision)</a:t>
            </a:r>
            <a:r>
              <a:rPr lang="en-CA" dirty="0"/>
              <a:t>:</a:t>
            </a:r>
            <a:endParaRPr lang="en-CA" dirty="0"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ea typeface="新細明體"/>
              </a:rPr>
              <a:t>构建一个全球领先的</a:t>
            </a:r>
            <a:r>
              <a:rPr lang="en-CA" dirty="0"/>
              <a:t>LNP</a:t>
            </a:r>
            <a:r>
              <a:rPr lang="zh-TW" altLang="en-CA" dirty="0">
                <a:ea typeface="新細明體"/>
              </a:rPr>
              <a:t>技术开发</a:t>
            </a:r>
            <a:r>
              <a:rPr lang="zh-TW" altLang="en-US" dirty="0">
                <a:ea typeface="新細明體"/>
              </a:rPr>
              <a:t>平台，通过与制药公司和生物技术公司合作，实现基因与药物精准递送</a:t>
            </a:r>
            <a:endParaRPr lang="zh-TW" altLang="en-US" dirty="0">
              <a:ea typeface="新細明體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To establish a globally leading LNP platform that achieves precise gene and drug delivery through partnerships with pharmaceutical and biotech companies.</a:t>
            </a:r>
            <a:endParaRPr lang="en-CA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5AF05-765F-4291-3535-AD1AF350B4E8}"/>
              </a:ext>
            </a:extLst>
          </p:cNvPr>
          <p:cNvSpPr txBox="1"/>
          <p:nvPr/>
        </p:nvSpPr>
        <p:spPr>
          <a:xfrm>
            <a:off x="304800" y="228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/>
              <a:t>项目概述 </a:t>
            </a:r>
            <a:r>
              <a:rPr lang="en-US" altLang="zh-TW" b="1"/>
              <a:t>(</a:t>
            </a:r>
            <a:r>
              <a:rPr lang="en-CA" b="1"/>
              <a:t>Project Overview)</a:t>
            </a:r>
          </a:p>
        </p:txBody>
      </p:sp>
    </p:spTree>
    <p:extLst>
      <p:ext uri="{BB962C8B-B14F-4D97-AF65-F5344CB8AC3E}">
        <p14:creationId xmlns:p14="http://schemas.microsoft.com/office/powerpoint/2010/main" val="3680702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77230" y="1614257"/>
            <a:ext cx="755650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0" b="1" spc="-5">
                <a:solidFill>
                  <a:schemeClr val="accent1"/>
                </a:solidFill>
                <a:latin typeface="Times New Roman"/>
                <a:cs typeface="Times New Roman"/>
              </a:rPr>
              <a:t>3</a:t>
            </a:r>
            <a:endParaRPr sz="115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2422461" y="2175950"/>
            <a:ext cx="7347078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spc="-5" err="1"/>
              <a:t>市场分析</a:t>
            </a:r>
            <a:r>
              <a:rPr lang="en-CA" sz="4200" spc="-5"/>
              <a:t> </a:t>
            </a:r>
            <a:r>
              <a:rPr lang="en-CA" sz="4200" b="1"/>
              <a:t>Market Analysis</a:t>
            </a:r>
            <a:endParaRPr sz="4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1B203D-B30B-ED0B-BC29-7861CE1B1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353175"/>
              </p:ext>
            </p:extLst>
          </p:nvPr>
        </p:nvGraphicFramePr>
        <p:xfrm>
          <a:off x="279761" y="1090098"/>
          <a:ext cx="5776655" cy="2438400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579227575"/>
                    </a:ext>
                  </a:extLst>
                </a:gridCol>
                <a:gridCol w="2500055">
                  <a:extLst>
                    <a:ext uri="{9D8B030D-6E8A-4147-A177-3AD203B41FA5}">
                      <a16:colId xmlns:a16="http://schemas.microsoft.com/office/drawing/2014/main" val="2167559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 b="1">
                          <a:effectLst/>
                        </a:rPr>
                        <a:t>Attributes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 b="1">
                          <a:effectLst/>
                        </a:rPr>
                        <a:t>Details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020423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 sz="1700">
                          <a:effectLst/>
                        </a:rPr>
                        <a:t>Lung Disease Therapeutics Market CAGR (2023 to 2033)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 sz="1700">
                          <a:effectLst/>
                        </a:rPr>
                        <a:t>6.2%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130306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 sz="1700">
                          <a:effectLst/>
                        </a:rPr>
                        <a:t>Lung Disease Therapeutics Market Size (2023)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 sz="1700">
                          <a:effectLst/>
                        </a:rPr>
                        <a:t>USD 83</a:t>
                      </a:r>
                      <a:r>
                        <a:rPr lang="en-US" altLang="zh-CN" sz="1700">
                          <a:effectLst/>
                        </a:rPr>
                        <a:t>3</a:t>
                      </a:r>
                      <a:r>
                        <a:rPr lang="en-CA" sz="1700">
                          <a:effectLst/>
                        </a:rPr>
                        <a:t> billion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684469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 sz="1700">
                          <a:effectLst/>
                        </a:rPr>
                        <a:t>Lung Disease Therapeutics Market Size (2033)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 sz="1700" dirty="0">
                          <a:effectLst/>
                        </a:rPr>
                        <a:t>USD 152</a:t>
                      </a:r>
                      <a:r>
                        <a:rPr lang="en-US" altLang="zh-CN" sz="1700" dirty="0">
                          <a:effectLst/>
                        </a:rPr>
                        <a:t>3</a:t>
                      </a:r>
                      <a:r>
                        <a:rPr lang="zh-CN" altLang="en-US" sz="1700" dirty="0">
                          <a:effectLst/>
                        </a:rPr>
                        <a:t> </a:t>
                      </a:r>
                      <a:r>
                        <a:rPr lang="en-US" altLang="zh-CN" sz="1700" dirty="0">
                          <a:effectLst/>
                        </a:rPr>
                        <a:t>b</a:t>
                      </a:r>
                      <a:r>
                        <a:rPr lang="en-CA" sz="1700" dirty="0" err="1">
                          <a:effectLst/>
                        </a:rPr>
                        <a:t>illion</a:t>
                      </a:r>
                      <a:endParaRPr lang="en-CA" sz="1700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723056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88DAF5-BCD2-877A-547D-C8A7D1756C23}"/>
              </a:ext>
            </a:extLst>
          </p:cNvPr>
          <p:cNvSpPr txBox="1"/>
          <p:nvPr/>
        </p:nvSpPr>
        <p:spPr>
          <a:xfrm>
            <a:off x="5410200" y="6537085"/>
            <a:ext cx="6654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https://</a:t>
            </a:r>
            <a:r>
              <a:rPr lang="en-US" sz="1400" err="1"/>
              <a:t>www.futuremarketinsights.com</a:t>
            </a:r>
            <a:r>
              <a:rPr lang="en-US" sz="1400"/>
              <a:t>/reports/chronic-lung-diseases-treatment-market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D01296-67D2-9889-4FBF-7F3C6F0ED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474107"/>
              </p:ext>
            </p:extLst>
          </p:nvPr>
        </p:nvGraphicFramePr>
        <p:xfrm>
          <a:off x="279761" y="3962400"/>
          <a:ext cx="5764779" cy="170688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3270961">
                  <a:extLst>
                    <a:ext uri="{9D8B030D-6E8A-4147-A177-3AD203B41FA5}">
                      <a16:colId xmlns:a16="http://schemas.microsoft.com/office/drawing/2014/main" val="1067742501"/>
                    </a:ext>
                  </a:extLst>
                </a:gridCol>
                <a:gridCol w="2493818">
                  <a:extLst>
                    <a:ext uri="{9D8B030D-6E8A-4147-A177-3AD203B41FA5}">
                      <a16:colId xmlns:a16="http://schemas.microsoft.com/office/drawing/2014/main" val="603658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>
                          <a:effectLst/>
                        </a:rPr>
                        <a:t>Countries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effectLst/>
                        </a:rPr>
                        <a:t>Market share (2022)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154806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>
                          <a:effectLst/>
                        </a:rPr>
                        <a:t>United States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32.2%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630073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>
                          <a:effectLst/>
                        </a:rPr>
                        <a:t>Germany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5.9%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015121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>
                          <a:effectLst/>
                        </a:rPr>
                        <a:t>Japan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effectLst/>
                        </a:rPr>
                        <a:t>3.7%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0937894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FED585-551F-A795-2E9C-369B28A1E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493901"/>
              </p:ext>
            </p:extLst>
          </p:nvPr>
        </p:nvGraphicFramePr>
        <p:xfrm>
          <a:off x="279761" y="5683645"/>
          <a:ext cx="5776655" cy="85344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3306587">
                  <a:extLst>
                    <a:ext uri="{9D8B030D-6E8A-4147-A177-3AD203B41FA5}">
                      <a16:colId xmlns:a16="http://schemas.microsoft.com/office/drawing/2014/main" val="1530994907"/>
                    </a:ext>
                  </a:extLst>
                </a:gridCol>
                <a:gridCol w="2470068">
                  <a:extLst>
                    <a:ext uri="{9D8B030D-6E8A-4147-A177-3AD203B41FA5}">
                      <a16:colId xmlns:a16="http://schemas.microsoft.com/office/drawing/2014/main" val="3016202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>
                          <a:effectLst/>
                        </a:rPr>
                        <a:t>China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>
                          <a:effectLst/>
                        </a:rPr>
                        <a:t>9.2%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818694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CA">
                          <a:effectLst/>
                        </a:rPr>
                        <a:t>India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effectLst/>
                        </a:rPr>
                        <a:t>7.5%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2903817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190625A-33BD-B436-8BEC-C9631553970E}"/>
              </a:ext>
            </a:extLst>
          </p:cNvPr>
          <p:cNvSpPr txBox="1"/>
          <p:nvPr/>
        </p:nvSpPr>
        <p:spPr>
          <a:xfrm>
            <a:off x="374763" y="132976"/>
            <a:ext cx="4158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 err="1">
                <a:solidFill>
                  <a:schemeClr val="tx2">
                    <a:lumMod val="75000"/>
                  </a:schemeClr>
                </a:solidFill>
              </a:rPr>
              <a:t>全球肺靶向疗法市场规模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B289A3-C3AA-F569-F08B-5A8194B5BE44}"/>
              </a:ext>
            </a:extLst>
          </p:cNvPr>
          <p:cNvSpPr txBox="1"/>
          <p:nvPr/>
        </p:nvSpPr>
        <p:spPr>
          <a:xfrm>
            <a:off x="6570174" y="1752188"/>
            <a:ext cx="46506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市场空间大、增速快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为项目后续研发及商业化提供了广阔前景。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具备一定的投融资潜力，可引入更多资源。</a:t>
            </a:r>
            <a:endParaRPr lang="en-CA" altLang="zh-CN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525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21DDA7-4410-4B84-C687-B3BEFB8831F2}"/>
              </a:ext>
            </a:extLst>
          </p:cNvPr>
          <p:cNvSpPr txBox="1"/>
          <p:nvPr/>
        </p:nvSpPr>
        <p:spPr>
          <a:xfrm>
            <a:off x="374763" y="132976"/>
            <a:ext cx="5032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 err="1">
                <a:solidFill>
                  <a:schemeClr val="tx2">
                    <a:lumMod val="75000"/>
                  </a:schemeClr>
                </a:solidFill>
              </a:rPr>
              <a:t>全球广谱抗病毒疗法市场规模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26" name="Picture 2" descr="Global Antiviral Drugs Market share and size, 2022">
            <a:extLst>
              <a:ext uri="{FF2B5EF4-FFF2-40B4-BE49-F238E27FC236}">
                <a16:creationId xmlns:a16="http://schemas.microsoft.com/office/drawing/2014/main" id="{F32C1D0A-28CF-F4E9-6E03-C9F4CA0C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23" y="982786"/>
            <a:ext cx="4919532" cy="256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tiviral Drugs Market Trends by Region, 2023 - 2030">
            <a:extLst>
              <a:ext uri="{FF2B5EF4-FFF2-40B4-BE49-F238E27FC236}">
                <a16:creationId xmlns:a16="http://schemas.microsoft.com/office/drawing/2014/main" id="{34C04100-F0D5-586B-52EB-BE9421DE5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92" y="3885646"/>
            <a:ext cx="4926874" cy="256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1EBA98-D5BC-D876-D3D8-5B90E0DA8FE0}"/>
              </a:ext>
            </a:extLst>
          </p:cNvPr>
          <p:cNvSpPr txBox="1"/>
          <p:nvPr/>
        </p:nvSpPr>
        <p:spPr>
          <a:xfrm>
            <a:off x="5293059" y="982786"/>
            <a:ext cx="689894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市场驱动因素</a:t>
            </a: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chemeClr val="tx2"/>
                </a:solidFill>
              </a:rPr>
              <a:t>新发突发性病毒威胁与疫情防控需求</a:t>
            </a:r>
            <a:endParaRPr lang="zh-CN" altLang="en-US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/>
                </a:solidFill>
              </a:rPr>
              <a:t>新型病毒不断涌现，现有抗病毒药物可能难以及时覆盖。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/>
                </a:solidFill>
              </a:rPr>
              <a:t>全球公共卫生体系对于广谱抗病毒药物的需求不断上升。</a:t>
            </a:r>
            <a:endParaRPr lang="en-CA" altLang="zh-CN" dirty="0">
              <a:solidFill>
                <a:schemeClr val="tx2"/>
              </a:solidFill>
            </a:endParaRPr>
          </a:p>
          <a:p>
            <a:pPr lvl="1"/>
            <a:endParaRPr lang="zh-CN" altLang="en-US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chemeClr val="tx2"/>
                </a:solidFill>
              </a:rPr>
              <a:t>政府与机构的研发支持</a:t>
            </a:r>
            <a:endParaRPr lang="zh-CN" altLang="en-US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/>
                </a:solidFill>
              </a:rPr>
              <a:t>各国政府、跨国药企与生物技术公司对广谱抗病毒研发投入加大。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/>
                </a:solidFill>
              </a:rPr>
              <a:t>科技进步（如基因工程、</a:t>
            </a:r>
            <a:r>
              <a:rPr lang="en-CA" dirty="0">
                <a:solidFill>
                  <a:schemeClr val="tx2"/>
                </a:solidFill>
              </a:rPr>
              <a:t>AI </a:t>
            </a:r>
            <a:r>
              <a:rPr lang="zh-CN" altLang="en-US" dirty="0">
                <a:solidFill>
                  <a:schemeClr val="tx2"/>
                </a:solidFill>
              </a:rPr>
              <a:t>药物筛选）提高新药研发效率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zh-CN" altLang="en-US" dirty="0">
                <a:solidFill>
                  <a:schemeClr val="tx2"/>
                </a:solidFill>
              </a:rPr>
              <a:t> 整体项目风险降低</a:t>
            </a:r>
            <a:endParaRPr lang="en-CA" altLang="zh-CN">
              <a:solidFill>
                <a:schemeClr val="tx2"/>
              </a:solidFill>
            </a:endParaRPr>
          </a:p>
          <a:p>
            <a:pPr lvl="1"/>
            <a:endParaRPr lang="zh-CN" altLang="en-US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zh-CN" altLang="en-US" b="1" dirty="0">
                <a:solidFill>
                  <a:schemeClr val="tx2"/>
                </a:solidFill>
              </a:rPr>
              <a:t>全球医疗支出与相关基础设施的升级</a:t>
            </a:r>
            <a:endParaRPr lang="zh-CN" altLang="en-US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/>
                </a:solidFill>
              </a:rPr>
              <a:t>各国医疗体系完善，抗病毒药物需求持续增长。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/>
                </a:solidFill>
              </a:rPr>
              <a:t>人口老龄化带来的慢性病管理需求，也侧面促进抗病毒市场的发展。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130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D98916-5C26-F21B-AFA0-BB9791888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110862"/>
              </p:ext>
            </p:extLst>
          </p:nvPr>
        </p:nvGraphicFramePr>
        <p:xfrm>
          <a:off x="265813" y="1190847"/>
          <a:ext cx="5562600" cy="479020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781629">
                  <a:extLst>
                    <a:ext uri="{9D8B030D-6E8A-4147-A177-3AD203B41FA5}">
                      <a16:colId xmlns:a16="http://schemas.microsoft.com/office/drawing/2014/main" val="3386068405"/>
                    </a:ext>
                  </a:extLst>
                </a:gridCol>
                <a:gridCol w="3780971">
                  <a:extLst>
                    <a:ext uri="{9D8B030D-6E8A-4147-A177-3AD203B41FA5}">
                      <a16:colId xmlns:a16="http://schemas.microsoft.com/office/drawing/2014/main" val="1325586203"/>
                    </a:ext>
                  </a:extLst>
                </a:gridCol>
              </a:tblGrid>
              <a:tr h="194655">
                <a:tc>
                  <a:txBody>
                    <a:bodyPr/>
                    <a:lstStyle/>
                    <a:p>
                      <a:pPr algn="ctr"/>
                      <a:r>
                        <a:rPr lang="en-CA" sz="1200" b="1"/>
                        <a:t>Company</a:t>
                      </a:r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/>
                        <a:t>Involvement in LNP Gene Delivery for Lung Diseases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4074602521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GlaxoSmithKline (GSK)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Strong focus on respiratory diseases; potential for LNP-based therapies.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754310893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Boehringer Ingelheim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Research in respiratory disease treatments; likely exploring LNP delivery.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3553202517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AstraZeneca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Investment in respiratory therapies; potential use of LNPs in R&amp;D.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3404904305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Novartis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Existing lung treatment portfolio; could adopt LNP technologies.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2425764695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Sanofi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Focus on respiratory therapies; LNP-based delivery possible.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2197671309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Roche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Active in genetic therapies; potential use of LNPs for lung applications.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4140269880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Teva Pharmaceuticals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Specializes in respiratory treatments; LNP exploration likely.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3118766693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Astellas Pharma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Expanding in innovative therapies; LNP delivery could be part of research.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1272243061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Dr. Reddy’s Laboratories Ltd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Known for generics; expanding into novel therapies, including LNP potential.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1462441236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/>
                        <a:t>Pfizer &amp; Acuitas Therapeutics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Agreement for LNP technology in vaccines and therapies, including lung focus.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3046015317"/>
                  </a:ext>
                </a:extLst>
              </a:tr>
              <a:tr h="340646">
                <a:tc>
                  <a:txBody>
                    <a:bodyPr/>
                    <a:lstStyle/>
                    <a:p>
                      <a:r>
                        <a:rPr lang="en-CA" sz="1200" b="1" err="1"/>
                        <a:t>ReCode</a:t>
                      </a:r>
                      <a:r>
                        <a:rPr lang="en-CA" sz="1200" b="1"/>
                        <a:t> Therapeutics</a:t>
                      </a:r>
                      <a:endParaRPr lang="en-CA" sz="1200"/>
                    </a:p>
                  </a:txBody>
                  <a:tcPr marL="48664" marR="48664" marT="24332" marB="24332"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Developing SORT LNPs for lung-targeted gene delivery with preclinical success.</a:t>
                      </a:r>
                    </a:p>
                  </a:txBody>
                  <a:tcPr marL="48664" marR="48664" marT="24332" marB="24332" anchor="ctr"/>
                </a:tc>
                <a:extLst>
                  <a:ext uri="{0D108BD9-81ED-4DB2-BD59-A6C34878D82A}">
                    <a16:rowId xmlns:a16="http://schemas.microsoft.com/office/drawing/2014/main" val="14929461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6319CE-1D19-95BB-B058-7A7F7A49FEE2}"/>
              </a:ext>
            </a:extLst>
          </p:cNvPr>
          <p:cNvSpPr txBox="1"/>
          <p:nvPr/>
        </p:nvSpPr>
        <p:spPr>
          <a:xfrm>
            <a:off x="265813" y="225237"/>
            <a:ext cx="1465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>
                <a:solidFill>
                  <a:srgbClr val="0667AC"/>
                </a:solidFill>
                <a:effectLst/>
                <a:latin typeface="system-ui"/>
              </a:rPr>
              <a:t>Key Players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AA74A-B70D-65D1-9932-CD31764E61FB}"/>
              </a:ext>
            </a:extLst>
          </p:cNvPr>
          <p:cNvSpPr txBox="1"/>
          <p:nvPr/>
        </p:nvSpPr>
        <p:spPr>
          <a:xfrm>
            <a:off x="6439787" y="256014"/>
            <a:ext cx="34692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>
                <a:solidFill>
                  <a:schemeClr val="accent1"/>
                </a:solidFill>
              </a:rPr>
              <a:t>Applications by Disease Type</a:t>
            </a:r>
            <a:endParaRPr lang="en-US" sz="2200">
              <a:solidFill>
                <a:schemeClr val="accent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A72C0C-5FFB-7284-F286-869A4D99F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506000"/>
              </p:ext>
            </p:extLst>
          </p:nvPr>
        </p:nvGraphicFramePr>
        <p:xfrm>
          <a:off x="6363589" y="1190847"/>
          <a:ext cx="5486400" cy="29260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225615">
                  <a:extLst>
                    <a:ext uri="{9D8B030D-6E8A-4147-A177-3AD203B41FA5}">
                      <a16:colId xmlns:a16="http://schemas.microsoft.com/office/drawing/2014/main" val="4070972665"/>
                    </a:ext>
                  </a:extLst>
                </a:gridCol>
                <a:gridCol w="3260785">
                  <a:extLst>
                    <a:ext uri="{9D8B030D-6E8A-4147-A177-3AD203B41FA5}">
                      <a16:colId xmlns:a16="http://schemas.microsoft.com/office/drawing/2014/main" val="3298599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sz="1200" b="1"/>
                        <a:t>Disease Type</a:t>
                      </a:r>
                      <a:endParaRPr lang="en-CA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200" b="1"/>
                        <a:t>Potential Use of LNP Gene Delivery</a:t>
                      </a:r>
                      <a:endParaRPr lang="en-CA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633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200" b="1"/>
                        <a:t>Chronic Obstructive Pulmonary Disease (COPD)</a:t>
                      </a:r>
                      <a:endParaRPr lang="en-CA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Inflammation reduction, tissue repair.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992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200" b="1"/>
                        <a:t>Pulmonary Fibrosis</a:t>
                      </a:r>
                      <a:endParaRPr lang="en-CA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Halting or reversing fibrotic processes.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630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200" b="1"/>
                        <a:t>Asthma</a:t>
                      </a:r>
                      <a:endParaRPr lang="en-CA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Delivering anti-inflammatory genes or RNA molecules.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47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200" b="1"/>
                        <a:t>Chronic Bronchitis</a:t>
                      </a:r>
                      <a:endParaRPr lang="en-CA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Gene therapy for reducing chronic airway inflammation.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32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200" b="1"/>
                        <a:t>Emphysema</a:t>
                      </a:r>
                      <a:endParaRPr lang="en-CA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Targeting alveolar damage repair.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908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200" b="1"/>
                        <a:t>Bronchopulmonary Dysplasia</a:t>
                      </a:r>
                      <a:endParaRPr lang="en-CA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Potential gene correction therapies.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728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200" b="1"/>
                        <a:t>Other Lung Diseases</a:t>
                      </a:r>
                      <a:endParaRPr lang="en-CA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Emerging genetic therapies for various lung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479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731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0E62F8-5839-3A63-F93C-F8B1FD1EB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784" y="1263372"/>
            <a:ext cx="11174780" cy="247696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err="1"/>
              <a:t>Ebovir</a:t>
            </a:r>
            <a:r>
              <a:rPr lang="zh-TW" altLang="en-US"/>
              <a:t>的低毒性</a:t>
            </a:r>
            <a:r>
              <a:rPr lang="en-CA"/>
              <a:t>LNP</a:t>
            </a:r>
            <a:r>
              <a:rPr lang="zh-TW" altLang="en-US"/>
              <a:t>技术可以为这些企业的核酸药物开发提供更高效的递送系统，特别是在肺部癌症和免疫治疗领域。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/>
              <a:t>提供灵活的合作模式，包括定制开发、技术授权和共同研发，以满足客户在临床试验和药物商业化中的多样化需求。</a:t>
            </a:r>
          </a:p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01310-AC2D-7D9B-1AD6-FC5ADBF35F2A}"/>
              </a:ext>
            </a:extLst>
          </p:cNvPr>
          <p:cNvSpPr txBox="1"/>
          <p:nvPr/>
        </p:nvSpPr>
        <p:spPr>
          <a:xfrm>
            <a:off x="511784" y="228600"/>
            <a:ext cx="49335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200" b="1"/>
              <a:t>合作机会 </a:t>
            </a:r>
            <a:r>
              <a:rPr lang="en-US" altLang="zh-TW" sz="2200" b="1"/>
              <a:t>(</a:t>
            </a:r>
            <a:r>
              <a:rPr lang="en-CA" sz="2200" b="1"/>
              <a:t>Collaboration Opportunities):</a:t>
            </a:r>
          </a:p>
        </p:txBody>
      </p:sp>
    </p:spTree>
    <p:extLst>
      <p:ext uri="{BB962C8B-B14F-4D97-AF65-F5344CB8AC3E}">
        <p14:creationId xmlns:p14="http://schemas.microsoft.com/office/powerpoint/2010/main" val="2421929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E2790-1805-DF11-1ED4-28F967EF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610" y="1295400"/>
            <a:ext cx="11174780" cy="54777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b="1" dirty="0"/>
              <a:t>北美地区目标客户 </a:t>
            </a:r>
            <a:r>
              <a:rPr lang="en-US" altLang="zh-TW" b="1" dirty="0"/>
              <a:t>(</a:t>
            </a:r>
            <a:r>
              <a:rPr lang="en-CA" b="1" dirty="0"/>
              <a:t>Target Customers)</a:t>
            </a:r>
            <a:r>
              <a:rPr lang="en-CA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以开发核酸药物（如</a:t>
            </a:r>
            <a:r>
              <a:rPr lang="en-CA" dirty="0"/>
              <a:t>ASO</a:t>
            </a:r>
            <a:r>
              <a:rPr lang="zh-TW" altLang="en-US" dirty="0"/>
              <a:t>和</a:t>
            </a:r>
            <a:r>
              <a:rPr lang="en-CA" dirty="0"/>
              <a:t>miRNA）</a:t>
            </a:r>
            <a:r>
              <a:rPr lang="zh-TW" altLang="en-US" dirty="0"/>
              <a:t>的制药和生物技术公司为目标客户，尤其是在肺部癌症和其他相关疾病领域有布局的企业。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潜在客户包括：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b="1" dirty="0"/>
              <a:t>MRX34 </a:t>
            </a:r>
            <a:r>
              <a:rPr lang="zh-TW" altLang="en-US" b="1" dirty="0"/>
              <a:t>开发商</a:t>
            </a:r>
            <a:r>
              <a:rPr lang="en-US" altLang="zh-TW" dirty="0"/>
              <a:t>: </a:t>
            </a:r>
            <a:r>
              <a:rPr lang="zh-TW" altLang="en-US" dirty="0"/>
              <a:t>针对多种致癌基因（如</a:t>
            </a:r>
            <a:r>
              <a:rPr lang="en-CA" dirty="0"/>
              <a:t>MET、MYC</a:t>
            </a:r>
            <a:r>
              <a:rPr lang="zh-TW" altLang="en-US" dirty="0"/>
              <a:t>等）的</a:t>
            </a:r>
            <a:r>
              <a:rPr lang="en-CA" dirty="0"/>
              <a:t>miRNA</a:t>
            </a:r>
            <a:r>
              <a:rPr lang="zh-TW" altLang="en-US" dirty="0"/>
              <a:t>疗法，用于肺癌、肝癌等。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b="1" dirty="0" err="1"/>
              <a:t>TargomiRs</a:t>
            </a:r>
            <a:r>
              <a:rPr lang="en-CA" b="1" dirty="0"/>
              <a:t> </a:t>
            </a:r>
            <a:r>
              <a:rPr lang="zh-TW" altLang="en-US" b="1" dirty="0"/>
              <a:t>开发商</a:t>
            </a:r>
            <a:r>
              <a:rPr lang="en-US" altLang="zh-TW" dirty="0"/>
              <a:t>: </a:t>
            </a:r>
            <a:r>
              <a:rPr lang="zh-TW" altLang="en-US" dirty="0"/>
              <a:t>专注于</a:t>
            </a:r>
            <a:r>
              <a:rPr lang="en-CA" dirty="0"/>
              <a:t>BCL2、MCL1</a:t>
            </a:r>
            <a:r>
              <a:rPr lang="zh-TW" altLang="en-US" dirty="0"/>
              <a:t>等目标基因的</a:t>
            </a:r>
            <a:r>
              <a:rPr lang="en-CA" dirty="0"/>
              <a:t>miRNA</a:t>
            </a:r>
            <a:r>
              <a:rPr lang="zh-TW" altLang="en-US" dirty="0"/>
              <a:t>疗法，用于恶性胸膜间皮瘤和非小细胞肺癌。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b="1" dirty="0"/>
              <a:t>AZD4785 </a:t>
            </a:r>
            <a:r>
              <a:rPr lang="zh-TW" altLang="en-US" b="1" dirty="0"/>
              <a:t>开发商</a:t>
            </a:r>
            <a:r>
              <a:rPr lang="en-US" altLang="zh-TW" dirty="0"/>
              <a:t>: </a:t>
            </a:r>
            <a:r>
              <a:rPr lang="zh-TW" altLang="en-US" dirty="0"/>
              <a:t>研发</a:t>
            </a:r>
            <a:r>
              <a:rPr lang="en-CA" dirty="0"/>
              <a:t>KRAS</a:t>
            </a:r>
            <a:r>
              <a:rPr lang="zh-TW" altLang="en-US" dirty="0"/>
              <a:t>靶点的</a:t>
            </a:r>
            <a:r>
              <a:rPr lang="en-CA" dirty="0"/>
              <a:t>ASO</a:t>
            </a:r>
            <a:r>
              <a:rPr lang="zh-TW" altLang="en-US" dirty="0"/>
              <a:t>疗法，用于非小细胞肺癌。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b="1" dirty="0"/>
              <a:t>CpG 7909 (PF03512676) </a:t>
            </a:r>
            <a:r>
              <a:rPr lang="zh-TW" altLang="en-US" b="1" dirty="0"/>
              <a:t>开发商</a:t>
            </a:r>
            <a:r>
              <a:rPr lang="en-US" altLang="zh-TW" dirty="0"/>
              <a:t>: </a:t>
            </a:r>
            <a:r>
              <a:rPr lang="en-CA" dirty="0"/>
              <a:t>TLR9</a:t>
            </a:r>
            <a:r>
              <a:rPr lang="zh-TW" altLang="en-US" dirty="0"/>
              <a:t>靶点的</a:t>
            </a:r>
            <a:r>
              <a:rPr lang="en-CA" dirty="0"/>
              <a:t>ASO</a:t>
            </a:r>
            <a:r>
              <a:rPr lang="zh-TW" altLang="en-US" dirty="0"/>
              <a:t>疗法，用于非小细胞肺癌、黑色素瘤等多种癌症。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b="1" dirty="0" err="1"/>
              <a:t>Custirsen</a:t>
            </a:r>
            <a:r>
              <a:rPr lang="en-CA" b="1" dirty="0"/>
              <a:t> (OGX-011) </a:t>
            </a:r>
            <a:r>
              <a:rPr lang="zh-TW" altLang="en-US" b="1" dirty="0"/>
              <a:t>开发商</a:t>
            </a:r>
            <a:r>
              <a:rPr lang="en-US" altLang="zh-TW" dirty="0"/>
              <a:t>: </a:t>
            </a:r>
            <a:r>
              <a:rPr lang="en-CA" dirty="0" err="1"/>
              <a:t>ApoJ</a:t>
            </a:r>
            <a:r>
              <a:rPr lang="zh-TW" altLang="en-US" dirty="0"/>
              <a:t>靶点的</a:t>
            </a:r>
            <a:r>
              <a:rPr lang="en-CA" dirty="0"/>
              <a:t>ASO</a:t>
            </a:r>
            <a:r>
              <a:rPr lang="zh-TW" altLang="en-US" dirty="0"/>
              <a:t>疗法，用于非小细胞肺癌和前列腺癌等。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b="1" dirty="0"/>
              <a:t>IMO-2055 </a:t>
            </a:r>
            <a:r>
              <a:rPr lang="zh-TW" altLang="en-US" b="1" dirty="0"/>
              <a:t>开发商</a:t>
            </a:r>
            <a:r>
              <a:rPr lang="en-US" altLang="zh-TW" dirty="0"/>
              <a:t>: </a:t>
            </a:r>
            <a:r>
              <a:rPr lang="en-CA" dirty="0"/>
              <a:t>TLR9</a:t>
            </a:r>
            <a:r>
              <a:rPr lang="zh-TW" altLang="en-US" dirty="0"/>
              <a:t>靶点的</a:t>
            </a:r>
            <a:r>
              <a:rPr lang="en-CA" dirty="0"/>
              <a:t>ASO</a:t>
            </a:r>
            <a:r>
              <a:rPr lang="zh-TW" altLang="en-US" dirty="0"/>
              <a:t>疗法，用于非小细胞肺癌、肾癌、头颈癌等。</a:t>
            </a:r>
          </a:p>
          <a:p>
            <a:pPr>
              <a:lnSpc>
                <a:spcPct val="150000"/>
              </a:lnSpc>
            </a:pPr>
            <a:endParaRPr lang="en-CA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B43A5-44EC-52B8-D767-EC78CD4FDC8B}"/>
              </a:ext>
            </a:extLst>
          </p:cNvPr>
          <p:cNvSpPr txBox="1"/>
          <p:nvPr/>
        </p:nvSpPr>
        <p:spPr>
          <a:xfrm>
            <a:off x="652881" y="228600"/>
            <a:ext cx="2852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/>
              <a:t>市场分析 </a:t>
            </a:r>
            <a:r>
              <a:rPr lang="en-US" altLang="zh-TW" b="1"/>
              <a:t>(</a:t>
            </a:r>
            <a:r>
              <a:rPr lang="en-CA" b="1"/>
              <a:t>Market Analysis)</a:t>
            </a:r>
          </a:p>
        </p:txBody>
      </p:sp>
    </p:spTree>
    <p:extLst>
      <p:ext uri="{BB962C8B-B14F-4D97-AF65-F5344CB8AC3E}">
        <p14:creationId xmlns:p14="http://schemas.microsoft.com/office/powerpoint/2010/main" val="1182102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8C3C-DF58-2F30-2199-90EF74F3E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61" y="2270131"/>
            <a:ext cx="3376890" cy="1578131"/>
          </a:xfrm>
        </p:spPr>
        <p:txBody>
          <a:bodyPr anchor="b">
            <a:normAutofit/>
          </a:bodyPr>
          <a:lstStyle/>
          <a:p>
            <a:pPr algn="ctr"/>
            <a:r>
              <a:rPr lang="en-US" sz="3100">
                <a:solidFill>
                  <a:srgbClr val="0070C0"/>
                </a:solidFill>
              </a:rPr>
              <a:t>Our LNP system Applications Examples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90544B-9582-D4B2-C6D0-3852D6846E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8853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7D5D-1F0D-1307-57FE-210EE64A9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360" y="697128"/>
            <a:ext cx="9718111" cy="1576446"/>
          </a:xfrm>
        </p:spPr>
        <p:txBody>
          <a:bodyPr anchor="ctr">
            <a:normAutofit/>
          </a:bodyPr>
          <a:lstStyle/>
          <a:p>
            <a:pPr marL="0" indent="0"/>
            <a:r>
              <a:rPr lang="en-CA" sz="4000">
                <a:solidFill>
                  <a:schemeClr val="accent1"/>
                </a:solidFill>
              </a:rPr>
              <a:t>non-small cell lung cancer (NSCLC) and small cell lung cancer (SCLC)</a:t>
            </a:r>
            <a:endParaRPr lang="en-US" sz="4000">
              <a:solidFill>
                <a:schemeClr val="accent1"/>
              </a:solidFill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BC48F29-E346-4180-0E82-8DEDF95518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2085" y="2273574"/>
          <a:ext cx="10927830" cy="4197750"/>
        </p:xfrm>
        <a:graphic>
          <a:graphicData uri="http://schemas.openxmlformats.org/drawingml/2006/table">
            <a:tbl>
              <a:tblPr/>
              <a:tblGrid>
                <a:gridCol w="1310918">
                  <a:extLst>
                    <a:ext uri="{9D8B030D-6E8A-4147-A177-3AD203B41FA5}">
                      <a16:colId xmlns:a16="http://schemas.microsoft.com/office/drawing/2014/main" val="2471230299"/>
                    </a:ext>
                  </a:extLst>
                </a:gridCol>
                <a:gridCol w="2427938">
                  <a:extLst>
                    <a:ext uri="{9D8B030D-6E8A-4147-A177-3AD203B41FA5}">
                      <a16:colId xmlns:a16="http://schemas.microsoft.com/office/drawing/2014/main" val="3789542466"/>
                    </a:ext>
                  </a:extLst>
                </a:gridCol>
                <a:gridCol w="646227">
                  <a:extLst>
                    <a:ext uri="{9D8B030D-6E8A-4147-A177-3AD203B41FA5}">
                      <a16:colId xmlns:a16="http://schemas.microsoft.com/office/drawing/2014/main" val="3113945341"/>
                    </a:ext>
                  </a:extLst>
                </a:gridCol>
                <a:gridCol w="3200644">
                  <a:extLst>
                    <a:ext uri="{9D8B030D-6E8A-4147-A177-3AD203B41FA5}">
                      <a16:colId xmlns:a16="http://schemas.microsoft.com/office/drawing/2014/main" val="1346829038"/>
                    </a:ext>
                  </a:extLst>
                </a:gridCol>
                <a:gridCol w="3342103">
                  <a:extLst>
                    <a:ext uri="{9D8B030D-6E8A-4147-A177-3AD203B41FA5}">
                      <a16:colId xmlns:a16="http://schemas.microsoft.com/office/drawing/2014/main" val="950912590"/>
                    </a:ext>
                  </a:extLst>
                </a:gridCol>
              </a:tblGrid>
              <a:tr h="354391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Oligonucleotide Therapeutics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Target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Drug Modality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Cancer Types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Clinical Trials (CTG)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35960"/>
                  </a:ext>
                </a:extLst>
              </a:tr>
              <a:tr h="354391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MRX34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Multiple oncogenes, including MET, MYC, PDGFRA, CDK4/6, BCL2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miRNA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Lung Cancer</a:t>
                      </a: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Liver Cancer, Lymphoma, Melanoma, Multiple Myeloma, Renal Cell Cancer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NCT01829971, NCT02862145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545862"/>
                  </a:ext>
                </a:extLst>
              </a:tr>
              <a:tr h="21529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TargomiRs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BCL2, MCL1, CCND1, WNT3A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miRNA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Malignant Pleural Mesothelioma, </a:t>
                      </a: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Non-Small Cell Lung Cancer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NCT02369198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589075"/>
                  </a:ext>
                </a:extLst>
              </a:tr>
              <a:tr h="49349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AEG35156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XIAP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ASO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Non-Small Cell Lung Cancer</a:t>
                      </a: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Hepatocellular Cancer, Pancreatic Cancer, Breast Cancer, Leukemia, Lymphoma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NCT00357747, NCT00363974, NCT00372736, NCT00385775, NCT00557596, NCT00558545, NCT00558922, NCT00768339, NCT00882869, NCT01018069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777859"/>
                  </a:ext>
                </a:extLst>
              </a:tr>
              <a:tr h="354391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Apatorsen (OGX-427)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HSP27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ASO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Non-Small Cell Lung Cancer,</a:t>
                      </a: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Urologic Cancer, Bladder Cancer, Prostate Cancer, Urothelial Cancer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NCT00487786, NCT01454089, NCT01681433, NCT01780545, NCT01829113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758915"/>
                  </a:ext>
                </a:extLst>
              </a:tr>
              <a:tr h="21529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AZD4785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KRAS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ASO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Non-Small Cell Lung Cancer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NCT03101839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652106"/>
                  </a:ext>
                </a:extLst>
              </a:tr>
              <a:tr h="354391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CpG 7909 (PF03512676)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TLR9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ASO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Non-Small Cell Lung Cancer</a:t>
                      </a: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Melanoma, Breast Cancer, Renal Cancer, Lymphoma, Esophageal Cancer, Prostate Cancer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Multiple trials including NCT00031278, NCT00043368, NCT00043407, NCT00070629, NCT00438880, NCT01588015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966078"/>
                  </a:ext>
                </a:extLst>
              </a:tr>
              <a:tr h="354391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Custirsen (OGX-011)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ApoJ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ASO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Non-Small Cell Lung Cancer</a:t>
                      </a: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Prostate Cancer, Breast Cancer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NCT00054106, NCT00258375, NCT01083615, NCT01497470, NCT01578655, NCT01630733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50152"/>
                  </a:ext>
                </a:extLst>
              </a:tr>
              <a:tr h="21529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Lucanix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TGFB2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ASO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Non-Small Cell Lung Cancer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NCT01058785, NCT01279798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4813"/>
                  </a:ext>
                </a:extLst>
              </a:tr>
              <a:tr h="21529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LY2181308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BIRC5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ASO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Non-Small Cell Lung Cancer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NCT01107444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760445"/>
                  </a:ext>
                </a:extLst>
              </a:tr>
              <a:tr h="354391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IMO-2055 (EMD 1201081)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TLR9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ASO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Non-Small Cell Lung Cancer,</a:t>
                      </a: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Renal Cell Cancer, Colorectal Cancer, Head and Neck Cancer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NCT00729053, NCT01040832, NCT01360827</a:t>
                      </a:r>
                      <a:endParaRPr lang="en-CA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379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77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025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1A9B8-5755-BB52-13A8-42C3A79F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10" y="161293"/>
            <a:ext cx="10981385" cy="430887"/>
          </a:xfrm>
        </p:spPr>
        <p:txBody>
          <a:bodyPr/>
          <a:lstStyle/>
          <a:p>
            <a:r>
              <a:rPr lang="zh-TW" altLang="en-US">
                <a:solidFill>
                  <a:srgbClr val="0070C0"/>
                </a:solidFill>
              </a:rPr>
              <a:t>脂质基纳米载体在肺癌化疗治疗中的应用</a:t>
            </a:r>
            <a:endParaRPr lang="en-US">
              <a:solidFill>
                <a:srgbClr val="0070C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3F1BD5-072D-8FCB-3721-79A128FFE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776182"/>
              </p:ext>
            </p:extLst>
          </p:nvPr>
        </p:nvGraphicFramePr>
        <p:xfrm>
          <a:off x="268458" y="685164"/>
          <a:ext cx="11655084" cy="6087775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3885028">
                  <a:extLst>
                    <a:ext uri="{9D8B030D-6E8A-4147-A177-3AD203B41FA5}">
                      <a16:colId xmlns:a16="http://schemas.microsoft.com/office/drawing/2014/main" val="3993674467"/>
                    </a:ext>
                  </a:extLst>
                </a:gridCol>
                <a:gridCol w="3885028">
                  <a:extLst>
                    <a:ext uri="{9D8B030D-6E8A-4147-A177-3AD203B41FA5}">
                      <a16:colId xmlns:a16="http://schemas.microsoft.com/office/drawing/2014/main" val="538638170"/>
                    </a:ext>
                  </a:extLst>
                </a:gridCol>
                <a:gridCol w="3885028">
                  <a:extLst>
                    <a:ext uri="{9D8B030D-6E8A-4147-A177-3AD203B41FA5}">
                      <a16:colId xmlns:a16="http://schemas.microsoft.com/office/drawing/2014/main" val="4284524192"/>
                    </a:ext>
                  </a:extLst>
                </a:gridCol>
              </a:tblGrid>
              <a:tr h="118110">
                <a:tc>
                  <a:txBody>
                    <a:bodyPr/>
                    <a:lstStyle/>
                    <a:p>
                      <a:r>
                        <a:rPr lang="zh-TW" altLang="en-US" sz="1000" b="1"/>
                        <a:t>载体系统 </a:t>
                      </a:r>
                      <a:r>
                        <a:rPr lang="en-US" altLang="zh-TW" sz="1000" b="1"/>
                        <a:t>(</a:t>
                      </a:r>
                      <a:r>
                        <a:rPr lang="en-CA" sz="1000" b="1"/>
                        <a:t>Carrier System)</a:t>
                      </a:r>
                      <a:endParaRPr lang="en-CA" sz="1000"/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b="1"/>
                        <a:t>活性成分 </a:t>
                      </a:r>
                      <a:r>
                        <a:rPr lang="en-US" altLang="zh-TW" sz="1000" b="1"/>
                        <a:t>(</a:t>
                      </a:r>
                      <a:r>
                        <a:rPr lang="en-CA" sz="1000" b="1"/>
                        <a:t>Active Ingredient)</a:t>
                      </a:r>
                      <a:endParaRPr lang="en-CA" sz="1000"/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b="1"/>
                        <a:t>治疗机制 </a:t>
                      </a:r>
                      <a:r>
                        <a:rPr lang="en-US" altLang="zh-TW" sz="1000" b="1"/>
                        <a:t>(</a:t>
                      </a:r>
                      <a:r>
                        <a:rPr lang="en-CA" sz="1000" b="1"/>
                        <a:t>Mechanism of Therapy)</a:t>
                      </a:r>
                      <a:endParaRPr lang="en-CA" sz="1000"/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1792621003"/>
                  </a:ext>
                </a:extLst>
              </a:tr>
              <a:tr h="118110">
                <a:tc>
                  <a:txBody>
                    <a:bodyPr/>
                    <a:lstStyle/>
                    <a:p>
                      <a:r>
                        <a:rPr lang="zh-TW" altLang="en-US" sz="1000"/>
                        <a:t>模拟肺表面活性剂的脂质囊泡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紫杉醇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Paclitaxel)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Chemotherapy)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2640783207"/>
                  </a:ext>
                </a:extLst>
              </a:tr>
              <a:tr h="118110">
                <a:tc>
                  <a:txBody>
                    <a:bodyPr/>
                    <a:lstStyle/>
                    <a:p>
                      <a:r>
                        <a:rPr lang="en-CA" sz="1000"/>
                        <a:t>PLGA-</a:t>
                      </a:r>
                      <a:r>
                        <a:rPr lang="zh-TW" altLang="en-US" sz="1000"/>
                        <a:t>脂质混合纳米颗粒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紫杉醇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Paclitaxel)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Chemotherapy)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1314203041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纳米结构脂质载体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NLC)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紫杉醇和多柔比星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Paclitaxel &amp; Doxorubicin)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联合化疗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Combination Chemotherapy)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4104523948"/>
                  </a:ext>
                </a:extLst>
              </a:tr>
              <a:tr h="118110">
                <a:tc>
                  <a:txBody>
                    <a:bodyPr/>
                    <a:lstStyle/>
                    <a:p>
                      <a:r>
                        <a:rPr lang="zh-TW" altLang="en-US" sz="1000"/>
                        <a:t>脂质基纳米乳液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多西他赛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Docetaxel)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Chemotherapy)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1661574880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纳米结构脂质载体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NLC)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西乐葆和多西他赛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Celecoxib &amp; Docetaxel)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化疗和抗炎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Chemotherapy &amp; Anti-inflammatory)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4058251806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表皮生长因子结合的脂质</a:t>
                      </a:r>
                      <a:r>
                        <a:rPr lang="en-US" altLang="zh-TW" sz="1000"/>
                        <a:t>-</a:t>
                      </a:r>
                      <a:r>
                        <a:rPr lang="zh-TW" altLang="en-US" sz="1000"/>
                        <a:t>聚合物混合纳米颗粒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多西他赛和白藜芦醇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Docetaxel &amp; Resveratrol)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靶向化疗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Chemotherapy)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3362679175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转铁蛋白修饰的蛋白</a:t>
                      </a:r>
                      <a:r>
                        <a:rPr lang="en-US" altLang="zh-TW" sz="1000"/>
                        <a:t>-</a:t>
                      </a:r>
                      <a:r>
                        <a:rPr lang="zh-TW" altLang="en-US" sz="1000"/>
                        <a:t>脂质混合纳米颗粒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顺铂和多西他赛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Cisplatin &amp; Docetaxel)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靶向化疗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Chemotherapy)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1134383548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含聚乙烯醇的脂质</a:t>
                      </a:r>
                      <a:r>
                        <a:rPr lang="en-US" altLang="zh-TW" sz="1000"/>
                        <a:t>-</a:t>
                      </a:r>
                      <a:r>
                        <a:rPr lang="zh-TW" altLang="en-US" sz="1000"/>
                        <a:t>聚合物混合纳米颗粒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依托泊苷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Etoposide)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控制药物释放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Controlled Drug Delivery)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3068324817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聚乙二醇修饰的纳米结构脂质载体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/>
                        <a:t>10-</a:t>
                      </a:r>
                      <a:r>
                        <a:rPr lang="zh-TW" altLang="en-US" sz="1000"/>
                        <a:t>羟喜树碱 </a:t>
                      </a:r>
                      <a:r>
                        <a:rPr lang="en-US" altLang="zh-TW" sz="1000"/>
                        <a:t>(10-</a:t>
                      </a:r>
                      <a:r>
                        <a:rPr lang="en-CA" sz="1000"/>
                        <a:t>Hydroxycamptothecin)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增强抗肿瘤效果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Enhanced Anti-tumor Effect)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2804316628"/>
                  </a:ext>
                </a:extLst>
              </a:tr>
              <a:tr h="118110">
                <a:tc>
                  <a:txBody>
                    <a:bodyPr/>
                    <a:lstStyle/>
                    <a:p>
                      <a:r>
                        <a:rPr lang="zh-TW" altLang="en-US" sz="1000"/>
                        <a:t>甘露糖化的固体脂质纳米颗粒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吉西他滨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Gemcitabine)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靶向化疗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Chemotherapy)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3490047855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壳聚糖涂层的固体脂质纳米颗粒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甲氨蝶呤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Methotrexate)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肺癌介入疗法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Interventional Delivery for Lung Cancer)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820051412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超小型脂质</a:t>
                      </a:r>
                      <a:r>
                        <a:rPr lang="en-US" altLang="zh-TW" sz="1000"/>
                        <a:t>-</a:t>
                      </a:r>
                      <a:r>
                        <a:rPr lang="zh-TW" altLang="en-US" sz="1000"/>
                        <a:t>聚合物纳米颗粒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顺铂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Cis-Platinum)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肺癌靶向化疗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Chemotherapy for Lung Cancer)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1666063404"/>
                  </a:ext>
                </a:extLst>
              </a:tr>
              <a:tr h="295507">
                <a:tc>
                  <a:txBody>
                    <a:bodyPr/>
                    <a:lstStyle/>
                    <a:p>
                      <a:r>
                        <a:rPr lang="zh-TW" altLang="en-US" sz="1000"/>
                        <a:t>装饰有</a:t>
                      </a:r>
                      <a:r>
                        <a:rPr lang="en-CA" sz="1000"/>
                        <a:t>Bombesin</a:t>
                      </a:r>
                      <a:r>
                        <a:rPr lang="zh-TW" altLang="en-US" sz="1000"/>
                        <a:t>的纳米结构脂质载体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多柔比星和</a:t>
                      </a:r>
                      <a:r>
                        <a:rPr lang="en-CA" sz="1000"/>
                        <a:t>DNA (Doxorubicin &amp; DNA)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肺癌联合靶向疗法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Combination Therapy for Lung Cancer)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2980363138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转铁蛋白结合的脂质涂层</a:t>
                      </a:r>
                      <a:r>
                        <a:rPr lang="en-CA" sz="1000"/>
                        <a:t>PLGA</a:t>
                      </a:r>
                      <a:r>
                        <a:rPr lang="zh-TW" altLang="en-US" sz="1000"/>
                        <a:t>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多柔比星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Doxorubicin)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肺癌靶向疗法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Therapy for Lung Cancer)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529296107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大豆磷脂和</a:t>
                      </a:r>
                      <a:r>
                        <a:rPr lang="en-CA" sz="1000"/>
                        <a:t>DSPE-PEG</a:t>
                      </a:r>
                      <a:r>
                        <a:rPr lang="zh-TW" altLang="en-US" sz="1000"/>
                        <a:t>混合的脂质</a:t>
                      </a:r>
                      <a:r>
                        <a:rPr lang="en-US" altLang="zh-TW" sz="1000"/>
                        <a:t>-</a:t>
                      </a:r>
                      <a:r>
                        <a:rPr lang="zh-TW" altLang="en-US" sz="1000"/>
                        <a:t>聚合物纳米颗粒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厄洛替尼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Erlotinib)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非小细胞肺癌靶向治疗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Delivery for NSCLC)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1383883831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en-CA" sz="1000"/>
                        <a:t>Compritol/Poloxamer 407</a:t>
                      </a:r>
                      <a:r>
                        <a:rPr lang="zh-TW" altLang="en-US" sz="1000"/>
                        <a:t>混合物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厄洛替尼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Erlotinib)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非小细胞肺癌靶向治疗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Therapy for NSCLC)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4252550026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en-CA" sz="1000"/>
                        <a:t>PEG</a:t>
                      </a:r>
                      <a:r>
                        <a:rPr lang="zh-TW" altLang="en-US" sz="1000"/>
                        <a:t>修饰的多肽脂质纳米胶囊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厄洛替尼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Erlotinib)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增强抗癌疗效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Enhanced Anticancer Efficacy for NSCLC)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261302197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纳米结构脂质载体和脂质体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厄洛替尼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Erlotinib)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比较抗癌有效性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Comparative Oncologic Effectiveness)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2763228178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脂质核心纳米胶囊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维甲酸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Tretinoin)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克服耐药性并增强递送效率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Overcoming Resistance)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227359194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固体脂质纳米颗粒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帕唑帕尼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Pazopanib)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增强口服生物利用度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Enhanced Oral Bioavailability)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2968894938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转铁蛋白修饰的氧化还原敏感脂质</a:t>
                      </a:r>
                      <a:r>
                        <a:rPr lang="en-US" altLang="zh-TW" sz="1000"/>
                        <a:t>-</a:t>
                      </a:r>
                      <a:r>
                        <a:rPr lang="zh-TW" altLang="en-US" sz="1000"/>
                        <a:t>聚合物混合纳米颗粒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阿法替尼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Afatinib)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氧化还原敏感递送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Redox-Sensitive Delivery)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2466647389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纳米结构脂质载体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吉非替尼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Gefitinib)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淋巴系统递送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Lymphatic Drug Delivery)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1210088045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可降解脂质纳米颗粒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NLC)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吉非替尼和阿扎胞苷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Gefitinib &amp; Azacitidine)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联合递送治疗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Co-delivery for Treatment of Resistant Cancers)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961489310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聚合物</a:t>
                      </a:r>
                      <a:r>
                        <a:rPr lang="en-US" altLang="zh-TW" sz="1000"/>
                        <a:t>/</a:t>
                      </a:r>
                      <a:r>
                        <a:rPr lang="zh-TW" altLang="en-US" sz="1000"/>
                        <a:t>脂质混合纳米颗粒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克唑替尼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Crizotinib)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靶向化疗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Chemotherapy for NSCLC)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2253108480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生物素修饰的纳米结构脂质载体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舒尼替尼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Sunitinib)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肺癌靶向化疗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Chemotherapy for Lung Cancer)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845024712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带</a:t>
                      </a:r>
                      <a:r>
                        <a:rPr lang="en-CA" sz="1000"/>
                        <a:t>DOTAP</a:t>
                      </a:r>
                      <a:r>
                        <a:rPr lang="zh-TW" altLang="en-US" sz="1000"/>
                        <a:t>和胆固醇的阳离子脂质体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全反式维甲酸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All-trans Retinoic Acid)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en-CA" sz="1000"/>
                        <a:t>pH</a:t>
                      </a:r>
                      <a:r>
                        <a:rPr lang="zh-TW" altLang="en-US" sz="1000"/>
                        <a:t>响应治疗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pH-responsive Therapy for Lung Cancer)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740768733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脂质纳米核心</a:t>
                      </a:r>
                      <a:r>
                        <a:rPr lang="en-US" altLang="zh-TW" sz="1000"/>
                        <a:t>–</a:t>
                      </a:r>
                      <a:r>
                        <a:rPr lang="zh-TW" altLang="en-US" sz="1000"/>
                        <a:t>蛋白壳复合物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异黄酮和全反式维甲酸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Genistein &amp; ATRA)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靶向联合疗法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Combined Delivery for Lung Cancer)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949664410"/>
                  </a:ext>
                </a:extLst>
              </a:tr>
              <a:tr h="206808">
                <a:tc>
                  <a:txBody>
                    <a:bodyPr/>
                    <a:lstStyle/>
                    <a:p>
                      <a:r>
                        <a:rPr lang="zh-TW" altLang="en-US" sz="1000"/>
                        <a:t>固体脂质纳米颗粒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磷酸化舒林达克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Phospho-sulindac)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线粒体靶向疗法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Mitochondrial Targeting)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681451130"/>
                  </a:ext>
                </a:extLst>
              </a:tr>
              <a:tr h="118110">
                <a:tc>
                  <a:txBody>
                    <a:bodyPr/>
                    <a:lstStyle/>
                    <a:p>
                      <a:r>
                        <a:rPr lang="zh-TW" altLang="en-US" sz="1000"/>
                        <a:t>壳聚糖修饰的脂质纳米颗粒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修饰的顺铂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Lipid-modified Cisplatin)</a:t>
                      </a:r>
                    </a:p>
                  </a:txBody>
                  <a:tcPr marL="20214" marR="20214" marT="10107" marB="10107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靶向化疗 </a:t>
                      </a:r>
                      <a:r>
                        <a:rPr lang="en-US" altLang="zh-TW" sz="1000"/>
                        <a:t>(</a:t>
                      </a:r>
                      <a:r>
                        <a:rPr lang="en-CA" sz="1000"/>
                        <a:t>Targeted Chemotherapy)</a:t>
                      </a:r>
                    </a:p>
                  </a:txBody>
                  <a:tcPr marL="20214" marR="20214" marT="10107" marB="10107" anchor="ctr"/>
                </a:tc>
                <a:extLst>
                  <a:ext uri="{0D108BD9-81ED-4DB2-BD59-A6C34878D82A}">
                    <a16:rowId xmlns:a16="http://schemas.microsoft.com/office/drawing/2014/main" val="3956554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491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00862" y="2060811"/>
            <a:ext cx="755650" cy="148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2362200" y="2209800"/>
            <a:ext cx="666127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err="1"/>
              <a:t>项目团队</a:t>
            </a:r>
            <a:r>
              <a:rPr lang="en-CA" sz="4000" spc="-5"/>
              <a:t> Team Member</a:t>
            </a:r>
            <a:endParaRPr sz="4000"/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168BA596-0EBD-E4B0-3D64-A1AB6A536B81}"/>
              </a:ext>
            </a:extLst>
          </p:cNvPr>
          <p:cNvSpPr txBox="1"/>
          <p:nvPr/>
        </p:nvSpPr>
        <p:spPr>
          <a:xfrm>
            <a:off x="749718" y="1614257"/>
            <a:ext cx="755650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11500" b="1" spc="-5">
                <a:solidFill>
                  <a:schemeClr val="accent1"/>
                </a:solidFill>
                <a:latin typeface="Times New Roman"/>
                <a:cs typeface="Times New Roman"/>
              </a:rPr>
              <a:t>4</a:t>
            </a:r>
            <a:endParaRPr sz="115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F12D58-23C5-8041-143A-06812F11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784" y="933301"/>
            <a:ext cx="11174780" cy="5847755"/>
          </a:xfrm>
        </p:spPr>
        <p:txBody>
          <a:bodyPr/>
          <a:lstStyle/>
          <a:p>
            <a:r>
              <a:rPr lang="zh-CN" altLang="en-US" b="1"/>
              <a:t>刘振龙 博士</a:t>
            </a:r>
            <a:endParaRPr lang="zh-CN" altLang="en-US"/>
          </a:p>
          <a:p>
            <a:r>
              <a:rPr lang="zh-CN" altLang="en-US" sz="1400" b="1"/>
              <a:t>职位：</a:t>
            </a:r>
            <a:r>
              <a:rPr lang="zh-CN" altLang="en-US" sz="1400"/>
              <a:t> 首席执行官兼联合创始人</a:t>
            </a:r>
            <a:br>
              <a:rPr lang="zh-CN" altLang="en-US" sz="1400"/>
            </a:br>
            <a:r>
              <a:rPr lang="zh-CN" altLang="en-US" sz="1400" b="1"/>
              <a:t>机构：</a:t>
            </a:r>
            <a:r>
              <a:rPr lang="zh-CN" altLang="en-US" sz="1400"/>
              <a:t> </a:t>
            </a:r>
            <a:r>
              <a:rPr lang="en-CA" sz="1400" err="1"/>
              <a:t>Ebovir</a:t>
            </a:r>
            <a:r>
              <a:rPr lang="en-CA" sz="1400"/>
              <a:t> </a:t>
            </a:r>
            <a:r>
              <a:rPr lang="en-CA" sz="1400" err="1"/>
              <a:t>Biotechnologie</a:t>
            </a:r>
            <a:r>
              <a:rPr lang="en-CA" sz="1400"/>
              <a:t> Inc.</a:t>
            </a:r>
          </a:p>
          <a:p>
            <a:r>
              <a:rPr lang="zh-CN" altLang="en-US" sz="1400" b="1"/>
              <a:t>基本信息：</a:t>
            </a:r>
            <a:br>
              <a:rPr lang="zh-CN" altLang="en-US" sz="1400"/>
            </a:br>
            <a:r>
              <a:rPr lang="zh-CN" altLang="en-US" sz="1400"/>
              <a:t>刘振龙博士是加拿大生物技术公司 </a:t>
            </a:r>
            <a:r>
              <a:rPr lang="en-CA" sz="1400" err="1"/>
              <a:t>Ebovir</a:t>
            </a:r>
            <a:r>
              <a:rPr lang="en-CA" sz="1400"/>
              <a:t> </a:t>
            </a:r>
            <a:r>
              <a:rPr lang="en-CA" sz="1400" err="1"/>
              <a:t>Biotechnologie</a:t>
            </a:r>
            <a:r>
              <a:rPr lang="en-CA" sz="1400"/>
              <a:t> Inc. </a:t>
            </a:r>
            <a:r>
              <a:rPr lang="zh-CN" altLang="en-US" sz="1400"/>
              <a:t>的首席执行官兼联合创始人，</a:t>
            </a:r>
            <a:r>
              <a:rPr lang="zh-CN" altLang="en-CA" sz="1400"/>
              <a:t>并带领</a:t>
            </a:r>
            <a:r>
              <a:rPr lang="en-US" altLang="zh-CN" sz="1400" err="1"/>
              <a:t>Ebovir</a:t>
            </a:r>
            <a:r>
              <a:rPr lang="zh-CN" altLang="en-US" sz="1400"/>
              <a:t>进入</a:t>
            </a:r>
            <a:r>
              <a:rPr lang="en-US" altLang="zh-CN" sz="1400"/>
              <a:t>2024</a:t>
            </a:r>
            <a:r>
              <a:rPr lang="zh-CN" altLang="en-US" sz="1400"/>
              <a:t>加拿大前</a:t>
            </a:r>
            <a:r>
              <a:rPr lang="en-US" altLang="zh-CN" sz="1400"/>
              <a:t>10</a:t>
            </a:r>
            <a:r>
              <a:rPr lang="zh-CN" altLang="en-US" sz="1400"/>
              <a:t>生物医药开发公司。他在病毒学和免疫学领域拥有丰富的研究经验，专注于抗病毒疗法的开发。此外，他还担任 麦吉尔大学</a:t>
            </a:r>
            <a:r>
              <a:rPr lang="en-CA" sz="1400"/>
              <a:t>Lady Davis </a:t>
            </a:r>
            <a:r>
              <a:rPr lang="zh-CN" altLang="en-US" sz="1400"/>
              <a:t>研究所的联合首席研究员，参与病毒感染与宿主免疫反应的研究。</a:t>
            </a:r>
            <a:r>
              <a:rPr lang="en-CA" altLang="zh-CN" sz="1400"/>
              <a:t>(</a:t>
            </a:r>
            <a:r>
              <a:rPr lang="zh-CN" altLang="en-US" sz="1400"/>
              <a:t> </a:t>
            </a:r>
            <a:r>
              <a:rPr lang="en-CA" sz="1400">
                <a:hlinkClick r:id="rId2"/>
              </a:rPr>
              <a:t>Frontiers</a:t>
            </a:r>
            <a:r>
              <a:rPr lang="en-CA" sz="1400"/>
              <a:t>)</a:t>
            </a:r>
          </a:p>
          <a:p>
            <a:r>
              <a:rPr lang="zh-CN" altLang="en-US" sz="1400" b="1"/>
              <a:t>专业特长：</a:t>
            </a:r>
            <a:endParaRPr lang="zh-CN" alt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/>
              <a:t>抗病毒疗法开发：</a:t>
            </a:r>
            <a:r>
              <a:rPr lang="zh-CN" altLang="en-US" sz="1400"/>
              <a:t> 致力于新型生物制药疗法的研究，针对包括埃博拉病毒、登革热、寨卡病毒、禽流感、冠状病毒（如 </a:t>
            </a:r>
            <a:r>
              <a:rPr lang="en-CA" sz="1400"/>
              <a:t>SARS </a:t>
            </a:r>
            <a:r>
              <a:rPr lang="zh-CN" altLang="en-US" sz="1400"/>
              <a:t>和 </a:t>
            </a:r>
            <a:r>
              <a:rPr lang="en-CA" sz="1400"/>
              <a:t>MERS）、HIV/AIDS </a:t>
            </a:r>
            <a:r>
              <a:rPr lang="zh-CN" altLang="en-US" sz="1400"/>
              <a:t>以及 </a:t>
            </a:r>
            <a:r>
              <a:rPr lang="en-CA" sz="1400"/>
              <a:t>SARS-CoV-2（COVID-19）</a:t>
            </a:r>
            <a:r>
              <a:rPr lang="zh-CN" altLang="en-US" sz="1400"/>
              <a:t>在内的多种病毒。 </a:t>
            </a:r>
            <a:r>
              <a:rPr lang="en-CA" altLang="zh-CN" sz="1400"/>
              <a:t>(</a:t>
            </a:r>
            <a:r>
              <a:rPr lang="en-CA" sz="1400">
                <a:hlinkClick r:id="rId3"/>
              </a:rPr>
              <a:t>Ebovir</a:t>
            </a:r>
            <a:r>
              <a:rPr lang="en-CA" sz="140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/>
              <a:t>病毒载体生产：</a:t>
            </a:r>
            <a:r>
              <a:rPr lang="zh-CN" altLang="en-US" sz="1400"/>
              <a:t> 提供逆转录病毒、腺相关病毒（</a:t>
            </a:r>
            <a:r>
              <a:rPr lang="en-CA" sz="1400"/>
              <a:t>AAV）</a:t>
            </a:r>
            <a:r>
              <a:rPr lang="zh-CN" altLang="en-US" sz="1400"/>
              <a:t>等病毒表达载体的生产和纯化服务，支持基础研究和临床应用。 </a:t>
            </a:r>
            <a:r>
              <a:rPr lang="en-CA" altLang="zh-CN" sz="1400"/>
              <a:t>(</a:t>
            </a:r>
            <a:r>
              <a:rPr lang="en-CA" sz="1400">
                <a:hlinkClick r:id="rId3"/>
              </a:rPr>
              <a:t>Ebovir</a:t>
            </a:r>
            <a:r>
              <a:rPr lang="en-CA" sz="140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/>
              <a:t>病毒学研究：</a:t>
            </a:r>
            <a:r>
              <a:rPr lang="zh-CN" altLang="en-US" sz="1400"/>
              <a:t> 在病毒感染机制、宿主</a:t>
            </a:r>
            <a:r>
              <a:rPr lang="en-US" altLang="zh-CN" sz="1400"/>
              <a:t>-</a:t>
            </a:r>
            <a:r>
              <a:rPr lang="zh-CN" altLang="en-US" sz="1400"/>
              <a:t>病原体相互作用以及免疫逃逸策略方面具有深入研究，推动抗病毒药物的发现和开发。 </a:t>
            </a:r>
            <a:r>
              <a:rPr lang="en-CA" altLang="zh-CN" sz="1400"/>
              <a:t>(</a:t>
            </a:r>
            <a:r>
              <a:rPr lang="en-CA" sz="1400">
                <a:hlinkClick r:id="rId2"/>
              </a:rPr>
              <a:t>Frontiers</a:t>
            </a:r>
            <a:r>
              <a:rPr lang="en-CA" sz="1400"/>
              <a:t>)</a:t>
            </a:r>
          </a:p>
          <a:p>
            <a:endParaRPr lang="en-CA" altLang="zh-CN" sz="1400" b="1"/>
          </a:p>
          <a:p>
            <a:r>
              <a:rPr lang="zh-CN" altLang="en-US" sz="1400" b="1"/>
              <a:t>职业亮点：</a:t>
            </a:r>
            <a:endParaRPr lang="zh-CN" alt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/>
              <a:t>企业领导：</a:t>
            </a:r>
            <a:r>
              <a:rPr lang="zh-CN" altLang="en-US" sz="1400"/>
              <a:t> 作为 </a:t>
            </a:r>
            <a:r>
              <a:rPr lang="en-CA" sz="1400" err="1"/>
              <a:t>Ebovir</a:t>
            </a:r>
            <a:r>
              <a:rPr lang="en-CA" sz="1400"/>
              <a:t> </a:t>
            </a:r>
            <a:r>
              <a:rPr lang="en-CA" sz="1400" err="1"/>
              <a:t>Biotechnologie</a:t>
            </a:r>
            <a:r>
              <a:rPr lang="en-CA" sz="1400"/>
              <a:t> Inc. </a:t>
            </a:r>
            <a:r>
              <a:rPr lang="zh-CN" altLang="en-US" sz="1400"/>
              <a:t>的首席执行官，领导公司在抗病毒疗法、病毒载体、纳米载体等领域的研发，为客户提供高质量的科研服务和产品。 </a:t>
            </a:r>
            <a:r>
              <a:rPr lang="en-CA" altLang="zh-CN" sz="1400"/>
              <a:t>(</a:t>
            </a:r>
            <a:r>
              <a:rPr lang="en-CA" sz="1400">
                <a:hlinkClick r:id="rId3"/>
              </a:rPr>
              <a:t>Ebovir</a:t>
            </a:r>
            <a:r>
              <a:rPr lang="en-CA" sz="140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/>
              <a:t>学术合作：</a:t>
            </a:r>
            <a:r>
              <a:rPr lang="zh-CN" altLang="en-US" sz="1400"/>
              <a:t> 参与针对呼吸道病毒感染的抗病毒 </a:t>
            </a:r>
            <a:r>
              <a:rPr lang="en-CA" sz="1400"/>
              <a:t>RNA </a:t>
            </a:r>
            <a:r>
              <a:rPr lang="zh-CN" altLang="en-US" sz="1400"/>
              <a:t>递送系统的开发项目，推动科研成果的转化应用。教授医学院“</a:t>
            </a:r>
            <a:r>
              <a:rPr lang="en-US" altLang="zh-CN" sz="1400"/>
              <a:t>Research</a:t>
            </a:r>
            <a:r>
              <a:rPr lang="zh-CN" altLang="en-US" sz="1400"/>
              <a:t> </a:t>
            </a:r>
            <a:r>
              <a:rPr lang="en-US" altLang="zh-CN" sz="1400"/>
              <a:t>Fundamentals</a:t>
            </a:r>
            <a:r>
              <a:rPr lang="zh-CN" altLang="en-US" sz="1400"/>
              <a:t>” </a:t>
            </a:r>
            <a:r>
              <a:rPr lang="en-CA" altLang="zh-CN" sz="1400"/>
              <a:t>(</a:t>
            </a:r>
            <a:r>
              <a:rPr lang="en-CA" sz="1400">
                <a:hlinkClick r:id="rId4"/>
              </a:rPr>
              <a:t>McGill University</a:t>
            </a:r>
            <a:r>
              <a:rPr lang="en-CA" sz="140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/>
              <a:t>研究贡献：</a:t>
            </a:r>
            <a:r>
              <a:rPr lang="zh-CN" altLang="en-US" sz="1400"/>
              <a:t> 在病毒学和免疫学领域发表多篇重要学术论文及高被引论文，深入探讨 </a:t>
            </a:r>
            <a:r>
              <a:rPr lang="en-CA" sz="1400"/>
              <a:t>RNA </a:t>
            </a:r>
            <a:r>
              <a:rPr lang="zh-CN" altLang="en-US" sz="1400"/>
              <a:t>和 </a:t>
            </a:r>
            <a:r>
              <a:rPr lang="en-CA" sz="1400"/>
              <a:t>DNA </a:t>
            </a:r>
            <a:r>
              <a:rPr lang="zh-CN" altLang="en-US" sz="1400"/>
              <a:t>病毒的宿主动态和免疫逃逸机制。 </a:t>
            </a:r>
            <a:r>
              <a:rPr lang="en-CA" altLang="zh-CN" sz="1400"/>
              <a:t>(</a:t>
            </a:r>
            <a:r>
              <a:rPr lang="en-CA" sz="1400">
                <a:hlinkClick r:id="rId2"/>
              </a:rPr>
              <a:t>Frontiers</a:t>
            </a:r>
            <a:r>
              <a:rPr lang="en-CA" sz="140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1400"/>
          </a:p>
          <a:p>
            <a:r>
              <a:rPr lang="zh-CN" altLang="en-US" sz="1400" b="1"/>
              <a:t>专业活动：</a:t>
            </a:r>
            <a:endParaRPr lang="zh-CN" altLang="en-US" sz="1400"/>
          </a:p>
          <a:p>
            <a:r>
              <a:rPr lang="zh-CN" altLang="en-US" sz="1400" b="1"/>
              <a:t>学术评审：</a:t>
            </a:r>
            <a:r>
              <a:rPr lang="zh-CN" altLang="en-US" sz="1400"/>
              <a:t> </a:t>
            </a:r>
            <a:r>
              <a:rPr lang="en-US" altLang="zh-CN" sz="1400"/>
              <a:t>3</a:t>
            </a:r>
            <a:r>
              <a:rPr lang="zh-CN" altLang="en-US" sz="1400"/>
              <a:t>本国际病毒学杂志特刊主编，参与多本学术期刊的同行评审工作，评估和指导病毒学和免疫学领域的研究进展，促进科学交流。 </a:t>
            </a:r>
            <a:endParaRPr lang="en-CA" altLang="zh-CN" sz="1400"/>
          </a:p>
          <a:p>
            <a:pPr>
              <a:buFont typeface="Arial" panose="020B0604020202020204" pitchFamily="34" charset="0"/>
              <a:buChar char="•"/>
            </a:pPr>
            <a:endParaRPr lang="en-CA" altLang="zh-CN" sz="1400"/>
          </a:p>
          <a:p>
            <a:r>
              <a:rPr lang="zh-CN" altLang="en-US" sz="1400"/>
              <a:t>刘振龙博士在抗病毒疗法开发、病毒载体生产和病毒学研究方面的专业知识和领导能力，为应对全球病毒性疾病挑战做出了重要贡献。</a:t>
            </a: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4EE1B-F37A-221C-758A-21FFF6C7C62E}"/>
              </a:ext>
            </a:extLst>
          </p:cNvPr>
          <p:cNvSpPr txBox="1"/>
          <p:nvPr/>
        </p:nvSpPr>
        <p:spPr>
          <a:xfrm>
            <a:off x="511784" y="228600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项目负责人</a:t>
            </a:r>
            <a:endParaRPr lang="en-US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5176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2C47C2-E40F-745B-6C5E-39A73F411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784" y="1263372"/>
            <a:ext cx="11174780" cy="5139869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>
                <a:latin typeface="+mj-ea"/>
                <a:ea typeface="+mj-ea"/>
              </a:rPr>
              <a:t>Benoît Barbeau </a:t>
            </a:r>
            <a:r>
              <a:rPr lang="zh-CN" altLang="en-US" sz="2400" dirty="0">
                <a:latin typeface="+mj-ea"/>
                <a:ea typeface="+mj-ea"/>
              </a:rPr>
              <a:t>教授</a:t>
            </a:r>
            <a:endParaRPr lang="en-CA" altLang="zh-CN" sz="2400" dirty="0">
              <a:latin typeface="+mj-ea"/>
              <a:ea typeface="+mj-ea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kumimoji="0" lang="en-US" altLang="en-US" sz="2400" i="0" u="non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Rongtuan</a:t>
            </a:r>
            <a:r>
              <a:rPr kumimoji="0" lang="zh-CN" altLang="en-US" sz="2400" i="0" u="non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en-US" altLang="zh-CN" sz="2400" i="0" u="non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Lin</a:t>
            </a:r>
            <a:r>
              <a:rPr kumimoji="0" lang="en-US" altLang="en-US" sz="2400" i="0" u="non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教授</a:t>
            </a:r>
            <a:endParaRPr kumimoji="0" lang="en-US" altLang="en-US" sz="2400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j-ea"/>
                <a:ea typeface="+mj-ea"/>
              </a:rPr>
              <a:t>C</a:t>
            </a:r>
            <a:r>
              <a:rPr lang="zh-CN" altLang="en-US" sz="2400" dirty="0">
                <a:latin typeface="+mj-ea"/>
                <a:ea typeface="+mj-ea"/>
              </a:rPr>
              <a:t> </a:t>
            </a:r>
            <a:r>
              <a:rPr lang="en-US" altLang="zh-CN" sz="2400" dirty="0">
                <a:latin typeface="+mj-ea"/>
                <a:ea typeface="+mj-ea"/>
              </a:rPr>
              <a:t>L</a:t>
            </a:r>
            <a:r>
              <a:rPr lang="zh-CN" altLang="en-US" sz="2400" dirty="0">
                <a:latin typeface="+mj-ea"/>
                <a:ea typeface="+mj-ea"/>
              </a:rPr>
              <a:t>教授</a:t>
            </a:r>
            <a:endParaRPr lang="en-CA" altLang="zh-CN" sz="2400" dirty="0">
              <a:latin typeface="+mj-ea"/>
              <a:ea typeface="+mj-ea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ja-JP" altLang="en-US" sz="2400">
                <a:latin typeface="+mj-ea"/>
                <a:ea typeface="+mj-ea"/>
              </a:rPr>
              <a:t>Guojun Chen</a:t>
            </a:r>
            <a:r>
              <a:rPr lang="en-US" altLang="ja-JP" sz="2400" dirty="0">
                <a:latin typeface="+mj-ea"/>
                <a:ea typeface="+mj-ea"/>
              </a:rPr>
              <a:t> </a:t>
            </a:r>
            <a:r>
              <a:rPr lang="en-US" altLang="ja-JP" sz="2400" dirty="0" err="1">
                <a:latin typeface="+mj-ea"/>
                <a:ea typeface="+mj-ea"/>
              </a:rPr>
              <a:t>教授</a:t>
            </a:r>
            <a:endParaRPr lang="en-US" altLang="ja-JP" sz="2400" dirty="0">
              <a:latin typeface="+mj-ea"/>
              <a:ea typeface="+mj-ea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CA" sz="2400" dirty="0">
                <a:latin typeface="+mj-ea"/>
                <a:ea typeface="+mj-ea"/>
              </a:rPr>
              <a:t>Dr. Robert J. Scarborough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ja-JP" altLang="en-US" sz="2400">
                <a:latin typeface="+mj-ea"/>
                <a:ea typeface="+mj-ea"/>
              </a:rPr>
              <a:t>陈默</a:t>
            </a:r>
            <a:r>
              <a:rPr lang="en-US" altLang="ja-JP" sz="2400" dirty="0">
                <a:latin typeface="+mj-ea"/>
                <a:ea typeface="+mj-ea"/>
              </a:rPr>
              <a:t> </a:t>
            </a:r>
            <a:r>
              <a:rPr lang="ja-JP" altLang="en-US" sz="2400">
                <a:latin typeface="+mj-ea"/>
                <a:ea typeface="+mj-ea"/>
              </a:rPr>
              <a:t>博士</a:t>
            </a:r>
            <a:endParaRPr lang="en-CA" altLang="ja-JP" sz="2400" dirty="0">
              <a:latin typeface="+mj-ea"/>
              <a:ea typeface="+mj-ea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+mj-ea"/>
                <a:ea typeface="+mj-ea"/>
              </a:rPr>
              <a:t>Li Li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altLang="ja-JP" sz="2400" dirty="0" err="1">
                <a:latin typeface="+mj-ea"/>
                <a:ea typeface="+mj-ea"/>
              </a:rPr>
              <a:t>Keyi</a:t>
            </a:r>
            <a:r>
              <a:rPr lang="zh-CN" altLang="en-US" sz="2400" dirty="0">
                <a:latin typeface="+mj-ea"/>
                <a:ea typeface="+mj-ea"/>
              </a:rPr>
              <a:t> </a:t>
            </a:r>
            <a:r>
              <a:rPr lang="en-US" altLang="zh-CN" sz="2400" dirty="0">
                <a:latin typeface="+mj-ea"/>
                <a:ea typeface="+mj-ea"/>
              </a:rPr>
              <a:t>Zhao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+mj-ea"/>
                <a:ea typeface="+mj-ea"/>
              </a:rPr>
              <a:t>Eric Cen</a:t>
            </a:r>
          </a:p>
          <a:p>
            <a:pPr algn="l" rtl="0"/>
            <a:endParaRPr lang="ja-JP" altLang="en-US" sz="2400" b="1">
              <a:ea typeface="Microsoft JhengHei"/>
            </a:endParaRPr>
          </a:p>
          <a:p>
            <a:pPr algn="l" rtl="0"/>
            <a:endParaRPr lang="zh-CN" altLang="en-US" sz="2400" dirty="0"/>
          </a:p>
          <a:p>
            <a:pPr algn="l" rtl="0"/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en-US" sz="24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3252A-29D6-9431-40AD-2729589E7549}"/>
              </a:ext>
            </a:extLst>
          </p:cNvPr>
          <p:cNvSpPr txBox="1"/>
          <p:nvPr/>
        </p:nvSpPr>
        <p:spPr>
          <a:xfrm>
            <a:off x="511784" y="254721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.2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技术团队</a:t>
            </a:r>
            <a:endParaRPr lang="en-US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8722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F4E31D-5BC1-35C5-5384-C1EE3D644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651" y="702469"/>
            <a:ext cx="11708184" cy="6155531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algn="l" rtl="0"/>
            <a:r>
              <a:rPr lang="zh-CN" altLang="en-US" sz="1600" b="1" dirty="0"/>
              <a:t>职位</a:t>
            </a:r>
            <a:r>
              <a:rPr lang="en-US" altLang="zh-CN" sz="1600" b="1" dirty="0"/>
              <a:t>:</a:t>
            </a:r>
            <a:r>
              <a:rPr lang="zh-CN" altLang="en-US" sz="1600" dirty="0"/>
              <a:t> 生物科学系教授， </a:t>
            </a:r>
            <a:r>
              <a:rPr lang="en-US" altLang="en-US" sz="1600" b="0" dirty="0" err="1">
                <a:solidFill>
                  <a:schemeClr val="tx1"/>
                </a:solidFill>
                <a:latin typeface="Arial" panose="020B0604020202020204" pitchFamily="34" charset="0"/>
              </a:rPr>
              <a:t>Ebovir</a:t>
            </a:r>
            <a:r>
              <a:rPr lang="zh-CN" altLang="en-US" sz="1600" b="0" dirty="0">
                <a:solidFill>
                  <a:schemeClr val="tx1"/>
                </a:solidFill>
                <a:latin typeface="Arial" panose="020B0604020202020204" pitchFamily="34" charset="0"/>
              </a:rPr>
              <a:t> 主要股东</a:t>
            </a:r>
            <a:br>
              <a:rPr lang="zh-CN" altLang="en-US" sz="1600" dirty="0"/>
            </a:br>
            <a:r>
              <a:rPr lang="zh-CN" altLang="en-US" sz="1600" b="1" dirty="0"/>
              <a:t>机构</a:t>
            </a:r>
            <a:r>
              <a:rPr lang="en-US" altLang="zh-CN" sz="1600" b="1" dirty="0"/>
              <a:t>:</a:t>
            </a:r>
            <a:r>
              <a:rPr lang="zh-CN" altLang="en-US" sz="1600" dirty="0"/>
              <a:t> 魁北克大学蒙特利尔分校（</a:t>
            </a:r>
            <a:r>
              <a:rPr lang="en-CA" sz="1600" dirty="0"/>
              <a:t>UQAM）</a:t>
            </a:r>
          </a:p>
          <a:p>
            <a:r>
              <a:rPr lang="zh-CN" altLang="en-US" sz="1600" b="1" dirty="0"/>
              <a:t>基本信息</a:t>
            </a:r>
            <a:r>
              <a:rPr lang="en-US" altLang="zh-CN" sz="1600" b="1" dirty="0"/>
              <a:t>:</a:t>
            </a:r>
            <a:br>
              <a:rPr lang="zh-CN" altLang="en-US" sz="1600" dirty="0"/>
            </a:br>
            <a:r>
              <a:rPr lang="en-CA" sz="1600" dirty="0"/>
              <a:t>Benoît Barbeau </a:t>
            </a:r>
            <a:r>
              <a:rPr lang="zh-CN" altLang="en-US" sz="1600" dirty="0"/>
              <a:t>教授是魁北克大学蒙特利尔分校（</a:t>
            </a:r>
            <a:r>
              <a:rPr lang="en-CA" sz="1600" dirty="0"/>
              <a:t>UQAM）</a:t>
            </a:r>
            <a:r>
              <a:rPr lang="zh-CN" altLang="en-US" sz="1600" dirty="0"/>
              <a:t>生物科学系的教授，专注于人类内源性逆转录病毒（</a:t>
            </a:r>
            <a:r>
              <a:rPr lang="en-CA" sz="1600" dirty="0"/>
              <a:t>HERV）</a:t>
            </a:r>
            <a:r>
              <a:rPr lang="zh-CN" altLang="en-US" sz="1600" dirty="0"/>
              <a:t>研究，特别关注其在胎盘形成、免疫调节以及相关疾病（如癌症和神经系统疾病）中的作用。他在病毒学和免疫学研究领域拥有丰富的经验，是全球公认的</a:t>
            </a:r>
            <a:r>
              <a:rPr lang="en-CA" sz="1600" dirty="0"/>
              <a:t>HERV</a:t>
            </a:r>
            <a:r>
              <a:rPr lang="zh-CN" altLang="en-US" sz="1600" dirty="0"/>
              <a:t>研究专家。</a:t>
            </a:r>
          </a:p>
          <a:p>
            <a:r>
              <a:rPr lang="zh-CN" altLang="en-US" sz="1600" b="1" dirty="0"/>
              <a:t>专业特长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1600" b="1" dirty="0"/>
              <a:t>HERV </a:t>
            </a:r>
            <a:r>
              <a:rPr lang="zh-CN" altLang="en-US" sz="1600" b="1" dirty="0"/>
              <a:t>蛋白质功能研究</a:t>
            </a:r>
            <a:r>
              <a:rPr lang="en-US" altLang="zh-CN" sz="1600" b="1" dirty="0"/>
              <a:t>:</a:t>
            </a:r>
            <a:r>
              <a:rPr lang="zh-CN" altLang="en-US" sz="1600" dirty="0"/>
              <a:t> 深入研究</a:t>
            </a:r>
            <a:r>
              <a:rPr lang="en-CA" sz="1600" dirty="0"/>
              <a:t>HERV</a:t>
            </a:r>
            <a:r>
              <a:rPr lang="zh-CN" altLang="en-US" sz="1600" dirty="0"/>
              <a:t>包膜蛋白在滋养层细胞融合中的作用，探索其在免疫抑制和病毒宿主相互作用中的潜力。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胎盘外泌体研究</a:t>
            </a:r>
            <a:r>
              <a:rPr lang="en-US" altLang="zh-CN" sz="1600" b="1" dirty="0"/>
              <a:t>:</a:t>
            </a:r>
            <a:r>
              <a:rPr lang="zh-CN" altLang="en-US" sz="1600" dirty="0"/>
              <a:t> 探讨胎盘外泌体中</a:t>
            </a:r>
            <a:r>
              <a:rPr lang="en-CA" sz="1600" dirty="0"/>
              <a:t>HERV</a:t>
            </a:r>
            <a:r>
              <a:rPr lang="zh-CN" altLang="en-US" sz="1600" dirty="0"/>
              <a:t>蛋白在母胎界面中的作用，研究其如何影响胎儿发育与免疫调节。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病毒与宿主相互作用</a:t>
            </a:r>
            <a:r>
              <a:rPr lang="en-US" altLang="zh-CN" sz="1600" b="1" dirty="0"/>
              <a:t>:</a:t>
            </a:r>
            <a:r>
              <a:rPr lang="zh-CN" altLang="en-US" sz="1600" dirty="0"/>
              <a:t> 研究</a:t>
            </a:r>
            <a:r>
              <a:rPr lang="en-CA" sz="1600" dirty="0"/>
              <a:t>HERV</a:t>
            </a:r>
            <a:r>
              <a:rPr lang="zh-CN" altLang="en-US" sz="1600" dirty="0"/>
              <a:t>在癌症、神经系统疾病和其他人类疾病中的潜在致病机制，探索可能的治疗靶点。</a:t>
            </a:r>
          </a:p>
          <a:p>
            <a:r>
              <a:rPr lang="zh-CN" altLang="en-US" sz="1600" b="1" dirty="0"/>
              <a:t>职业亮点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/>
              <a:t>在国际学术期刊上发表多篇高影响力论文，为</a:t>
            </a:r>
            <a:r>
              <a:rPr lang="en-CA" sz="1600" dirty="0"/>
              <a:t>HERV</a:t>
            </a:r>
            <a:r>
              <a:rPr lang="zh-CN" altLang="en-US" sz="1600" dirty="0"/>
              <a:t>与人类健康和疾病之间的关系提供了重要见解。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/>
              <a:t>担任多项科研基金项目的负责人，推动</a:t>
            </a:r>
            <a:r>
              <a:rPr lang="en-CA" sz="1600" dirty="0"/>
              <a:t>HERV</a:t>
            </a:r>
            <a:r>
              <a:rPr lang="zh-CN" altLang="en-US" sz="1600" dirty="0"/>
              <a:t>领域的跨学科研究与技术开发。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/>
              <a:t>在教学与指导方面表现突出，培养了一批优秀的学生和科研人才。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/>
              <a:t>曾获得</a:t>
            </a:r>
            <a:r>
              <a:rPr lang="en-CA" sz="1600" dirty="0" err="1"/>
              <a:t>UQAM“Rayonnement</a:t>
            </a:r>
            <a:r>
              <a:rPr lang="en-CA" sz="1600" dirty="0"/>
              <a:t>”</a:t>
            </a:r>
            <a:r>
              <a:rPr lang="zh-CN" altLang="en-US" sz="1600" dirty="0"/>
              <a:t>奖，表彰其在学术研究、教学和科学传播方面的卓越表现。</a:t>
            </a:r>
          </a:p>
          <a:p>
            <a:r>
              <a:rPr lang="zh-CN" altLang="en-US" sz="1600" b="1" dirty="0"/>
              <a:t>专业活动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媒体与公众互动</a:t>
            </a:r>
            <a:r>
              <a:rPr lang="en-US" altLang="zh-CN" sz="1600" b="1" dirty="0"/>
              <a:t>:</a:t>
            </a:r>
            <a:r>
              <a:rPr lang="zh-CN" altLang="en-US" sz="1600" dirty="0"/>
              <a:t> 在</a:t>
            </a:r>
            <a:r>
              <a:rPr lang="en-CA" sz="1600" dirty="0"/>
              <a:t>COVID-19</a:t>
            </a:r>
            <a:r>
              <a:rPr lang="zh-CN" altLang="en-US" sz="1600" dirty="0"/>
              <a:t>大流行期间作为病毒学专家，提供关于病毒传播、疫苗开发和功能增益研究的专业见解，频繁接受媒体采访和学术报告邀请。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跨学科合作</a:t>
            </a:r>
            <a:r>
              <a:rPr lang="en-US" altLang="zh-CN" sz="1600" b="1" dirty="0"/>
              <a:t>:</a:t>
            </a:r>
            <a:r>
              <a:rPr lang="zh-CN" altLang="en-US" sz="1600" dirty="0"/>
              <a:t> 作为</a:t>
            </a:r>
            <a:r>
              <a:rPr lang="en-CA" sz="1600" dirty="0"/>
              <a:t>CINBIOSE</a:t>
            </a:r>
            <a:r>
              <a:rPr lang="zh-CN" altLang="en-US" sz="1600" dirty="0"/>
              <a:t>研究中心成员，参与公共健康与环境保护领域的跨学科项目。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学术服务</a:t>
            </a:r>
            <a:r>
              <a:rPr lang="en-US" altLang="zh-CN" sz="1600" b="1" dirty="0"/>
              <a:t>:</a:t>
            </a:r>
            <a:r>
              <a:rPr lang="zh-CN" altLang="en-US" sz="1600" dirty="0"/>
              <a:t> 担任多个国际学术期刊的审稿人和学术会议组织者，为病毒学与免疫学研究的发展做出贡献。</a:t>
            </a:r>
          </a:p>
          <a:p>
            <a:r>
              <a:rPr lang="zh-CN" altLang="en-US" sz="1600" b="1" dirty="0"/>
              <a:t>抗病毒</a:t>
            </a:r>
            <a:r>
              <a:rPr lang="en-CA" sz="1600" b="1" dirty="0"/>
              <a:t>RNA</a:t>
            </a:r>
            <a:r>
              <a:rPr lang="zh-CN" altLang="en-US" sz="1600" b="1" dirty="0"/>
              <a:t>疗法相关性</a:t>
            </a:r>
            <a:r>
              <a:rPr lang="en-US" altLang="zh-CN" sz="1600" b="1" dirty="0"/>
              <a:t>:</a:t>
            </a:r>
            <a:br>
              <a:rPr lang="zh-CN" altLang="en-US" sz="1600" dirty="0"/>
            </a:br>
            <a:r>
              <a:rPr lang="zh-CN" altLang="en-US" sz="1600" dirty="0"/>
              <a:t>虽然</a:t>
            </a:r>
            <a:r>
              <a:rPr lang="en-CA" sz="1600" dirty="0"/>
              <a:t>Benoît Barbeau </a:t>
            </a:r>
            <a:r>
              <a:rPr lang="zh-CN" altLang="en-US" sz="1600" dirty="0"/>
              <a:t>教授的主要研究集中在</a:t>
            </a:r>
            <a:r>
              <a:rPr lang="en-CA" sz="1600" dirty="0"/>
              <a:t>HERV</a:t>
            </a:r>
            <a:r>
              <a:rPr lang="zh-CN" altLang="en-US" sz="1600" dirty="0"/>
              <a:t>与胎盘形成及免疫调节领域，目前尚无明确证据显示他直接从事抗病毒</a:t>
            </a:r>
            <a:r>
              <a:rPr lang="en-CA" sz="1600" dirty="0"/>
              <a:t>RNA</a:t>
            </a:r>
            <a:r>
              <a:rPr lang="zh-CN" altLang="en-US" sz="1600" dirty="0"/>
              <a:t>疗法的研究。然而，作为病毒学与免疫学领域的权威，他的研究成果可能间接为</a:t>
            </a:r>
            <a:r>
              <a:rPr lang="en-CA" sz="1600" dirty="0"/>
              <a:t>RNA</a:t>
            </a:r>
            <a:r>
              <a:rPr lang="zh-CN" altLang="en-US" sz="1600" dirty="0"/>
              <a:t>疗法的开发提供科学支持。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D3F98-23CA-F89C-BDC3-A570109A7800}"/>
              </a:ext>
            </a:extLst>
          </p:cNvPr>
          <p:cNvSpPr txBox="1"/>
          <p:nvPr/>
        </p:nvSpPr>
        <p:spPr>
          <a:xfrm>
            <a:off x="238651" y="195344"/>
            <a:ext cx="6097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200" b="1"/>
              <a:t>Benoît Barbeau </a:t>
            </a:r>
            <a:r>
              <a:rPr lang="zh-CN" altLang="en-US" sz="2200" b="1"/>
              <a:t>教授</a:t>
            </a:r>
            <a:endParaRPr lang="zh-CN" altLang="en-US" sz="2200"/>
          </a:p>
        </p:txBody>
      </p:sp>
    </p:spTree>
    <p:extLst>
      <p:ext uri="{BB962C8B-B14F-4D97-AF65-F5344CB8AC3E}">
        <p14:creationId xmlns:p14="http://schemas.microsoft.com/office/powerpoint/2010/main" val="3943382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3A367C4-2C0D-9DCA-FFD2-4E3C8B190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7975" y="1084244"/>
            <a:ext cx="11458543" cy="52629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职位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医学系教授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机构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麦吉尔大学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基本信息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sz="1600" b="0" err="1">
                <a:solidFill>
                  <a:schemeClr val="tx1"/>
                </a:solidFill>
                <a:latin typeface="Arial" panose="020B0604020202020204" pitchFamily="34" charset="0"/>
              </a:rPr>
              <a:t>Ebovir</a:t>
            </a:r>
            <a:r>
              <a:rPr lang="zh-CN" altLang="en-US" sz="1600" b="0">
                <a:solidFill>
                  <a:schemeClr val="tx1"/>
                </a:solidFill>
                <a:latin typeface="Arial" panose="020B0604020202020204" pitchFamily="34" charset="0"/>
              </a:rPr>
              <a:t> 主要股东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麦吉尔大学Lady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Davis医学研究所的高级研究员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专业特长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抗病毒免疫研究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深入研究先天性免疫系统的正负调控机制，特别是RIG-I信号通路在抗病毒免疫中的作用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病毒与宿主相互作用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探讨病毒感染对宿主转录控制和病毒致病性的影响，旨在开发新的抗病毒治疗策略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小分子药物开发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开发模拟病毒RNA的小分子，以激活宿主的抗病毒免疫反应，从而抑制病原病毒感染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职业亮点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高影响力学术成果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在同行评审的科学期刊上发表超过150篇论文，谷歌学术引用次数超过21,000次，h指数为80。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重要科学发现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其团队在先天性抗病毒免疫领域取得多项重要发现，被视为该领域的里程碑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学术领导力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担任多个学生指导委员会和论文评审委员会成员，为培养下一代科学家做出贡献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专业活动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学术讲座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在麦吉尔大学教授EXMD607、EXMD632和EXMD614课程，积极参与教学工作。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学术评审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担任多个科研基金评审委员会委员，为全球病毒学研究的发展做出贡献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国际合作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与国际知名免疫学家合作，推动抗病毒免疫研究的进展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15504-FA4D-A658-983C-91EAD9BFF5A6}"/>
              </a:ext>
            </a:extLst>
          </p:cNvPr>
          <p:cNvSpPr txBox="1"/>
          <p:nvPr/>
        </p:nvSpPr>
        <p:spPr>
          <a:xfrm>
            <a:off x="247975" y="203000"/>
            <a:ext cx="6097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Rongtuan</a:t>
            </a:r>
            <a:r>
              <a:rPr kumimoji="0" lang="zh-CN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2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kumimoji="0" lang="en-US" altLang="en-US" sz="2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教授</a:t>
            </a:r>
            <a:endParaRPr kumimoji="0" lang="en-US" altLang="en-US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732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B19BA1-1777-8F6D-CD2D-88F73C424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277" y="903859"/>
            <a:ext cx="11174780" cy="587853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algn="l" rtl="0"/>
            <a:r>
              <a:rPr lang="zh-CN" altLang="en-US" sz="1600" b="1" dirty="0"/>
              <a:t>职位</a:t>
            </a:r>
            <a:r>
              <a:rPr lang="en-US" altLang="zh-CN" sz="1600" b="1" dirty="0"/>
              <a:t>:</a:t>
            </a:r>
            <a:r>
              <a:rPr lang="zh-CN" altLang="en-US" sz="1600" dirty="0"/>
              <a:t>麦吉尔大学医学院教授，国家级人才计划，</a:t>
            </a:r>
            <a:r>
              <a:rPr lang="en-US" altLang="en-US" sz="1600" b="0" dirty="0" err="1">
                <a:solidFill>
                  <a:schemeClr val="tx1"/>
                </a:solidFill>
                <a:latin typeface="Arial" panose="020B0604020202020204" pitchFamily="34" charset="0"/>
              </a:rPr>
              <a:t>Ebovir</a:t>
            </a:r>
            <a:r>
              <a:rPr lang="zh-CN" altLang="en-US" sz="1600" b="0" dirty="0">
                <a:solidFill>
                  <a:schemeClr val="tx1"/>
                </a:solidFill>
                <a:latin typeface="Arial" panose="020B0604020202020204" pitchFamily="34" charset="0"/>
              </a:rPr>
              <a:t>主要股东</a:t>
            </a:r>
            <a:br>
              <a:rPr lang="zh-CN" altLang="en-US" sz="1600" dirty="0"/>
            </a:br>
            <a:r>
              <a:rPr lang="ja-JP" altLang="en-US" sz="2000">
                <a:ea typeface="Microsoft JhengHei"/>
              </a:rPr>
              <a:t>基本信息</a:t>
            </a:r>
            <a:r>
              <a:rPr lang="en-US" sz="2000" dirty="0">
                <a:ea typeface="Microsoft JhengHei"/>
              </a:rPr>
              <a:t>:</a:t>
            </a:r>
            <a:br>
              <a:rPr lang="zh-CN" altLang="en-US" sz="1600" dirty="0"/>
            </a:br>
            <a:r>
              <a:rPr lang="en-US" altLang="zh-CN" sz="1600" dirty="0"/>
              <a:t>L</a:t>
            </a:r>
            <a:r>
              <a:rPr lang="zh-CN" altLang="en-US" sz="1600" dirty="0"/>
              <a:t>教授是麦吉尔大学医学教授，犹太综合医院</a:t>
            </a:r>
            <a:r>
              <a:rPr lang="en-CA" sz="1600" dirty="0"/>
              <a:t>Lady Davis</a:t>
            </a:r>
            <a:r>
              <a:rPr lang="zh-CN" altLang="en-US" sz="1600" dirty="0"/>
              <a:t>研究所的高级研究员，以及麦吉尔病毒疾病中心主任。他的研究主要集中在理解高致病性人类病毒的感染和发病机制，特别关注</a:t>
            </a:r>
            <a:r>
              <a:rPr lang="en-CA" sz="1600" dirty="0"/>
              <a:t>HIV-1</a:t>
            </a:r>
            <a:r>
              <a:rPr lang="zh-CN" altLang="en-US" sz="1600" dirty="0"/>
              <a:t>和</a:t>
            </a:r>
            <a:r>
              <a:rPr lang="en-CA" sz="1600" dirty="0"/>
              <a:t>SARS-CoV-2</a:t>
            </a:r>
            <a:r>
              <a:rPr lang="zh-CN" altLang="en-US" sz="1600" dirty="0"/>
              <a:t>等</a:t>
            </a:r>
            <a:r>
              <a:rPr lang="en-CA" sz="1600" dirty="0"/>
              <a:t>RNA</a:t>
            </a:r>
            <a:r>
              <a:rPr lang="zh-CN" altLang="en-US" sz="1600" dirty="0"/>
              <a:t>病毒的抗病毒先天免疫反应。 </a:t>
            </a:r>
            <a:endParaRPr lang="en-CA" altLang="zh-CN" sz="1600" dirty="0"/>
          </a:p>
          <a:p>
            <a:r>
              <a:rPr lang="zh-CN" altLang="en-US" sz="1600" b="1" dirty="0"/>
              <a:t>专业特长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抗病毒先天免疫</a:t>
            </a:r>
            <a:r>
              <a:rPr lang="en-US" altLang="zh-CN" sz="1600" b="1" dirty="0"/>
              <a:t>:</a:t>
            </a:r>
            <a:r>
              <a:rPr lang="zh-CN" altLang="en-US" sz="1600" dirty="0"/>
              <a:t> 深入研究宿主细胞如何通过干扰素刺激基因限制</a:t>
            </a:r>
            <a:r>
              <a:rPr lang="en-CA" sz="1600" dirty="0"/>
              <a:t>HIV-1</a:t>
            </a:r>
            <a:r>
              <a:rPr lang="zh-CN" altLang="en-US" sz="1600" dirty="0"/>
              <a:t>感染，并阐明其分子机制。  </a:t>
            </a:r>
            <a:endParaRPr lang="en-CA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1600" b="1" dirty="0"/>
              <a:t>CRISPR</a:t>
            </a:r>
            <a:r>
              <a:rPr lang="zh-CN" altLang="en-US" sz="1600" b="1" dirty="0"/>
              <a:t>基因编辑</a:t>
            </a:r>
            <a:r>
              <a:rPr lang="en-US" altLang="zh-CN" sz="1600" b="1" dirty="0"/>
              <a:t>:</a:t>
            </a:r>
            <a:r>
              <a:rPr lang="zh-CN" altLang="en-US" sz="1600" dirty="0"/>
              <a:t> 率先将</a:t>
            </a:r>
            <a:r>
              <a:rPr lang="en-CA" sz="1600" dirty="0"/>
              <a:t>CRISPR/Cas9</a:t>
            </a:r>
            <a:r>
              <a:rPr lang="zh-CN" altLang="en-US" sz="1600" dirty="0"/>
              <a:t>基因编辑技术应用于清除</a:t>
            </a:r>
            <a:r>
              <a:rPr lang="en-CA" sz="1600" dirty="0"/>
              <a:t>HIV-1</a:t>
            </a:r>
            <a:r>
              <a:rPr lang="zh-CN" altLang="en-US" sz="1600" dirty="0"/>
              <a:t>感染细胞中的整合病毒</a:t>
            </a:r>
            <a:r>
              <a:rPr lang="en-CA" sz="1600" dirty="0"/>
              <a:t>DNA，</a:t>
            </a:r>
            <a:r>
              <a:rPr lang="zh-CN" altLang="en-US" sz="1600" dirty="0"/>
              <a:t>探索治愈</a:t>
            </a:r>
            <a:r>
              <a:rPr lang="en-CA" sz="1600" dirty="0"/>
              <a:t>HIV</a:t>
            </a:r>
            <a:r>
              <a:rPr lang="zh-CN" altLang="en-US" sz="1600" dirty="0"/>
              <a:t>感染的新策略。  </a:t>
            </a:r>
            <a:endParaRPr lang="en-CA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病毒与宿主相互作用</a:t>
            </a:r>
            <a:r>
              <a:rPr lang="en-US" altLang="zh-CN" sz="1600" b="1" dirty="0"/>
              <a:t>:</a:t>
            </a:r>
            <a:r>
              <a:rPr lang="zh-CN" altLang="en-US" sz="1600" dirty="0"/>
              <a:t> 利用分子学、基因组学和蛋白质组学方法，解码病毒与宿主之间的复杂相互作用，特别是针对</a:t>
            </a:r>
            <a:r>
              <a:rPr lang="en-CA" sz="1600" dirty="0"/>
              <a:t>HIV-1</a:t>
            </a:r>
            <a:r>
              <a:rPr lang="zh-CN" altLang="en-US" sz="1600" dirty="0"/>
              <a:t>和</a:t>
            </a:r>
            <a:r>
              <a:rPr lang="en-CA" sz="1600" dirty="0" err="1"/>
              <a:t>新冠病毒</a:t>
            </a:r>
            <a:endParaRPr lang="en-CA" sz="1600" dirty="0"/>
          </a:p>
          <a:p>
            <a:pPr>
              <a:buFont typeface="Arial" panose="020B0604020202020204" pitchFamily="34" charset="0"/>
              <a:buChar char="•"/>
            </a:pPr>
            <a:endParaRPr lang="en-CA" sz="1600" dirty="0"/>
          </a:p>
          <a:p>
            <a:r>
              <a:rPr lang="zh-CN" altLang="en-US" sz="2000" b="1" dirty="0"/>
              <a:t>职业亮点</a:t>
            </a:r>
            <a:r>
              <a:rPr lang="en-US" altLang="zh-CN" sz="2000" b="1" dirty="0"/>
              <a:t>:</a:t>
            </a: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学术领导</a:t>
            </a:r>
            <a:r>
              <a:rPr lang="en-US" altLang="zh-CN" sz="1600" b="1" dirty="0"/>
              <a:t>:</a:t>
            </a:r>
            <a:r>
              <a:rPr lang="zh-CN" altLang="en-US" sz="1600" dirty="0"/>
              <a:t> 自</a:t>
            </a:r>
            <a:r>
              <a:rPr lang="en-US" altLang="zh-CN" sz="1600" dirty="0"/>
              <a:t>2018</a:t>
            </a:r>
            <a:r>
              <a:rPr lang="zh-CN" altLang="en-US" sz="1600" dirty="0"/>
              <a:t>年起担任麦吉尔艾滋病中心（</a:t>
            </a:r>
            <a:r>
              <a:rPr lang="en-CA" sz="1600" dirty="0"/>
              <a:t>MAC）</a:t>
            </a:r>
            <a:r>
              <a:rPr lang="zh-CN" altLang="en-US" sz="1600" dirty="0"/>
              <a:t> 主任，并于</a:t>
            </a:r>
            <a:r>
              <a:rPr lang="en-US" altLang="zh-CN" sz="1600" dirty="0"/>
              <a:t>2021</a:t>
            </a:r>
            <a:r>
              <a:rPr lang="zh-CN" altLang="en-US" sz="1600" dirty="0"/>
              <a:t>年被任命为麦吉尔病毒疾病中心主任，领导病毒研究领域的多学科合作。  </a:t>
            </a:r>
            <a:endParaRPr lang="en-CA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持续资助</a:t>
            </a:r>
            <a:r>
              <a:rPr lang="en-US" altLang="zh-CN" sz="1600" b="1" dirty="0"/>
              <a:t>:</a:t>
            </a:r>
            <a:r>
              <a:rPr lang="zh-CN" altLang="en-US" sz="1600" dirty="0"/>
              <a:t> 研究工作持续获得加拿大卫生研究院（</a:t>
            </a:r>
            <a:r>
              <a:rPr lang="en-CA" sz="1600" dirty="0"/>
              <a:t>CIHR）、</a:t>
            </a:r>
            <a:r>
              <a:rPr lang="zh-CN" altLang="en-US" sz="1600" dirty="0"/>
              <a:t>魁北克研究基金（</a:t>
            </a:r>
            <a:r>
              <a:rPr lang="en-CA" sz="1600" dirty="0"/>
              <a:t>FRQ）</a:t>
            </a:r>
            <a:r>
              <a:rPr lang="zh-CN" altLang="en-US" sz="1600" dirty="0"/>
              <a:t>和加拿大艾滋病研究基金会（</a:t>
            </a:r>
            <a:r>
              <a:rPr lang="en-CA" sz="1600" dirty="0"/>
              <a:t>CANFAR）</a:t>
            </a:r>
            <a:r>
              <a:rPr lang="zh-CN" altLang="en-US" sz="1600" dirty="0"/>
              <a:t>的资助，体现其在病毒学研究领域的卓越贡献。  </a:t>
            </a:r>
            <a:endParaRPr lang="en-CA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高影响力出版物</a:t>
            </a:r>
            <a:r>
              <a:rPr lang="en-US" altLang="zh-CN" sz="1600" b="1" dirty="0"/>
              <a:t>:</a:t>
            </a:r>
            <a:r>
              <a:rPr lang="zh-CN" altLang="en-US" sz="1600" dirty="0"/>
              <a:t> 在同行评审的科学期刊上发表了超过</a:t>
            </a:r>
            <a:r>
              <a:rPr lang="en-US" altLang="zh-CN" sz="1600" dirty="0"/>
              <a:t>120</a:t>
            </a:r>
            <a:r>
              <a:rPr lang="zh-CN" altLang="en-US" sz="1600" dirty="0"/>
              <a:t>篇论文，为</a:t>
            </a:r>
            <a:r>
              <a:rPr lang="en-CA" sz="1600" dirty="0"/>
              <a:t>HIV-1</a:t>
            </a:r>
            <a:r>
              <a:rPr lang="zh-CN" altLang="en-US" sz="1600" dirty="0"/>
              <a:t>和</a:t>
            </a:r>
            <a:r>
              <a:rPr lang="en-CA" sz="1600" dirty="0"/>
              <a:t>SARS-CoV-2</a:t>
            </a:r>
            <a:r>
              <a:rPr lang="zh-CN" altLang="en-US" sz="1600" dirty="0"/>
              <a:t>研究提供了重要见解</a:t>
            </a:r>
            <a:endParaRPr lang="en-CA" altLang="zh-CN" sz="1600" dirty="0"/>
          </a:p>
          <a:p>
            <a:r>
              <a:rPr lang="zh-CN" altLang="en-US" sz="1600" dirty="0"/>
              <a:t> </a:t>
            </a:r>
            <a:endParaRPr lang="en-CA" sz="1600" dirty="0"/>
          </a:p>
          <a:p>
            <a:r>
              <a:rPr lang="zh-CN" altLang="en-US" b="1" dirty="0"/>
              <a:t>专业活动</a:t>
            </a:r>
            <a:r>
              <a:rPr lang="en-US" altLang="zh-CN" b="1" dirty="0"/>
              <a:t>: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教学与指导</a:t>
            </a:r>
            <a:r>
              <a:rPr lang="en-US" altLang="zh-CN" sz="1600" b="1" dirty="0"/>
              <a:t>:</a:t>
            </a:r>
            <a:r>
              <a:rPr lang="zh-CN" altLang="en-US" sz="1600" dirty="0"/>
              <a:t> 在麦吉尔大学教授本科和研究生课程，培养下一代科学家，并指导学生的研究项目。  </a:t>
            </a:r>
            <a:endParaRPr lang="en-CA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学术服务</a:t>
            </a:r>
            <a:r>
              <a:rPr lang="en-US" altLang="zh-CN" sz="1600" b="1" dirty="0"/>
              <a:t>:</a:t>
            </a:r>
            <a:r>
              <a:rPr lang="zh-CN" altLang="en-US" sz="1600" dirty="0"/>
              <a:t> 担任多个科学期刊的审稿人，并参与科研基金评审委员会，为病毒学研究的发展做出贡献。  </a:t>
            </a:r>
            <a:endParaRPr lang="en-CA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国际合作</a:t>
            </a:r>
            <a:r>
              <a:rPr lang="en-US" altLang="zh-CN" sz="1600" b="1" dirty="0"/>
              <a:t>:</a:t>
            </a:r>
            <a:r>
              <a:rPr lang="zh-CN" altLang="en-US" sz="1600" dirty="0"/>
              <a:t> 与全球知名研究机构合作，推动抗病毒治疗和疫苗开发的进展，特别是在</a:t>
            </a:r>
            <a:r>
              <a:rPr lang="en-CA" sz="1600" dirty="0"/>
              <a:t>HIV-1</a:t>
            </a:r>
            <a:r>
              <a:rPr lang="zh-CN" altLang="en-US" sz="1600" dirty="0"/>
              <a:t>和</a:t>
            </a:r>
            <a:r>
              <a:rPr lang="en-CA" sz="1600" dirty="0"/>
              <a:t>SARS-CoV-2</a:t>
            </a:r>
            <a:r>
              <a:rPr lang="zh-CN" altLang="en-US" sz="1600" dirty="0"/>
              <a:t>领域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830A4-4D2C-353E-691D-E17654E9966B}"/>
              </a:ext>
            </a:extLst>
          </p:cNvPr>
          <p:cNvSpPr txBox="1"/>
          <p:nvPr/>
        </p:nvSpPr>
        <p:spPr>
          <a:xfrm>
            <a:off x="274277" y="254721"/>
            <a:ext cx="6097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/>
              <a:t>C</a:t>
            </a:r>
            <a:r>
              <a:rPr lang="zh-CN" altLang="en-US" sz="2200" b="1"/>
              <a:t> </a:t>
            </a:r>
            <a:r>
              <a:rPr lang="en-US" altLang="zh-CN" sz="2200" b="1"/>
              <a:t>L</a:t>
            </a:r>
            <a:r>
              <a:rPr lang="zh-CN" altLang="en-US" sz="2200" b="1"/>
              <a:t> 教授</a:t>
            </a:r>
            <a:endParaRPr lang="zh-CN" altLang="en-US" sz="2200"/>
          </a:p>
        </p:txBody>
      </p:sp>
    </p:spTree>
    <p:extLst>
      <p:ext uri="{BB962C8B-B14F-4D97-AF65-F5344CB8AC3E}">
        <p14:creationId xmlns:p14="http://schemas.microsoft.com/office/powerpoint/2010/main" val="4872194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32AAE5-0DC4-FA20-BEDC-5EF465EC6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784" y="943204"/>
            <a:ext cx="11174780" cy="5109091"/>
          </a:xfr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ja-JP" altLang="en-US">
                <a:ea typeface="Microsoft JhengHei"/>
              </a:rPr>
              <a:t>职位</a:t>
            </a:r>
            <a:r>
              <a:rPr lang="en-US">
                <a:ea typeface="Microsoft JhengHei"/>
              </a:rPr>
              <a:t>:</a:t>
            </a:r>
            <a:r>
              <a:rPr lang="en-US" altLang="ja-JP" b="0">
                <a:ea typeface="Microsoft JhengHei"/>
              </a:rPr>
              <a:t> </a:t>
            </a:r>
            <a:r>
              <a:rPr lang="ja-JP" altLang="en-US" b="0">
                <a:ea typeface="Microsoft JhengHei"/>
              </a:rPr>
              <a:t>生物医学工程系教授</a:t>
            </a:r>
            <a:r>
              <a:rPr lang="zh-CN" altLang="en-US" b="0">
                <a:ea typeface="Microsoft JhengHei"/>
              </a:rPr>
              <a:t>，</a:t>
            </a:r>
            <a:r>
              <a:rPr lang="en-US" altLang="en-US" sz="2400" b="0" err="1">
                <a:solidFill>
                  <a:schemeClr val="tx1"/>
                </a:solidFill>
                <a:latin typeface="Arial" panose="020B0604020202020204" pitchFamily="34" charset="0"/>
              </a:rPr>
              <a:t>Ebovir</a:t>
            </a:r>
            <a:r>
              <a:rPr lang="zh-CN" altLang="en-US" sz="2400" b="0">
                <a:solidFill>
                  <a:schemeClr val="tx1"/>
                </a:solidFill>
                <a:latin typeface="Arial" panose="020B0604020202020204" pitchFamily="34" charset="0"/>
              </a:rPr>
              <a:t> 主要股东</a:t>
            </a:r>
            <a:endParaRPr lang="en-US" altLang="ja-JP"/>
          </a:p>
          <a:p>
            <a:pPr algn="l"/>
            <a:r>
              <a:rPr lang="ja-JP" altLang="en-US" err="1">
                <a:ea typeface="Microsoft JhengHei"/>
              </a:rPr>
              <a:t>机构</a:t>
            </a:r>
            <a:r>
              <a:rPr lang="en-US">
                <a:ea typeface="Microsoft JhengHei"/>
              </a:rPr>
              <a:t>:</a:t>
            </a:r>
            <a:r>
              <a:rPr lang="en-US" altLang="ja-JP" b="0">
                <a:ea typeface="Microsoft JhengHei"/>
              </a:rPr>
              <a:t> </a:t>
            </a:r>
            <a:r>
              <a:rPr lang="ja-JP" altLang="en-US" b="0" err="1">
                <a:ea typeface="Microsoft JhengHei"/>
              </a:rPr>
              <a:t>麦吉尔大学</a:t>
            </a:r>
            <a:r>
              <a:rPr lang="en-US" b="0">
                <a:ea typeface="Microsoft JhengHei"/>
              </a:rPr>
              <a:t> Rosalind &amp; Morris Goodman</a:t>
            </a:r>
            <a:r>
              <a:rPr lang="en-US" altLang="ja-JP" b="0">
                <a:ea typeface="Microsoft JhengHei"/>
              </a:rPr>
              <a:t> </a:t>
            </a:r>
            <a:r>
              <a:rPr lang="ja-JP" altLang="en-US" b="0" err="1">
                <a:ea typeface="Microsoft JhengHei"/>
              </a:rPr>
              <a:t>癌症研究所</a:t>
            </a:r>
            <a:endParaRPr lang="en-US" altLang="ja-JP"/>
          </a:p>
          <a:p>
            <a:pPr algn="l"/>
            <a:r>
              <a:rPr lang="ja-JP" altLang="en-US" err="1">
                <a:ea typeface="Microsoft JhengHei"/>
              </a:rPr>
              <a:t>基本信息</a:t>
            </a:r>
            <a:r>
              <a:rPr lang="en-US">
                <a:ea typeface="Microsoft JhengHei"/>
              </a:rPr>
              <a:t>:</a:t>
            </a:r>
            <a:endParaRPr lang="en-US" altLang="ja-JP"/>
          </a:p>
          <a:p>
            <a:pPr algn="l"/>
            <a:r>
              <a:rPr lang="ja-JP" altLang="en-US" sz="1600" b="0">
                <a:ea typeface="Microsoft JhengHei"/>
              </a:rPr>
              <a:t>世界领先的癌症纳米医学与生物材料研究专家，专注于纳米药物递送、癌症免疫治疗和肿瘤微环境重塑。拥有丰富的学术研究和技术开发经验，是多项专利发明人和国际知名期刊的高被引作者。</a:t>
            </a:r>
            <a:endParaRPr lang="en-US" altLang="ja-JP" sz="1600"/>
          </a:p>
          <a:p>
            <a:pPr algn="l"/>
            <a:r>
              <a:rPr lang="ja-JP" altLang="en-US" err="1">
                <a:ea typeface="Microsoft JhengHei"/>
              </a:rPr>
              <a:t>专业特长</a:t>
            </a:r>
            <a:r>
              <a:rPr lang="en-US">
                <a:ea typeface="Microsoft JhengHei"/>
              </a:rPr>
              <a:t>:</a:t>
            </a:r>
            <a:endParaRPr lang="en-US" altLang="ja-JP"/>
          </a:p>
          <a:p>
            <a:pPr marL="285750" indent="-285750" algn="l">
              <a:buFont typeface="Arial"/>
              <a:buChar char="•"/>
            </a:pPr>
            <a:r>
              <a:rPr lang="ja-JP" altLang="en-US" sz="1600" b="0" err="1">
                <a:ea typeface="Microsoft JhengHei"/>
              </a:rPr>
              <a:t>精通癌症治疗中的纳米药物递送、免疫治疗和生物响应性智能材料设计</a:t>
            </a:r>
            <a:r>
              <a:rPr lang="ja-JP" altLang="en-US" sz="1600" b="0">
                <a:ea typeface="Microsoft JhengHei"/>
              </a:rPr>
              <a:t>。</a:t>
            </a:r>
            <a:endParaRPr lang="en-US" altLang="ja-JP" sz="1600">
              <a:ea typeface="ＭＳ Ｐゴシック"/>
            </a:endParaRPr>
          </a:p>
          <a:p>
            <a:pPr marL="285750" indent="-285750" algn="l">
              <a:buFont typeface="Arial"/>
              <a:buChar char="•"/>
            </a:pPr>
            <a:r>
              <a:rPr lang="ja-JP" altLang="en-US" sz="1600" b="0" err="1">
                <a:ea typeface="Microsoft JhengHei"/>
              </a:rPr>
              <a:t>在</a:t>
            </a:r>
            <a:r>
              <a:rPr lang="en-US" sz="1600" b="0" i="1" err="1">
                <a:ea typeface="Microsoft JhengHei"/>
              </a:rPr>
              <a:t>Biomaterials</a:t>
            </a:r>
            <a:r>
              <a:rPr lang="en-US" sz="1600" b="0" err="1">
                <a:ea typeface="Microsoft JhengHei"/>
              </a:rPr>
              <a:t>、</a:t>
            </a:r>
            <a:r>
              <a:rPr lang="en-US" sz="1600" b="0" i="1" err="1">
                <a:ea typeface="Microsoft JhengHei"/>
              </a:rPr>
              <a:t>Journal</a:t>
            </a:r>
            <a:r>
              <a:rPr lang="en-US" sz="1600" b="0" i="1">
                <a:ea typeface="Microsoft JhengHei"/>
              </a:rPr>
              <a:t> of Nanobiotechnology</a:t>
            </a:r>
            <a:r>
              <a:rPr lang="ja-JP" altLang="en-US" sz="1600" b="0" err="1">
                <a:ea typeface="Microsoft JhengHei"/>
              </a:rPr>
              <a:t>和</a:t>
            </a:r>
            <a:r>
              <a:rPr lang="en-US" sz="1600" b="0" i="1">
                <a:ea typeface="Microsoft JhengHei"/>
              </a:rPr>
              <a:t>Advanced Materials</a:t>
            </a:r>
            <a:r>
              <a:rPr lang="ja-JP" altLang="en-US" sz="1600" b="0" err="1">
                <a:ea typeface="Microsoft JhengHei"/>
              </a:rPr>
              <a:t>等顶尖期刊上发表百余篇学术论文</a:t>
            </a:r>
            <a:r>
              <a:rPr lang="ja-JP" altLang="en-US" sz="1600" b="0">
                <a:ea typeface="Microsoft JhengHei"/>
              </a:rPr>
              <a:t>。</a:t>
            </a:r>
            <a:endParaRPr lang="en-US" altLang="ja-JP" sz="1600">
              <a:ea typeface="ＭＳ Ｐゴシック"/>
            </a:endParaRPr>
          </a:p>
          <a:p>
            <a:pPr marL="285750" indent="-285750" algn="l">
              <a:buFont typeface="Arial"/>
              <a:buChar char="•"/>
            </a:pPr>
            <a:r>
              <a:rPr lang="ja-JP" altLang="en-US" sz="1600" b="0" err="1">
                <a:ea typeface="Microsoft JhengHei"/>
              </a:rPr>
              <a:t>擅长从基础研究到临床转化的技术开发，成功推动多项癌症治疗技术的产业化与临床试验</a:t>
            </a:r>
            <a:r>
              <a:rPr lang="ja-JP" altLang="en-US" sz="1600" b="0">
                <a:ea typeface="Microsoft JhengHei"/>
              </a:rPr>
              <a:t>。</a:t>
            </a:r>
            <a:endParaRPr lang="en-US" altLang="ja-JP" sz="1600"/>
          </a:p>
          <a:p>
            <a:pPr algn="l"/>
            <a:r>
              <a:rPr lang="ja-JP" altLang="en-US" err="1">
                <a:ea typeface="Microsoft JhengHei"/>
              </a:rPr>
              <a:t>职业亮点</a:t>
            </a:r>
            <a:r>
              <a:rPr lang="en-US">
                <a:ea typeface="Microsoft JhengHei"/>
              </a:rPr>
              <a:t>:</a:t>
            </a:r>
            <a:endParaRPr lang="en-US" altLang="ja-JP"/>
          </a:p>
          <a:p>
            <a:pPr marL="285750" indent="-285750" algn="l">
              <a:buFont typeface="Arial"/>
              <a:buChar char="•"/>
            </a:pPr>
            <a:r>
              <a:rPr lang="ja-JP" altLang="en-US" sz="1600" b="0" err="1">
                <a:ea typeface="Microsoft JhengHei"/>
              </a:rPr>
              <a:t>带领的研究团队多次获得加拿大国家科学基金、麦吉尔大学专项研究基金等高额科研资助</a:t>
            </a:r>
            <a:r>
              <a:rPr lang="ja-JP" altLang="en-US" sz="1600" b="0">
                <a:ea typeface="Microsoft JhengHei"/>
              </a:rPr>
              <a:t>。</a:t>
            </a:r>
            <a:endParaRPr lang="en-US" altLang="ja-JP" sz="1600">
              <a:ea typeface="ＭＳ Ｐゴシック"/>
            </a:endParaRPr>
          </a:p>
          <a:p>
            <a:pPr marL="285750" indent="-285750" algn="l">
              <a:buFont typeface="Arial"/>
              <a:buChar char="•"/>
            </a:pPr>
            <a:r>
              <a:rPr lang="ja-JP" altLang="en-US" sz="1600" b="0" err="1">
                <a:ea typeface="Microsoft JhengHei"/>
              </a:rPr>
              <a:t>拥有多项纳米药物递送系统和癌症治疗技术相关的国际发明专利</a:t>
            </a:r>
            <a:r>
              <a:rPr lang="ja-JP" altLang="en-US" sz="1600" b="0">
                <a:ea typeface="Microsoft JhengHei"/>
              </a:rPr>
              <a:t>。</a:t>
            </a:r>
            <a:endParaRPr lang="en-US" altLang="ja-JP" sz="1600">
              <a:ea typeface="ＭＳ Ｐゴシック"/>
            </a:endParaRPr>
          </a:p>
          <a:p>
            <a:pPr marL="285750" indent="-285750" algn="l">
              <a:buFont typeface="Arial"/>
              <a:buChar char="•"/>
            </a:pPr>
            <a:r>
              <a:rPr lang="ja-JP" altLang="en-US" sz="1600" b="0" err="1">
                <a:ea typeface="Microsoft JhengHei"/>
              </a:rPr>
              <a:t>荣获多个国际科研奖项与学术荣誉，是全球生物医学工程和纳米技术领域的重要领军人物</a:t>
            </a:r>
            <a:r>
              <a:rPr lang="ja-JP" altLang="en-US" sz="1600" b="0">
                <a:ea typeface="Microsoft JhengHei"/>
              </a:rPr>
              <a:t>。</a:t>
            </a:r>
            <a:endParaRPr lang="en-US" altLang="ja-JP" sz="1600"/>
          </a:p>
          <a:p>
            <a:pPr algn="l"/>
            <a:r>
              <a:rPr lang="ja-JP" altLang="en-US" err="1">
                <a:ea typeface="Microsoft JhengHei"/>
              </a:rPr>
              <a:t>专业活动</a:t>
            </a:r>
            <a:r>
              <a:rPr lang="en-US">
                <a:ea typeface="Microsoft JhengHei"/>
              </a:rPr>
              <a:t>:</a:t>
            </a:r>
            <a:endParaRPr lang="en-US" altLang="ja-JP"/>
          </a:p>
          <a:p>
            <a:pPr marL="285750" indent="-285750" algn="l">
              <a:buFont typeface="Arial"/>
              <a:buChar char="•"/>
            </a:pPr>
            <a:r>
              <a:rPr lang="ja-JP" altLang="en-US" sz="1600" b="0" err="1">
                <a:ea typeface="Microsoft JhengHei"/>
              </a:rPr>
              <a:t>多个国际学术会议的主旨演讲嘉宾与论文评审专家</a:t>
            </a:r>
            <a:r>
              <a:rPr lang="en-US" sz="1600" b="0">
                <a:ea typeface="Microsoft JhengHei"/>
              </a:rPr>
              <a:t>。</a:t>
            </a:r>
            <a:endParaRPr lang="en-US" sz="1600">
              <a:ea typeface="Microsoft JhengHe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600" b="0" i="1">
                <a:ea typeface="Microsoft JhengHei"/>
              </a:rPr>
              <a:t>Journal of Nanobiotechnology</a:t>
            </a:r>
            <a:r>
              <a:rPr lang="ja-JP" altLang="en-US" sz="1600" b="0" err="1">
                <a:ea typeface="Microsoft JhengHei"/>
              </a:rPr>
              <a:t>等顶级期刊的编委与特约审稿人</a:t>
            </a:r>
            <a:r>
              <a:rPr lang="ja-JP" altLang="en-US" sz="1600" b="0">
                <a:ea typeface="Microsoft JhengHei"/>
              </a:rPr>
              <a:t>。</a:t>
            </a:r>
            <a:endParaRPr lang="en-US" altLang="ja-JP" sz="1600">
              <a:ea typeface="ＭＳ Ｐゴシック"/>
            </a:endParaRPr>
          </a:p>
          <a:p>
            <a:pPr marL="285750" indent="-285750" algn="l">
              <a:buFont typeface="Arial"/>
              <a:buChar char="•"/>
            </a:pPr>
            <a:r>
              <a:rPr lang="ja-JP" altLang="en-US" sz="1600" b="0" err="1">
                <a:ea typeface="Microsoft JhengHei"/>
              </a:rPr>
              <a:t>多次担任国际科研基金评审委员会委员，为全球癌症纳米技术研究的发展做出突出贡献</a:t>
            </a:r>
            <a:r>
              <a:rPr lang="en-US" sz="1600" b="0">
                <a:ea typeface="Microsoft JhengHei"/>
              </a:rPr>
              <a:t>。</a:t>
            </a:r>
            <a:endParaRPr lang="en-US" sz="1600"/>
          </a:p>
          <a:p>
            <a:endParaRPr lang="en-US">
              <a:ea typeface="Microsoft Jheng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C79D9-D693-A73F-E121-6BFDB5103E36}"/>
              </a:ext>
            </a:extLst>
          </p:cNvPr>
          <p:cNvSpPr txBox="1"/>
          <p:nvPr/>
        </p:nvSpPr>
        <p:spPr>
          <a:xfrm>
            <a:off x="416781" y="230970"/>
            <a:ext cx="6097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200" b="1">
                <a:ea typeface="Microsoft JhengHei"/>
              </a:rPr>
              <a:t>Guojun Chen</a:t>
            </a:r>
            <a:r>
              <a:rPr lang="en-US" altLang="ja-JP" sz="2200" b="1">
                <a:ea typeface="Microsoft JhengHei"/>
              </a:rPr>
              <a:t> </a:t>
            </a:r>
            <a:r>
              <a:rPr lang="en-US" altLang="ja-JP" sz="2200" b="1" err="1">
                <a:ea typeface="Microsoft JhengHei"/>
              </a:rPr>
              <a:t>教授</a:t>
            </a:r>
            <a:endParaRPr lang="ja-JP" altLang="en-US" sz="2200" b="1" err="1"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4107365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83E410C-58CF-1060-4287-499B7BB1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10" y="161293"/>
            <a:ext cx="10981385" cy="430887"/>
          </a:xfrm>
        </p:spPr>
        <p:txBody>
          <a:bodyPr/>
          <a:lstStyle/>
          <a:p>
            <a:r>
              <a:rPr lang="en-CA" sz="2800" b="1"/>
              <a:t>Dr. Robert J. Scarborough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B841B5B-0D0D-E84E-976F-8DBB66AD2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10" y="1073367"/>
            <a:ext cx="11174780" cy="5784633"/>
          </a:xfrm>
          <a:solidFill>
            <a:schemeClr val="tx2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1400" b="1"/>
              <a:t>职位</a:t>
            </a:r>
            <a:r>
              <a:rPr lang="en-US" altLang="zh-CN" sz="1400" b="1"/>
              <a:t>:</a:t>
            </a:r>
            <a:r>
              <a:rPr lang="zh-CN" altLang="en-US" sz="1400"/>
              <a:t> </a:t>
            </a:r>
            <a:r>
              <a:rPr lang="en-CA" sz="1400" err="1"/>
              <a:t>Ebovir</a:t>
            </a:r>
            <a:r>
              <a:rPr lang="zh-CN" altLang="en-US" sz="1400"/>
              <a:t>生物技术公司副总裁，预防管理与生物安全官员</a:t>
            </a:r>
            <a:endParaRPr lang="en-CA" altLang="zh-CN" sz="1400"/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zh-CN" altLang="en-US" sz="1400"/>
            </a:br>
            <a:r>
              <a:rPr lang="zh-CN" altLang="en-US" sz="1400" b="1"/>
              <a:t>基本信息</a:t>
            </a:r>
            <a:r>
              <a:rPr lang="en-US" altLang="zh-CN" sz="1400" b="1"/>
              <a:t>:</a:t>
            </a:r>
            <a:br>
              <a:rPr lang="zh-CN" altLang="en-US" sz="1400"/>
            </a:br>
            <a:r>
              <a:rPr lang="en-CA" sz="1400"/>
              <a:t>Dr. Robert J. Scarborough </a:t>
            </a:r>
            <a:r>
              <a:rPr lang="zh-CN" altLang="en-US" sz="1400"/>
              <a:t>是一位在微生物学与免疫学领域拥有丰富研究经验的科学家，专注于 </a:t>
            </a:r>
            <a:r>
              <a:rPr lang="en-CA" sz="1400"/>
              <a:t>RNA </a:t>
            </a:r>
            <a:r>
              <a:rPr lang="zh-CN" altLang="en-US" sz="1400"/>
              <a:t>疗法、抗病毒基因治疗以及小分子药物开发，尤其在 </a:t>
            </a:r>
            <a:r>
              <a:rPr lang="en-CA" sz="1400"/>
              <a:t>HIV </a:t>
            </a:r>
            <a:r>
              <a:rPr lang="zh-CN" altLang="en-US" sz="1400"/>
              <a:t>和 </a:t>
            </a:r>
            <a:r>
              <a:rPr lang="en-CA" sz="1400"/>
              <a:t>SARS-CoV-2 </a:t>
            </a:r>
            <a:r>
              <a:rPr lang="zh-CN" altLang="en-US" sz="1400"/>
              <a:t>的治疗策略方面表现出卓越的研究成果。他拥有麦吉尔大学微生物与免疫学博士学位，目前担任</a:t>
            </a:r>
            <a:r>
              <a:rPr lang="en-CA" sz="1400" err="1"/>
              <a:t>Ebovir</a:t>
            </a:r>
            <a:r>
              <a:rPr lang="zh-CN" altLang="en-US" sz="1400"/>
              <a:t>生物技术公司副总裁和</a:t>
            </a:r>
            <a:r>
              <a:rPr lang="en-CA" sz="1400"/>
              <a:t>Lady Davis</a:t>
            </a:r>
            <a:r>
              <a:rPr lang="zh-CN" altLang="en-US" sz="1400"/>
              <a:t>医学研究所的生物安全官员。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1400" b="1"/>
              <a:t>专业特长</a:t>
            </a:r>
            <a:r>
              <a:rPr lang="en-US" altLang="zh-CN" sz="1400" b="1"/>
              <a:t>:</a:t>
            </a:r>
            <a:endParaRPr lang="zh-CN" altLang="en-US" sz="1400"/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sz="1400" b="1"/>
              <a:t>RNA </a:t>
            </a:r>
            <a:r>
              <a:rPr lang="zh-CN" altLang="en-US" sz="1400" b="1"/>
              <a:t>疗法与基因治疗</a:t>
            </a:r>
            <a:r>
              <a:rPr lang="en-US" altLang="zh-CN" sz="1400" b="1"/>
              <a:t>:</a:t>
            </a:r>
            <a:r>
              <a:rPr lang="zh-CN" altLang="en-US" sz="1400"/>
              <a:t> 专注于抗病毒</a:t>
            </a:r>
            <a:r>
              <a:rPr lang="en-CA" sz="1400"/>
              <a:t>RNA</a:t>
            </a:r>
            <a:r>
              <a:rPr lang="zh-CN" altLang="en-US" sz="1400"/>
              <a:t>疗法的开发，尤其是用于治疗</a:t>
            </a:r>
            <a:r>
              <a:rPr lang="en-CA" sz="1400"/>
              <a:t>HIV-1</a:t>
            </a:r>
            <a:r>
              <a:rPr lang="zh-CN" altLang="en-US" sz="1400"/>
              <a:t>和</a:t>
            </a:r>
            <a:r>
              <a:rPr lang="en-CA" sz="1400"/>
              <a:t>SARS-CoV-2</a:t>
            </a:r>
            <a:r>
              <a:rPr lang="zh-CN" altLang="en-US" sz="1400"/>
              <a:t>的</a:t>
            </a:r>
            <a:r>
              <a:rPr lang="en-CA" sz="1400"/>
              <a:t>siRNA</a:t>
            </a:r>
            <a:r>
              <a:rPr lang="zh-CN" altLang="en-US" sz="1400"/>
              <a:t>和反义</a:t>
            </a:r>
            <a:r>
              <a:rPr lang="en-CA" sz="1400"/>
              <a:t>RNA</a:t>
            </a:r>
            <a:r>
              <a:rPr lang="zh-CN" altLang="en-US" sz="1400"/>
              <a:t>分子。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/>
              <a:t>病毒与宿主相互作用</a:t>
            </a:r>
            <a:r>
              <a:rPr lang="en-US" altLang="zh-CN" sz="1400" b="1"/>
              <a:t>:</a:t>
            </a:r>
            <a:r>
              <a:rPr lang="zh-CN" altLang="en-US" sz="1400"/>
              <a:t> 深入研究病毒生命周期中的</a:t>
            </a:r>
            <a:r>
              <a:rPr lang="en-CA" sz="1400"/>
              <a:t>RNA</a:t>
            </a:r>
            <a:r>
              <a:rPr lang="zh-CN" altLang="en-US" sz="1400"/>
              <a:t>调控机制，探索潜在的药物靶点。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/>
              <a:t>小分子药物研发</a:t>
            </a:r>
            <a:r>
              <a:rPr lang="en-US" altLang="zh-CN" sz="1400" b="1"/>
              <a:t>:</a:t>
            </a:r>
            <a:r>
              <a:rPr lang="zh-CN" altLang="en-US" sz="1400"/>
              <a:t> 参与多个临床前和临床阶段的小分子药物开发项目，包括</a:t>
            </a:r>
            <a:r>
              <a:rPr lang="en-CA" sz="1400"/>
              <a:t>CXCR4</a:t>
            </a:r>
            <a:r>
              <a:rPr lang="zh-CN" altLang="en-US" sz="1400"/>
              <a:t>拮抗剂和抗病毒抑制剂的研究。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1400" b="1"/>
              <a:t>职业亮点</a:t>
            </a:r>
            <a:r>
              <a:rPr lang="en-US" altLang="zh-CN" sz="1400" b="1"/>
              <a:t>:</a:t>
            </a:r>
            <a:endParaRPr lang="zh-CN" altLang="en-US" sz="1400"/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/>
              <a:t>科研资助与项目管理</a:t>
            </a:r>
            <a:r>
              <a:rPr lang="en-US" altLang="zh-CN" sz="1400" b="1"/>
              <a:t>:</a:t>
            </a:r>
            <a:r>
              <a:rPr lang="zh-CN" altLang="en-US" sz="1400"/>
              <a:t> 曾获得多个由加拿大卫生研究院（</a:t>
            </a:r>
            <a:r>
              <a:rPr lang="en-CA" sz="1400"/>
              <a:t>CIHR）</a:t>
            </a:r>
            <a:r>
              <a:rPr lang="zh-CN" altLang="en-US" sz="1400"/>
              <a:t>资助的研究项目，包括 </a:t>
            </a:r>
            <a:r>
              <a:rPr lang="en-CA" sz="1400"/>
              <a:t>SARS-CoV-2 </a:t>
            </a:r>
            <a:r>
              <a:rPr lang="zh-CN" altLang="en-US" sz="1400"/>
              <a:t>和 </a:t>
            </a:r>
            <a:r>
              <a:rPr lang="en-CA" sz="1400"/>
              <a:t>HIV-1 RNA </a:t>
            </a:r>
            <a:r>
              <a:rPr lang="zh-CN" altLang="en-US" sz="1400"/>
              <a:t>疗法的开发，总额超过</a:t>
            </a:r>
            <a:r>
              <a:rPr lang="en-US" altLang="zh-CN" sz="1400"/>
              <a:t>150</a:t>
            </a:r>
            <a:r>
              <a:rPr lang="zh-CN" altLang="en-US" sz="1400"/>
              <a:t>万加元。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/>
              <a:t>学术成就与奖项</a:t>
            </a:r>
            <a:r>
              <a:rPr lang="en-US" altLang="zh-CN" sz="1400" b="1"/>
              <a:t>:</a:t>
            </a:r>
            <a:r>
              <a:rPr lang="zh-CN" altLang="en-US" sz="1400"/>
              <a:t> 获得麦吉尔大学医学院</a:t>
            </a:r>
            <a:r>
              <a:rPr lang="en-CA" sz="1400"/>
              <a:t>Richard</a:t>
            </a:r>
            <a:r>
              <a:rPr lang="zh-CN" altLang="en-US" sz="1400"/>
              <a:t>和</a:t>
            </a:r>
            <a:r>
              <a:rPr lang="en-CA" sz="1400"/>
              <a:t>Edith Strauss</a:t>
            </a:r>
            <a:r>
              <a:rPr lang="zh-CN" altLang="en-US" sz="1400"/>
              <a:t>博士后奖学金以及</a:t>
            </a:r>
            <a:r>
              <a:rPr lang="en-CA" sz="1400"/>
              <a:t>Wares</a:t>
            </a:r>
            <a:r>
              <a:rPr lang="zh-CN" altLang="en-US" sz="1400"/>
              <a:t>家族博士后奖学金，并因卓越研究多次获奖。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/>
              <a:t>学术发表</a:t>
            </a:r>
            <a:r>
              <a:rPr lang="en-US" altLang="zh-CN" sz="1400" b="1"/>
              <a:t>:</a:t>
            </a:r>
            <a:r>
              <a:rPr lang="zh-CN" altLang="en-US" sz="1400"/>
              <a:t> 在</a:t>
            </a:r>
            <a:r>
              <a:rPr lang="en-CA" sz="1400" i="1" err="1"/>
              <a:t>Virology</a:t>
            </a:r>
            <a:r>
              <a:rPr lang="en-CA" sz="1400" err="1"/>
              <a:t>、</a:t>
            </a:r>
            <a:r>
              <a:rPr lang="en-CA" sz="1400" i="1" err="1"/>
              <a:t>Molecular</a:t>
            </a:r>
            <a:r>
              <a:rPr lang="en-CA" sz="1400" i="1"/>
              <a:t> </a:t>
            </a:r>
            <a:r>
              <a:rPr lang="en-CA" sz="1400" i="1" err="1"/>
              <a:t>Therapy</a:t>
            </a:r>
            <a:r>
              <a:rPr lang="en-CA" sz="1400" err="1"/>
              <a:t>、</a:t>
            </a:r>
            <a:r>
              <a:rPr lang="en-CA" sz="1400" i="1" err="1"/>
              <a:t>RNA</a:t>
            </a:r>
            <a:r>
              <a:rPr lang="en-CA" sz="1400" i="1"/>
              <a:t> Biology</a:t>
            </a:r>
            <a:r>
              <a:rPr lang="zh-CN" altLang="en-US" sz="1400"/>
              <a:t>等顶级期刊上发表多篇高影响力论文，研究内容涵盖</a:t>
            </a:r>
            <a:r>
              <a:rPr lang="en-CA" sz="1400"/>
              <a:t>RNA</a:t>
            </a:r>
            <a:r>
              <a:rPr lang="zh-CN" altLang="en-US" sz="1400"/>
              <a:t>干扰、抗病毒基因治疗和病毒基因调控机制。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/>
              <a:t>专利与技术转化</a:t>
            </a:r>
            <a:r>
              <a:rPr lang="en-US" altLang="zh-CN" sz="1400" b="1"/>
              <a:t>:</a:t>
            </a:r>
            <a:r>
              <a:rPr lang="zh-CN" altLang="en-US" sz="1400"/>
              <a:t> 获得多项专利，包括“针对</a:t>
            </a:r>
            <a:r>
              <a:rPr lang="en-CA" sz="1400"/>
              <a:t>HIV-1 RNA</a:t>
            </a:r>
            <a:r>
              <a:rPr lang="zh-CN" altLang="en-US" sz="1400"/>
              <a:t>的反义小</a:t>
            </a:r>
            <a:r>
              <a:rPr lang="en-CA" sz="1400"/>
              <a:t>RNA</a:t>
            </a:r>
            <a:r>
              <a:rPr lang="zh-CN" altLang="en-US" sz="1400"/>
              <a:t>药物”，显示其在</a:t>
            </a:r>
            <a:r>
              <a:rPr lang="en-CA" sz="1400"/>
              <a:t>RNA</a:t>
            </a:r>
            <a:r>
              <a:rPr lang="zh-CN" altLang="en-US" sz="1400"/>
              <a:t>疗法开发方面的创新能力。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1400" b="1"/>
              <a:t>专业活动</a:t>
            </a:r>
            <a:r>
              <a:rPr lang="en-US" altLang="zh-CN" sz="1400" b="1"/>
              <a:t>:</a:t>
            </a:r>
            <a:endParaRPr lang="zh-CN" altLang="en-US" sz="1400"/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/>
              <a:t>教学与培训</a:t>
            </a:r>
            <a:r>
              <a:rPr lang="en-US" altLang="zh-CN" sz="1400" b="1"/>
              <a:t>:</a:t>
            </a:r>
            <a:r>
              <a:rPr lang="zh-CN" altLang="en-US" sz="1400"/>
              <a:t> 曾担任麦吉尔大学微生物与免疫学课程讲师，教授“病毒致病与宿主防御”课程中的“</a:t>
            </a:r>
            <a:r>
              <a:rPr lang="en-CA" sz="1400"/>
              <a:t>RNA</a:t>
            </a:r>
            <a:r>
              <a:rPr lang="zh-CN" altLang="en-US" sz="1400"/>
              <a:t>疗法与病毒载体基因治疗”主题。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/>
              <a:t>同行评审</a:t>
            </a:r>
            <a:r>
              <a:rPr lang="en-US" altLang="zh-CN" sz="1400" b="1"/>
              <a:t>:</a:t>
            </a:r>
            <a:r>
              <a:rPr lang="zh-CN" altLang="en-US" sz="1400"/>
              <a:t> 担任多个国际学术期刊的审稿人，包括</a:t>
            </a:r>
            <a:r>
              <a:rPr lang="en-CA" sz="1400" i="1"/>
              <a:t>Molecular </a:t>
            </a:r>
            <a:r>
              <a:rPr lang="en-CA" sz="1400" i="1" err="1"/>
              <a:t>Therapy</a:t>
            </a:r>
            <a:r>
              <a:rPr lang="en-CA" sz="1400" err="1"/>
              <a:t>、</a:t>
            </a:r>
            <a:r>
              <a:rPr lang="en-CA" sz="1400" i="1" err="1"/>
              <a:t>Viruses</a:t>
            </a:r>
            <a:r>
              <a:rPr lang="zh-CN" altLang="en-US" sz="1400"/>
              <a:t>和</a:t>
            </a:r>
            <a:r>
              <a:rPr lang="en-CA" sz="1400" i="1"/>
              <a:t>RNA Biology</a:t>
            </a:r>
            <a:r>
              <a:rPr lang="zh-CN" altLang="en-US" sz="1400"/>
              <a:t>等。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/>
              <a:t>研究指导</a:t>
            </a:r>
            <a:r>
              <a:rPr lang="en-US" altLang="zh-CN" sz="1400" b="1"/>
              <a:t>:</a:t>
            </a:r>
            <a:r>
              <a:rPr lang="zh-CN" altLang="en-US" sz="1400"/>
              <a:t> 作为导师和研究主管，指导多名博士生和研究助理进行病毒基因疗法和</a:t>
            </a:r>
            <a:r>
              <a:rPr lang="en-CA" sz="1400"/>
              <a:t>RNA</a:t>
            </a:r>
            <a:r>
              <a:rPr lang="zh-CN" altLang="en-US" sz="1400"/>
              <a:t>干扰技术的研究。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CA" sz="1400"/>
              <a:t>Dr. Robert J. Scarborough </a:t>
            </a:r>
            <a:r>
              <a:rPr lang="zh-CN" altLang="en-US" sz="1400"/>
              <a:t>在</a:t>
            </a:r>
            <a:r>
              <a:rPr lang="en-CA" sz="1400"/>
              <a:t>RNA</a:t>
            </a:r>
            <a:r>
              <a:rPr lang="zh-CN" altLang="en-US" sz="1400"/>
              <a:t>疗法、抗病毒基因治疗和新型药物开发方面的研究和技术转化工作，为抗病毒疗法的发展做出了重要贡献</a:t>
            </a:r>
          </a:p>
        </p:txBody>
      </p:sp>
    </p:spTree>
    <p:extLst>
      <p:ext uri="{BB962C8B-B14F-4D97-AF65-F5344CB8AC3E}">
        <p14:creationId xmlns:p14="http://schemas.microsoft.com/office/powerpoint/2010/main" val="566504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227575-B9BD-FCF3-AF85-9885C301B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784" y="1103288"/>
            <a:ext cx="11174780" cy="5416868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>
                <a:ea typeface="Microsoft JhengHei"/>
              </a:rPr>
              <a:t>职位</a:t>
            </a:r>
            <a:r>
              <a:rPr lang="en-US" dirty="0">
                <a:ea typeface="Microsoft JhengHei"/>
              </a:rPr>
              <a:t>:</a:t>
            </a:r>
            <a:r>
              <a:rPr lang="en-US" altLang="ja-JP" b="0" dirty="0">
                <a:ea typeface="Microsoft JhengHei"/>
              </a:rPr>
              <a:t> </a:t>
            </a:r>
            <a:r>
              <a:rPr lang="ja-JP" altLang="en-US" b="0">
                <a:ea typeface="Microsoft JhengHei"/>
              </a:rPr>
              <a:t>博士后研究员，生物医学工程系</a:t>
            </a:r>
            <a:endParaRPr lang="en-US" altLang="ja-JP" dirty="0"/>
          </a:p>
          <a:p>
            <a:pPr algn="l"/>
            <a:r>
              <a:rPr lang="ja-JP" altLang="en-US">
                <a:ea typeface="Microsoft JhengHei"/>
              </a:rPr>
              <a:t>机构</a:t>
            </a:r>
            <a:r>
              <a:rPr lang="en-US" dirty="0">
                <a:ea typeface="Microsoft JhengHei"/>
              </a:rPr>
              <a:t>:</a:t>
            </a:r>
            <a:r>
              <a:rPr lang="en-US" altLang="ja-JP" b="0" dirty="0">
                <a:ea typeface="Microsoft JhengHei"/>
              </a:rPr>
              <a:t> </a:t>
            </a:r>
            <a:r>
              <a:rPr lang="ja-JP" altLang="en-US" b="0">
                <a:ea typeface="Microsoft JhengHei"/>
              </a:rPr>
              <a:t>麦吉尔大学</a:t>
            </a:r>
            <a:r>
              <a:rPr lang="en-US" b="0" dirty="0">
                <a:ea typeface="Microsoft JhengHei"/>
              </a:rPr>
              <a:t> Rosalind &amp; Morris Goodman</a:t>
            </a:r>
            <a:r>
              <a:rPr lang="en-US" altLang="ja-JP" b="0" dirty="0">
                <a:ea typeface="Microsoft JhengHei"/>
              </a:rPr>
              <a:t> </a:t>
            </a:r>
            <a:r>
              <a:rPr lang="ja-JP" altLang="en-US" b="0">
                <a:ea typeface="Microsoft JhengHei"/>
              </a:rPr>
              <a:t>癌症研究所</a:t>
            </a:r>
            <a:endParaRPr lang="en-US" altLang="ja-JP" dirty="0"/>
          </a:p>
          <a:p>
            <a:pPr algn="l"/>
            <a:r>
              <a:rPr lang="ja-JP" altLang="en-US">
                <a:ea typeface="Microsoft JhengHei"/>
              </a:rPr>
              <a:t>基本信息</a:t>
            </a:r>
            <a:r>
              <a:rPr lang="en-US" dirty="0">
                <a:ea typeface="Microsoft JhengHei"/>
              </a:rPr>
              <a:t>:</a:t>
            </a:r>
            <a:endParaRPr lang="en-US" altLang="ja-JP" dirty="0"/>
          </a:p>
          <a:p>
            <a:pPr algn="l"/>
            <a:r>
              <a:rPr lang="ja-JP" altLang="en-US" b="0">
                <a:ea typeface="Microsoft JhengHei"/>
              </a:rPr>
              <a:t>Ebovir Biotech资深研究人员，专注于药剂学、纳米医学与癌症免疫治疗领域，拥有中国药科大学药剂学博士学位。具有丰富的药物递送系统、免疫治疗和生物制药配方开发经验。</a:t>
            </a:r>
            <a:endParaRPr lang="en-US" altLang="ja-JP" dirty="0"/>
          </a:p>
          <a:p>
            <a:pPr algn="l"/>
            <a:r>
              <a:rPr lang="ja-JP" altLang="en-US" err="1">
                <a:ea typeface="Microsoft JhengHei"/>
              </a:rPr>
              <a:t>专业特长</a:t>
            </a:r>
            <a:r>
              <a:rPr lang="en-US" dirty="0">
                <a:ea typeface="Microsoft JhengHei"/>
              </a:rPr>
              <a:t>:</a:t>
            </a:r>
            <a:endParaRPr lang="en-US" altLang="ja-JP" dirty="0"/>
          </a:p>
          <a:p>
            <a:pPr marL="285750" indent="-285750" algn="l">
              <a:buFont typeface="Arial"/>
              <a:buChar char="•"/>
            </a:pPr>
            <a:r>
              <a:rPr lang="ja-JP" altLang="en-US" b="0" err="1">
                <a:ea typeface="Microsoft JhengHei"/>
              </a:rPr>
              <a:t>精通基于纳米技术的药物递送系统、癌症免疫治疗和生物响应材料开发</a:t>
            </a:r>
            <a:r>
              <a:rPr lang="ja-JP" altLang="en-US" b="0">
                <a:ea typeface="Microsoft JhengHei"/>
              </a:rPr>
              <a:t>。</a:t>
            </a:r>
            <a:endParaRPr lang="en-US" altLang="ja-JP" dirty="0"/>
          </a:p>
          <a:p>
            <a:pPr marL="285750" indent="-285750" algn="l">
              <a:buFont typeface="Arial"/>
              <a:buChar char="•"/>
            </a:pPr>
            <a:r>
              <a:rPr lang="ja-JP" altLang="en-US" b="0" err="1">
                <a:ea typeface="Microsoft JhengHei"/>
              </a:rPr>
              <a:t>在</a:t>
            </a:r>
            <a:r>
              <a:rPr lang="en-US" b="0" i="1" dirty="0" err="1">
                <a:ea typeface="Microsoft JhengHei"/>
              </a:rPr>
              <a:t>Biomaterials</a:t>
            </a:r>
            <a:r>
              <a:rPr lang="en-US" b="0" dirty="0" err="1">
                <a:ea typeface="Microsoft JhengHei"/>
              </a:rPr>
              <a:t>、</a:t>
            </a:r>
            <a:r>
              <a:rPr lang="en-US" b="0" i="1" dirty="0" err="1">
                <a:ea typeface="Microsoft JhengHei"/>
              </a:rPr>
              <a:t>Journal</a:t>
            </a:r>
            <a:r>
              <a:rPr lang="en-US" b="0" i="1" dirty="0">
                <a:ea typeface="Microsoft JhengHei"/>
              </a:rPr>
              <a:t> of </a:t>
            </a:r>
            <a:r>
              <a:rPr lang="en-US" b="0" i="1" dirty="0" err="1">
                <a:ea typeface="Microsoft JhengHei"/>
              </a:rPr>
              <a:t>Nanobiotechnology</a:t>
            </a:r>
            <a:r>
              <a:rPr lang="en-US" b="0" dirty="0" err="1">
                <a:ea typeface="Microsoft JhengHei"/>
              </a:rPr>
              <a:t>、</a:t>
            </a:r>
            <a:r>
              <a:rPr lang="en-US" b="0" i="1" dirty="0" err="1">
                <a:ea typeface="Microsoft JhengHei"/>
              </a:rPr>
              <a:t>Bioactive</a:t>
            </a:r>
            <a:r>
              <a:rPr lang="en-US" b="0" i="1" dirty="0">
                <a:ea typeface="Microsoft JhengHei"/>
              </a:rPr>
              <a:t> Materials</a:t>
            </a:r>
            <a:r>
              <a:rPr lang="ja-JP" altLang="en-US" b="0" err="1">
                <a:ea typeface="Microsoft JhengHei"/>
              </a:rPr>
              <a:t>等顶级学术期刊发表多篇高影响力研究论文</a:t>
            </a:r>
            <a:r>
              <a:rPr lang="ja-JP" altLang="en-US" b="0">
                <a:ea typeface="Microsoft JhengHei"/>
              </a:rPr>
              <a:t>。</a:t>
            </a:r>
            <a:endParaRPr lang="en-US" altLang="ja-JP" dirty="0"/>
          </a:p>
          <a:p>
            <a:pPr marL="285750" indent="-285750" algn="l">
              <a:buFont typeface="Arial"/>
              <a:buChar char="•"/>
            </a:pPr>
            <a:r>
              <a:rPr lang="ja-JP" altLang="en-US" b="0" err="1">
                <a:ea typeface="Microsoft JhengHei"/>
              </a:rPr>
              <a:t>擅长领导跨学科研究项目，成功申请多个科研奖学金与研究资助</a:t>
            </a:r>
            <a:r>
              <a:rPr lang="ja-JP" altLang="en-US" b="0">
                <a:ea typeface="Microsoft JhengHei"/>
              </a:rPr>
              <a:t>。</a:t>
            </a:r>
            <a:endParaRPr lang="en-US" altLang="ja-JP" dirty="0"/>
          </a:p>
          <a:p>
            <a:pPr algn="l"/>
            <a:r>
              <a:rPr lang="ja-JP" altLang="en-US" err="1">
                <a:ea typeface="Microsoft JhengHei"/>
              </a:rPr>
              <a:t>职业亮点</a:t>
            </a:r>
            <a:r>
              <a:rPr lang="en-US" dirty="0">
                <a:ea typeface="Microsoft JhengHei"/>
              </a:rPr>
              <a:t>:</a:t>
            </a:r>
            <a:endParaRPr lang="en-US" altLang="ja-JP" dirty="0"/>
          </a:p>
          <a:p>
            <a:pPr marL="285750" indent="-285750" algn="l">
              <a:buFont typeface="Arial"/>
              <a:buChar char="•"/>
            </a:pPr>
            <a:r>
              <a:rPr lang="ja-JP" altLang="en-US" b="0">
                <a:ea typeface="Microsoft JhengHei"/>
              </a:rPr>
              <a:t>荣获麦吉尔大学</a:t>
            </a:r>
            <a:r>
              <a:rPr lang="en-US" b="0" dirty="0">
                <a:ea typeface="Microsoft JhengHei"/>
              </a:rPr>
              <a:t> Dr. David T.W. Lin</a:t>
            </a:r>
            <a:r>
              <a:rPr lang="en-US" altLang="ja-JP" b="0" dirty="0">
                <a:ea typeface="Microsoft JhengHei"/>
              </a:rPr>
              <a:t> </a:t>
            </a:r>
            <a:r>
              <a:rPr lang="ja-JP" altLang="en-US" b="0">
                <a:ea typeface="Microsoft JhengHei"/>
              </a:rPr>
              <a:t>研究奖学金</a:t>
            </a:r>
            <a:r>
              <a:rPr lang="en-US" altLang="ja-JP" b="0" dirty="0">
                <a:ea typeface="Microsoft JhengHei"/>
              </a:rPr>
              <a:t> </a:t>
            </a:r>
            <a:endParaRPr lang="ja-JP" altLang="en-US" b="0">
              <a:ea typeface="Microsoft JhengHei"/>
            </a:endParaRPr>
          </a:p>
          <a:p>
            <a:pPr marL="285750" indent="-285750" algn="l">
              <a:buFont typeface="Arial"/>
              <a:buChar char="•"/>
            </a:pPr>
            <a:r>
              <a:rPr lang="ja-JP" altLang="en-US" b="0">
                <a:ea typeface="Microsoft JhengHei"/>
              </a:rPr>
              <a:t>发表多篇重要科研论文，涵盖癌症疫苗开发与免疫治疗纳米材料领域</a:t>
            </a:r>
          </a:p>
          <a:p>
            <a:pPr marL="285750" indent="-285750" algn="l">
              <a:buFont typeface="Arial"/>
              <a:buChar char="•"/>
            </a:pPr>
            <a:r>
              <a:rPr lang="ja-JP" altLang="en-US" b="0">
                <a:ea typeface="Microsoft JhengHei"/>
              </a:rPr>
              <a:t>共同发明并申请美国专利</a:t>
            </a:r>
            <a:r>
              <a:rPr lang="en-US" altLang="ja-JP" b="0" dirty="0">
                <a:ea typeface="Microsoft JhengHei"/>
              </a:rPr>
              <a:t>“</a:t>
            </a:r>
            <a:r>
              <a:rPr lang="ja-JP" altLang="en-US" b="0">
                <a:ea typeface="Microsoft JhengHei"/>
              </a:rPr>
              <a:t>稳定性增强的脂质纳米颗粒递送系统</a:t>
            </a:r>
            <a:r>
              <a:rPr lang="en-US" b="0" dirty="0">
                <a:ea typeface="Microsoft JhengHei"/>
              </a:rPr>
              <a:t>”</a:t>
            </a:r>
            <a:endParaRPr lang="ja-JP" altLang="en-US" b="0">
              <a:ea typeface="Microsoft JhengHei"/>
            </a:endParaRPr>
          </a:p>
          <a:p>
            <a:pPr marL="285750" indent="-285750" algn="l">
              <a:buFont typeface="Arial"/>
              <a:buChar char="•"/>
            </a:pPr>
            <a:r>
              <a:rPr lang="ja-JP" altLang="en-US" b="0">
                <a:ea typeface="Microsoft JhengHei"/>
              </a:rPr>
              <a:t>担任</a:t>
            </a:r>
            <a:r>
              <a:rPr lang="en-US" b="0" i="1" dirty="0">
                <a:ea typeface="Microsoft JhengHei"/>
              </a:rPr>
              <a:t>Journal of Nanobiotechnology</a:t>
            </a:r>
            <a:r>
              <a:rPr lang="ja-JP" altLang="en-US" b="0">
                <a:ea typeface="Microsoft JhengHei"/>
              </a:rPr>
              <a:t>期刊论文评审员及中国科技部项目评估专家</a:t>
            </a:r>
            <a:endParaRPr lang="en-US" b="0" dirty="0">
              <a:ea typeface="Microsoft JhengHei"/>
            </a:endParaRPr>
          </a:p>
          <a:p>
            <a:endParaRPr lang="en-US" dirty="0">
              <a:ea typeface="Microsoft Jheng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7BCA-1FF9-3F07-D374-4675494CA5D9}"/>
              </a:ext>
            </a:extLst>
          </p:cNvPr>
          <p:cNvSpPr txBox="1"/>
          <p:nvPr/>
        </p:nvSpPr>
        <p:spPr>
          <a:xfrm>
            <a:off x="424543" y="337844"/>
            <a:ext cx="6097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200" b="1">
                <a:ea typeface="Microsoft JhengHei"/>
              </a:rPr>
              <a:t>陈默</a:t>
            </a:r>
            <a:r>
              <a:rPr lang="en-US" altLang="ja-JP" sz="2200" b="1">
                <a:ea typeface="Microsoft JhengHei"/>
              </a:rPr>
              <a:t> </a:t>
            </a:r>
            <a:r>
              <a:rPr lang="ja-JP" altLang="en-US" sz="2200" b="1">
                <a:ea typeface="Microsoft JhengHei"/>
              </a:rPr>
              <a:t>博士</a:t>
            </a:r>
            <a:endParaRPr lang="en-US" altLang="ja-JP" sz="2200" b="1"/>
          </a:p>
        </p:txBody>
      </p:sp>
    </p:spTree>
    <p:extLst>
      <p:ext uri="{BB962C8B-B14F-4D97-AF65-F5344CB8AC3E}">
        <p14:creationId xmlns:p14="http://schemas.microsoft.com/office/powerpoint/2010/main" val="546514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E0D1-F629-09CD-39EE-7901C1D5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BBBB70-FFEB-36A5-268A-BA1ACB040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543" y="887135"/>
            <a:ext cx="11174780" cy="5970865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</a:rPr>
              <a:t>基本信息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拥有四年生物技术研发经验，擅长设计、执行并汇报复杂的科学研究项目，为抗癌新药开发提供有力支持。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先后于麦吉尔大学攻读生物化学学士与神经科学硕士，并在康考迪亚大学攻读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MBA，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兼具深厚的科研背景与商业战略思维。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曾担任多家跨国合作项目的负责人，熟悉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FDA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申报流程及跨区域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CRO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项目管理，具有丰富的国际化科研与运营经验。</a:t>
            </a:r>
            <a:endParaRPr lang="en-CA" altLang="zh-CN" dirty="0">
              <a:solidFill>
                <a:schemeClr val="tx2">
                  <a:lumMod val="75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</a:rPr>
              <a:t>专业特长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生物化学与药理学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：精通分子生物学、细胞培养、体内外药理学研究，为新药筛选与验证提供创新思路。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项目管理与战略规划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：熟悉从前期目标制定到后期结果交付的全过程管理，能够快速整合多方资源并实现项目高效推进。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大数据与统计分析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：熟练使用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R、Python、SPSS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等工具进行数据处理与可视化，助力科研与市场决策。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跨团队协作与领导力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：具备优秀的沟通与协调能力，能有效管理跨职能团队及全球合作伙伴。</a:t>
            </a:r>
            <a:endParaRPr lang="en-CA" altLang="zh-CN" dirty="0">
              <a:solidFill>
                <a:schemeClr val="tx2">
                  <a:lumMod val="75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</a:rPr>
              <a:t>职业亮点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领导并完成逾百项抗癌药物体内外药理研究，成果多次在重要里程碑会议及内部高层评审中汇报。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共同发起并管理与超过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10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家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CRO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的多国协作项目，确保符合各国法规及公司质量标准。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多次获得科研资助及奖学金，包括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BioTalent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Canada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奖学金，已在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《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Neuro-Oncology》、《Journal of Molecular Biology》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等期刊上发表多篇学术论文。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在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Bread and Beyond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担任咨询顾问期间，成功推动组织治理架构优化，强化风险管控并提升决策效率。</a:t>
            </a: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ea typeface="Microsoft Jheng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DDC9D-E872-407D-6705-A784D069D96D}"/>
              </a:ext>
            </a:extLst>
          </p:cNvPr>
          <p:cNvSpPr txBox="1"/>
          <p:nvPr/>
        </p:nvSpPr>
        <p:spPr>
          <a:xfrm>
            <a:off x="424543" y="207216"/>
            <a:ext cx="6097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altLang="ja-JP" sz="2200" b="1" dirty="0">
                <a:solidFill>
                  <a:schemeClr val="tx2">
                    <a:lumMod val="75000"/>
                  </a:schemeClr>
                </a:solidFill>
                <a:ea typeface="Microsoft JhengHei"/>
              </a:rPr>
              <a:t>Li Li MS, MBA</a:t>
            </a:r>
            <a:r>
              <a:rPr lang="en-US" altLang="zh-CN" sz="2200" b="1" dirty="0">
                <a:solidFill>
                  <a:schemeClr val="tx2">
                    <a:lumMod val="75000"/>
                  </a:schemeClr>
                </a:solidFill>
                <a:ea typeface="Microsoft JhengHei"/>
              </a:rPr>
              <a:t>,</a:t>
            </a:r>
            <a:r>
              <a:rPr lang="zh-CN" altLang="en-US" sz="2200" b="1" dirty="0">
                <a:solidFill>
                  <a:schemeClr val="tx2">
                    <a:lumMod val="75000"/>
                  </a:schemeClr>
                </a:solidFill>
                <a:ea typeface="Microsoft JhengHei"/>
              </a:rPr>
              <a:t> 项目管线经理</a:t>
            </a:r>
            <a:endParaRPr lang="en-US" altLang="ja-JP" sz="22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796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846C84-3C73-3A94-8976-F12F3F96E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610" y="948690"/>
            <a:ext cx="11174780" cy="590931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zh-CN" altLang="en-US" sz="1600" b="1" dirty="0"/>
              <a:t>职位</a:t>
            </a:r>
            <a:r>
              <a:rPr lang="en-US" altLang="zh-CN" sz="1600" b="1" dirty="0"/>
              <a:t>:</a:t>
            </a:r>
            <a:r>
              <a:rPr lang="zh-CN" altLang="en-US" sz="1600" dirty="0"/>
              <a:t> </a:t>
            </a:r>
            <a:r>
              <a:rPr lang="en-CA" sz="1600" dirty="0" err="1"/>
              <a:t>Ebovir</a:t>
            </a:r>
            <a:r>
              <a:rPr lang="en-CA" sz="1600" dirty="0"/>
              <a:t>  AI</a:t>
            </a:r>
            <a:r>
              <a:rPr lang="zh-CN" altLang="en-US" sz="1600" dirty="0"/>
              <a:t>模型开发与应用专家</a:t>
            </a:r>
            <a:br>
              <a:rPr lang="zh-CN" altLang="en-US" sz="1600" dirty="0"/>
            </a:br>
            <a:br>
              <a:rPr lang="zh-CN" altLang="en-US" sz="1600" dirty="0"/>
            </a:br>
            <a:r>
              <a:rPr lang="en-CA" sz="1600" dirty="0" err="1"/>
              <a:t>Keyi</a:t>
            </a:r>
            <a:r>
              <a:rPr lang="en-CA" sz="1600" dirty="0"/>
              <a:t> Zhao (</a:t>
            </a:r>
            <a:r>
              <a:rPr lang="en-CA" sz="1600" dirty="0" err="1"/>
              <a:t>比利时机械学习算法硕士</a:t>
            </a:r>
            <a:r>
              <a:rPr lang="zh-CN" altLang="en-US" sz="1600" dirty="0"/>
              <a:t>）和 </a:t>
            </a:r>
            <a:r>
              <a:rPr lang="en-CA" sz="1600" dirty="0"/>
              <a:t>Eric Cen </a:t>
            </a:r>
            <a:r>
              <a:rPr lang="zh-CN" altLang="en-US" sz="1600" dirty="0"/>
              <a:t>（多伦多大学计算机专业）是 </a:t>
            </a:r>
            <a:r>
              <a:rPr lang="en-CA" sz="1600" dirty="0" err="1"/>
              <a:t>Ebovir</a:t>
            </a:r>
            <a:r>
              <a:rPr lang="en-CA" sz="1600" dirty="0"/>
              <a:t> </a:t>
            </a:r>
            <a:r>
              <a:rPr lang="zh-CN" altLang="en-US" sz="1600" dirty="0"/>
              <a:t>公司核心的人工智能模型开发与应用者，他们在生物医药领域的</a:t>
            </a:r>
            <a:r>
              <a:rPr lang="en-CA" sz="1600" dirty="0"/>
              <a:t>AI</a:t>
            </a:r>
            <a:r>
              <a:rPr lang="zh-CN" altLang="en-US" sz="1600" dirty="0"/>
              <a:t>技术创新方面具有丰富的经验，为公司多个基因检测和药物研发项目提供了技术支持。</a:t>
            </a:r>
          </a:p>
          <a:p>
            <a:r>
              <a:rPr lang="zh-CN" altLang="en-US" sz="1600" b="1" dirty="0"/>
              <a:t>专业特长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基因检测市场化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600" dirty="0"/>
              <a:t>开发了基于</a:t>
            </a:r>
            <a:r>
              <a:rPr lang="en-CA" sz="1600" dirty="0"/>
              <a:t>AI</a:t>
            </a:r>
            <a:r>
              <a:rPr lang="zh-CN" altLang="en-US" sz="1600" dirty="0"/>
              <a:t>的基因检测平台，支持疾病预测、健康风险评估等功能，推动基因检测技术的市场化应用。</a:t>
            </a:r>
          </a:p>
          <a:p>
            <a:pPr>
              <a:buFont typeface="+mj-lt"/>
              <a:buAutoNum type="arabicPeriod"/>
            </a:pPr>
            <a:r>
              <a:rPr lang="en-CA" sz="1600" b="1" dirty="0"/>
              <a:t>CTC</a:t>
            </a:r>
            <a:r>
              <a:rPr lang="zh-CN" altLang="en-US" sz="1600" b="1" dirty="0"/>
              <a:t>筛查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600" dirty="0"/>
              <a:t>设计并实现了通过</a:t>
            </a:r>
            <a:r>
              <a:rPr lang="en-CA" sz="1600" dirty="0"/>
              <a:t>AI</a:t>
            </a:r>
            <a:r>
              <a:rPr lang="zh-CN" altLang="en-US" sz="1600" dirty="0"/>
              <a:t>模型从血液细胞图像中快速筛选癌症循环肿瘤细胞（</a:t>
            </a:r>
            <a:r>
              <a:rPr lang="en-CA" sz="1600" dirty="0"/>
              <a:t>CTC）</a:t>
            </a:r>
            <a:r>
              <a:rPr lang="zh-CN" altLang="en-US" sz="1600" dirty="0"/>
              <a:t>的技术，显著提高了筛查效率和准确性。</a:t>
            </a:r>
          </a:p>
          <a:p>
            <a:pPr>
              <a:buFont typeface="+mj-lt"/>
              <a:buAutoNum type="arabicPeriod"/>
            </a:pPr>
            <a:r>
              <a:rPr lang="zh-CN" altLang="en-US" sz="1600" b="1" dirty="0"/>
              <a:t>核酸药物与</a:t>
            </a:r>
            <a:r>
              <a:rPr lang="en-CA" sz="1600" b="1" dirty="0"/>
              <a:t>LNP</a:t>
            </a:r>
            <a:r>
              <a:rPr lang="zh-CN" altLang="en-US" sz="1600" b="1" dirty="0"/>
              <a:t>优化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600" dirty="0"/>
              <a:t>利用</a:t>
            </a:r>
            <a:r>
              <a:rPr lang="en-CA" sz="1600" dirty="0"/>
              <a:t>AI</a:t>
            </a:r>
            <a:r>
              <a:rPr lang="zh-CN" altLang="en-US" sz="1600" dirty="0"/>
              <a:t>技术开发核酸药物设计模型，提升</a:t>
            </a:r>
            <a:r>
              <a:rPr lang="en-CA" sz="1600" dirty="0"/>
              <a:t>RNA</a:t>
            </a:r>
            <a:r>
              <a:rPr lang="zh-CN" altLang="en-US" sz="1600" dirty="0"/>
              <a:t>疗法和</a:t>
            </a:r>
            <a:r>
              <a:rPr lang="en-CA" sz="1600" dirty="0"/>
              <a:t>siRNA</a:t>
            </a:r>
            <a:r>
              <a:rPr lang="zh-CN" altLang="en-US" sz="1600" dirty="0"/>
              <a:t>等药物的研发效率。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600" dirty="0"/>
              <a:t>优化脂质纳米颗粒（</a:t>
            </a:r>
            <a:r>
              <a:rPr lang="en-CA" sz="1600" dirty="0"/>
              <a:t>LNP）</a:t>
            </a:r>
            <a:r>
              <a:rPr lang="zh-CN" altLang="en-US" sz="1600" dirty="0"/>
              <a:t>递送系统，提高核酸药物的递送效率与稳定性。</a:t>
            </a:r>
          </a:p>
          <a:p>
            <a:r>
              <a:rPr lang="zh-CN" altLang="en-US" sz="1600" b="1" dirty="0"/>
              <a:t>职业亮点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创新技术应用</a:t>
            </a:r>
            <a:r>
              <a:rPr lang="en-US" altLang="zh-CN" sz="1600" b="1" dirty="0"/>
              <a:t>:</a:t>
            </a:r>
            <a:r>
              <a:rPr lang="zh-CN" altLang="en-US" sz="1600" dirty="0"/>
              <a:t> 开发的</a:t>
            </a:r>
            <a:r>
              <a:rPr lang="en-CA" sz="1600" dirty="0"/>
              <a:t>AI</a:t>
            </a:r>
            <a:r>
              <a:rPr lang="zh-CN" altLang="en-US" sz="1600" dirty="0"/>
              <a:t>模型成功应用于市场化的基因检测项目，显著推动了公司在个性化医疗领域的业务发展。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前沿研发支持</a:t>
            </a:r>
            <a:r>
              <a:rPr lang="en-US" altLang="zh-CN" sz="1600" b="1" dirty="0"/>
              <a:t>:</a:t>
            </a:r>
            <a:r>
              <a:rPr lang="zh-CN" altLang="en-US" sz="1600" dirty="0"/>
              <a:t> 在核酸药物和</a:t>
            </a:r>
            <a:r>
              <a:rPr lang="en-CA" sz="1600" dirty="0"/>
              <a:t>LNP</a:t>
            </a:r>
            <a:r>
              <a:rPr lang="zh-CN" altLang="en-US" sz="1600" dirty="0"/>
              <a:t>递送系统的</a:t>
            </a:r>
            <a:r>
              <a:rPr lang="en-CA" sz="1600" dirty="0"/>
              <a:t>AI</a:t>
            </a:r>
            <a:r>
              <a:rPr lang="zh-CN" altLang="en-US" sz="1600" dirty="0"/>
              <a:t>优化方面做出重要贡献，为精准医疗和药物递送技术的进步奠定了基础。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多领域合作</a:t>
            </a:r>
            <a:r>
              <a:rPr lang="en-US" altLang="zh-CN" sz="1600" b="1" dirty="0"/>
              <a:t>:</a:t>
            </a:r>
            <a:r>
              <a:rPr lang="zh-CN" altLang="en-US" sz="1600" dirty="0"/>
              <a:t> 通过跨学科协作，将</a:t>
            </a:r>
            <a:r>
              <a:rPr lang="en-CA" sz="1600" dirty="0"/>
              <a:t>AI</a:t>
            </a:r>
            <a:r>
              <a:rPr lang="zh-CN" altLang="en-US" sz="1600" dirty="0"/>
              <a:t>技术与生物学、医学深度融合，实现了从基础研究到临床应用的快速转化。</a:t>
            </a:r>
          </a:p>
          <a:p>
            <a:r>
              <a:rPr lang="zh-CN" altLang="en-US" sz="1600" b="1" dirty="0"/>
              <a:t>专业活动</a:t>
            </a:r>
            <a:r>
              <a:rPr lang="en-US" altLang="zh-CN" sz="1600" b="1" dirty="0"/>
              <a:t>: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算法创新</a:t>
            </a:r>
            <a:r>
              <a:rPr lang="en-US" altLang="zh-CN" sz="1600" b="1" dirty="0"/>
              <a:t>:</a:t>
            </a:r>
            <a:r>
              <a:rPr lang="zh-CN" altLang="en-US" sz="1600" dirty="0"/>
              <a:t> 持续改进</a:t>
            </a:r>
            <a:r>
              <a:rPr lang="en-CA" sz="1600" dirty="0"/>
              <a:t>AI</a:t>
            </a:r>
            <a:r>
              <a:rPr lang="zh-CN" altLang="en-US" sz="1600" dirty="0"/>
              <a:t>算法，提升癌症筛查和药物设计的效率与准确性。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/>
              <a:t>技术支持</a:t>
            </a:r>
            <a:r>
              <a:rPr lang="en-US" altLang="zh-CN" sz="1600" b="1" dirty="0"/>
              <a:t>:</a:t>
            </a:r>
            <a:r>
              <a:rPr lang="zh-CN" altLang="en-US" sz="1600" dirty="0"/>
              <a:t> 为公司内部多个项目团队提供</a:t>
            </a:r>
            <a:r>
              <a:rPr lang="en-CA" sz="1600" dirty="0"/>
              <a:t>AI</a:t>
            </a:r>
            <a:r>
              <a:rPr lang="zh-CN" altLang="en-US" sz="1600" dirty="0"/>
              <a:t>解决方案，推动项目的研发进展和市场化落地。</a:t>
            </a:r>
            <a:endParaRPr lang="en-CA" altLang="zh-CN" sz="1600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sz="1600" dirty="0"/>
          </a:p>
          <a:p>
            <a:r>
              <a:rPr lang="en-CA" sz="1600" dirty="0" err="1"/>
              <a:t>Keyi</a:t>
            </a:r>
            <a:r>
              <a:rPr lang="en-CA" sz="1600" dirty="0"/>
              <a:t> Zhao </a:t>
            </a:r>
            <a:r>
              <a:rPr lang="zh-CN" altLang="en-US" sz="1600" dirty="0"/>
              <a:t>和 </a:t>
            </a:r>
            <a:r>
              <a:rPr lang="en-CA" sz="1600" dirty="0"/>
              <a:t>Eric Cen </a:t>
            </a:r>
            <a:r>
              <a:rPr lang="zh-CN" altLang="en-US" sz="1600" dirty="0"/>
              <a:t>的贡献不仅推动了 </a:t>
            </a:r>
            <a:r>
              <a:rPr lang="en-CA" sz="1600" dirty="0" err="1"/>
              <a:t>Ebovir</a:t>
            </a:r>
            <a:r>
              <a:rPr lang="en-CA" sz="1600" dirty="0"/>
              <a:t> </a:t>
            </a:r>
            <a:r>
              <a:rPr lang="zh-CN" altLang="en-US" sz="1600" dirty="0"/>
              <a:t>在基因检测和癌症筛查领域的技术创新，还拓展了</a:t>
            </a:r>
            <a:r>
              <a:rPr lang="en-US" altLang="zh-CN" sz="1600" dirty="0" err="1"/>
              <a:t>Ebovir</a:t>
            </a:r>
            <a:r>
              <a:rPr lang="zh-CN" altLang="en-US" sz="1600" dirty="0"/>
              <a:t>在人工智能在核酸药物设计和递送优化中的应用，为公司在精准医疗领域建立了竞争优势</a:t>
            </a:r>
            <a:endParaRPr lang="en-CA" sz="1600" dirty="0"/>
          </a:p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304D7B-E92C-E9F4-C7C2-46AB661A72D1}"/>
              </a:ext>
            </a:extLst>
          </p:cNvPr>
          <p:cNvSpPr txBox="1"/>
          <p:nvPr/>
        </p:nvSpPr>
        <p:spPr>
          <a:xfrm>
            <a:off x="628650" y="242888"/>
            <a:ext cx="28825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Keyi</a:t>
            </a:r>
            <a:r>
              <a:rPr lang="zh-CN" altLang="en-US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Zhao</a:t>
            </a:r>
            <a:r>
              <a:rPr lang="zh-CN" altLang="en-US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&amp;</a:t>
            </a:r>
            <a:r>
              <a:rPr lang="zh-CN" altLang="en-US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Eric Cen</a:t>
            </a:r>
            <a:endParaRPr lang="en-US" altLang="ja-JP" sz="2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659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00DE85-BAFE-19BA-3E4C-21DB58678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459" y="944396"/>
            <a:ext cx="11174780" cy="5200783"/>
          </a:xfr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>
                <a:ea typeface="新細明體"/>
              </a:rPr>
              <a:t>张宇坤</a:t>
            </a:r>
            <a:r>
              <a:rPr lang="en-US" altLang="ja-JP">
                <a:ea typeface="新細明體"/>
              </a:rPr>
              <a:t> </a:t>
            </a:r>
            <a:r>
              <a:rPr lang="ja-JP" altLang="en-US">
                <a:ea typeface="新細明體"/>
              </a:rPr>
              <a:t>女士</a:t>
            </a:r>
            <a:r>
              <a:rPr lang="zh-CN" altLang="en-US">
                <a:ea typeface="新細明體"/>
              </a:rPr>
              <a:t>，</a:t>
            </a:r>
            <a:r>
              <a:rPr lang="ja-JP" altLang="en-US">
                <a:ea typeface="新細明體"/>
              </a:rPr>
              <a:t>COO, </a:t>
            </a:r>
            <a:endParaRPr lang="en-US">
              <a:ea typeface="新細明體"/>
            </a:endParaRPr>
          </a:p>
          <a:p>
            <a:pPr>
              <a:lnSpc>
                <a:spcPct val="150000"/>
              </a:lnSpc>
            </a:pPr>
            <a:r>
              <a:rPr lang="ja-JP" altLang="en-US" sz="1600">
                <a:ea typeface="新細明體"/>
              </a:rPr>
              <a:t>目前就职于国内生物制药公司</a:t>
            </a:r>
          </a:p>
          <a:p>
            <a:pPr>
              <a:lnSpc>
                <a:spcPct val="150000"/>
              </a:lnSpc>
            </a:pPr>
            <a:r>
              <a:rPr lang="ja-JP" altLang="en-US" sz="1600">
                <a:ea typeface="新細明體"/>
              </a:rPr>
              <a:t>毕业于英国爱丁堡大学药物开发与转化专业</a:t>
            </a:r>
          </a:p>
          <a:p>
            <a:pPr>
              <a:lnSpc>
                <a:spcPct val="150000"/>
              </a:lnSpc>
            </a:pPr>
            <a:endParaRPr lang="ja-JP" altLang="en-US" sz="1600">
              <a:ea typeface="新細明體"/>
            </a:endParaRPr>
          </a:p>
          <a:p>
            <a:pPr>
              <a:lnSpc>
                <a:spcPct val="150000"/>
              </a:lnSpc>
            </a:pPr>
            <a:r>
              <a:rPr lang="ja-JP" altLang="en-US" sz="1600">
                <a:ea typeface="新細明體"/>
              </a:rPr>
              <a:t>基本信息：</a:t>
            </a:r>
            <a:r>
              <a:rPr lang="ja-JP" altLang="en-US" sz="1600" b="0">
                <a:ea typeface="新細明體"/>
              </a:rPr>
              <a:t>拥有超过</a:t>
            </a:r>
            <a:r>
              <a:rPr lang="en-US" altLang="ja-JP" sz="1600" b="0">
                <a:ea typeface="新細明體"/>
              </a:rPr>
              <a:t>10</a:t>
            </a:r>
            <a:r>
              <a:rPr lang="ja-JP" altLang="en-US" sz="1600" b="0">
                <a:ea typeface="新細明體"/>
              </a:rPr>
              <a:t>年的生物制药及生命科学领域从业经验，先后任职与国内外知名企业，专注于产品开发、应用支持及市场推广。</a:t>
            </a:r>
            <a:endParaRPr lang="ja-JP" altLang="en-US" sz="1600">
              <a:ea typeface="新細明體"/>
            </a:endParaRPr>
          </a:p>
          <a:p>
            <a:pPr>
              <a:lnSpc>
                <a:spcPct val="150000"/>
              </a:lnSpc>
            </a:pPr>
            <a:r>
              <a:rPr lang="ja-JP" altLang="en-US" sz="1600">
                <a:ea typeface="新細明體"/>
              </a:rPr>
              <a:t>专业特长：</a:t>
            </a:r>
            <a:r>
              <a:rPr lang="ja-JP" altLang="en-US" sz="1600" b="0">
                <a:ea typeface="新細明體"/>
              </a:rPr>
              <a:t>擅长产品生命周期管理、客户关系管理、技术转移及市场策略制定。</a:t>
            </a:r>
          </a:p>
          <a:p>
            <a:pPr>
              <a:lnSpc>
                <a:spcPct val="150000"/>
              </a:lnSpc>
            </a:pPr>
            <a:r>
              <a:rPr lang="zh-TW" altLang="en-US" sz="1600">
                <a:ea typeface="新細明體"/>
              </a:rPr>
              <a:t>职业亮点</a:t>
            </a:r>
            <a:r>
              <a:rPr lang="en-US" altLang="zh-TW" sz="1600">
                <a:ea typeface="新細明體"/>
              </a:rPr>
              <a:t>:</a:t>
            </a:r>
          </a:p>
          <a:p>
            <a:pPr lvl="1">
              <a:lnSpc>
                <a:spcPct val="150000"/>
              </a:lnSpc>
            </a:pPr>
            <a:endParaRPr lang="ja-JP" altLang="en-US" sz="1200">
              <a:ea typeface="新細明體"/>
            </a:endParaRPr>
          </a:p>
          <a:p>
            <a:pPr lvl="1">
              <a:lnSpc>
                <a:spcPct val="150000"/>
              </a:lnSpc>
            </a:pPr>
            <a:r>
              <a:rPr lang="en-US" altLang="ja-JP" sz="1200">
                <a:ea typeface="新細明體"/>
              </a:rPr>
              <a:t>• </a:t>
            </a:r>
            <a:r>
              <a:rPr lang="ja-JP" altLang="en-US" sz="1200">
                <a:ea typeface="新細明體"/>
              </a:rPr>
              <a:t>为超过</a:t>
            </a:r>
            <a:r>
              <a:rPr lang="en-US" altLang="ja-JP" sz="1200">
                <a:ea typeface="新細明體"/>
              </a:rPr>
              <a:t>50</a:t>
            </a:r>
            <a:r>
              <a:rPr lang="ja-JP" altLang="en-US" sz="1200">
                <a:ea typeface="新細明體"/>
              </a:rPr>
              <a:t>家大型药企客户提供定制化技术支持和解决方案，推动技术与市场需求的高度匹配。</a:t>
            </a:r>
          </a:p>
          <a:p>
            <a:pPr lvl="1">
              <a:lnSpc>
                <a:spcPct val="150000"/>
              </a:lnSpc>
            </a:pPr>
            <a:r>
              <a:rPr lang="en-US" altLang="ja-JP" sz="1200">
                <a:ea typeface="新細明體"/>
              </a:rPr>
              <a:t>• </a:t>
            </a:r>
            <a:r>
              <a:rPr lang="ja-JP" altLang="en-US" sz="1200">
                <a:ea typeface="新細明體"/>
              </a:rPr>
              <a:t>主导多个新产品从研发到市场推广的全流程工作，包括产品定位、市场分析及推广策略，成功提升市场渗透率。</a:t>
            </a:r>
          </a:p>
          <a:p>
            <a:pPr lvl="1">
              <a:lnSpc>
                <a:spcPct val="150000"/>
              </a:lnSpc>
            </a:pPr>
            <a:r>
              <a:rPr lang="en-US" altLang="ja-JP" sz="1200">
                <a:ea typeface="新細明體"/>
              </a:rPr>
              <a:t>• </a:t>
            </a:r>
            <a:r>
              <a:rPr lang="ja-JP" altLang="en-US" sz="1200">
                <a:ea typeface="新細明體"/>
              </a:rPr>
              <a:t>组织并参与多场专业技术与市场推广活动，有效提升品牌影响力及客户粘性。</a:t>
            </a:r>
          </a:p>
          <a:p>
            <a:pPr lvl="1">
              <a:lnSpc>
                <a:spcPct val="150000"/>
              </a:lnSpc>
            </a:pPr>
            <a:r>
              <a:rPr lang="en-US" altLang="ja-JP" sz="1200">
                <a:ea typeface="新細明體"/>
              </a:rPr>
              <a:t>• </a:t>
            </a:r>
            <a:r>
              <a:rPr lang="ja-JP" altLang="en-US" sz="1200">
                <a:ea typeface="新細明體"/>
              </a:rPr>
              <a:t>协助完成多项工艺优化与验证项目，推动客户工艺开发进程，强化公司在市场中的技术领导地位。</a:t>
            </a:r>
          </a:p>
          <a:p>
            <a:pPr lvl="1">
              <a:lnSpc>
                <a:spcPct val="150000"/>
              </a:lnSpc>
            </a:pPr>
            <a:r>
              <a:rPr lang="en-US" altLang="ja-JP" sz="1200">
                <a:ea typeface="新細明體"/>
              </a:rPr>
              <a:t>• </a:t>
            </a:r>
            <a:r>
              <a:rPr lang="ja-JP" altLang="en-US" sz="1200">
                <a:ea typeface="新細明體"/>
              </a:rPr>
              <a:t>通过市场需求分析与竞争调研，为公司制定差异化市场策略，助力年销售额稳步增长。</a:t>
            </a:r>
          </a:p>
          <a:p>
            <a:pPr>
              <a:lnSpc>
                <a:spcPct val="150000"/>
              </a:lnSpc>
            </a:pPr>
            <a:endParaRPr lang="en-US">
              <a:ea typeface="新細明體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CAFA3-4462-FA5F-481B-62F26049AEAC}"/>
              </a:ext>
            </a:extLst>
          </p:cNvPr>
          <p:cNvSpPr txBox="1"/>
          <p:nvPr/>
        </p:nvSpPr>
        <p:spPr>
          <a:xfrm>
            <a:off x="306198" y="229299"/>
            <a:ext cx="2743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0352F"/>
                </a:solidFill>
                <a:latin typeface="Microsoft JhengHei"/>
              </a:rPr>
              <a:t>4.3</a:t>
            </a:r>
            <a:r>
              <a:rPr lang="en-US" altLang="zh-TW" sz="2200" b="1">
                <a:solidFill>
                  <a:srgbClr val="30352F"/>
                </a:solidFill>
                <a:latin typeface="Microsoft JhengHei"/>
              </a:rPr>
              <a:t> </a:t>
            </a:r>
            <a:r>
              <a:rPr lang="zh-TW" altLang="en-US" sz="2200" b="1">
                <a:solidFill>
                  <a:srgbClr val="30352F"/>
                </a:solidFill>
                <a:ea typeface="Microsoft JhengHei"/>
              </a:rPr>
              <a:t>经营管理团队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944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D1A0-330F-5AFC-93D1-BA97465C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239FB5-223E-1737-0759-96A9786D4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793" y="1039666"/>
            <a:ext cx="11174780" cy="3877343"/>
          </a:xfr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/>
              <a:t>Mr. Kai Yuan</a:t>
            </a:r>
            <a:r>
              <a:rPr lang="zh-CN" altLang="en-US" b="1">
                <a:ea typeface="宋体"/>
              </a:rPr>
              <a:t>（</a:t>
            </a:r>
            <a:r>
              <a:rPr lang="zh-CN" altLang="en-US">
                <a:ea typeface="宋体"/>
              </a:rPr>
              <a:t>BD</a:t>
            </a:r>
            <a:r>
              <a:rPr lang="en-US" altLang="zh-CN">
                <a:ea typeface="宋体"/>
              </a:rPr>
              <a:t>&amp;Sales</a:t>
            </a:r>
            <a:r>
              <a:rPr lang="zh-CN" altLang="en-US" b="1">
                <a:ea typeface="宋体"/>
              </a:rPr>
              <a:t>）</a:t>
            </a:r>
            <a:endParaRPr lang="en-CA">
              <a:ea typeface="宋体"/>
            </a:endParaRPr>
          </a:p>
          <a:p>
            <a:pPr lvl="1">
              <a:lnSpc>
                <a:spcPct val="150000"/>
              </a:lnSpc>
            </a:pPr>
            <a:r>
              <a:rPr lang="zh-TW" altLang="en-US" sz="2000" b="1"/>
              <a:t>职位</a:t>
            </a:r>
            <a:r>
              <a:rPr lang="en-US" altLang="zh-TW" sz="2000"/>
              <a:t>: </a:t>
            </a:r>
            <a:r>
              <a:rPr lang="zh-TW" altLang="en-US"/>
              <a:t>销售总监</a:t>
            </a:r>
          </a:p>
          <a:p>
            <a:pPr lvl="1"/>
            <a:r>
              <a:rPr lang="zh-CN" altLang="en-US" sz="1600"/>
              <a:t>拥有超过</a:t>
            </a:r>
            <a:r>
              <a:rPr lang="en-US" altLang="zh-CN" sz="1600"/>
              <a:t>10</a:t>
            </a:r>
            <a:r>
              <a:rPr lang="zh-CN" altLang="en-US" sz="1600"/>
              <a:t>年的医美产品销售和客户管理经验，专注于高端诊断和创新技术推广领域。</a:t>
            </a:r>
          </a:p>
          <a:p>
            <a:pPr lvl="1"/>
            <a:endParaRPr lang="en-CA" altLang="zh-CN" sz="2000" b="1"/>
          </a:p>
          <a:p>
            <a:pPr lvl="1"/>
            <a:r>
              <a:rPr lang="zh-CN" altLang="en-US" sz="2000" b="1"/>
              <a:t>专业特长</a:t>
            </a:r>
            <a:r>
              <a:rPr lang="en-US" altLang="zh-CN" sz="2000" b="1"/>
              <a:t>:</a:t>
            </a:r>
            <a:endParaRPr lang="zh-CN" altLang="en-US" sz="200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/>
              <a:t>擅长客户需求分析、市场机会识别以及长期客户关系的建立与维护。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/>
              <a:t>成功领导多个项目，，以及关键产品上市后的销售和战略合作开拓工作。</a:t>
            </a:r>
          </a:p>
          <a:p>
            <a:pPr lvl="1"/>
            <a:endParaRPr lang="en-CA" altLang="zh-CN" sz="2000" b="1"/>
          </a:p>
          <a:p>
            <a:pPr lvl="1"/>
            <a:r>
              <a:rPr lang="zh-CN" altLang="en-US" sz="2000" b="1"/>
              <a:t>职业亮点</a:t>
            </a:r>
            <a:r>
              <a:rPr lang="en-US" altLang="zh-CN" sz="2000" b="1"/>
              <a:t>:</a:t>
            </a:r>
            <a:endParaRPr lang="zh-CN" altLang="en-US" sz="200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/>
              <a:t>实现客户</a:t>
            </a:r>
            <a:r>
              <a:rPr lang="zh-CN" altLang="en-CA" sz="1600"/>
              <a:t>量</a:t>
            </a:r>
            <a:r>
              <a:rPr lang="en-US" altLang="zh-CN" sz="1600"/>
              <a:t>50%</a:t>
            </a:r>
            <a:r>
              <a:rPr lang="zh-CN" altLang="en-US" sz="1600"/>
              <a:t>增长，显著提升市场竞争力。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/>
              <a:t>领导</a:t>
            </a:r>
            <a:r>
              <a:rPr lang="en-US" altLang="zh-CN" sz="1600"/>
              <a:t>2024</a:t>
            </a:r>
            <a:r>
              <a:rPr lang="zh-CN" altLang="en-US" sz="1600"/>
              <a:t>年新产品上市，首年销售</a:t>
            </a:r>
            <a:r>
              <a:rPr lang="zh-CN" altLang="en-CA" sz="1600"/>
              <a:t>进入</a:t>
            </a:r>
            <a:r>
              <a:rPr lang="zh-CN" altLang="en-US" sz="1600"/>
              <a:t>超过</a:t>
            </a:r>
            <a:r>
              <a:rPr lang="en-US" altLang="zh-CN" sz="1600"/>
              <a:t>50</a:t>
            </a:r>
            <a:r>
              <a:rPr lang="zh-CN" altLang="en-US" sz="1600"/>
              <a:t>家本地大型诊所，巩固公司产品市场地位。</a:t>
            </a:r>
          </a:p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D6576-9C71-33A3-DC40-AD3689D79D99}"/>
              </a:ext>
            </a:extLst>
          </p:cNvPr>
          <p:cNvSpPr txBox="1"/>
          <p:nvPr/>
        </p:nvSpPr>
        <p:spPr>
          <a:xfrm>
            <a:off x="508932" y="166382"/>
            <a:ext cx="2743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0352F"/>
                </a:solidFill>
                <a:latin typeface="Microsoft JhengHei"/>
              </a:rPr>
              <a:t>4.3</a:t>
            </a:r>
            <a:r>
              <a:rPr lang="en-US" altLang="zh-TW" sz="2200" b="1">
                <a:solidFill>
                  <a:srgbClr val="30352F"/>
                </a:solidFill>
                <a:latin typeface="Microsoft JhengHei"/>
              </a:rPr>
              <a:t> </a:t>
            </a:r>
            <a:r>
              <a:rPr lang="zh-TW" altLang="en-US" sz="2200" b="1">
                <a:solidFill>
                  <a:srgbClr val="30352F"/>
                </a:solidFill>
                <a:ea typeface="Microsoft JhengHei"/>
              </a:rPr>
              <a:t>经营管理团队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975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17DB67-4286-3C8D-011D-24BCC9567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793" y="1039666"/>
            <a:ext cx="11174780" cy="4277453"/>
          </a:xfr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/>
              <a:t>Ms. Brigitte Charbonneau</a:t>
            </a:r>
            <a:r>
              <a:rPr lang="zh-CN" altLang="en-US" b="1">
                <a:ea typeface="宋体"/>
              </a:rPr>
              <a:t>（海外</a:t>
            </a:r>
            <a:r>
              <a:rPr lang="zh-CN" altLang="en-US">
                <a:ea typeface="宋体"/>
              </a:rPr>
              <a:t>Marketing</a:t>
            </a:r>
            <a:r>
              <a:rPr lang="zh-CN" altLang="en-US" b="1">
                <a:ea typeface="宋体"/>
              </a:rPr>
              <a:t>）</a:t>
            </a:r>
            <a:endParaRPr lang="en-CA">
              <a:ea typeface="宋体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/>
              <a:t>职位</a:t>
            </a:r>
            <a:r>
              <a:rPr lang="en-US" altLang="zh-TW"/>
              <a:t>: </a:t>
            </a:r>
            <a:r>
              <a:rPr lang="zh-TW" altLang="en-US"/>
              <a:t>市场总监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/>
              <a:t>基本信息</a:t>
            </a:r>
            <a:r>
              <a:rPr lang="en-US" altLang="zh-TW"/>
              <a:t>: </a:t>
            </a:r>
            <a:r>
              <a:rPr lang="zh-TW" altLang="en-US"/>
              <a:t>拥有超过</a:t>
            </a:r>
            <a:r>
              <a:rPr lang="en-US" altLang="zh-TW"/>
              <a:t>20</a:t>
            </a:r>
            <a:r>
              <a:rPr lang="zh-TW" altLang="en-US"/>
              <a:t>年的药品</a:t>
            </a:r>
            <a:r>
              <a:rPr lang="en-US" altLang="zh-CN"/>
              <a:t>/</a:t>
            </a:r>
            <a:r>
              <a:rPr lang="zh-CN" altLang="en-US"/>
              <a:t>医疗产品</a:t>
            </a:r>
            <a:r>
              <a:rPr lang="zh-TW" altLang="en-US"/>
              <a:t>销售和客户管理经验，专注于诊断销售领域。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/>
              <a:t>专业特长</a:t>
            </a:r>
            <a:r>
              <a:rPr lang="en-US" altLang="zh-TW"/>
              <a:t>: </a:t>
            </a:r>
            <a:r>
              <a:rPr lang="zh-TW" altLang="en-US"/>
              <a:t>擅长客户需求分析、市场机会识别，以及长期客户关系的建立与维护。成功领导多个项目，包括年度销售额超过</a:t>
            </a:r>
            <a:r>
              <a:rPr lang="en-US" altLang="zh-TW"/>
              <a:t>1800</a:t>
            </a:r>
            <a:r>
              <a:rPr lang="zh-TW" altLang="en-US"/>
              <a:t>万加元的账户管理，以及关键产品上市后的市场拓展。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/>
              <a:t>职业亮点</a:t>
            </a:r>
            <a:r>
              <a:rPr lang="en-US" altLang="zh-TW"/>
              <a:t>: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/>
              <a:t>实现客户账户销售额年均增长</a:t>
            </a:r>
            <a:r>
              <a:rPr lang="en-US" altLang="zh-TW"/>
              <a:t>4.2%</a:t>
            </a:r>
            <a:r>
              <a:rPr lang="zh-TW" altLang="en-US"/>
              <a:t>。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/>
              <a:t>领导</a:t>
            </a:r>
            <a:r>
              <a:rPr lang="en-US" altLang="zh-TW"/>
              <a:t>2023</a:t>
            </a:r>
            <a:r>
              <a:rPr lang="zh-TW" altLang="en-US"/>
              <a:t>年新产品上市，首年销售额达到</a:t>
            </a:r>
            <a:r>
              <a:rPr lang="en-US" altLang="zh-TW"/>
              <a:t>70</a:t>
            </a:r>
            <a:r>
              <a:rPr lang="zh-TW" altLang="en-US"/>
              <a:t>万加元，并在次年翻倍增长。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/>
              <a:t>管理多达</a:t>
            </a:r>
            <a:r>
              <a:rPr lang="en-US" altLang="zh-TW"/>
              <a:t>750</a:t>
            </a:r>
            <a:r>
              <a:rPr lang="zh-TW" altLang="en-US"/>
              <a:t>个客户账户，优化客户体验并提升市场占有率。</a:t>
            </a:r>
          </a:p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B2FA1-1D1B-F61A-CEBC-1FE8034FBCDE}"/>
              </a:ext>
            </a:extLst>
          </p:cNvPr>
          <p:cNvSpPr txBox="1"/>
          <p:nvPr/>
        </p:nvSpPr>
        <p:spPr>
          <a:xfrm>
            <a:off x="508932" y="166382"/>
            <a:ext cx="2743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0352F"/>
                </a:solidFill>
                <a:latin typeface="Microsoft JhengHei"/>
              </a:rPr>
              <a:t>4.3</a:t>
            </a:r>
            <a:r>
              <a:rPr lang="en-US" altLang="zh-TW" sz="2200" b="1">
                <a:solidFill>
                  <a:srgbClr val="30352F"/>
                </a:solidFill>
                <a:latin typeface="Microsoft JhengHei"/>
              </a:rPr>
              <a:t> </a:t>
            </a:r>
            <a:r>
              <a:rPr lang="zh-TW" altLang="en-US" sz="2200" b="1">
                <a:solidFill>
                  <a:srgbClr val="30352F"/>
                </a:solidFill>
                <a:ea typeface="Microsoft JhengHei"/>
              </a:rPr>
              <a:t>经营管理团队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64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F26037-0F51-E201-7D84-30435C94A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784" y="1263372"/>
            <a:ext cx="11174780" cy="338554"/>
          </a:xfrm>
        </p:spPr>
        <p:txBody>
          <a:bodyPr/>
          <a:lstStyle/>
          <a:p>
            <a:r>
              <a:rPr lang="en-US" dirty="0" err="1"/>
              <a:t>项目专家组</a:t>
            </a:r>
            <a:r>
              <a:rPr lang="zh-CN" altLang="en-US" dirty="0"/>
              <a:t>：</a:t>
            </a:r>
            <a:r>
              <a:rPr lang="en-US" altLang="zh-CN" dirty="0"/>
              <a:t>4</a:t>
            </a:r>
            <a:r>
              <a:rPr lang="zh-CN" altLang="en-US" dirty="0"/>
              <a:t>人（</a:t>
            </a:r>
            <a:r>
              <a:rPr lang="en-CA" altLang="zh-CN" dirty="0"/>
              <a:t>Dr. Benoit, </a:t>
            </a:r>
            <a:r>
              <a:rPr lang="en-US" altLang="zh-CN" dirty="0"/>
              <a:t>Dr.</a:t>
            </a:r>
            <a:r>
              <a:rPr lang="zh-CN" altLang="en-US" dirty="0"/>
              <a:t> </a:t>
            </a:r>
            <a:r>
              <a:rPr lang="en-US" altLang="zh-CN" dirty="0"/>
              <a:t>Lin, Dr. L, Dr. Chen</a:t>
            </a:r>
            <a:r>
              <a:rPr lang="zh-CN" altLang="en-US" dirty="0"/>
              <a:t>分别</a:t>
            </a:r>
            <a:r>
              <a:rPr lang="en-US" altLang="zh-CN" dirty="0"/>
              <a:t>3</a:t>
            </a:r>
            <a:r>
              <a:rPr lang="zh-CN" altLang="en-US" dirty="0"/>
              <a:t>个月</a:t>
            </a:r>
            <a:r>
              <a:rPr lang="en-US" altLang="zh-CN" dirty="0"/>
              <a:t>/</a:t>
            </a:r>
            <a:r>
              <a:rPr lang="zh-CN" altLang="en-US" dirty="0"/>
              <a:t>年</a:t>
            </a:r>
            <a:r>
              <a:rPr lang="en-US" altLang="zh-CN" dirty="0"/>
              <a:t>)</a:t>
            </a:r>
            <a:endParaRPr lang="en-CA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41CD0-A4FD-22F3-862E-C94C40A8686C}"/>
              </a:ext>
            </a:extLst>
          </p:cNvPr>
          <p:cNvSpPr txBox="1"/>
          <p:nvPr/>
        </p:nvSpPr>
        <p:spPr>
          <a:xfrm>
            <a:off x="508610" y="273132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人员分工</a:t>
            </a:r>
            <a:endParaRPr lang="en-US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05CA062-DB0F-857E-4381-28B49BD3B1C6}"/>
              </a:ext>
            </a:extLst>
          </p:cNvPr>
          <p:cNvSpPr txBox="1">
            <a:spLocks/>
          </p:cNvSpPr>
          <p:nvPr/>
        </p:nvSpPr>
        <p:spPr>
          <a:xfrm>
            <a:off x="508610" y="1884280"/>
            <a:ext cx="1117478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200" b="1" i="0">
                <a:solidFill>
                  <a:srgbClr val="30352F"/>
                </a:solidFill>
                <a:latin typeface="Microsoft JhengHei"/>
                <a:ea typeface="+mn-ea"/>
                <a:cs typeface="Microsoft JhengHe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 err="1"/>
              <a:t>项目全职</a:t>
            </a:r>
            <a:r>
              <a:rPr lang="zh-CN" altLang="en-US" kern="0" dirty="0"/>
              <a:t>：</a:t>
            </a:r>
            <a:r>
              <a:rPr lang="zh-CN" altLang="en-CA" kern="0" dirty="0"/>
              <a:t>海外</a:t>
            </a:r>
            <a:r>
              <a:rPr lang="zh-CN" altLang="en-US" kern="0" dirty="0"/>
              <a:t>引入</a:t>
            </a:r>
            <a:r>
              <a:rPr lang="en-US" altLang="zh-CN" kern="0" dirty="0"/>
              <a:t>3</a:t>
            </a:r>
            <a:r>
              <a:rPr lang="zh-CN" altLang="en-US" kern="0" dirty="0"/>
              <a:t>人（刘振龙</a:t>
            </a:r>
            <a:r>
              <a:rPr lang="en-US" altLang="zh-CN" kern="0" dirty="0"/>
              <a:t>/6</a:t>
            </a:r>
            <a:r>
              <a:rPr lang="zh-CN" altLang="en-US" kern="0" dirty="0"/>
              <a:t>个月、</a:t>
            </a:r>
            <a:r>
              <a:rPr lang="en-US" altLang="zh-CN" kern="0" dirty="0"/>
              <a:t>Robert/6</a:t>
            </a:r>
            <a:r>
              <a:rPr lang="zh-CN" altLang="en-US" kern="0" dirty="0"/>
              <a:t>个月、陈默</a:t>
            </a:r>
            <a:r>
              <a:rPr lang="en-US" altLang="zh-CN" kern="0" dirty="0"/>
              <a:t>/12</a:t>
            </a:r>
            <a:r>
              <a:rPr lang="zh-CN" altLang="en-US" kern="0" dirty="0"/>
              <a:t>个月</a:t>
            </a:r>
            <a:r>
              <a:rPr lang="en-US" altLang="zh-CN" kern="0" dirty="0"/>
              <a:t>/</a:t>
            </a:r>
            <a:r>
              <a:rPr lang="zh-CN" altLang="en-US" kern="0" dirty="0"/>
              <a:t>年、</a:t>
            </a:r>
            <a:r>
              <a:rPr lang="en-US" altLang="zh-CN" kern="0" dirty="0"/>
              <a:t>Li Li/6</a:t>
            </a:r>
            <a:r>
              <a:rPr lang="zh-CN" altLang="en-US" kern="0" dirty="0"/>
              <a:t>个月）</a:t>
            </a:r>
            <a:endParaRPr lang="en-US" altLang="zh-CN" kern="0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F93B841-49B8-B403-A929-0EEC5B228619}"/>
              </a:ext>
            </a:extLst>
          </p:cNvPr>
          <p:cNvSpPr txBox="1">
            <a:spLocks/>
          </p:cNvSpPr>
          <p:nvPr/>
        </p:nvSpPr>
        <p:spPr>
          <a:xfrm>
            <a:off x="508610" y="2505188"/>
            <a:ext cx="1117478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200" b="1" i="0">
                <a:solidFill>
                  <a:srgbClr val="30352F"/>
                </a:solidFill>
                <a:latin typeface="Microsoft JhengHei"/>
                <a:ea typeface="+mn-ea"/>
                <a:cs typeface="Microsoft JhengHe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err="1"/>
              <a:t>项目运营</a:t>
            </a:r>
            <a:r>
              <a:rPr lang="zh-CN" altLang="en-US" kern="0"/>
              <a:t>：</a:t>
            </a:r>
            <a:r>
              <a:rPr lang="en-US" altLang="zh-CN" kern="0"/>
              <a:t>3</a:t>
            </a:r>
            <a:r>
              <a:rPr lang="zh-CN" altLang="en-US" kern="0"/>
              <a:t>人 （</a:t>
            </a:r>
            <a:r>
              <a:rPr lang="en-CA" altLang="zh-CN" kern="0"/>
              <a:t>COO</a:t>
            </a:r>
            <a:r>
              <a:rPr lang="zh-CN" altLang="en-US" kern="0"/>
              <a:t>、</a:t>
            </a:r>
            <a:r>
              <a:rPr lang="en-US" altLang="zh-CN" kern="0"/>
              <a:t>BD</a:t>
            </a:r>
            <a:r>
              <a:rPr lang="zh-CN" altLang="en-US" kern="0"/>
              <a:t>、市场及销售）</a:t>
            </a:r>
            <a:endParaRPr lang="en-CA" altLang="zh-CN" kern="0"/>
          </a:p>
          <a:p>
            <a:r>
              <a:rPr lang="zh-CN" altLang="en-US" kern="0"/>
              <a:t>                    财务及法务本地招聘</a:t>
            </a:r>
            <a:r>
              <a:rPr lang="en-US" altLang="zh-CN" kern="0"/>
              <a:t>/</a:t>
            </a:r>
            <a:r>
              <a:rPr lang="zh-CN" altLang="en-US" kern="0"/>
              <a:t>合作</a:t>
            </a:r>
            <a:endParaRPr lang="en-CA" altLang="zh-CN" kern="0"/>
          </a:p>
        </p:txBody>
      </p:sp>
    </p:spTree>
    <p:extLst>
      <p:ext uri="{BB962C8B-B14F-4D97-AF65-F5344CB8AC3E}">
        <p14:creationId xmlns:p14="http://schemas.microsoft.com/office/powerpoint/2010/main" val="12327435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2406522" y="1847523"/>
            <a:ext cx="7414371" cy="1600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0" spc="-5" err="1"/>
              <a:t>实施计划</a:t>
            </a:r>
            <a:r>
              <a:rPr lang="zh-CN" altLang="en-US" sz="6000" spc="-5"/>
              <a:t> </a:t>
            </a:r>
            <a:r>
              <a:rPr lang="en-CA" sz="4400"/>
              <a:t>Implementation Plan</a:t>
            </a:r>
            <a:endParaRPr sz="6000"/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C1943ABF-B7B2-0298-775B-9ABF03D93C30}"/>
              </a:ext>
            </a:extLst>
          </p:cNvPr>
          <p:cNvSpPr txBox="1"/>
          <p:nvPr/>
        </p:nvSpPr>
        <p:spPr>
          <a:xfrm>
            <a:off x="749718" y="1614257"/>
            <a:ext cx="755650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11500" b="1" spc="-5">
                <a:solidFill>
                  <a:schemeClr val="accent1"/>
                </a:solidFill>
                <a:latin typeface="Times New Roman"/>
                <a:cs typeface="Times New Roman"/>
              </a:rPr>
              <a:t>5</a:t>
            </a:r>
            <a:endParaRPr sz="115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E84F2C-3443-7A6F-F293-9B77A69C5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784" y="1263372"/>
            <a:ext cx="11174780" cy="43396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组织架构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：本项目将采用扁平化管理架构，确保沟通高效和执行力强。组织架构如下：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管理团队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CEO: Dr.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Zhenlong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Liu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altLang="zh-CN" dirty="0">
                <a:solidFill>
                  <a:schemeClr val="tx2">
                    <a:lumMod val="75000"/>
                  </a:schemeClr>
                </a:solidFill>
              </a:rPr>
              <a:t>COO: </a:t>
            </a:r>
            <a:r>
              <a:rPr lang="zh-CN" altLang="en-CA" dirty="0">
                <a:solidFill>
                  <a:schemeClr val="tx2">
                    <a:lumMod val="75000"/>
                  </a:schemeClr>
                </a:solidFill>
              </a:rPr>
              <a:t>张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宇</a:t>
            </a:r>
            <a:r>
              <a:rPr lang="zh-CN" altLang="en-CA" dirty="0">
                <a:solidFill>
                  <a:schemeClr val="tx2">
                    <a:lumMod val="75000"/>
                  </a:schemeClr>
                </a:solidFill>
              </a:rPr>
              <a:t>坤</a:t>
            </a:r>
            <a:endParaRPr lang="en-CA" altLang="zh-CN" dirty="0">
              <a:solidFill>
                <a:schemeClr val="tx2">
                  <a:lumMod val="75000"/>
                </a:schemeClr>
              </a:solidFill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销售总监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: Kai Yuan &amp;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Brigitte Charbonneau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技术研发负责人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Dr. Robert Scarborough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技术团队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研发人员包括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Prof. Benoit Barbeau, Prof.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Rongtuan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Lin, Prof. C L, Prof.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Guojun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Chen, Dr. Mo Chen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等。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运营支持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项目经理、财务专员、销售团队等。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</a:rPr>
              <a:t>人员分配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技术研发团队：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60%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销售与市场：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20%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运营与管理：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20%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5F2EC-D3B4-9B9B-86CE-D25FBD61A3F8}"/>
              </a:ext>
            </a:extLst>
          </p:cNvPr>
          <p:cNvSpPr txBox="1"/>
          <p:nvPr/>
        </p:nvSpPr>
        <p:spPr>
          <a:xfrm>
            <a:off x="219968" y="190005"/>
            <a:ext cx="6020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5.1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</a:rPr>
              <a:t>组建方案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CA" sz="2400" b="1" dirty="0">
                <a:solidFill>
                  <a:schemeClr val="tx2">
                    <a:lumMod val="75000"/>
                  </a:schemeClr>
                </a:solidFill>
              </a:rPr>
              <a:t>Organization and Staffing Plan)</a:t>
            </a:r>
            <a:endParaRPr lang="en-US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0417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7B0467-E5CC-99E2-B5D8-142E0463C96B}"/>
              </a:ext>
            </a:extLst>
          </p:cNvPr>
          <p:cNvSpPr txBox="1"/>
          <p:nvPr/>
        </p:nvSpPr>
        <p:spPr>
          <a:xfrm>
            <a:off x="391885" y="273132"/>
            <a:ext cx="40355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/>
              <a:t>5.2 </a:t>
            </a:r>
            <a:r>
              <a:rPr lang="zh-CN" altLang="en-US" sz="2200" b="1"/>
              <a:t>里程碑计划 </a:t>
            </a:r>
            <a:r>
              <a:rPr lang="en-US" altLang="zh-CN" sz="2200" b="1"/>
              <a:t>(</a:t>
            </a:r>
            <a:r>
              <a:rPr lang="en-CA" sz="2200" b="1"/>
              <a:t>Milestone Plan)</a:t>
            </a:r>
            <a:endParaRPr lang="en-US" sz="22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A45586-2624-3572-ED0A-0B8102909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444596"/>
              </p:ext>
            </p:extLst>
          </p:nvPr>
        </p:nvGraphicFramePr>
        <p:xfrm>
          <a:off x="605816" y="1128174"/>
          <a:ext cx="10250448" cy="456462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562612">
                  <a:extLst>
                    <a:ext uri="{9D8B030D-6E8A-4147-A177-3AD203B41FA5}">
                      <a16:colId xmlns:a16="http://schemas.microsoft.com/office/drawing/2014/main" val="638060268"/>
                    </a:ext>
                  </a:extLst>
                </a:gridCol>
                <a:gridCol w="2562612">
                  <a:extLst>
                    <a:ext uri="{9D8B030D-6E8A-4147-A177-3AD203B41FA5}">
                      <a16:colId xmlns:a16="http://schemas.microsoft.com/office/drawing/2014/main" val="3193368083"/>
                    </a:ext>
                  </a:extLst>
                </a:gridCol>
                <a:gridCol w="2562612">
                  <a:extLst>
                    <a:ext uri="{9D8B030D-6E8A-4147-A177-3AD203B41FA5}">
                      <a16:colId xmlns:a16="http://schemas.microsoft.com/office/drawing/2014/main" val="2893335182"/>
                    </a:ext>
                  </a:extLst>
                </a:gridCol>
                <a:gridCol w="2562612">
                  <a:extLst>
                    <a:ext uri="{9D8B030D-6E8A-4147-A177-3AD203B41FA5}">
                      <a16:colId xmlns:a16="http://schemas.microsoft.com/office/drawing/2014/main" val="2130262687"/>
                    </a:ext>
                  </a:extLst>
                </a:gridCol>
              </a:tblGrid>
              <a:tr h="335469">
                <a:tc>
                  <a:txBody>
                    <a:bodyPr/>
                    <a:lstStyle/>
                    <a:p>
                      <a:r>
                        <a:rPr lang="zh-CN" altLang="en-US" sz="1700" b="1"/>
                        <a:t>时间节点</a:t>
                      </a:r>
                      <a:endParaRPr lang="zh-CN" altLang="en-US" sz="1700"/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/>
                        <a:t>主要任务</a:t>
                      </a:r>
                      <a:endParaRPr lang="zh-CN" altLang="en-US" sz="1700"/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/>
                        <a:t>目标</a:t>
                      </a:r>
                      <a:endParaRPr lang="zh-CN" altLang="en-US" sz="1700"/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b="1"/>
                        <a:t>成果</a:t>
                      </a:r>
                      <a:endParaRPr lang="zh-CN" altLang="en-US" sz="1700"/>
                    </a:p>
                  </a:txBody>
                  <a:tcPr marL="83867" marR="83867" marT="41934" marB="41934" anchor="ctr"/>
                </a:tc>
                <a:extLst>
                  <a:ext uri="{0D108BD9-81ED-4DB2-BD59-A6C34878D82A}">
                    <a16:rowId xmlns:a16="http://schemas.microsoft.com/office/drawing/2014/main" val="1177921565"/>
                  </a:ext>
                </a:extLst>
              </a:tr>
              <a:tr h="838673">
                <a:tc>
                  <a:txBody>
                    <a:bodyPr/>
                    <a:lstStyle/>
                    <a:p>
                      <a:r>
                        <a:rPr lang="en-US" altLang="zh-CN" sz="1700" b="1"/>
                        <a:t>0-6</a:t>
                      </a:r>
                      <a:r>
                        <a:rPr lang="zh-CN" altLang="en-US" sz="1700" b="1"/>
                        <a:t>个月</a:t>
                      </a:r>
                      <a:endParaRPr lang="zh-CN" altLang="en-US" sz="1700"/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建立实验室与初始团队</a:t>
                      </a:r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完成核心团队招聘；完成实验设备采购与安装；启动项目试验研究。</a:t>
                      </a:r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实验室正式运营，初步研究结果生成。</a:t>
                      </a:r>
                    </a:p>
                  </a:txBody>
                  <a:tcPr marL="83867" marR="83867" marT="41934" marB="41934" anchor="ctr"/>
                </a:tc>
                <a:extLst>
                  <a:ext uri="{0D108BD9-81ED-4DB2-BD59-A6C34878D82A}">
                    <a16:rowId xmlns:a16="http://schemas.microsoft.com/office/drawing/2014/main" val="1384274368"/>
                  </a:ext>
                </a:extLst>
              </a:tr>
              <a:tr h="1090275">
                <a:tc>
                  <a:txBody>
                    <a:bodyPr/>
                    <a:lstStyle/>
                    <a:p>
                      <a:r>
                        <a:rPr lang="en-US" altLang="zh-CN" sz="1700" b="1"/>
                        <a:t>6-12</a:t>
                      </a:r>
                      <a:r>
                        <a:rPr lang="zh-CN" altLang="en-US" sz="1700" b="1"/>
                        <a:t>个月</a:t>
                      </a:r>
                      <a:endParaRPr lang="zh-CN" altLang="en-US" sz="1700"/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核心技术开发与优化</a:t>
                      </a:r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技术转让自国内团队，完成优化</a:t>
                      </a:r>
                      <a:r>
                        <a:rPr lang="en-CA" sz="1700"/>
                        <a:t>LNP</a:t>
                      </a:r>
                      <a:r>
                        <a:rPr lang="zh-CN" altLang="en-US" sz="1700"/>
                        <a:t>递送系统并完成相关试验；与企业合作伙伴（</a:t>
                      </a:r>
                      <a:r>
                        <a:rPr lang="zh-CN" altLang="en-CA" sz="1700"/>
                        <a:t>国内</a:t>
                      </a:r>
                      <a:r>
                        <a:rPr lang="zh-CN" altLang="en-US" sz="1700"/>
                        <a:t>国外）展开合作。</a:t>
                      </a:r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提供初步技术验证报告，建立合作协议。</a:t>
                      </a:r>
                    </a:p>
                  </a:txBody>
                  <a:tcPr marL="83867" marR="83867" marT="41934" marB="41934" anchor="ctr"/>
                </a:tc>
                <a:extLst>
                  <a:ext uri="{0D108BD9-81ED-4DB2-BD59-A6C34878D82A}">
                    <a16:rowId xmlns:a16="http://schemas.microsoft.com/office/drawing/2014/main" val="1897936221"/>
                  </a:ext>
                </a:extLst>
              </a:tr>
              <a:tr h="838673">
                <a:tc>
                  <a:txBody>
                    <a:bodyPr/>
                    <a:lstStyle/>
                    <a:p>
                      <a:r>
                        <a:rPr lang="en-US" altLang="zh-CN" sz="1700" b="1"/>
                        <a:t>12-18</a:t>
                      </a:r>
                      <a:r>
                        <a:rPr lang="zh-CN" altLang="en-US" sz="1700" b="1"/>
                        <a:t>个月</a:t>
                      </a:r>
                      <a:endParaRPr lang="zh-CN" altLang="en-US" sz="1700"/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（抗病毒管线）临床试验申报以及</a:t>
                      </a:r>
                      <a:r>
                        <a:rPr lang="en-US" altLang="zh-CN" sz="1700"/>
                        <a:t>GMP</a:t>
                      </a:r>
                      <a:r>
                        <a:rPr lang="zh-CN" altLang="en-US" sz="1700"/>
                        <a:t>生产验证</a:t>
                      </a:r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完成临床试验申报，试生产流程；与目标客户（如核酸疗法研发公司）完成试点合作。</a:t>
                      </a:r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en-US" altLang="zh-CN" sz="1700"/>
                        <a:t>IND</a:t>
                      </a:r>
                      <a:r>
                        <a:rPr lang="zh-CN" altLang="en-US" sz="1700"/>
                        <a:t>或</a:t>
                      </a:r>
                      <a:r>
                        <a:rPr lang="en-US" altLang="zh-CN" sz="1700"/>
                        <a:t>LO</a:t>
                      </a:r>
                      <a:r>
                        <a:rPr lang="zh-CN" altLang="en-US" sz="1700"/>
                        <a:t>，并启动平台服务，获取第一批客户反馈等。</a:t>
                      </a:r>
                    </a:p>
                  </a:txBody>
                  <a:tcPr marL="83867" marR="83867" marT="41934" marB="41934" anchor="ctr"/>
                </a:tc>
                <a:extLst>
                  <a:ext uri="{0D108BD9-81ED-4DB2-BD59-A6C34878D82A}">
                    <a16:rowId xmlns:a16="http://schemas.microsoft.com/office/drawing/2014/main" val="398774103"/>
                  </a:ext>
                </a:extLst>
              </a:tr>
              <a:tr h="838673">
                <a:tc>
                  <a:txBody>
                    <a:bodyPr/>
                    <a:lstStyle/>
                    <a:p>
                      <a:r>
                        <a:rPr lang="en-US" altLang="zh-CN" sz="1700" b="1"/>
                        <a:t>18-36</a:t>
                      </a:r>
                      <a:r>
                        <a:rPr lang="zh-CN" altLang="en-US" sz="1700" b="1"/>
                        <a:t>个月</a:t>
                      </a:r>
                      <a:endParaRPr lang="zh-CN" altLang="en-US" sz="1700"/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产品上市与扩展</a:t>
                      </a:r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完成产品上市许可申请；扩大客户群体，增加市场渗透率等。</a:t>
                      </a:r>
                    </a:p>
                  </a:txBody>
                  <a:tcPr marL="83867" marR="83867" marT="41934" marB="41934"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产品正式上市，市场占有率达到预期目标等。</a:t>
                      </a:r>
                    </a:p>
                  </a:txBody>
                  <a:tcPr marL="83867" marR="83867" marT="41934" marB="41934" anchor="ctr"/>
                </a:tc>
                <a:extLst>
                  <a:ext uri="{0D108BD9-81ED-4DB2-BD59-A6C34878D82A}">
                    <a16:rowId xmlns:a16="http://schemas.microsoft.com/office/drawing/2014/main" val="408906463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4DABD84-C33E-89FD-E74E-846C2349A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90" y="1285131"/>
            <a:ext cx="102496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1977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889FD0-E47A-51A4-19DE-F1413DF47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174" y="984832"/>
            <a:ext cx="11174780" cy="338554"/>
          </a:xfrm>
        </p:spPr>
        <p:txBody>
          <a:bodyPr/>
          <a:lstStyle/>
          <a:p>
            <a:r>
              <a:rPr lang="zh-CN" altLang="en-US" b="1"/>
              <a:t>资金需求明细表</a:t>
            </a:r>
            <a:r>
              <a:rPr lang="zh-CN" altLang="en-US"/>
              <a:t>：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A0198-15D5-1AFD-1731-9DD0F2068CA6}"/>
              </a:ext>
            </a:extLst>
          </p:cNvPr>
          <p:cNvSpPr txBox="1"/>
          <p:nvPr/>
        </p:nvSpPr>
        <p:spPr>
          <a:xfrm>
            <a:off x="511784" y="118753"/>
            <a:ext cx="4926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5.3 </a:t>
            </a:r>
            <a:r>
              <a:rPr lang="zh-CN" altLang="en-US" sz="2400" b="1"/>
              <a:t>项目需求 </a:t>
            </a:r>
            <a:r>
              <a:rPr lang="en-US" altLang="zh-CN" sz="2400" b="1"/>
              <a:t>(</a:t>
            </a:r>
            <a:r>
              <a:rPr lang="en-CA" sz="2400" b="1"/>
              <a:t>Project Requirements)</a:t>
            </a:r>
            <a:endParaRPr lang="en-US" sz="2400" b="1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5C7E848-4385-852C-7192-F1CAF656C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030936"/>
              </p:ext>
            </p:extLst>
          </p:nvPr>
        </p:nvGraphicFramePr>
        <p:xfrm>
          <a:off x="511174" y="1466543"/>
          <a:ext cx="11176002" cy="256032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65668559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243029092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768247032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2328018009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489812129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41825241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里程碑阶段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设备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运营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人力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临床相关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总计 </a:t>
                      </a:r>
                      <a:r>
                        <a:rPr lang="en-US" altLang="zh-CN" sz="1600" b="1"/>
                        <a:t>(</a:t>
                      </a:r>
                      <a:r>
                        <a:rPr lang="zh-CN" altLang="en-US" sz="1600" b="1"/>
                        <a:t>万元</a:t>
                      </a:r>
                      <a:r>
                        <a:rPr lang="en-US" altLang="zh-CN" sz="1600" b="1"/>
                        <a:t>)</a:t>
                      </a:r>
                      <a:endParaRPr lang="zh-CN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02579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0-6</a:t>
                      </a:r>
                      <a:r>
                        <a:rPr lang="zh-CN" altLang="en-US" sz="1600" b="1"/>
                        <a:t>个月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实验设备采购：</a:t>
                      </a:r>
                      <a:r>
                        <a:rPr lang="en-US" altLang="zh-CN" sz="1600"/>
                        <a:t>300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实验室装修（</a:t>
                      </a:r>
                      <a:r>
                        <a:rPr lang="en-US" altLang="zh-CN" sz="1600"/>
                        <a:t>GLP</a:t>
                      </a:r>
                      <a:r>
                        <a:rPr lang="zh-CN" altLang="en-US" sz="1600"/>
                        <a:t>）及租赁与消耗品：</a:t>
                      </a:r>
                      <a:r>
                        <a:rPr lang="en-US" altLang="zh-CN" sz="1600"/>
                        <a:t>500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核心团队薪资与招聘费用：</a:t>
                      </a:r>
                      <a:r>
                        <a:rPr lang="en-US" altLang="zh-CN" sz="1600"/>
                        <a:t>200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60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1000</a:t>
                      </a:r>
                      <a:r>
                        <a:rPr lang="zh-CN" altLang="en-US" sz="1600" b="1"/>
                        <a:t>万</a:t>
                      </a:r>
                      <a:endParaRPr lang="zh-CN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718423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6-18</a:t>
                      </a:r>
                      <a:r>
                        <a:rPr lang="zh-CN" altLang="en-US" sz="1600" b="1"/>
                        <a:t>个月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技术优化设备：</a:t>
                      </a:r>
                      <a:r>
                        <a:rPr lang="en-US" altLang="zh-CN" sz="1600"/>
                        <a:t>200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试验运行费用：</a:t>
                      </a:r>
                      <a:r>
                        <a:rPr lang="en-US" altLang="zh-CN" sz="1600"/>
                        <a:t>400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技术人员薪资：</a:t>
                      </a:r>
                      <a:r>
                        <a:rPr lang="en-US" altLang="zh-CN" sz="1600"/>
                        <a:t>500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临床前试验：</a:t>
                      </a:r>
                      <a:r>
                        <a:rPr lang="en-US" altLang="zh-CN" sz="1600"/>
                        <a:t>100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1000</a:t>
                      </a:r>
                      <a:r>
                        <a:rPr lang="zh-CN" altLang="en-US" sz="1600" b="1"/>
                        <a:t>万</a:t>
                      </a:r>
                      <a:endParaRPr lang="zh-CN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76515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18-36</a:t>
                      </a:r>
                      <a:r>
                        <a:rPr lang="zh-CN" altLang="en-US" sz="1600" b="1"/>
                        <a:t>个月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临床申报相关：</a:t>
                      </a:r>
                      <a:r>
                        <a:rPr lang="en-US" altLang="zh-CN" sz="1600"/>
                        <a:t>300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市场推广与客户维护：</a:t>
                      </a:r>
                      <a:r>
                        <a:rPr lang="en-US" altLang="zh-CN" sz="1600"/>
                        <a:t>500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试生产技术人员：</a:t>
                      </a:r>
                      <a:r>
                        <a:rPr lang="en-US" altLang="zh-CN" sz="1600"/>
                        <a:t>500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临床试验准备阶段</a:t>
                      </a:r>
                      <a:r>
                        <a:rPr lang="en-CA" sz="1600"/>
                        <a:t>I：</a:t>
                      </a:r>
                      <a:r>
                        <a:rPr lang="en-US" altLang="zh-CN" sz="1600"/>
                        <a:t>10</a:t>
                      </a:r>
                      <a:r>
                        <a:rPr lang="en-CA" sz="1600"/>
                        <a:t>00</a:t>
                      </a:r>
                      <a:r>
                        <a:rPr lang="zh-CN" altLang="en-US" sz="1600"/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2800</a:t>
                      </a:r>
                      <a:r>
                        <a:rPr lang="zh-CN" altLang="en-US" sz="1600" b="1"/>
                        <a:t>万</a:t>
                      </a:r>
                      <a:r>
                        <a:rPr lang="en-US" altLang="zh-CN" sz="1600" b="1"/>
                        <a:t>+</a:t>
                      </a:r>
                      <a:endParaRPr lang="zh-CN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9565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4914F90-8361-0669-3230-4B2C44B90024}"/>
              </a:ext>
            </a:extLst>
          </p:cNvPr>
          <p:cNvSpPr txBox="1"/>
          <p:nvPr/>
        </p:nvSpPr>
        <p:spPr>
          <a:xfrm>
            <a:off x="511174" y="4170020"/>
            <a:ext cx="982672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其他需求：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/>
              <a:t>场地要求</a:t>
            </a:r>
            <a:r>
              <a:rPr lang="zh-CN" altLang="en-US" sz="1600"/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需建立符合</a:t>
            </a:r>
            <a:r>
              <a:rPr lang="en-CA" sz="1600"/>
              <a:t>GLP</a:t>
            </a:r>
            <a:r>
              <a:rPr lang="zh-CN" altLang="en-US" sz="1600"/>
              <a:t>标准的实验室，面积至少</a:t>
            </a:r>
            <a:r>
              <a:rPr lang="en-US" altLang="zh-CN" sz="1600"/>
              <a:t>500</a:t>
            </a:r>
            <a:r>
              <a:rPr lang="zh-CN" altLang="en-US" sz="1600"/>
              <a:t>平方米，配备</a:t>
            </a:r>
            <a:r>
              <a:rPr lang="en-CA" sz="1600"/>
              <a:t>BSL-2</a:t>
            </a:r>
            <a:r>
              <a:rPr lang="zh-CN" altLang="en-US" sz="1600"/>
              <a:t>实验设施，未来可扩展至更大规模。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/>
              <a:t>合作资源</a:t>
            </a:r>
            <a:r>
              <a:rPr lang="zh-CN" altLang="en-US" sz="1600"/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利用现有合作伙伴（如</a:t>
            </a:r>
            <a:r>
              <a:rPr lang="en-CA" sz="1600"/>
              <a:t>McGill</a:t>
            </a:r>
            <a:r>
              <a:rPr lang="zh-CN" altLang="en-US" sz="1600"/>
              <a:t>大学、</a:t>
            </a:r>
            <a:r>
              <a:rPr lang="en-CA" sz="1600"/>
              <a:t>CQIB）</a:t>
            </a:r>
            <a:r>
              <a:rPr lang="zh-CN" altLang="en-US" sz="1600"/>
              <a:t>实验室资源，减少初期投入压力。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/>
              <a:t>法规支持</a:t>
            </a:r>
            <a:r>
              <a:rPr lang="zh-CN" altLang="en-US" sz="1600"/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临床试验申报阶段预计需投入额外的法规咨询费用（约</a:t>
            </a:r>
            <a:r>
              <a:rPr lang="en-US" altLang="zh-CN" sz="1600"/>
              <a:t>100</a:t>
            </a:r>
            <a:r>
              <a:rPr lang="zh-CN" altLang="en-US" sz="1600"/>
              <a:t>万元）。</a:t>
            </a:r>
          </a:p>
          <a:p>
            <a:endParaRPr lang="en-US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EF5000-7526-8EF0-51E6-659627BB8318}"/>
              </a:ext>
            </a:extLst>
          </p:cNvPr>
          <p:cNvSpPr txBox="1"/>
          <p:nvPr/>
        </p:nvSpPr>
        <p:spPr>
          <a:xfrm>
            <a:off x="511174" y="6052114"/>
            <a:ext cx="110001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/>
              <a:t>总预算</a:t>
            </a:r>
            <a:r>
              <a:rPr lang="zh-CN" altLang="en-US" sz="2200"/>
              <a:t>：约 </a:t>
            </a:r>
            <a:r>
              <a:rPr lang="en-US" altLang="zh-CN" sz="2200" b="1"/>
              <a:t>4500</a:t>
            </a:r>
            <a:r>
              <a:rPr lang="zh-CN" altLang="en-US" sz="2200" b="1"/>
              <a:t>万元</a:t>
            </a:r>
            <a:r>
              <a:rPr lang="zh-CN" altLang="en-US" sz="2200"/>
              <a:t>（分阶段分配），重点支持从研发到临床试验申报的全周期投入。</a:t>
            </a:r>
            <a:endParaRPr lang="en-CA" altLang="zh-CN" sz="2200"/>
          </a:p>
          <a:p>
            <a:r>
              <a:rPr lang="zh-CN" altLang="en-US" sz="2200" b="1"/>
              <a:t>资金来源</a:t>
            </a:r>
            <a:r>
              <a:rPr lang="zh-CN" altLang="en-US" sz="2200"/>
              <a:t>：自有资本、风险投资、与战略合作伙伴的资金支持。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829576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CBAD2E-DC21-512A-C849-3FB0C35D3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767" y="1346499"/>
            <a:ext cx="11174780" cy="3046988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zh-CN" altLang="en-US" sz="1800" b="1"/>
              <a:t>全球资源整合</a:t>
            </a:r>
            <a:r>
              <a:rPr lang="zh-CN" altLang="en-US" sz="1800"/>
              <a:t>：国际团队专注前沿技术研发（如麦吉尔大学、</a:t>
            </a:r>
            <a:r>
              <a:rPr lang="en-US" altLang="zh-CN" sz="1800"/>
              <a:t>Merck</a:t>
            </a:r>
            <a:r>
              <a:rPr lang="zh-CN" altLang="en-US" sz="1800"/>
              <a:t>、</a:t>
            </a:r>
            <a:r>
              <a:rPr lang="en-CA" sz="1800"/>
              <a:t>GSK</a:t>
            </a:r>
            <a:r>
              <a:rPr lang="zh-CN" altLang="en-US" sz="1800"/>
              <a:t>合作），国内团队推动技术本地化和规模化生产，实现高效转化</a:t>
            </a:r>
            <a:endParaRPr lang="en-CA" altLang="zh-CN" sz="1800"/>
          </a:p>
          <a:p>
            <a:pPr>
              <a:buFont typeface="+mj-lt"/>
              <a:buAutoNum type="arabicPeriod"/>
            </a:pPr>
            <a:endParaRPr lang="zh-CN" altLang="en-US" sz="1800"/>
          </a:p>
          <a:p>
            <a:pPr>
              <a:buFont typeface="+mj-lt"/>
              <a:buAutoNum type="arabicPeriod"/>
            </a:pPr>
            <a:r>
              <a:rPr lang="zh-CN" altLang="en-US" sz="1800" b="1"/>
              <a:t>协同研发高效</a:t>
            </a:r>
            <a:r>
              <a:rPr lang="zh-CN" altLang="en-US" sz="1800"/>
              <a:t>：国际团队主攻早期技术开发，国内团队负责中试和市场验证，</a:t>
            </a:r>
            <a:r>
              <a:rPr lang="en-US" altLang="zh-CN" sz="1800"/>
              <a:t>24</a:t>
            </a:r>
            <a:r>
              <a:rPr lang="zh-CN" altLang="en-US" sz="1800"/>
              <a:t>小时不间断研发，显著提升效率</a:t>
            </a:r>
            <a:endParaRPr lang="en-CA" altLang="zh-CN" sz="1800"/>
          </a:p>
          <a:p>
            <a:pPr>
              <a:buFont typeface="+mj-lt"/>
              <a:buAutoNum type="arabicPeriod"/>
            </a:pPr>
            <a:endParaRPr lang="zh-CN" altLang="en-US" sz="1800"/>
          </a:p>
          <a:p>
            <a:pPr>
              <a:buFont typeface="+mj-lt"/>
              <a:buAutoNum type="arabicPeriod"/>
            </a:pPr>
            <a:r>
              <a:rPr lang="zh-CN" altLang="en-US" sz="1800" b="1"/>
              <a:t>市场双覆盖</a:t>
            </a:r>
            <a:r>
              <a:rPr lang="zh-CN" altLang="en-US" sz="1800"/>
              <a:t>：国际团队了解欧美市场需求，国内团队熟悉亚洲监管和本地市场，双向布局确保全球市场快速进入</a:t>
            </a:r>
            <a:endParaRPr lang="en-CA" altLang="zh-CN" sz="1800"/>
          </a:p>
          <a:p>
            <a:pPr>
              <a:buFont typeface="+mj-lt"/>
              <a:buAutoNum type="arabicPeriod"/>
            </a:pPr>
            <a:endParaRPr lang="zh-CN" altLang="en-US" sz="1800"/>
          </a:p>
          <a:p>
            <a:pPr>
              <a:buFont typeface="+mj-lt"/>
              <a:buAutoNum type="arabicPeriod"/>
            </a:pPr>
            <a:r>
              <a:rPr lang="zh-CN" altLang="en-US" sz="1800" b="1"/>
              <a:t>知识共享与创新驱动</a:t>
            </a:r>
            <a:r>
              <a:rPr lang="zh-CN" altLang="en-US" sz="1800"/>
              <a:t>：国内外团队在</a:t>
            </a:r>
            <a:r>
              <a:rPr lang="en-CA" sz="1800"/>
              <a:t>LNP</a:t>
            </a:r>
            <a:r>
              <a:rPr lang="zh-CN" altLang="en-US" sz="1800"/>
              <a:t>技术、核酸药物等领域协作，积累技术优势，持续推动创新</a:t>
            </a:r>
          </a:p>
          <a:p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9B4D5-188C-15D1-8DDA-AE9FAB0F7EE3}"/>
              </a:ext>
            </a:extLst>
          </p:cNvPr>
          <p:cNvSpPr txBox="1"/>
          <p:nvPr/>
        </p:nvSpPr>
        <p:spPr>
          <a:xfrm>
            <a:off x="331767" y="257361"/>
            <a:ext cx="42017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/>
              <a:t>医博维国内外研发团队合作优势</a:t>
            </a:r>
            <a:endParaRPr lang="en-US" sz="2200" b="1"/>
          </a:p>
        </p:txBody>
      </p:sp>
    </p:spTree>
    <p:extLst>
      <p:ext uri="{BB962C8B-B14F-4D97-AF65-F5344CB8AC3E}">
        <p14:creationId xmlns:p14="http://schemas.microsoft.com/office/powerpoint/2010/main" val="23975636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301506" y="1659285"/>
            <a:ext cx="755650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0" b="1" spc="-5">
                <a:solidFill>
                  <a:srgbClr val="0070C0"/>
                </a:solidFill>
                <a:latin typeface="Times New Roman"/>
                <a:cs typeface="Times New Roman"/>
              </a:rPr>
              <a:t>6</a:t>
            </a:r>
            <a:endParaRPr sz="1150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2406523" y="2186077"/>
            <a:ext cx="5359400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0" spc="-5" err="1"/>
              <a:t>风险</a:t>
            </a:r>
            <a:r>
              <a:rPr lang="en-CA" sz="6000" spc="-5" err="1"/>
              <a:t>评估</a:t>
            </a:r>
            <a:endParaRPr sz="6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D9F63B-43B0-335B-F9D6-A6473A6F9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60779"/>
              </p:ext>
            </p:extLst>
          </p:nvPr>
        </p:nvGraphicFramePr>
        <p:xfrm>
          <a:off x="368884" y="517525"/>
          <a:ext cx="11454231" cy="5794758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621301">
                  <a:extLst>
                    <a:ext uri="{9D8B030D-6E8A-4147-A177-3AD203B41FA5}">
                      <a16:colId xmlns:a16="http://schemas.microsoft.com/office/drawing/2014/main" val="1740972538"/>
                    </a:ext>
                  </a:extLst>
                </a:gridCol>
                <a:gridCol w="2581144">
                  <a:extLst>
                    <a:ext uri="{9D8B030D-6E8A-4147-A177-3AD203B41FA5}">
                      <a16:colId xmlns:a16="http://schemas.microsoft.com/office/drawing/2014/main" val="4291148320"/>
                    </a:ext>
                  </a:extLst>
                </a:gridCol>
                <a:gridCol w="7251786">
                  <a:extLst>
                    <a:ext uri="{9D8B030D-6E8A-4147-A177-3AD203B41FA5}">
                      <a16:colId xmlns:a16="http://schemas.microsoft.com/office/drawing/2014/main" val="3509179316"/>
                    </a:ext>
                  </a:extLst>
                </a:gridCol>
              </a:tblGrid>
              <a:tr h="106534"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风险类型</a:t>
                      </a:r>
                      <a:endParaRPr lang="zh-CN" altLang="en-US" sz="1600"/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风险描述</a:t>
                      </a:r>
                      <a:endParaRPr lang="zh-CN" altLang="en-US" sz="1600"/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应对措施</a:t>
                      </a:r>
                      <a:endParaRPr lang="zh-CN" altLang="en-US" sz="1600"/>
                    </a:p>
                  </a:txBody>
                  <a:tcPr marL="26634" marR="26634" marT="13317" marB="13317" anchor="ctr"/>
                </a:tc>
                <a:extLst>
                  <a:ext uri="{0D108BD9-81ED-4DB2-BD59-A6C34878D82A}">
                    <a16:rowId xmlns:a16="http://schemas.microsoft.com/office/drawing/2014/main" val="1170032899"/>
                  </a:ext>
                </a:extLst>
              </a:tr>
              <a:tr h="745739"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1. </a:t>
                      </a:r>
                      <a:r>
                        <a:rPr lang="zh-CN" altLang="en-US" sz="1600" b="1"/>
                        <a:t>技术开发风险</a:t>
                      </a:r>
                      <a:endParaRPr lang="zh-CN" altLang="en-US" sz="1600"/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en-CA" sz="1600"/>
                        <a:t>LNP</a:t>
                      </a:r>
                      <a:r>
                        <a:rPr lang="zh-CN" altLang="en-US" sz="1600"/>
                        <a:t>递送技术的优化需要时间和持续的研发投入，可能在开发过程中遇到技术瓶颈。</a:t>
                      </a:r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已组建由世界级专家组成的研发团队，包括多位核心成员（如</a:t>
                      </a:r>
                      <a:r>
                        <a:rPr lang="en-CA" sz="1600"/>
                        <a:t>Dr. Zhenlong Liu、Prof. Guojun Chen），</a:t>
                      </a:r>
                      <a:r>
                        <a:rPr lang="zh-CN" altLang="en-US" sz="1600"/>
                        <a:t>具备强大的技术开发能力。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通过与</a:t>
                      </a:r>
                      <a:r>
                        <a:rPr lang="en-CA" sz="1600"/>
                        <a:t>Merck、Fujifilm</a:t>
                      </a:r>
                      <a:r>
                        <a:rPr lang="zh-CN" altLang="en-US" sz="1600"/>
                        <a:t>等战略合作伙伴合作，利用现有资源共同攻克技术难关。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设置明确的阶段性研发目标，降低整体开发复杂性。</a:t>
                      </a:r>
                    </a:p>
                  </a:txBody>
                  <a:tcPr marL="26634" marR="26634" marT="13317" marB="13317" anchor="ctr"/>
                </a:tc>
                <a:extLst>
                  <a:ext uri="{0D108BD9-81ED-4DB2-BD59-A6C34878D82A}">
                    <a16:rowId xmlns:a16="http://schemas.microsoft.com/office/drawing/2014/main" val="3331110155"/>
                  </a:ext>
                </a:extLst>
              </a:tr>
              <a:tr h="665838"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2. </a:t>
                      </a:r>
                      <a:r>
                        <a:rPr lang="zh-CN" altLang="en-US" sz="1600" b="1"/>
                        <a:t>市场进入风险</a:t>
                      </a:r>
                      <a:endParaRPr lang="zh-CN" altLang="en-US" sz="1600"/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进入竞争激烈的核酸药物市场可能需要更多时间来获得客户认可。</a:t>
                      </a:r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提供独特价值：低毒性的</a:t>
                      </a:r>
                      <a:r>
                        <a:rPr lang="en-CA" sz="1600"/>
                        <a:t>LNP</a:t>
                      </a:r>
                      <a:r>
                        <a:rPr lang="zh-CN" altLang="en-US" sz="1600"/>
                        <a:t>技术具有显著竞争优势，能够满足市场对高效、安全</a:t>
                      </a:r>
                      <a:r>
                        <a:rPr lang="en-CA" sz="1600"/>
                        <a:t>RNA</a:t>
                      </a:r>
                      <a:r>
                        <a:rPr lang="zh-CN" altLang="en-US" sz="1600"/>
                        <a:t>递送的需求。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通过现有合作伙伴（如</a:t>
                      </a:r>
                      <a:r>
                        <a:rPr lang="en-CA" sz="1600"/>
                        <a:t>McGill</a:t>
                      </a:r>
                      <a:r>
                        <a:rPr lang="zh-CN" altLang="en-US" sz="1600"/>
                        <a:t>和</a:t>
                      </a:r>
                      <a:r>
                        <a:rPr lang="en-CA" sz="1600"/>
                        <a:t>Fujifilm）</a:t>
                      </a:r>
                      <a:r>
                        <a:rPr lang="zh-CN" altLang="en-US" sz="1600"/>
                        <a:t>的网络与声誉，迅速建立市场影响力。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制定灵活的定价策略和差异化的市场推广方案，快速占领市场份额。</a:t>
                      </a:r>
                    </a:p>
                  </a:txBody>
                  <a:tcPr marL="26634" marR="26634" marT="13317" marB="13317" anchor="ctr"/>
                </a:tc>
                <a:extLst>
                  <a:ext uri="{0D108BD9-81ED-4DB2-BD59-A6C34878D82A}">
                    <a16:rowId xmlns:a16="http://schemas.microsoft.com/office/drawing/2014/main" val="3734344865"/>
                  </a:ext>
                </a:extLst>
              </a:tr>
              <a:tr h="585938"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3. </a:t>
                      </a:r>
                      <a:r>
                        <a:rPr lang="zh-CN" altLang="en-US" sz="1600" b="1"/>
                        <a:t>资金压力风险</a:t>
                      </a:r>
                      <a:endParaRPr lang="zh-CN" altLang="en-US" sz="1600"/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高强度的研发和临床试验需要持续资金支持，可能面临资金链断裂风险。</a:t>
                      </a:r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已规划合理的分阶段资金需求，并通过股权融资和战略合作获取资金。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吸引长期战略投资者，提供透明的资金使用计划与预期回报。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临床试验阶段可与合作伙伴分担部分成本，降低单方压力。</a:t>
                      </a:r>
                    </a:p>
                  </a:txBody>
                  <a:tcPr marL="26634" marR="26634" marT="13317" marB="13317" anchor="ctr"/>
                </a:tc>
                <a:extLst>
                  <a:ext uri="{0D108BD9-81ED-4DB2-BD59-A6C34878D82A}">
                    <a16:rowId xmlns:a16="http://schemas.microsoft.com/office/drawing/2014/main" val="28771647"/>
                  </a:ext>
                </a:extLst>
              </a:tr>
              <a:tr h="585938"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4. </a:t>
                      </a:r>
                      <a:r>
                        <a:rPr lang="zh-CN" altLang="en-US" sz="1600" b="1"/>
                        <a:t>法规审批风险</a:t>
                      </a:r>
                      <a:endParaRPr lang="zh-CN" altLang="en-US" sz="1600"/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临床试验和产品上市的审批时间较长，存在不确定性。</a:t>
                      </a:r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由具有丰富经验的法规团队指导临床试验申报，并确保符合监管机构的要求。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提前与监管机构沟通，优化审批流程，减少时间延误。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参考类似产品的成功案例，制定合理的审批时间表。</a:t>
                      </a:r>
                    </a:p>
                  </a:txBody>
                  <a:tcPr marL="26634" marR="26634" marT="13317" marB="13317" anchor="ctr"/>
                </a:tc>
                <a:extLst>
                  <a:ext uri="{0D108BD9-81ED-4DB2-BD59-A6C34878D82A}">
                    <a16:rowId xmlns:a16="http://schemas.microsoft.com/office/drawing/2014/main" val="1803844547"/>
                  </a:ext>
                </a:extLst>
              </a:tr>
              <a:tr h="665838">
                <a:tc>
                  <a:txBody>
                    <a:bodyPr/>
                    <a:lstStyle/>
                    <a:p>
                      <a:r>
                        <a:rPr lang="en-US" altLang="zh-CN" sz="1600" b="1"/>
                        <a:t>5. </a:t>
                      </a:r>
                      <a:r>
                        <a:rPr lang="zh-CN" altLang="en-US" sz="1600" b="1"/>
                        <a:t>技术商业化风险</a:t>
                      </a:r>
                      <a:endParaRPr lang="zh-CN" altLang="en-US" sz="1600"/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技术从研发到大规模应用的商业化过程可能遇到挑战。</a:t>
                      </a:r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提供定制化解决方案（如特定靶点的</a:t>
                      </a:r>
                      <a:r>
                        <a:rPr lang="en-CA" sz="1600"/>
                        <a:t>LNP</a:t>
                      </a:r>
                      <a:r>
                        <a:rPr lang="zh-CN" altLang="en-US" sz="1600"/>
                        <a:t>技术）吸引潜在客户，增强客户粘性。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逐步扩展应用场景，从肺靶向核酸药物递送扩展至疫苗、癌症免疫疗法等领域，拓宽市场空间。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建立与客户的长期合作关系，确保技术持续创收能力。</a:t>
                      </a:r>
                    </a:p>
                  </a:txBody>
                  <a:tcPr marL="26634" marR="26634" marT="13317" marB="13317" anchor="ctr"/>
                </a:tc>
                <a:extLst>
                  <a:ext uri="{0D108BD9-81ED-4DB2-BD59-A6C34878D82A}">
                    <a16:rowId xmlns:a16="http://schemas.microsoft.com/office/drawing/2014/main" val="1198420203"/>
                  </a:ext>
                </a:extLst>
              </a:tr>
              <a:tr h="585938">
                <a:tc>
                  <a:txBody>
                    <a:bodyPr/>
                    <a:lstStyle/>
                    <a:p>
                      <a:r>
                        <a:rPr lang="en-CA" sz="1600" b="1"/>
                        <a:t>6. AI</a:t>
                      </a:r>
                      <a:r>
                        <a:rPr lang="zh-CN" altLang="en-US" sz="1600" b="1"/>
                        <a:t>技术与模型风险</a:t>
                      </a:r>
                      <a:endParaRPr lang="zh-CN" altLang="en-US" sz="1600"/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en-CA" sz="1600"/>
                        <a:t>AI</a:t>
                      </a:r>
                      <a:r>
                        <a:rPr lang="zh-CN" altLang="en-US" sz="1600"/>
                        <a:t>模型在基因和药物设计中的应用尚需更多验证，其准确性和效率可能对项目研发进度产生影响。</a:t>
                      </a:r>
                    </a:p>
                  </a:txBody>
                  <a:tcPr marL="26634" marR="26634" marT="13317" marB="133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扩大专门的</a:t>
                      </a:r>
                      <a:r>
                        <a:rPr lang="en-CA" sz="1600"/>
                        <a:t>AI</a:t>
                      </a:r>
                      <a:r>
                        <a:rPr lang="zh-CN" altLang="en-US" sz="1600"/>
                        <a:t>团队，负责基因</a:t>
                      </a:r>
                      <a:r>
                        <a:rPr lang="en-CA" sz="1600"/>
                        <a:t>AI</a:t>
                      </a:r>
                      <a:r>
                        <a:rPr lang="zh-CN" altLang="en-US" sz="1600"/>
                        <a:t>模型和药物</a:t>
                      </a:r>
                      <a:r>
                        <a:rPr lang="en-CA" sz="1600"/>
                        <a:t>LNP AI</a:t>
                      </a:r>
                      <a:r>
                        <a:rPr lang="zh-CN" altLang="en-US" sz="1600"/>
                        <a:t>模型的设计与优化。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通过与国际顶尖</a:t>
                      </a:r>
                      <a:r>
                        <a:rPr lang="en-CA" sz="1600"/>
                        <a:t>AI</a:t>
                      </a:r>
                      <a:r>
                        <a:rPr lang="zh-CN" altLang="en-US" sz="1600"/>
                        <a:t>研究团队合作，提升模型准确性和技术创新性。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在实际研发中逐步验证</a:t>
                      </a:r>
                      <a:r>
                        <a:rPr lang="en-CA" sz="1600"/>
                        <a:t>AI</a:t>
                      </a:r>
                      <a:r>
                        <a:rPr lang="zh-CN" altLang="en-US" sz="1600"/>
                        <a:t>技术成果，同时不断优化算法，以适应不同应用场景的需求。</a:t>
                      </a:r>
                    </a:p>
                  </a:txBody>
                  <a:tcPr marL="26634" marR="26634" marT="13317" marB="13317" anchor="ctr"/>
                </a:tc>
                <a:extLst>
                  <a:ext uri="{0D108BD9-81ED-4DB2-BD59-A6C34878D82A}">
                    <a16:rowId xmlns:a16="http://schemas.microsoft.com/office/drawing/2014/main" val="3463492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5699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1.153937007874,&quot;left&quot;:146.3236220472441,&quot;top&quot;:161.70078740157481,&quot;width&quot;:667.352755905511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8149</Words>
  <Application>Microsoft Macintosh PowerPoint</Application>
  <PresentationFormat>Widescreen</PresentationFormat>
  <Paragraphs>705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3" baseType="lpstr">
      <vt:lpstr>等线</vt:lpstr>
      <vt:lpstr>等线</vt:lpstr>
      <vt:lpstr>Microsoft JhengHei</vt:lpstr>
      <vt:lpstr>微软雅黑</vt:lpstr>
      <vt:lpstr>ＭＳ Ｐゴシック</vt:lpstr>
      <vt:lpstr>新細明體</vt:lpstr>
      <vt:lpstr>宋体</vt:lpstr>
      <vt:lpstr>system-ui</vt:lpstr>
      <vt:lpstr>Aptos</vt:lpstr>
      <vt:lpstr>Aptos Narrow</vt:lpstr>
      <vt:lpstr>Arial</vt:lpstr>
      <vt:lpstr>Calibri</vt:lpstr>
      <vt:lpstr>Noto Sans</vt:lpstr>
      <vt:lpstr>Segoe UI</vt:lpstr>
      <vt:lpstr>Times New Roman</vt:lpstr>
      <vt:lpstr>Office Theme</vt:lpstr>
      <vt:lpstr>肺靶向LNP基因药物递送平台 项目商业计划书 Lung Targeted Stable Lipid Nanoparticles For Enhanced Gene Delivery System </vt:lpstr>
      <vt:lpstr>项目背景 Background</vt:lpstr>
      <vt:lpstr>项目背景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项目概述 Project Overview</vt:lpstr>
      <vt:lpstr>PowerPoint Presentation</vt:lpstr>
      <vt:lpstr>市场分析 Market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LNP system Applications Examples</vt:lpstr>
      <vt:lpstr>non-small cell lung cancer (NSCLC) and small cell lung cancer (SCLC)</vt:lpstr>
      <vt:lpstr>脂质基纳米载体在肺癌化疗治疗中的应用</vt:lpstr>
      <vt:lpstr>项目团队 Team Member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Dr. Robert J. Scarborough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实施计划 Implementation Plan</vt:lpstr>
      <vt:lpstr>PowerPoint Presentation</vt:lpstr>
      <vt:lpstr>PowerPoint Presentation</vt:lpstr>
      <vt:lpstr>PowerPoint Presentation</vt:lpstr>
      <vt:lpstr>PowerPoint Presentation</vt:lpstr>
      <vt:lpstr>风险评估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创业计划书商业项目计划书商业项目提案简约商务PPT</dc:title>
  <dc:creator>Administrator</dc:creator>
  <cp:lastModifiedBy>Zhenlong Liu</cp:lastModifiedBy>
  <cp:revision>3</cp:revision>
  <dcterms:created xsi:type="dcterms:W3CDTF">2021-11-30T23:54:39Z</dcterms:created>
  <dcterms:modified xsi:type="dcterms:W3CDTF">2025-10-21T19:00:29Z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2021-11-30T00:00:00Z</vt:filetime>
  </property>
</Properties>
</file>